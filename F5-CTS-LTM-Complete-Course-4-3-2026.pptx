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7" Type="http://schemas.openxmlformats.org/officedocument/2006/relationships/metadata/core-properties" Target="docProps/core0.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78" r:id="rId2"/>
  </p:sldMasterIdLst>
  <p:notesMasterIdLst>
    <p:notesMasterId r:id="rId127"/>
  </p:notesMasterIdLst>
  <p:sldIdLst>
    <p:sldId id="256" r:id="rId3"/>
    <p:sldId id="257" r:id="rId4"/>
    <p:sldId id="258" r:id="rId5"/>
    <p:sldId id="259" r:id="rId6"/>
    <p:sldId id="382"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380"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 id="322" r:id="rId69"/>
    <p:sldId id="323" r:id="rId70"/>
    <p:sldId id="324" r:id="rId71"/>
    <p:sldId id="325" r:id="rId72"/>
    <p:sldId id="326" r:id="rId73"/>
    <p:sldId id="327" r:id="rId74"/>
    <p:sldId id="328" r:id="rId75"/>
    <p:sldId id="329" r:id="rId76"/>
    <p:sldId id="330" r:id="rId77"/>
    <p:sldId id="331" r:id="rId78"/>
    <p:sldId id="332" r:id="rId79"/>
    <p:sldId id="333" r:id="rId80"/>
    <p:sldId id="334" r:id="rId81"/>
    <p:sldId id="335" r:id="rId82"/>
    <p:sldId id="336" r:id="rId83"/>
    <p:sldId id="337" r:id="rId84"/>
    <p:sldId id="338" r:id="rId85"/>
    <p:sldId id="339" r:id="rId86"/>
    <p:sldId id="340" r:id="rId87"/>
    <p:sldId id="341" r:id="rId88"/>
    <p:sldId id="342" r:id="rId89"/>
    <p:sldId id="343" r:id="rId90"/>
    <p:sldId id="344" r:id="rId91"/>
    <p:sldId id="345" r:id="rId92"/>
    <p:sldId id="346" r:id="rId93"/>
    <p:sldId id="347" r:id="rId94"/>
    <p:sldId id="348" r:id="rId95"/>
    <p:sldId id="349" r:id="rId96"/>
    <p:sldId id="350" r:id="rId97"/>
    <p:sldId id="351" r:id="rId98"/>
    <p:sldId id="352" r:id="rId99"/>
    <p:sldId id="353" r:id="rId100"/>
    <p:sldId id="354" r:id="rId101"/>
    <p:sldId id="355" r:id="rId102"/>
    <p:sldId id="356" r:id="rId103"/>
    <p:sldId id="357" r:id="rId104"/>
    <p:sldId id="358" r:id="rId105"/>
    <p:sldId id="359" r:id="rId106"/>
    <p:sldId id="360" r:id="rId107"/>
    <p:sldId id="369" r:id="rId108"/>
    <p:sldId id="370" r:id="rId109"/>
    <p:sldId id="371" r:id="rId110"/>
    <p:sldId id="372" r:id="rId111"/>
    <p:sldId id="373" r:id="rId112"/>
    <p:sldId id="381" r:id="rId113"/>
    <p:sldId id="375" r:id="rId114"/>
    <p:sldId id="376" r:id="rId115"/>
    <p:sldId id="377" r:id="rId116"/>
    <p:sldId id="378" r:id="rId117"/>
    <p:sldId id="379" r:id="rId118"/>
    <p:sldId id="361" r:id="rId119"/>
    <p:sldId id="362" r:id="rId120"/>
    <p:sldId id="363" r:id="rId121"/>
    <p:sldId id="364" r:id="rId122"/>
    <p:sldId id="365" r:id="rId123"/>
    <p:sldId id="366" r:id="rId124"/>
    <p:sldId id="367" r:id="rId125"/>
    <p:sldId id="368" r:id="rId126"/>
  </p:sldIdLst>
  <p:sldSz cx="9144000" cy="5143500" type="screen16x9"/>
  <p:notesSz cx="51435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D7D5342-F85E-4C77-89E4-F5057AA2C7EE}" v="27" dt="2026-04-06T19:53:07.29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21" d="100"/>
          <a:sy n="121" d="100"/>
        </p:scale>
        <p:origin x="110"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28" Type="http://schemas.openxmlformats.org/officeDocument/2006/relationships/presProps" Target="presProps.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slide" Target="slides/slide122.xml"/><Relationship Id="rId129" Type="http://schemas.openxmlformats.org/officeDocument/2006/relationships/viewProps" Target="viewProps.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theme" Target="theme/theme1.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tableStyles" Target="tableStyles.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microsoft.com/office/2016/11/relationships/changesInfo" Target="changesInfos/changesInfo1.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notesMaster" Target="notesMasters/notesMaster1.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4" Type="http://schemas.openxmlformats.org/officeDocument/2006/relationships/slide" Target="slides/slide2.xml"/><Relationship Id="rId9" Type="http://schemas.openxmlformats.org/officeDocument/2006/relationships/slide" Target="slides/slide7.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rmaine Mack" userId="9a9780d0-a6cd-4c70-9bfb-816483dd9a5a" providerId="ADAL" clId="{0461B659-B3C3-4B80-BEDF-F4369A6B206B}"/>
    <pc:docChg chg="undo custSel addSld delSld modSld delMainMaster modMainMaster">
      <pc:chgData name="Jermaine Mack" userId="9a9780d0-a6cd-4c70-9bfb-816483dd9a5a" providerId="ADAL" clId="{0461B659-B3C3-4B80-BEDF-F4369A6B206B}" dt="2026-04-08T04:09:50.315" v="43" actId="14100"/>
      <pc:docMkLst>
        <pc:docMk/>
      </pc:docMkLst>
      <pc:sldChg chg="modSp mod">
        <pc:chgData name="Jermaine Mack" userId="9a9780d0-a6cd-4c70-9bfb-816483dd9a5a" providerId="ADAL" clId="{0461B659-B3C3-4B80-BEDF-F4369A6B206B}" dt="2026-04-06T18:05:52.624" v="39" actId="1036"/>
        <pc:sldMkLst>
          <pc:docMk/>
          <pc:sldMk cId="0" sldId="267"/>
        </pc:sldMkLst>
        <pc:spChg chg="mod">
          <ac:chgData name="Jermaine Mack" userId="9a9780d0-a6cd-4c70-9bfb-816483dd9a5a" providerId="ADAL" clId="{0461B659-B3C3-4B80-BEDF-F4369A6B206B}" dt="2026-04-06T18:05:52.624" v="39" actId="1036"/>
          <ac:spMkLst>
            <pc:docMk/>
            <pc:sldMk cId="0" sldId="267"/>
            <ac:spMk id="269" creationId="{00000000-0000-0000-0000-000000000000}"/>
          </ac:spMkLst>
        </pc:spChg>
      </pc:sldChg>
      <pc:sldChg chg="modSp mod">
        <pc:chgData name="Jermaine Mack" userId="9a9780d0-a6cd-4c70-9bfb-816483dd9a5a" providerId="ADAL" clId="{0461B659-B3C3-4B80-BEDF-F4369A6B206B}" dt="2026-04-08T04:09:50.315" v="43" actId="14100"/>
        <pc:sldMkLst>
          <pc:docMk/>
          <pc:sldMk cId="0" sldId="282"/>
        </pc:sldMkLst>
        <pc:spChg chg="mod">
          <ac:chgData name="Jermaine Mack" userId="9a9780d0-a6cd-4c70-9bfb-816483dd9a5a" providerId="ADAL" clId="{0461B659-B3C3-4B80-BEDF-F4369A6B206B}" dt="2026-04-08T04:09:50.315" v="43" actId="14100"/>
          <ac:spMkLst>
            <pc:docMk/>
            <pc:sldMk cId="0" sldId="282"/>
            <ac:spMk id="643" creationId="{00000000-0000-0000-0000-000000000000}"/>
          </ac:spMkLst>
        </pc:spChg>
      </pc:sldChg>
      <pc:sldChg chg="modSp mod">
        <pc:chgData name="Jermaine Mack" userId="9a9780d0-a6cd-4c70-9bfb-816483dd9a5a" providerId="ADAL" clId="{0461B659-B3C3-4B80-BEDF-F4369A6B206B}" dt="2026-04-03T16:20:09.907" v="14" actId="14100"/>
        <pc:sldMkLst>
          <pc:docMk/>
          <pc:sldMk cId="0" sldId="285"/>
        </pc:sldMkLst>
        <pc:spChg chg="mod">
          <ac:chgData name="Jermaine Mack" userId="9a9780d0-a6cd-4c70-9bfb-816483dd9a5a" providerId="ADAL" clId="{0461B659-B3C3-4B80-BEDF-F4369A6B206B}" dt="2026-04-03T16:20:09.907" v="14" actId="14100"/>
          <ac:spMkLst>
            <pc:docMk/>
            <pc:sldMk cId="0" sldId="285"/>
            <ac:spMk id="713" creationId="{00000000-0000-0000-0000-000000000000}"/>
          </ac:spMkLst>
        </pc:spChg>
      </pc:sldChg>
      <pc:sldChg chg="modSp mod">
        <pc:chgData name="Jermaine Mack" userId="9a9780d0-a6cd-4c70-9bfb-816483dd9a5a" providerId="ADAL" clId="{0461B659-B3C3-4B80-BEDF-F4369A6B206B}" dt="2026-04-03T16:20:44.741" v="15" actId="1076"/>
        <pc:sldMkLst>
          <pc:docMk/>
          <pc:sldMk cId="0" sldId="291"/>
        </pc:sldMkLst>
        <pc:spChg chg="mod">
          <ac:chgData name="Jermaine Mack" userId="9a9780d0-a6cd-4c70-9bfb-816483dd9a5a" providerId="ADAL" clId="{0461B659-B3C3-4B80-BEDF-F4369A6B206B}" dt="2026-04-03T16:20:00.980" v="12" actId="1076"/>
          <ac:spMkLst>
            <pc:docMk/>
            <pc:sldMk cId="0" sldId="291"/>
            <ac:spMk id="827" creationId="{00000000-0000-0000-0000-000000000000}"/>
          </ac:spMkLst>
        </pc:spChg>
        <pc:spChg chg="mod">
          <ac:chgData name="Jermaine Mack" userId="9a9780d0-a6cd-4c70-9bfb-816483dd9a5a" providerId="ADAL" clId="{0461B659-B3C3-4B80-BEDF-F4369A6B206B}" dt="2026-04-03T16:20:44.741" v="15" actId="1076"/>
          <ac:spMkLst>
            <pc:docMk/>
            <pc:sldMk cId="0" sldId="291"/>
            <ac:spMk id="831" creationId="{00000000-0000-0000-0000-000000000000}"/>
          </ac:spMkLst>
        </pc:spChg>
        <pc:spChg chg="mod">
          <ac:chgData name="Jermaine Mack" userId="9a9780d0-a6cd-4c70-9bfb-816483dd9a5a" providerId="ADAL" clId="{0461B659-B3C3-4B80-BEDF-F4369A6B206B}" dt="2026-04-03T16:20:44.741" v="15" actId="1076"/>
          <ac:spMkLst>
            <pc:docMk/>
            <pc:sldMk cId="0" sldId="291"/>
            <ac:spMk id="834" creationId="{00000000-0000-0000-0000-000000000000}"/>
          </ac:spMkLst>
        </pc:spChg>
        <pc:spChg chg="mod">
          <ac:chgData name="Jermaine Mack" userId="9a9780d0-a6cd-4c70-9bfb-816483dd9a5a" providerId="ADAL" clId="{0461B659-B3C3-4B80-BEDF-F4369A6B206B}" dt="2026-04-03T16:20:00.980" v="12" actId="1076"/>
          <ac:spMkLst>
            <pc:docMk/>
            <pc:sldMk cId="0" sldId="291"/>
            <ac:spMk id="835" creationId="{00000000-0000-0000-0000-000000000000}"/>
          </ac:spMkLst>
        </pc:spChg>
        <pc:spChg chg="mod">
          <ac:chgData name="Jermaine Mack" userId="9a9780d0-a6cd-4c70-9bfb-816483dd9a5a" providerId="ADAL" clId="{0461B659-B3C3-4B80-BEDF-F4369A6B206B}" dt="2026-04-03T16:20:44.741" v="15" actId="1076"/>
          <ac:spMkLst>
            <pc:docMk/>
            <pc:sldMk cId="0" sldId="291"/>
            <ac:spMk id="838" creationId="{00000000-0000-0000-0000-000000000000}"/>
          </ac:spMkLst>
        </pc:spChg>
        <pc:spChg chg="mod">
          <ac:chgData name="Jermaine Mack" userId="9a9780d0-a6cd-4c70-9bfb-816483dd9a5a" providerId="ADAL" clId="{0461B659-B3C3-4B80-BEDF-F4369A6B206B}" dt="2026-04-03T16:20:44.741" v="15" actId="1076"/>
          <ac:spMkLst>
            <pc:docMk/>
            <pc:sldMk cId="0" sldId="291"/>
            <ac:spMk id="839" creationId="{00000000-0000-0000-0000-000000000000}"/>
          </ac:spMkLst>
        </pc:spChg>
        <pc:spChg chg="mod">
          <ac:chgData name="Jermaine Mack" userId="9a9780d0-a6cd-4c70-9bfb-816483dd9a5a" providerId="ADAL" clId="{0461B659-B3C3-4B80-BEDF-F4369A6B206B}" dt="2026-04-03T16:20:44.741" v="15" actId="1076"/>
          <ac:spMkLst>
            <pc:docMk/>
            <pc:sldMk cId="0" sldId="291"/>
            <ac:spMk id="841" creationId="{00000000-0000-0000-0000-000000000000}"/>
          </ac:spMkLst>
        </pc:spChg>
        <pc:spChg chg="mod">
          <ac:chgData name="Jermaine Mack" userId="9a9780d0-a6cd-4c70-9bfb-816483dd9a5a" providerId="ADAL" clId="{0461B659-B3C3-4B80-BEDF-F4369A6B206B}" dt="2026-04-03T16:20:00.980" v="12" actId="1076"/>
          <ac:spMkLst>
            <pc:docMk/>
            <pc:sldMk cId="0" sldId="291"/>
            <ac:spMk id="842" creationId="{00000000-0000-0000-0000-000000000000}"/>
          </ac:spMkLst>
        </pc:spChg>
        <pc:spChg chg="mod">
          <ac:chgData name="Jermaine Mack" userId="9a9780d0-a6cd-4c70-9bfb-816483dd9a5a" providerId="ADAL" clId="{0461B659-B3C3-4B80-BEDF-F4369A6B206B}" dt="2026-04-03T16:20:00.980" v="12" actId="1076"/>
          <ac:spMkLst>
            <pc:docMk/>
            <pc:sldMk cId="0" sldId="291"/>
            <ac:spMk id="843" creationId="{00000000-0000-0000-0000-000000000000}"/>
          </ac:spMkLst>
        </pc:spChg>
        <pc:spChg chg="mod">
          <ac:chgData name="Jermaine Mack" userId="9a9780d0-a6cd-4c70-9bfb-816483dd9a5a" providerId="ADAL" clId="{0461B659-B3C3-4B80-BEDF-F4369A6B206B}" dt="2026-04-03T16:20:00.980" v="12" actId="1076"/>
          <ac:spMkLst>
            <pc:docMk/>
            <pc:sldMk cId="0" sldId="291"/>
            <ac:spMk id="844" creationId="{00000000-0000-0000-0000-000000000000}"/>
          </ac:spMkLst>
        </pc:spChg>
        <pc:spChg chg="mod">
          <ac:chgData name="Jermaine Mack" userId="9a9780d0-a6cd-4c70-9bfb-816483dd9a5a" providerId="ADAL" clId="{0461B659-B3C3-4B80-BEDF-F4369A6B206B}" dt="2026-04-03T16:20:00.980" v="12" actId="1076"/>
          <ac:spMkLst>
            <pc:docMk/>
            <pc:sldMk cId="0" sldId="291"/>
            <ac:spMk id="845" creationId="{00000000-0000-0000-0000-000000000000}"/>
          </ac:spMkLst>
        </pc:spChg>
        <pc:spChg chg="mod">
          <ac:chgData name="Jermaine Mack" userId="9a9780d0-a6cd-4c70-9bfb-816483dd9a5a" providerId="ADAL" clId="{0461B659-B3C3-4B80-BEDF-F4369A6B206B}" dt="2026-04-03T16:20:00.980" v="12" actId="1076"/>
          <ac:spMkLst>
            <pc:docMk/>
            <pc:sldMk cId="0" sldId="291"/>
            <ac:spMk id="847" creationId="{00000000-0000-0000-0000-000000000000}"/>
          </ac:spMkLst>
        </pc:spChg>
        <pc:spChg chg="mod">
          <ac:chgData name="Jermaine Mack" userId="9a9780d0-a6cd-4c70-9bfb-816483dd9a5a" providerId="ADAL" clId="{0461B659-B3C3-4B80-BEDF-F4369A6B206B}" dt="2026-04-03T16:20:44.741" v="15" actId="1076"/>
          <ac:spMkLst>
            <pc:docMk/>
            <pc:sldMk cId="0" sldId="291"/>
            <ac:spMk id="850" creationId="{00000000-0000-0000-0000-000000000000}"/>
          </ac:spMkLst>
        </pc:spChg>
        <pc:spChg chg="mod">
          <ac:chgData name="Jermaine Mack" userId="9a9780d0-a6cd-4c70-9bfb-816483dd9a5a" providerId="ADAL" clId="{0461B659-B3C3-4B80-BEDF-F4369A6B206B}" dt="2026-04-03T16:20:44.741" v="15" actId="1076"/>
          <ac:spMkLst>
            <pc:docMk/>
            <pc:sldMk cId="0" sldId="291"/>
            <ac:spMk id="851" creationId="{00000000-0000-0000-0000-000000000000}"/>
          </ac:spMkLst>
        </pc:spChg>
        <pc:spChg chg="mod">
          <ac:chgData name="Jermaine Mack" userId="9a9780d0-a6cd-4c70-9bfb-816483dd9a5a" providerId="ADAL" clId="{0461B659-B3C3-4B80-BEDF-F4369A6B206B}" dt="2026-04-03T16:20:44.741" v="15" actId="1076"/>
          <ac:spMkLst>
            <pc:docMk/>
            <pc:sldMk cId="0" sldId="291"/>
            <ac:spMk id="852" creationId="{00000000-0000-0000-0000-000000000000}"/>
          </ac:spMkLst>
        </pc:spChg>
        <pc:spChg chg="mod">
          <ac:chgData name="Jermaine Mack" userId="9a9780d0-a6cd-4c70-9bfb-816483dd9a5a" providerId="ADAL" clId="{0461B659-B3C3-4B80-BEDF-F4369A6B206B}" dt="2026-04-03T16:20:00.980" v="12" actId="1076"/>
          <ac:spMkLst>
            <pc:docMk/>
            <pc:sldMk cId="0" sldId="291"/>
            <ac:spMk id="853" creationId="{00000000-0000-0000-0000-000000000000}"/>
          </ac:spMkLst>
        </pc:spChg>
        <pc:spChg chg="mod">
          <ac:chgData name="Jermaine Mack" userId="9a9780d0-a6cd-4c70-9bfb-816483dd9a5a" providerId="ADAL" clId="{0461B659-B3C3-4B80-BEDF-F4369A6B206B}" dt="2026-04-03T16:20:44.741" v="15" actId="1076"/>
          <ac:spMkLst>
            <pc:docMk/>
            <pc:sldMk cId="0" sldId="291"/>
            <ac:spMk id="854" creationId="{00000000-0000-0000-0000-000000000000}"/>
          </ac:spMkLst>
        </pc:spChg>
        <pc:spChg chg="mod">
          <ac:chgData name="Jermaine Mack" userId="9a9780d0-a6cd-4c70-9bfb-816483dd9a5a" providerId="ADAL" clId="{0461B659-B3C3-4B80-BEDF-F4369A6B206B}" dt="2026-04-03T16:20:44.741" v="15" actId="1076"/>
          <ac:spMkLst>
            <pc:docMk/>
            <pc:sldMk cId="0" sldId="291"/>
            <ac:spMk id="855" creationId="{00000000-0000-0000-0000-000000000000}"/>
          </ac:spMkLst>
        </pc:spChg>
      </pc:sldChg>
      <pc:sldChg chg="modSp mod">
        <pc:chgData name="Jermaine Mack" userId="9a9780d0-a6cd-4c70-9bfb-816483dd9a5a" providerId="ADAL" clId="{0461B659-B3C3-4B80-BEDF-F4369A6B206B}" dt="2026-04-03T16:30:05.010" v="21" actId="14100"/>
        <pc:sldMkLst>
          <pc:docMk/>
          <pc:sldMk cId="0" sldId="301"/>
        </pc:sldMkLst>
        <pc:spChg chg="mod">
          <ac:chgData name="Jermaine Mack" userId="9a9780d0-a6cd-4c70-9bfb-816483dd9a5a" providerId="ADAL" clId="{0461B659-B3C3-4B80-BEDF-F4369A6B206B}" dt="2026-04-03T16:30:05.010" v="21" actId="14100"/>
          <ac:spMkLst>
            <pc:docMk/>
            <pc:sldMk cId="0" sldId="301"/>
            <ac:spMk id="1085" creationId="{00000000-0000-0000-0000-000000000000}"/>
          </ac:spMkLst>
        </pc:spChg>
      </pc:sldChg>
      <pc:sldChg chg="modSp mod">
        <pc:chgData name="Jermaine Mack" userId="9a9780d0-a6cd-4c70-9bfb-816483dd9a5a" providerId="ADAL" clId="{0461B659-B3C3-4B80-BEDF-F4369A6B206B}" dt="2026-04-03T16:30:31.953" v="22" actId="14100"/>
        <pc:sldMkLst>
          <pc:docMk/>
          <pc:sldMk cId="0" sldId="317"/>
        </pc:sldMkLst>
        <pc:spChg chg="mod">
          <ac:chgData name="Jermaine Mack" userId="9a9780d0-a6cd-4c70-9bfb-816483dd9a5a" providerId="ADAL" clId="{0461B659-B3C3-4B80-BEDF-F4369A6B206B}" dt="2026-04-03T16:30:31.953" v="22" actId="14100"/>
          <ac:spMkLst>
            <pc:docMk/>
            <pc:sldMk cId="0" sldId="317"/>
            <ac:spMk id="1482" creationId="{00000000-0000-0000-0000-000000000000}"/>
          </ac:spMkLst>
        </pc:spChg>
      </pc:sldChg>
      <pc:sldChg chg="modSp mod">
        <pc:chgData name="Jermaine Mack" userId="9a9780d0-a6cd-4c70-9bfb-816483dd9a5a" providerId="ADAL" clId="{0461B659-B3C3-4B80-BEDF-F4369A6B206B}" dt="2026-04-03T16:32:06.952" v="26" actId="14100"/>
        <pc:sldMkLst>
          <pc:docMk/>
          <pc:sldMk cId="0" sldId="320"/>
        </pc:sldMkLst>
        <pc:spChg chg="mod">
          <ac:chgData name="Jermaine Mack" userId="9a9780d0-a6cd-4c70-9bfb-816483dd9a5a" providerId="ADAL" clId="{0461B659-B3C3-4B80-BEDF-F4369A6B206B}" dt="2026-04-03T16:32:06.952" v="26" actId="14100"/>
          <ac:spMkLst>
            <pc:docMk/>
            <pc:sldMk cId="0" sldId="320"/>
            <ac:spMk id="1519" creationId="{00000000-0000-0000-0000-000000000000}"/>
          </ac:spMkLst>
        </pc:spChg>
        <pc:spChg chg="mod">
          <ac:chgData name="Jermaine Mack" userId="9a9780d0-a6cd-4c70-9bfb-816483dd9a5a" providerId="ADAL" clId="{0461B659-B3C3-4B80-BEDF-F4369A6B206B}" dt="2026-04-03T16:31:39.838" v="25" actId="14100"/>
          <ac:spMkLst>
            <pc:docMk/>
            <pc:sldMk cId="0" sldId="320"/>
            <ac:spMk id="1522" creationId="{00000000-0000-0000-0000-000000000000}"/>
          </ac:spMkLst>
        </pc:spChg>
        <pc:spChg chg="mod">
          <ac:chgData name="Jermaine Mack" userId="9a9780d0-a6cd-4c70-9bfb-816483dd9a5a" providerId="ADAL" clId="{0461B659-B3C3-4B80-BEDF-F4369A6B206B}" dt="2026-04-03T16:31:34.069" v="24" actId="14100"/>
          <ac:spMkLst>
            <pc:docMk/>
            <pc:sldMk cId="0" sldId="320"/>
            <ac:spMk id="1523" creationId="{00000000-0000-0000-0000-000000000000}"/>
          </ac:spMkLst>
        </pc:spChg>
      </pc:sldChg>
      <pc:sldChg chg="modSp mod">
        <pc:chgData name="Jermaine Mack" userId="9a9780d0-a6cd-4c70-9bfb-816483dd9a5a" providerId="ADAL" clId="{0461B659-B3C3-4B80-BEDF-F4369A6B206B}" dt="2026-04-03T15:02:11.177" v="0" actId="1076"/>
        <pc:sldMkLst>
          <pc:docMk/>
          <pc:sldMk cId="0" sldId="346"/>
        </pc:sldMkLst>
        <pc:spChg chg="mod">
          <ac:chgData name="Jermaine Mack" userId="9a9780d0-a6cd-4c70-9bfb-816483dd9a5a" providerId="ADAL" clId="{0461B659-B3C3-4B80-BEDF-F4369A6B206B}" dt="2026-04-03T15:02:11.177" v="0" actId="1076"/>
          <ac:spMkLst>
            <pc:docMk/>
            <pc:sldMk cId="0" sldId="346"/>
            <ac:spMk id="2025" creationId="{00000000-0000-0000-0000-000000000000}"/>
          </ac:spMkLst>
        </pc:spChg>
        <pc:spChg chg="mod">
          <ac:chgData name="Jermaine Mack" userId="9a9780d0-a6cd-4c70-9bfb-816483dd9a5a" providerId="ADAL" clId="{0461B659-B3C3-4B80-BEDF-F4369A6B206B}" dt="2026-04-03T15:02:11.177" v="0" actId="1076"/>
          <ac:spMkLst>
            <pc:docMk/>
            <pc:sldMk cId="0" sldId="346"/>
            <ac:spMk id="2037" creationId="{00000000-0000-0000-0000-000000000000}"/>
          </ac:spMkLst>
        </pc:spChg>
        <pc:graphicFrameChg chg="mod">
          <ac:chgData name="Jermaine Mack" userId="9a9780d0-a6cd-4c70-9bfb-816483dd9a5a" providerId="ADAL" clId="{0461B659-B3C3-4B80-BEDF-F4369A6B206B}" dt="2026-04-03T15:02:11.177" v="0" actId="1076"/>
          <ac:graphicFrameMkLst>
            <pc:docMk/>
            <pc:sldMk cId="0" sldId="346"/>
            <ac:graphicFrameMk id="2038" creationId="{00000000-0000-0000-0000-000000000000}"/>
          </ac:graphicFrameMkLst>
        </pc:graphicFrameChg>
        <pc:picChg chg="mod">
          <ac:chgData name="Jermaine Mack" userId="9a9780d0-a6cd-4c70-9bfb-816483dd9a5a" providerId="ADAL" clId="{0461B659-B3C3-4B80-BEDF-F4369A6B206B}" dt="2026-04-03T15:02:11.177" v="0" actId="1076"/>
          <ac:picMkLst>
            <pc:docMk/>
            <pc:sldMk cId="0" sldId="346"/>
            <ac:picMk id="2026" creationId="{00000000-0000-0000-0000-000000000000}"/>
          </ac:picMkLst>
        </pc:picChg>
      </pc:sldChg>
      <pc:sldChg chg="modSp mod">
        <pc:chgData name="Jermaine Mack" userId="9a9780d0-a6cd-4c70-9bfb-816483dd9a5a" providerId="ADAL" clId="{0461B659-B3C3-4B80-BEDF-F4369A6B206B}" dt="2026-04-03T16:33:04.431" v="27" actId="14100"/>
        <pc:sldMkLst>
          <pc:docMk/>
          <pc:sldMk cId="0" sldId="348"/>
        </pc:sldMkLst>
        <pc:spChg chg="mod">
          <ac:chgData name="Jermaine Mack" userId="9a9780d0-a6cd-4c70-9bfb-816483dd9a5a" providerId="ADAL" clId="{0461B659-B3C3-4B80-BEDF-F4369A6B206B}" dt="2026-04-03T15:03:05.433" v="4" actId="1076"/>
          <ac:spMkLst>
            <pc:docMk/>
            <pc:sldMk cId="0" sldId="348"/>
            <ac:spMk id="2069" creationId="{00000000-0000-0000-0000-000000000000}"/>
          </ac:spMkLst>
        </pc:spChg>
        <pc:spChg chg="mod">
          <ac:chgData name="Jermaine Mack" userId="9a9780d0-a6cd-4c70-9bfb-816483dd9a5a" providerId="ADAL" clId="{0461B659-B3C3-4B80-BEDF-F4369A6B206B}" dt="2026-04-03T16:33:04.431" v="27" actId="14100"/>
          <ac:spMkLst>
            <pc:docMk/>
            <pc:sldMk cId="0" sldId="348"/>
            <ac:spMk id="2070" creationId="{00000000-0000-0000-0000-000000000000}"/>
          </ac:spMkLst>
        </pc:spChg>
        <pc:spChg chg="mod">
          <ac:chgData name="Jermaine Mack" userId="9a9780d0-a6cd-4c70-9bfb-816483dd9a5a" providerId="ADAL" clId="{0461B659-B3C3-4B80-BEDF-F4369A6B206B}" dt="2026-04-03T15:03:01.383" v="3" actId="1076"/>
          <ac:spMkLst>
            <pc:docMk/>
            <pc:sldMk cId="0" sldId="348"/>
            <ac:spMk id="2071" creationId="{00000000-0000-0000-0000-000000000000}"/>
          </ac:spMkLst>
        </pc:spChg>
      </pc:sldChg>
      <pc:sldChg chg="modSp mod">
        <pc:chgData name="Jermaine Mack" userId="9a9780d0-a6cd-4c70-9bfb-816483dd9a5a" providerId="ADAL" clId="{0461B659-B3C3-4B80-BEDF-F4369A6B206B}" dt="2026-04-03T15:03:27.005" v="5" actId="1076"/>
        <pc:sldMkLst>
          <pc:docMk/>
          <pc:sldMk cId="0" sldId="353"/>
        </pc:sldMkLst>
        <pc:spChg chg="mod">
          <ac:chgData name="Jermaine Mack" userId="9a9780d0-a6cd-4c70-9bfb-816483dd9a5a" providerId="ADAL" clId="{0461B659-B3C3-4B80-BEDF-F4369A6B206B}" dt="2026-04-03T15:03:27.005" v="5" actId="1076"/>
          <ac:spMkLst>
            <pc:docMk/>
            <pc:sldMk cId="0" sldId="353"/>
            <ac:spMk id="2139" creationId="{00000000-0000-0000-0000-000000000000}"/>
          </ac:spMkLst>
        </pc:spChg>
        <pc:spChg chg="mod">
          <ac:chgData name="Jermaine Mack" userId="9a9780d0-a6cd-4c70-9bfb-816483dd9a5a" providerId="ADAL" clId="{0461B659-B3C3-4B80-BEDF-F4369A6B206B}" dt="2026-04-03T15:03:27.005" v="5" actId="1076"/>
          <ac:spMkLst>
            <pc:docMk/>
            <pc:sldMk cId="0" sldId="353"/>
            <ac:spMk id="2144" creationId="{00000000-0000-0000-0000-000000000000}"/>
          </ac:spMkLst>
        </pc:spChg>
        <pc:graphicFrameChg chg="mod">
          <ac:chgData name="Jermaine Mack" userId="9a9780d0-a6cd-4c70-9bfb-816483dd9a5a" providerId="ADAL" clId="{0461B659-B3C3-4B80-BEDF-F4369A6B206B}" dt="2026-04-03T15:03:27.005" v="5" actId="1076"/>
          <ac:graphicFrameMkLst>
            <pc:docMk/>
            <pc:sldMk cId="0" sldId="353"/>
            <ac:graphicFrameMk id="2145" creationId="{00000000-0000-0000-0000-000000000000}"/>
          </ac:graphicFrameMkLst>
        </pc:graphicFrameChg>
        <pc:picChg chg="mod">
          <ac:chgData name="Jermaine Mack" userId="9a9780d0-a6cd-4c70-9bfb-816483dd9a5a" providerId="ADAL" clId="{0461B659-B3C3-4B80-BEDF-F4369A6B206B}" dt="2026-04-03T15:03:27.005" v="5" actId="1076"/>
          <ac:picMkLst>
            <pc:docMk/>
            <pc:sldMk cId="0" sldId="353"/>
            <ac:picMk id="2140" creationId="{00000000-0000-0000-0000-000000000000}"/>
          </ac:picMkLst>
        </pc:picChg>
      </pc:sldChg>
      <pc:sldChg chg="add">
        <pc:chgData name="Jermaine Mack" userId="9a9780d0-a6cd-4c70-9bfb-816483dd9a5a" providerId="ADAL" clId="{0461B659-B3C3-4B80-BEDF-F4369A6B206B}" dt="2026-04-03T15:06:07.547" v="6"/>
        <pc:sldMkLst>
          <pc:docMk/>
          <pc:sldMk cId="0" sldId="369"/>
        </pc:sldMkLst>
      </pc:sldChg>
      <pc:sldChg chg="add">
        <pc:chgData name="Jermaine Mack" userId="9a9780d0-a6cd-4c70-9bfb-816483dd9a5a" providerId="ADAL" clId="{0461B659-B3C3-4B80-BEDF-F4369A6B206B}" dt="2026-04-03T15:06:07.547" v="6"/>
        <pc:sldMkLst>
          <pc:docMk/>
          <pc:sldMk cId="0" sldId="370"/>
        </pc:sldMkLst>
      </pc:sldChg>
      <pc:sldChg chg="add">
        <pc:chgData name="Jermaine Mack" userId="9a9780d0-a6cd-4c70-9bfb-816483dd9a5a" providerId="ADAL" clId="{0461B659-B3C3-4B80-BEDF-F4369A6B206B}" dt="2026-04-03T15:06:07.547" v="6"/>
        <pc:sldMkLst>
          <pc:docMk/>
          <pc:sldMk cId="0" sldId="371"/>
        </pc:sldMkLst>
      </pc:sldChg>
      <pc:sldChg chg="add">
        <pc:chgData name="Jermaine Mack" userId="9a9780d0-a6cd-4c70-9bfb-816483dd9a5a" providerId="ADAL" clId="{0461B659-B3C3-4B80-BEDF-F4369A6B206B}" dt="2026-04-03T15:06:07.547" v="6"/>
        <pc:sldMkLst>
          <pc:docMk/>
          <pc:sldMk cId="0" sldId="372"/>
        </pc:sldMkLst>
      </pc:sldChg>
      <pc:sldChg chg="modSp add mod">
        <pc:chgData name="Jermaine Mack" userId="9a9780d0-a6cd-4c70-9bfb-816483dd9a5a" providerId="ADAL" clId="{0461B659-B3C3-4B80-BEDF-F4369A6B206B}" dt="2026-04-03T16:34:03.687" v="29" actId="14100"/>
        <pc:sldMkLst>
          <pc:docMk/>
          <pc:sldMk cId="0" sldId="373"/>
        </pc:sldMkLst>
        <pc:spChg chg="mod">
          <ac:chgData name="Jermaine Mack" userId="9a9780d0-a6cd-4c70-9bfb-816483dd9a5a" providerId="ADAL" clId="{0461B659-B3C3-4B80-BEDF-F4369A6B206B}" dt="2026-04-03T16:34:03.687" v="29" actId="14100"/>
          <ac:spMkLst>
            <pc:docMk/>
            <pc:sldMk cId="0" sldId="373"/>
            <ac:spMk id="32" creationId="{00000000-0000-0000-0000-000000000000}"/>
          </ac:spMkLst>
        </pc:spChg>
      </pc:sldChg>
      <pc:sldChg chg="add">
        <pc:chgData name="Jermaine Mack" userId="9a9780d0-a6cd-4c70-9bfb-816483dd9a5a" providerId="ADAL" clId="{0461B659-B3C3-4B80-BEDF-F4369A6B206B}" dt="2026-04-03T15:06:07.547" v="6"/>
        <pc:sldMkLst>
          <pc:docMk/>
          <pc:sldMk cId="0" sldId="375"/>
        </pc:sldMkLst>
      </pc:sldChg>
      <pc:sldChg chg="add">
        <pc:chgData name="Jermaine Mack" userId="9a9780d0-a6cd-4c70-9bfb-816483dd9a5a" providerId="ADAL" clId="{0461B659-B3C3-4B80-BEDF-F4369A6B206B}" dt="2026-04-03T15:06:07.547" v="6"/>
        <pc:sldMkLst>
          <pc:docMk/>
          <pc:sldMk cId="0" sldId="376"/>
        </pc:sldMkLst>
      </pc:sldChg>
      <pc:sldChg chg="add">
        <pc:chgData name="Jermaine Mack" userId="9a9780d0-a6cd-4c70-9bfb-816483dd9a5a" providerId="ADAL" clId="{0461B659-B3C3-4B80-BEDF-F4369A6B206B}" dt="2026-04-03T15:06:07.547" v="6"/>
        <pc:sldMkLst>
          <pc:docMk/>
          <pc:sldMk cId="0" sldId="377"/>
        </pc:sldMkLst>
      </pc:sldChg>
      <pc:sldChg chg="add">
        <pc:chgData name="Jermaine Mack" userId="9a9780d0-a6cd-4c70-9bfb-816483dd9a5a" providerId="ADAL" clId="{0461B659-B3C3-4B80-BEDF-F4369A6B206B}" dt="2026-04-03T15:06:07.547" v="6"/>
        <pc:sldMkLst>
          <pc:docMk/>
          <pc:sldMk cId="0" sldId="378"/>
        </pc:sldMkLst>
      </pc:sldChg>
      <pc:sldChg chg="modSp add mod">
        <pc:chgData name="Jermaine Mack" userId="9a9780d0-a6cd-4c70-9bfb-816483dd9a5a" providerId="ADAL" clId="{0461B659-B3C3-4B80-BEDF-F4369A6B206B}" dt="2026-04-03T16:36:57.922" v="33" actId="14100"/>
        <pc:sldMkLst>
          <pc:docMk/>
          <pc:sldMk cId="0" sldId="379"/>
        </pc:sldMkLst>
        <pc:spChg chg="mod">
          <ac:chgData name="Jermaine Mack" userId="9a9780d0-a6cd-4c70-9bfb-816483dd9a5a" providerId="ADAL" clId="{0461B659-B3C3-4B80-BEDF-F4369A6B206B}" dt="2026-04-03T16:36:57.922" v="33" actId="14100"/>
          <ac:spMkLst>
            <pc:docMk/>
            <pc:sldMk cId="0" sldId="379"/>
            <ac:spMk id="11" creationId="{00000000-0000-0000-0000-000000000000}"/>
          </ac:spMkLst>
        </pc:spChg>
        <pc:spChg chg="mod">
          <ac:chgData name="Jermaine Mack" userId="9a9780d0-a6cd-4c70-9bfb-816483dd9a5a" providerId="ADAL" clId="{0461B659-B3C3-4B80-BEDF-F4369A6B206B}" dt="2026-04-03T16:36:43.531" v="32" actId="14100"/>
          <ac:spMkLst>
            <pc:docMk/>
            <pc:sldMk cId="0" sldId="379"/>
            <ac:spMk id="17" creationId="{00000000-0000-0000-0000-000000000000}"/>
          </ac:spMkLst>
        </pc:spChg>
        <pc:spChg chg="mod">
          <ac:chgData name="Jermaine Mack" userId="9a9780d0-a6cd-4c70-9bfb-816483dd9a5a" providerId="ADAL" clId="{0461B659-B3C3-4B80-BEDF-F4369A6B206B}" dt="2026-04-03T16:36:36.497" v="31" actId="1076"/>
          <ac:spMkLst>
            <pc:docMk/>
            <pc:sldMk cId="0" sldId="379"/>
            <ac:spMk id="18" creationId="{00000000-0000-0000-0000-000000000000}"/>
          </ac:spMkLst>
        </pc:spChg>
      </pc:sldChg>
      <pc:sldChg chg="add">
        <pc:chgData name="Jermaine Mack" userId="9a9780d0-a6cd-4c70-9bfb-816483dd9a5a" providerId="ADAL" clId="{0461B659-B3C3-4B80-BEDF-F4369A6B206B}" dt="2026-04-03T16:29:44.568" v="19"/>
        <pc:sldMkLst>
          <pc:docMk/>
          <pc:sldMk cId="0" sldId="380"/>
        </pc:sldMkLst>
      </pc:sldChg>
      <pc:sldChg chg="add">
        <pc:chgData name="Jermaine Mack" userId="9a9780d0-a6cd-4c70-9bfb-816483dd9a5a" providerId="ADAL" clId="{0461B659-B3C3-4B80-BEDF-F4369A6B206B}" dt="2026-04-03T16:39:55.354" v="34"/>
        <pc:sldMkLst>
          <pc:docMk/>
          <pc:sldMk cId="0" sldId="381"/>
        </pc:sldMkLst>
      </pc:sldChg>
      <pc:sldChg chg="add">
        <pc:chgData name="Jermaine Mack" userId="9a9780d0-a6cd-4c70-9bfb-816483dd9a5a" providerId="ADAL" clId="{0461B659-B3C3-4B80-BEDF-F4369A6B206B}" dt="2026-04-06T19:53:07.282" v="40"/>
        <pc:sldMkLst>
          <pc:docMk/>
          <pc:sldMk cId="0" sldId="382"/>
        </pc:sldMkLst>
      </pc:sldChg>
      <pc:sldMasterChg chg="modSldLayout sldLayoutOrd">
        <pc:chgData name="Jermaine Mack" userId="9a9780d0-a6cd-4c70-9bfb-816483dd9a5a" providerId="ADAL" clId="{0461B659-B3C3-4B80-BEDF-F4369A6B206B}" dt="2026-04-03T15:06:14.155" v="8"/>
        <pc:sldMasterMkLst>
          <pc:docMk/>
          <pc:sldMasterMk cId="0" sldId="2147483648"/>
        </pc:sldMasterMkLst>
        <pc:sldLayoutChg chg="modSp mod ord">
          <pc:chgData name="Jermaine Mack" userId="9a9780d0-a6cd-4c70-9bfb-816483dd9a5a" providerId="ADAL" clId="{0461B659-B3C3-4B80-BEDF-F4369A6B206B}" dt="2026-04-03T15:06:14.155" v="8"/>
          <pc:sldLayoutMkLst>
            <pc:docMk/>
            <pc:sldMasterMk cId="0" sldId="2147483648"/>
            <pc:sldLayoutMk cId="0" sldId="2147483651"/>
          </pc:sldLayoutMkLst>
          <pc:spChg chg="mod">
            <ac:chgData name="Jermaine Mack" userId="9a9780d0-a6cd-4c70-9bfb-816483dd9a5a" providerId="ADAL" clId="{0461B659-B3C3-4B80-BEDF-F4369A6B206B}" dt="2026-04-03T15:06:14.155" v="8"/>
            <ac:spMkLst>
              <pc:docMk/>
              <pc:sldMasterMk cId="0" sldId="2147483648"/>
              <pc:sldLayoutMk cId="0" sldId="2147483651"/>
              <ac:spMk id="4" creationId="{00000000-0000-0000-0000-000000000000}"/>
            </ac:spMkLst>
          </pc:spChg>
          <pc:spChg chg="mod">
            <ac:chgData name="Jermaine Mack" userId="9a9780d0-a6cd-4c70-9bfb-816483dd9a5a" providerId="ADAL" clId="{0461B659-B3C3-4B80-BEDF-F4369A6B206B}" dt="2026-04-03T15:06:14.155" v="8"/>
            <ac:spMkLst>
              <pc:docMk/>
              <pc:sldMasterMk cId="0" sldId="2147483648"/>
              <pc:sldLayoutMk cId="0" sldId="2147483651"/>
              <ac:spMk id="5" creationId="{00000000-0000-0000-0000-000000000000}"/>
            </ac:spMkLst>
          </pc:spChg>
        </pc:sldLayoutChg>
      </pc:sldMasterChg>
    </pc:docChg>
  </pc:docChgLst>
  <pc:docChgLst>
    <pc:chgData name="David Larsen" userId="S::david.larsen@f5.com::150ea72b-7fad-4b18-b8e3-5dccbed33ef0" providerId="AD" clId="Web-{967F1C41-7443-43FB-A152-221DEC909BD8}"/>
    <pc:docChg chg="modSld">
      <pc:chgData name="David Larsen" userId="S::david.larsen@f5.com::150ea72b-7fad-4b18-b8e3-5dccbed33ef0" providerId="AD" clId="Web-{967F1C41-7443-43FB-A152-221DEC909BD8}" dt="2026-04-03T15:39:28.446" v="23" actId="20577"/>
      <pc:docMkLst>
        <pc:docMk/>
      </pc:docMkLst>
      <pc:sldChg chg="modSp">
        <pc:chgData name="David Larsen" userId="S::david.larsen@f5.com::150ea72b-7fad-4b18-b8e3-5dccbed33ef0" providerId="AD" clId="Web-{967F1C41-7443-43FB-A152-221DEC909BD8}" dt="2026-04-03T15:39:28.446" v="23" actId="20577"/>
        <pc:sldMkLst>
          <pc:docMk/>
          <pc:sldMk cId="0" sldId="262"/>
        </pc:sldMkLst>
        <pc:spChg chg="mod">
          <ac:chgData name="David Larsen" userId="S::david.larsen@f5.com::150ea72b-7fad-4b18-b8e3-5dccbed33ef0" providerId="AD" clId="Web-{967F1C41-7443-43FB-A152-221DEC909BD8}" dt="2026-04-03T15:39:28.446" v="23" actId="20577"/>
          <ac:spMkLst>
            <pc:docMk/>
            <pc:sldMk cId="0" sldId="262"/>
            <ac:spMk id="138" creationId="{00000000-0000-0000-0000-000000000000}"/>
          </ac:spMkLst>
        </pc:spChg>
      </pc:sldChg>
    </pc:docChg>
  </pc:docChgLst>
  <pc:docChgLst>
    <pc:chgData name="Jermaine Mack" userId="S::j.mack@f5.com::9a9780d0-a6cd-4c70-9bfb-816483dd9a5a" providerId="AD" clId="Web-{0E77CFF4-F9D4-4D49-9235-2ECDF57BB36C}"/>
    <pc:docChg chg="modSld">
      <pc:chgData name="Jermaine Mack" userId="S::j.mack@f5.com::9a9780d0-a6cd-4c70-9bfb-816483dd9a5a" providerId="AD" clId="Web-{0E77CFF4-F9D4-4D49-9235-2ECDF57BB36C}" dt="2026-04-03T16:13:22.346" v="2" actId="20577"/>
      <pc:docMkLst>
        <pc:docMk/>
      </pc:docMkLst>
      <pc:sldChg chg="modSp">
        <pc:chgData name="Jermaine Mack" userId="S::j.mack@f5.com::9a9780d0-a6cd-4c70-9bfb-816483dd9a5a" providerId="AD" clId="Web-{0E77CFF4-F9D4-4D49-9235-2ECDF57BB36C}" dt="2026-04-03T16:13:22.346" v="2" actId="20577"/>
        <pc:sldMkLst>
          <pc:docMk/>
          <pc:sldMk cId="0" sldId="277"/>
        </pc:sldMkLst>
        <pc:spChg chg="mod">
          <ac:chgData name="Jermaine Mack" userId="S::j.mack@f5.com::9a9780d0-a6cd-4c70-9bfb-816483dd9a5a" providerId="AD" clId="Web-{0E77CFF4-F9D4-4D49-9235-2ECDF57BB36C}" dt="2026-04-03T16:13:22.346" v="2" actId="20577"/>
          <ac:spMkLst>
            <pc:docMk/>
            <pc:sldMk cId="0" sldId="277"/>
            <ac:spMk id="52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2"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r>
              <a:rPr lang="en-US" sz="1800" b="0" strike="noStrike" spc="-1">
                <a:solidFill>
                  <a:schemeClr val="dk1"/>
                </a:solidFill>
                <a:latin typeface="Calibri"/>
              </a:rPr>
              <a:t>Click to move the slide</a:t>
            </a:r>
          </a:p>
        </p:txBody>
      </p:sp>
      <p:sp>
        <p:nvSpPr>
          <p:cNvPr id="33"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216000" indent="-216000">
              <a:buNone/>
            </a:pPr>
            <a:r>
              <a:rPr lang="en-US" sz="2000" b="0" strike="noStrike" spc="-1">
                <a:solidFill>
                  <a:srgbClr val="000000"/>
                </a:solidFill>
                <a:latin typeface="Arial"/>
              </a:rPr>
              <a:t>Click to edit the notes format</a:t>
            </a:r>
          </a:p>
        </p:txBody>
      </p:sp>
      <p:sp>
        <p:nvSpPr>
          <p:cNvPr id="34"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strike="noStrike" spc="-1">
                <a:solidFill>
                  <a:srgbClr val="000000"/>
                </a:solidFill>
                <a:latin typeface="Times New Roman"/>
              </a:rPr>
              <a:t>&lt;header&gt;</a:t>
            </a:r>
          </a:p>
        </p:txBody>
      </p:sp>
      <p:sp>
        <p:nvSpPr>
          <p:cNvPr id="35"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US" sz="1400" b="0" strike="noStrike" spc="-1">
                <a:solidFill>
                  <a:srgbClr val="000000"/>
                </a:solidFill>
                <a:latin typeface="Times New Roman"/>
              </a:defRPr>
            </a:lvl1pPr>
          </a:lstStyle>
          <a:p>
            <a:pPr indent="0" algn="r">
              <a:buNone/>
            </a:pPr>
            <a:r>
              <a:rPr lang="en-US" sz="1400" b="0" strike="noStrike" spc="-1">
                <a:solidFill>
                  <a:srgbClr val="000000"/>
                </a:solidFill>
                <a:latin typeface="Times New Roman"/>
              </a:rPr>
              <a:t>&lt;date/time&gt;</a:t>
            </a:r>
          </a:p>
        </p:txBody>
      </p:sp>
      <p:sp>
        <p:nvSpPr>
          <p:cNvPr id="36"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&lt;footer&gt;</a:t>
            </a:r>
          </a:p>
        </p:txBody>
      </p:sp>
      <p:sp>
        <p:nvSpPr>
          <p:cNvPr id="37"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strike="noStrike" spc="-1">
                <a:solidFill>
                  <a:srgbClr val="000000"/>
                </a:solidFill>
                <a:latin typeface="Times New Roman"/>
              </a:defRPr>
            </a:lvl1pPr>
          </a:lstStyle>
          <a:p>
            <a:pPr indent="0" algn="r">
              <a:buNone/>
            </a:pPr>
            <a:fld id="{3327EA6C-3F24-4FCA-95BB-AB55D39DAA32}" type="slidenum">
              <a:rPr lang="en-US" sz="1400" b="0" strike="noStrike" spc="-1">
                <a:solidFill>
                  <a:srgbClr val="000000"/>
                </a:solidFill>
                <a:latin typeface="Times New Roman"/>
              </a:rPr>
              <a:t>‹#›</a:t>
            </a:fld>
            <a:endParaRPr lang="en-US" sz="14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3" name="PlaceHolder 1"/>
          <p:cNvSpPr>
            <a:spLocks noGrp="1" noRot="1" noChangeAspect="1"/>
          </p:cNvSpPr>
          <p:nvPr>
            <p:ph type="sldImg"/>
          </p:nvPr>
        </p:nvSpPr>
        <p:spPr>
          <a:xfrm>
            <a:off x="0" y="0"/>
            <a:ext cx="0" cy="0"/>
          </a:xfrm>
          <a:prstGeom prst="rect">
            <a:avLst/>
          </a:prstGeom>
          <a:ln w="0">
            <a:noFill/>
          </a:ln>
        </p:spPr>
      </p:sp>
      <p:sp>
        <p:nvSpPr>
          <p:cNvPr id="2474"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0">
              <a:lnSpc>
                <a:spcPct val="100000"/>
              </a:lnSpc>
              <a:buNone/>
            </a:pPr>
            <a:r>
              <a:rPr lang="en-US" sz="2000" b="0" strike="noStrike" spc="-1">
                <a:solidFill>
                  <a:srgbClr val="000000"/>
                </a:solidFill>
                <a:latin typeface="Arial"/>
              </a:rPr>
              <a:t>Course title slide. Sets context: this course prepares students for the new F5-CTS BIG-IP LTM Beta certification series (six exams) while maintaining backward compatibility with the legacy 301A exam.</a:t>
            </a:r>
          </a:p>
        </p:txBody>
      </p:sp>
      <p:sp>
        <p:nvSpPr>
          <p:cNvPr id="2475" name="PlaceHolder 3"/>
          <p:cNvSpPr>
            <a:spLocks noGrp="1"/>
          </p:cNvSpPr>
          <p:nvPr>
            <p:ph type="sldNum" idx="4"/>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6735D814-A9E1-4A0D-8172-92BDAEF27208}" type="slidenum">
              <a:rPr lang="en-US" sz="1800" b="0" strike="noStrike" spc="-1">
                <a:solidFill>
                  <a:schemeClr val="dk1"/>
                </a:solidFill>
                <a:latin typeface="+mn-lt"/>
                <a:ea typeface="+mn-ea"/>
              </a:rPr>
              <a:t>1</a:t>
            </a:fld>
            <a:endParaRPr lang="en-US" sz="1800" b="0" strike="noStrike" spc="-1">
              <a:solidFill>
                <a:srgbClr val="000000"/>
              </a:solidFill>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6" name="PlaceHolder 1"/>
          <p:cNvSpPr>
            <a:spLocks noGrp="1" noRot="1" noChangeAspect="1"/>
          </p:cNvSpPr>
          <p:nvPr>
            <p:ph type="sldImg"/>
          </p:nvPr>
        </p:nvSpPr>
        <p:spPr>
          <a:xfrm>
            <a:off x="0" y="0"/>
            <a:ext cx="0" cy="0"/>
          </a:xfrm>
          <a:prstGeom prst="rect">
            <a:avLst/>
          </a:prstGeom>
          <a:ln w="0">
            <a:noFill/>
          </a:ln>
        </p:spPr>
      </p:sp>
      <p:sp>
        <p:nvSpPr>
          <p:cNvPr id="2477"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0">
              <a:lnSpc>
                <a:spcPct val="100000"/>
              </a:lnSpc>
              <a:buNone/>
            </a:pPr>
            <a:r>
              <a:rPr lang="en-US" sz="2000" b="0" strike="noStrike" spc="-1">
                <a:solidFill>
                  <a:srgbClr val="000000"/>
                </a:solidFill>
                <a:latin typeface="Arial"/>
              </a:rPr>
              <a:t>Course overview. Three columns: audience, learning outcomes, teaching methodology. Blue callout explains the structure.</a:t>
            </a:r>
          </a:p>
        </p:txBody>
      </p:sp>
      <p:sp>
        <p:nvSpPr>
          <p:cNvPr id="2478" name="PlaceHolder 3"/>
          <p:cNvSpPr>
            <a:spLocks noGrp="1"/>
          </p:cNvSpPr>
          <p:nvPr>
            <p:ph type="sldNum" idx="5"/>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D543EDAA-4402-41DF-AA7F-B3719940EFE6}" type="slidenum">
              <a:rPr lang="en-US" sz="1800" b="0" strike="noStrike" spc="-1">
                <a:solidFill>
                  <a:schemeClr val="dk1"/>
                </a:solidFill>
                <a:latin typeface="+mn-lt"/>
                <a:ea typeface="+mn-ea"/>
              </a:rPr>
              <a:t>2</a:t>
            </a:fld>
            <a:endParaRPr lang="en-US" sz="1800" b="0" strike="noStrike" spc="-1">
              <a:solidFill>
                <a:srgbClr val="000000"/>
              </a:solidFill>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9" name="PlaceHolder 1"/>
          <p:cNvSpPr>
            <a:spLocks noGrp="1" noRot="1" noChangeAspect="1"/>
          </p:cNvSpPr>
          <p:nvPr>
            <p:ph type="sldImg"/>
          </p:nvPr>
        </p:nvSpPr>
        <p:spPr>
          <a:xfrm>
            <a:off x="0" y="0"/>
            <a:ext cx="0" cy="0"/>
          </a:xfrm>
          <a:prstGeom prst="rect">
            <a:avLst/>
          </a:prstGeom>
          <a:ln w="0">
            <a:noFill/>
          </a:ln>
        </p:spPr>
      </p:sp>
      <p:sp>
        <p:nvSpPr>
          <p:cNvPr id="2480"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Direct comparison of 301A and Beta exam series. Students coming from 301A prep need to understand the structural change and new content areas.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KEY POINTS:</a:t>
            </a:r>
          </a:p>
          <a:p>
            <a:pPr marL="216000" indent="-216000">
              <a:buNone/>
            </a:pPr>
            <a:r>
              <a:rPr lang="en-US" sz="2000" b="0" strike="noStrike" spc="-1">
                <a:solidFill>
                  <a:srgbClr val="000000"/>
                </a:solidFill>
                <a:latin typeface="Arial"/>
              </a:rPr>
              <a:t>- 301A was one 90-minute exam. Beta is six shorter exams taken in any order.</a:t>
            </a:r>
          </a:p>
          <a:p>
            <a:pPr marL="216000" indent="-216000">
              <a:buNone/>
            </a:pPr>
            <a:r>
              <a:rPr lang="en-US" sz="2000" b="0" strike="noStrike" spc="-1">
                <a:solidFill>
                  <a:srgbClr val="000000"/>
                </a:solidFill>
                <a:latin typeface="Arial"/>
              </a:rPr>
              <a:t>- Beta adds dedicated pcap exams (5-B and 6-B) that didn't exist as standalone in 301A.</a:t>
            </a:r>
          </a:p>
          <a:p>
            <a:pPr marL="216000" indent="-216000">
              <a:buNone/>
            </a:pPr>
            <a:r>
              <a:rPr lang="en-US" sz="2000" b="0" strike="noStrike" spc="-1">
                <a:solidFill>
                  <a:srgbClr val="000000"/>
                </a:solidFill>
                <a:latin typeface="Arial"/>
              </a:rPr>
              <a:t>- Beta adds A/E level questions for performance analysis and config optimization.</a:t>
            </a:r>
          </a:p>
          <a:p>
            <a:pPr marL="216000" indent="-216000">
              <a:buNone/>
            </a:pPr>
            <a:r>
              <a:rPr lang="en-US" sz="2000" b="0" strike="noStrike" spc="-1">
                <a:solidFill>
                  <a:srgbClr val="000000"/>
                </a:solidFill>
                <a:latin typeface="Arial"/>
              </a:rPr>
              <a:t>- Prerequisite is the same: F5-CA (BIG-IP Administrator).</a:t>
            </a:r>
          </a:p>
          <a:p>
            <a:pPr marL="216000" indent="0">
              <a:lnSpc>
                <a:spcPct val="100000"/>
              </a:lnSpc>
              <a:buNone/>
            </a:pPr>
            <a:r>
              <a:rPr lang="en-US" sz="2000" b="0" strike="noStrike" spc="-1">
                <a:solidFill>
                  <a:srgbClr val="000000"/>
                </a:solidFill>
                <a:latin typeface="Arial"/>
              </a:rPr>
              <a:t>- This course covers ALL shared objectives plus the new Beta-only objectives.</a:t>
            </a:r>
          </a:p>
        </p:txBody>
      </p:sp>
      <p:sp>
        <p:nvSpPr>
          <p:cNvPr id="2481" name="PlaceHolder 3"/>
          <p:cNvSpPr>
            <a:spLocks noGrp="1"/>
          </p:cNvSpPr>
          <p:nvPr>
            <p:ph type="sldNum" idx="6"/>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08F2F0DB-F2EC-4ED1-AE3B-B770B72AB98C}" type="slidenum">
              <a:rPr lang="en-US" sz="1800" b="0" strike="noStrike" spc="-1">
                <a:solidFill>
                  <a:schemeClr val="dk1"/>
                </a:solidFill>
                <a:latin typeface="+mn-lt"/>
                <a:ea typeface="+mn-ea"/>
              </a:rPr>
              <a:t>3</a:t>
            </a:fld>
            <a:endParaRPr lang="en-US" sz="1800" b="0" strike="noStrike" spc="-1">
              <a:solidFill>
                <a:srgbClr val="000000"/>
              </a:solidFill>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2" name="PlaceHolder 1"/>
          <p:cNvSpPr>
            <a:spLocks noGrp="1" noRot="1" noChangeAspect="1"/>
          </p:cNvSpPr>
          <p:nvPr>
            <p:ph type="sldImg"/>
          </p:nvPr>
        </p:nvSpPr>
        <p:spPr>
          <a:xfrm>
            <a:off x="0" y="0"/>
            <a:ext cx="0" cy="0"/>
          </a:xfrm>
          <a:prstGeom prst="rect">
            <a:avLst/>
          </a:prstGeom>
          <a:ln w="0">
            <a:noFill/>
          </a:ln>
        </p:spPr>
      </p:sp>
      <p:sp>
        <p:nvSpPr>
          <p:cNvPr id="2483"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Prerequisites and assumed knowledge. Students must have F5-CA and solid networking fundamentals.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SELF-ASSESSMENT ANSWERS:</a:t>
            </a:r>
          </a:p>
          <a:p>
            <a:pPr marL="216000" indent="-216000">
              <a:buNone/>
            </a:pPr>
            <a:r>
              <a:rPr lang="en-US" sz="2000" b="0" strike="noStrike" spc="-1">
                <a:solidFill>
                  <a:srgbClr val="000000"/>
                </a:solidFill>
                <a:latin typeface="Arial"/>
              </a:rPr>
              <a:t>1. Virtual server = listener (IP:port) that accepts traffic. Virtual address = the IP address object. One virtual address can have multiple virtual servers (different ports).</a:t>
            </a:r>
          </a:p>
          <a:p>
            <a:pPr marL="216000" indent="-216000">
              <a:buNone/>
            </a:pPr>
            <a:r>
              <a:rPr lang="en-US" sz="2000" b="0" strike="noStrike" spc="-1">
                <a:solidFill>
                  <a:srgbClr val="000000"/>
                </a:solidFill>
                <a:latin typeface="Arial"/>
              </a:rPr>
              <a:t>2. Traffic is redistributed to remaining healthy members. The failed member is removed from LB rotation.</a:t>
            </a:r>
          </a:p>
          <a:p>
            <a:pPr marL="216000" indent="-216000">
              <a:buNone/>
            </a:pPr>
            <a:r>
              <a:rPr lang="en-US" sz="2000" b="0" strike="noStrike" spc="-1">
                <a:solidFill>
                  <a:srgbClr val="000000"/>
                </a:solidFill>
                <a:latin typeface="Arial"/>
              </a:rPr>
              <a:t>3. SNAT translates the client source IP to a BIG-IP IP. Needed when servers don't route responses through BIG-IP.</a:t>
            </a:r>
          </a:p>
          <a:p>
            <a:pPr marL="216000" indent="0">
              <a:lnSpc>
                <a:spcPct val="100000"/>
              </a:lnSpc>
              <a:buNone/>
            </a:pPr>
            <a:r>
              <a:rPr lang="en-US" sz="2000" b="0" strike="noStrike" spc="-1">
                <a:solidFill>
                  <a:srgbClr val="000000"/>
                </a:solidFill>
                <a:latin typeface="Arial"/>
              </a:rPr>
              <a:t>4. HTTP (L7 processing), TCP (connection optimization), Client-SSL (decrypt client traffic). Each adds functionality.</a:t>
            </a:r>
          </a:p>
        </p:txBody>
      </p:sp>
      <p:sp>
        <p:nvSpPr>
          <p:cNvPr id="2484" name="PlaceHolder 3"/>
          <p:cNvSpPr>
            <a:spLocks noGrp="1"/>
          </p:cNvSpPr>
          <p:nvPr>
            <p:ph type="sldNum" idx="7"/>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A7E45036-BEAC-4CF0-97F9-5F286F301AD5}" type="slidenum">
              <a:rPr lang="en-US" sz="1800" b="0" strike="noStrike" spc="-1">
                <a:solidFill>
                  <a:schemeClr val="dk1"/>
                </a:solidFill>
                <a:latin typeface="+mn-lt"/>
                <a:ea typeface="+mn-ea"/>
              </a:rPr>
              <a:t>4</a:t>
            </a:fld>
            <a:endParaRPr lang="en-US" sz="1800" b="0" strike="noStrike" spc="-1">
              <a:solidFill>
                <a:srgbClr val="000000"/>
              </a:solidFill>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5" name="PlaceHolder 1"/>
          <p:cNvSpPr>
            <a:spLocks noGrp="1" noRot="1" noChangeAspect="1"/>
          </p:cNvSpPr>
          <p:nvPr>
            <p:ph type="sldImg"/>
          </p:nvPr>
        </p:nvSpPr>
        <p:spPr>
          <a:xfrm>
            <a:off x="0" y="0"/>
            <a:ext cx="0" cy="0"/>
          </a:xfrm>
          <a:prstGeom prst="rect">
            <a:avLst/>
          </a:prstGeom>
          <a:ln w="0">
            <a:noFill/>
          </a:ln>
        </p:spPr>
      </p:sp>
      <p:sp>
        <p:nvSpPr>
          <p:cNvPr id="2486"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Full course agenda with Beta exam mapping and time estimates. Instructor can adjust pacing based on class level.</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DELIVERY APPROACH:</a:t>
            </a:r>
          </a:p>
          <a:p>
            <a:pPr marL="216000" indent="-216000">
              <a:buNone/>
            </a:pPr>
            <a:r>
              <a:rPr lang="en-US" sz="2000" b="0" strike="noStrike" spc="-1">
                <a:solidFill>
                  <a:srgbClr val="000000"/>
                </a:solidFill>
                <a:latin typeface="Arial"/>
              </a:rPr>
              <a:t>- Each lab: 15-20 min slides + 30-45 min hands-on lab</a:t>
            </a:r>
          </a:p>
          <a:p>
            <a:pPr marL="216000" indent="-216000">
              <a:buNone/>
            </a:pPr>
            <a:r>
              <a:rPr lang="en-US" sz="2000" b="0" strike="noStrike" spc="-1">
                <a:solidFill>
                  <a:srgbClr val="000000"/>
                </a:solidFill>
                <a:latin typeface="Arial"/>
              </a:rPr>
              <a:t>- Gap-fill: slide presentation only (no lab exercises)</a:t>
            </a:r>
          </a:p>
          <a:p>
            <a:pPr marL="216000" indent="-216000">
              <a:buNone/>
            </a:pPr>
            <a:r>
              <a:rPr lang="en-US" sz="2000" b="0" strike="noStrike" spc="-1">
                <a:solidFill>
                  <a:srgbClr val="000000"/>
                </a:solidFill>
                <a:latin typeface="Arial"/>
              </a:rPr>
              <a:t>- Final review: instructor-led discussion with review questions</a:t>
            </a:r>
          </a:p>
          <a:p>
            <a:pPr marL="216000" indent="0">
              <a:lnSpc>
                <a:spcPct val="100000"/>
              </a:lnSpc>
              <a:buNone/>
            </a:pPr>
            <a:r>
              <a:rPr lang="en-US" sz="2000" b="0" strike="noStrike" spc="-1">
                <a:solidFill>
                  <a:srgbClr val="000000"/>
                </a:solidFill>
                <a:latin typeface="Arial"/>
              </a:rPr>
              <a:t>- Total: approximately 8.5 hours (can be delivered as 2-day course or self-paced)</a:t>
            </a:r>
          </a:p>
        </p:txBody>
      </p:sp>
      <p:sp>
        <p:nvSpPr>
          <p:cNvPr id="2487" name="PlaceHolder 3"/>
          <p:cNvSpPr>
            <a:spLocks noGrp="1"/>
          </p:cNvSpPr>
          <p:nvPr>
            <p:ph type="sldNum" idx="8"/>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9506405B-0335-4583-A202-05B1E42BB05B}" type="slidenum">
              <a:rPr kumimoji="0" lang="en-US" sz="1800" b="0" i="0" u="none" strike="noStrike" kern="1200" cap="none" spc="-1" normalizeH="0" baseline="0" noProof="0">
                <a:ln>
                  <a:noFill/>
                </a:ln>
                <a:solidFill>
                  <a:srgbClr val="000000"/>
                </a:solidFill>
                <a:effectLst/>
                <a:uLnTx/>
                <a:uFillTx/>
                <a:latin typeface="Arial"/>
                <a:ea typeface="+mn-ea"/>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1" normalizeH="0" baseline="0" noProof="0">
              <a:ln>
                <a:noFill/>
              </a:ln>
              <a:solidFill>
                <a:srgbClr val="000000"/>
              </a:solidFill>
              <a:effectLst/>
              <a:uLnTx/>
              <a:uFillTx/>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 name="PlaceHolder 1"/>
          <p:cNvSpPr>
            <a:spLocks noGrp="1" noRot="1" noChangeAspect="1"/>
          </p:cNvSpPr>
          <p:nvPr>
            <p:ph type="sldImg"/>
          </p:nvPr>
        </p:nvSpPr>
        <p:spPr>
          <a:xfrm>
            <a:off x="0" y="0"/>
            <a:ext cx="0" cy="0"/>
          </a:xfrm>
          <a:prstGeom prst="rect">
            <a:avLst/>
          </a:prstGeom>
          <a:ln w="0">
            <a:noFill/>
          </a:ln>
        </p:spPr>
      </p:sp>
      <p:sp>
        <p:nvSpPr>
          <p:cNvPr id="2489"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Lab environment overview. Students need this reference throughout the course for IP addresses, credentials, and VLAN structure.</a:t>
            </a:r>
          </a:p>
          <a:p>
            <a:pPr marL="216000" indent="-216000">
              <a:buNone/>
            </a:pPr>
            <a:endParaRPr lang="en-US"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TIP: Print this slide or keep it open as a reference tab. You'll look up IPs constantly during labs.</a:t>
            </a:r>
          </a:p>
        </p:txBody>
      </p:sp>
      <p:sp>
        <p:nvSpPr>
          <p:cNvPr id="2490" name="PlaceHolder 3"/>
          <p:cNvSpPr>
            <a:spLocks noGrp="1"/>
          </p:cNvSpPr>
          <p:nvPr>
            <p:ph type="sldNum" idx="9"/>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E7FEA4ED-7777-42D4-AE47-EAA15A640FF5}" type="slidenum">
              <a:rPr lang="en-US" sz="1800" b="0" strike="noStrike" spc="-1">
                <a:solidFill>
                  <a:schemeClr val="dk1"/>
                </a:solidFill>
                <a:latin typeface="+mn-lt"/>
                <a:ea typeface="+mn-ea"/>
              </a:rPr>
              <a:t>6</a:t>
            </a:fld>
            <a:endParaRPr lang="en-US" sz="1800" b="0" strike="noStrike" spc="-1">
              <a:solidFill>
                <a:srgbClr val="000000"/>
              </a:solidFill>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1" name="PlaceHolder 1"/>
          <p:cNvSpPr>
            <a:spLocks noGrp="1" noRot="1" noChangeAspect="1"/>
          </p:cNvSpPr>
          <p:nvPr>
            <p:ph type="sldImg"/>
          </p:nvPr>
        </p:nvSpPr>
        <p:spPr>
          <a:xfrm>
            <a:off x="0" y="0"/>
            <a:ext cx="0" cy="0"/>
          </a:xfrm>
          <a:prstGeom prst="rect">
            <a:avLst/>
          </a:prstGeom>
          <a:ln w="0">
            <a:noFill/>
          </a:ln>
        </p:spPr>
      </p:sp>
      <p:sp>
        <p:nvSpPr>
          <p:cNvPr id="2492"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Getting started checklist. Six items covering lab access, materials usage, exam prep strategy, TMSH emphasis, archiving, and scenario-based thinking.</a:t>
            </a:r>
          </a:p>
          <a:p>
            <a:pPr marL="216000" indent="-216000">
              <a:buNone/>
            </a:pPr>
            <a:endParaRPr lang="en-US"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Transition to Lab 1.</a:t>
            </a:r>
          </a:p>
        </p:txBody>
      </p:sp>
      <p:sp>
        <p:nvSpPr>
          <p:cNvPr id="2493" name="PlaceHolder 3"/>
          <p:cNvSpPr>
            <a:spLocks noGrp="1"/>
          </p:cNvSpPr>
          <p:nvPr>
            <p:ph type="sldNum" idx="10"/>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1C7C308A-0CC2-424E-9976-1A824156D908}" type="slidenum">
              <a:rPr lang="en-US" sz="1800" b="0" strike="noStrike" spc="-1">
                <a:solidFill>
                  <a:schemeClr val="dk1"/>
                </a:solidFill>
                <a:latin typeface="+mn-lt"/>
                <a:ea typeface="+mn-ea"/>
              </a:rPr>
              <a:t>7</a:t>
            </a:fld>
            <a:endParaRPr lang="en-US" sz="1800" b="0" strike="noStrike" spc="-1">
              <a:solidFill>
                <a:srgbClr val="000000"/>
              </a:solidFill>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4" name="PlaceHolder 1"/>
          <p:cNvSpPr>
            <a:spLocks noGrp="1" noRot="1" noChangeAspect="1"/>
          </p:cNvSpPr>
          <p:nvPr>
            <p:ph type="sldImg"/>
          </p:nvPr>
        </p:nvSpPr>
        <p:spPr>
          <a:xfrm>
            <a:off x="0" y="0"/>
            <a:ext cx="0" cy="0"/>
          </a:xfrm>
          <a:prstGeom prst="rect">
            <a:avLst/>
          </a:prstGeom>
          <a:ln w="0">
            <a:noFill/>
          </a:ln>
        </p:spPr>
      </p:sp>
      <p:sp>
        <p:nvSpPr>
          <p:cNvPr id="2495"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SECTION OPENER - Lab 1: Basic Setup, TMSH &amp; SNATs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PURPOSE</a:t>
            </a:r>
          </a:p>
          <a:p>
            <a:pPr marL="216000" indent="-216000">
              <a:buNone/>
            </a:pPr>
            <a:r>
              <a:rPr lang="en-US" sz="2000" b="0" strike="noStrike" spc="-1">
                <a:solidFill>
                  <a:srgbClr val="000000"/>
                </a:solidFill>
                <a:latin typeface="Arial"/>
              </a:rPr>
              <a:t>This lab establishes the foundational skills for the entire course. Students build a complete LTM application stack from scratch using TMSH (the Traffic Management Shell), then investigate how Source Network Address Translation (SNAT) affects traffic using tcpdump packet captures and the BIG-IP connection table. This is the only lab where students construct the base infrastructure, so it must be completed successfully before all subsequent labs.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BETA BLUEPRINT COVERAGE</a:t>
            </a:r>
          </a:p>
          <a:p>
            <a:pPr marL="216000" indent="-216000">
              <a:buNone/>
            </a:pPr>
            <a:r>
              <a:rPr lang="en-US" sz="2000" b="0" strike="noStrike" spc="-1">
                <a:solidFill>
                  <a:srgbClr val="000000"/>
                </a:solidFill>
                <a:latin typeface="Arial"/>
              </a:rPr>
              <a:t>- F5CTSLTM1.01 (U/A): "Determine whether or not an application can be deployed with only the LTM module provisioned." By building a working VS/pool/profile stack, students prove firsthand what LTM can deliver standalone.</a:t>
            </a:r>
          </a:p>
          <a:p>
            <a:pPr marL="216000" indent="-216000">
              <a:buNone/>
            </a:pPr>
            <a:r>
              <a:rPr lang="en-US" sz="2000" b="0" strike="noStrike" spc="-1">
                <a:solidFill>
                  <a:srgbClr val="000000"/>
                </a:solidFill>
                <a:latin typeface="Arial"/>
              </a:rPr>
              <a:t>- F5CTSLTM1.04 (U/A): "Determine how to perform basic device configuration" with the sub-bullet "Determine how to limit administrative access to LTM device (GUI/CLI)." The TMSH challenge forces CLI proficiency; the GUI verification afterward covers the dual-method requirement. This is one of the explicit GUI/CLI callouts in the blueprint.</a:t>
            </a:r>
          </a:p>
          <a:p>
            <a:pPr marL="216000" indent="-216000">
              <a:buNone/>
            </a:pPr>
            <a:r>
              <a:rPr lang="en-US" sz="2000" b="0" strike="noStrike" spc="-1">
                <a:solidFill>
                  <a:srgbClr val="000000"/>
                </a:solidFill>
                <a:latin typeface="Arial"/>
              </a:rPr>
              <a:t>- F5CTSLTM2.06 (R): "Determine which configuration objects are necessary for applications that need the original client IP address." The SNAT automap vs SNAT pool exercise directly covers all four sub-bullets: when SNAT is required, the required SNAT type, X-Forwarded-For functions, and steps to return traffic without SNAT.</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301a OBJECTIVE: 1.01 - Given an expected traffic volume, determine the appropriate SNAT configuration.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DELIVERY TIPS</a:t>
            </a:r>
          </a:p>
          <a:p>
            <a:pPr marL="216000" indent="-216000">
              <a:buNone/>
            </a:pPr>
            <a:r>
              <a:rPr lang="en-US" sz="2000" b="0" strike="noStrike" spc="-1">
                <a:solidFill>
                  <a:srgbClr val="000000"/>
                </a:solidFill>
                <a:latin typeface="Arial"/>
              </a:rPr>
              <a:t>- Have students attempt the TMSH build from memory FIRST. Only point them to Appendix II in the lab guide if they get stuck after 5+ minutes.</a:t>
            </a:r>
          </a:p>
          <a:p>
            <a:pPr marL="216000" indent="-216000">
              <a:buNone/>
            </a:pPr>
            <a:r>
              <a:rPr lang="en-US" sz="2000" b="0" strike="noStrike" spc="-1">
                <a:solidFill>
                  <a:srgbClr val="000000"/>
                </a:solidFill>
                <a:latin typeface="Arial"/>
              </a:rPr>
              <a:t>- Emphasize the "save sys config" + "save sys ucs" step - students who skip this lose their work if the lab environment resets.</a:t>
            </a:r>
          </a:p>
          <a:p>
            <a:pPr marL="216000" indent="-216000">
              <a:buNone/>
            </a:pPr>
            <a:r>
              <a:rPr lang="en-US" sz="2000" b="0" strike="noStrike" spc="-1">
                <a:solidFill>
                  <a:srgbClr val="000000"/>
                </a:solidFill>
                <a:latin typeface="Arial"/>
              </a:rPr>
              <a:t>- The SNAT exercise is where the real learning happens. Make sure every student runs tcpdump and can see the source IP difference between automap and SNAT pool.</a:t>
            </a:r>
          </a:p>
          <a:p>
            <a:pPr marL="216000" indent="-216000">
              <a:buNone/>
            </a:pPr>
            <a:endParaRPr lang="en-US"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TIME MANAGEMENT: 50 minutes total. If students finish the TMSH build quickly (some will if they have prior BIG-IP experience), have them start the SNAT exercise immediately rather than waiting for the class.</a:t>
            </a:r>
          </a:p>
        </p:txBody>
      </p:sp>
      <p:sp>
        <p:nvSpPr>
          <p:cNvPr id="2496" name="PlaceHolder 3"/>
          <p:cNvSpPr>
            <a:spLocks noGrp="1"/>
          </p:cNvSpPr>
          <p:nvPr>
            <p:ph type="sldNum" idx="11"/>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37F6E9E5-D377-4162-B95A-3307F24C77D4}" type="slidenum">
              <a:rPr lang="en-US" sz="1800" b="0" strike="noStrike" spc="-1">
                <a:solidFill>
                  <a:schemeClr val="dk1"/>
                </a:solidFill>
                <a:latin typeface="+mn-lt"/>
                <a:ea typeface="+mn-ea"/>
              </a:rPr>
              <a:t>8</a:t>
            </a:fld>
            <a:endParaRPr lang="en-US" sz="1800" b="0" strike="noStrike" spc="-1">
              <a:solidFill>
                <a:srgbClr val="000000"/>
              </a:solidFill>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7" name="PlaceHolder 1"/>
          <p:cNvSpPr>
            <a:spLocks noGrp="1" noRot="1" noChangeAspect="1"/>
          </p:cNvSpPr>
          <p:nvPr>
            <p:ph type="sldImg"/>
          </p:nvPr>
        </p:nvSpPr>
        <p:spPr>
          <a:xfrm>
            <a:off x="0" y="0"/>
            <a:ext cx="0" cy="0"/>
          </a:xfrm>
          <a:prstGeom prst="rect">
            <a:avLst/>
          </a:prstGeom>
          <a:ln w="0">
            <a:noFill/>
          </a:ln>
        </p:spPr>
      </p:sp>
      <p:sp>
        <p:nvSpPr>
          <p:cNvPr id="2498"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CONCEPT SLIDE - LTM Configuration Object Hierarchy</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This slide introduces the fundamental dependency chain that underlies every LTM application deployment. Understanding this hierarchy is essential because the BIG-IP enforces these dependencies - you cannot create a virtual server without specifying at least a protocol profile, and you cannot assign a pool that references non-existent nodes.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THE DEPENDENCY CHAIN EXPLAINED</a:t>
            </a:r>
          </a:p>
          <a:p>
            <a:pPr marL="216000" indent="-216000">
              <a:buNone/>
            </a:pPr>
            <a:r>
              <a:rPr lang="en-US" sz="2000" b="0" strike="noStrike" spc="-1">
                <a:solidFill>
                  <a:srgbClr val="000000"/>
                </a:solidFill>
                <a:latin typeface="Arial"/>
              </a:rPr>
              <a:t>1. VIRTUAL SERVER (top): The virtual server is the entry point for all client traffic. It is defined by a destination IP address and port (e.g., 10.1.10.100:80). The virtual server is the "listener" that the BIG-IP uses to intercept traffic destined for your application. When a client sends a request to 10.1.10.100:80, the BIG-IP's TMM (Traffic Management Microkernel) matches it against configured virtual servers and processes it according to the VS configuration.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2. PROFILES (second level): Profiles define HOW the BIG-IP processes the traffic. At minimum, every virtual server needs a transport protocol profile - either TCP, UDP, or FastL4. Additional profiles (HTTP, SSL, persistence, OneConnect, compression) add application-layer intelligence. Profiles use a parent/child inheritance model - you create a custom profile that inherits from a default parent, then override only the settings you need to change.</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3. POOL (third level): The pool is a logical group of backend servers (pool members) that the BIG-IP load balances traffic across. Each pool has a load balancing method (Round Robin by default) and can have one or more health monitors assigned to it. The pool is the bridge between the virtual server (what the client sees) and the actual servers (what serves the content).</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4. NODES (bottom): Nodes are the individual server IP addresses. A node is automatically created when you add a pool member (IP:port). Multiple pools can reference the same node - for example, 10.1.20.11 might be a member of both an HTTP pool (port 80) and an HTTPS pool (port 443). This is why deleting a node affects all pools that reference it.</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KEY CONCEPT - VIRTUAL ADDRESS vs VIRTUAL SERVER</a:t>
            </a:r>
          </a:p>
          <a:p>
            <a:pPr marL="216000" indent="-216000">
              <a:buNone/>
            </a:pPr>
            <a:r>
              <a:rPr lang="en-US" sz="2000" b="0" strike="noStrike" spc="-1">
                <a:solidFill>
                  <a:srgbClr val="000000"/>
                </a:solidFill>
                <a:latin typeface="Arial"/>
              </a:rPr>
              <a:t>Students often confuse these. The virtual ADDRESS is the IP address itself (10.1.10.100). The virtual SERVER is the combination of that address + port + all configuration (10.1.10.100:80 with its profiles, pool, rules). One virtual address can have multiple virtual servers (different ports). The virtual address controls low-level behavior like ARP responses and ICMP echo replies.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PIVOT QUESTION (ask before advancing)</a:t>
            </a:r>
          </a:p>
          <a:p>
            <a:pPr marL="216000" indent="-216000">
              <a:buNone/>
            </a:pPr>
            <a:r>
              <a:rPr lang="en-US" sz="2000" b="0" strike="noStrike" spc="-1">
                <a:solidFill>
                  <a:srgbClr val="000000"/>
                </a:solidFill>
                <a:latin typeface="Arial"/>
              </a:rPr>
              <a:t>"If you delete a pool member's node, what happens to the pool? What about the virtual server?"</a:t>
            </a:r>
          </a:p>
          <a:p>
            <a:pPr marL="216000" indent="-216000">
              <a:buNone/>
            </a:pPr>
            <a:r>
              <a:rPr lang="en-US" sz="2000" b="0" strike="noStrike" spc="-1">
                <a:solidFill>
                  <a:srgbClr val="000000"/>
                </a:solidFill>
                <a:latin typeface="Arial"/>
              </a:rPr>
              <a:t>ANSWER: The node is removed from the pool. If the pool still has other members, the VS continues to work but now load balances across fewer servers. If it was the only member, the pool has no members and the VS will show as unavailable (red) because the monitor will have nothing to check.</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F5 DOCUMENTATION</a:t>
            </a:r>
          </a:p>
          <a:p>
            <a:pPr marL="216000" indent="-216000">
              <a:buNone/>
            </a:pPr>
            <a:r>
              <a:rPr lang="en-US" sz="2000" b="0" strike="noStrike" spc="-1">
                <a:solidFill>
                  <a:srgbClr val="000000"/>
                </a:solidFill>
                <a:latin typeface="Arial"/>
              </a:rPr>
              <a:t>- Virtual server concepts: https://my.f5.com/manage/s/article/K15683</a:t>
            </a:r>
          </a:p>
          <a:p>
            <a:pPr marL="216000" indent="0">
              <a:lnSpc>
                <a:spcPct val="100000"/>
              </a:lnSpc>
              <a:buNone/>
            </a:pPr>
            <a:r>
              <a:rPr lang="en-US" sz="2000" b="0" strike="noStrike" spc="-1">
                <a:solidFill>
                  <a:srgbClr val="000000"/>
                </a:solidFill>
                <a:latin typeface="Arial"/>
              </a:rPr>
              <a:t>- Pool and node management: https://techdocs.f5.com/en-us/bigip-14-1-0/big-ip-local-traffic-manager-basics/ltm-pools.html</a:t>
            </a:r>
          </a:p>
        </p:txBody>
      </p:sp>
      <p:sp>
        <p:nvSpPr>
          <p:cNvPr id="2499" name="PlaceHolder 3"/>
          <p:cNvSpPr>
            <a:spLocks noGrp="1"/>
          </p:cNvSpPr>
          <p:nvPr>
            <p:ph type="sldNum" idx="12"/>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3203C17E-3A20-4CFC-A804-20BA1927B455}" type="slidenum">
              <a:rPr lang="en-US" sz="1800" b="0" strike="noStrike" spc="-1">
                <a:solidFill>
                  <a:schemeClr val="dk1"/>
                </a:solidFill>
                <a:latin typeface="+mn-lt"/>
                <a:ea typeface="+mn-ea"/>
              </a:rPr>
              <a:t>9</a:t>
            </a:fld>
            <a:endParaRPr lang="en-US" sz="1800" b="0" strike="noStrike" spc="-1">
              <a:solidFill>
                <a:srgbClr val="000000"/>
              </a:solidFill>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0" name="PlaceHolder 1"/>
          <p:cNvSpPr>
            <a:spLocks noGrp="1" noRot="1" noChangeAspect="1"/>
          </p:cNvSpPr>
          <p:nvPr>
            <p:ph type="sldImg"/>
          </p:nvPr>
        </p:nvSpPr>
        <p:spPr>
          <a:xfrm>
            <a:off x="0" y="0"/>
            <a:ext cx="0" cy="0"/>
          </a:xfrm>
          <a:prstGeom prst="rect">
            <a:avLst/>
          </a:prstGeom>
          <a:ln w="0">
            <a:noFill/>
          </a:ln>
        </p:spPr>
      </p:sp>
      <p:sp>
        <p:nvSpPr>
          <p:cNvPr id="2501"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CONCEPT SLIDE - Deployment Types Overview</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This is the high-level comparison of the three primary ways a BIG-IP LTM can be positioned in a network. The next three slides dive deep into each one with traffic flow diagrams. This overview establishes the framework so students can compare them side by side before examining each individually.</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WHY DEPLOYMENT TYPE MATTERS</a:t>
            </a:r>
          </a:p>
          <a:p>
            <a:pPr marL="216000" indent="-216000">
              <a:buNone/>
            </a:pPr>
            <a:r>
              <a:rPr lang="en-US" sz="2000" b="0" strike="noStrike" spc="-1">
                <a:solidFill>
                  <a:srgbClr val="000000"/>
                </a:solidFill>
                <a:latin typeface="Arial"/>
              </a:rPr>
              <a:t>The deployment type determines:</a:t>
            </a:r>
          </a:p>
          <a:p>
            <a:pPr marL="216000" indent="-216000">
              <a:buNone/>
            </a:pPr>
            <a:r>
              <a:rPr lang="en-US" sz="2000" b="0" strike="noStrike" spc="-1">
                <a:solidFill>
                  <a:srgbClr val="000000"/>
                </a:solidFill>
                <a:latin typeface="Arial"/>
              </a:rPr>
              <a:t>1. Whether SNAT is required (and what type)</a:t>
            </a:r>
          </a:p>
          <a:p>
            <a:pPr marL="216000" indent="-216000">
              <a:buNone/>
            </a:pPr>
            <a:r>
              <a:rPr lang="en-US" sz="2000" b="0" strike="noStrike" spc="-1">
                <a:solidFill>
                  <a:srgbClr val="000000"/>
                </a:solidFill>
                <a:latin typeface="Arial"/>
              </a:rPr>
              <a:t>2. How IP addresses change as packets traverse the BIG-IP</a:t>
            </a:r>
          </a:p>
          <a:p>
            <a:pPr marL="216000" indent="-216000">
              <a:buNone/>
            </a:pPr>
            <a:r>
              <a:rPr lang="en-US" sz="2000" b="0" strike="noStrike" spc="-1">
                <a:solidFill>
                  <a:srgbClr val="000000"/>
                </a:solidFill>
                <a:latin typeface="Arial"/>
              </a:rPr>
              <a:t>3. What the server sees as the client IP address</a:t>
            </a:r>
          </a:p>
          <a:p>
            <a:pPr marL="216000" indent="-216000">
              <a:buNone/>
            </a:pPr>
            <a:r>
              <a:rPr lang="en-US" sz="2000" b="0" strike="noStrike" spc="-1">
                <a:solidFill>
                  <a:srgbClr val="000000"/>
                </a:solidFill>
                <a:latin typeface="Arial"/>
              </a:rPr>
              <a:t>4. Whether the BIG-IP can inspect and modify return traffic</a:t>
            </a:r>
          </a:p>
          <a:p>
            <a:pPr marL="216000" indent="-216000">
              <a:buNone/>
            </a:pPr>
            <a:r>
              <a:rPr lang="en-US" sz="2000" b="0" strike="noStrike" spc="-1">
                <a:solidFill>
                  <a:srgbClr val="000000"/>
                </a:solidFill>
                <a:latin typeface="Arial"/>
              </a:rPr>
              <a:t>5. Network design considerations (routing, VLANs, self IPs)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These decisions are made during the architecture phase and are difficult to change after deployment. The F5-CTS exam tests this heavily under objectives 1.02 (identify deployment differences) and 2.06 (original client IP / SNAT).</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THE THREE DEPLOYMENT TYPES AT A GLANCE</a:t>
            </a:r>
          </a:p>
          <a:p>
            <a:pPr marL="216000" indent="-216000">
              <a:buNone/>
            </a:pPr>
            <a:r>
              <a:rPr lang="en-US" sz="2000" b="0" strike="noStrike" spc="-1">
                <a:solidFill>
                  <a:srgbClr val="000000"/>
                </a:solidFill>
                <a:latin typeface="Arial"/>
              </a:rPr>
              <a:t>- ONE-ARM: Simplest to deploy. BIG-IP has one VLAN with one self IP. Client and server traffic share the same network segment. SNAT is mandatory because without it, server responses bypass the BIG-IP entirely (they go directly to the client since they're on the same subnet). Most common in proof-of-concept or small deployments.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 TWO-ARM: The standard enterprise deployment. BIG-IP has separate client-side and server-side VLANs. Traffic enters on the client VLAN, gets processed, and exits on the server VLAN. This gives full traffic visibility and control. SNAT may or may not be required depending on whether the servers' default gateway points to the BIG-IP.</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 nPath/DSR (Direct Server Return): Highest performance, lowest feature set. The BIG-IP only handles the initial client request. The server responds directly to the client without going through the BIG-IP. This means no server-side processing (no response modification, no cookie persistence, no server-SSL). Used for high-throughput scenarios like video streaming or DNS where full proxy features aren't needed.</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AUTO LAST-HOP EXPLAINED</a:t>
            </a:r>
          </a:p>
          <a:p>
            <a:pPr marL="216000" indent="-216000">
              <a:buNone/>
            </a:pPr>
            <a:r>
              <a:rPr lang="en-US" sz="2000" b="0" strike="noStrike" spc="-1">
                <a:solidFill>
                  <a:srgbClr val="000000"/>
                </a:solidFill>
                <a:latin typeface="Arial"/>
              </a:rPr>
              <a:t>Auto last-hop is a BIG-IP feature (enabled by default) that remembers which router/gateway sent a packet to the BIG-IP and ensures the response goes back the same way. Without it, in environments with multiple default gateways or asymmetric routing, the BIG-IP might send return traffic out a different path than it arrived on. This causes the upstream router to drop the packet because it doesn't match any connection in its state table.</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Reference: https://my.f5.com/manage/s/article/K13876 (K13876: Overview of the Auto Last Hop setting)</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PIVOT QUESTION</a:t>
            </a:r>
          </a:p>
          <a:p>
            <a:pPr marL="216000" indent="-216000">
              <a:buNone/>
            </a:pPr>
            <a:r>
              <a:rPr lang="en-US" sz="2000" b="0" strike="noStrike" spc="-1">
                <a:solidFill>
                  <a:srgbClr val="000000"/>
                </a:solidFill>
                <a:latin typeface="Arial"/>
              </a:rPr>
              <a:t>"In which deployment type does the server see the real client IP address without any additional configuration?"</a:t>
            </a:r>
          </a:p>
          <a:p>
            <a:pPr marL="216000" indent="0">
              <a:lnSpc>
                <a:spcPct val="100000"/>
              </a:lnSpc>
              <a:buNone/>
            </a:pPr>
            <a:r>
              <a:rPr lang="en-US" sz="2000" b="0" strike="noStrike" spc="-1">
                <a:solidFill>
                  <a:srgbClr val="000000"/>
                </a:solidFill>
                <a:latin typeface="Arial"/>
              </a:rPr>
              <a:t>ANSWER: nPath/DSR. Because the BIG-IP doesn't modify the source IP (it only does a MAC-level rewrite), the server sees the original client IP. In one-arm and two-arm deployments, SNAT replaces the client IP unless you specifically configure the routing to avoid it.</a:t>
            </a:r>
          </a:p>
        </p:txBody>
      </p:sp>
      <p:sp>
        <p:nvSpPr>
          <p:cNvPr id="2502" name="PlaceHolder 3"/>
          <p:cNvSpPr>
            <a:spLocks noGrp="1"/>
          </p:cNvSpPr>
          <p:nvPr>
            <p:ph type="sldNum" idx="13"/>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3BFF8310-FEFF-4FEB-8389-675505949431}" type="slidenum">
              <a:rPr lang="en-US" sz="1800" b="0" strike="noStrike" spc="-1">
                <a:solidFill>
                  <a:schemeClr val="dk1"/>
                </a:solidFill>
                <a:latin typeface="+mn-lt"/>
                <a:ea typeface="+mn-ea"/>
              </a:rPr>
              <a:t>10</a:t>
            </a:fld>
            <a:endParaRPr lang="en-US" sz="1800" b="0" strike="noStrike" spc="-1">
              <a:solidFill>
                <a:srgbClr val="000000"/>
              </a:solidFill>
              <a:latin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3" name="PlaceHolder 1"/>
          <p:cNvSpPr>
            <a:spLocks noGrp="1" noRot="1" noChangeAspect="1"/>
          </p:cNvSpPr>
          <p:nvPr>
            <p:ph type="sldImg"/>
          </p:nvPr>
        </p:nvSpPr>
        <p:spPr>
          <a:xfrm>
            <a:off x="0" y="0"/>
            <a:ext cx="0" cy="0"/>
          </a:xfrm>
          <a:prstGeom prst="rect">
            <a:avLst/>
          </a:prstGeom>
          <a:ln w="0">
            <a:noFill/>
          </a:ln>
        </p:spPr>
      </p:sp>
      <p:sp>
        <p:nvSpPr>
          <p:cNvPr id="2504"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DEEP DIVE - One-Arm Deployment</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The one-arm (also called "single-arm" or "same-subnet") deployment places the BIG-IP on the same network segment as both the clients and the servers. All traffic enters and exits through a single VLAN and interface. This is the simplest deployment topology but has important limitations that students must understand.</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TRAFFIC FLOW - STEP BY STEP</a:t>
            </a:r>
          </a:p>
          <a:p>
            <a:pPr marL="216000" indent="-216000">
              <a:buNone/>
            </a:pPr>
            <a:r>
              <a:rPr lang="en-US" sz="2000" b="0" strike="noStrike" spc="-1">
                <a:solidFill>
                  <a:srgbClr val="000000"/>
                </a:solidFill>
                <a:latin typeface="Arial"/>
              </a:rPr>
              <a:t>1. Client (10.1.10.50) sends a request to the virtual server IP (10.1.10.100:80)</a:t>
            </a:r>
          </a:p>
          <a:p>
            <a:pPr marL="216000" indent="-216000">
              <a:buNone/>
            </a:pPr>
            <a:r>
              <a:rPr lang="en-US" sz="2000" b="0" strike="noStrike" spc="-1">
                <a:solidFill>
                  <a:srgbClr val="000000"/>
                </a:solidFill>
                <a:latin typeface="Arial"/>
              </a:rPr>
              <a:t>2. BIG-IP receives the request on its client VLAN</a:t>
            </a:r>
          </a:p>
          <a:p>
            <a:pPr marL="216000" indent="-216000">
              <a:buNone/>
            </a:pPr>
            <a:r>
              <a:rPr lang="en-US" sz="2000" b="0" strike="noStrike" spc="-1">
                <a:solidFill>
                  <a:srgbClr val="000000"/>
                </a:solidFill>
                <a:latin typeface="Arial"/>
              </a:rPr>
              <a:t>3. BIG-IP selects a pool member (e.g., 10.1.10.11:80) based on the load balancing method</a:t>
            </a:r>
          </a:p>
          <a:p>
            <a:pPr marL="216000" indent="-216000">
              <a:buNone/>
            </a:pPr>
            <a:r>
              <a:rPr lang="en-US" sz="2000" b="0" strike="noStrike" spc="-1">
                <a:solidFill>
                  <a:srgbClr val="000000"/>
                </a:solidFill>
                <a:latin typeface="Arial"/>
              </a:rPr>
              <a:t>4. BIG-IP applies SNAT - changes the source IP from 10.1.10.50 to its own self IP (10.1.10.245)</a:t>
            </a:r>
          </a:p>
          <a:p>
            <a:pPr marL="216000" indent="-216000">
              <a:buNone/>
            </a:pPr>
            <a:r>
              <a:rPr lang="en-US" sz="2000" b="0" strike="noStrike" spc="-1">
                <a:solidFill>
                  <a:srgbClr val="000000"/>
                </a:solidFill>
                <a:latin typeface="Arial"/>
              </a:rPr>
              <a:t>5. BIG-IP forwards the request to the server: Src=10.1.10.245, Dst=10.1.10.11</a:t>
            </a:r>
          </a:p>
          <a:p>
            <a:pPr marL="216000" indent="-216000">
              <a:buNone/>
            </a:pPr>
            <a:r>
              <a:rPr lang="en-US" sz="2000" b="0" strike="noStrike" spc="-1">
                <a:solidFill>
                  <a:srgbClr val="000000"/>
                </a:solidFill>
                <a:latin typeface="Arial"/>
              </a:rPr>
              <a:t>6. Server processes the request and sends the response to 10.1.10.245 (the BIG-IP, not the client)</a:t>
            </a:r>
          </a:p>
          <a:p>
            <a:pPr marL="216000" indent="-216000">
              <a:buNone/>
            </a:pPr>
            <a:r>
              <a:rPr lang="en-US" sz="2000" b="0" strike="noStrike" spc="-1">
                <a:solidFill>
                  <a:srgbClr val="000000"/>
                </a:solidFill>
                <a:latin typeface="Arial"/>
              </a:rPr>
              <a:t>7. BIG-IP receives the response, reverses the SNAT (restores the original source), and sends it back to the client</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WHY SNAT IS MANDATORY IN ONE-ARM</a:t>
            </a:r>
          </a:p>
          <a:p>
            <a:pPr marL="216000" indent="-216000">
              <a:buNone/>
            </a:pPr>
            <a:r>
              <a:rPr lang="en-US" sz="2000" b="0" strike="noStrike" spc="-1">
                <a:solidFill>
                  <a:srgbClr val="000000"/>
                </a:solidFill>
                <a:latin typeface="Arial"/>
              </a:rPr>
              <a:t>This is the single most important concept on this slide. Without SNAT:</a:t>
            </a:r>
          </a:p>
          <a:p>
            <a:pPr marL="216000" indent="-216000">
              <a:buNone/>
            </a:pPr>
            <a:r>
              <a:rPr lang="en-US" sz="2000" b="0" strike="noStrike" spc="-1">
                <a:solidFill>
                  <a:srgbClr val="000000"/>
                </a:solidFill>
                <a:latin typeface="Arial"/>
              </a:rPr>
              <a:t>- The server receives a request where Src=10.1.10.50 (client) and Dst=10.1.10.11 (itself)</a:t>
            </a:r>
          </a:p>
          <a:p>
            <a:pPr marL="216000" indent="-216000">
              <a:buNone/>
            </a:pPr>
            <a:r>
              <a:rPr lang="en-US" sz="2000" b="0" strike="noStrike" spc="-1">
                <a:solidFill>
                  <a:srgbClr val="000000"/>
                </a:solidFill>
                <a:latin typeface="Arial"/>
              </a:rPr>
              <a:t>- The server sends its response directly to 10.1.10.50 (the client) because it's on the same subnet - no routing through the BIG-IP is needed</a:t>
            </a:r>
          </a:p>
          <a:p>
            <a:pPr marL="216000" indent="-216000">
              <a:buNone/>
            </a:pPr>
            <a:r>
              <a:rPr lang="en-US" sz="2000" b="0" strike="noStrike" spc="-1">
                <a:solidFill>
                  <a:srgbClr val="000000"/>
                </a:solidFill>
                <a:latin typeface="Arial"/>
              </a:rPr>
              <a:t>- The client receives a TCP response from 10.1.10.11 (the server) instead of 10.1.10.100 (the VIP it originally connected to)</a:t>
            </a:r>
          </a:p>
          <a:p>
            <a:pPr marL="216000" indent="-216000">
              <a:buNone/>
            </a:pPr>
            <a:r>
              <a:rPr lang="en-US" sz="2000" b="0" strike="noStrike" spc="-1">
                <a:solidFill>
                  <a:srgbClr val="000000"/>
                </a:solidFill>
                <a:latin typeface="Arial"/>
              </a:rPr>
              <a:t>- The client's TCP stack rejects this as an unsolicited packet because it doesn't match any open connection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With SNAT:</a:t>
            </a:r>
          </a:p>
          <a:p>
            <a:pPr marL="216000" indent="-216000">
              <a:buNone/>
            </a:pPr>
            <a:r>
              <a:rPr lang="en-US" sz="2000" b="0" strike="noStrike" spc="-1">
                <a:solidFill>
                  <a:srgbClr val="000000"/>
                </a:solidFill>
                <a:latin typeface="Arial"/>
              </a:rPr>
              <a:t>- The server receives a request where Src=10.1.10.245 (BIG-IP self IP) and Dst=10.1.10.11 (itself)</a:t>
            </a:r>
          </a:p>
          <a:p>
            <a:pPr marL="216000" indent="-216000">
              <a:buNone/>
            </a:pPr>
            <a:r>
              <a:rPr lang="en-US" sz="2000" b="0" strike="noStrike" spc="-1">
                <a:solidFill>
                  <a:srgbClr val="000000"/>
                </a:solidFill>
                <a:latin typeface="Arial"/>
              </a:rPr>
              <a:t>- The server responds to 10.1.10.245 (the BIG-IP)</a:t>
            </a:r>
          </a:p>
          <a:p>
            <a:pPr marL="216000" indent="-216000">
              <a:buNone/>
            </a:pPr>
            <a:r>
              <a:rPr lang="en-US" sz="2000" b="0" strike="noStrike" spc="-1">
                <a:solidFill>
                  <a:srgbClr val="000000"/>
                </a:solidFill>
                <a:latin typeface="Arial"/>
              </a:rPr>
              <a:t>- The BIG-IP restores the original source and destination, and the client receives the response from the expected VIP address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LIMITATIONS OF ONE-ARM</a:t>
            </a:r>
          </a:p>
          <a:p>
            <a:pPr marL="216000" indent="-216000">
              <a:buNone/>
            </a:pPr>
            <a:r>
              <a:rPr lang="en-US" sz="2000" b="0" strike="noStrike" spc="-1">
                <a:solidFill>
                  <a:srgbClr val="000000"/>
                </a:solidFill>
                <a:latin typeface="Arial"/>
              </a:rPr>
              <a:t>- Server logs show the BIG-IP self IP instead of the real client IP (mitigated by X-Forwarded-For for HTTP)</a:t>
            </a:r>
          </a:p>
          <a:p>
            <a:pPr marL="216000" indent="-216000">
              <a:buNone/>
            </a:pPr>
            <a:r>
              <a:rPr lang="en-US" sz="2000" b="0" strike="noStrike" spc="-1">
                <a:solidFill>
                  <a:srgbClr val="000000"/>
                </a:solidFill>
                <a:latin typeface="Arial"/>
              </a:rPr>
              <a:t>- Ephemeral port exhaustion: SNAT automap is limited to ~65,535 concurrent connections per self IP</a:t>
            </a:r>
          </a:p>
          <a:p>
            <a:pPr marL="216000" indent="-216000">
              <a:buNone/>
            </a:pPr>
            <a:r>
              <a:rPr lang="en-US" sz="2000" b="0" strike="noStrike" spc="-1">
                <a:solidFill>
                  <a:srgbClr val="000000"/>
                </a:solidFill>
                <a:latin typeface="Arial"/>
              </a:rPr>
              <a:t>- Cannot use nPath/DSR in this topology</a:t>
            </a:r>
          </a:p>
          <a:p>
            <a:pPr marL="216000" indent="-216000">
              <a:buNone/>
            </a:pPr>
            <a:r>
              <a:rPr lang="en-US" sz="2000" b="0" strike="noStrike" spc="-1">
                <a:solidFill>
                  <a:srgbClr val="000000"/>
                </a:solidFill>
                <a:latin typeface="Arial"/>
              </a:rPr>
              <a:t>- Server-to-server traffic through the BIG-IP can create routing loops if not carefully managed</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COMMON EXAM QUESTION PATTERNS</a:t>
            </a:r>
          </a:p>
          <a:p>
            <a:pPr marL="216000" indent="-216000">
              <a:buNone/>
            </a:pPr>
            <a:r>
              <a:rPr lang="en-US" sz="2000" b="0" strike="noStrike" spc="-1">
                <a:solidFill>
                  <a:srgbClr val="000000"/>
                </a:solidFill>
                <a:latin typeface="Arial"/>
              </a:rPr>
              <a:t>- "Given a one-arm deployment, why do servers log the BIG-IP IP instead of the client IP?" (Answer: SNAT)</a:t>
            </a:r>
          </a:p>
          <a:p>
            <a:pPr marL="216000" indent="-216000">
              <a:buNone/>
            </a:pPr>
            <a:r>
              <a:rPr lang="en-US" sz="2000" b="0" strike="noStrike" spc="-1">
                <a:solidFill>
                  <a:srgbClr val="000000"/>
                </a:solidFill>
                <a:latin typeface="Arial"/>
              </a:rPr>
              <a:t>- "A one-arm deployment works for HTTP but fails for FTP. Why?" (Answer: FTP active mode requires the FTP profile to handle the data channel NAT)</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F5 DOCUMENTATION</a:t>
            </a:r>
          </a:p>
          <a:p>
            <a:pPr marL="216000" indent="-216000">
              <a:buNone/>
            </a:pPr>
            <a:r>
              <a:rPr lang="en-US" sz="2000" b="0" strike="noStrike" spc="-1">
                <a:solidFill>
                  <a:srgbClr val="000000"/>
                </a:solidFill>
                <a:latin typeface="Arial"/>
              </a:rPr>
              <a:t>- SNAT overview: https://my.f5.com/manage/s/article/K7820</a:t>
            </a:r>
          </a:p>
          <a:p>
            <a:pPr marL="216000" indent="-216000">
              <a:buNone/>
            </a:pPr>
            <a:r>
              <a:rPr lang="en-US" sz="2000" b="0" strike="noStrike" spc="-1">
                <a:solidFill>
                  <a:srgbClr val="000000"/>
                </a:solidFill>
                <a:latin typeface="Arial"/>
              </a:rPr>
              <a:t>- One-arm deployment guide: https://techdocs.f5.com/en-us/bigip-14-1-0/big-ip-local-traffic-manager-basics/ltm-concepts.html</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PIVOT QUESTION</a:t>
            </a:r>
          </a:p>
          <a:p>
            <a:pPr marL="216000" indent="-216000">
              <a:buNone/>
            </a:pPr>
            <a:r>
              <a:rPr lang="en-US" sz="2000" b="0" strike="noStrike" spc="-1">
                <a:solidFill>
                  <a:srgbClr val="000000"/>
                </a:solidFill>
                <a:latin typeface="Arial"/>
              </a:rPr>
              <a:t>"If you have 100,000 concurrent client connections in a one-arm deployment with SNAT automap, what problem will you hit?"</a:t>
            </a:r>
          </a:p>
          <a:p>
            <a:pPr marL="216000" indent="0">
              <a:lnSpc>
                <a:spcPct val="100000"/>
              </a:lnSpc>
              <a:buNone/>
            </a:pPr>
            <a:r>
              <a:rPr lang="en-US" sz="2000" b="0" strike="noStrike" spc="-1">
                <a:solidFill>
                  <a:srgbClr val="000000"/>
                </a:solidFill>
                <a:latin typeface="Arial"/>
              </a:rPr>
              <a:t>ANSWER: Ephemeral port exhaustion. SNAT automap uses the floating self IP, which has a maximum of ~65,535 ephemeral ports. With 100K connections, you need a SNAT pool with at least 2 addresses (100,000 / 65,535 = ~1.53, so 2 SNAT addresses minimum).</a:t>
            </a:r>
          </a:p>
        </p:txBody>
      </p:sp>
      <p:sp>
        <p:nvSpPr>
          <p:cNvPr id="2505" name="PlaceHolder 3"/>
          <p:cNvSpPr>
            <a:spLocks noGrp="1"/>
          </p:cNvSpPr>
          <p:nvPr>
            <p:ph type="sldNum" idx="14"/>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B90BE90A-4109-4E9D-8B16-FDCB18AAC849}" type="slidenum">
              <a:rPr lang="en-US" sz="1800" b="0" strike="noStrike" spc="-1">
                <a:solidFill>
                  <a:schemeClr val="dk1"/>
                </a:solidFill>
                <a:latin typeface="+mn-lt"/>
                <a:ea typeface="+mn-ea"/>
              </a:rPr>
              <a:t>11</a:t>
            </a:fld>
            <a:endParaRPr lang="en-US" sz="1800" b="0" strike="noStrike" spc="-1">
              <a:solidFill>
                <a:srgbClr val="000000"/>
              </a:solidFill>
              <a:latin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6" name="PlaceHolder 1"/>
          <p:cNvSpPr>
            <a:spLocks noGrp="1" noRot="1" noChangeAspect="1"/>
          </p:cNvSpPr>
          <p:nvPr>
            <p:ph type="sldImg"/>
          </p:nvPr>
        </p:nvSpPr>
        <p:spPr>
          <a:xfrm>
            <a:off x="0" y="0"/>
            <a:ext cx="0" cy="0"/>
          </a:xfrm>
          <a:prstGeom prst="rect">
            <a:avLst/>
          </a:prstGeom>
          <a:ln w="0">
            <a:noFill/>
          </a:ln>
        </p:spPr>
      </p:sp>
      <p:sp>
        <p:nvSpPr>
          <p:cNvPr id="2507"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DEEP DIVE - Two-Arm Deployment</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The two-arm deployment is the most common enterprise topology for BIG-IP LTM. The BIG-IP bridges two separate network segments (VLANs) - a client-facing VLAN and a server-facing VLAN. This provides maximum control over traffic because the BIG-IP sees every packet in both directions.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TRAFFIC FLOW - STEP BY STEP</a:t>
            </a:r>
          </a:p>
          <a:p>
            <a:pPr marL="216000" indent="-216000">
              <a:buNone/>
            </a:pPr>
            <a:r>
              <a:rPr lang="en-US" sz="2000" b="0" strike="noStrike" spc="-1">
                <a:solidFill>
                  <a:srgbClr val="000000"/>
                </a:solidFill>
                <a:latin typeface="Arial"/>
              </a:rPr>
              <a:t>1. Client (10.1.10.50) sends request to VIP (10.1.10.100:80) on the client VLAN</a:t>
            </a:r>
          </a:p>
          <a:p>
            <a:pPr marL="216000" indent="-216000">
              <a:buNone/>
            </a:pPr>
            <a:r>
              <a:rPr lang="en-US" sz="2000" b="0" strike="noStrike" spc="-1">
                <a:solidFill>
                  <a:srgbClr val="000000"/>
                </a:solidFill>
                <a:latin typeface="Arial"/>
              </a:rPr>
              <a:t>2. BIG-IP receives the request on client_vlan (interface 1.1)</a:t>
            </a:r>
          </a:p>
          <a:p>
            <a:pPr marL="216000" indent="-216000">
              <a:buNone/>
            </a:pPr>
            <a:r>
              <a:rPr lang="en-US" sz="2000" b="0" strike="noStrike" spc="-1">
                <a:solidFill>
                  <a:srgbClr val="000000"/>
                </a:solidFill>
                <a:latin typeface="Arial"/>
              </a:rPr>
              <a:t>3. BIG-IP selects a pool member (10.1.20.11:80) and determines the egress VLAN (server_vlan)</a:t>
            </a:r>
          </a:p>
          <a:p>
            <a:pPr marL="216000" indent="-216000">
              <a:buNone/>
            </a:pPr>
            <a:r>
              <a:rPr lang="en-US" sz="2000" b="0" strike="noStrike" spc="-1">
                <a:solidFill>
                  <a:srgbClr val="000000"/>
                </a:solidFill>
                <a:latin typeface="Arial"/>
              </a:rPr>
              <a:t>4. IF SNAT automap is configured: BIG-IP changes Src IP from 10.1.10.50 to 10.1.20.245 (server-side floating self IP)</a:t>
            </a:r>
          </a:p>
          <a:p>
            <a:pPr marL="216000" indent="-216000">
              <a:buNone/>
            </a:pPr>
            <a:r>
              <a:rPr lang="en-US" sz="2000" b="0" strike="noStrike" spc="-1">
                <a:solidFill>
                  <a:srgbClr val="000000"/>
                </a:solidFill>
                <a:latin typeface="Arial"/>
              </a:rPr>
              <a:t>5. IF no SNAT: BIG-IP preserves Src IP as 10.1.10.50 (but the server must route back through BIG-IP)</a:t>
            </a:r>
          </a:p>
          <a:p>
            <a:pPr marL="216000" indent="-216000">
              <a:buNone/>
            </a:pPr>
            <a:r>
              <a:rPr lang="en-US" sz="2000" b="0" strike="noStrike" spc="-1">
                <a:solidFill>
                  <a:srgbClr val="000000"/>
                </a:solidFill>
                <a:latin typeface="Arial"/>
              </a:rPr>
              <a:t>6. BIG-IP forwards the request out server_vlan (interface 1.2) to the pool member</a:t>
            </a:r>
          </a:p>
          <a:p>
            <a:pPr marL="216000" indent="-216000">
              <a:buNone/>
            </a:pPr>
            <a:r>
              <a:rPr lang="en-US" sz="2000" b="0" strike="noStrike" spc="-1">
                <a:solidFill>
                  <a:srgbClr val="000000"/>
                </a:solidFill>
                <a:latin typeface="Arial"/>
              </a:rPr>
              <a:t>7. Server processes and responds to either the BIG-IP self IP (SNAT) or the original client IP (no SNAT)</a:t>
            </a:r>
          </a:p>
          <a:p>
            <a:pPr marL="216000" indent="-216000">
              <a:buNone/>
            </a:pPr>
            <a:r>
              <a:rPr lang="en-US" sz="2000" b="0" strike="noStrike" spc="-1">
                <a:solidFill>
                  <a:srgbClr val="000000"/>
                </a:solidFill>
                <a:latin typeface="Arial"/>
              </a:rPr>
              <a:t>8. BIG-IP processes the response, applies profiles, and returns it to the client</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THE CRITICAL SNAT DECISION</a:t>
            </a:r>
          </a:p>
          <a:p>
            <a:pPr marL="216000" indent="-216000">
              <a:buNone/>
            </a:pPr>
            <a:r>
              <a:rPr lang="en-US" sz="2000" b="0" strike="noStrike" spc="-1">
                <a:solidFill>
                  <a:srgbClr val="000000"/>
                </a:solidFill>
                <a:latin typeface="Arial"/>
              </a:rPr>
              <a:t>This is where students often get confused. The rule is simple:</a:t>
            </a:r>
          </a:p>
          <a:p>
            <a:pPr marL="216000" indent="-216000">
              <a:buNone/>
            </a:pPr>
            <a:r>
              <a:rPr lang="en-US" sz="2000" b="0" strike="noStrike" spc="-1">
                <a:solidFill>
                  <a:srgbClr val="000000"/>
                </a:solidFill>
                <a:latin typeface="Arial"/>
              </a:rPr>
              <a:t>- If the server's default gateway IS the BIG-IP: No SNAT needed. The server's return traffic naturally routes through the BIG-IP because the BIG-IP is its next hop.</a:t>
            </a:r>
          </a:p>
          <a:p>
            <a:pPr marL="216000" indent="-216000">
              <a:buNone/>
            </a:pPr>
            <a:r>
              <a:rPr lang="en-US" sz="2000" b="0" strike="noStrike" spc="-1">
                <a:solidFill>
                  <a:srgbClr val="000000"/>
                </a:solidFill>
                <a:latin typeface="Arial"/>
              </a:rPr>
              <a:t>- If the server's default gateway is NOT the BIG-IP (e.g., it points to a separate router): SNAT is required. Otherwise, the server sends its response to the client via the router, bypassing the BIG-IP. The BIG-IP never sees the response and the connection fails.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In the lab environment, the servers' default gateway does NOT point to the BIG-IP, so SNAT automap is required. This is why Lab 1 has students configure SNAT automap on the virtual server.</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NETWORK REQUIREMENTS</a:t>
            </a:r>
          </a:p>
          <a:p>
            <a:pPr marL="216000" indent="-216000">
              <a:buNone/>
            </a:pPr>
            <a:r>
              <a:rPr lang="en-US" sz="2000" b="0" strike="noStrike" spc="-1">
                <a:solidFill>
                  <a:srgbClr val="000000"/>
                </a:solidFill>
                <a:latin typeface="Arial"/>
              </a:rPr>
              <a:t>- BIG-IP needs at least two VLANs (client-side and server-side)</a:t>
            </a:r>
          </a:p>
          <a:p>
            <a:pPr marL="216000" indent="-216000">
              <a:buNone/>
            </a:pPr>
            <a:r>
              <a:rPr lang="en-US" sz="2000" b="0" strike="noStrike" spc="-1">
                <a:solidFill>
                  <a:srgbClr val="000000"/>
                </a:solidFill>
                <a:latin typeface="Arial"/>
              </a:rPr>
              <a:t>- Each VLAN needs a self IP address (one per VLAN minimum; floating self IPs for HA)</a:t>
            </a:r>
          </a:p>
          <a:p>
            <a:pPr marL="216000" indent="-216000">
              <a:buNone/>
            </a:pPr>
            <a:r>
              <a:rPr lang="en-US" sz="2000" b="0" strike="noStrike" spc="-1">
                <a:solidFill>
                  <a:srgbClr val="000000"/>
                </a:solidFill>
                <a:latin typeface="Arial"/>
              </a:rPr>
              <a:t>- Routing must be configured so client traffic reaches the BIG-IP</a:t>
            </a:r>
          </a:p>
          <a:p>
            <a:pPr marL="216000" indent="-216000">
              <a:buNone/>
            </a:pPr>
            <a:r>
              <a:rPr lang="en-US" sz="2000" b="0" strike="noStrike" spc="-1">
                <a:solidFill>
                  <a:srgbClr val="000000"/>
                </a:solidFill>
                <a:latin typeface="Arial"/>
              </a:rPr>
              <a:t>- If using SNAT: server default gateway can point anywhere</a:t>
            </a:r>
          </a:p>
          <a:p>
            <a:pPr marL="216000" indent="-216000">
              <a:buNone/>
            </a:pPr>
            <a:r>
              <a:rPr lang="en-US" sz="2000" b="0" strike="noStrike" spc="-1">
                <a:solidFill>
                  <a:srgbClr val="000000"/>
                </a:solidFill>
                <a:latin typeface="Arial"/>
              </a:rPr>
              <a:t>- If NOT using SNAT: server default gateway MUST point to the BIG-IP self IP on the server VLAN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AUTO LAST-HOP IN TWO-ARM</a:t>
            </a:r>
          </a:p>
          <a:p>
            <a:pPr marL="216000" indent="-216000">
              <a:buNone/>
            </a:pPr>
            <a:r>
              <a:rPr lang="en-US" sz="2000" b="0" strike="noStrike" spc="-1">
                <a:solidFill>
                  <a:srgbClr val="000000"/>
                </a:solidFill>
                <a:latin typeface="Arial"/>
              </a:rPr>
              <a:t>Auto last-hop becomes important in two-arm deployments with multiple upstream routers. If traffic arrives via Router A but the BIG-IP's default route points to Router B, auto last-hop ensures the response goes back through Router A (the router that sent the original request). Without it, Router B receives a response packet it has no connection state for and drops it.</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F5 DOCUMENTATION</a:t>
            </a:r>
          </a:p>
          <a:p>
            <a:pPr marL="216000" indent="-216000">
              <a:buNone/>
            </a:pPr>
            <a:r>
              <a:rPr lang="en-US" sz="2000" b="0" strike="noStrike" spc="-1">
                <a:solidFill>
                  <a:srgbClr val="000000"/>
                </a:solidFill>
                <a:latin typeface="Arial"/>
              </a:rPr>
              <a:t>- Deployment guide: https://techdocs.f5.com/en-us/bigip-14-1-0/big-ip-local-traffic-manager-basics/ltm-concepts.html</a:t>
            </a:r>
          </a:p>
          <a:p>
            <a:pPr marL="216000" indent="-216000">
              <a:buNone/>
            </a:pPr>
            <a:r>
              <a:rPr lang="en-US" sz="2000" b="0" strike="noStrike" spc="-1">
                <a:solidFill>
                  <a:srgbClr val="000000"/>
                </a:solidFill>
                <a:latin typeface="Arial"/>
              </a:rPr>
              <a:t>- Auto last-hop: https://my.f5.com/manage/s/article/K13876</a:t>
            </a:r>
          </a:p>
          <a:p>
            <a:pPr marL="216000" indent="-216000">
              <a:buNone/>
            </a:pPr>
            <a:r>
              <a:rPr lang="en-US" sz="2000" b="0" strike="noStrike" spc="-1">
                <a:solidFill>
                  <a:srgbClr val="000000"/>
                </a:solidFill>
                <a:latin typeface="Arial"/>
              </a:rPr>
              <a:t>- SNAT and routing: https://my.f5.com/manage/s/article/K7820</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PIVOT QUESTION</a:t>
            </a:r>
          </a:p>
          <a:p>
            <a:pPr marL="216000" indent="-216000">
              <a:buNone/>
            </a:pPr>
            <a:r>
              <a:rPr lang="en-US" sz="2000" b="0" strike="noStrike" spc="-1">
                <a:solidFill>
                  <a:srgbClr val="000000"/>
                </a:solidFill>
                <a:latin typeface="Arial"/>
              </a:rPr>
              <a:t>"You deploy a two-arm BIG-IP. HTTP traffic works fine, but the servers log the BIG-IP self IP instead of the client IP. The network team cannot change the server default gateway. How do you let the servers log the real client IP?"</a:t>
            </a:r>
          </a:p>
          <a:p>
            <a:pPr marL="216000" indent="0">
              <a:lnSpc>
                <a:spcPct val="100000"/>
              </a:lnSpc>
              <a:buNone/>
            </a:pPr>
            <a:r>
              <a:rPr lang="en-US" sz="2000" b="0" strike="noStrike" spc="-1">
                <a:solidFill>
                  <a:srgbClr val="000000"/>
                </a:solidFill>
                <a:latin typeface="Arial"/>
              </a:rPr>
              <a:t>ANSWER: Keep SNAT automap (it's required since the gateway can't change), but enable X-Forwarded-For in the HTTP profile. The server application reads the X-Forwarded-For header to get the original client IP for logging. This only works for HTTP/HTTPS traffic - non-HTTP protocols lose client IP visibility when SNAT is used.</a:t>
            </a:r>
          </a:p>
        </p:txBody>
      </p:sp>
      <p:sp>
        <p:nvSpPr>
          <p:cNvPr id="2508" name="PlaceHolder 3"/>
          <p:cNvSpPr>
            <a:spLocks noGrp="1"/>
          </p:cNvSpPr>
          <p:nvPr>
            <p:ph type="sldNum" idx="15"/>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D1CAF636-F733-46AB-8CB8-7395128B7DA2}" type="slidenum">
              <a:rPr lang="en-US" sz="1800" b="0" strike="noStrike" spc="-1">
                <a:solidFill>
                  <a:schemeClr val="dk1"/>
                </a:solidFill>
                <a:latin typeface="+mn-lt"/>
                <a:ea typeface="+mn-ea"/>
              </a:rPr>
              <a:t>12</a:t>
            </a:fld>
            <a:endParaRPr lang="en-US" sz="1800" b="0" strike="noStrike" spc="-1">
              <a:solidFill>
                <a:srgbClr val="000000"/>
              </a:solidFill>
              <a:latin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9" name="PlaceHolder 1"/>
          <p:cNvSpPr>
            <a:spLocks noGrp="1" noRot="1" noChangeAspect="1"/>
          </p:cNvSpPr>
          <p:nvPr>
            <p:ph type="sldImg"/>
          </p:nvPr>
        </p:nvSpPr>
        <p:spPr>
          <a:xfrm>
            <a:off x="0" y="0"/>
            <a:ext cx="0" cy="0"/>
          </a:xfrm>
          <a:prstGeom prst="rect">
            <a:avLst/>
          </a:prstGeom>
          <a:ln w="0">
            <a:noFill/>
          </a:ln>
        </p:spPr>
      </p:sp>
      <p:sp>
        <p:nvSpPr>
          <p:cNvPr id="2510"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DEEP DIVE - nPath / Direct Server Return (DSR)</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nPath (also called Direct Server Return or DSR) is the highest-performance BIG-IP deployment mode because the BIG-IP only processes inbound client requests. Server responses go directly back to the client without passing through the BIG-IP. This dramatically reduces the load on the BIG-IP but severely limits which LTM features can be used.</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TRAFFIC FLOW - STEP BY STEP</a:t>
            </a:r>
          </a:p>
          <a:p>
            <a:pPr marL="216000" indent="-216000">
              <a:buNone/>
            </a:pPr>
            <a:r>
              <a:rPr lang="en-US" sz="2000" b="0" strike="noStrike" spc="-1">
                <a:solidFill>
                  <a:srgbClr val="000000"/>
                </a:solidFill>
                <a:latin typeface="Arial"/>
              </a:rPr>
              <a:t>1. Client (192.168.1.50) sends request to VIP (10.1.10.100:80)</a:t>
            </a:r>
          </a:p>
          <a:p>
            <a:pPr marL="216000" indent="-216000">
              <a:buNone/>
            </a:pPr>
            <a:r>
              <a:rPr lang="en-US" sz="2000" b="0" strike="noStrike" spc="-1">
                <a:solidFill>
                  <a:srgbClr val="000000"/>
                </a:solidFill>
                <a:latin typeface="Arial"/>
              </a:rPr>
              <a:t>2. BIG-IP receives the request and selects a pool member</a:t>
            </a:r>
          </a:p>
          <a:p>
            <a:pPr marL="216000" indent="-216000">
              <a:buNone/>
            </a:pPr>
            <a:r>
              <a:rPr lang="en-US" sz="2000" b="0" strike="noStrike" spc="-1">
                <a:solidFill>
                  <a:srgbClr val="000000"/>
                </a:solidFill>
                <a:latin typeface="Arial"/>
              </a:rPr>
              <a:t>3. BIG-IP rewrites ONLY the destination MAC address to point to the selected server's MAC - the IP addresses (both source and destination) remain completely unchanged</a:t>
            </a:r>
          </a:p>
          <a:p>
            <a:pPr marL="216000" indent="-216000">
              <a:buNone/>
            </a:pPr>
            <a:r>
              <a:rPr lang="en-US" sz="2000" b="0" strike="noStrike" spc="-1">
                <a:solidFill>
                  <a:srgbClr val="000000"/>
                </a:solidFill>
                <a:latin typeface="Arial"/>
              </a:rPr>
              <a:t>4. Server receives the packet: Src=192.168.1.50, Dst=10.1.10.100</a:t>
            </a:r>
          </a:p>
          <a:p>
            <a:pPr marL="216000" indent="-216000">
              <a:buNone/>
            </a:pPr>
            <a:r>
              <a:rPr lang="en-US" sz="2000" b="0" strike="noStrike" spc="-1">
                <a:solidFill>
                  <a:srgbClr val="000000"/>
                </a:solidFill>
                <a:latin typeface="Arial"/>
              </a:rPr>
              <a:t>5. The server accepts the packet because it has 10.1.10.100 configured on its loopback interface (lo0)</a:t>
            </a:r>
          </a:p>
          <a:p>
            <a:pPr marL="216000" indent="-216000">
              <a:buNone/>
            </a:pPr>
            <a:r>
              <a:rPr lang="en-US" sz="2000" b="0" strike="noStrike" spc="-1">
                <a:solidFill>
                  <a:srgbClr val="000000"/>
                </a:solidFill>
                <a:latin typeface="Arial"/>
              </a:rPr>
              <a:t>6. Server responds directly to the client (192.168.1.50) using its own default gateway - the response NEVER passes through the BIG-IP</a:t>
            </a:r>
          </a:p>
          <a:p>
            <a:pPr marL="216000" indent="-216000">
              <a:buNone/>
            </a:pPr>
            <a:r>
              <a:rPr lang="en-US" sz="2000" b="0" strike="noStrike" spc="-1">
                <a:solidFill>
                  <a:srgbClr val="000000"/>
                </a:solidFill>
                <a:latin typeface="Arial"/>
              </a:rPr>
              <a:t>7. Client receives the response from 10.1.10.100 (the VIP), which matches its original request</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CRITICAL SERVER REQUIREMENT - LOOPBACK INTERFACE</a:t>
            </a:r>
          </a:p>
          <a:p>
            <a:pPr marL="216000" indent="-216000">
              <a:buNone/>
            </a:pPr>
            <a:r>
              <a:rPr lang="en-US" sz="2000" b="0" strike="noStrike" spc="-1">
                <a:solidFill>
                  <a:srgbClr val="000000"/>
                </a:solidFill>
                <a:latin typeface="Arial"/>
              </a:rPr>
              <a:t>For nPath to work, EVERY server in the pool must have the VIP address (10.1.10.100) configured on a loopback interface. This is necessary because:</a:t>
            </a:r>
          </a:p>
          <a:p>
            <a:pPr marL="216000" indent="-216000">
              <a:buNone/>
            </a:pPr>
            <a:r>
              <a:rPr lang="en-US" sz="2000" b="0" strike="noStrike" spc="-1">
                <a:solidFill>
                  <a:srgbClr val="000000"/>
                </a:solidFill>
                <a:latin typeface="Arial"/>
              </a:rPr>
              <a:t>- The destination IP in the packet is 10.1.10.100 (the VIP, not the server's real IP)</a:t>
            </a:r>
          </a:p>
          <a:p>
            <a:pPr marL="216000" indent="-216000">
              <a:buNone/>
            </a:pPr>
            <a:r>
              <a:rPr lang="en-US" sz="2000" b="0" strike="noStrike" spc="-1">
                <a:solidFill>
                  <a:srgbClr val="000000"/>
                </a:solidFill>
                <a:latin typeface="Arial"/>
              </a:rPr>
              <a:t>- If the server doesn't have this IP configured, it drops the packet as "not destined for me"</a:t>
            </a:r>
          </a:p>
          <a:p>
            <a:pPr marL="216000" indent="-216000">
              <a:buNone/>
            </a:pPr>
            <a:r>
              <a:rPr lang="en-US" sz="2000" b="0" strike="noStrike" spc="-1">
                <a:solidFill>
                  <a:srgbClr val="000000"/>
                </a:solidFill>
                <a:latin typeface="Arial"/>
              </a:rPr>
              <a:t>- The loopback must be configured as NON-ARP (does not respond to ARP requests for this IP) - otherwise the server would compete with the BIG-IP for ARP resolution of the VIP</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On Linux: ip addr add 10.1.10.100/32 dev lo</a:t>
            </a:r>
          </a:p>
          <a:p>
            <a:pPr marL="216000" indent="-216000">
              <a:buNone/>
            </a:pPr>
            <a:r>
              <a:rPr lang="en-US" sz="2000" b="0" strike="noStrike" spc="-1">
                <a:solidFill>
                  <a:srgbClr val="000000"/>
                </a:solidFill>
                <a:latin typeface="Arial"/>
              </a:rPr>
              <a:t>On Windows: Add a loopback adapter with the VIP address, disable "Register this connection's addresses in DNS"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WHY "MAC REWRITE ONLY"</a:t>
            </a:r>
          </a:p>
          <a:p>
            <a:pPr marL="216000" indent="-216000">
              <a:buNone/>
            </a:pPr>
            <a:r>
              <a:rPr lang="en-US" sz="2000" b="0" strike="noStrike" spc="-1">
                <a:solidFill>
                  <a:srgbClr val="000000"/>
                </a:solidFill>
                <a:latin typeface="Arial"/>
              </a:rPr>
              <a:t>Unlike standard and one-arm deployments where the BIG-IP modifies IP addresses (via SNAT and destination NAT), nPath only changes the Layer 2 (MAC) address. This is why:</a:t>
            </a:r>
          </a:p>
          <a:p>
            <a:pPr marL="216000" indent="-216000">
              <a:buNone/>
            </a:pPr>
            <a:r>
              <a:rPr lang="en-US" sz="2000" b="0" strike="noStrike" spc="-1">
                <a:solidFill>
                  <a:srgbClr val="000000"/>
                </a:solidFill>
                <a:latin typeface="Arial"/>
              </a:rPr>
              <a:t>- The source IP stays as the client IP (no SNAT) - servers see the real client IP natively</a:t>
            </a:r>
          </a:p>
          <a:p>
            <a:pPr marL="216000" indent="-216000">
              <a:buNone/>
            </a:pPr>
            <a:r>
              <a:rPr lang="en-US" sz="2000" b="0" strike="noStrike" spc="-1">
                <a:solidFill>
                  <a:srgbClr val="000000"/>
                </a:solidFill>
                <a:latin typeface="Arial"/>
              </a:rPr>
              <a:t>- The destination IP stays as the VIP (no destination NAT to the server's real IP)</a:t>
            </a:r>
          </a:p>
          <a:p>
            <a:pPr marL="216000" indent="-216000">
              <a:buNone/>
            </a:pPr>
            <a:r>
              <a:rPr lang="en-US" sz="2000" b="0" strike="noStrike" spc="-1">
                <a:solidFill>
                  <a:srgbClr val="000000"/>
                </a:solidFill>
                <a:latin typeface="Arial"/>
              </a:rPr>
              <a:t>- This means no IP-level connection tracking on the BIG-IP for server-side traffic</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FEATURES THAT DO NOT WORK WITH nPath</a:t>
            </a:r>
          </a:p>
          <a:p>
            <a:pPr marL="216000" indent="-216000">
              <a:buNone/>
            </a:pPr>
            <a:r>
              <a:rPr lang="en-US" sz="2000" b="0" strike="noStrike" spc="-1">
                <a:solidFill>
                  <a:srgbClr val="000000"/>
                </a:solidFill>
                <a:latin typeface="Arial"/>
              </a:rPr>
              <a:t>Since the BIG-IP never sees the return traffic:</a:t>
            </a:r>
          </a:p>
          <a:p>
            <a:pPr marL="216000" indent="-216000">
              <a:buNone/>
            </a:pPr>
            <a:r>
              <a:rPr lang="en-US" sz="2000" b="0" strike="noStrike" spc="-1">
                <a:solidFill>
                  <a:srgbClr val="000000"/>
                </a:solidFill>
                <a:latin typeface="Arial"/>
              </a:rPr>
              <a:t>- Cookie persistence: Requires reading Set-Cookie headers in the response</a:t>
            </a:r>
          </a:p>
          <a:p>
            <a:pPr marL="216000" indent="-216000">
              <a:buNone/>
            </a:pPr>
            <a:r>
              <a:rPr lang="en-US" sz="2000" b="0" strike="noStrike" spc="-1">
                <a:solidFill>
                  <a:srgbClr val="000000"/>
                </a:solidFill>
                <a:latin typeface="Arial"/>
              </a:rPr>
              <a:t>- HTTP compression: Requires modifying the response body</a:t>
            </a:r>
          </a:p>
          <a:p>
            <a:pPr marL="216000" indent="-216000">
              <a:buNone/>
            </a:pPr>
            <a:r>
              <a:rPr lang="en-US" sz="2000" b="0" strike="noStrike" spc="-1">
                <a:solidFill>
                  <a:srgbClr val="000000"/>
                </a:solidFill>
                <a:latin typeface="Arial"/>
              </a:rPr>
              <a:t>- Server-SSL: Requires terminating/re-encrypting on the server side</a:t>
            </a:r>
          </a:p>
          <a:p>
            <a:pPr marL="216000" indent="-216000">
              <a:buNone/>
            </a:pPr>
            <a:r>
              <a:rPr lang="en-US" sz="2000" b="0" strike="noStrike" spc="-1">
                <a:solidFill>
                  <a:srgbClr val="000000"/>
                </a:solidFill>
                <a:latin typeface="Arial"/>
              </a:rPr>
              <a:t>- Response rewriting (iRules operating on HTTP_RESPONSE)</a:t>
            </a:r>
          </a:p>
          <a:p>
            <a:pPr marL="216000" indent="-216000">
              <a:buNone/>
            </a:pPr>
            <a:r>
              <a:rPr lang="en-US" sz="2000" b="0" strike="noStrike" spc="-1">
                <a:solidFill>
                  <a:srgbClr val="000000"/>
                </a:solidFill>
                <a:latin typeface="Arial"/>
              </a:rPr>
              <a:t>- OneConnect (requires managing server-side connections)</a:t>
            </a:r>
          </a:p>
          <a:p>
            <a:pPr marL="216000" indent="-216000">
              <a:buNone/>
            </a:pPr>
            <a:r>
              <a:rPr lang="en-US" sz="2000" b="0" strike="noStrike" spc="-1">
                <a:solidFill>
                  <a:srgbClr val="000000"/>
                </a:solidFill>
                <a:latin typeface="Arial"/>
              </a:rPr>
              <a:t>- Content caching (RamCache)</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Features that DO work:</a:t>
            </a:r>
          </a:p>
          <a:p>
            <a:pPr marL="216000" indent="-216000">
              <a:buNone/>
            </a:pPr>
            <a:r>
              <a:rPr lang="en-US" sz="2000" b="0" strike="noStrike" spc="-1">
                <a:solidFill>
                  <a:srgbClr val="000000"/>
                </a:solidFill>
                <a:latin typeface="Arial"/>
              </a:rPr>
              <a:t>- Source address persistence (based on client IP, tracked on inbound)</a:t>
            </a:r>
          </a:p>
          <a:p>
            <a:pPr marL="216000" indent="-216000">
              <a:buNone/>
            </a:pPr>
            <a:r>
              <a:rPr lang="en-US" sz="2000" b="0" strike="noStrike" spc="-1">
                <a:solidFill>
                  <a:srgbClr val="000000"/>
                </a:solidFill>
                <a:latin typeface="Arial"/>
              </a:rPr>
              <a:t>- Client-SSL termination (decrypt on inbound only)</a:t>
            </a:r>
          </a:p>
          <a:p>
            <a:pPr marL="216000" indent="-216000">
              <a:buNone/>
            </a:pPr>
            <a:r>
              <a:rPr lang="en-US" sz="2000" b="0" strike="noStrike" spc="-1">
                <a:solidFill>
                  <a:srgbClr val="000000"/>
                </a:solidFill>
                <a:latin typeface="Arial"/>
              </a:rPr>
              <a:t>- iRules that operate on client-side events (HTTP_REQUEST, CLIENT_ACCEPTED)</a:t>
            </a:r>
          </a:p>
          <a:p>
            <a:pPr marL="216000" indent="-216000">
              <a:buNone/>
            </a:pPr>
            <a:r>
              <a:rPr lang="en-US" sz="2000" b="0" strike="noStrike" spc="-1">
                <a:solidFill>
                  <a:srgbClr val="000000"/>
                </a:solidFill>
                <a:latin typeface="Arial"/>
              </a:rPr>
              <a:t>- Health monitoring (separate monitor connections)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USE CASES</a:t>
            </a:r>
          </a:p>
          <a:p>
            <a:pPr marL="216000" indent="-216000">
              <a:buNone/>
            </a:pPr>
            <a:r>
              <a:rPr lang="en-US" sz="2000" b="0" strike="noStrike" spc="-1">
                <a:solidFill>
                  <a:srgbClr val="000000"/>
                </a:solidFill>
                <a:latin typeface="Arial"/>
              </a:rPr>
              <a:t>- High-throughput applications: video streaming, CDN edge, DNS</a:t>
            </a:r>
          </a:p>
          <a:p>
            <a:pPr marL="216000" indent="-216000">
              <a:buNone/>
            </a:pPr>
            <a:r>
              <a:rPr lang="en-US" sz="2000" b="0" strike="noStrike" spc="-1">
                <a:solidFill>
                  <a:srgbClr val="000000"/>
                </a:solidFill>
                <a:latin typeface="Arial"/>
              </a:rPr>
              <a:t>- Applications where the server can handle SSL natively</a:t>
            </a:r>
          </a:p>
          <a:p>
            <a:pPr marL="216000" indent="-216000">
              <a:buNone/>
            </a:pPr>
            <a:r>
              <a:rPr lang="en-US" sz="2000" b="0" strike="noStrike" spc="-1">
                <a:solidFill>
                  <a:srgbClr val="000000"/>
                </a:solidFill>
                <a:latin typeface="Arial"/>
              </a:rPr>
              <a:t>- When maintaining original client IP is critical and XFF is not sufficient (non-HTTP protocols)</a:t>
            </a:r>
          </a:p>
          <a:p>
            <a:pPr marL="216000" indent="-216000">
              <a:buNone/>
            </a:pPr>
            <a:r>
              <a:rPr lang="en-US" sz="2000" b="0" strike="noStrike" spc="-1">
                <a:solidFill>
                  <a:srgbClr val="000000"/>
                </a:solidFill>
                <a:latin typeface="Arial"/>
              </a:rPr>
              <a:t>- Environments where BIG-IP throughput is the bottleneck</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F5 DOCUMENTATION</a:t>
            </a:r>
          </a:p>
          <a:p>
            <a:pPr marL="216000" indent="-216000">
              <a:buNone/>
            </a:pPr>
            <a:r>
              <a:rPr lang="en-US" sz="2000" b="0" strike="noStrike" spc="-1">
                <a:solidFill>
                  <a:srgbClr val="000000"/>
                </a:solidFill>
                <a:latin typeface="Arial"/>
              </a:rPr>
              <a:t>- nPath routing: https://my.f5.com/manage/s/article/K7595</a:t>
            </a:r>
          </a:p>
          <a:p>
            <a:pPr marL="216000" indent="-216000">
              <a:buNone/>
            </a:pPr>
            <a:r>
              <a:rPr lang="en-US" sz="2000" b="0" strike="noStrike" spc="-1">
                <a:solidFill>
                  <a:srgbClr val="000000"/>
                </a:solidFill>
                <a:latin typeface="Arial"/>
              </a:rPr>
              <a:t>- Configuring nPath: https://techdocs.f5.com/en-us/bigip-14-1-0/big-ip-local-traffic-manager-implementations/configuring-npath-routing.html</a:t>
            </a:r>
          </a:p>
          <a:p>
            <a:pPr marL="216000" indent="-216000">
              <a:buNone/>
            </a:pPr>
            <a:r>
              <a:rPr lang="en-US" sz="2000" b="0" strike="noStrike" spc="-1">
                <a:solidFill>
                  <a:srgbClr val="000000"/>
                </a:solidFill>
                <a:latin typeface="Arial"/>
              </a:rPr>
              <a:t>- DSR loopback requirements: https://my.f5.com/manage/s/article/K11116</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PIVOT QUESTION</a:t>
            </a:r>
          </a:p>
          <a:p>
            <a:pPr marL="216000" indent="-216000">
              <a:buNone/>
            </a:pPr>
            <a:r>
              <a:rPr lang="en-US" sz="2000" b="0" strike="noStrike" spc="-1">
                <a:solidFill>
                  <a:srgbClr val="000000"/>
                </a:solidFill>
                <a:latin typeface="Arial"/>
              </a:rPr>
              <a:t>"A customer wants nPath for a web application that uses cookie-based session persistence. Will this work?"</a:t>
            </a:r>
          </a:p>
          <a:p>
            <a:pPr marL="216000" indent="0">
              <a:lnSpc>
                <a:spcPct val="100000"/>
              </a:lnSpc>
              <a:buNone/>
            </a:pPr>
            <a:r>
              <a:rPr lang="en-US" sz="2000" b="0" strike="noStrike" spc="-1">
                <a:solidFill>
                  <a:srgbClr val="000000"/>
                </a:solidFill>
                <a:latin typeface="Arial"/>
              </a:rPr>
              <a:t>ANSWER: No. Cookie persistence requires the BIG-IP to read the Set-Cookie header in the server response, but in nPath the response never passes through the BIG-IP. The customer would need to use source address persistence instead, or switch to a standard (full proxy) deployment if cookie persistence is a hard requirement.</a:t>
            </a:r>
          </a:p>
        </p:txBody>
      </p:sp>
      <p:sp>
        <p:nvSpPr>
          <p:cNvPr id="2511" name="PlaceHolder 3"/>
          <p:cNvSpPr>
            <a:spLocks noGrp="1"/>
          </p:cNvSpPr>
          <p:nvPr>
            <p:ph type="sldNum" idx="16"/>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165167F1-7CD9-4AE2-8E12-2CAAA3D6E974}" type="slidenum">
              <a:rPr lang="en-US" sz="1800" b="0" strike="noStrike" spc="-1">
                <a:solidFill>
                  <a:schemeClr val="dk1"/>
                </a:solidFill>
                <a:latin typeface="+mn-lt"/>
                <a:ea typeface="+mn-ea"/>
              </a:rPr>
              <a:t>13</a:t>
            </a:fld>
            <a:endParaRPr lang="en-US" sz="1800" b="0" strike="noStrike" spc="-1">
              <a:solidFill>
                <a:srgbClr val="000000"/>
              </a:solidFill>
              <a:latin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2" name="PlaceHolder 1"/>
          <p:cNvSpPr>
            <a:spLocks noGrp="1" noRot="1" noChangeAspect="1"/>
          </p:cNvSpPr>
          <p:nvPr>
            <p:ph type="sldImg"/>
          </p:nvPr>
        </p:nvSpPr>
        <p:spPr>
          <a:xfrm>
            <a:off x="0" y="0"/>
            <a:ext cx="0" cy="0"/>
          </a:xfrm>
          <a:prstGeom prst="rect">
            <a:avLst/>
          </a:prstGeom>
          <a:ln w="0">
            <a:noFill/>
          </a:ln>
        </p:spPr>
      </p:sp>
      <p:sp>
        <p:nvSpPr>
          <p:cNvPr id="2513"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CONCEPT SLIDE - SNAT Types Reference Table</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This is a recall-level (R) reference table that students should photograph or screenshot for later study. It covers Beta objective F5CTSLTM2.06: "Determine which configuration objects are necessary for applications that need the original client IP address."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THE THREE SNAT TYPES IN DETAIL</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1. NONE (No Source Address Translation)</a:t>
            </a:r>
          </a:p>
          <a:p>
            <a:pPr marL="216000" indent="-216000">
              <a:buNone/>
            </a:pPr>
            <a:r>
              <a:rPr lang="en-US" sz="2000" b="0" strike="noStrike" spc="-1">
                <a:solidFill>
                  <a:srgbClr val="000000"/>
                </a:solidFill>
                <a:latin typeface="Arial"/>
              </a:rPr>
              <a:t>- The BIG-IP does not modify the source IP address</a:t>
            </a:r>
          </a:p>
          <a:p>
            <a:pPr marL="216000" indent="-216000">
              <a:buNone/>
            </a:pPr>
            <a:r>
              <a:rPr lang="en-US" sz="2000" b="0" strike="noStrike" spc="-1">
                <a:solidFill>
                  <a:srgbClr val="000000"/>
                </a:solidFill>
                <a:latin typeface="Arial"/>
              </a:rPr>
              <a:t>- The server sees the real client IP in the packet header</a:t>
            </a:r>
          </a:p>
          <a:p>
            <a:pPr marL="216000" indent="-216000">
              <a:buNone/>
            </a:pPr>
            <a:r>
              <a:rPr lang="en-US" sz="2000" b="0" strike="noStrike" spc="-1">
                <a:solidFill>
                  <a:srgbClr val="000000"/>
                </a:solidFill>
                <a:latin typeface="Arial"/>
              </a:rPr>
              <a:t>- REQUIREMENT: The server's return traffic MUST route through the BIG-IP. This typically means the server's default gateway is the BIG-IP's self IP on the server VLAN</a:t>
            </a:r>
          </a:p>
          <a:p>
            <a:pPr marL="216000" indent="-216000">
              <a:buNone/>
            </a:pPr>
            <a:r>
              <a:rPr lang="en-US" sz="2000" b="0" strike="noStrike" spc="-1">
                <a:solidFill>
                  <a:srgbClr val="000000"/>
                </a:solidFill>
                <a:latin typeface="Arial"/>
              </a:rPr>
              <a:t>- If the server's default gateway is a different router, the response bypasses the BIG-IP and the connection fails</a:t>
            </a:r>
          </a:p>
          <a:p>
            <a:pPr marL="216000" indent="-216000">
              <a:buNone/>
            </a:pPr>
            <a:r>
              <a:rPr lang="en-US" sz="2000" b="0" strike="noStrike" spc="-1">
                <a:solidFill>
                  <a:srgbClr val="000000"/>
                </a:solidFill>
                <a:latin typeface="Arial"/>
              </a:rPr>
              <a:t>- Best for: environments where preserving client IP at L3 is critical (non-HTTP protocols) and the network topology supports it</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2. AUTOMAP</a:t>
            </a:r>
          </a:p>
          <a:p>
            <a:pPr marL="216000" indent="-216000">
              <a:buNone/>
            </a:pPr>
            <a:r>
              <a:rPr lang="en-US" sz="2000" b="0" strike="noStrike" spc="-1">
                <a:solidFill>
                  <a:srgbClr val="000000"/>
                </a:solidFill>
                <a:latin typeface="Arial"/>
              </a:rPr>
              <a:t>- The BIG-IP replaces the source IP with its floating self IP on the egress VLAN</a:t>
            </a:r>
          </a:p>
          <a:p>
            <a:pPr marL="216000" indent="-216000">
              <a:buNone/>
            </a:pPr>
            <a:r>
              <a:rPr lang="en-US" sz="2000" b="0" strike="noStrike" spc="-1">
                <a:solidFill>
                  <a:srgbClr val="000000"/>
                </a:solidFill>
                <a:latin typeface="Arial"/>
              </a:rPr>
              <a:t>- "Floating" is key: in an HA pair, the floating self IP moves with the active device, so failover doesn't break connections</a:t>
            </a:r>
          </a:p>
          <a:p>
            <a:pPr marL="216000" indent="-216000">
              <a:buNone/>
            </a:pPr>
            <a:r>
              <a:rPr lang="en-US" sz="2000" b="0" strike="noStrike" spc="-1">
                <a:solidFill>
                  <a:srgbClr val="000000"/>
                </a:solidFill>
                <a:latin typeface="Arial"/>
              </a:rPr>
              <a:t>- The ephemeral port limit is ~65,535 per self IP address. Each client connection uses one ephemeral port. Once all ports are exhausted, new connections fail with "SNAT port exhaustion" errors visible in /var/log/ltm</a:t>
            </a:r>
          </a:p>
          <a:p>
            <a:pPr marL="216000" indent="-216000">
              <a:buNone/>
            </a:pPr>
            <a:r>
              <a:rPr lang="en-US" sz="2000" b="0" strike="noStrike" spc="-1">
                <a:solidFill>
                  <a:srgbClr val="000000"/>
                </a:solidFill>
                <a:latin typeface="Arial"/>
              </a:rPr>
              <a:t>- Best for: simple deployments with moderate connection counts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3. SNAT POOL</a:t>
            </a:r>
          </a:p>
          <a:p>
            <a:pPr marL="216000" indent="-216000">
              <a:buNone/>
            </a:pPr>
            <a:r>
              <a:rPr lang="en-US" sz="2000" b="0" strike="noStrike" spc="-1">
                <a:solidFill>
                  <a:srgbClr val="000000"/>
                </a:solidFill>
                <a:latin typeface="Arial"/>
              </a:rPr>
              <a:t>- You create a pool of dedicated SNAT IP addresses. The BIG-IP distributes connections across these addresses</a:t>
            </a:r>
          </a:p>
          <a:p>
            <a:pPr marL="216000" indent="-216000">
              <a:buNone/>
            </a:pPr>
            <a:r>
              <a:rPr lang="en-US" sz="2000" b="0" strike="noStrike" spc="-1">
                <a:solidFill>
                  <a:srgbClr val="000000"/>
                </a:solidFill>
                <a:latin typeface="Arial"/>
              </a:rPr>
              <a:t>- Each SNAT pool address provides an additional ~65,535 ephemeral ports</a:t>
            </a:r>
          </a:p>
          <a:p>
            <a:pPr marL="216000" indent="-216000">
              <a:buNone/>
            </a:pPr>
            <a:r>
              <a:rPr lang="en-US" sz="2000" b="0" strike="noStrike" spc="-1">
                <a:solidFill>
                  <a:srgbClr val="000000"/>
                </a:solidFill>
                <a:latin typeface="Arial"/>
              </a:rPr>
              <a:t>- Formula: Required SNAT addresses = Ceiling(max_concurrent_connections / 65535)</a:t>
            </a:r>
          </a:p>
          <a:p>
            <a:pPr marL="216000" indent="-216000">
              <a:buNone/>
            </a:pPr>
            <a:r>
              <a:rPr lang="en-US" sz="2000" b="0" strike="noStrike" spc="-1">
                <a:solidFill>
                  <a:srgbClr val="000000"/>
                </a:solidFill>
                <a:latin typeface="Arial"/>
              </a:rPr>
              <a:t>- Example: 200,000 concurrent connections = Ceiling(200000/65535) = 4 SNAT pool addresses minimum</a:t>
            </a:r>
          </a:p>
          <a:p>
            <a:pPr marL="216000" indent="-216000">
              <a:buNone/>
            </a:pPr>
            <a:r>
              <a:rPr lang="en-US" sz="2000" b="0" strike="noStrike" spc="-1">
                <a:solidFill>
                  <a:srgbClr val="000000"/>
                </a:solidFill>
                <a:latin typeface="Arial"/>
              </a:rPr>
              <a:t>- The SNAT pool addresses must be routable on the server VLAN (servers must be able to reach them)</a:t>
            </a:r>
          </a:p>
          <a:p>
            <a:pPr marL="216000" indent="-216000">
              <a:buNone/>
            </a:pPr>
            <a:r>
              <a:rPr lang="en-US" sz="2000" b="0" strike="noStrike" spc="-1">
                <a:solidFill>
                  <a:srgbClr val="000000"/>
                </a:solidFill>
                <a:latin typeface="Arial"/>
              </a:rPr>
              <a:t>- Best for: high-volume deployments or when automap port exhaustion is a concern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X-FORWARDED-FOR (XFF) EXPLAINED</a:t>
            </a:r>
          </a:p>
          <a:p>
            <a:pPr marL="216000" indent="-216000">
              <a:buNone/>
            </a:pPr>
            <a:r>
              <a:rPr lang="en-US" sz="2000" b="0" strike="noStrike" spc="-1">
                <a:solidFill>
                  <a:srgbClr val="000000"/>
                </a:solidFill>
                <a:latin typeface="Arial"/>
              </a:rPr>
              <a:t>XFF is an HTTP header that the BIG-IP can insert into the request when SNAT is active. It contains the original client IP address. Format: X-Forwarded-For: 10.1.10.50</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To enable XFF:</a:t>
            </a:r>
          </a:p>
          <a:p>
            <a:pPr marL="216000" indent="-216000">
              <a:buNone/>
            </a:pPr>
            <a:r>
              <a:rPr lang="en-US" sz="2000" b="0" strike="noStrike" spc="-1">
                <a:solidFill>
                  <a:srgbClr val="000000"/>
                </a:solidFill>
                <a:latin typeface="Arial"/>
              </a:rPr>
              <a:t>- TMUI: Profiles &gt; HTTP &gt; [profile name] &gt; Insert X-Forwarded-For &gt; Enabled</a:t>
            </a:r>
          </a:p>
          <a:p>
            <a:pPr marL="216000" indent="-216000">
              <a:buNone/>
            </a:pPr>
            <a:r>
              <a:rPr lang="en-US" sz="2000" b="0" strike="noStrike" spc="-1">
                <a:solidFill>
                  <a:srgbClr val="000000"/>
                </a:solidFill>
                <a:latin typeface="Arial"/>
              </a:rPr>
              <a:t>- TMSH: modify ltm profile http my_http_profile insert-xforwarded-for enabled</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Important caveats:</a:t>
            </a:r>
          </a:p>
          <a:p>
            <a:pPr marL="216000" indent="-216000">
              <a:buNone/>
            </a:pPr>
            <a:r>
              <a:rPr lang="en-US" sz="2000" b="0" strike="noStrike" spc="-1">
                <a:solidFill>
                  <a:srgbClr val="000000"/>
                </a:solidFill>
                <a:latin typeface="Arial"/>
              </a:rPr>
              <a:t>- XFF is an HTTP-layer solution. It only works when an HTTP profile is applied to the virtual server</a:t>
            </a:r>
          </a:p>
          <a:p>
            <a:pPr marL="216000" indent="-216000">
              <a:buNone/>
            </a:pPr>
            <a:r>
              <a:rPr lang="en-US" sz="2000" b="0" strike="noStrike" spc="-1">
                <a:solidFill>
                  <a:srgbClr val="000000"/>
                </a:solidFill>
                <a:latin typeface="Arial"/>
              </a:rPr>
              <a:t>- The server application must be configured to read the XFF header (e.g., Apache: mod_remoteip; Nginx: set_real_ip_from)</a:t>
            </a:r>
          </a:p>
          <a:p>
            <a:pPr marL="216000" indent="-216000">
              <a:buNone/>
            </a:pPr>
            <a:r>
              <a:rPr lang="en-US" sz="2000" b="0" strike="noStrike" spc="-1">
                <a:solidFill>
                  <a:srgbClr val="000000"/>
                </a:solidFill>
                <a:latin typeface="Arial"/>
              </a:rPr>
              <a:t>- XFF can be spoofed by clients. If using XFF for security decisions, also configure the "Accept XFF" setting carefully</a:t>
            </a:r>
          </a:p>
          <a:p>
            <a:pPr marL="216000" indent="-216000">
              <a:buNone/>
            </a:pPr>
            <a:r>
              <a:rPr lang="en-US" sz="2000" b="0" strike="noStrike" spc="-1">
                <a:solidFill>
                  <a:srgbClr val="000000"/>
                </a:solidFill>
                <a:latin typeface="Arial"/>
              </a:rPr>
              <a:t>- For non-HTTP protocols (FTP, SMTP, DNS, SIP), there is no equivalent mechanism - the original client IP is lost</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SNAT OBJECT vs VIRTUAL SERVER SNAT</a:t>
            </a:r>
          </a:p>
          <a:p>
            <a:pPr marL="216000" indent="-216000">
              <a:buNone/>
            </a:pPr>
            <a:r>
              <a:rPr lang="en-US" sz="2000" b="0" strike="noStrike" spc="-1">
                <a:solidFill>
                  <a:srgbClr val="000000"/>
                </a:solidFill>
                <a:latin typeface="Arial"/>
              </a:rPr>
              <a:t>Students often confuse these two distinct features:</a:t>
            </a:r>
          </a:p>
          <a:p>
            <a:pPr marL="216000" indent="-216000">
              <a:buNone/>
            </a:pPr>
            <a:r>
              <a:rPr lang="en-US" sz="2000" b="0" strike="noStrike" spc="-1">
                <a:solidFill>
                  <a:srgbClr val="000000"/>
                </a:solidFill>
                <a:latin typeface="Arial"/>
              </a:rPr>
              <a:t>- Virtual Server Source Address Translation: Applied to traffic processed by a specific virtual server. Configured on the VS itself. Translates the source IP of client-to-server traffic.</a:t>
            </a:r>
          </a:p>
          <a:p>
            <a:pPr marL="216000" indent="-216000">
              <a:buNone/>
            </a:pPr>
            <a:r>
              <a:rPr lang="en-US" sz="2000" b="0" strike="noStrike" spc="-1">
                <a:solidFill>
                  <a:srgbClr val="000000"/>
                </a:solidFill>
                <a:latin typeface="Arial"/>
              </a:rPr>
              <a:t>- Standalone SNAT Object (Local Traffic &gt; Address Translation &gt; SNAT): Applied to server-initiated outbound traffic that does NOT match any virtual server. Used when servers need to reach external resources through the BIG-IP (e.g., software updates, API calls) and you want to translate their source IP.</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F5 DOCUMENTATION</a:t>
            </a:r>
          </a:p>
          <a:p>
            <a:pPr marL="216000" indent="-216000">
              <a:buNone/>
            </a:pPr>
            <a:r>
              <a:rPr lang="en-US" sz="2000" b="0" strike="noStrike" spc="-1">
                <a:solidFill>
                  <a:srgbClr val="000000"/>
                </a:solidFill>
                <a:latin typeface="Arial"/>
              </a:rPr>
              <a:t>- SNAT overview: https://my.f5.com/manage/s/article/K7820</a:t>
            </a:r>
          </a:p>
          <a:p>
            <a:pPr marL="216000" indent="-216000">
              <a:buNone/>
            </a:pPr>
            <a:r>
              <a:rPr lang="en-US" sz="2000" b="0" strike="noStrike" spc="-1">
                <a:solidFill>
                  <a:srgbClr val="000000"/>
                </a:solidFill>
                <a:latin typeface="Arial"/>
              </a:rPr>
              <a:t>- SNAT port exhaustion: https://my.f5.com/manage/s/article/K13637</a:t>
            </a:r>
          </a:p>
          <a:p>
            <a:pPr marL="216000" indent="-216000">
              <a:buNone/>
            </a:pPr>
            <a:r>
              <a:rPr lang="en-US" sz="2000" b="0" strike="noStrike" spc="-1">
                <a:solidFill>
                  <a:srgbClr val="000000"/>
                </a:solidFill>
                <a:latin typeface="Arial"/>
              </a:rPr>
              <a:t>- X-Forwarded-For: https://my.f5.com/manage/s/article/K4816</a:t>
            </a:r>
          </a:p>
          <a:p>
            <a:pPr marL="216000" indent="0">
              <a:lnSpc>
                <a:spcPct val="100000"/>
              </a:lnSpc>
              <a:buNone/>
            </a:pPr>
            <a:r>
              <a:rPr lang="en-US" sz="2000" b="0" strike="noStrike" spc="-1">
                <a:solidFill>
                  <a:srgbClr val="000000"/>
                </a:solidFill>
                <a:latin typeface="Arial"/>
              </a:rPr>
              <a:t>- SNAT pool configuration: https://techdocs.f5.com/en-us/bigip-14-1-0/big-ip-local-traffic-manager-basics/ltm-snats.html</a:t>
            </a:r>
          </a:p>
        </p:txBody>
      </p:sp>
      <p:sp>
        <p:nvSpPr>
          <p:cNvPr id="2514" name="PlaceHolder 3"/>
          <p:cNvSpPr>
            <a:spLocks noGrp="1"/>
          </p:cNvSpPr>
          <p:nvPr>
            <p:ph type="sldNum" idx="17"/>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5BA72DC3-44C2-4FED-A0C6-01EE12A1EA9E}" type="slidenum">
              <a:rPr lang="en-US" sz="1800" b="0" strike="noStrike" spc="-1">
                <a:solidFill>
                  <a:schemeClr val="dk1"/>
                </a:solidFill>
                <a:latin typeface="+mn-lt"/>
                <a:ea typeface="+mn-ea"/>
              </a:rPr>
              <a:t>14</a:t>
            </a:fld>
            <a:endParaRPr lang="en-US" sz="1800" b="0" strike="noStrike" spc="-1">
              <a:solidFill>
                <a:srgbClr val="000000"/>
              </a:solidFill>
              <a:latin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5" name="PlaceHolder 1"/>
          <p:cNvSpPr>
            <a:spLocks noGrp="1" noRot="1" noChangeAspect="1"/>
          </p:cNvSpPr>
          <p:nvPr>
            <p:ph type="sldImg"/>
          </p:nvPr>
        </p:nvSpPr>
        <p:spPr>
          <a:xfrm>
            <a:off x="0" y="0"/>
            <a:ext cx="0" cy="0"/>
          </a:xfrm>
          <a:prstGeom prst="rect">
            <a:avLst/>
          </a:prstGeom>
          <a:ln w="0">
            <a:noFill/>
          </a:ln>
        </p:spPr>
      </p:sp>
      <p:sp>
        <p:nvSpPr>
          <p:cNvPr id="2516"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CONCEPT SLIDE - TMSH Syntax Orientation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This slide provides a quick orientation to TMSH (Traffic Management Shell) syntax before students use it to build the lab configuration. TMSH is the primary CLI for BIG-IP administration and is explicitly called out in Beta objective F5CTSLTM1.04: "Determine how to limit administrative access to LTM device (GUI/CLI)."</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TMSH SYNTAX PATTERN</a:t>
            </a:r>
          </a:p>
          <a:p>
            <a:pPr marL="216000" indent="-216000">
              <a:buNone/>
            </a:pPr>
            <a:r>
              <a:rPr lang="en-US" sz="2000" b="0" strike="noStrike" spc="-1">
                <a:solidFill>
                  <a:srgbClr val="000000"/>
                </a:solidFill>
                <a:latin typeface="Arial"/>
              </a:rPr>
              <a:t>Every TMSH command follows this pattern:</a:t>
            </a:r>
          </a:p>
          <a:p>
            <a:pPr marL="216000" indent="-216000">
              <a:buNone/>
            </a:pPr>
            <a:r>
              <a:rPr lang="en-US" sz="2000" b="0" strike="noStrike" spc="-1">
                <a:solidFill>
                  <a:srgbClr val="000000"/>
                </a:solidFill>
                <a:latin typeface="Arial"/>
              </a:rPr>
              <a:t>  verb  module  component  object-name  [parameters]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Examples:</a:t>
            </a:r>
          </a:p>
          <a:p>
            <a:pPr marL="216000" indent="-216000">
              <a:buNone/>
            </a:pPr>
            <a:r>
              <a:rPr lang="en-US" sz="2000" b="0" strike="noStrike" spc="-1">
                <a:solidFill>
                  <a:srgbClr val="000000"/>
                </a:solidFill>
                <a:latin typeface="Arial"/>
              </a:rPr>
              <a:t>  create  ltm     pool       www_pool     members add { 10.1.20.11:80 }</a:t>
            </a:r>
          </a:p>
          <a:p>
            <a:pPr marL="216000" indent="-216000">
              <a:buNone/>
            </a:pPr>
            <a:r>
              <a:rPr lang="en-US" sz="2000" b="0" strike="noStrike" spc="-1">
                <a:solidFill>
                  <a:srgbClr val="000000"/>
                </a:solidFill>
                <a:latin typeface="Arial"/>
              </a:rPr>
              <a:t>  modify  net     self       server_ip    address 10.1.20.245/24</a:t>
            </a:r>
          </a:p>
          <a:p>
            <a:pPr marL="216000" indent="-216000">
              <a:buNone/>
            </a:pPr>
            <a:r>
              <a:rPr lang="en-US" sz="2000" b="0" strike="noStrike" spc="-1">
                <a:solidFill>
                  <a:srgbClr val="000000"/>
                </a:solidFill>
                <a:latin typeface="Arial"/>
              </a:rPr>
              <a:t>  show    sys     performance all-stats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MODULES: The three most common modules are:</a:t>
            </a:r>
          </a:p>
          <a:p>
            <a:pPr marL="216000" indent="-216000">
              <a:buNone/>
            </a:pPr>
            <a:r>
              <a:rPr lang="en-US" sz="2000" b="0" strike="noStrike" spc="-1">
                <a:solidFill>
                  <a:srgbClr val="000000"/>
                </a:solidFill>
                <a:latin typeface="Arial"/>
              </a:rPr>
              <a:t>- ltm: Local Traffic Manager objects (virtual servers, pools, profiles, monitors, rules)</a:t>
            </a:r>
          </a:p>
          <a:p>
            <a:pPr marL="216000" indent="-216000">
              <a:buNone/>
            </a:pPr>
            <a:r>
              <a:rPr lang="en-US" sz="2000" b="0" strike="noStrike" spc="-1">
                <a:solidFill>
                  <a:srgbClr val="000000"/>
                </a:solidFill>
                <a:latin typeface="Arial"/>
              </a:rPr>
              <a:t>- net: Network objects (VLANs, self IPs, routes, trunks, route domains)</a:t>
            </a:r>
          </a:p>
          <a:p>
            <a:pPr marL="216000" indent="-216000">
              <a:buNone/>
            </a:pPr>
            <a:r>
              <a:rPr lang="en-US" sz="2000" b="0" strike="noStrike" spc="-1">
                <a:solidFill>
                  <a:srgbClr val="000000"/>
                </a:solidFill>
                <a:latin typeface="Arial"/>
              </a:rPr>
              <a:t>- sys: System objects (config, software, performance, DNS, NTP, users, licenses)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THE FIVE VERBS EXPLAINED</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1. CREATE - Builds a new object. The object must not already exist (use "modify" to change existing). All required parameters must be specified in the create command.</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2. MODIFY - Changes properties of an existing object. You only specify the properties you want to change - everything else stays as-is. Common mistake: using "modify" on an object that doesn't exist yet (use "create" first).</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3. LIST - Displays the running configuration of an object exactly as it's stored in bigip.conf. This shows what you configured, including default values. Useful for verifying your configuration matches what you intended.</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4. SHOW - Displays real-time operational status and statistics. For a pool, "show" reveals which members are up/down, how many current connections each has, bytes transferred, etc. For a virtual server, "show" reveals the current state (available/unavailable), connection count, and throughput.</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KEY DIFFERENCE: "list" vs "show"</a:t>
            </a:r>
          </a:p>
          <a:p>
            <a:pPr marL="216000" indent="-216000">
              <a:buNone/>
            </a:pPr>
            <a:r>
              <a:rPr lang="en-US" sz="2000" b="0" strike="noStrike" spc="-1">
                <a:solidFill>
                  <a:srgbClr val="000000"/>
                </a:solidFill>
                <a:latin typeface="Arial"/>
              </a:rPr>
              <a:t>This is one of the most commonly tested concepts:</a:t>
            </a:r>
          </a:p>
          <a:p>
            <a:pPr marL="216000" indent="-216000">
              <a:buNone/>
            </a:pPr>
            <a:r>
              <a:rPr lang="en-US" sz="2000" b="0" strike="noStrike" spc="-1">
                <a:solidFill>
                  <a:srgbClr val="000000"/>
                </a:solidFill>
                <a:latin typeface="Arial"/>
              </a:rPr>
              <a:t>- list ltm pool www_pool = shows the CONFIGURATION (members, monitor, LB method)</a:t>
            </a:r>
          </a:p>
          <a:p>
            <a:pPr marL="216000" indent="-216000">
              <a:buNone/>
            </a:pPr>
            <a:r>
              <a:rPr lang="en-US" sz="2000" b="0" strike="noStrike" spc="-1">
                <a:solidFill>
                  <a:srgbClr val="000000"/>
                </a:solidFill>
                <a:latin typeface="Arial"/>
              </a:rPr>
              <a:t>- show ltm pool www_pool members = shows the STATUS (up/down, connections, bytes)</a:t>
            </a:r>
          </a:p>
          <a:p>
            <a:pPr marL="216000" indent="-216000">
              <a:buNone/>
            </a:pPr>
            <a:r>
              <a:rPr lang="en-US" sz="2000" b="0" strike="noStrike" spc="-1">
                <a:solidFill>
                  <a:srgbClr val="000000"/>
                </a:solidFill>
                <a:latin typeface="Arial"/>
              </a:rPr>
              <a:t>Students who confuse these will get exam questions wrong.</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5. DELETE - Removes an object. Dependencies are enforced: you cannot delete a pool that is assigned to a virtual server (remove the pool from the VS first). You cannot delete a node that is a member of any pool.</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SAVING CONFIGURATION</a:t>
            </a:r>
          </a:p>
          <a:p>
            <a:pPr marL="216000" indent="-216000">
              <a:buNone/>
            </a:pPr>
            <a:r>
              <a:rPr lang="en-US" sz="2000" b="0" strike="noStrike" spc="-1">
                <a:solidFill>
                  <a:srgbClr val="000000"/>
                </a:solidFill>
                <a:latin typeface="Arial"/>
              </a:rPr>
              <a:t>After making changes in TMSH:</a:t>
            </a:r>
          </a:p>
          <a:p>
            <a:pPr marL="216000" indent="-216000">
              <a:buNone/>
            </a:pPr>
            <a:r>
              <a:rPr lang="en-US" sz="2000" b="0" strike="noStrike" spc="-1">
                <a:solidFill>
                  <a:srgbClr val="000000"/>
                </a:solidFill>
                <a:latin typeface="Arial"/>
              </a:rPr>
              <a:t>- save sys config: Writes the running configuration to disk (/config/bigip.conf). Without this, changes are lost if the system reboots.</a:t>
            </a:r>
          </a:p>
          <a:p>
            <a:pPr marL="216000" indent="-216000">
              <a:buNone/>
            </a:pPr>
            <a:r>
              <a:rPr lang="en-US" sz="2000" b="0" strike="noStrike" spc="-1">
                <a:solidFill>
                  <a:srgbClr val="000000"/>
                </a:solidFill>
                <a:latin typeface="Arial"/>
              </a:rPr>
              <a:t>- save sys ucs &lt;filename&gt;: Creates a complete backup archive (UCS) that includes certificates, licenses, and configuration. This is what you restore from if something goes wrong.</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F5 DOCUMENTATION</a:t>
            </a:r>
          </a:p>
          <a:p>
            <a:pPr marL="216000" indent="-216000">
              <a:buNone/>
            </a:pPr>
            <a:r>
              <a:rPr lang="en-US" sz="2000" b="0" strike="noStrike" spc="-1">
                <a:solidFill>
                  <a:srgbClr val="000000"/>
                </a:solidFill>
                <a:latin typeface="Arial"/>
              </a:rPr>
              <a:t>- TMSH reference guide: https://techdocs.f5.com/en-us/bigip-14-1-0/bigip-tmsh-reference.html</a:t>
            </a:r>
          </a:p>
          <a:p>
            <a:pPr marL="216000" indent="-216000">
              <a:buNone/>
            </a:pPr>
            <a:r>
              <a:rPr lang="en-US" sz="2000" b="0" strike="noStrike" spc="-1">
                <a:solidFill>
                  <a:srgbClr val="000000"/>
                </a:solidFill>
                <a:latin typeface="Arial"/>
              </a:rPr>
              <a:t>- TMSH command syntax: https://my.f5.com/manage/s/article/K13637</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PIVOT QUESTION</a:t>
            </a:r>
          </a:p>
          <a:p>
            <a:pPr marL="216000" indent="-216000">
              <a:buNone/>
            </a:pPr>
            <a:r>
              <a:rPr lang="en-US" sz="2000" b="0" strike="noStrike" spc="-1">
                <a:solidFill>
                  <a:srgbClr val="000000"/>
                </a:solidFill>
                <a:latin typeface="Arial"/>
              </a:rPr>
              <a:t>"What's the difference between 'list ltm pool www_pool' and 'show ltm pool www_pool members'?"</a:t>
            </a:r>
          </a:p>
          <a:p>
            <a:pPr marL="216000" indent="0">
              <a:lnSpc>
                <a:spcPct val="100000"/>
              </a:lnSpc>
              <a:buNone/>
            </a:pPr>
            <a:r>
              <a:rPr lang="en-US" sz="2000" b="0" strike="noStrike" spc="-1">
                <a:solidFill>
                  <a:srgbClr val="000000"/>
                </a:solidFill>
                <a:latin typeface="Arial"/>
              </a:rPr>
              <a:t>ANSWER: "list" shows the configuration (what you typed when you created the pool - members, monitor assignment, load balancing method). "show" displays live operational data (which members are up/down, how many active connections each has, total bytes transferred). "list" is static config; "show" is dynamic status.</a:t>
            </a:r>
          </a:p>
        </p:txBody>
      </p:sp>
      <p:sp>
        <p:nvSpPr>
          <p:cNvPr id="2517" name="PlaceHolder 3"/>
          <p:cNvSpPr>
            <a:spLocks noGrp="1"/>
          </p:cNvSpPr>
          <p:nvPr>
            <p:ph type="sldNum" idx="18"/>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BCB81A55-49D5-4088-9D2C-83EFE7ACC4C1}" type="slidenum">
              <a:rPr lang="en-US" sz="1800" b="0" strike="noStrike" spc="-1">
                <a:solidFill>
                  <a:schemeClr val="dk1"/>
                </a:solidFill>
                <a:latin typeface="+mn-lt"/>
                <a:ea typeface="+mn-ea"/>
              </a:rPr>
              <a:t>15</a:t>
            </a:fld>
            <a:endParaRPr lang="en-US" sz="1800" b="0" strike="noStrike" spc="-1">
              <a:solidFill>
                <a:srgbClr val="000000"/>
              </a:solidFill>
              <a:latin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8" name="PlaceHolder 1"/>
          <p:cNvSpPr>
            <a:spLocks noGrp="1" noRot="1" noChangeAspect="1"/>
          </p:cNvSpPr>
          <p:nvPr>
            <p:ph type="sldImg"/>
          </p:nvPr>
        </p:nvSpPr>
        <p:spPr>
          <a:xfrm>
            <a:off x="0" y="0"/>
            <a:ext cx="0" cy="0"/>
          </a:xfrm>
          <a:prstGeom prst="rect">
            <a:avLst/>
          </a:prstGeom>
          <a:ln w="0">
            <a:noFill/>
          </a:ln>
        </p:spPr>
      </p:sp>
      <p:sp>
        <p:nvSpPr>
          <p:cNvPr id="2519"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LAB LAUNCH - Leave this slide on screen while students work.</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LAB ENVIRONMENT OVERVIEW</a:t>
            </a:r>
          </a:p>
          <a:p>
            <a:pPr marL="216000" indent="-216000">
              <a:buNone/>
            </a:pPr>
            <a:r>
              <a:rPr lang="en-US" sz="2000" b="0" strike="noStrike" spc="-1">
                <a:solidFill>
                  <a:srgbClr val="000000"/>
                </a:solidFill>
                <a:latin typeface="Arial"/>
              </a:rPr>
              <a:t>Students connect to a BIG-IP VE (Virtual Edition) running TMOS. The environment has:</a:t>
            </a:r>
          </a:p>
          <a:p>
            <a:pPr marL="216000" indent="-216000">
              <a:buNone/>
            </a:pPr>
            <a:r>
              <a:rPr lang="en-US" sz="2000" b="0" strike="noStrike" spc="-1">
                <a:solidFill>
                  <a:srgbClr val="000000"/>
                </a:solidFill>
                <a:latin typeface="Arial"/>
              </a:rPr>
              <a:t>- Management interface: 10.1.1.4 (used for GUI and SSH access)</a:t>
            </a:r>
          </a:p>
          <a:p>
            <a:pPr marL="216000" indent="-216000">
              <a:buNone/>
            </a:pPr>
            <a:r>
              <a:rPr lang="en-US" sz="2000" b="0" strike="noStrike" spc="-1">
                <a:solidFill>
                  <a:srgbClr val="000000"/>
                </a:solidFill>
                <a:latin typeface="Arial"/>
              </a:rPr>
              <a:t>- Client VLAN interface: 1.1 (to be configured as client_vlan)</a:t>
            </a:r>
          </a:p>
          <a:p>
            <a:pPr marL="216000" indent="-216000">
              <a:buNone/>
            </a:pPr>
            <a:r>
              <a:rPr lang="en-US" sz="2000" b="0" strike="noStrike" spc="-1">
                <a:solidFill>
                  <a:srgbClr val="000000"/>
                </a:solidFill>
                <a:latin typeface="Arial"/>
              </a:rPr>
              <a:t>- Server VLAN interface: 1.2 (to be configured as server_vlan)</a:t>
            </a:r>
          </a:p>
          <a:p>
            <a:pPr marL="216000" indent="-216000">
              <a:buNone/>
            </a:pPr>
            <a:r>
              <a:rPr lang="en-US" sz="2000" b="0" strike="noStrike" spc="-1">
                <a:solidFill>
                  <a:srgbClr val="000000"/>
                </a:solidFill>
                <a:latin typeface="Arial"/>
              </a:rPr>
              <a:t>- Three web servers: 10.1.20.11, 10.1.20.12, 10.1.20.13 (all on port 80)</a:t>
            </a:r>
          </a:p>
          <a:p>
            <a:pPr marL="216000" indent="-216000">
              <a:buNone/>
            </a:pPr>
            <a:r>
              <a:rPr lang="en-US" sz="2000" b="0" strike="noStrike" spc="-1">
                <a:solidFill>
                  <a:srgbClr val="000000"/>
                </a:solidFill>
                <a:latin typeface="Arial"/>
              </a:rPr>
              <a:t>- One FTP server: 10.1.20.15 (port 21)</a:t>
            </a:r>
          </a:p>
          <a:p>
            <a:pPr marL="216000" indent="-216000">
              <a:buNone/>
            </a:pPr>
            <a:r>
              <a:rPr lang="en-US" sz="2000" b="0" strike="noStrike" spc="-1">
                <a:solidFill>
                  <a:srgbClr val="000000"/>
                </a:solidFill>
                <a:latin typeface="Arial"/>
              </a:rPr>
              <a:t>- Client workstation: 10.1.10.199 (the jumpbox)</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ACTIVITY 1: TMSH CHALLENGE (15 min)</a:t>
            </a:r>
          </a:p>
          <a:p>
            <a:pPr marL="216000" indent="-216000">
              <a:buNone/>
            </a:pPr>
            <a:r>
              <a:rPr lang="en-US" sz="2000" b="0" strike="noStrike" spc="-1">
                <a:solidFill>
                  <a:srgbClr val="000000"/>
                </a:solidFill>
                <a:latin typeface="Arial"/>
              </a:rPr>
              <a:t>Students build the entire base configuration via TMSH:</a:t>
            </a:r>
          </a:p>
          <a:p>
            <a:pPr marL="216000" indent="-216000">
              <a:buNone/>
            </a:pPr>
            <a:r>
              <a:rPr lang="en-US" sz="2000" b="0" strike="noStrike" spc="-1">
                <a:solidFill>
                  <a:srgbClr val="000000"/>
                </a:solidFill>
                <a:latin typeface="Arial"/>
              </a:rPr>
              <a:t>1. Create VLANs: client_vlan (interface 1.1), server_vlan (interface 1.2)</a:t>
            </a:r>
          </a:p>
          <a:p>
            <a:pPr marL="216000" indent="-216000">
              <a:buNone/>
            </a:pPr>
            <a:r>
              <a:rPr lang="en-US" sz="2000" b="0" strike="noStrike" spc="-1">
                <a:solidFill>
                  <a:srgbClr val="000000"/>
                </a:solidFill>
                <a:latin typeface="Arial"/>
              </a:rPr>
              <a:t>2. Create Self IPs: client_ip (10.1.10.245/24 on client_vlan), server_ip (10.1.20.245/24 on server_vlan)</a:t>
            </a:r>
          </a:p>
          <a:p>
            <a:pPr marL="216000" indent="-216000">
              <a:buNone/>
            </a:pPr>
            <a:r>
              <a:rPr lang="en-US" sz="2000" b="0" strike="noStrike" spc="-1">
                <a:solidFill>
                  <a:srgbClr val="000000"/>
                </a:solidFill>
                <a:latin typeface="Arial"/>
              </a:rPr>
              <a:t>3. Create default route: def_gw (network 0.0.0.0/0, gateway 10.1.10.1)</a:t>
            </a:r>
          </a:p>
          <a:p>
            <a:pPr marL="216000" indent="-216000">
              <a:buNone/>
            </a:pPr>
            <a:r>
              <a:rPr lang="en-US" sz="2000" b="0" strike="noStrike" spc="-1">
                <a:solidFill>
                  <a:srgbClr val="000000"/>
                </a:solidFill>
                <a:latin typeface="Arial"/>
              </a:rPr>
              <a:t>4. Create pool: www_pool (members 10.1.20.11:80, 10.1.20.12:80, 10.1.20.13:80, monitor http)</a:t>
            </a:r>
          </a:p>
          <a:p>
            <a:pPr marL="216000" indent="-216000">
              <a:buNone/>
            </a:pPr>
            <a:r>
              <a:rPr lang="en-US" sz="2000" b="0" strike="noStrike" spc="-1">
                <a:solidFill>
                  <a:srgbClr val="000000"/>
                </a:solidFill>
                <a:latin typeface="Arial"/>
              </a:rPr>
              <a:t>5. Create virtual server: www_vs (destination 10.1.10.100:80, pool www_pool, ip-protocol tcp, source-address-translation automap)</a:t>
            </a:r>
          </a:p>
          <a:p>
            <a:pPr marL="216000" indent="-216000">
              <a:buNone/>
            </a:pPr>
            <a:r>
              <a:rPr lang="en-US" sz="2000" b="0" strike="noStrike" spc="-1">
                <a:solidFill>
                  <a:srgbClr val="000000"/>
                </a:solidFill>
                <a:latin typeface="Arial"/>
              </a:rPr>
              <a:t>6. Save config and create UCS backup</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Verification: VS should show green (Available) in GUI. Browse to http://10.1.10.100 from the client.</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ACTIVITY 2: SNATs AND NATs (15 min)</a:t>
            </a:r>
          </a:p>
          <a:p>
            <a:pPr marL="216000" indent="-216000">
              <a:buNone/>
            </a:pPr>
            <a:r>
              <a:rPr lang="en-US" sz="2000" b="0" strike="noStrike" spc="-1">
                <a:solidFill>
                  <a:srgbClr val="000000"/>
                </a:solidFill>
                <a:latin typeface="Arial"/>
              </a:rPr>
              <a:t>Students build an FTP virtual server and experiment with SNAT:</a:t>
            </a:r>
          </a:p>
          <a:p>
            <a:pPr marL="216000" indent="-216000">
              <a:buNone/>
            </a:pPr>
            <a:r>
              <a:rPr lang="en-US" sz="2000" b="0" strike="noStrike" spc="-1">
                <a:solidFill>
                  <a:srgbClr val="000000"/>
                </a:solidFill>
                <a:latin typeface="Arial"/>
              </a:rPr>
              <a:t>1. Create ftp_pool (member 10.1.20.15:21, monitor tcp)</a:t>
            </a:r>
          </a:p>
          <a:p>
            <a:pPr marL="216000" indent="-216000">
              <a:buNone/>
            </a:pPr>
            <a:r>
              <a:rPr lang="en-US" sz="2000" b="0" strike="noStrike" spc="-1">
                <a:solidFill>
                  <a:srgbClr val="000000"/>
                </a:solidFill>
                <a:latin typeface="Arial"/>
              </a:rPr>
              <a:t>2. Create ftp_vs (destination 10.1.10.100:21, ftp profile, SNAT automap)</a:t>
            </a:r>
          </a:p>
          <a:p>
            <a:pPr marL="216000" indent="-216000">
              <a:buNone/>
            </a:pPr>
            <a:r>
              <a:rPr lang="en-US" sz="2000" b="0" strike="noStrike" spc="-1">
                <a:solidFill>
                  <a:srgbClr val="000000"/>
                </a:solidFill>
                <a:latin typeface="Arial"/>
              </a:rPr>
              <a:t>3. Open two SSH sessions: one for tcpdump, one for TMSH</a:t>
            </a:r>
          </a:p>
          <a:p>
            <a:pPr marL="216000" indent="-216000">
              <a:buNone/>
            </a:pPr>
            <a:r>
              <a:rPr lang="en-US" sz="2000" b="0" strike="noStrike" spc="-1">
                <a:solidFill>
                  <a:srgbClr val="000000"/>
                </a:solidFill>
                <a:latin typeface="Arial"/>
              </a:rPr>
              <a:t>4. Run tcpdump on server_vlan while establishing an FTP connection</a:t>
            </a:r>
          </a:p>
          <a:p>
            <a:pPr marL="216000" indent="-216000">
              <a:buNone/>
            </a:pPr>
            <a:r>
              <a:rPr lang="en-US" sz="2000" b="0" strike="noStrike" spc="-1">
                <a:solidFill>
                  <a:srgbClr val="000000"/>
                </a:solidFill>
                <a:latin typeface="Arial"/>
              </a:rPr>
              <a:t>5. Observe the source IP in tcpdump (should be the BIG-IP self IP due to SNAT)</a:t>
            </a:r>
          </a:p>
          <a:p>
            <a:pPr marL="216000" indent="-216000">
              <a:buNone/>
            </a:pPr>
            <a:r>
              <a:rPr lang="en-US" sz="2000" b="0" strike="noStrike" spc="-1">
                <a:solidFill>
                  <a:srgbClr val="000000"/>
                </a:solidFill>
                <a:latin typeface="Arial"/>
              </a:rPr>
              <a:t>6. Check connection table: show sys connection</a:t>
            </a:r>
          </a:p>
          <a:p>
            <a:pPr marL="216000" indent="-216000">
              <a:buNone/>
            </a:pPr>
            <a:r>
              <a:rPr lang="en-US" sz="2000" b="0" strike="noStrike" spc="-1">
                <a:solidFill>
                  <a:srgbClr val="000000"/>
                </a:solidFill>
                <a:latin typeface="Arial"/>
              </a:rPr>
              <a:t>7. Create a SNAT pool, assign it to the FTP VS, and compare the tcpdump output</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Lab guide Q1: "In Request Detail at the top of the page, what is the client IP address and why?"</a:t>
            </a:r>
          </a:p>
          <a:p>
            <a:pPr marL="216000" indent="-216000">
              <a:buNone/>
            </a:pPr>
            <a:r>
              <a:rPr lang="en-US" sz="2000" b="0" strike="noStrike" spc="-1">
                <a:solidFill>
                  <a:srgbClr val="000000"/>
                </a:solidFill>
                <a:latin typeface="Arial"/>
              </a:rPr>
              <a:t>ANSWER: The client IP shows as 10.1.10.245 (or the SNAT pool address) because SNAT automap replaces the original client IP with the BIG-IP's floating self IP.</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COMMON ISSUES</a:t>
            </a:r>
          </a:p>
          <a:p>
            <a:pPr marL="216000" indent="-216000">
              <a:buNone/>
            </a:pPr>
            <a:r>
              <a:rPr lang="en-US" sz="2000" b="0" strike="noStrike" spc="-1">
                <a:solidFill>
                  <a:srgbClr val="000000"/>
                </a:solidFill>
                <a:latin typeface="Arial"/>
              </a:rPr>
              <a:t>- Students forget to add "ip-protocol tcp" to the virtual server - the VS won't work without it</a:t>
            </a:r>
          </a:p>
          <a:p>
            <a:pPr marL="216000" indent="-216000">
              <a:buNone/>
            </a:pPr>
            <a:r>
              <a:rPr lang="en-US" sz="2000" b="0" strike="noStrike" spc="-1">
                <a:solidFill>
                  <a:srgbClr val="000000"/>
                </a:solidFill>
                <a:latin typeface="Arial"/>
              </a:rPr>
              <a:t>- Students create the pool without a monitor - the pool shows as available but members aren't health-checked</a:t>
            </a:r>
          </a:p>
          <a:p>
            <a:pPr marL="216000" indent="0">
              <a:lnSpc>
                <a:spcPct val="100000"/>
              </a:lnSpc>
              <a:buNone/>
            </a:pPr>
            <a:r>
              <a:rPr lang="en-US" sz="2000" b="0" strike="noStrike" spc="-1">
                <a:solidFill>
                  <a:srgbClr val="000000"/>
                </a:solidFill>
                <a:latin typeface="Arial"/>
              </a:rPr>
              <a:t>- SSH session to the management IP (10.1.1.4) won't appear in "show sys connection" because management traffic is handled by the host OS, not TMM</a:t>
            </a:r>
          </a:p>
        </p:txBody>
      </p:sp>
      <p:sp>
        <p:nvSpPr>
          <p:cNvPr id="2520" name="PlaceHolder 3"/>
          <p:cNvSpPr>
            <a:spLocks noGrp="1"/>
          </p:cNvSpPr>
          <p:nvPr>
            <p:ph type="sldNum" idx="19"/>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5CDC50AA-2E3C-4A86-89A2-DC4F0877659D}" type="slidenum">
              <a:rPr lang="en-US" sz="1800" b="0" strike="noStrike" spc="-1">
                <a:solidFill>
                  <a:schemeClr val="dk1"/>
                </a:solidFill>
                <a:latin typeface="+mn-lt"/>
                <a:ea typeface="+mn-ea"/>
              </a:rPr>
              <a:t>16</a:t>
            </a:fld>
            <a:endParaRPr lang="en-US" sz="1800" b="0" strike="noStrike" spc="-1">
              <a:solidFill>
                <a:srgbClr val="000000"/>
              </a:solidFill>
              <a:latin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1" name="PlaceHolder 1"/>
          <p:cNvSpPr>
            <a:spLocks noGrp="1" noRot="1" noChangeAspect="1"/>
          </p:cNvSpPr>
          <p:nvPr>
            <p:ph type="sldImg"/>
          </p:nvPr>
        </p:nvSpPr>
        <p:spPr>
          <a:xfrm>
            <a:off x="0" y="0"/>
            <a:ext cx="0" cy="0"/>
          </a:xfrm>
          <a:prstGeom prst="rect">
            <a:avLst/>
          </a:prstGeom>
          <a:ln w="0">
            <a:noFill/>
          </a:ln>
        </p:spPr>
      </p:sp>
      <p:sp>
        <p:nvSpPr>
          <p:cNvPr id="2522"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EXAM CHECKPOINTS - Debrief after lab completion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These questions should be asked verbally after students complete the lab. Do NOT show the answers on screen - use the speaker notes to guide the discussion.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Q1 ANSWER (U/A - Objective 1.01)</a:t>
            </a:r>
          </a:p>
          <a:p>
            <a:pPr marL="216000" indent="-216000">
              <a:buNone/>
            </a:pPr>
            <a:r>
              <a:rPr lang="en-US" sz="2000" b="0" strike="noStrike" spc="-1">
                <a:solidFill>
                  <a:srgbClr val="000000"/>
                </a:solidFill>
                <a:latin typeface="Arial"/>
              </a:rPr>
              <a:t>Switch from SNAT automap to a SNAT pool with multiple dedicated IP addresses.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Detailed explanation: SNAT automap uses the floating self IP on the egress VLAN. Each IP address supports approximately 65,535 concurrent connections (limited by the number of ephemeral ports available). With 100,000 expected concurrent connections, a single automap address will exhaust its ports.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Solution: Create a SNAT pool with at least 2 addresses (100,000 / 65,535 = 1.53, round up to 2). For safety margin, use 3 addresses to handle burst traffic. These addresses must be on the server VLAN subnet and must not conflict with any existing IPs.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TMSH: create ltm snatpool my_snat_pool members add { 10.1.20.240 10.1.20.241 10.1.20.242 }</a:t>
            </a:r>
          </a:p>
          <a:p>
            <a:pPr marL="216000" indent="-216000">
              <a:buNone/>
            </a:pPr>
            <a:r>
              <a:rPr lang="en-US" sz="2000" b="0" strike="noStrike" spc="-1">
                <a:solidFill>
                  <a:srgbClr val="000000"/>
                </a:solidFill>
                <a:latin typeface="Arial"/>
              </a:rPr>
              <a:t>Then: modify ltm virtual www_vs source-address-translation { type snatpool pool my_snat_pool }</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Q2 ANSWER (U/A - Objective 1.04)</a:t>
            </a:r>
          </a:p>
          <a:p>
            <a:pPr marL="216000" indent="-216000">
              <a:buNone/>
            </a:pPr>
            <a:r>
              <a:rPr lang="en-US" sz="2000" b="0" strike="noStrike" spc="-1">
                <a:solidFill>
                  <a:srgbClr val="000000"/>
                </a:solidFill>
                <a:latin typeface="Arial"/>
              </a:rPr>
              <a:t>Two things to check:</a:t>
            </a:r>
          </a:p>
          <a:p>
            <a:pPr marL="216000" indent="-216000">
              <a:buNone/>
            </a:pPr>
            <a:r>
              <a:rPr lang="en-US" sz="2000" b="0" strike="noStrike" spc="-1">
                <a:solidFill>
                  <a:srgbClr val="000000"/>
                </a:solidFill>
                <a:latin typeface="Arial"/>
              </a:rPr>
              <a:t>1. Pool member health: Go to Local Traffic &gt; Pools &gt; www_pool &gt; Members. If the monitor is failing, members show as red/offline, which makes the pool unavailable, which makes the VS offline. Common cause: monitor is checking the wrong port, or the server application isn't running.</a:t>
            </a:r>
          </a:p>
          <a:p>
            <a:pPr marL="216000" indent="-216000">
              <a:buNone/>
            </a:pPr>
            <a:r>
              <a:rPr lang="en-US" sz="2000" b="0" strike="noStrike" spc="-1">
                <a:solidFill>
                  <a:srgbClr val="000000"/>
                </a:solidFill>
                <a:latin typeface="Arial"/>
              </a:rPr>
              <a:t>2. Virtual server configuration: Check that the destination IP and port are correct, the pool is assigned, and ip-protocol is set (tcp or udp). A missing ip-protocol is the most common TMSH mistake - the GUI requires it but TMSH lets you omit it, resulting in a VS that doesn't match any traffic.</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Additional checks: Verify the self IPs exist on the correct VLANs, verify the default route is configured, check that no other VS is already listening on the same IP:port combination.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Q3 ANSWER (R - Objective 2.06)</a:t>
            </a:r>
          </a:p>
          <a:p>
            <a:pPr marL="216000" indent="-216000">
              <a:buNone/>
            </a:pPr>
            <a:r>
              <a:rPr lang="en-US" sz="2000" b="0" strike="noStrike" spc="-1">
                <a:solidFill>
                  <a:srgbClr val="000000"/>
                </a:solidFill>
                <a:latin typeface="Arial"/>
              </a:rPr>
              <a:t>Enable the X-Forwarded-For option in the HTTP profile attached to the virtual server.</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TMUI: Profiles &gt; HTTP &gt; [profile] &gt; Insert X-Forwarded-For &gt; Enabled</a:t>
            </a:r>
          </a:p>
          <a:p>
            <a:pPr marL="216000" indent="-216000">
              <a:buNone/>
            </a:pPr>
            <a:r>
              <a:rPr lang="en-US" sz="2000" b="0" strike="noStrike" spc="-1">
                <a:solidFill>
                  <a:srgbClr val="000000"/>
                </a:solidFill>
                <a:latin typeface="Arial"/>
              </a:rPr>
              <a:t>TMSH: modify ltm profile http my_http insert-xforwarded-for enabled</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The server application must then be configured to read the X-Forwarded-For header for logging. In Apache, use mod_remoteip. In Nginx, use set_real_ip_from directive. In IIS, use the X-Forwarded-For module.</a:t>
            </a:r>
          </a:p>
          <a:p>
            <a:pPr marL="216000" indent="-216000">
              <a:buNone/>
            </a:pPr>
            <a:endParaRPr lang="en-US"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Important: This only works for HTTP/HTTPS traffic. If the compliance requirement extends to non-HTTP protocols, you'll need to eliminate SNAT entirely (change server routing so return traffic goes through the BIG-IP) or accept that non-HTTP client IPs cannot be preserved.</a:t>
            </a:r>
          </a:p>
        </p:txBody>
      </p:sp>
      <p:sp>
        <p:nvSpPr>
          <p:cNvPr id="2523" name="PlaceHolder 3"/>
          <p:cNvSpPr>
            <a:spLocks noGrp="1"/>
          </p:cNvSpPr>
          <p:nvPr>
            <p:ph type="sldNum" idx="20"/>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5A210538-BAD1-42B2-8219-E3D67DEC2DF7}" type="slidenum">
              <a:rPr lang="en-US" sz="1800" b="0" strike="noStrike" spc="-1">
                <a:solidFill>
                  <a:schemeClr val="dk1"/>
                </a:solidFill>
                <a:latin typeface="+mn-lt"/>
                <a:ea typeface="+mn-ea"/>
              </a:rPr>
              <a:t>17</a:t>
            </a:fld>
            <a:endParaRPr lang="en-US" sz="1800" b="0" strike="noStrike" spc="-1">
              <a:solidFill>
                <a:srgbClr val="000000"/>
              </a:solidFill>
              <a:latin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4" name="PlaceHolder 1"/>
          <p:cNvSpPr>
            <a:spLocks noGrp="1" noRot="1" noChangeAspect="1"/>
          </p:cNvSpPr>
          <p:nvPr>
            <p:ph type="sldImg"/>
          </p:nvPr>
        </p:nvSpPr>
        <p:spPr>
          <a:xfrm>
            <a:off x="0" y="0"/>
            <a:ext cx="0" cy="0"/>
          </a:xfrm>
          <a:prstGeom prst="rect">
            <a:avLst/>
          </a:prstGeom>
          <a:ln w="0">
            <a:noFill/>
          </a:ln>
        </p:spPr>
      </p:sp>
      <p:sp>
        <p:nvSpPr>
          <p:cNvPr id="2525"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TMSH REFERENCE - Lab 1 Commands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This slide is a student reference for the key TMSH commands used in Lab 1. Encourage students to:</a:t>
            </a:r>
          </a:p>
          <a:p>
            <a:pPr marL="216000" indent="-216000">
              <a:buNone/>
            </a:pPr>
            <a:r>
              <a:rPr lang="en-US" sz="2000" b="0" strike="noStrike" spc="-1">
                <a:solidFill>
                  <a:srgbClr val="000000"/>
                </a:solidFill>
                <a:latin typeface="Arial"/>
              </a:rPr>
              <a:t>1. Try building from memory first</a:t>
            </a:r>
          </a:p>
          <a:p>
            <a:pPr marL="216000" indent="-216000">
              <a:buNone/>
            </a:pPr>
            <a:r>
              <a:rPr lang="en-US" sz="2000" b="0" strike="noStrike" spc="-1">
                <a:solidFill>
                  <a:srgbClr val="000000"/>
                </a:solidFill>
                <a:latin typeface="Arial"/>
              </a:rPr>
              <a:t>2. Use Tab completion in TMSH to discover available parameters</a:t>
            </a:r>
          </a:p>
          <a:p>
            <a:pPr marL="216000" indent="-216000">
              <a:buNone/>
            </a:pPr>
            <a:r>
              <a:rPr lang="en-US" sz="2000" b="0" strike="noStrike" spc="-1">
                <a:solidFill>
                  <a:srgbClr val="000000"/>
                </a:solidFill>
                <a:latin typeface="Arial"/>
              </a:rPr>
              <a:t>3. Only reference this slide or Appendix II if stuck after 5+ minutes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COMPLETE COMMAND SET FOR THE BASE BUILD</a:t>
            </a:r>
          </a:p>
          <a:p>
            <a:pPr marL="216000" indent="-216000">
              <a:buNone/>
            </a:pPr>
            <a:r>
              <a:rPr lang="en-US" sz="2000" b="0" strike="noStrike" spc="-1">
                <a:solidFill>
                  <a:srgbClr val="000000"/>
                </a:solidFill>
                <a:latin typeface="Arial"/>
              </a:rPr>
              <a:t>The commands shown cover the minimum required to build a working LTM configuration: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NETWORKING:</a:t>
            </a:r>
          </a:p>
          <a:p>
            <a:pPr marL="216000" indent="-216000">
              <a:buNone/>
            </a:pPr>
            <a:r>
              <a:rPr lang="en-US" sz="2000" b="0" strike="noStrike" spc="-1">
                <a:solidFill>
                  <a:srgbClr val="000000"/>
                </a:solidFill>
                <a:latin typeface="Arial"/>
              </a:rPr>
              <a:t>create net vlan client_vlan interfaces add { 1.1 { untagged } }</a:t>
            </a:r>
          </a:p>
          <a:p>
            <a:pPr marL="216000" indent="-216000">
              <a:buNone/>
            </a:pPr>
            <a:r>
              <a:rPr lang="en-US" sz="2000" b="0" strike="noStrike" spc="-1">
                <a:solidFill>
                  <a:srgbClr val="000000"/>
                </a:solidFill>
                <a:latin typeface="Arial"/>
              </a:rPr>
              <a:t>create net vlan server_vlan interfaces add { 1.2 { untagged } }</a:t>
            </a:r>
          </a:p>
          <a:p>
            <a:pPr marL="216000" indent="-216000">
              <a:buNone/>
            </a:pPr>
            <a:r>
              <a:rPr lang="en-US" sz="2000" b="0" strike="noStrike" spc="-1">
                <a:solidFill>
                  <a:srgbClr val="000000"/>
                </a:solidFill>
                <a:latin typeface="Arial"/>
              </a:rPr>
              <a:t>create net self client_ip address 10.1.10.245/24 vlan client_vlan</a:t>
            </a:r>
          </a:p>
          <a:p>
            <a:pPr marL="216000" indent="-216000">
              <a:buNone/>
            </a:pPr>
            <a:r>
              <a:rPr lang="en-US" sz="2000" b="0" strike="noStrike" spc="-1">
                <a:solidFill>
                  <a:srgbClr val="000000"/>
                </a:solidFill>
                <a:latin typeface="Arial"/>
              </a:rPr>
              <a:t>create net self server_ip address 10.1.20.245/24 vlan server_vlan</a:t>
            </a:r>
          </a:p>
          <a:p>
            <a:pPr marL="216000" indent="-216000">
              <a:buNone/>
            </a:pPr>
            <a:r>
              <a:rPr lang="en-US" sz="2000" b="0" strike="noStrike" spc="-1">
                <a:solidFill>
                  <a:srgbClr val="000000"/>
                </a:solidFill>
                <a:latin typeface="Arial"/>
              </a:rPr>
              <a:t>create net route def_gw network 0.0.0.0/0 gw 10.1.10.1</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Note: "untagged" means this interface carries traffic for only this VLAN (no 802.1Q tagging). In production, you might use tagged interfaces to carry multiple VLANs on a single physical port.</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POOL AND VIRTUAL SERVER:</a:t>
            </a:r>
          </a:p>
          <a:p>
            <a:pPr marL="216000" indent="-216000">
              <a:buNone/>
            </a:pPr>
            <a:r>
              <a:rPr lang="en-US" sz="2000" b="0" strike="noStrike" spc="-1">
                <a:solidFill>
                  <a:srgbClr val="000000"/>
                </a:solidFill>
                <a:latin typeface="Arial"/>
              </a:rPr>
              <a:t>create ltm pool www_pool members add { 10.1.20.11:80 10.1.20.12:80 10.1.20.13:80 } monitor http</a:t>
            </a:r>
          </a:p>
          <a:p>
            <a:pPr marL="216000" indent="-216000">
              <a:buNone/>
            </a:pPr>
            <a:r>
              <a:rPr lang="en-US" sz="2000" b="0" strike="noStrike" spc="-1">
                <a:solidFill>
                  <a:srgbClr val="000000"/>
                </a:solidFill>
                <a:latin typeface="Arial"/>
              </a:rPr>
              <a:t>create ltm virtual www_vs destination 10.1.10.100:80 pool www_pool ip-protocol tcp source-address-translation { type automap }</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Note: "ip-protocol tcp" is critical and easily forgotten. Without it, the virtual server won't match TCP traffic. The "monitor http" on the pool means the BIG-IP will send HTTP GET requests to each member to verify it's responding.</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SAVE:</a:t>
            </a:r>
          </a:p>
          <a:p>
            <a:pPr marL="216000" indent="-216000">
              <a:buNone/>
            </a:pPr>
            <a:r>
              <a:rPr lang="en-US" sz="2000" b="0" strike="noStrike" spc="-1">
                <a:solidFill>
                  <a:srgbClr val="000000"/>
                </a:solidFill>
                <a:latin typeface="Arial"/>
              </a:rPr>
              <a:t>save sys config - writes running config to /config/bigip.conf</a:t>
            </a:r>
          </a:p>
          <a:p>
            <a:pPr marL="216000" indent="-216000">
              <a:buNone/>
            </a:pPr>
            <a:r>
              <a:rPr lang="en-US" sz="2000" b="0" strike="noStrike" spc="-1">
                <a:solidFill>
                  <a:srgbClr val="000000"/>
                </a:solidFill>
                <a:latin typeface="Arial"/>
              </a:rPr>
              <a:t>save sys ucs lab1-base-config - creates a UCS archive backup</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POST-LAB RECOMMENDATION</a:t>
            </a:r>
          </a:p>
          <a:p>
            <a:pPr marL="216000" indent="-216000">
              <a:buNone/>
            </a:pPr>
            <a:r>
              <a:rPr lang="en-US" sz="2000" b="0" strike="noStrike" spc="-1">
                <a:solidFill>
                  <a:srgbClr val="000000"/>
                </a:solidFill>
                <a:latin typeface="Arial"/>
              </a:rPr>
              <a:t>After the course, students should re-run this entire lab using ONLY TMSH (no GUI verification until the very end). This builds the muscle memory needed for:</a:t>
            </a:r>
          </a:p>
          <a:p>
            <a:pPr marL="216000" indent="-216000">
              <a:buNone/>
            </a:pPr>
            <a:r>
              <a:rPr lang="en-US" sz="2000" b="0" strike="noStrike" spc="-1">
                <a:solidFill>
                  <a:srgbClr val="000000"/>
                </a:solidFill>
                <a:latin typeface="Arial"/>
              </a:rPr>
              <a:t>- The exam (which may show TMSH command output you need to interpret)</a:t>
            </a:r>
          </a:p>
          <a:p>
            <a:pPr marL="216000" indent="-216000">
              <a:buNone/>
            </a:pPr>
            <a:r>
              <a:rPr lang="en-US" sz="2000" b="0" strike="noStrike" spc="-1">
                <a:solidFill>
                  <a:srgbClr val="000000"/>
                </a:solidFill>
                <a:latin typeface="Arial"/>
              </a:rPr>
              <a:t>- Real-world troubleshooting (SSH access when the GUI is unreachable)</a:t>
            </a:r>
          </a:p>
          <a:p>
            <a:pPr marL="216000" indent="-216000">
              <a:buNone/>
            </a:pPr>
            <a:r>
              <a:rPr lang="en-US" sz="2000" b="0" strike="noStrike" spc="-1">
                <a:solidFill>
                  <a:srgbClr val="000000"/>
                </a:solidFill>
                <a:latin typeface="Arial"/>
              </a:rPr>
              <a:t>- Automation workflows (scripts that use TMSH or tmsh-equivalent API calls)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F5 TMSH REFERENCE</a:t>
            </a:r>
          </a:p>
          <a:p>
            <a:pPr marL="216000" indent="0">
              <a:lnSpc>
                <a:spcPct val="100000"/>
              </a:lnSpc>
              <a:buNone/>
            </a:pPr>
            <a:r>
              <a:rPr lang="en-US" sz="2000" b="0" strike="noStrike" spc="-1">
                <a:solidFill>
                  <a:srgbClr val="000000"/>
                </a:solidFill>
                <a:latin typeface="Arial"/>
              </a:rPr>
              <a:t>Full TMSH reference: https://techdocs.f5.com/en-us/bigip-14-1-0/bigip-tmsh-reference.html</a:t>
            </a:r>
          </a:p>
        </p:txBody>
      </p:sp>
      <p:sp>
        <p:nvSpPr>
          <p:cNvPr id="2526" name="PlaceHolder 3"/>
          <p:cNvSpPr>
            <a:spLocks noGrp="1"/>
          </p:cNvSpPr>
          <p:nvPr>
            <p:ph type="sldNum" idx="21"/>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ED425340-CF5F-455B-836F-6BDA17AC0FDC}" type="slidenum">
              <a:rPr lang="en-US" sz="1800" b="0" strike="noStrike" spc="-1">
                <a:solidFill>
                  <a:schemeClr val="dk1"/>
                </a:solidFill>
                <a:latin typeface="+mn-lt"/>
                <a:ea typeface="+mn-ea"/>
              </a:rPr>
              <a:t>18</a:t>
            </a:fld>
            <a:endParaRPr lang="en-US" sz="1800" b="0" strike="noStrike" spc="-1">
              <a:solidFill>
                <a:srgbClr val="000000"/>
              </a:solidFill>
              <a:latin typeface="Times New Roma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7" name="PlaceHolder 1"/>
          <p:cNvSpPr>
            <a:spLocks noGrp="1" noRot="1" noChangeAspect="1"/>
          </p:cNvSpPr>
          <p:nvPr>
            <p:ph type="sldImg"/>
          </p:nvPr>
        </p:nvSpPr>
        <p:spPr>
          <a:xfrm>
            <a:off x="0" y="0"/>
            <a:ext cx="0" cy="0"/>
          </a:xfrm>
          <a:prstGeom prst="rect">
            <a:avLst/>
          </a:prstGeom>
          <a:ln w="0">
            <a:noFill/>
          </a:ln>
        </p:spPr>
      </p:sp>
      <p:sp>
        <p:nvSpPr>
          <p:cNvPr id="2528"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This is the section opener for Lab 2: Profiles — the most content-dense lab in the entire course. It maps six Beta objectives across two exams (F5CTSLTM2-B and F5CTSLTM3-B), including two at the highest cognitive level (A/E). The slide establishes the scope, pacing, and objective coverage for everything that follows.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FULL TECHNICAL EXPLANATION</a:t>
            </a:r>
          </a:p>
          <a:p>
            <a:pPr marL="216000" indent="-216000">
              <a:buNone/>
            </a:pPr>
            <a:r>
              <a:rPr lang="en-US" sz="2000" b="0" strike="noStrike" spc="-1">
                <a:solidFill>
                  <a:srgbClr val="000000"/>
                </a:solidFill>
                <a:latin typeface="Arial"/>
              </a:rPr>
              <a:t>Lab 2 is where students transition from infrastructure (Lab 1: VLANs, self IPs, pools, virtual servers) to application intelligence (profiles that define HOW the BIG-IP processes traffic). Profiles are the primary mechanism for adding features to the BIG-IP's traffic processing pipeline. Without profiles, the BIG-IP is just a packet forwarder. With profiles, it becomes an application delivery controller.</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The lab covers four activities:</a:t>
            </a:r>
          </a:p>
          <a:p>
            <a:pPr marL="216000" indent="-216000">
              <a:buNone/>
            </a:pPr>
            <a:r>
              <a:rPr lang="en-US" sz="2000" b="0" strike="noStrike" spc="-1">
                <a:solidFill>
                  <a:srgbClr val="000000"/>
                </a:solidFill>
                <a:latin typeface="Arial"/>
              </a:rPr>
              <a:t>1. Working with Profiles — Build secure_vs, discover profile dependencies through deliberate failures</a:t>
            </a:r>
          </a:p>
          <a:p>
            <a:pPr marL="216000" indent="-216000">
              <a:buNone/>
            </a:pPr>
            <a:r>
              <a:rPr lang="en-US" sz="2000" b="0" strike="noStrike" spc="-1">
                <a:solidFill>
                  <a:srgbClr val="000000"/>
                </a:solidFill>
                <a:latin typeface="Arial"/>
              </a:rPr>
              <a:t>2. Application Acceleration — TCP Express, RamCache, HTTP Compression</a:t>
            </a:r>
          </a:p>
          <a:p>
            <a:pPr marL="216000" indent="-216000">
              <a:buNone/>
            </a:pPr>
            <a:r>
              <a:rPr lang="en-US" sz="2000" b="0" strike="noStrike" spc="-1">
                <a:solidFill>
                  <a:srgbClr val="000000"/>
                </a:solidFill>
                <a:latin typeface="Arial"/>
              </a:rPr>
              <a:t>3. Securing Web Applications — Custom HTTP profile with fallback host, error cloaking, cookie encryption</a:t>
            </a:r>
          </a:p>
          <a:p>
            <a:pPr marL="216000" indent="-216000">
              <a:buNone/>
            </a:pPr>
            <a:r>
              <a:rPr lang="en-US" sz="2000" b="0" strike="noStrike" spc="-1">
                <a:solidFill>
                  <a:srgbClr val="000000"/>
                </a:solidFill>
                <a:latin typeface="Arial"/>
              </a:rPr>
              <a:t>4. Using iRules — HTTP-to-HTTPS redirect, profile dependency lesson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BETA BLUEPRINT MAPPING</a:t>
            </a:r>
          </a:p>
          <a:p>
            <a:pPr marL="216000" indent="-216000">
              <a:buNone/>
            </a:pPr>
            <a:r>
              <a:rPr lang="en-US" sz="2000" b="0" strike="noStrike" spc="-1">
                <a:solidFill>
                  <a:srgbClr val="000000"/>
                </a:solidFill>
                <a:latin typeface="Arial"/>
              </a:rPr>
              <a:t>- F5CTSLTM2.01 (U/A): "Determine which configuration objects are necessary to deploy an application." Students build a secure VS and discover which profiles are required vs optional.</a:t>
            </a:r>
          </a:p>
          <a:p>
            <a:pPr marL="216000" indent="-216000">
              <a:buNone/>
            </a:pPr>
            <a:r>
              <a:rPr lang="en-US" sz="2000" b="0" strike="noStrike" spc="-1">
                <a:solidFill>
                  <a:srgbClr val="000000"/>
                </a:solidFill>
                <a:latin typeface="Arial"/>
              </a:rPr>
              <a:t>- F5CTSLTM2.02 (U/A): "Choose correct profiles and settings to fit application requirements." Covers TCP, HTTP, SSL, compression, caching, persistence, OneConnect.</a:t>
            </a:r>
          </a:p>
          <a:p>
            <a:pPr marL="216000" indent="-216000">
              <a:buNone/>
            </a:pPr>
            <a:r>
              <a:rPr lang="en-US" sz="2000" b="0" strike="noStrike" spc="-1">
                <a:solidFill>
                  <a:srgbClr val="000000"/>
                </a:solidFill>
                <a:latin typeface="Arial"/>
              </a:rPr>
              <a:t>- F5CTSLTM2.04 (U/A): "Determine how to architect and deploy multi-tier applications using LTM." The three-tier slide covers SNAT/persistence/SSL placement per tier.</a:t>
            </a:r>
          </a:p>
          <a:p>
            <a:pPr marL="216000" indent="-216000">
              <a:buNone/>
            </a:pPr>
            <a:r>
              <a:rPr lang="en-US" sz="2000" b="0" strike="noStrike" spc="-1">
                <a:solidFill>
                  <a:srgbClr val="000000"/>
                </a:solidFill>
                <a:latin typeface="Arial"/>
              </a:rPr>
              <a:t>- F5CTSLTM2.10 (A/E): "Given a scenario, determine the appropriate profile setting modifications." Compression vs caching scenario.</a:t>
            </a:r>
          </a:p>
          <a:p>
            <a:pPr marL="216000" indent="-216000">
              <a:buNone/>
            </a:pPr>
            <a:r>
              <a:rPr lang="en-US" sz="2000" b="0" strike="noStrike" spc="-1">
                <a:solidFill>
                  <a:srgbClr val="000000"/>
                </a:solidFill>
                <a:latin typeface="Arial"/>
              </a:rPr>
              <a:t>- F5CTSLTM3.01 (U/A): "Given iRule functionality, determine profiles and configuration options." iRule HTTP profile dependency.</a:t>
            </a:r>
          </a:p>
          <a:p>
            <a:pPr marL="216000" indent="-216000">
              <a:buNone/>
            </a:pPr>
            <a:r>
              <a:rPr lang="en-US" sz="2000" b="0" strike="noStrike" spc="-1">
                <a:solidFill>
                  <a:srgbClr val="000000"/>
                </a:solidFill>
                <a:latin typeface="Arial"/>
              </a:rPr>
              <a:t>- F5CTSLTM3.05 (A/E): "Given traffic and configuration containing a simple iRule, determine the result." Predict redirect behavior.</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COMMON STUDENT MISTAKES</a:t>
            </a:r>
          </a:p>
          <a:p>
            <a:pPr marL="216000" indent="-216000">
              <a:buNone/>
            </a:pPr>
            <a:r>
              <a:rPr lang="en-US" sz="2000" b="0" strike="noStrike" spc="-1">
                <a:solidFill>
                  <a:srgbClr val="000000"/>
                </a:solidFill>
                <a:latin typeface="Arial"/>
              </a:rPr>
              <a:t>- Trying to rush through the concept slides to get to the lab. The concept slides establish the profile dependency model that makes the lab exercises make sense.</a:t>
            </a:r>
          </a:p>
          <a:p>
            <a:pPr marL="216000" indent="-216000">
              <a:buNone/>
            </a:pPr>
            <a:r>
              <a:rPr lang="en-US" sz="2000" b="0" strike="noStrike" spc="-1">
                <a:solidFill>
                  <a:srgbClr val="000000"/>
                </a:solidFill>
                <a:latin typeface="Arial"/>
              </a:rPr>
              <a:t>- Not understanding that profiles are hierarchical — protocol profiles are the foundation, service profiles build on them.</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F5 DOCUMENTATION</a:t>
            </a:r>
          </a:p>
          <a:p>
            <a:pPr marL="216000" indent="-216000">
              <a:buNone/>
            </a:pPr>
            <a:r>
              <a:rPr lang="en-US" sz="2000" b="0" strike="noStrike" spc="-1">
                <a:solidFill>
                  <a:srgbClr val="000000"/>
                </a:solidFill>
                <a:latin typeface="Arial"/>
              </a:rPr>
              <a:t>- Profile overview: https://my.f5.com/manage/s/article/K23843660</a:t>
            </a:r>
          </a:p>
          <a:p>
            <a:pPr marL="216000" indent="-216000">
              <a:buNone/>
            </a:pPr>
            <a:r>
              <a:rPr lang="en-US" sz="2000" b="0" strike="noStrike" spc="-1">
                <a:solidFill>
                  <a:srgbClr val="000000"/>
                </a:solidFill>
                <a:latin typeface="Arial"/>
              </a:rPr>
              <a:t>- BIG-IP LTM Profiles Reference: https://techdocs.f5.com/en-us/bigip-14-1-0/big-ip-local-traffic-manager-profiles-reference.html</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EXAM QUESTION PATTERNS</a:t>
            </a:r>
          </a:p>
          <a:p>
            <a:pPr marL="216000" indent="0">
              <a:lnSpc>
                <a:spcPct val="100000"/>
              </a:lnSpc>
              <a:buNone/>
            </a:pPr>
            <a:r>
              <a:rPr lang="en-US" sz="2000" b="0" strike="noStrike" spc="-1">
                <a:solidFill>
                  <a:srgbClr val="000000"/>
                </a:solidFill>
                <a:latin typeface="Arial"/>
              </a:rPr>
              <a:t>The exam will show a scenario (application requirements) and ask which profiles are needed. It will also show an iRule and ask which profiles must be present for it to work. Understanding the dependency chain is the key to answering both types.</a:t>
            </a:r>
          </a:p>
        </p:txBody>
      </p:sp>
      <p:sp>
        <p:nvSpPr>
          <p:cNvPr id="2529" name="PlaceHolder 3"/>
          <p:cNvSpPr>
            <a:spLocks noGrp="1"/>
          </p:cNvSpPr>
          <p:nvPr>
            <p:ph type="sldNum" idx="22"/>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8FB6CA37-1DCD-44FE-B9D8-D3A7D0FBCC8B}" type="slidenum">
              <a:rPr lang="en-US" sz="1800" b="0" strike="noStrike" spc="-1">
                <a:solidFill>
                  <a:schemeClr val="dk1"/>
                </a:solidFill>
                <a:latin typeface="+mn-lt"/>
                <a:ea typeface="+mn-ea"/>
              </a:rPr>
              <a:t>19</a:t>
            </a:fld>
            <a:endParaRPr lang="en-US" sz="1800" b="0" strike="noStrike" spc="-1">
              <a:solidFill>
                <a:srgbClr val="000000"/>
              </a:solidFill>
              <a:latin typeface="Times New Roman"/>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0" name="PlaceHolder 1"/>
          <p:cNvSpPr>
            <a:spLocks noGrp="1" noRot="1" noChangeAspect="1"/>
          </p:cNvSpPr>
          <p:nvPr>
            <p:ph type="sldImg"/>
          </p:nvPr>
        </p:nvSpPr>
        <p:spPr>
          <a:xfrm>
            <a:off x="0" y="0"/>
            <a:ext cx="0" cy="0"/>
          </a:xfrm>
          <a:prstGeom prst="rect">
            <a:avLst/>
          </a:prstGeom>
          <a:ln w="0">
            <a:noFill/>
          </a:ln>
        </p:spPr>
      </p:sp>
      <p:sp>
        <p:nvSpPr>
          <p:cNvPr id="2531"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This slide is the roadmap for all profile work in the BIG-IP. It introduces two foundational concepts: (1) profiles are organized into five categories that map to different layers of the network stack, and (2) profiles use a parent/child inheritance model where custom profiles inherit settings from default parents.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FULL TECHNICAL EXPLANATION</a:t>
            </a:r>
          </a:p>
          <a:p>
            <a:pPr marL="216000" indent="-216000">
              <a:buNone/>
            </a:pPr>
            <a:r>
              <a:rPr lang="en-US" sz="2000" b="0" strike="noStrike" spc="-1">
                <a:solidFill>
                  <a:srgbClr val="000000"/>
                </a:solidFill>
                <a:latin typeface="Arial"/>
              </a:rPr>
              <a:t>BIG-IP profiles are configuration templates that define how the system processes traffic for a specific function. Every virtual server needs at minimum ONE protocol profile (TCP, UDP, or FastL4). Additional profiles layer on more intelligence.</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THE FIVE PROFILE CATEGORIES:</a:t>
            </a:r>
          </a:p>
          <a:p>
            <a:pPr marL="216000" indent="-216000">
              <a:buNone/>
            </a:pPr>
            <a:r>
              <a:rPr lang="en-US" sz="2000" b="0" strike="noStrike" spc="-1">
                <a:solidFill>
                  <a:srgbClr val="000000"/>
                </a:solidFill>
                <a:latin typeface="Arial"/>
              </a:rPr>
              <a:t>1. PROTOCOL (Layer 4): TCP, UDP, FastL4, SCTP. Controls transport-layer behavior. Every VS must have exactly one. TCP enables full proxy mode (two independent connections). FastL4 is pass-through (one connection, no L7).</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2. SERVICE (Layer 7): HTTP, FTP, DNS, HTTP/2, SMTP, SIP. Adds application-layer intelligence. Each requires a TCP protocol profile underneath because the BIG-IP must terminate the TCP connection to inspect the application payload. The HTTP profile is the most important — it's required by virtually every other L7 feature.</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3. PERSISTENCE: Cookie Insert, Source Address, SSL Session ID, Universal, Destination Address, Hash. Ensures clients return to the same pool member for session duration. Different types have different profile dependencies (cookie requires HTTP; source address works with any protocol).</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4. SSL: Client-SSL (terminates client encryption, BIG-IP acts as SSL server) and Server-SSL (re-encrypts to backend, BIG-IP acts as SSL client). Three modes: pass-through (no SSL profiles), offload (Client-SSL only), re-encryption (both).</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5. OTHER: OneConnect (server-side connection reuse), Stream (content replacement), Statistics, Request Logging, Rewrite, HTML. Advanced features for specific use cases.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INHERITANCE MODEL — PARENT/CHILD:</a:t>
            </a:r>
          </a:p>
          <a:p>
            <a:pPr marL="216000" indent="-216000">
              <a:buNone/>
            </a:pPr>
            <a:r>
              <a:rPr lang="en-US" sz="2000" b="0" strike="noStrike" spc="-1">
                <a:solidFill>
                  <a:srgbClr val="000000"/>
                </a:solidFill>
                <a:latin typeface="Arial"/>
              </a:rPr>
              <a:t>Every profile has a parent. Default profiles (provided by F5) are the root parents. When you create a custom profile, you select a parent and then override only the settings you need to change. Everything else inherits from the parent automatically.</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Why this matters:</a:t>
            </a:r>
          </a:p>
          <a:p>
            <a:pPr marL="216000" indent="-216000">
              <a:buNone/>
            </a:pPr>
            <a:r>
              <a:rPr lang="en-US" sz="2000" b="0" strike="noStrike" spc="-1">
                <a:solidFill>
                  <a:srgbClr val="000000"/>
                </a:solidFill>
                <a:latin typeface="Arial"/>
              </a:rPr>
              <a:t>- Software upgrades may change default profile values. Your custom overrides are preserved, and you automatically get the new defaults for settings you didn't override.</a:t>
            </a:r>
          </a:p>
          <a:p>
            <a:pPr marL="216000" indent="-216000">
              <a:buNone/>
            </a:pPr>
            <a:r>
              <a:rPr lang="en-US" sz="2000" b="0" strike="noStrike" spc="-1">
                <a:solidFill>
                  <a:srgbClr val="000000"/>
                </a:solidFill>
                <a:latin typeface="Arial"/>
              </a:rPr>
              <a:t>- If you modify the DEFAULT profile directly, your changes are lost on upgrade because the upgrade replaces default profiles.</a:t>
            </a:r>
          </a:p>
          <a:p>
            <a:pPr marL="216000" indent="-216000">
              <a:buNone/>
            </a:pPr>
            <a:r>
              <a:rPr lang="en-US" sz="2000" b="0" strike="noStrike" spc="-1">
                <a:solidFill>
                  <a:srgbClr val="000000"/>
                </a:solidFill>
                <a:latin typeface="Arial"/>
              </a:rPr>
              <a:t>- A custom profile can inherit from another custom profile (grandchild pattern). Useful for managing variations: base-http → secure-http → api-http.</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TMSH example:</a:t>
            </a:r>
          </a:p>
          <a:p>
            <a:pPr marL="216000" indent="-216000">
              <a:buNone/>
            </a:pPr>
            <a:r>
              <a:rPr lang="en-US" sz="2000" b="0" strike="noStrike" spc="-1">
                <a:solidFill>
                  <a:srgbClr val="000000"/>
                </a:solidFill>
                <a:latin typeface="Arial"/>
              </a:rPr>
              <a:t>  create ltm profile tcp my-wan-tcp defaults-from tcp-wan-optimized { idle-timeout 600 }</a:t>
            </a:r>
          </a:p>
          <a:p>
            <a:pPr marL="216000" indent="-216000">
              <a:buNone/>
            </a:pPr>
            <a:r>
              <a:rPr lang="en-US" sz="2000" b="0" strike="noStrike" spc="-1">
                <a:solidFill>
                  <a:srgbClr val="000000"/>
                </a:solidFill>
                <a:latin typeface="Arial"/>
              </a:rPr>
              <a:t>This creates a custom TCP profile that inherits everything from tcp-wan-optimized but overrides idle-timeout to 600 seconds.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THE HTTP PROFILE AS UNIVERSAL DEPENDENCY:</a:t>
            </a:r>
          </a:p>
          <a:p>
            <a:pPr marL="216000" indent="-216000">
              <a:buNone/>
            </a:pPr>
            <a:r>
              <a:rPr lang="en-US" sz="2000" b="0" strike="noStrike" spc="-1">
                <a:solidFill>
                  <a:srgbClr val="000000"/>
                </a:solidFill>
                <a:latin typeface="Arial"/>
              </a:rPr>
              <a:t>The HTTP profile is required for: cookie persistence, HTTP compression, Web Acceleration (RamCache), OneConnect, iRules using HTTP:: commands, X-Forwarded-For insertion, response header scrubbing, HTTP-to-HTTPS redirect. Without it, the BIG-IP treats traffic as an opaque TCP byte stream.</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COMMON STUDENT MISTAKES</a:t>
            </a:r>
          </a:p>
          <a:p>
            <a:pPr marL="216000" indent="-216000">
              <a:buNone/>
            </a:pPr>
            <a:r>
              <a:rPr lang="en-US" sz="2000" b="0" strike="noStrike" spc="-1">
                <a:solidFill>
                  <a:srgbClr val="000000"/>
                </a:solidFill>
                <a:latin typeface="Arial"/>
              </a:rPr>
              <a:t>- Modifying the default TCP or HTTP profile instead of creating a custom child. This works in the lab but causes problems in production when software is upgraded.</a:t>
            </a:r>
          </a:p>
          <a:p>
            <a:pPr marL="216000" indent="-216000">
              <a:buNone/>
            </a:pPr>
            <a:r>
              <a:rPr lang="en-US" sz="2000" b="0" strike="noStrike" spc="-1">
                <a:solidFill>
                  <a:srgbClr val="000000"/>
                </a:solidFill>
                <a:latin typeface="Arial"/>
              </a:rPr>
              <a:t>- Assuming all profiles are optional. The protocol profile is REQUIRED — a VS without one won't process traffic.</a:t>
            </a:r>
          </a:p>
          <a:p>
            <a:pPr marL="216000" indent="-216000">
              <a:buNone/>
            </a:pPr>
            <a:r>
              <a:rPr lang="en-US" sz="2000" b="0" strike="noStrike" spc="-1">
                <a:solidFill>
                  <a:srgbClr val="000000"/>
                </a:solidFill>
                <a:latin typeface="Arial"/>
              </a:rPr>
              <a:t>- Not understanding that adding an HTTP profile to an existing VS requires a TCP profile first. FastL4 and HTTP are mutually exclusive — you can't add HTTP to a Performance (Layer 4) VS.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PIVOT QUESTION</a:t>
            </a:r>
          </a:p>
          <a:p>
            <a:pPr marL="216000" indent="-216000">
              <a:buNone/>
            </a:pPr>
            <a:r>
              <a:rPr lang="en-US" sz="2000" b="0" strike="noStrike" spc="-1">
                <a:solidFill>
                  <a:srgbClr val="000000"/>
                </a:solidFill>
                <a:latin typeface="Arial"/>
              </a:rPr>
              <a:t>"You create a custom HTTP profile that inherits from the default 'http' parent. You change the XFF setting to Enabled. Later, F5 releases a software update that changes a default HTTP setting for security. What happens to your custom profile?"</a:t>
            </a:r>
          </a:p>
          <a:p>
            <a:pPr marL="216000" indent="-216000">
              <a:buNone/>
            </a:pPr>
            <a:r>
              <a:rPr lang="en-US" sz="2000" b="0" strike="noStrike" spc="-1">
                <a:solidFill>
                  <a:srgbClr val="000000"/>
                </a:solidFill>
                <a:latin typeface="Arial"/>
              </a:rPr>
              <a:t>ANSWER: Your custom profile keeps XFF Enabled (your override is preserved) AND automatically gets the new security setting (because it inherits from the updated default parent for everything you didn't override). This is why inheritance is powerful — you get the benefits of F5's updates without losing your customizations.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F5 DOCUMENTATION</a:t>
            </a:r>
          </a:p>
          <a:p>
            <a:pPr marL="216000" indent="-216000">
              <a:buNone/>
            </a:pPr>
            <a:r>
              <a:rPr lang="en-US" sz="2000" b="0" strike="noStrike" spc="-1">
                <a:solidFill>
                  <a:srgbClr val="000000"/>
                </a:solidFill>
                <a:latin typeface="Arial"/>
              </a:rPr>
              <a:t>- Profile overview: https://my.f5.com/manage/s/article/K23843660</a:t>
            </a:r>
          </a:p>
          <a:p>
            <a:pPr marL="216000" indent="-216000">
              <a:buNone/>
            </a:pPr>
            <a:r>
              <a:rPr lang="en-US" sz="2000" b="0" strike="noStrike" spc="-1">
                <a:solidFill>
                  <a:srgbClr val="000000"/>
                </a:solidFill>
                <a:latin typeface="Arial"/>
              </a:rPr>
              <a:t>- Profile management best practices: https://techdocs.f5.com/en-us/bigip-14-1-0/big-ip-local-traffic-manager-profiles-reference.html</a:t>
            </a:r>
          </a:p>
          <a:p>
            <a:pPr marL="216000" indent="-216000">
              <a:buNone/>
            </a:pPr>
            <a:r>
              <a:rPr lang="en-US" sz="2000" b="0" strike="noStrike" spc="-1">
                <a:solidFill>
                  <a:srgbClr val="000000"/>
                </a:solidFill>
                <a:latin typeface="Arial"/>
              </a:rPr>
              <a:t>- Custom profile creation: https://my.f5.com/manage/s/article/K13637</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EXAM QUESTION PATTERNS</a:t>
            </a:r>
          </a:p>
          <a:p>
            <a:pPr marL="216000" indent="-216000">
              <a:buNone/>
            </a:pPr>
            <a:r>
              <a:rPr lang="en-US" sz="2000" b="0" strike="noStrike" spc="-1">
                <a:solidFill>
                  <a:srgbClr val="000000"/>
                </a:solidFill>
                <a:latin typeface="Arial"/>
              </a:rPr>
              <a:t>- "Which profile type is required on every virtual server?" → Protocol (TCP, UDP, or FastL4)</a:t>
            </a:r>
          </a:p>
          <a:p>
            <a:pPr marL="216000" indent="-216000">
              <a:buNone/>
            </a:pPr>
            <a:r>
              <a:rPr lang="en-US" sz="2000" b="0" strike="noStrike" spc="-1">
                <a:solidFill>
                  <a:srgbClr val="000000"/>
                </a:solidFill>
                <a:latin typeface="Arial"/>
              </a:rPr>
              <a:t>- "What happens to custom profile settings during a software upgrade?" → Custom overrides are preserved; inherited defaults update automatically</a:t>
            </a:r>
          </a:p>
          <a:p>
            <a:pPr marL="216000" indent="0">
              <a:lnSpc>
                <a:spcPct val="100000"/>
              </a:lnSpc>
              <a:buNone/>
            </a:pPr>
            <a:r>
              <a:rPr lang="en-US" sz="2000" b="0" strike="noStrike" spc="-1">
                <a:solidFill>
                  <a:srgbClr val="000000"/>
                </a:solidFill>
                <a:latin typeface="Arial"/>
              </a:rPr>
              <a:t>- "A VS has a TCP profile. Which additional profile is needed before you can add cookie persistence?" → HTTP profile</a:t>
            </a:r>
          </a:p>
        </p:txBody>
      </p:sp>
      <p:sp>
        <p:nvSpPr>
          <p:cNvPr id="2532" name="PlaceHolder 3"/>
          <p:cNvSpPr>
            <a:spLocks noGrp="1"/>
          </p:cNvSpPr>
          <p:nvPr>
            <p:ph type="sldNum" idx="23"/>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8359AEC2-03C1-46DA-B9F6-31AB0073CC8C}" type="slidenum">
              <a:rPr lang="en-US" sz="1800" b="0" strike="noStrike" spc="-1">
                <a:solidFill>
                  <a:schemeClr val="dk1"/>
                </a:solidFill>
                <a:latin typeface="+mn-lt"/>
                <a:ea typeface="+mn-ea"/>
              </a:rPr>
              <a:t>20</a:t>
            </a:fld>
            <a:endParaRPr lang="en-US" sz="1800" b="0" strike="noStrike" spc="-1">
              <a:solidFill>
                <a:srgbClr val="000000"/>
              </a:solidFill>
              <a:latin typeface="Times New Roman"/>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3" name="PlaceHolder 1"/>
          <p:cNvSpPr>
            <a:spLocks noGrp="1" noRot="1" noChangeAspect="1"/>
          </p:cNvSpPr>
          <p:nvPr>
            <p:ph type="sldImg"/>
          </p:nvPr>
        </p:nvSpPr>
        <p:spPr>
          <a:xfrm>
            <a:off x="0" y="0"/>
            <a:ext cx="0" cy="0"/>
          </a:xfrm>
          <a:prstGeom prst="rect">
            <a:avLst/>
          </a:prstGeom>
          <a:ln w="0">
            <a:noFill/>
          </a:ln>
        </p:spPr>
      </p:sp>
      <p:sp>
        <p:nvSpPr>
          <p:cNvPr id="2534"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This slide covers the foundational comparison required by Beta objective F5CTSLTM2.02: "Compare and contrast different communication protocols (TCP, UDP, FastL4)." Students must understand what each protocol profile enables, the trade-offs between features and performance, and how TCP Express optimizes each side of the connection independently.</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FULL TECHNICAL EXPLANATION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TCP PROFILE — FULL PROXY ARCHITECTURE</a:t>
            </a:r>
          </a:p>
          <a:p>
            <a:pPr marL="216000" indent="-216000">
              <a:buNone/>
            </a:pPr>
            <a:r>
              <a:rPr lang="en-US" sz="2000" b="0" strike="noStrike" spc="-1">
                <a:solidFill>
                  <a:srgbClr val="000000"/>
                </a:solidFill>
                <a:latin typeface="Arial"/>
              </a:rPr>
              <a:t>When a TCP profile is applied to a Standard virtual server, the BIG-IP operates as a FULL PROXY:</a:t>
            </a:r>
          </a:p>
          <a:p>
            <a:pPr marL="216000" indent="-216000">
              <a:buNone/>
            </a:pPr>
            <a:r>
              <a:rPr lang="en-US" sz="2000" b="0" strike="noStrike" spc="-1">
                <a:solidFill>
                  <a:srgbClr val="000000"/>
                </a:solidFill>
                <a:latin typeface="Arial"/>
              </a:rPr>
              <a:t>1. Client sends SYN to VIP → BIG-IP completes the three-way handshake with the client (client-side connection)</a:t>
            </a:r>
          </a:p>
          <a:p>
            <a:pPr marL="216000" indent="-216000">
              <a:buNone/>
            </a:pPr>
            <a:r>
              <a:rPr lang="en-US" sz="2000" b="0" strike="noStrike" spc="-1">
                <a:solidFill>
                  <a:srgbClr val="000000"/>
                </a:solidFill>
                <a:latin typeface="Arial"/>
              </a:rPr>
              <a:t>2. BIG-IP receives the first data packet from the client</a:t>
            </a:r>
          </a:p>
          <a:p>
            <a:pPr marL="216000" indent="-216000">
              <a:buNone/>
            </a:pPr>
            <a:r>
              <a:rPr lang="en-US" sz="2000" b="0" strike="noStrike" spc="-1">
                <a:solidFill>
                  <a:srgbClr val="000000"/>
                </a:solidFill>
                <a:latin typeface="Arial"/>
              </a:rPr>
              <a:t>3. If Layer 7 profiles are present (HTTP), BIG-IP waits for enough data to make a load balancing decision</a:t>
            </a:r>
          </a:p>
          <a:p>
            <a:pPr marL="216000" indent="-216000">
              <a:buNone/>
            </a:pPr>
            <a:r>
              <a:rPr lang="en-US" sz="2000" b="0" strike="noStrike" spc="-1">
                <a:solidFill>
                  <a:srgbClr val="000000"/>
                </a:solidFill>
                <a:latin typeface="Arial"/>
              </a:rPr>
              <a:t>4. BIG-IP initiates a NEW, INDEPENDENT three-way handshake with the selected pool member (server-side connection)</a:t>
            </a:r>
          </a:p>
          <a:p>
            <a:pPr marL="216000" indent="-216000">
              <a:buNone/>
            </a:pPr>
            <a:r>
              <a:rPr lang="en-US" sz="2000" b="0" strike="noStrike" spc="-1">
                <a:solidFill>
                  <a:srgbClr val="000000"/>
                </a:solidFill>
                <a:latin typeface="Arial"/>
              </a:rPr>
              <a:t>5. These are two completely separate TCP sessions with different sequence numbers, window sizes, and potentially different TCP options</a:t>
            </a:r>
          </a:p>
          <a:p>
            <a:pPr marL="216000" indent="-216000">
              <a:buNone/>
            </a:pPr>
            <a:r>
              <a:rPr lang="en-US" sz="2000" b="0" strike="noStrike" spc="-1">
                <a:solidFill>
                  <a:srgbClr val="000000"/>
                </a:solidFill>
                <a:latin typeface="Arial"/>
              </a:rPr>
              <a:t>6. The BIG-IP can optimize each side independently — this is the foundation of TCP Express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This full proxy architecture is what enables ALL Layer 7 features. The BIG-IP has a complete, ordered byte stream on each side, which it can inspect, modify, compress, cache, and rewrite.</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FASTL4 PROFILE — PACKET-BY-PACKET</a:t>
            </a:r>
          </a:p>
          <a:p>
            <a:pPr marL="216000" indent="-216000">
              <a:buNone/>
            </a:pPr>
            <a:r>
              <a:rPr lang="en-US" sz="2000" b="0" strike="noStrike" spc="-1">
                <a:solidFill>
                  <a:srgbClr val="000000"/>
                </a:solidFill>
                <a:latin typeface="Arial"/>
              </a:rPr>
              <a:t>FastL4 does NOT terminate the TCP connection:</a:t>
            </a:r>
          </a:p>
          <a:p>
            <a:pPr marL="216000" indent="-216000">
              <a:buNone/>
            </a:pPr>
            <a:r>
              <a:rPr lang="en-US" sz="2000" b="0" strike="noStrike" spc="-1">
                <a:solidFill>
                  <a:srgbClr val="000000"/>
                </a:solidFill>
                <a:latin typeface="Arial"/>
              </a:rPr>
              <a:t>1. Client sends SYN → BIG-IP forwards it to the selected pool member (with destination NAT)</a:t>
            </a:r>
          </a:p>
          <a:p>
            <a:pPr marL="216000" indent="-216000">
              <a:buNone/>
            </a:pPr>
            <a:r>
              <a:rPr lang="en-US" sz="2000" b="0" strike="noStrike" spc="-1">
                <a:solidFill>
                  <a:srgbClr val="000000"/>
                </a:solidFill>
                <a:latin typeface="Arial"/>
              </a:rPr>
              <a:t>2. Server responds with SYN-ACK → BIG-IP forwards it back to the client</a:t>
            </a:r>
          </a:p>
          <a:p>
            <a:pPr marL="216000" indent="-216000">
              <a:buNone/>
            </a:pPr>
            <a:r>
              <a:rPr lang="en-US" sz="2000" b="0" strike="noStrike" spc="-1">
                <a:solidFill>
                  <a:srgbClr val="000000"/>
                </a:solidFill>
                <a:latin typeface="Arial"/>
              </a:rPr>
              <a:t>3. All subsequent packets pass through with minimal processing</a:t>
            </a:r>
          </a:p>
          <a:p>
            <a:pPr marL="216000" indent="-216000">
              <a:buNone/>
            </a:pPr>
            <a:r>
              <a:rPr lang="en-US" sz="2000" b="0" strike="noStrike" spc="-1">
                <a:solidFill>
                  <a:srgbClr val="000000"/>
                </a:solidFill>
                <a:latin typeface="Arial"/>
              </a:rPr>
              <a:t>4. The BIG-IP maintains basic connection state (to handle SNAT and destination NAT) but does NOT reconstruct the byte stream</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Because FastL4 doesn't reconstruct the byte stream, it CANNOT:</a:t>
            </a:r>
          </a:p>
          <a:p>
            <a:pPr marL="216000" indent="-216000">
              <a:buNone/>
            </a:pPr>
            <a:r>
              <a:rPr lang="en-US" sz="2000" b="0" strike="noStrike" spc="-1">
                <a:solidFill>
                  <a:srgbClr val="000000"/>
                </a:solidFill>
                <a:latin typeface="Arial"/>
              </a:rPr>
              <a:t>- Parse HTTP headers (no HTTP profile)</a:t>
            </a:r>
          </a:p>
          <a:p>
            <a:pPr marL="216000" indent="-216000">
              <a:buNone/>
            </a:pPr>
            <a:r>
              <a:rPr lang="en-US" sz="2000" b="0" strike="noStrike" spc="-1">
                <a:solidFill>
                  <a:srgbClr val="000000"/>
                </a:solidFill>
                <a:latin typeface="Arial"/>
              </a:rPr>
              <a:t>- Terminate SSL (no Client-SSL/Server-SSL profiles)</a:t>
            </a:r>
          </a:p>
          <a:p>
            <a:pPr marL="216000" indent="-216000">
              <a:buNone/>
            </a:pPr>
            <a:r>
              <a:rPr lang="en-US" sz="2000" b="0" strike="noStrike" spc="-1">
                <a:solidFill>
                  <a:srgbClr val="000000"/>
                </a:solidFill>
                <a:latin typeface="Arial"/>
              </a:rPr>
              <a:t>- Apply compression or caching</a:t>
            </a:r>
          </a:p>
          <a:p>
            <a:pPr marL="216000" indent="-216000">
              <a:buNone/>
            </a:pPr>
            <a:r>
              <a:rPr lang="en-US" sz="2000" b="0" strike="noStrike" spc="-1">
                <a:solidFill>
                  <a:srgbClr val="000000"/>
                </a:solidFill>
                <a:latin typeface="Arial"/>
              </a:rPr>
              <a:t>- Use cookie persistence</a:t>
            </a:r>
          </a:p>
          <a:p>
            <a:pPr marL="216000" indent="-216000">
              <a:buNone/>
            </a:pPr>
            <a:r>
              <a:rPr lang="en-US" sz="2000" b="0" strike="noStrike" spc="-1">
                <a:solidFill>
                  <a:srgbClr val="000000"/>
                </a:solidFill>
                <a:latin typeface="Arial"/>
              </a:rPr>
              <a:t>- Execute iRules that use HTTP:: commands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FastL4 CAN:</a:t>
            </a:r>
          </a:p>
          <a:p>
            <a:pPr marL="216000" indent="-216000">
              <a:buNone/>
            </a:pPr>
            <a:r>
              <a:rPr lang="en-US" sz="2000" b="0" strike="noStrike" spc="-1">
                <a:solidFill>
                  <a:srgbClr val="000000"/>
                </a:solidFill>
                <a:latin typeface="Arial"/>
              </a:rPr>
              <a:t>- Perform source address persistence (based on IP, not application data)</a:t>
            </a:r>
          </a:p>
          <a:p>
            <a:pPr marL="216000" indent="-216000">
              <a:buNone/>
            </a:pPr>
            <a:r>
              <a:rPr lang="en-US" sz="2000" b="0" strike="noStrike" spc="-1">
                <a:solidFill>
                  <a:srgbClr val="000000"/>
                </a:solidFill>
                <a:latin typeface="Arial"/>
              </a:rPr>
              <a:t>- Apply rate limiting</a:t>
            </a:r>
          </a:p>
          <a:p>
            <a:pPr marL="216000" indent="-216000">
              <a:buNone/>
            </a:pPr>
            <a:r>
              <a:rPr lang="en-US" sz="2000" b="0" strike="noStrike" spc="-1">
                <a:solidFill>
                  <a:srgbClr val="000000"/>
                </a:solidFill>
                <a:latin typeface="Arial"/>
              </a:rPr>
              <a:t>- Use PVA (Packet Velocity ASIC) acceleration on hardware BIG-IP platforms for line-rate performance</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TCP EXPRESS — SPLIT PROFILE OPTIMIZATION</a:t>
            </a:r>
          </a:p>
          <a:p>
            <a:pPr marL="216000" indent="-216000">
              <a:buNone/>
            </a:pPr>
            <a:r>
              <a:rPr lang="en-US" sz="2000" b="0" strike="noStrike" spc="-1">
                <a:solidFill>
                  <a:srgbClr val="000000"/>
                </a:solidFill>
                <a:latin typeface="Arial"/>
              </a:rPr>
              <a:t>The key insight: clients connect over WANs (high latency, potential packet loss), while servers are on LANs (low latency, reliable). Optimizing both sides the same way is suboptimal.</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tcp-wan-optimized (client side):</a:t>
            </a:r>
          </a:p>
          <a:p>
            <a:pPr marL="216000" indent="-216000">
              <a:buNone/>
            </a:pPr>
            <a:r>
              <a:rPr lang="en-US" sz="2000" b="0" strike="noStrike" spc="-1">
                <a:solidFill>
                  <a:srgbClr val="000000"/>
                </a:solidFill>
                <a:latin typeface="Arial"/>
              </a:rPr>
              <a:t>- Larger send/receive buffers: 65535 bytes (vs 32768 default)</a:t>
            </a:r>
          </a:p>
          <a:p>
            <a:pPr marL="216000" indent="-216000">
              <a:buNone/>
            </a:pPr>
            <a:r>
              <a:rPr lang="en-US" sz="2000" b="0" strike="noStrike" spc="-1">
                <a:solidFill>
                  <a:srgbClr val="000000"/>
                </a:solidFill>
                <a:latin typeface="Arial"/>
              </a:rPr>
              <a:t>- Delayed ACKs: Enabled (reduces ACK traffic over WAN)</a:t>
            </a:r>
          </a:p>
          <a:p>
            <a:pPr marL="216000" indent="-216000">
              <a:buNone/>
            </a:pPr>
            <a:r>
              <a:rPr lang="en-US" sz="2000" b="0" strike="noStrike" spc="-1">
                <a:solidFill>
                  <a:srgbClr val="000000"/>
                </a:solidFill>
                <a:latin typeface="Arial"/>
              </a:rPr>
              <a:t>- Nagle algorithm: ENABLED — batches small writes into larger segments before sending. Reduces packet count over WAN connections where each packet has overhead (TCP/IP headers, SSL framing).</a:t>
            </a:r>
          </a:p>
          <a:p>
            <a:pPr marL="216000" indent="-216000">
              <a:buNone/>
            </a:pPr>
            <a:r>
              <a:rPr lang="en-US" sz="2000" b="0" strike="noStrike" spc="-1">
                <a:solidFill>
                  <a:srgbClr val="000000"/>
                </a:solidFill>
                <a:latin typeface="Arial"/>
              </a:rPr>
              <a:t>- Idle timeout: 300 seconds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tcp-lan-optimized (server side):</a:t>
            </a:r>
          </a:p>
          <a:p>
            <a:pPr marL="216000" indent="-216000">
              <a:buNone/>
            </a:pPr>
            <a:r>
              <a:rPr lang="en-US" sz="2000" b="0" strike="noStrike" spc="-1">
                <a:solidFill>
                  <a:srgbClr val="000000"/>
                </a:solidFill>
                <a:latin typeface="Arial"/>
              </a:rPr>
              <a:t>- Smaller buffers: appropriate for low-latency connections</a:t>
            </a:r>
          </a:p>
          <a:p>
            <a:pPr marL="216000" indent="-216000">
              <a:buNone/>
            </a:pPr>
            <a:r>
              <a:rPr lang="en-US" sz="2000" b="0" strike="noStrike" spc="-1">
                <a:solidFill>
                  <a:srgbClr val="000000"/>
                </a:solidFill>
                <a:latin typeface="Arial"/>
              </a:rPr>
              <a:t>- Nagle algorithm: DISABLED — sends data immediately. On a LAN, latency is already minimal, so Nagle's buffering only adds unnecessary delay.</a:t>
            </a:r>
          </a:p>
          <a:p>
            <a:pPr marL="216000" indent="-216000">
              <a:buNone/>
            </a:pPr>
            <a:r>
              <a:rPr lang="en-US" sz="2000" b="0" strike="noStrike" spc="-1">
                <a:solidFill>
                  <a:srgbClr val="000000"/>
                </a:solidFill>
                <a:latin typeface="Arial"/>
              </a:rPr>
              <a:t>- Shorter idle timeout</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NAGLE ALGORITHM (EXAM CRITICAL):</a:t>
            </a:r>
          </a:p>
          <a:p>
            <a:pPr marL="216000" indent="-216000">
              <a:buNone/>
            </a:pPr>
            <a:r>
              <a:rPr lang="en-US" sz="2000" b="0" strike="noStrike" spc="-1">
                <a:solidFill>
                  <a:srgbClr val="000000"/>
                </a:solidFill>
                <a:latin typeface="Arial"/>
              </a:rPr>
              <a:t>Nagle buffers small writes (less than MSS) and waits for either: (a) an ACK for previously sent data, or (b) the buffer fills to MSS. This reduces the number of small packets on the wire.</a:t>
            </a:r>
          </a:p>
          <a:p>
            <a:pPr marL="216000" indent="-216000">
              <a:buNone/>
            </a:pPr>
            <a:r>
              <a:rPr lang="en-US" sz="2000" b="0" strike="noStrike" spc="-1">
                <a:solidFill>
                  <a:srgbClr val="000000"/>
                </a:solidFill>
                <a:latin typeface="Arial"/>
              </a:rPr>
              <a:t>- GOOD for WAN: reduces packet count, improves throughput for bulk transfers</a:t>
            </a:r>
          </a:p>
          <a:p>
            <a:pPr marL="216000" indent="-216000">
              <a:buNone/>
            </a:pPr>
            <a:r>
              <a:rPr lang="en-US" sz="2000" b="0" strike="noStrike" spc="-1">
                <a:solidFill>
                  <a:srgbClr val="000000"/>
                </a:solidFill>
                <a:latin typeface="Arial"/>
              </a:rPr>
              <a:t>- BAD for LAN: adds ~200ms latency to small responses (API responses, web page fragments)</a:t>
            </a:r>
          </a:p>
          <a:p>
            <a:pPr marL="216000" indent="-216000">
              <a:buNone/>
            </a:pPr>
            <a:r>
              <a:rPr lang="en-US" sz="2000" b="0" strike="noStrike" spc="-1">
                <a:solidFill>
                  <a:srgbClr val="000000"/>
                </a:solidFill>
                <a:latin typeface="Arial"/>
              </a:rPr>
              <a:t>- Default TCP profile: AUTO (Nagle is conditionally applied)</a:t>
            </a:r>
          </a:p>
          <a:p>
            <a:pPr marL="216000" indent="-216000">
              <a:buNone/>
            </a:pPr>
            <a:r>
              <a:rPr lang="en-US" sz="2000" b="0" strike="noStrike" spc="-1">
                <a:solidFill>
                  <a:srgbClr val="000000"/>
                </a:solidFill>
                <a:latin typeface="Arial"/>
              </a:rPr>
              <a:t>- tcp-wan-optimized: ENABLED (always buffer small writes)</a:t>
            </a:r>
          </a:p>
          <a:p>
            <a:pPr marL="216000" indent="-216000">
              <a:buNone/>
            </a:pPr>
            <a:r>
              <a:rPr lang="en-US" sz="2000" b="0" strike="noStrike" spc="-1">
                <a:solidFill>
                  <a:srgbClr val="000000"/>
                </a:solidFill>
                <a:latin typeface="Arial"/>
              </a:rPr>
              <a:t>- tcp-lan-optimized: DISABLED (never buffer, send immediately)</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OneConnect (BLUEPRINT SUB-BULLET — not in lab):</a:t>
            </a:r>
          </a:p>
          <a:p>
            <a:pPr marL="216000" indent="-216000">
              <a:buNone/>
            </a:pPr>
            <a:r>
              <a:rPr lang="en-US" sz="2000" b="0" strike="noStrike" spc="-1">
                <a:solidFill>
                  <a:srgbClr val="000000"/>
                </a:solidFill>
                <a:latin typeface="Arial"/>
              </a:rPr>
              <a:t>OneConnect pools idle server-side TCP connections for reuse across different clients. Instead of opening a new server connection for every client request, the BIG-IP checks if an idle server connection is available and reuses it.</a:t>
            </a:r>
          </a:p>
          <a:p>
            <a:pPr marL="216000" indent="-216000">
              <a:buNone/>
            </a:pPr>
            <a:r>
              <a:rPr lang="en-US" sz="2000" b="0" strike="noStrike" spc="-1">
                <a:solidFill>
                  <a:srgbClr val="000000"/>
                </a:solidFill>
                <a:latin typeface="Arial"/>
              </a:rPr>
              <a:t>- Requires: TCP + HTTP profiles (must understand HTTP request boundaries)</a:t>
            </a:r>
          </a:p>
          <a:p>
            <a:pPr marL="216000" indent="-216000">
              <a:buNone/>
            </a:pPr>
            <a:r>
              <a:rPr lang="en-US" sz="2000" b="0" strike="noStrike" spc="-1">
                <a:solidFill>
                  <a:srgbClr val="000000"/>
                </a:solidFill>
                <a:latin typeface="Arial"/>
              </a:rPr>
              <a:t>- Source mask: 0.0.0.0 = all clients share all connections (most aggressive). 255.255.255.255 = each client IP gets its own connections.</a:t>
            </a:r>
          </a:p>
          <a:p>
            <a:pPr marL="216000" indent="-216000">
              <a:buNone/>
            </a:pPr>
            <a:r>
              <a:rPr lang="en-US" sz="2000" b="0" strike="noStrike" spc="-1">
                <a:solidFill>
                  <a:srgbClr val="000000"/>
                </a:solidFill>
                <a:latin typeface="Arial"/>
              </a:rPr>
              <a:t>- Dramatically reduces TCP socket load on servers — 50,000 client requests/sec might only need a few hundred server connections.</a:t>
            </a:r>
          </a:p>
          <a:p>
            <a:pPr marL="216000" indent="-216000">
              <a:buNone/>
            </a:pPr>
            <a:r>
              <a:rPr lang="en-US" sz="2000" b="0" strike="noStrike" spc="-1">
                <a:solidFill>
                  <a:srgbClr val="000000"/>
                </a:solidFill>
                <a:latin typeface="Arial"/>
              </a:rPr>
              <a:t>- Not compatible with NTLM authentication without special configuration (K10477).</a:t>
            </a:r>
          </a:p>
          <a:p>
            <a:pPr marL="216000" indent="-216000">
              <a:buNone/>
            </a:pPr>
            <a:r>
              <a:rPr lang="en-US" sz="2000" b="0" strike="noStrike" spc="-1">
                <a:solidFill>
                  <a:srgbClr val="000000"/>
                </a:solidFill>
                <a:latin typeface="Arial"/>
              </a:rPr>
              <a:t>- Reference: https://my.f5.com/manage/s/article/K7208</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COMMON STUDENT MISTAKES</a:t>
            </a:r>
          </a:p>
          <a:p>
            <a:pPr marL="216000" indent="-216000">
              <a:buNone/>
            </a:pPr>
            <a:r>
              <a:rPr lang="en-US" sz="2000" b="0" strike="noStrike" spc="-1">
                <a:solidFill>
                  <a:srgbClr val="000000"/>
                </a:solidFill>
                <a:latin typeface="Arial"/>
              </a:rPr>
              <a:t>- Applying tcp-wan-optimized on BOTH client and server sides. The server side should use tcp-lan-optimized. Using WAN optimization on the LAN side adds Nagle latency to server responses.</a:t>
            </a:r>
          </a:p>
          <a:p>
            <a:pPr marL="216000" indent="-216000">
              <a:buNone/>
            </a:pPr>
            <a:r>
              <a:rPr lang="en-US" sz="2000" b="0" strike="noStrike" spc="-1">
                <a:solidFill>
                  <a:srgbClr val="000000"/>
                </a:solidFill>
                <a:latin typeface="Arial"/>
              </a:rPr>
              <a:t>- Thinking FastL4 is "better" because it's faster. FastL4 is only appropriate when you don't need L7 features. For web applications, TCP is almost always required.</a:t>
            </a:r>
          </a:p>
          <a:p>
            <a:pPr marL="216000" indent="-216000">
              <a:buNone/>
            </a:pPr>
            <a:r>
              <a:rPr lang="en-US" sz="2000" b="0" strike="noStrike" spc="-1">
                <a:solidFill>
                  <a:srgbClr val="000000"/>
                </a:solidFill>
                <a:latin typeface="Arial"/>
              </a:rPr>
              <a:t>- Confusing "full proxy" with "forward proxy." Full proxy means two independent TCP connections. Forward proxy is a deployment mode (explicit proxy in the HTTP profile).</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PIVOT QUESTION</a:t>
            </a:r>
          </a:p>
          <a:p>
            <a:pPr marL="216000" indent="-216000">
              <a:buNone/>
            </a:pPr>
            <a:r>
              <a:rPr lang="en-US" sz="2000" b="0" strike="noStrike" spc="-1">
                <a:solidFill>
                  <a:srgbClr val="000000"/>
                </a:solidFill>
                <a:latin typeface="Arial"/>
              </a:rPr>
              <a:t>"You apply tcp-wan-optimized on both client and server sides of a virtual server. A developer complains that small API responses take 200ms longer than expected. What's the most likely cause and how do you fix it?"</a:t>
            </a:r>
          </a:p>
          <a:p>
            <a:pPr marL="216000" indent="-216000">
              <a:buNone/>
            </a:pPr>
            <a:r>
              <a:rPr lang="en-US" sz="2000" b="0" strike="noStrike" spc="-1">
                <a:solidFill>
                  <a:srgbClr val="000000"/>
                </a:solidFill>
                <a:latin typeface="Arial"/>
              </a:rPr>
              <a:t>ANSWER: The tcp-wan-optimized profile has Nagle algorithm ENABLED. On the server side (LAN), Nagle buffers small API responses (~200 bytes) and waits before sending, adding ~200ms of latency. Fix: Apply tcp-lan-optimized on the server side, which has Nagle DISABLED, sending data immediately.</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F5 DOCUMENTATION</a:t>
            </a:r>
          </a:p>
          <a:p>
            <a:pPr marL="216000" indent="-216000">
              <a:buNone/>
            </a:pPr>
            <a:r>
              <a:rPr lang="en-US" sz="2000" b="0" strike="noStrike" spc="-1">
                <a:solidFill>
                  <a:srgbClr val="000000"/>
                </a:solidFill>
                <a:latin typeface="Arial"/>
              </a:rPr>
              <a:t>- TCP profiles: https://my.f5.com/manage/s/article/K23843660</a:t>
            </a:r>
          </a:p>
          <a:p>
            <a:pPr marL="216000" indent="-216000">
              <a:buNone/>
            </a:pPr>
            <a:r>
              <a:rPr lang="en-US" sz="2000" b="0" strike="noStrike" spc="-1">
                <a:solidFill>
                  <a:srgbClr val="000000"/>
                </a:solidFill>
                <a:latin typeface="Arial"/>
              </a:rPr>
              <a:t>- TCP Express overview: https://my.f5.com/manage/s/article/K3422</a:t>
            </a:r>
          </a:p>
          <a:p>
            <a:pPr marL="216000" indent="-216000">
              <a:buNone/>
            </a:pPr>
            <a:r>
              <a:rPr lang="en-US" sz="2000" b="0" strike="noStrike" spc="-1">
                <a:solidFill>
                  <a:srgbClr val="000000"/>
                </a:solidFill>
                <a:latin typeface="Arial"/>
              </a:rPr>
              <a:t>- Nagle algorithm: https://my.f5.com/manage/s/article/K7535</a:t>
            </a:r>
          </a:p>
          <a:p>
            <a:pPr marL="216000" indent="-216000">
              <a:buNone/>
            </a:pPr>
            <a:r>
              <a:rPr lang="en-US" sz="2000" b="0" strike="noStrike" spc="-1">
                <a:solidFill>
                  <a:srgbClr val="000000"/>
                </a:solidFill>
                <a:latin typeface="Arial"/>
              </a:rPr>
              <a:t>- FastL4 profile: https://my.f5.com/manage/s/article/K55185917</a:t>
            </a:r>
          </a:p>
          <a:p>
            <a:pPr marL="216000" indent="-216000">
              <a:buNone/>
            </a:pPr>
            <a:r>
              <a:rPr lang="en-US" sz="2000" b="0" strike="noStrike" spc="-1">
                <a:solidFill>
                  <a:srgbClr val="000000"/>
                </a:solidFill>
                <a:latin typeface="Arial"/>
              </a:rPr>
              <a:t>- OneConnect: https://my.f5.com/manage/s/article/K7208</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EXAM QUESTION PATTERNS</a:t>
            </a:r>
          </a:p>
          <a:p>
            <a:pPr marL="216000" indent="-216000">
              <a:buNone/>
            </a:pPr>
            <a:r>
              <a:rPr lang="en-US" sz="2000" b="0" strike="noStrike" spc="-1">
                <a:solidFill>
                  <a:srgbClr val="000000"/>
                </a:solidFill>
                <a:latin typeface="Arial"/>
              </a:rPr>
              <a:t>- "Compare TCP and FastL4 virtual server types" → TCP = full proxy, all L7 features, higher CPU. FastL4 = pass-through, no L7, highest performance.</a:t>
            </a:r>
          </a:p>
          <a:p>
            <a:pPr marL="216000" indent="-216000">
              <a:buNone/>
            </a:pPr>
            <a:r>
              <a:rPr lang="en-US" sz="2000" b="0" strike="noStrike" spc="-1">
                <a:solidFill>
                  <a:srgbClr val="000000"/>
                </a:solidFill>
                <a:latin typeface="Arial"/>
              </a:rPr>
              <a:t>- "Which Nagle setting is appropriate for the server side?" → DISABLED (tcp-lan-optimized)</a:t>
            </a:r>
          </a:p>
          <a:p>
            <a:pPr marL="216000" indent="0">
              <a:lnSpc>
                <a:spcPct val="100000"/>
              </a:lnSpc>
              <a:buNone/>
            </a:pPr>
            <a:r>
              <a:rPr lang="en-US" sz="2000" b="0" strike="noStrike" spc="-1">
                <a:solidFill>
                  <a:srgbClr val="000000"/>
                </a:solidFill>
                <a:latin typeface="Arial"/>
              </a:rPr>
              <a:t>- "What profile enables server-side connection reuse?" → OneConnect (requires TCP + HTTP)</a:t>
            </a:r>
          </a:p>
        </p:txBody>
      </p:sp>
      <p:sp>
        <p:nvSpPr>
          <p:cNvPr id="2535" name="PlaceHolder 3"/>
          <p:cNvSpPr>
            <a:spLocks noGrp="1"/>
          </p:cNvSpPr>
          <p:nvPr>
            <p:ph type="sldNum" idx="24"/>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B4231419-6CEE-4568-BED2-D9843A005E34}" type="slidenum">
              <a:rPr lang="en-US" sz="1800" b="0" strike="noStrike" spc="-1">
                <a:solidFill>
                  <a:schemeClr val="dk1"/>
                </a:solidFill>
                <a:latin typeface="+mn-lt"/>
                <a:ea typeface="+mn-ea"/>
              </a:rPr>
              <a:t>21</a:t>
            </a:fld>
            <a:endParaRPr lang="en-US" sz="1800" b="0" strike="noStrike" spc="-1">
              <a:solidFill>
                <a:srgbClr val="000000"/>
              </a:solidFill>
              <a:latin typeface="Times New Roman"/>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6" name="PlaceHolder 1"/>
          <p:cNvSpPr>
            <a:spLocks noGrp="1" noRot="1" noChangeAspect="1"/>
          </p:cNvSpPr>
          <p:nvPr>
            <p:ph type="sldImg"/>
          </p:nvPr>
        </p:nvSpPr>
        <p:spPr>
          <a:xfrm>
            <a:off x="0" y="0"/>
            <a:ext cx="0" cy="0"/>
          </a:xfrm>
          <a:prstGeom prst="rect">
            <a:avLst/>
          </a:prstGeom>
          <a:ln w="0">
            <a:noFill/>
          </a:ln>
        </p:spPr>
      </p:sp>
      <p:sp>
        <p:nvSpPr>
          <p:cNvPr id="2537"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Service profiles add Layer 7 (application-layer) intelligence to the BIG-IP's traffic processing. They ALL require a TCP protocol profile underneath because the BIG-IP must terminate the TCP connection (full proxy) to inspect the application payload. This slide addresses F5CTSLTM2.02 sub-bullets about determining which profiles are needed and deploying OneConnect.</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FULL TECHNICAL EXPLANATION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HTTP PROFILE — THE MOST IMPORTANT SERVICE PROFILE</a:t>
            </a:r>
          </a:p>
          <a:p>
            <a:pPr marL="216000" indent="-216000">
              <a:buNone/>
            </a:pPr>
            <a:r>
              <a:rPr lang="en-US" sz="2000" b="0" strike="noStrike" spc="-1">
                <a:solidFill>
                  <a:srgbClr val="000000"/>
                </a:solidFill>
                <a:latin typeface="Arial"/>
              </a:rPr>
              <a:t>The HTTP profile enables the BIG-IP to parse HTTP requests and responses at the application layer. Without it, the BIG-IP treats traffic as an opaque TCP byte stream — it can see bytes flowing but cannot interpret them as HTTP.</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When the HTTP profile is applied, the BIG-IP can:</a:t>
            </a:r>
          </a:p>
          <a:p>
            <a:pPr marL="216000" indent="-216000">
              <a:buNone/>
            </a:pPr>
            <a:r>
              <a:rPr lang="en-US" sz="2000" b="0" strike="noStrike" spc="-1">
                <a:solidFill>
                  <a:srgbClr val="000000"/>
                </a:solidFill>
                <a:latin typeface="Arial"/>
              </a:rPr>
              <a:t>- Parse request headers: Host, URI, User-Agent, Cookie, Accept-Encoding, X-Forwarded-For</a:t>
            </a:r>
          </a:p>
          <a:p>
            <a:pPr marL="216000" indent="-216000">
              <a:buNone/>
            </a:pPr>
            <a:r>
              <a:rPr lang="en-US" sz="2000" b="0" strike="noStrike" spc="-1">
                <a:solidFill>
                  <a:srgbClr val="000000"/>
                </a:solidFill>
                <a:latin typeface="Arial"/>
              </a:rPr>
              <a:t>- Parse response headers: Content-Type, Set-Cookie, Server, Content-Encoding</a:t>
            </a:r>
          </a:p>
          <a:p>
            <a:pPr marL="216000" indent="-216000">
              <a:buNone/>
            </a:pPr>
            <a:r>
              <a:rPr lang="en-US" sz="2000" b="0" strike="noStrike" spc="-1">
                <a:solidFill>
                  <a:srgbClr val="000000"/>
                </a:solidFill>
                <a:latin typeface="Arial"/>
              </a:rPr>
              <a:t>- Insert/modify/remove headers in both directions</a:t>
            </a:r>
          </a:p>
          <a:p>
            <a:pPr marL="216000" indent="-216000">
              <a:buNone/>
            </a:pPr>
            <a:r>
              <a:rPr lang="en-US" sz="2000" b="0" strike="noStrike" spc="-1">
                <a:solidFill>
                  <a:srgbClr val="000000"/>
                </a:solidFill>
                <a:latin typeface="Arial"/>
              </a:rPr>
              <a:t>- Handle chunked transfer encoding (reassemble and re-chunk)</a:t>
            </a:r>
          </a:p>
          <a:p>
            <a:pPr marL="216000" indent="-216000">
              <a:buNone/>
            </a:pPr>
            <a:r>
              <a:rPr lang="en-US" sz="2000" b="0" strike="noStrike" spc="-1">
                <a:solidFill>
                  <a:srgbClr val="000000"/>
                </a:solidFill>
                <a:latin typeface="Arial"/>
              </a:rPr>
              <a:t>- Support HTTP pipelining and request/response pairing</a:t>
            </a:r>
          </a:p>
          <a:p>
            <a:pPr marL="216000" indent="-216000">
              <a:buNone/>
            </a:pPr>
            <a:r>
              <a:rPr lang="en-US" sz="2000" b="0" strike="noStrike" spc="-1">
                <a:solidFill>
                  <a:srgbClr val="000000"/>
                </a:solidFill>
                <a:latin typeface="Arial"/>
              </a:rPr>
              <a:t>- Enable all downstream HTTP-dependent features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HTTP profile has three proxy modes (Table 5.3 in F5 docs):</a:t>
            </a:r>
          </a:p>
          <a:p>
            <a:pPr marL="216000" indent="-216000">
              <a:buNone/>
            </a:pPr>
            <a:r>
              <a:rPr lang="en-US" sz="2000" b="0" strike="noStrike" spc="-1">
                <a:solidFill>
                  <a:srgbClr val="000000"/>
                </a:solidFill>
                <a:latin typeface="Arial"/>
              </a:rPr>
              <a:t>1. Reverse (default): BIG-IP manages responses from multiple backend servers. This is standard load balancing mode.</a:t>
            </a:r>
          </a:p>
          <a:p>
            <a:pPr marL="216000" indent="-216000">
              <a:buNone/>
            </a:pPr>
            <a:r>
              <a:rPr lang="en-US" sz="2000" b="0" strike="noStrike" spc="-1">
                <a:solidFill>
                  <a:srgbClr val="000000"/>
                </a:solidFill>
                <a:latin typeface="Arial"/>
              </a:rPr>
              <a:t>2. Explicit: BIG-IP acts as an HTTP forward proxy. Browser is configured to send all HTTP requests to the BIG-IP, which evaluates them against policies and either forwards or denies. Requires a DNS resolver configuration.</a:t>
            </a:r>
          </a:p>
          <a:p>
            <a:pPr marL="216000" indent="-216000">
              <a:buNone/>
            </a:pPr>
            <a:r>
              <a:rPr lang="en-US" sz="2000" b="0" strike="noStrike" spc="-1">
                <a:solidFill>
                  <a:srgbClr val="000000"/>
                </a:solidFill>
                <a:latin typeface="Arial"/>
              </a:rPr>
              <a:t>3. Transparent: BIG-IP forwards invalid HTTP traffic to a specified server instead of dropping the connection. Used in service provider environments where non-standard HTTP clients exist.</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FTP PROFILE — CONTROL/DATA CHANNEL HANDLING</a:t>
            </a:r>
          </a:p>
          <a:p>
            <a:pPr marL="216000" indent="-216000">
              <a:buNone/>
            </a:pPr>
            <a:r>
              <a:rPr lang="en-US" sz="2000" b="0" strike="noStrike" spc="-1">
                <a:solidFill>
                  <a:srgbClr val="000000"/>
                </a:solidFill>
                <a:latin typeface="Arial"/>
              </a:rPr>
              <a:t>FTP uses two TCP connections: a control channel (port 21) for commands (LIST, GET, PUT) and a data channel (dynamic port) for actual file transfers. The FTP profile understands the PORT and PASV commands that negotiate the data channel.</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Without the FTP profile, the BIG-IP doesn't translate the IP addresses in PORT/PASV commands as they cross the NAT boundary. Result: the control channel works (authentication succeeds) but file transfers fail because the data channel connection can't be established.</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Lab connection: Students used an FTP virtual server in Lab 1's SNAT exercise. The FTP profile was applied there.</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DNS PROFILE</a:t>
            </a:r>
          </a:p>
          <a:p>
            <a:pPr marL="216000" indent="-216000">
              <a:buNone/>
            </a:pPr>
            <a:r>
              <a:rPr lang="en-US" sz="2000" b="0" strike="noStrike" spc="-1">
                <a:solidFill>
                  <a:srgbClr val="000000"/>
                </a:solidFill>
                <a:latin typeface="Arial"/>
              </a:rPr>
              <a:t>Required when the BIG-IP needs to understand DNS queries at the application layer. Enables:</a:t>
            </a:r>
          </a:p>
          <a:p>
            <a:pPr marL="216000" indent="-216000">
              <a:buNone/>
            </a:pPr>
            <a:r>
              <a:rPr lang="en-US" sz="2000" b="0" strike="noStrike" spc="-1">
                <a:solidFill>
                  <a:srgbClr val="000000"/>
                </a:solidFill>
                <a:latin typeface="Arial"/>
              </a:rPr>
              <a:t>- DNS caching: BIG-IP caches DNS responses and serves them for subsequent queries</a:t>
            </a:r>
          </a:p>
          <a:p>
            <a:pPr marL="216000" indent="-216000">
              <a:buNone/>
            </a:pPr>
            <a:r>
              <a:rPr lang="en-US" sz="2000" b="0" strike="noStrike" spc="-1">
                <a:solidFill>
                  <a:srgbClr val="000000"/>
                </a:solidFill>
                <a:latin typeface="Arial"/>
              </a:rPr>
              <a:t>- DNSSEC validation: BIG-IP validates DNSSEC signatures</a:t>
            </a:r>
          </a:p>
          <a:p>
            <a:pPr marL="216000" indent="-216000">
              <a:buNone/>
            </a:pPr>
            <a:r>
              <a:rPr lang="en-US" sz="2000" b="0" strike="noStrike" spc="-1">
                <a:solidFill>
                  <a:srgbClr val="000000"/>
                </a:solidFill>
                <a:latin typeface="Arial"/>
              </a:rPr>
              <a:t>- DNS Express: BIG-IP acts as an authoritative DNS server for specific zones</a:t>
            </a:r>
          </a:p>
          <a:p>
            <a:pPr marL="216000" indent="-216000">
              <a:buNone/>
            </a:pPr>
            <a:r>
              <a:rPr lang="en-US" sz="2000" b="0" strike="noStrike" spc="-1">
                <a:solidFill>
                  <a:srgbClr val="000000"/>
                </a:solidFill>
                <a:latin typeface="Arial"/>
              </a:rPr>
              <a:t>- Works with UDP (most DNS) or TCP (zone transfers, large responses)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OneConnect PROFILE (BLUEPRINT SUB-BULLET)</a:t>
            </a:r>
          </a:p>
          <a:p>
            <a:pPr marL="216000" indent="-216000">
              <a:buNone/>
            </a:pPr>
            <a:r>
              <a:rPr lang="en-US" sz="2000" b="0" strike="noStrike" spc="-1">
                <a:solidFill>
                  <a:srgbClr val="000000"/>
                </a:solidFill>
                <a:latin typeface="Arial"/>
              </a:rPr>
              <a:t>This is explicitly called out in F5CTSLTM2.02: "Identify LTM profile settings to deploy OneConnect." It is NOT in any lab, so this slide and the checkpoint questions are the only coverage.</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How OneConnect works step-by-step:</a:t>
            </a:r>
          </a:p>
          <a:p>
            <a:pPr marL="216000" indent="-216000">
              <a:buNone/>
            </a:pPr>
            <a:r>
              <a:rPr lang="en-US" sz="2000" b="0" strike="noStrike" spc="-1">
                <a:solidFill>
                  <a:srgbClr val="000000"/>
                </a:solidFill>
                <a:latin typeface="Arial"/>
              </a:rPr>
              <a:t>1. Client A sends request → BIG-IP opens server connection to pool member → response delivered → server connection goes idle</a:t>
            </a:r>
          </a:p>
          <a:p>
            <a:pPr marL="216000" indent="-216000">
              <a:buNone/>
            </a:pPr>
            <a:r>
              <a:rPr lang="en-US" sz="2000" b="0" strike="noStrike" spc="-1">
                <a:solidFill>
                  <a:srgbClr val="000000"/>
                </a:solidFill>
                <a:latin typeface="Arial"/>
              </a:rPr>
              <a:t>2. Client B sends request → BIG-IP checks for idle server connections → finds the one from step 1 → reuses it instead of opening a new connection</a:t>
            </a:r>
          </a:p>
          <a:p>
            <a:pPr marL="216000" indent="-216000">
              <a:buNone/>
            </a:pPr>
            <a:r>
              <a:rPr lang="en-US" sz="2000" b="0" strike="noStrike" spc="-1">
                <a:solidFill>
                  <a:srgbClr val="000000"/>
                </a:solidFill>
                <a:latin typeface="Arial"/>
              </a:rPr>
              <a:t>3. Result: many clients share a small pool of server connections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Source mask: Controls which clients can share connections.</a:t>
            </a:r>
          </a:p>
          <a:p>
            <a:pPr marL="216000" indent="-216000">
              <a:buNone/>
            </a:pPr>
            <a:r>
              <a:rPr lang="en-US" sz="2000" b="0" strike="noStrike" spc="-1">
                <a:solidFill>
                  <a:srgbClr val="000000"/>
                </a:solidFill>
                <a:latin typeface="Arial"/>
              </a:rPr>
              <a:t>- 0.0.0.0: All clients share all connections (most aggressive reuse, best performance)</a:t>
            </a:r>
          </a:p>
          <a:p>
            <a:pPr marL="216000" indent="-216000">
              <a:buNone/>
            </a:pPr>
            <a:r>
              <a:rPr lang="en-US" sz="2000" b="0" strike="noStrike" spc="-1">
                <a:solidFill>
                  <a:srgbClr val="000000"/>
                </a:solidFill>
                <a:latin typeface="Arial"/>
              </a:rPr>
              <a:t>- 255.255.255.255: Each client IP gets its own connections (no sharing, least benefit)</a:t>
            </a:r>
          </a:p>
          <a:p>
            <a:pPr marL="216000" indent="-216000">
              <a:buNone/>
            </a:pPr>
            <a:r>
              <a:rPr lang="en-US" sz="2000" b="0" strike="noStrike" spc="-1">
                <a:solidFill>
                  <a:srgbClr val="000000"/>
                </a:solidFill>
                <a:latin typeface="Arial"/>
              </a:rPr>
              <a:t>- Common compromise: 255.255.255.0 (clients from same /24 subnet share)</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Limitations:</a:t>
            </a:r>
          </a:p>
          <a:p>
            <a:pPr marL="216000" indent="-216000">
              <a:buNone/>
            </a:pPr>
            <a:r>
              <a:rPr lang="en-US" sz="2000" b="0" strike="noStrike" spc="-1">
                <a:solidFill>
                  <a:srgbClr val="000000"/>
                </a:solidFill>
                <a:latin typeface="Arial"/>
              </a:rPr>
              <a:t>- Requires TCP + HTTP profiles</a:t>
            </a:r>
          </a:p>
          <a:p>
            <a:pPr marL="216000" indent="-216000">
              <a:buNone/>
            </a:pPr>
            <a:r>
              <a:rPr lang="en-US" sz="2000" b="0" strike="noStrike" spc="-1">
                <a:solidFill>
                  <a:srgbClr val="000000"/>
                </a:solidFill>
                <a:latin typeface="Arial"/>
              </a:rPr>
              <a:t>- NOT compatible with NTLM authentication (connection-based auth) without the NTLM profile (K10477)</a:t>
            </a:r>
          </a:p>
          <a:p>
            <a:pPr marL="216000" indent="-216000">
              <a:buNone/>
            </a:pPr>
            <a:r>
              <a:rPr lang="en-US" sz="2000" b="0" strike="noStrike" spc="-1">
                <a:solidFill>
                  <a:srgbClr val="000000"/>
                </a:solidFill>
                <a:latin typeface="Arial"/>
              </a:rPr>
              <a:t>- Pool member cannot rely on client IP in network headers — use XFF to pass client IP</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COMMON STUDENT MISTAKES</a:t>
            </a:r>
          </a:p>
          <a:p>
            <a:pPr marL="216000" indent="-216000">
              <a:buNone/>
            </a:pPr>
            <a:r>
              <a:rPr lang="en-US" sz="2000" b="0" strike="noStrike" spc="-1">
                <a:solidFill>
                  <a:srgbClr val="000000"/>
                </a:solidFill>
                <a:latin typeface="Arial"/>
              </a:rPr>
              <a:t>- Forgetting that FTP requires the FTP profile. They configure FTP load balancing with just TCP and wonder why file transfers fail.</a:t>
            </a:r>
          </a:p>
          <a:p>
            <a:pPr marL="216000" indent="-216000">
              <a:buNone/>
            </a:pPr>
            <a:r>
              <a:rPr lang="en-US" sz="2000" b="0" strike="noStrike" spc="-1">
                <a:solidFill>
                  <a:srgbClr val="000000"/>
                </a:solidFill>
                <a:latin typeface="Arial"/>
              </a:rPr>
              <a:t>- Not understanding that OneConnect changes the relationship between client connections and server connections. With OneConnect, one server connection may serve requests from many different clients.</a:t>
            </a:r>
          </a:p>
          <a:p>
            <a:pPr marL="216000" indent="-216000">
              <a:buNone/>
            </a:pPr>
            <a:r>
              <a:rPr lang="en-US" sz="2000" b="0" strike="noStrike" spc="-1">
                <a:solidFill>
                  <a:srgbClr val="000000"/>
                </a:solidFill>
                <a:latin typeface="Arial"/>
              </a:rPr>
              <a:t>- Thinking HTTP/2 replaces HTTP — it doesn't. HTTP/2 is an additional profile that works alongside the HTTP profile.</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PIVOT QUESTION</a:t>
            </a:r>
          </a:p>
          <a:p>
            <a:pPr marL="216000" indent="-216000">
              <a:buNone/>
            </a:pPr>
            <a:r>
              <a:rPr lang="en-US" sz="2000" b="0" strike="noStrike" spc="-1">
                <a:solidFill>
                  <a:srgbClr val="000000"/>
                </a:solidFill>
                <a:latin typeface="Arial"/>
              </a:rPr>
              <a:t>"You configure a web application with TCP + HTTP profiles. The application uses NTLM (Windows Integrated Authentication). Users report authentication failures when OneConnect is enabled. Why?"</a:t>
            </a:r>
          </a:p>
          <a:p>
            <a:pPr marL="216000" indent="-216000">
              <a:buNone/>
            </a:pPr>
            <a:r>
              <a:rPr lang="en-US" sz="2000" b="0" strike="noStrike" spc="-1">
                <a:solidFill>
                  <a:srgbClr val="000000"/>
                </a:solidFill>
                <a:latin typeface="Arial"/>
              </a:rPr>
              <a:t>ANSWER: NTLM authentication is connection-based — the authentication state is tied to the specific TCP connection. OneConnect reuses server connections across different clients. When Client B's request is sent over a connection that Client A authenticated, the server sees it as Client A's session. Fix: Either disable OneConnect for this VS, or use the NTLM profile which is designed to handle connection-based auth with connection pooling (K10477).</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F5 DOCUMENTATION</a:t>
            </a:r>
          </a:p>
          <a:p>
            <a:pPr marL="216000" indent="-216000">
              <a:buNone/>
            </a:pPr>
            <a:r>
              <a:rPr lang="en-US" sz="2000" b="0" strike="noStrike" spc="-1">
                <a:solidFill>
                  <a:srgbClr val="000000"/>
                </a:solidFill>
                <a:latin typeface="Arial"/>
              </a:rPr>
              <a:t>- HTTP profile: https://my.f5.com/manage/s/article/K4707</a:t>
            </a:r>
          </a:p>
          <a:p>
            <a:pPr marL="216000" indent="-216000">
              <a:buNone/>
            </a:pPr>
            <a:r>
              <a:rPr lang="en-US" sz="2000" b="0" strike="noStrike" spc="-1">
                <a:solidFill>
                  <a:srgbClr val="000000"/>
                </a:solidFill>
                <a:latin typeface="Arial"/>
              </a:rPr>
              <a:t>- HTTP proxy modes: https://my.f5.com/manage/s/article/K23843660</a:t>
            </a:r>
          </a:p>
          <a:p>
            <a:pPr marL="216000" indent="-216000">
              <a:buNone/>
            </a:pPr>
            <a:r>
              <a:rPr lang="en-US" sz="2000" b="0" strike="noStrike" spc="-1">
                <a:solidFill>
                  <a:srgbClr val="000000"/>
                </a:solidFill>
                <a:latin typeface="Arial"/>
              </a:rPr>
              <a:t>- FTP profile: https://my.f5.com/manage/s/article/K8024</a:t>
            </a:r>
          </a:p>
          <a:p>
            <a:pPr marL="216000" indent="-216000">
              <a:buNone/>
            </a:pPr>
            <a:r>
              <a:rPr lang="en-US" sz="2000" b="0" strike="noStrike" spc="-1">
                <a:solidFill>
                  <a:srgbClr val="000000"/>
                </a:solidFill>
                <a:latin typeface="Arial"/>
              </a:rPr>
              <a:t>- OneConnect: https://my.f5.com/manage/s/article/K7208</a:t>
            </a:r>
          </a:p>
          <a:p>
            <a:pPr marL="216000" indent="-216000">
              <a:buNone/>
            </a:pPr>
            <a:r>
              <a:rPr lang="en-US" sz="2000" b="0" strike="noStrike" spc="-1">
                <a:solidFill>
                  <a:srgbClr val="000000"/>
                </a:solidFill>
                <a:latin typeface="Arial"/>
              </a:rPr>
              <a:t>- NTLM and OneConnect: https://my.f5.com/manage/s/article/K10477</a:t>
            </a:r>
          </a:p>
          <a:p>
            <a:pPr marL="216000" indent="-216000">
              <a:buNone/>
            </a:pPr>
            <a:r>
              <a:rPr lang="en-US" sz="2000" b="0" strike="noStrike" spc="-1">
                <a:solidFill>
                  <a:srgbClr val="000000"/>
                </a:solidFill>
                <a:latin typeface="Arial"/>
              </a:rPr>
              <a:t>- HTTP/2 profile: https://my.f5.com/manage/s/article/K04412053</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EXAM QUESTION PATTERNS</a:t>
            </a:r>
          </a:p>
          <a:p>
            <a:pPr marL="216000" indent="-216000">
              <a:buNone/>
            </a:pPr>
            <a:r>
              <a:rPr lang="en-US" sz="2000" b="0" strike="noStrike" spc="-1">
                <a:solidFill>
                  <a:srgbClr val="000000"/>
                </a:solidFill>
                <a:latin typeface="Arial"/>
              </a:rPr>
              <a:t>- "Which profile is required before cookie persistence can be enabled?" → HTTP</a:t>
            </a:r>
          </a:p>
          <a:p>
            <a:pPr marL="216000" indent="-216000">
              <a:buNone/>
            </a:pPr>
            <a:r>
              <a:rPr lang="en-US" sz="2000" b="0" strike="noStrike" spc="-1">
                <a:solidFill>
                  <a:srgbClr val="000000"/>
                </a:solidFill>
                <a:latin typeface="Arial"/>
              </a:rPr>
              <a:t>- "What profile is needed when load balancing FTP servers?" → FTP (in addition to TCP)</a:t>
            </a:r>
          </a:p>
          <a:p>
            <a:pPr marL="216000" indent="-216000">
              <a:buNone/>
            </a:pPr>
            <a:r>
              <a:rPr lang="en-US" sz="2000" b="0" strike="noStrike" spc="-1">
                <a:solidFill>
                  <a:srgbClr val="000000"/>
                </a:solidFill>
                <a:latin typeface="Arial"/>
              </a:rPr>
              <a:t>- "How does OneConnect reduce server load?" → Reuses idle server connections across clients</a:t>
            </a:r>
          </a:p>
          <a:p>
            <a:pPr marL="216000" indent="0">
              <a:lnSpc>
                <a:spcPct val="100000"/>
              </a:lnSpc>
              <a:buNone/>
            </a:pPr>
            <a:r>
              <a:rPr lang="en-US" sz="2000" b="0" strike="noStrike" spc="-1">
                <a:solidFill>
                  <a:srgbClr val="000000"/>
                </a:solidFill>
                <a:latin typeface="Arial"/>
              </a:rPr>
              <a:t>- "A VS has TCP + HTTP + OneConnect. Users report authentication failures with NTLM. What's the cause?" → OneConnect breaks connection-based auth; use NTLM profile</a:t>
            </a:r>
          </a:p>
        </p:txBody>
      </p:sp>
      <p:sp>
        <p:nvSpPr>
          <p:cNvPr id="2538" name="PlaceHolder 3"/>
          <p:cNvSpPr>
            <a:spLocks noGrp="1"/>
          </p:cNvSpPr>
          <p:nvPr>
            <p:ph type="sldNum" idx="25"/>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C930B05D-C9E3-4424-8C6F-1CFE35047DB0}" type="slidenum">
              <a:rPr lang="en-US" sz="1800" b="0" strike="noStrike" spc="-1">
                <a:solidFill>
                  <a:schemeClr val="dk1"/>
                </a:solidFill>
                <a:latin typeface="+mn-lt"/>
                <a:ea typeface="+mn-ea"/>
              </a:rPr>
              <a:t>22</a:t>
            </a:fld>
            <a:endParaRPr lang="en-US" sz="1800" b="0" strike="noStrike" spc="-1">
              <a:solidFill>
                <a:srgbClr val="000000"/>
              </a:solidFill>
              <a:latin typeface="Times New Roman"/>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 name="PlaceHolder 1"/>
          <p:cNvSpPr>
            <a:spLocks noGrp="1" noRot="1" noChangeAspect="1"/>
          </p:cNvSpPr>
          <p:nvPr>
            <p:ph type="sldImg"/>
          </p:nvPr>
        </p:nvSpPr>
        <p:spPr>
          <a:xfrm>
            <a:off x="0" y="0"/>
            <a:ext cx="0" cy="0"/>
          </a:xfrm>
          <a:prstGeom prst="rect">
            <a:avLst/>
          </a:prstGeom>
          <a:ln w="0">
            <a:noFill/>
          </a:ln>
        </p:spPr>
      </p:sp>
      <p:sp>
        <p:nvSpPr>
          <p:cNvPr id="2540"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Persistence (session affinity) ensures a client is consistently directed to the same pool member for the duration of a session. This is critical for stateful applications where the server maintains session data. This slide covers five persistence types with their requirements, use cases, and limitations, supporting F5CTSLTM2.01 (understand dependencies) and F5CTSLTM2.02 (choose correct settings).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FULL TECHNICAL EXPLANATION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COOKIE INSERT (most common, recommended default):</a:t>
            </a:r>
          </a:p>
          <a:p>
            <a:pPr marL="216000" indent="-216000">
              <a:buNone/>
            </a:pPr>
            <a:r>
              <a:rPr lang="en-US" sz="2000" b="0" strike="noStrike" spc="-1">
                <a:solidFill>
                  <a:srgbClr val="000000"/>
                </a:solidFill>
                <a:latin typeface="Arial"/>
              </a:rPr>
              <a:t>When a client first connects, the BIG-IP makes a load balancing decision and selects a pool member. On the server's response, the BIG-IP inserts an additional Set-Cookie header: Set-Cookie: BIGipServerwww_pool=1234567890.20480.0000; path=/</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The cookie value encodes the pool member's IP address and port number. On subsequent requests, the client sends this cookie, and the BIG-IP decodes it to route directly to the same pool member without making a new load balancing decision.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Cookie methods:</a:t>
            </a:r>
          </a:p>
          <a:p>
            <a:pPr marL="216000" indent="-216000">
              <a:buNone/>
            </a:pPr>
            <a:r>
              <a:rPr lang="en-US" sz="2000" b="0" strike="noStrike" spc="-1">
                <a:solidFill>
                  <a:srgbClr val="000000"/>
                </a:solidFill>
                <a:latin typeface="Arial"/>
              </a:rPr>
              <a:t>- Cookie Insert (default): BIG-IP adds cookie. Server doesn't need to know about it. Most common.</a:t>
            </a:r>
          </a:p>
          <a:p>
            <a:pPr marL="216000" indent="-216000">
              <a:buNone/>
            </a:pPr>
            <a:r>
              <a:rPr lang="en-US" sz="2000" b="0" strike="noStrike" spc="-1">
                <a:solidFill>
                  <a:srgbClr val="000000"/>
                </a:solidFill>
                <a:latin typeface="Arial"/>
              </a:rPr>
              <a:t>- Cookie Passive: Server sets the cookie. BIG-IP reads it. Requires server-side configuration.</a:t>
            </a:r>
          </a:p>
          <a:p>
            <a:pPr marL="216000" indent="-216000">
              <a:buNone/>
            </a:pPr>
            <a:r>
              <a:rPr lang="en-US" sz="2000" b="0" strike="noStrike" spc="-1">
                <a:solidFill>
                  <a:srgbClr val="000000"/>
                </a:solidFill>
                <a:latin typeface="Arial"/>
              </a:rPr>
              <a:t>- Cookie Rewrite: BIG-IP rewrites an existing server cookie. Requires collaboration with app team.</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SECURITY WARNING: The default BIGipServer cookie encodes the pool member IP:port in a predictable format. An attacker can decode it to discover internal server IPs. Always enable cookie encryption in the HTTP profile: HTTP profile &gt; Cookie Encryption section. Reference: K6917 (https://my.f5.com/manage/s/article/K6917) and K14784 for encryption configuration.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SOURCE ADDRESS AFFINITY:</a:t>
            </a:r>
          </a:p>
          <a:p>
            <a:pPr marL="216000" indent="-216000">
              <a:buNone/>
            </a:pPr>
            <a:r>
              <a:rPr lang="en-US" sz="2000" b="0" strike="noStrike" spc="-1">
                <a:solidFill>
                  <a:srgbClr val="000000"/>
                </a:solidFill>
                <a:latin typeface="Arial"/>
              </a:rPr>
              <a:t>Persists based on the source IP address of the client. Default mask: 255.255.255.255 (one record per IP). Configurable to wider masks (e.g., 255.255.0.0 groups all clients from same /16).</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Timeout: 180 seconds default. After this idle time, the persistence record expires and the next request gets a fresh load balancing decision.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Limitation: Clients behind corporate NAT/proxy all share the same source IP → they all persist to the same pool member → uneven distribution. This is why cookie persistence is preferred for web applications.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Memory impact: The BIG-IP maintains a persistence table in memory. Each source address record consumes memory. High-traffic environments with many unique IPs can consume significant memory. Reference: K5779.</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SSL SESSION ID:</a:t>
            </a:r>
          </a:p>
          <a:p>
            <a:pPr marL="216000" indent="-216000">
              <a:buNone/>
            </a:pPr>
            <a:r>
              <a:rPr lang="en-US" sz="2000" b="0" strike="noStrike" spc="-1">
                <a:solidFill>
                  <a:srgbClr val="000000"/>
                </a:solidFill>
                <a:latin typeface="Arial"/>
              </a:rPr>
              <a:t>Tracks the SSL session ID to persist clients, even if their IP address changes between requests. Useful when the BIG-IP doesn't terminate SSL (pass-through mode with FastL4) — in this case, there's no HTTP layer available for cookie persistence.</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Limitation: Modern browsers (especially with TLS 1.3) frequently renegotiate sessions, which generates new session IDs and breaks persistence. TLS 1.3 uses a different session resumption mechanism (PSK) that may not be compatible with traditional SSL session ID persistence. This makes SSL session ID persistence increasingly unreliable for modern web traffic.</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Reference: K3062 (https://my.f5.com/manage/s/article/K3062)</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UNIVERSAL PERSISTENCE:</a:t>
            </a:r>
          </a:p>
          <a:p>
            <a:pPr marL="216000" indent="-216000">
              <a:buNone/>
            </a:pPr>
            <a:r>
              <a:rPr lang="en-US" sz="2000" b="0" strike="noStrike" spc="-1">
                <a:solidFill>
                  <a:srgbClr val="000000"/>
                </a:solidFill>
                <a:latin typeface="Arial"/>
              </a:rPr>
              <a:t>The most flexible method. You write an iRule that extracts any piece of data from the traffic and uses it as the persistence key. The iRule calls the "persist uie" command with the extracted value.</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Example — persist on a custom HTTP header:</a:t>
            </a:r>
          </a:p>
          <a:p>
            <a:pPr marL="216000" indent="-216000">
              <a:buNone/>
            </a:pPr>
            <a:r>
              <a:rPr lang="en-US" sz="2000" b="0" strike="noStrike" spc="-1">
                <a:solidFill>
                  <a:srgbClr val="000000"/>
                </a:solidFill>
                <a:latin typeface="Arial"/>
              </a:rPr>
              <a:t>when HTTP_REQUEST {</a:t>
            </a:r>
          </a:p>
          <a:p>
            <a:pPr marL="216000" indent="-216000">
              <a:buNone/>
            </a:pPr>
            <a:r>
              <a:rPr lang="en-US" sz="2000" b="0" strike="noStrike" spc="-1">
                <a:solidFill>
                  <a:srgbClr val="000000"/>
                </a:solidFill>
                <a:latin typeface="Arial"/>
              </a:rPr>
              <a:t>  if { [HTTP::header exists "X-Session-ID"] } {</a:t>
            </a:r>
          </a:p>
          <a:p>
            <a:pPr marL="216000" indent="-216000">
              <a:buNone/>
            </a:pPr>
            <a:r>
              <a:rPr lang="en-US" sz="2000" b="0" strike="noStrike" spc="-1">
                <a:solidFill>
                  <a:srgbClr val="000000"/>
                </a:solidFill>
                <a:latin typeface="Arial"/>
              </a:rPr>
              <a:t>    persist uie [HTTP::header "X-Session-ID"]</a:t>
            </a:r>
          </a:p>
          <a:p>
            <a:pPr marL="216000" indent="-216000">
              <a:buNone/>
            </a:pPr>
            <a:r>
              <a:rPr lang="en-US" sz="2000" b="0" strike="noStrike" spc="-1">
                <a:solidFill>
                  <a:srgbClr val="000000"/>
                </a:solidFill>
                <a:latin typeface="Arial"/>
              </a:rPr>
              <a:t>  }</a:t>
            </a:r>
          </a:p>
          <a:p>
            <a:pPr marL="216000" indent="-216000">
              <a:buNone/>
            </a:pPr>
            <a:r>
              <a:rPr lang="en-US" sz="2000" b="0" strike="noStrike" spc="-1">
                <a:solidFill>
                  <a:srgbClr val="000000"/>
                </a:solidFill>
                <a:latin typeface="Arial"/>
              </a:rPr>
              <a:t>}</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Use cases: SIP Call-ID persistence, custom application session tokens, RADIUS Calling-Station-ID.</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DESTINATION ADDRESS AFFINITY:</a:t>
            </a:r>
          </a:p>
          <a:p>
            <a:pPr marL="216000" indent="-216000">
              <a:buNone/>
            </a:pPr>
            <a:r>
              <a:rPr lang="en-US" sz="2000" b="0" strike="noStrike" spc="-1">
                <a:solidFill>
                  <a:srgbClr val="000000"/>
                </a:solidFill>
                <a:latin typeface="Arial"/>
              </a:rPr>
              <a:t>Persists based on the DESTINATION IP, not the source. All traffic to the same destination IP goes to the same pool member. Used for outbound load balancing (dual WAN circuits) or proxy chaining, NOT for application load balancing.</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PERFORMANCE COMPARISON:</a:t>
            </a:r>
          </a:p>
          <a:p>
            <a:pPr marL="216000" indent="-216000">
              <a:buNone/>
            </a:pPr>
            <a:r>
              <a:rPr lang="en-US" sz="2000" b="0" strike="noStrike" spc="-1">
                <a:solidFill>
                  <a:srgbClr val="000000"/>
                </a:solidFill>
                <a:latin typeface="Arial"/>
              </a:rPr>
              <a:t>- Cookie insert: No server-side state table (cookie carries data). Most memory-efficient. Slight increase in HTTP response size (one additional Set-Cookie header).</a:t>
            </a:r>
          </a:p>
          <a:p>
            <a:pPr marL="216000" indent="-216000">
              <a:buNone/>
            </a:pPr>
            <a:r>
              <a:rPr lang="en-US" sz="2000" b="0" strike="noStrike" spc="-1">
                <a:solidFill>
                  <a:srgbClr val="000000"/>
                </a:solidFill>
                <a:latin typeface="Arial"/>
              </a:rPr>
              <a:t>- Source address: BIG-IP maintains persistence table. Each record consumes ~80 bytes. 100,000 unique clients = ~8MB.</a:t>
            </a:r>
          </a:p>
          <a:p>
            <a:pPr marL="216000" indent="-216000">
              <a:buNone/>
            </a:pPr>
            <a:r>
              <a:rPr lang="en-US" sz="2000" b="0" strike="noStrike" spc="-1">
                <a:solidFill>
                  <a:srgbClr val="000000"/>
                </a:solidFill>
                <a:latin typeface="Arial"/>
              </a:rPr>
              <a:t>- SSL session ID: BIG-IP maintains table. Session IDs can be large.</a:t>
            </a:r>
          </a:p>
          <a:p>
            <a:pPr marL="216000" indent="-216000">
              <a:buNone/>
            </a:pPr>
            <a:r>
              <a:rPr lang="en-US" sz="2000" b="0" strike="noStrike" spc="-1">
                <a:solidFill>
                  <a:srgbClr val="000000"/>
                </a:solidFill>
                <a:latin typeface="Arial"/>
              </a:rPr>
              <a:t>- Universal: Depends on key size and iRule complexity.</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COMMON STUDENT MISTAKES</a:t>
            </a:r>
          </a:p>
          <a:p>
            <a:pPr marL="216000" indent="-216000">
              <a:buNone/>
            </a:pPr>
            <a:r>
              <a:rPr lang="en-US" sz="2000" b="0" strike="noStrike" spc="-1">
                <a:solidFill>
                  <a:srgbClr val="000000"/>
                </a:solidFill>
                <a:latin typeface="Arial"/>
              </a:rPr>
              <a:t>- Adding cookie persistence to a VS without an HTTP profile → fails silently. Cookies are HTTP-layer objects.</a:t>
            </a:r>
          </a:p>
          <a:p>
            <a:pPr marL="216000" indent="-216000">
              <a:buNone/>
            </a:pPr>
            <a:r>
              <a:rPr lang="en-US" sz="2000" b="0" strike="noStrike" spc="-1">
                <a:solidFill>
                  <a:srgbClr val="000000"/>
                </a:solidFill>
                <a:latin typeface="Arial"/>
              </a:rPr>
              <a:t>- Assuming source address persistence uniquely identifies clients → fails behind NAT/proxy.</a:t>
            </a:r>
          </a:p>
          <a:p>
            <a:pPr marL="216000" indent="-216000">
              <a:buNone/>
            </a:pPr>
            <a:r>
              <a:rPr lang="en-US" sz="2000" b="0" strike="noStrike" spc="-1">
                <a:solidFill>
                  <a:srgbClr val="000000"/>
                </a:solidFill>
                <a:latin typeface="Arial"/>
              </a:rPr>
              <a:t>- Using SSL session ID persistence with modern browsers → unreliable due to TLS 1.3 changes.</a:t>
            </a:r>
          </a:p>
          <a:p>
            <a:pPr marL="216000" indent="-216000">
              <a:buNone/>
            </a:pPr>
            <a:r>
              <a:rPr lang="en-US" sz="2000" b="0" strike="noStrike" spc="-1">
                <a:solidFill>
                  <a:srgbClr val="000000"/>
                </a:solidFill>
                <a:latin typeface="Arial"/>
              </a:rPr>
              <a:t>- Not encrypting the BIGipServer cookie → information disclosure vulnerability.</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PIVOT QUESTION</a:t>
            </a:r>
          </a:p>
          <a:p>
            <a:pPr marL="216000" indent="-216000">
              <a:buNone/>
            </a:pPr>
            <a:r>
              <a:rPr lang="en-US" sz="2000" b="0" strike="noStrike" spc="-1">
                <a:solidFill>
                  <a:srgbClr val="000000"/>
                </a:solidFill>
                <a:latin typeface="Arial"/>
              </a:rPr>
              <a:t>"A client accesses your web application from a mobile phone on cellular data, then switches to WiFi. Their IP address changes. Which persistence method survives the IP change?"</a:t>
            </a:r>
          </a:p>
          <a:p>
            <a:pPr marL="216000" indent="-216000">
              <a:buNone/>
            </a:pPr>
            <a:r>
              <a:rPr lang="en-US" sz="2000" b="0" strike="noStrike" spc="-1">
                <a:solidFill>
                  <a:srgbClr val="000000"/>
                </a:solidFill>
                <a:latin typeface="Arial"/>
              </a:rPr>
              <a:t>ANSWER: Cookie insert. The cookie is stored in the browser and sent with every HTTP request regardless of the network interface. Source address persistence would break because the source IP changed. SSL session ID might survive if the TLS session is maintained, but it's unreliable with modern browsers.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F5 DOCUMENTATION</a:t>
            </a:r>
          </a:p>
          <a:p>
            <a:pPr marL="216000" indent="-216000">
              <a:buNone/>
            </a:pPr>
            <a:r>
              <a:rPr lang="en-US" sz="2000" b="0" strike="noStrike" spc="-1">
                <a:solidFill>
                  <a:srgbClr val="000000"/>
                </a:solidFill>
                <a:latin typeface="Arial"/>
              </a:rPr>
              <a:t>- Cookie persistence: https://my.f5.com/manage/s/article/K6917</a:t>
            </a:r>
          </a:p>
          <a:p>
            <a:pPr marL="216000" indent="-216000">
              <a:buNone/>
            </a:pPr>
            <a:r>
              <a:rPr lang="en-US" sz="2000" b="0" strike="noStrike" spc="-1">
                <a:solidFill>
                  <a:srgbClr val="000000"/>
                </a:solidFill>
                <a:latin typeface="Arial"/>
              </a:rPr>
              <a:t>- Cookie encryption: https://my.f5.com/manage/s/article/K14784</a:t>
            </a:r>
          </a:p>
          <a:p>
            <a:pPr marL="216000" indent="-216000">
              <a:buNone/>
            </a:pPr>
            <a:r>
              <a:rPr lang="en-US" sz="2000" b="0" strike="noStrike" spc="-1">
                <a:solidFill>
                  <a:srgbClr val="000000"/>
                </a:solidFill>
                <a:latin typeface="Arial"/>
              </a:rPr>
              <a:t>- Source address persistence: https://my.f5.com/manage/s/article/K5779</a:t>
            </a:r>
          </a:p>
          <a:p>
            <a:pPr marL="216000" indent="-216000">
              <a:buNone/>
            </a:pPr>
            <a:r>
              <a:rPr lang="en-US" sz="2000" b="0" strike="noStrike" spc="-1">
                <a:solidFill>
                  <a:srgbClr val="000000"/>
                </a:solidFill>
                <a:latin typeface="Arial"/>
              </a:rPr>
              <a:t>- SSL session ID: https://my.f5.com/manage/s/article/K3062</a:t>
            </a:r>
          </a:p>
          <a:p>
            <a:pPr marL="216000" indent="-216000">
              <a:buNone/>
            </a:pPr>
            <a:r>
              <a:rPr lang="en-US" sz="2000" b="0" strike="noStrike" spc="-1">
                <a:solidFill>
                  <a:srgbClr val="000000"/>
                </a:solidFill>
                <a:latin typeface="Arial"/>
              </a:rPr>
              <a:t>- Persistence overview: https://my.f5.com/manage/s/article/K23843660</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EXAM QUESTION PATTERNS</a:t>
            </a:r>
          </a:p>
          <a:p>
            <a:pPr marL="216000" indent="-216000">
              <a:buNone/>
            </a:pPr>
            <a:r>
              <a:rPr lang="en-US" sz="2000" b="0" strike="noStrike" spc="-1">
                <a:solidFill>
                  <a:srgbClr val="000000"/>
                </a:solidFill>
                <a:latin typeface="Arial"/>
              </a:rPr>
              <a:t>- "Which persistence method works with any protocol profile?" → Source address</a:t>
            </a:r>
          </a:p>
          <a:p>
            <a:pPr marL="216000" indent="-216000">
              <a:buNone/>
            </a:pPr>
            <a:r>
              <a:rPr lang="en-US" sz="2000" b="0" strike="noStrike" spc="-1">
                <a:solidFill>
                  <a:srgbClr val="000000"/>
                </a:solidFill>
                <a:latin typeface="Arial"/>
              </a:rPr>
              <a:t>- "Which persistence survives client IP changes?" → Cookie insert</a:t>
            </a:r>
          </a:p>
          <a:p>
            <a:pPr marL="216000" indent="-216000">
              <a:buNone/>
            </a:pPr>
            <a:r>
              <a:rPr lang="en-US" sz="2000" b="0" strike="noStrike" spc="-1">
                <a:solidFill>
                  <a:srgbClr val="000000"/>
                </a:solidFill>
                <a:latin typeface="Arial"/>
              </a:rPr>
              <a:t>- "What dependency does cookie persistence have?" → HTTP profile (plus TCP)</a:t>
            </a:r>
          </a:p>
          <a:p>
            <a:pPr marL="216000" indent="0">
              <a:lnSpc>
                <a:spcPct val="100000"/>
              </a:lnSpc>
              <a:buNone/>
            </a:pPr>
            <a:r>
              <a:rPr lang="en-US" sz="2000" b="0" strike="noStrike" spc="-1">
                <a:solidFill>
                  <a:srgbClr val="000000"/>
                </a:solidFill>
                <a:latin typeface="Arial"/>
              </a:rPr>
              <a:t>- "Why might source address persistence cause uneven distribution?" → Clients behind NAT share one IP</a:t>
            </a:r>
          </a:p>
        </p:txBody>
      </p:sp>
      <p:sp>
        <p:nvSpPr>
          <p:cNvPr id="2541" name="PlaceHolder 3"/>
          <p:cNvSpPr>
            <a:spLocks noGrp="1"/>
          </p:cNvSpPr>
          <p:nvPr>
            <p:ph type="sldNum" idx="26"/>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BF0C6FA9-88EA-4A8E-B24C-039CEE8A61DB}" type="slidenum">
              <a:rPr lang="en-US" sz="1800" b="0" strike="noStrike" spc="-1">
                <a:solidFill>
                  <a:schemeClr val="dk1"/>
                </a:solidFill>
                <a:latin typeface="+mn-lt"/>
                <a:ea typeface="+mn-ea"/>
              </a:rPr>
              <a:t>23</a:t>
            </a:fld>
            <a:endParaRPr lang="en-US" sz="1800" b="0" strike="noStrike" spc="-1">
              <a:solidFill>
                <a:srgbClr val="000000"/>
              </a:solidFill>
              <a:latin typeface="Times New Roman"/>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2" name="PlaceHolder 1"/>
          <p:cNvSpPr>
            <a:spLocks noGrp="1" noRot="1" noChangeAspect="1"/>
          </p:cNvSpPr>
          <p:nvPr>
            <p:ph type="sldImg"/>
          </p:nvPr>
        </p:nvSpPr>
        <p:spPr>
          <a:xfrm>
            <a:off x="0" y="0"/>
            <a:ext cx="0" cy="0"/>
          </a:xfrm>
          <a:prstGeom prst="rect">
            <a:avLst/>
          </a:prstGeom>
          <a:ln w="0">
            <a:noFill/>
          </a:ln>
        </p:spPr>
      </p:sp>
      <p:sp>
        <p:nvSpPr>
          <p:cNvPr id="2543"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This slide covers the three SSL deployment modes on the BIG-IP. Students must understand when to use each mode and the trade-offs between security, performance, and feature availability. This directly supports profile selection in multi-tier architectures (next slide) and the SSL lab exercises in Lab 5.</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FULL TECHNICAL EXPLANATION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SSL PASS-THROUGH (No SSL profiles):</a:t>
            </a:r>
          </a:p>
          <a:p>
            <a:pPr marL="216000" indent="-216000">
              <a:buNone/>
            </a:pPr>
            <a:r>
              <a:rPr lang="en-US" sz="2000" b="0" strike="noStrike" spc="-1">
                <a:solidFill>
                  <a:srgbClr val="000000"/>
                </a:solidFill>
                <a:latin typeface="Arial"/>
              </a:rPr>
              <a:t>The BIG-IP does not decrypt traffic. It forwards encrypted packets between client and server without inspecting the content. The BIG-IP acts as a Layer 4 load balancer for HTTPS traffic.</a:t>
            </a:r>
          </a:p>
          <a:p>
            <a:pPr marL="216000" indent="-216000">
              <a:buNone/>
            </a:pPr>
            <a:r>
              <a:rPr lang="en-US" sz="2000" b="0" strike="noStrike" spc="-1">
                <a:solidFill>
                  <a:srgbClr val="000000"/>
                </a:solidFill>
                <a:latin typeface="Arial"/>
              </a:rPr>
              <a:t>- Use a FastL4 protocol profile for maximum performance</a:t>
            </a:r>
          </a:p>
          <a:p>
            <a:pPr marL="216000" indent="-216000">
              <a:buNone/>
            </a:pPr>
            <a:r>
              <a:rPr lang="en-US" sz="2000" b="0" strike="noStrike" spc="-1">
                <a:solidFill>
                  <a:srgbClr val="000000"/>
                </a:solidFill>
                <a:latin typeface="Arial"/>
              </a:rPr>
              <a:t>- Cannot apply any L7 features: no HTTP inspection, no compression, no caching, no cookie persistence, no iRules using HTTP:: commands</a:t>
            </a:r>
          </a:p>
          <a:p>
            <a:pPr marL="216000" indent="-216000">
              <a:buNone/>
            </a:pPr>
            <a:r>
              <a:rPr lang="en-US" sz="2000" b="0" strike="noStrike" spc="-1">
                <a:solidFill>
                  <a:srgbClr val="000000"/>
                </a:solidFill>
                <a:latin typeface="Arial"/>
              </a:rPr>
              <a:t>- Only persistence options: source address or SSL session ID</a:t>
            </a:r>
          </a:p>
          <a:p>
            <a:pPr marL="216000" indent="-216000">
              <a:buNone/>
            </a:pPr>
            <a:r>
              <a:rPr lang="en-US" sz="2000" b="0" strike="noStrike" spc="-1">
                <a:solidFill>
                  <a:srgbClr val="000000"/>
                </a:solidFill>
                <a:latin typeface="Arial"/>
              </a:rPr>
              <a:t>- Use case: When you ONLY need L4 load balancing and servers handle all SSL processing</a:t>
            </a:r>
          </a:p>
          <a:p>
            <a:pPr marL="216000" indent="-216000">
              <a:buNone/>
            </a:pPr>
            <a:r>
              <a:rPr lang="en-US" sz="2000" b="0" strike="noStrike" spc="-1">
                <a:solidFill>
                  <a:srgbClr val="000000"/>
                </a:solidFill>
                <a:latin typeface="Arial"/>
              </a:rPr>
              <a:t>- TMSH: No ssl profiles assigned to the VS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SSL OFFLOAD (Client-SSL only):</a:t>
            </a:r>
          </a:p>
          <a:p>
            <a:pPr marL="216000" indent="-216000">
              <a:buNone/>
            </a:pPr>
            <a:r>
              <a:rPr lang="en-US" sz="2000" b="0" strike="noStrike" spc="-1">
                <a:solidFill>
                  <a:srgbClr val="000000"/>
                </a:solidFill>
                <a:latin typeface="Arial"/>
              </a:rPr>
              <a:t>The BIG-IP terminates the client's SSL/TLS connection and sends unencrypted HTTP to the backend server.</a:t>
            </a:r>
          </a:p>
          <a:p>
            <a:pPr marL="216000" indent="-216000">
              <a:buNone/>
            </a:pPr>
            <a:r>
              <a:rPr lang="en-US" sz="2000" b="0" strike="noStrike" spc="-1">
                <a:solidFill>
                  <a:srgbClr val="000000"/>
                </a:solidFill>
                <a:latin typeface="Arial"/>
              </a:rPr>
              <a:t>- Client → BIG-IP: HTTPS (encrypted)</a:t>
            </a:r>
          </a:p>
          <a:p>
            <a:pPr marL="216000" indent="-216000">
              <a:buNone/>
            </a:pPr>
            <a:r>
              <a:rPr lang="en-US" sz="2000" b="0" strike="noStrike" spc="-1">
                <a:solidFill>
                  <a:srgbClr val="000000"/>
                </a:solidFill>
                <a:latin typeface="Arial"/>
              </a:rPr>
              <a:t>- BIG-IP → Server: HTTP (unencrypted, port 80)</a:t>
            </a:r>
          </a:p>
          <a:p>
            <a:pPr marL="216000" indent="-216000">
              <a:buNone/>
            </a:pPr>
            <a:r>
              <a:rPr lang="en-US" sz="2000" b="0" strike="noStrike" spc="-1">
                <a:solidFill>
                  <a:srgbClr val="000000"/>
                </a:solidFill>
                <a:latin typeface="Arial"/>
              </a:rPr>
              <a:t>- BIG-IP holds the SSL certificate and private key</a:t>
            </a:r>
          </a:p>
          <a:p>
            <a:pPr marL="216000" indent="-216000">
              <a:buNone/>
            </a:pPr>
            <a:r>
              <a:rPr lang="en-US" sz="2000" b="0" strike="noStrike" spc="-1">
                <a:solidFill>
                  <a:srgbClr val="000000"/>
                </a:solidFill>
                <a:latin typeface="Arial"/>
              </a:rPr>
              <a:t>- All L7 features available because BIG-IP can read decrypted HTTP</a:t>
            </a:r>
          </a:p>
          <a:p>
            <a:pPr marL="216000" indent="-216000">
              <a:buNone/>
            </a:pPr>
            <a:r>
              <a:rPr lang="en-US" sz="2000" b="0" strike="noStrike" spc="-1">
                <a:solidFill>
                  <a:srgbClr val="000000"/>
                </a:solidFill>
                <a:latin typeface="Arial"/>
              </a:rPr>
              <a:t>- Offloads CPU-intensive SSL operations from servers (significant for high-volume HTTPS)</a:t>
            </a:r>
          </a:p>
          <a:p>
            <a:pPr marL="216000" indent="-216000">
              <a:buNone/>
            </a:pPr>
            <a:r>
              <a:rPr lang="en-US" sz="2000" b="0" strike="noStrike" spc="-1">
                <a:solidFill>
                  <a:srgbClr val="000000"/>
                </a:solidFill>
                <a:latin typeface="Arial"/>
              </a:rPr>
              <a:t>- SECURITY: Server-side connection is unencrypted. Only use on trusted networks (same data center, behind firewall)</a:t>
            </a:r>
          </a:p>
          <a:p>
            <a:pPr marL="216000" indent="-216000">
              <a:buNone/>
            </a:pPr>
            <a:r>
              <a:rPr lang="en-US" sz="2000" b="0" strike="noStrike" spc="-1">
                <a:solidFill>
                  <a:srgbClr val="000000"/>
                </a:solidFill>
                <a:latin typeface="Arial"/>
              </a:rPr>
              <a:t>- This is the most common SSL configuration in enterprise deployments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SSL RE-ENCRYPTION (Client-SSL + Server-SSL):</a:t>
            </a:r>
          </a:p>
          <a:p>
            <a:pPr marL="216000" indent="-216000">
              <a:buNone/>
            </a:pPr>
            <a:r>
              <a:rPr lang="en-US" sz="2000" b="0" strike="noStrike" spc="-1">
                <a:solidFill>
                  <a:srgbClr val="000000"/>
                </a:solidFill>
                <a:latin typeface="Arial"/>
              </a:rPr>
              <a:t>BIG-IP terminates client SSL, inspects/modifies HTTP content, then re-encrypts before sending to server.</a:t>
            </a:r>
          </a:p>
          <a:p>
            <a:pPr marL="216000" indent="-216000">
              <a:buNone/>
            </a:pPr>
            <a:r>
              <a:rPr lang="en-US" sz="2000" b="0" strike="noStrike" spc="-1">
                <a:solidFill>
                  <a:srgbClr val="000000"/>
                </a:solidFill>
                <a:latin typeface="Arial"/>
              </a:rPr>
              <a:t>- Client → BIG-IP: HTTPS (encrypted with client-facing certificate)</a:t>
            </a:r>
          </a:p>
          <a:p>
            <a:pPr marL="216000" indent="-216000">
              <a:buNone/>
            </a:pPr>
            <a:r>
              <a:rPr lang="en-US" sz="2000" b="0" strike="noStrike" spc="-1">
                <a:solidFill>
                  <a:srgbClr val="000000"/>
                </a:solidFill>
                <a:latin typeface="Arial"/>
              </a:rPr>
              <a:t>- BIG-IP → Server: HTTPS (encrypted with server-facing certificate, may be different)</a:t>
            </a:r>
          </a:p>
          <a:p>
            <a:pPr marL="216000" indent="-216000">
              <a:buNone/>
            </a:pPr>
            <a:r>
              <a:rPr lang="en-US" sz="2000" b="0" strike="noStrike" spc="-1">
                <a:solidFill>
                  <a:srgbClr val="000000"/>
                </a:solidFill>
                <a:latin typeface="Arial"/>
              </a:rPr>
              <a:t>- Two SSL handshakes per connection: more CPU overhead than offload</a:t>
            </a:r>
          </a:p>
          <a:p>
            <a:pPr marL="216000" indent="-216000">
              <a:buNone/>
            </a:pPr>
            <a:r>
              <a:rPr lang="en-US" sz="2000" b="0" strike="noStrike" spc="-1">
                <a:solidFill>
                  <a:srgbClr val="000000"/>
                </a:solidFill>
                <a:latin typeface="Arial"/>
              </a:rPr>
              <a:t>- All L7 features available</a:t>
            </a:r>
          </a:p>
          <a:p>
            <a:pPr marL="216000" indent="-216000">
              <a:buNone/>
            </a:pPr>
            <a:r>
              <a:rPr lang="en-US" sz="2000" b="0" strike="noStrike" spc="-1">
                <a:solidFill>
                  <a:srgbClr val="000000"/>
                </a:solidFill>
                <a:latin typeface="Arial"/>
              </a:rPr>
              <a:t>- Server-SSL profile can optionally include a client certificate for mutual TLS to the backend — ensures servers only accept connections from the BIG-IP</a:t>
            </a:r>
          </a:p>
          <a:p>
            <a:pPr marL="216000" indent="-216000">
              <a:buNone/>
            </a:pPr>
            <a:r>
              <a:rPr lang="en-US" sz="2000" b="0" strike="noStrike" spc="-1">
                <a:solidFill>
                  <a:srgbClr val="000000"/>
                </a:solidFill>
                <a:latin typeface="Arial"/>
              </a:rPr>
              <a:t>- Use case: Compliance requirements (PCI DSS, HIPAA) mandate end-to-end encryption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KEY SSL PROFILE SETTINGS (from F5 documentation Table 5.5):</a:t>
            </a:r>
          </a:p>
          <a:p>
            <a:pPr marL="216000" indent="-216000">
              <a:buNone/>
            </a:pPr>
            <a:r>
              <a:rPr lang="en-US" sz="2000" b="0" strike="noStrike" spc="-1">
                <a:solidFill>
                  <a:srgbClr val="000000"/>
                </a:solidFill>
                <a:latin typeface="Arial"/>
              </a:rPr>
              <a:t>- Certificate: The cert BIG-IP presents. Client-SSL = server cert. Server-SSL = optional client cert.</a:t>
            </a:r>
          </a:p>
          <a:p>
            <a:pPr marL="216000" indent="-216000">
              <a:buNone/>
            </a:pPr>
            <a:r>
              <a:rPr lang="en-US" sz="2000" b="0" strike="noStrike" spc="-1">
                <a:solidFill>
                  <a:srgbClr val="000000"/>
                </a:solidFill>
                <a:latin typeface="Arial"/>
              </a:rPr>
              <a:t>- Key: Must match the certificate. BIG-IP validates at config time.</a:t>
            </a:r>
          </a:p>
          <a:p>
            <a:pPr marL="216000" indent="-216000">
              <a:buNone/>
            </a:pPr>
            <a:r>
              <a:rPr lang="en-US" sz="2000" b="0" strike="noStrike" spc="-1">
                <a:solidFill>
                  <a:srgbClr val="000000"/>
                </a:solidFill>
                <a:latin typeface="Arial"/>
              </a:rPr>
              <a:t>- Chain: Intermediate CA cert. Required when BIG-IP's cert is signed by an intermediate CA.</a:t>
            </a:r>
          </a:p>
          <a:p>
            <a:pPr marL="216000" indent="-216000">
              <a:buNone/>
            </a:pPr>
            <a:r>
              <a:rPr lang="en-US" sz="2000" b="0" strike="noStrike" spc="-1">
                <a:solidFill>
                  <a:srgbClr val="000000"/>
                </a:solidFill>
                <a:latin typeface="Arial"/>
              </a:rPr>
              <a:t>- Ciphers: OpenSSL cipher string. Controls which cipher suites are offered/accepted.</a:t>
            </a:r>
          </a:p>
          <a:p>
            <a:pPr marL="216000" indent="-216000">
              <a:buNone/>
            </a:pPr>
            <a:r>
              <a:rPr lang="en-US" sz="2000" b="0" strike="noStrike" spc="-1">
                <a:solidFill>
                  <a:srgbClr val="000000"/>
                </a:solidFill>
                <a:latin typeface="Arial"/>
              </a:rPr>
              <a:t>- Options: Selectively disable SSL/TLS versions (disable SSLv3, TLS 1.0, TLS 1.1).</a:t>
            </a:r>
          </a:p>
          <a:p>
            <a:pPr marL="216000" indent="-216000">
              <a:buNone/>
            </a:pPr>
            <a:r>
              <a:rPr lang="en-US" sz="2000" b="0" strike="noStrike" spc="-1">
                <a:solidFill>
                  <a:srgbClr val="000000"/>
                </a:solidFill>
                <a:latin typeface="Arial"/>
              </a:rPr>
              <a:t>- Client Authentication (Client-SSL): Enable mutual TLS — BIG-IP requests a cert from the client.</a:t>
            </a:r>
          </a:p>
          <a:p>
            <a:pPr marL="216000" indent="-216000">
              <a:buNone/>
            </a:pPr>
            <a:r>
              <a:rPr lang="en-US" sz="2000" b="0" strike="noStrike" spc="-1">
                <a:solidFill>
                  <a:srgbClr val="000000"/>
                </a:solidFill>
                <a:latin typeface="Arial"/>
              </a:rPr>
              <a:t>- Server Authentication (Server-SSL): Validate the server's cert. Usually disabled by default.</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COMMON STUDENT MISTAKES</a:t>
            </a:r>
          </a:p>
          <a:p>
            <a:pPr marL="216000" indent="-216000">
              <a:buNone/>
            </a:pPr>
            <a:r>
              <a:rPr lang="en-US" sz="2000" b="0" strike="noStrike" spc="-1">
                <a:solidFill>
                  <a:srgbClr val="000000"/>
                </a:solidFill>
                <a:latin typeface="Arial"/>
              </a:rPr>
              <a:t>- Adding a Server-SSL profile without a Client-SSL profile. This creates an odd configuration where the client-side is unencrypted but the server-side is encrypted. It works but is rarely intentional.</a:t>
            </a:r>
          </a:p>
          <a:p>
            <a:pPr marL="216000" indent="-216000">
              <a:buNone/>
            </a:pPr>
            <a:r>
              <a:rPr lang="en-US" sz="2000" b="0" strike="noStrike" spc="-1">
                <a:solidFill>
                  <a:srgbClr val="000000"/>
                </a:solidFill>
                <a:latin typeface="Arial"/>
              </a:rPr>
              <a:t>- Forgetting the chain certificate. If the BIG-IP's cert is signed by an intermediate CA and you don't include the chain, clients may get "untrusted certificate" errors because they can't verify the full certificate chain.</a:t>
            </a:r>
          </a:p>
          <a:p>
            <a:pPr marL="216000" indent="-216000">
              <a:buNone/>
            </a:pPr>
            <a:r>
              <a:rPr lang="en-US" sz="2000" b="0" strike="noStrike" spc="-1">
                <a:solidFill>
                  <a:srgbClr val="000000"/>
                </a:solidFill>
                <a:latin typeface="Arial"/>
              </a:rPr>
              <a:t>- Thinking SSL offload is insecure. On a controlled data center network behind firewalls, the server-side traffic is already on a trusted segment. SSL offload is the standard practice for most enterprise deployments.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PIVOT QUESTION</a:t>
            </a:r>
          </a:p>
          <a:p>
            <a:pPr marL="216000" indent="-216000">
              <a:buNone/>
            </a:pPr>
            <a:r>
              <a:rPr lang="en-US" sz="2000" b="0" strike="noStrike" spc="-1">
                <a:solidFill>
                  <a:srgbClr val="000000"/>
                </a:solidFill>
                <a:latin typeface="Arial"/>
              </a:rPr>
              <a:t>"A security audit requires end-to-end encryption AND HTTP header inspection for PCI compliance. Which SSL configuration do you use?"</a:t>
            </a:r>
          </a:p>
          <a:p>
            <a:pPr marL="216000" indent="-216000">
              <a:buNone/>
            </a:pPr>
            <a:r>
              <a:rPr lang="en-US" sz="2000" b="0" strike="noStrike" spc="-1">
                <a:solidFill>
                  <a:srgbClr val="000000"/>
                </a:solidFill>
                <a:latin typeface="Arial"/>
              </a:rPr>
              <a:t>ANSWER: SSL re-encryption (Client-SSL + Server-SSL). Client-SSL terminates the client's connection so the BIG-IP can inspect HTTP headers. Server-SSL re-encrypts to the backend, maintaining end-to-end encryption. The BIG-IP can apply HTTP profiles, iRules, and compression between the two encrypted segments.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F5 DOCUMENTATION</a:t>
            </a:r>
          </a:p>
          <a:p>
            <a:pPr marL="216000" indent="-216000">
              <a:buNone/>
            </a:pPr>
            <a:r>
              <a:rPr lang="en-US" sz="2000" b="0" strike="noStrike" spc="-1">
                <a:solidFill>
                  <a:srgbClr val="000000"/>
                </a:solidFill>
                <a:latin typeface="Arial"/>
              </a:rPr>
              <a:t>- Client-SSL profile: https://my.f5.com/manage/s/article/K14783</a:t>
            </a:r>
          </a:p>
          <a:p>
            <a:pPr marL="216000" indent="-216000">
              <a:buNone/>
            </a:pPr>
            <a:r>
              <a:rPr lang="en-US" sz="2000" b="0" strike="noStrike" spc="-1">
                <a:solidFill>
                  <a:srgbClr val="000000"/>
                </a:solidFill>
                <a:latin typeface="Arial"/>
              </a:rPr>
              <a:t>- Server-SSL profile: https://my.f5.com/manage/s/article/K14806</a:t>
            </a:r>
          </a:p>
          <a:p>
            <a:pPr marL="216000" indent="-216000">
              <a:buNone/>
            </a:pPr>
            <a:r>
              <a:rPr lang="en-US" sz="2000" b="0" strike="noStrike" spc="-1">
                <a:solidFill>
                  <a:srgbClr val="000000"/>
                </a:solidFill>
                <a:latin typeface="Arial"/>
              </a:rPr>
              <a:t>- SSL offload: https://my.f5.com/manage/s/article/K23843660 (Figure 5.2)</a:t>
            </a:r>
          </a:p>
          <a:p>
            <a:pPr marL="216000" indent="-216000">
              <a:buNone/>
            </a:pPr>
            <a:r>
              <a:rPr lang="en-US" sz="2000" b="0" strike="noStrike" spc="-1">
                <a:solidFill>
                  <a:srgbClr val="000000"/>
                </a:solidFill>
                <a:latin typeface="Arial"/>
              </a:rPr>
              <a:t>- SSL re-encryption: https://my.f5.com/manage/s/article/K23843660 (Figure 5.3)</a:t>
            </a:r>
          </a:p>
          <a:p>
            <a:pPr marL="216000" indent="-216000">
              <a:buNone/>
            </a:pPr>
            <a:r>
              <a:rPr lang="en-US" sz="2000" b="0" strike="noStrike" spc="-1">
                <a:solidFill>
                  <a:srgbClr val="000000"/>
                </a:solidFill>
                <a:latin typeface="Arial"/>
              </a:rPr>
              <a:t>- Cipher strings: https://my.f5.com/manage/s/article/K13171</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EXAM QUESTION PATTERNS</a:t>
            </a:r>
          </a:p>
          <a:p>
            <a:pPr marL="216000" indent="-216000">
              <a:buNone/>
            </a:pPr>
            <a:r>
              <a:rPr lang="en-US" sz="2000" b="0" strike="noStrike" spc="-1">
                <a:solidFill>
                  <a:srgbClr val="000000"/>
                </a:solidFill>
                <a:latin typeface="Arial"/>
              </a:rPr>
              <a:t>- "What profiles are needed for end-to-end encryption with L7 inspection?" → TCP + Client-SSL + Server-SSL + HTTP</a:t>
            </a:r>
          </a:p>
          <a:p>
            <a:pPr marL="216000" indent="-216000">
              <a:buNone/>
            </a:pPr>
            <a:r>
              <a:rPr lang="en-US" sz="2000" b="0" strike="noStrike" spc="-1">
                <a:solidFill>
                  <a:srgbClr val="000000"/>
                </a:solidFill>
                <a:latin typeface="Arial"/>
              </a:rPr>
              <a:t>- "What is the difference between SSL offload and SSL re-encryption?" → Offload = client-side only. Re-encryption = both sides.</a:t>
            </a:r>
          </a:p>
          <a:p>
            <a:pPr marL="216000" indent="-216000">
              <a:buNone/>
            </a:pPr>
            <a:r>
              <a:rPr lang="en-US" sz="2000" b="0" strike="noStrike" spc="-1">
                <a:solidFill>
                  <a:srgbClr val="000000"/>
                </a:solidFill>
                <a:latin typeface="Arial"/>
              </a:rPr>
              <a:t>- "Which SSL mode provides the highest performance?" → Pass-through (no decryption overhead)</a:t>
            </a:r>
          </a:p>
          <a:p>
            <a:pPr marL="216000" indent="0">
              <a:lnSpc>
                <a:spcPct val="100000"/>
              </a:lnSpc>
              <a:buNone/>
            </a:pPr>
            <a:r>
              <a:rPr lang="en-US" sz="2000" b="0" strike="noStrike" spc="-1">
                <a:solidFill>
                  <a:srgbClr val="000000"/>
                </a:solidFill>
                <a:latin typeface="Arial"/>
              </a:rPr>
              <a:t>- "What happens if you add an HTTP profile without a Client-SSL profile to an HTTPS VS?" → The BIG-IP cannot parse the encrypted content. HTTP events never fire because the payload is encrypted gibberish.</a:t>
            </a:r>
          </a:p>
        </p:txBody>
      </p:sp>
      <p:sp>
        <p:nvSpPr>
          <p:cNvPr id="2544" name="PlaceHolder 3"/>
          <p:cNvSpPr>
            <a:spLocks noGrp="1"/>
          </p:cNvSpPr>
          <p:nvPr>
            <p:ph type="sldNum" idx="27"/>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590A0727-42B6-49CF-B3AC-5CB1EEDD9733}" type="slidenum">
              <a:rPr lang="en-US" sz="1800" b="0" strike="noStrike" spc="-1">
                <a:solidFill>
                  <a:schemeClr val="dk1"/>
                </a:solidFill>
                <a:latin typeface="+mn-lt"/>
                <a:ea typeface="+mn-ea"/>
              </a:rPr>
              <a:t>24</a:t>
            </a:fld>
            <a:endParaRPr lang="en-US" sz="1800" b="0" strike="noStrike" spc="-1">
              <a:solidFill>
                <a:srgbClr val="000000"/>
              </a:solidFill>
              <a:latin typeface="Times New Roman"/>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5" name="PlaceHolder 1"/>
          <p:cNvSpPr>
            <a:spLocks noGrp="1" noRot="1" noChangeAspect="1"/>
          </p:cNvSpPr>
          <p:nvPr>
            <p:ph type="sldImg"/>
          </p:nvPr>
        </p:nvSpPr>
        <p:spPr>
          <a:xfrm>
            <a:off x="0" y="0"/>
            <a:ext cx="0" cy="0"/>
          </a:xfrm>
          <a:prstGeom prst="rect">
            <a:avLst/>
          </a:prstGeom>
          <a:ln w="0">
            <a:noFill/>
          </a:ln>
        </p:spPr>
      </p:sp>
      <p:sp>
        <p:nvSpPr>
          <p:cNvPr id="2546"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This slide directly addresses Beta objective F5CTSLTM2.04 (U/A): "Determine how to architect and deploy multi-tier applications using LTM." Sub-bullets: "Understand connection-based architecture and when/how to apply SNAT/persistence/SSL settings in a multi-tiered environment" and "Identify which device handles specific configuration objects in a multi-tiered deployment."</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FULL TECHNICAL EXPLANATION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THREE-TIER ARCHITECTURE — TIER BY TIER</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TIER 1: WEB FRONT-END (Client-facing)</a:t>
            </a:r>
          </a:p>
          <a:p>
            <a:pPr marL="216000" indent="-216000">
              <a:buNone/>
            </a:pPr>
            <a:r>
              <a:rPr lang="en-US" sz="2000" b="0" strike="noStrike" spc="-1">
                <a:solidFill>
                  <a:srgbClr val="000000"/>
                </a:solidFill>
                <a:latin typeface="Arial"/>
              </a:rPr>
              <a:t>Profile stack: TCP (wan/lan-optimized) + Client-SSL + HTTP + Cookie persistence + OneConnect + HTTP Compression + SNAT automap</a:t>
            </a:r>
          </a:p>
          <a:p>
            <a:pPr marL="216000" indent="-216000">
              <a:buNone/>
            </a:pPr>
            <a:r>
              <a:rPr lang="en-US" sz="2000" b="0" strike="noStrike" spc="-1">
                <a:solidFill>
                  <a:srgbClr val="000000"/>
                </a:solidFill>
                <a:latin typeface="Arial"/>
              </a:rPr>
              <a:t>- Terminates HTTPS from end users (Client-SSL with server certificate)</a:t>
            </a:r>
          </a:p>
          <a:p>
            <a:pPr marL="216000" indent="-216000">
              <a:buNone/>
            </a:pPr>
            <a:r>
              <a:rPr lang="en-US" sz="2000" b="0" strike="noStrike" spc="-1">
                <a:solidFill>
                  <a:srgbClr val="000000"/>
                </a:solidFill>
                <a:latin typeface="Arial"/>
              </a:rPr>
              <a:t>- Full HTTP processing: content switching, header manipulation, compression</a:t>
            </a:r>
          </a:p>
          <a:p>
            <a:pPr marL="216000" indent="-216000">
              <a:buNone/>
            </a:pPr>
            <a:r>
              <a:rPr lang="en-US" sz="2000" b="0" strike="noStrike" spc="-1">
                <a:solidFill>
                  <a:srgbClr val="000000"/>
                </a:solidFill>
                <a:latin typeface="Arial"/>
              </a:rPr>
              <a:t>- Cookie persistence for per-session user affinity</a:t>
            </a:r>
          </a:p>
          <a:p>
            <a:pPr marL="216000" indent="-216000">
              <a:buNone/>
            </a:pPr>
            <a:r>
              <a:rPr lang="en-US" sz="2000" b="0" strike="noStrike" spc="-1">
                <a:solidFill>
                  <a:srgbClr val="000000"/>
                </a:solidFill>
                <a:latin typeface="Arial"/>
              </a:rPr>
              <a:t>- OneConnect to reduce TCP connection overhead on web servers</a:t>
            </a:r>
          </a:p>
          <a:p>
            <a:pPr marL="216000" indent="-216000">
              <a:buNone/>
            </a:pPr>
            <a:r>
              <a:rPr lang="en-US" sz="2000" b="0" strike="noStrike" spc="-1">
                <a:solidFill>
                  <a:srgbClr val="000000"/>
                </a:solidFill>
                <a:latin typeface="Arial"/>
              </a:rPr>
              <a:t>- HTTP Compression for bandwidth reduction</a:t>
            </a:r>
          </a:p>
          <a:p>
            <a:pPr marL="216000" indent="-216000">
              <a:buNone/>
            </a:pPr>
            <a:r>
              <a:rPr lang="en-US" sz="2000" b="0" strike="noStrike" spc="-1">
                <a:solidFill>
                  <a:srgbClr val="000000"/>
                </a:solidFill>
                <a:latin typeface="Arial"/>
              </a:rPr>
              <a:t>- SNAT automap because web servers typically don't gateway through the BIG-IP</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TIER 2: APPLICATION LOGIC (Internal)</a:t>
            </a:r>
          </a:p>
          <a:p>
            <a:pPr marL="216000" indent="-216000">
              <a:buNone/>
            </a:pPr>
            <a:r>
              <a:rPr lang="en-US" sz="2000" b="0" strike="noStrike" spc="-1">
                <a:solidFill>
                  <a:srgbClr val="000000"/>
                </a:solidFill>
                <a:latin typeface="Arial"/>
              </a:rPr>
              <a:t>Profile stack: TCP + HTTP (if app uses HTTP) + Source address persistence + SNAT automap</a:t>
            </a:r>
          </a:p>
          <a:p>
            <a:pPr marL="216000" indent="-216000">
              <a:buNone/>
            </a:pPr>
            <a:r>
              <a:rPr lang="en-US" sz="2000" b="0" strike="noStrike" spc="-1">
                <a:solidFill>
                  <a:srgbClr val="000000"/>
                </a:solidFill>
                <a:latin typeface="Arial"/>
              </a:rPr>
              <a:t>- No SSL: traffic is on a trusted internal VLAN. Adding SSL wastes CPU with no security benefit.</a:t>
            </a:r>
          </a:p>
          <a:p>
            <a:pPr marL="216000" indent="-216000">
              <a:buNone/>
            </a:pPr>
            <a:r>
              <a:rPr lang="en-US" sz="2000" b="0" strike="noStrike" spc="-1">
                <a:solidFill>
                  <a:srgbClr val="000000"/>
                </a:solidFill>
                <a:latin typeface="Arial"/>
              </a:rPr>
              <a:t>- Source address persistence: the "client" at this tier is the web server or Tier 1 BIG-IP, not the end user. Cookie persistence is possible if HTTP is available but source address is simpler.</a:t>
            </a:r>
          </a:p>
          <a:p>
            <a:pPr marL="216000" indent="-216000">
              <a:buNone/>
            </a:pPr>
            <a:r>
              <a:rPr lang="en-US" sz="2000" b="0" strike="noStrike" spc="-1">
                <a:solidFill>
                  <a:srgbClr val="000000"/>
                </a:solidFill>
                <a:latin typeface="Arial"/>
              </a:rPr>
              <a:t>- HTTP profile: only if the application protocol between web and app servers is HTTP/REST. Some apps use proprietary binary protocols — no HTTP profile in that case.</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TIER 3: DATABASE (Backend)</a:t>
            </a:r>
          </a:p>
          <a:p>
            <a:pPr marL="216000" indent="-216000">
              <a:buNone/>
            </a:pPr>
            <a:r>
              <a:rPr lang="en-US" sz="2000" b="0" strike="noStrike" spc="-1">
                <a:solidFill>
                  <a:srgbClr val="000000"/>
                </a:solidFill>
                <a:latin typeface="Arial"/>
              </a:rPr>
              <a:t>Profile stack: FastL4 or TCP + Source address persistence + SNAT automap</a:t>
            </a:r>
          </a:p>
          <a:p>
            <a:pPr marL="216000" indent="-216000">
              <a:buNone/>
            </a:pPr>
            <a:r>
              <a:rPr lang="en-US" sz="2000" b="0" strike="noStrike" spc="-1">
                <a:solidFill>
                  <a:srgbClr val="000000"/>
                </a:solidFill>
                <a:latin typeface="Arial"/>
              </a:rPr>
              <a:t>- FastL4 preferred: database connections are long-lived and don't need L7 inspection. FastL4 provides highest throughput with lowest overhead.</a:t>
            </a:r>
          </a:p>
          <a:p>
            <a:pPr marL="216000" indent="-216000">
              <a:buNone/>
            </a:pPr>
            <a:r>
              <a:rPr lang="en-US" sz="2000" b="0" strike="noStrike" spc="-1">
                <a:solidFill>
                  <a:srgbClr val="000000"/>
                </a:solidFill>
                <a:latin typeface="Arial"/>
              </a:rPr>
              <a:t>- No HTTP: database protocols (MySQL 3306, PostgreSQL 5432, MSSQL 1433, Oracle 1521) are NOT HTTP.</a:t>
            </a:r>
          </a:p>
          <a:p>
            <a:pPr marL="216000" indent="-216000">
              <a:buNone/>
            </a:pPr>
            <a:r>
              <a:rPr lang="en-US" sz="2000" b="0" strike="noStrike" spc="-1">
                <a:solidFill>
                  <a:srgbClr val="000000"/>
                </a:solidFill>
                <a:latin typeface="Arial"/>
              </a:rPr>
              <a:t>- No SSL: internal traffic. If compliance requires encrypted DB connections, handle it at the application/DB level (MySQL SSL, PostgreSQL sslmode).</a:t>
            </a:r>
          </a:p>
          <a:p>
            <a:pPr marL="216000" indent="-216000">
              <a:buNone/>
            </a:pPr>
            <a:r>
              <a:rPr lang="en-US" sz="2000" b="0" strike="noStrike" spc="-1">
                <a:solidFill>
                  <a:srgbClr val="000000"/>
                </a:solidFill>
                <a:latin typeface="Arial"/>
              </a:rPr>
              <a:t>- No compression: binary protocols don't benefit from HTTP compression.</a:t>
            </a:r>
          </a:p>
          <a:p>
            <a:pPr marL="216000" indent="-216000">
              <a:buNone/>
            </a:pPr>
            <a:r>
              <a:rPr lang="en-US" sz="2000" b="0" strike="noStrike" spc="-1">
                <a:solidFill>
                  <a:srgbClr val="000000"/>
                </a:solidFill>
                <a:latin typeface="Arial"/>
              </a:rPr>
              <a:t>- Idle timeout: must be set LONGER than default for database connections. DB connections can be idle for minutes during batch processing. Default 300 seconds may be too short.</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CRITICAL CONCEPT: SNAT + PERSISTENCE CASCADE</a:t>
            </a:r>
          </a:p>
          <a:p>
            <a:pPr marL="216000" indent="-216000">
              <a:buNone/>
            </a:pPr>
            <a:r>
              <a:rPr lang="en-US" sz="2000" b="0" strike="noStrike" spc="-1">
                <a:solidFill>
                  <a:srgbClr val="000000"/>
                </a:solidFill>
                <a:latin typeface="Arial"/>
              </a:rPr>
              <a:t>When Tier 1 uses SNAT automap, ALL traffic to Tier 2 appears to come from the BIG-IP's self IP (not the original client IPs). This means:</a:t>
            </a:r>
          </a:p>
          <a:p>
            <a:pPr marL="216000" indent="-216000">
              <a:buNone/>
            </a:pPr>
            <a:r>
              <a:rPr lang="en-US" sz="2000" b="0" strike="noStrike" spc="-1">
                <a:solidFill>
                  <a:srgbClr val="000000"/>
                </a:solidFill>
                <a:latin typeface="Arial"/>
              </a:rPr>
              <a:t>- Tier 2 source address persistence sees ONE source IP for ALL users → all users persist to the same app server → defeats load balancing</a:t>
            </a:r>
          </a:p>
          <a:p>
            <a:pPr marL="216000" indent="-216000">
              <a:buNone/>
            </a:pPr>
            <a:r>
              <a:rPr lang="en-US" sz="2000" b="0" strike="noStrike" spc="-1">
                <a:solidFill>
                  <a:srgbClr val="000000"/>
                </a:solidFill>
                <a:latin typeface="Arial"/>
              </a:rPr>
              <a:t>- If Tier 2 also uses SNAT, the same problem cascades to Tier 3</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Solutions:</a:t>
            </a:r>
          </a:p>
          <a:p>
            <a:pPr marL="216000" indent="-216000">
              <a:buNone/>
            </a:pPr>
            <a:r>
              <a:rPr lang="en-US" sz="2000" b="0" strike="noStrike" spc="-1">
                <a:solidFill>
                  <a:srgbClr val="000000"/>
                </a:solidFill>
                <a:latin typeface="Arial"/>
              </a:rPr>
              <a:t>1. Cookie persistence at Tier 2 (if HTTP is available)</a:t>
            </a:r>
          </a:p>
          <a:p>
            <a:pPr marL="216000" indent="-216000">
              <a:buNone/>
            </a:pPr>
            <a:r>
              <a:rPr lang="en-US" sz="2000" b="0" strike="noStrike" spc="-1">
                <a:solidFill>
                  <a:srgbClr val="000000"/>
                </a:solidFill>
                <a:latin typeface="Arial"/>
              </a:rPr>
              <a:t>2. Universal persistence at Tier 2 using XFF header from Tier 1</a:t>
            </a:r>
          </a:p>
          <a:p>
            <a:pPr marL="216000" indent="-216000">
              <a:buNone/>
            </a:pPr>
            <a:r>
              <a:rPr lang="en-US" sz="2000" b="0" strike="noStrike" spc="-1">
                <a:solidFill>
                  <a:srgbClr val="000000"/>
                </a:solidFill>
                <a:latin typeface="Arial"/>
              </a:rPr>
              <a:t>3. Eliminate SNAT at Tier 1 (change web server routing to gateway through BIG-IP)</a:t>
            </a:r>
          </a:p>
          <a:p>
            <a:pPr marL="216000" indent="-216000">
              <a:buNone/>
            </a:pPr>
            <a:r>
              <a:rPr lang="en-US" sz="2000" b="0" strike="noStrike" spc="-1">
                <a:solidFill>
                  <a:srgbClr val="000000"/>
                </a:solidFill>
                <a:latin typeface="Arial"/>
              </a:rPr>
              <a:t>4. Insert a custom header at Tier 1 via iRule with a unique client identifier</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COMMON STUDENT MISTAKES</a:t>
            </a:r>
          </a:p>
          <a:p>
            <a:pPr marL="216000" indent="-216000">
              <a:buNone/>
            </a:pPr>
            <a:r>
              <a:rPr lang="en-US" sz="2000" b="0" strike="noStrike" spc="-1">
                <a:solidFill>
                  <a:srgbClr val="000000"/>
                </a:solidFill>
                <a:latin typeface="Arial"/>
              </a:rPr>
              <a:t>- Applying the same profile stack to all tiers. Each tier has different requirements.</a:t>
            </a:r>
          </a:p>
          <a:p>
            <a:pPr marL="216000" indent="-216000">
              <a:buNone/>
            </a:pPr>
            <a:r>
              <a:rPr lang="en-US" sz="2000" b="0" strike="noStrike" spc="-1">
                <a:solidFill>
                  <a:srgbClr val="000000"/>
                </a:solidFill>
                <a:latin typeface="Arial"/>
              </a:rPr>
              <a:t>- Adding HTTP profile to the database tier VS. Database protocols are not HTTP — an HTTP profile would attempt to parse MySQL/PostgreSQL packets as HTTP and fail.</a:t>
            </a:r>
          </a:p>
          <a:p>
            <a:pPr marL="216000" indent="-216000">
              <a:buNone/>
            </a:pPr>
            <a:r>
              <a:rPr lang="en-US" sz="2000" b="0" strike="noStrike" spc="-1">
                <a:solidFill>
                  <a:srgbClr val="000000"/>
                </a:solidFill>
                <a:latin typeface="Arial"/>
              </a:rPr>
              <a:t>- Setting idle timeout too low on the DB tier. Long-running queries and connection pools keep connections idle for extended periods.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PIVOT QUESTION</a:t>
            </a:r>
          </a:p>
          <a:p>
            <a:pPr marL="216000" indent="-216000">
              <a:buNone/>
            </a:pPr>
            <a:r>
              <a:rPr lang="en-US" sz="2000" b="0" strike="noStrike" spc="-1">
                <a:solidFill>
                  <a:srgbClr val="000000"/>
                </a:solidFill>
                <a:latin typeface="Arial"/>
              </a:rPr>
              <a:t>"Your three-tier app works, but monitoring shows all database connections go to DB1 while DB2 is idle. Tier 2 uses SNAT automap and Tier 3 uses source address persistence. What's the root cause?"</a:t>
            </a:r>
          </a:p>
          <a:p>
            <a:pPr marL="216000" indent="-216000">
              <a:buNone/>
            </a:pPr>
            <a:r>
              <a:rPr lang="en-US" sz="2000" b="0" strike="noStrike" spc="-1">
                <a:solidFill>
                  <a:srgbClr val="000000"/>
                </a:solidFill>
                <a:latin typeface="Arial"/>
              </a:rPr>
              <a:t>ANSWER: Tier 2 SNAT automap makes all traffic to Tier 3 appear from the same source IP (BIG-IP self IP). Tier 3 source address persistence maps this single IP to DB1. Fix: remove SNAT on Tier 2 (if routing allows), or change Tier 3 to round robin (if app handles it), or use a more granular persistence method.</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F5 DOCUMENTATION</a:t>
            </a:r>
          </a:p>
          <a:p>
            <a:pPr marL="216000" indent="-216000">
              <a:buNone/>
            </a:pPr>
            <a:r>
              <a:rPr lang="en-US" sz="2000" b="0" strike="noStrike" spc="-1">
                <a:solidFill>
                  <a:srgbClr val="000000"/>
                </a:solidFill>
                <a:latin typeface="Arial"/>
              </a:rPr>
              <a:t>- Multi-tier deployment: https://techdocs.f5.com/en-us/bigip-14-1-0/big-ip-local-traffic-manager-implementations.html</a:t>
            </a:r>
          </a:p>
          <a:p>
            <a:pPr marL="216000" indent="-216000">
              <a:buNone/>
            </a:pPr>
            <a:r>
              <a:rPr lang="en-US" sz="2000" b="0" strike="noStrike" spc="-1">
                <a:solidFill>
                  <a:srgbClr val="000000"/>
                </a:solidFill>
                <a:latin typeface="Arial"/>
              </a:rPr>
              <a:t>- Connection architecture: https://my.f5.com/manage/s/article/K23843660</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EXAM QUESTION PATTERNS</a:t>
            </a:r>
          </a:p>
          <a:p>
            <a:pPr marL="216000" indent="-216000">
              <a:buNone/>
            </a:pPr>
            <a:r>
              <a:rPr lang="en-US" sz="2000" b="0" strike="noStrike" spc="-1">
                <a:solidFill>
                  <a:srgbClr val="000000"/>
                </a:solidFill>
                <a:latin typeface="Arial"/>
              </a:rPr>
              <a:t>- "In a three-tier deployment, which tier terminates SSL?" → Tier 1 (web front-end)</a:t>
            </a:r>
          </a:p>
          <a:p>
            <a:pPr marL="216000" indent="-216000">
              <a:buNone/>
            </a:pPr>
            <a:r>
              <a:rPr lang="en-US" sz="2000" b="0" strike="noStrike" spc="-1">
                <a:solidFill>
                  <a:srgbClr val="000000"/>
                </a:solidFill>
                <a:latin typeface="Arial"/>
              </a:rPr>
              <a:t>- "Why would you use FastL4 on the database tier?" → No L7 inspection needed, highest throughput</a:t>
            </a:r>
          </a:p>
          <a:p>
            <a:pPr marL="216000" indent="0">
              <a:lnSpc>
                <a:spcPct val="100000"/>
              </a:lnSpc>
              <a:buNone/>
            </a:pPr>
            <a:r>
              <a:rPr lang="en-US" sz="2000" b="0" strike="noStrike" spc="-1">
                <a:solidFill>
                  <a:srgbClr val="000000"/>
                </a:solidFill>
                <a:latin typeface="Arial"/>
              </a:rPr>
              <a:t>- "What happens when SNAT automap is used at Tier 1 with source address persistence at Tier 2?" → All traffic appears from one IP, breaking persistence distribution</a:t>
            </a:r>
          </a:p>
        </p:txBody>
      </p:sp>
      <p:sp>
        <p:nvSpPr>
          <p:cNvPr id="2547" name="PlaceHolder 3"/>
          <p:cNvSpPr>
            <a:spLocks noGrp="1"/>
          </p:cNvSpPr>
          <p:nvPr>
            <p:ph type="sldNum" idx="28"/>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9D96B9D6-E460-4256-BB64-7E4DA4EAED81}" type="slidenum">
              <a:rPr lang="en-US" sz="1800" b="0" strike="noStrike" spc="-1">
                <a:solidFill>
                  <a:schemeClr val="dk1"/>
                </a:solidFill>
                <a:latin typeface="+mn-lt"/>
                <a:ea typeface="+mn-ea"/>
              </a:rPr>
              <a:t>25</a:t>
            </a:fld>
            <a:endParaRPr lang="en-US" sz="1800" b="0" strike="noStrike" spc="-1">
              <a:solidFill>
                <a:srgbClr val="000000"/>
              </a:solidFill>
              <a:latin typeface="Times New Roman"/>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8" name="PlaceHolder 1"/>
          <p:cNvSpPr>
            <a:spLocks noGrp="1" noRot="1" noChangeAspect="1"/>
          </p:cNvSpPr>
          <p:nvPr>
            <p:ph type="sldImg"/>
          </p:nvPr>
        </p:nvSpPr>
        <p:spPr>
          <a:xfrm>
            <a:off x="0" y="0"/>
            <a:ext cx="0" cy="0"/>
          </a:xfrm>
          <a:prstGeom prst="rect">
            <a:avLst/>
          </a:prstGeom>
          <a:ln w="0">
            <a:noFill/>
          </a:ln>
        </p:spPr>
      </p:sp>
      <p:sp>
        <p:nvSpPr>
          <p:cNvPr id="2549"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This slide addresses Beta objective F5CTSLTM2.10 (A/E): "Given a scenario, determine the appropriate profile setting modifications." Students must understand when to apply compression, when to apply caching, and when to use both. This is an Analyze/Evaluate level objective — the exam presents scenarios requiring judgment.</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FULL TECHNICAL EXPLANATION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HTTP COMPRESSION — STEP BY STEP</a:t>
            </a:r>
          </a:p>
          <a:p>
            <a:pPr marL="216000" indent="-216000">
              <a:buNone/>
            </a:pPr>
            <a:r>
              <a:rPr lang="en-US" sz="2000" b="0" strike="noStrike" spc="-1">
                <a:solidFill>
                  <a:srgbClr val="000000"/>
                </a:solidFill>
                <a:latin typeface="Arial"/>
              </a:rPr>
              <a:t>1. Client sends request with header "Accept-Encoding: gzip, deflate" (browser supports compression)</a:t>
            </a:r>
          </a:p>
          <a:p>
            <a:pPr marL="216000" indent="-216000">
              <a:buNone/>
            </a:pPr>
            <a:r>
              <a:rPr lang="en-US" sz="2000" b="0" strike="noStrike" spc="-1">
                <a:solidFill>
                  <a:srgbClr val="000000"/>
                </a:solidFill>
                <a:latin typeface="Arial"/>
              </a:rPr>
              <a:t>2. BIG-IP forwards request to server (removes Accept-Encoding so server sends uncompressed response)</a:t>
            </a:r>
          </a:p>
          <a:p>
            <a:pPr marL="216000" indent="-216000">
              <a:buNone/>
            </a:pPr>
            <a:r>
              <a:rPr lang="en-US" sz="2000" b="0" strike="noStrike" spc="-1">
                <a:solidFill>
                  <a:srgbClr val="000000"/>
                </a:solidFill>
                <a:latin typeface="Arial"/>
              </a:rPr>
              <a:t>3. Server responds with uncompressed content (e.g., 50KB HTML page)</a:t>
            </a:r>
          </a:p>
          <a:p>
            <a:pPr marL="216000" indent="-216000">
              <a:buNone/>
            </a:pPr>
            <a:r>
              <a:rPr lang="en-US" sz="2000" b="0" strike="noStrike" spc="-1">
                <a:solidFill>
                  <a:srgbClr val="000000"/>
                </a:solidFill>
                <a:latin typeface="Arial"/>
              </a:rPr>
              <a:t>4. BIG-IP compresses the response body using gzip (50KB → 12KB)</a:t>
            </a:r>
          </a:p>
          <a:p>
            <a:pPr marL="216000" indent="-216000">
              <a:buNone/>
            </a:pPr>
            <a:r>
              <a:rPr lang="en-US" sz="2000" b="0" strike="noStrike" spc="-1">
                <a:solidFill>
                  <a:srgbClr val="000000"/>
                </a:solidFill>
                <a:latin typeface="Arial"/>
              </a:rPr>
              <a:t>5. BIG-IP sends compressed response to client with "Content-Encoding: gzip" header</a:t>
            </a:r>
          </a:p>
          <a:p>
            <a:pPr marL="216000" indent="-216000">
              <a:buNone/>
            </a:pPr>
            <a:r>
              <a:rPr lang="en-US" sz="2000" b="0" strike="noStrike" spc="-1">
                <a:solidFill>
                  <a:srgbClr val="000000"/>
                </a:solidFill>
                <a:latin typeface="Arial"/>
              </a:rPr>
              <a:t>6. Client browser transparently decompresses and renders the content</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Key profile settings (wan-optimized-compression):</a:t>
            </a:r>
          </a:p>
          <a:p>
            <a:pPr marL="216000" indent="-216000">
              <a:buNone/>
            </a:pPr>
            <a:r>
              <a:rPr lang="en-US" sz="2000" b="0" strike="noStrike" spc="-1">
                <a:solidFill>
                  <a:srgbClr val="000000"/>
                </a:solidFill>
                <a:latin typeface="Arial"/>
              </a:rPr>
              <a:t>- Content Type Include: text/html, text/css, application/javascript, application/json (compressible text types)</a:t>
            </a:r>
          </a:p>
          <a:p>
            <a:pPr marL="216000" indent="-216000">
              <a:buNone/>
            </a:pPr>
            <a:r>
              <a:rPr lang="en-US" sz="2000" b="0" strike="noStrike" spc="-1">
                <a:solidFill>
                  <a:srgbClr val="000000"/>
                </a:solidFill>
                <a:latin typeface="Arial"/>
              </a:rPr>
              <a:t>- Content Type Exclude: image/jpeg, image/png, video/* (already compressed, would waste CPU)</a:t>
            </a:r>
          </a:p>
          <a:p>
            <a:pPr marL="216000" indent="-216000">
              <a:buNone/>
            </a:pPr>
            <a:r>
              <a:rPr lang="en-US" sz="2000" b="0" strike="noStrike" spc="-1">
                <a:solidFill>
                  <a:srgbClr val="000000"/>
                </a:solidFill>
                <a:latin typeface="Arial"/>
              </a:rPr>
              <a:t>- Minimum Content Length: Don't compress tiny responses (&lt;1KB — compression overhead exceeds savings)</a:t>
            </a:r>
          </a:p>
          <a:p>
            <a:pPr marL="216000" indent="-216000">
              <a:buNone/>
            </a:pPr>
            <a:r>
              <a:rPr lang="en-US" sz="2000" b="0" strike="noStrike" spc="-1">
                <a:solidFill>
                  <a:srgbClr val="000000"/>
                </a:solidFill>
                <a:latin typeface="Arial"/>
              </a:rPr>
              <a:t>- Gzip Level: 1 (fastest, least compression) to 9 (slowest, most compression). Default: 1. Level 1 provides ~60% size reduction. Level 6 provides ~65%. The extra 5% isn't worth the 3-5x CPU increase. F5 recommends level 1.</a:t>
            </a:r>
          </a:p>
          <a:p>
            <a:pPr marL="216000" indent="-216000">
              <a:buNone/>
            </a:pPr>
            <a:r>
              <a:rPr lang="en-US" sz="2000" b="0" strike="noStrike" spc="-1">
                <a:solidFill>
                  <a:srgbClr val="000000"/>
                </a:solidFill>
                <a:latin typeface="Arial"/>
              </a:rPr>
              <a:t>- Gzip Memory Level: Controls RAM allocated for compression buffers per connection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WEB ACCELERATION (RAMCACHE) — STEP BY STEP</a:t>
            </a:r>
          </a:p>
          <a:p>
            <a:pPr marL="216000" indent="-216000">
              <a:buNone/>
            </a:pPr>
            <a:r>
              <a:rPr lang="en-US" sz="2000" b="0" strike="noStrike" spc="-1">
                <a:solidFill>
                  <a:srgbClr val="000000"/>
                </a:solidFill>
                <a:latin typeface="Arial"/>
              </a:rPr>
              <a:t>1. First request for /styles.css → BIG-IP forwards to server → receives response → caches it in RAM → sends to client</a:t>
            </a:r>
          </a:p>
          <a:p>
            <a:pPr marL="216000" indent="-216000">
              <a:buNone/>
            </a:pPr>
            <a:r>
              <a:rPr lang="en-US" sz="2000" b="0" strike="noStrike" spc="-1">
                <a:solidFill>
                  <a:srgbClr val="000000"/>
                </a:solidFill>
                <a:latin typeface="Arial"/>
              </a:rPr>
              <a:t>2. Second request for /styles.css → BIG-IP checks cache → cache hit → serves directly from RAM → server never contacted</a:t>
            </a:r>
          </a:p>
          <a:p>
            <a:pPr marL="216000" indent="-216000">
              <a:buNone/>
            </a:pPr>
            <a:r>
              <a:rPr lang="en-US" sz="2000" b="0" strike="noStrike" spc="-1">
                <a:solidFill>
                  <a:srgbClr val="000000"/>
                </a:solidFill>
                <a:latin typeface="Arial"/>
              </a:rPr>
              <a:t>3. Cache entry expires based on HTTP Cache-Control/Expires headers from server, or the profile's Maximum Age setting</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Key profile settings (optimized-caching):</a:t>
            </a:r>
          </a:p>
          <a:p>
            <a:pPr marL="216000" indent="-216000">
              <a:buNone/>
            </a:pPr>
            <a:r>
              <a:rPr lang="en-US" sz="2000" b="0" strike="noStrike" spc="-1">
                <a:solidFill>
                  <a:srgbClr val="000000"/>
                </a:solidFill>
                <a:latin typeface="Arial"/>
              </a:rPr>
              <a:t>- Cache Size: Maximum RAM in MB for cached content. Default: 100MB. Monitor with: show ltm profile ramcache [name]</a:t>
            </a:r>
          </a:p>
          <a:p>
            <a:pPr marL="216000" indent="-216000">
              <a:buNone/>
            </a:pPr>
            <a:r>
              <a:rPr lang="en-US" sz="2000" b="0" strike="noStrike" spc="-1">
                <a:solidFill>
                  <a:srgbClr val="000000"/>
                </a:solidFill>
                <a:latin typeface="Arial"/>
              </a:rPr>
              <a:t>- Maximum Entries: Maximum number of cached objects</a:t>
            </a:r>
          </a:p>
          <a:p>
            <a:pPr marL="216000" indent="-216000">
              <a:buNone/>
            </a:pPr>
            <a:r>
              <a:rPr lang="en-US" sz="2000" b="0" strike="noStrike" spc="-1">
                <a:solidFill>
                  <a:srgbClr val="000000"/>
                </a:solidFill>
                <a:latin typeface="Arial"/>
              </a:rPr>
              <a:t>- Maximum Object Size: Largest response to cache (don't cache multi-MB files)</a:t>
            </a:r>
          </a:p>
          <a:p>
            <a:pPr marL="216000" indent="-216000">
              <a:buNone/>
            </a:pPr>
            <a:r>
              <a:rPr lang="en-US" sz="2000" b="0" strike="noStrike" spc="-1">
                <a:solidFill>
                  <a:srgbClr val="000000"/>
                </a:solidFill>
                <a:latin typeface="Arial"/>
              </a:rPr>
              <a:t>- Cache Aging Rate: Multiplier for expiration acceleration/deceleration</a:t>
            </a:r>
          </a:p>
          <a:p>
            <a:pPr marL="216000" indent="-216000">
              <a:buNone/>
            </a:pPr>
            <a:r>
              <a:rPr lang="en-US" sz="2000" b="0" strike="noStrike" spc="-1">
                <a:solidFill>
                  <a:srgbClr val="000000"/>
                </a:solidFill>
                <a:latin typeface="Arial"/>
              </a:rPr>
              <a:t>- URI Include/Exclude: Control which URIs are cached</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WHEN TO USE WHICH</a:t>
            </a:r>
          </a:p>
          <a:p>
            <a:pPr marL="216000" indent="-216000">
              <a:buNone/>
            </a:pPr>
            <a:r>
              <a:rPr lang="en-US" sz="2000" b="0" strike="noStrike" spc="-1">
                <a:solidFill>
                  <a:srgbClr val="000000"/>
                </a:solidFill>
                <a:latin typeface="Arial"/>
              </a:rPr>
              <a:t>Dynamic content (login pages, API responses, personalized dashboards) → Compression only. Caching would serve stale/wrong data to users.</a:t>
            </a:r>
          </a:p>
          <a:p>
            <a:pPr marL="216000" indent="-216000">
              <a:buNone/>
            </a:pPr>
            <a:r>
              <a:rPr lang="en-US" sz="2000" b="0" strike="noStrike" spc="-1">
                <a:solidFill>
                  <a:srgbClr val="000000"/>
                </a:solidFill>
                <a:latin typeface="Arial"/>
              </a:rPr>
              <a:t>Static content (images, CSS, JS, fonts) → Caching. Eliminates server round-trips entirely for cache hits.</a:t>
            </a:r>
          </a:p>
          <a:p>
            <a:pPr marL="216000" indent="-216000">
              <a:buNone/>
            </a:pPr>
            <a:r>
              <a:rPr lang="en-US" sz="2000" b="0" strike="noStrike" spc="-1">
                <a:solidFill>
                  <a:srgbClr val="000000"/>
                </a:solidFill>
                <a:latin typeface="Arial"/>
              </a:rPr>
              <a:t>Mixed content (typical web app) → Both. The BIG-IP caches the compressed version — most efficient.</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COMBINED: When both are enabled, the BIG-IP compresses the response on the first request and caches the COMPRESSED version. Subsequent cache hits serve the pre-compressed content without re-compressing or contacting the server. This provides both bandwidth reduction AND server offload.</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IMAGES ARE ALREADY COMPRESSED</a:t>
            </a:r>
          </a:p>
          <a:p>
            <a:pPr marL="216000" indent="-216000">
              <a:buNone/>
            </a:pPr>
            <a:r>
              <a:rPr lang="en-US" sz="2000" b="0" strike="noStrike" spc="-1">
                <a:solidFill>
                  <a:srgbClr val="000000"/>
                </a:solidFill>
                <a:latin typeface="Arial"/>
              </a:rPr>
              <a:t>JPEG, PNG, GIF, and WebP are already compressed formats. Attempting to gzip them wastes CPU cycles and can actually increase the file size slightly (gzip overhead on incompressible data). The wan-optimized-compression profile's Content Type Include list does NOT include image types by default — but verify this.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For images, use RamCache instead — caching eliminates the server round-trip without attempting futile compression.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COMMON STUDENT MISTAKES</a:t>
            </a:r>
          </a:p>
          <a:p>
            <a:pPr marL="216000" indent="-216000">
              <a:buNone/>
            </a:pPr>
            <a:r>
              <a:rPr lang="en-US" sz="2000" b="0" strike="noStrike" spc="-1">
                <a:solidFill>
                  <a:srgbClr val="000000"/>
                </a:solidFill>
                <a:latin typeface="Arial"/>
              </a:rPr>
              <a:t>- Enabling compression and expecting images to load faster. Images are already compressed.</a:t>
            </a:r>
          </a:p>
          <a:p>
            <a:pPr marL="216000" indent="-216000">
              <a:buNone/>
            </a:pPr>
            <a:r>
              <a:rPr lang="en-US" sz="2000" b="0" strike="noStrike" spc="-1">
                <a:solidFill>
                  <a:srgbClr val="000000"/>
                </a:solidFill>
                <a:latin typeface="Arial"/>
              </a:rPr>
              <a:t>- Setting gzip level to 9 thinking "maximum compression is best." Level 1 provides 95% of the benefit at 20% of the CPU cost.</a:t>
            </a:r>
          </a:p>
          <a:p>
            <a:pPr marL="216000" indent="-216000">
              <a:buNone/>
            </a:pPr>
            <a:r>
              <a:rPr lang="en-US" sz="2000" b="0" strike="noStrike" spc="-1">
                <a:solidFill>
                  <a:srgbClr val="000000"/>
                </a:solidFill>
                <a:latin typeface="Arial"/>
              </a:rPr>
              <a:t>- Forgetting that both profiles require HTTP. Without HTTP, the BIG-IP can't parse HTTP responses to compress or cache them.</a:t>
            </a:r>
          </a:p>
          <a:p>
            <a:pPr marL="216000" indent="-216000">
              <a:buNone/>
            </a:pPr>
            <a:r>
              <a:rPr lang="en-US" sz="2000" b="0" strike="noStrike" spc="-1">
                <a:solidFill>
                  <a:srgbClr val="000000"/>
                </a:solidFill>
                <a:latin typeface="Arial"/>
              </a:rPr>
              <a:t>- Not checking cache statistics. Students enable caching but don't verify it's working: show ltm profile ramcache [name]</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PIVOT QUESTION</a:t>
            </a:r>
          </a:p>
          <a:p>
            <a:pPr marL="216000" indent="-216000">
              <a:buNone/>
            </a:pPr>
            <a:r>
              <a:rPr lang="en-US" sz="2000" b="0" strike="noStrike" spc="-1">
                <a:solidFill>
                  <a:srgbClr val="000000"/>
                </a:solidFill>
                <a:latin typeface="Arial"/>
              </a:rPr>
              <a:t>"Client reports images load slowly but HTML pages render quickly. The VS has TCP + HTTP + wan-optimized-compression. What do you evaluate first?"</a:t>
            </a:r>
          </a:p>
          <a:p>
            <a:pPr marL="216000" indent="-216000">
              <a:buNone/>
            </a:pPr>
            <a:r>
              <a:rPr lang="en-US" sz="2000" b="0" strike="noStrike" spc="-1">
                <a:solidFill>
                  <a:srgbClr val="000000"/>
                </a:solidFill>
                <a:latin typeface="Arial"/>
              </a:rPr>
              <a:t>ANSWER: Images (JPEG, PNG) are already compressed formats. The compression profile doesn't help them. The slow loading is a bandwidth issue, not a compression issue. Recommendation: Enable Web Acceleration (RamCache) for static image content. Cached images are served from BIG-IP memory, eliminating server round-trips. Also verify images are excluded from compression Content-Type list (they should be by default).</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F5 DOCUMENTATION</a:t>
            </a:r>
          </a:p>
          <a:p>
            <a:pPr marL="216000" indent="-216000">
              <a:buNone/>
            </a:pPr>
            <a:r>
              <a:rPr lang="en-US" sz="2000" b="0" strike="noStrike" spc="-1">
                <a:solidFill>
                  <a:srgbClr val="000000"/>
                </a:solidFill>
                <a:latin typeface="Arial"/>
              </a:rPr>
              <a:t>- HTTP Compression profile: https://my.f5.com/manage/s/article/K15434</a:t>
            </a:r>
          </a:p>
          <a:p>
            <a:pPr marL="216000" indent="-216000">
              <a:buNone/>
            </a:pPr>
            <a:r>
              <a:rPr lang="en-US" sz="2000" b="0" strike="noStrike" spc="-1">
                <a:solidFill>
                  <a:srgbClr val="000000"/>
                </a:solidFill>
                <a:latin typeface="Arial"/>
              </a:rPr>
              <a:t>- Web Acceleration profile: https://my.f5.com/manage/s/article/K14903</a:t>
            </a:r>
          </a:p>
          <a:p>
            <a:pPr marL="216000" indent="-216000">
              <a:buNone/>
            </a:pPr>
            <a:r>
              <a:rPr lang="en-US" sz="2000" b="0" strike="noStrike" spc="-1">
                <a:solidFill>
                  <a:srgbClr val="000000"/>
                </a:solidFill>
                <a:latin typeface="Arial"/>
              </a:rPr>
              <a:t>- show ltm profile ramcache: https://my.f5.com/manage/s/article/K14260</a:t>
            </a:r>
          </a:p>
          <a:p>
            <a:pPr marL="216000" indent="-216000">
              <a:buNone/>
            </a:pPr>
            <a:r>
              <a:rPr lang="en-US" sz="2000" b="0" strike="noStrike" spc="-1">
                <a:solidFill>
                  <a:srgbClr val="000000"/>
                </a:solidFill>
                <a:latin typeface="Arial"/>
              </a:rPr>
              <a:t>- Gzip levels: https://my.f5.com/manage/s/article/K15270</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EXAM QUESTION PATTERNS</a:t>
            </a:r>
          </a:p>
          <a:p>
            <a:pPr marL="216000" indent="-216000">
              <a:buNone/>
            </a:pPr>
            <a:r>
              <a:rPr lang="en-US" sz="2000" b="0" strike="noStrike" spc="-1">
                <a:solidFill>
                  <a:srgbClr val="000000"/>
                </a:solidFill>
                <a:latin typeface="Arial"/>
              </a:rPr>
              <a:t>- "Which profile reduces bandwidth for dynamic content?" → HTTP Compression</a:t>
            </a:r>
          </a:p>
          <a:p>
            <a:pPr marL="216000" indent="-216000">
              <a:buNone/>
            </a:pPr>
            <a:r>
              <a:rPr lang="en-US" sz="2000" b="0" strike="noStrike" spc="-1">
                <a:solidFill>
                  <a:srgbClr val="000000"/>
                </a:solidFill>
                <a:latin typeface="Arial"/>
              </a:rPr>
              <a:t>- "Which profile eliminates server load for static content?" → Web Acceleration (RamCache)</a:t>
            </a:r>
          </a:p>
          <a:p>
            <a:pPr marL="216000" indent="-216000">
              <a:buNone/>
            </a:pPr>
            <a:r>
              <a:rPr lang="en-US" sz="2000" b="0" strike="noStrike" spc="-1">
                <a:solidFill>
                  <a:srgbClr val="000000"/>
                </a:solidFill>
                <a:latin typeface="Arial"/>
              </a:rPr>
              <a:t>- "Both require which profile as a prerequisite?" → HTTP</a:t>
            </a:r>
          </a:p>
          <a:p>
            <a:pPr marL="216000" indent="0">
              <a:lnSpc>
                <a:spcPct val="100000"/>
              </a:lnSpc>
              <a:buNone/>
            </a:pPr>
            <a:r>
              <a:rPr lang="en-US" sz="2000" b="0" strike="noStrike" spc="-1">
                <a:solidFill>
                  <a:srgbClr val="000000"/>
                </a:solidFill>
                <a:latin typeface="Arial"/>
              </a:rPr>
              <a:t>- "Can they be combined?" → Yes, cached content is stored pre-compressed</a:t>
            </a:r>
          </a:p>
        </p:txBody>
      </p:sp>
      <p:sp>
        <p:nvSpPr>
          <p:cNvPr id="2550" name="PlaceHolder 3"/>
          <p:cNvSpPr>
            <a:spLocks noGrp="1"/>
          </p:cNvSpPr>
          <p:nvPr>
            <p:ph type="sldNum" idx="29"/>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4186C661-E49D-4DB6-98C0-8AC708E40075}" type="slidenum">
              <a:rPr lang="en-US" sz="1800" b="0" strike="noStrike" spc="-1">
                <a:solidFill>
                  <a:schemeClr val="dk1"/>
                </a:solidFill>
                <a:latin typeface="+mn-lt"/>
                <a:ea typeface="+mn-ea"/>
              </a:rPr>
              <a:t>26</a:t>
            </a:fld>
            <a:endParaRPr lang="en-US" sz="1800" b="0" strike="noStrike" spc="-1">
              <a:solidFill>
                <a:srgbClr val="000000"/>
              </a:solidFill>
              <a:latin typeface="Times New Roman"/>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51" name="PlaceHolder 1"/>
          <p:cNvSpPr>
            <a:spLocks noGrp="1" noRot="1" noChangeAspect="1"/>
          </p:cNvSpPr>
          <p:nvPr>
            <p:ph type="sldImg"/>
          </p:nvPr>
        </p:nvSpPr>
        <p:spPr>
          <a:xfrm>
            <a:off x="0" y="0"/>
            <a:ext cx="0" cy="0"/>
          </a:xfrm>
          <a:prstGeom prst="rect">
            <a:avLst/>
          </a:prstGeom>
          <a:ln w="0">
            <a:noFill/>
          </a:ln>
        </p:spPr>
      </p:sp>
      <p:sp>
        <p:nvSpPr>
          <p:cNvPr id="2552"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This slide covers three Beta objectives: F5CTSLTM3.01 (U/A) — determine profiles needed for an iRule; F5CTSLTM3.04 (U/A) — explain iRule functionality; F5CTSLTM3.05 (A/E) — given traffic + iRule, predict the result. The exam won't ask students to write iRules, but it WILL show iRule code and ask them to predict behavior or identify missing profiles.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FULL TECHNICAL EXPLANATION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ALL THREE iRULES REQUIRE TCP + HTTP profiles. Without HTTP, the HTTP_REQUEST event never fires and all HTTP:: commands fail silently. This is the single most important takeaway.</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iRULE 1: HTTP-TO-HTTPS REDIRECT</a:t>
            </a:r>
          </a:p>
          <a:p>
            <a:pPr marL="216000" indent="-216000">
              <a:buNone/>
            </a:pPr>
            <a:r>
              <a:rPr lang="en-US" sz="2000" b="0" strike="noStrike" spc="-1">
                <a:solidFill>
                  <a:srgbClr val="000000"/>
                </a:solidFill>
                <a:latin typeface="Arial"/>
              </a:rPr>
              <a:t>when HTTP_REQUEST {</a:t>
            </a:r>
          </a:p>
          <a:p>
            <a:pPr marL="216000" indent="-216000">
              <a:buNone/>
            </a:pPr>
            <a:r>
              <a:rPr lang="en-US" sz="2000" b="0" strike="noStrike" spc="-1">
                <a:solidFill>
                  <a:srgbClr val="000000"/>
                </a:solidFill>
                <a:latin typeface="Arial"/>
              </a:rPr>
              <a:t>  HTTP::redirect https://[HTTP::host][HTTP::uri]</a:t>
            </a:r>
          </a:p>
          <a:p>
            <a:pPr marL="216000" indent="-216000">
              <a:buNone/>
            </a:pPr>
            <a:r>
              <a:rPr lang="en-US" sz="2000" b="0" strike="noStrike" spc="-1">
                <a:solidFill>
                  <a:srgbClr val="000000"/>
                </a:solidFill>
                <a:latin typeface="Arial"/>
              </a:rPr>
              <a:t>}</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Step-by-step execution:</a:t>
            </a:r>
          </a:p>
          <a:p>
            <a:pPr marL="216000" indent="-216000">
              <a:buNone/>
            </a:pPr>
            <a:r>
              <a:rPr lang="en-US" sz="2000" b="0" strike="noStrike" spc="-1">
                <a:solidFill>
                  <a:srgbClr val="000000"/>
                </a:solidFill>
                <a:latin typeface="Arial"/>
              </a:rPr>
              <a:t>1. Client sends HTTP request to port 80: GET / HTTP/1.1, Host: www.example.com</a:t>
            </a:r>
          </a:p>
          <a:p>
            <a:pPr marL="216000" indent="-216000">
              <a:buNone/>
            </a:pPr>
            <a:r>
              <a:rPr lang="en-US" sz="2000" b="0" strike="noStrike" spc="-1">
                <a:solidFill>
                  <a:srgbClr val="000000"/>
                </a:solidFill>
                <a:latin typeface="Arial"/>
              </a:rPr>
              <a:t>2. BIG-IP receives request on the redirect VS (port 80)</a:t>
            </a:r>
          </a:p>
          <a:p>
            <a:pPr marL="216000" indent="-216000">
              <a:buNone/>
            </a:pPr>
            <a:r>
              <a:rPr lang="en-US" sz="2000" b="0" strike="noStrike" spc="-1">
                <a:solidFill>
                  <a:srgbClr val="000000"/>
                </a:solidFill>
                <a:latin typeface="Arial"/>
              </a:rPr>
              <a:t>3. HTTP_REQUEST fires — BIG-IP has parsed the request headers</a:t>
            </a:r>
          </a:p>
          <a:p>
            <a:pPr marL="216000" indent="-216000">
              <a:buNone/>
            </a:pPr>
            <a:r>
              <a:rPr lang="en-US" sz="2000" b="0" strike="noStrike" spc="-1">
                <a:solidFill>
                  <a:srgbClr val="000000"/>
                </a:solidFill>
                <a:latin typeface="Arial"/>
              </a:rPr>
              <a:t>4. HTTP::redirect constructs a 302 redirect response:</a:t>
            </a:r>
          </a:p>
          <a:p>
            <a:pPr marL="216000" indent="-216000">
              <a:buNone/>
            </a:pPr>
            <a:r>
              <a:rPr lang="en-US" sz="2000" b="0" strike="noStrike" spc="-1">
                <a:solidFill>
                  <a:srgbClr val="000000"/>
                </a:solidFill>
                <a:latin typeface="Arial"/>
              </a:rPr>
              <a:t>   - "https://" — new scheme</a:t>
            </a:r>
          </a:p>
          <a:p>
            <a:pPr marL="216000" indent="-216000">
              <a:buNone/>
            </a:pPr>
            <a:r>
              <a:rPr lang="en-US" sz="2000" b="0" strike="noStrike" spc="-1">
                <a:solidFill>
                  <a:srgbClr val="000000"/>
                </a:solidFill>
                <a:latin typeface="Arial"/>
              </a:rPr>
              <a:t>   - [HTTP::host] reads Host header → "www.example.com"</a:t>
            </a:r>
          </a:p>
          <a:p>
            <a:pPr marL="216000" indent="-216000">
              <a:buNone/>
            </a:pPr>
            <a:r>
              <a:rPr lang="en-US" sz="2000" b="0" strike="noStrike" spc="-1">
                <a:solidFill>
                  <a:srgbClr val="000000"/>
                </a:solidFill>
                <a:latin typeface="Arial"/>
              </a:rPr>
              <a:t>   - [HTTP::uri] reads URI path → "/"</a:t>
            </a:r>
          </a:p>
          <a:p>
            <a:pPr marL="216000" indent="-216000">
              <a:buNone/>
            </a:pPr>
            <a:r>
              <a:rPr lang="en-US" sz="2000" b="0" strike="noStrike" spc="-1">
                <a:solidFill>
                  <a:srgbClr val="000000"/>
                </a:solidFill>
                <a:latin typeface="Arial"/>
              </a:rPr>
              <a:t>   - Combined → "https://www.example.com/"</a:t>
            </a:r>
          </a:p>
          <a:p>
            <a:pPr marL="216000" indent="-216000">
              <a:buNone/>
            </a:pPr>
            <a:r>
              <a:rPr lang="en-US" sz="2000" b="0" strike="noStrike" spc="-1">
                <a:solidFill>
                  <a:srgbClr val="000000"/>
                </a:solidFill>
                <a:latin typeface="Arial"/>
              </a:rPr>
              <a:t>5. BIG-IP sends HTTP 302 response back to client: Location: https://www.example.com/</a:t>
            </a:r>
          </a:p>
          <a:p>
            <a:pPr marL="216000" indent="-216000">
              <a:buNone/>
            </a:pPr>
            <a:r>
              <a:rPr lang="en-US" sz="2000" b="0" strike="noStrike" spc="-1">
                <a:solidFill>
                  <a:srgbClr val="000000"/>
                </a:solidFill>
                <a:latin typeface="Arial"/>
              </a:rPr>
              <a:t>6. Client browser follows redirect, connects to port 443 (the HTTPS VS)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Deployment pattern:</a:t>
            </a:r>
          </a:p>
          <a:p>
            <a:pPr marL="216000" indent="-216000">
              <a:buNone/>
            </a:pPr>
            <a:r>
              <a:rPr lang="en-US" sz="2000" b="0" strike="noStrike" spc="-1">
                <a:solidFill>
                  <a:srgbClr val="000000"/>
                </a:solidFill>
                <a:latin typeface="Arial"/>
              </a:rPr>
              <a:t>- Create a SEPARATE VS on port 80 with the same VIP address as the HTTPS VS</a:t>
            </a:r>
          </a:p>
          <a:p>
            <a:pPr marL="216000" indent="-216000">
              <a:buNone/>
            </a:pPr>
            <a:r>
              <a:rPr lang="en-US" sz="2000" b="0" strike="noStrike" spc="-1">
                <a:solidFill>
                  <a:srgbClr val="000000"/>
                </a:solidFill>
                <a:latin typeface="Arial"/>
              </a:rPr>
              <a:t>- This VS does NOT need a pool (no server-side traffic)</a:t>
            </a:r>
          </a:p>
          <a:p>
            <a:pPr marL="216000" indent="-216000">
              <a:buNone/>
            </a:pPr>
            <a:r>
              <a:rPr lang="en-US" sz="2000" b="0" strike="noStrike" spc="-1">
                <a:solidFill>
                  <a:srgbClr val="000000"/>
                </a:solidFill>
                <a:latin typeface="Arial"/>
              </a:rPr>
              <a:t>- This VS does NOT need SNAT (no server connection)</a:t>
            </a:r>
          </a:p>
          <a:p>
            <a:pPr marL="216000" indent="-216000">
              <a:buNone/>
            </a:pPr>
            <a:r>
              <a:rPr lang="en-US" sz="2000" b="0" strike="noStrike" spc="-1">
                <a:solidFill>
                  <a:srgbClr val="000000"/>
                </a:solidFill>
                <a:latin typeface="Arial"/>
              </a:rPr>
              <a:t>- This VS NEEDS: TCP + HTTP + the redirect iRule</a:t>
            </a:r>
          </a:p>
          <a:p>
            <a:pPr marL="216000" indent="-216000">
              <a:buNone/>
            </a:pPr>
            <a:r>
              <a:rPr lang="en-US" sz="2000" b="0" strike="noStrike" spc="-1">
                <a:solidFill>
                  <a:srgbClr val="000000"/>
                </a:solidFill>
                <a:latin typeface="Arial"/>
              </a:rPr>
              <a:t>- F5 provides _sys_https_redirect iRule pre-built on every BIG-IP</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iRULE 2: URI-BASED CONTENT SWITCHING</a:t>
            </a:r>
          </a:p>
          <a:p>
            <a:pPr marL="216000" indent="-216000">
              <a:buNone/>
            </a:pPr>
            <a:r>
              <a:rPr lang="en-US" sz="2000" b="0" strike="noStrike" spc="-1">
                <a:solidFill>
                  <a:srgbClr val="000000"/>
                </a:solidFill>
                <a:latin typeface="Arial"/>
              </a:rPr>
              <a:t>when HTTP_REQUEST {</a:t>
            </a:r>
          </a:p>
          <a:p>
            <a:pPr marL="216000" indent="-216000">
              <a:buNone/>
            </a:pPr>
            <a:r>
              <a:rPr lang="en-US" sz="2000" b="0" strike="noStrike" spc="-1">
                <a:solidFill>
                  <a:srgbClr val="000000"/>
                </a:solidFill>
                <a:latin typeface="Arial"/>
              </a:rPr>
              <a:t>  switch -glob [HTTP::uri] {</a:t>
            </a:r>
          </a:p>
          <a:p>
            <a:pPr marL="216000" indent="-216000">
              <a:buNone/>
            </a:pPr>
            <a:r>
              <a:rPr lang="en-US" sz="2000" b="0" strike="noStrike" spc="-1">
                <a:solidFill>
                  <a:srgbClr val="000000"/>
                </a:solidFill>
                <a:latin typeface="Arial"/>
              </a:rPr>
              <a:t>    "/api/*"    { pool api_pool }</a:t>
            </a:r>
          </a:p>
          <a:p>
            <a:pPr marL="216000" indent="-216000">
              <a:buNone/>
            </a:pPr>
            <a:r>
              <a:rPr lang="en-US" sz="2000" b="0" strike="noStrike" spc="-1">
                <a:solidFill>
                  <a:srgbClr val="000000"/>
                </a:solidFill>
                <a:latin typeface="Arial"/>
              </a:rPr>
              <a:t>    "/images/*" { pool static_pool }</a:t>
            </a:r>
          </a:p>
          <a:p>
            <a:pPr marL="216000" indent="-216000">
              <a:buNone/>
            </a:pPr>
            <a:r>
              <a:rPr lang="en-US" sz="2000" b="0" strike="noStrike" spc="-1">
                <a:solidFill>
                  <a:srgbClr val="000000"/>
                </a:solidFill>
                <a:latin typeface="Arial"/>
              </a:rPr>
              <a:t>    default     { pool web_pool }</a:t>
            </a:r>
          </a:p>
          <a:p>
            <a:pPr marL="216000" indent="-216000">
              <a:buNone/>
            </a:pPr>
            <a:r>
              <a:rPr lang="en-US" sz="2000" b="0" strike="noStrike" spc="-1">
                <a:solidFill>
                  <a:srgbClr val="000000"/>
                </a:solidFill>
                <a:latin typeface="Arial"/>
              </a:rPr>
              <a:t>  }</a:t>
            </a:r>
          </a:p>
          <a:p>
            <a:pPr marL="216000" indent="-216000">
              <a:buNone/>
            </a:pPr>
            <a:r>
              <a:rPr lang="en-US" sz="2000" b="0" strike="noStrike" spc="-1">
                <a:solidFill>
                  <a:srgbClr val="000000"/>
                </a:solidFill>
                <a:latin typeface="Arial"/>
              </a:rPr>
              <a:t>}</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Step-by-step execution:</a:t>
            </a:r>
          </a:p>
          <a:p>
            <a:pPr marL="216000" indent="-216000">
              <a:buNone/>
            </a:pPr>
            <a:r>
              <a:rPr lang="en-US" sz="2000" b="0" strike="noStrike" spc="-1">
                <a:solidFill>
                  <a:srgbClr val="000000"/>
                </a:solidFill>
                <a:latin typeface="Arial"/>
              </a:rPr>
              <a:t>1. Client requests GET /api/v2/users HTTP/1.1</a:t>
            </a:r>
          </a:p>
          <a:p>
            <a:pPr marL="216000" indent="-216000">
              <a:buNone/>
            </a:pPr>
            <a:r>
              <a:rPr lang="en-US" sz="2000" b="0" strike="noStrike" spc="-1">
                <a:solidFill>
                  <a:srgbClr val="000000"/>
                </a:solidFill>
                <a:latin typeface="Arial"/>
              </a:rPr>
              <a:t>2. HTTP_REQUEST fires</a:t>
            </a:r>
          </a:p>
          <a:p>
            <a:pPr marL="216000" indent="-216000">
              <a:buNone/>
            </a:pPr>
            <a:r>
              <a:rPr lang="en-US" sz="2000" b="0" strike="noStrike" spc="-1">
                <a:solidFill>
                  <a:srgbClr val="000000"/>
                </a:solidFill>
                <a:latin typeface="Arial"/>
              </a:rPr>
              <a:t>3. [HTTP::uri] returns "/api/v2/users"</a:t>
            </a:r>
          </a:p>
          <a:p>
            <a:pPr marL="216000" indent="-216000">
              <a:buNone/>
            </a:pPr>
            <a:r>
              <a:rPr lang="en-US" sz="2000" b="0" strike="noStrike" spc="-1">
                <a:solidFill>
                  <a:srgbClr val="000000"/>
                </a:solidFill>
                <a:latin typeface="Arial"/>
              </a:rPr>
              <a:t>4. switch -glob evaluates patterns with wildcard matching</a:t>
            </a:r>
          </a:p>
          <a:p>
            <a:pPr marL="216000" indent="-216000">
              <a:buNone/>
            </a:pPr>
            <a:r>
              <a:rPr lang="en-US" sz="2000" b="0" strike="noStrike" spc="-1">
                <a:solidFill>
                  <a:srgbClr val="000000"/>
                </a:solidFill>
                <a:latin typeface="Arial"/>
              </a:rPr>
              <a:t>5. "/api/*" matches "/api/v2/users" (wildcard * matches "v2/users")</a:t>
            </a:r>
          </a:p>
          <a:p>
            <a:pPr marL="216000" indent="-216000">
              <a:buNone/>
            </a:pPr>
            <a:r>
              <a:rPr lang="en-US" sz="2000" b="0" strike="noStrike" spc="-1">
                <a:solidFill>
                  <a:srgbClr val="000000"/>
                </a:solidFill>
                <a:latin typeface="Arial"/>
              </a:rPr>
              <a:t>6. The "pool api_pool" command overrides the VS's default pool for this request</a:t>
            </a:r>
          </a:p>
          <a:p>
            <a:pPr marL="216000" indent="-216000">
              <a:buNone/>
            </a:pPr>
            <a:r>
              <a:rPr lang="en-US" sz="2000" b="0" strike="noStrike" spc="-1">
                <a:solidFill>
                  <a:srgbClr val="000000"/>
                </a:solidFill>
                <a:latin typeface="Arial"/>
              </a:rPr>
              <a:t>7. BIG-IP load balances the request to a member of api_pool</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NOTE: For simple URI-based routing, BIG-IP LTM policies (Local Traffic &gt; Policies) can achieve the same result without iRules. LTM policies are faster and easier to manage. This connects to F5CTSLTM2.11 (A/E): "Evaluate which iRules can be replaced with a profile or policy setting."</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iRULE 3: HTTP HEADER INSERTION</a:t>
            </a:r>
          </a:p>
          <a:p>
            <a:pPr marL="216000" indent="-216000">
              <a:buNone/>
            </a:pPr>
            <a:r>
              <a:rPr lang="en-US" sz="2000" b="0" strike="noStrike" spc="-1">
                <a:solidFill>
                  <a:srgbClr val="000000"/>
                </a:solidFill>
                <a:latin typeface="Arial"/>
              </a:rPr>
              <a:t>when HTTP_REQUEST {</a:t>
            </a:r>
          </a:p>
          <a:p>
            <a:pPr marL="216000" indent="-216000">
              <a:buNone/>
            </a:pPr>
            <a:r>
              <a:rPr lang="en-US" sz="2000" b="0" strike="noStrike" spc="-1">
                <a:solidFill>
                  <a:srgbClr val="000000"/>
                </a:solidFill>
                <a:latin typeface="Arial"/>
              </a:rPr>
              <a:t>  HTTP::header insert "X-Client-IP" [IP::client_addr]</a:t>
            </a:r>
          </a:p>
          <a:p>
            <a:pPr marL="216000" indent="-216000">
              <a:buNone/>
            </a:pPr>
            <a:r>
              <a:rPr lang="en-US" sz="2000" b="0" strike="noStrike" spc="-1">
                <a:solidFill>
                  <a:srgbClr val="000000"/>
                </a:solidFill>
                <a:latin typeface="Arial"/>
              </a:rPr>
              <a:t>}</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Step-by-step execution:</a:t>
            </a:r>
          </a:p>
          <a:p>
            <a:pPr marL="216000" indent="-216000">
              <a:buNone/>
            </a:pPr>
            <a:r>
              <a:rPr lang="en-US" sz="2000" b="0" strike="noStrike" spc="-1">
                <a:solidFill>
                  <a:srgbClr val="000000"/>
                </a:solidFill>
                <a:latin typeface="Arial"/>
              </a:rPr>
              <a:t>1. Client (10.1.10.50) sends HTTP request</a:t>
            </a:r>
          </a:p>
          <a:p>
            <a:pPr marL="216000" indent="-216000">
              <a:buNone/>
            </a:pPr>
            <a:r>
              <a:rPr lang="en-US" sz="2000" b="0" strike="noStrike" spc="-1">
                <a:solidFill>
                  <a:srgbClr val="000000"/>
                </a:solidFill>
                <a:latin typeface="Arial"/>
              </a:rPr>
              <a:t>2. HTTP_REQUEST fires</a:t>
            </a:r>
          </a:p>
          <a:p>
            <a:pPr marL="216000" indent="-216000">
              <a:buNone/>
            </a:pPr>
            <a:r>
              <a:rPr lang="en-US" sz="2000" b="0" strike="noStrike" spc="-1">
                <a:solidFill>
                  <a:srgbClr val="000000"/>
                </a:solidFill>
                <a:latin typeface="Arial"/>
              </a:rPr>
              <a:t>3. [IP::client_addr] returns "10.1.10.50"</a:t>
            </a:r>
          </a:p>
          <a:p>
            <a:pPr marL="216000" indent="-216000">
              <a:buNone/>
            </a:pPr>
            <a:r>
              <a:rPr lang="en-US" sz="2000" b="0" strike="noStrike" spc="-1">
                <a:solidFill>
                  <a:srgbClr val="000000"/>
                </a:solidFill>
                <a:latin typeface="Arial"/>
              </a:rPr>
              <a:t>4. HTTP::header insert adds "X-Client-IP: 10.1.10.50" to the request headers</a:t>
            </a:r>
          </a:p>
          <a:p>
            <a:pPr marL="216000" indent="-216000">
              <a:buNone/>
            </a:pPr>
            <a:r>
              <a:rPr lang="en-US" sz="2000" b="0" strike="noStrike" spc="-1">
                <a:solidFill>
                  <a:srgbClr val="000000"/>
                </a:solidFill>
                <a:latin typeface="Arial"/>
              </a:rPr>
              <a:t>5. Server receives the request with the additional custom header</a:t>
            </a:r>
          </a:p>
          <a:p>
            <a:pPr marL="216000" indent="-216000">
              <a:buNone/>
            </a:pPr>
            <a:r>
              <a:rPr lang="en-US" sz="2000" b="0" strike="noStrike" spc="-1">
                <a:solidFill>
                  <a:srgbClr val="000000"/>
                </a:solidFill>
                <a:latin typeface="Arial"/>
              </a:rPr>
              <a:t>6. Server application can read X-Client-IP for logging, access control, etc.</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Response modification (HTTP_RESPONSE event):</a:t>
            </a:r>
          </a:p>
          <a:p>
            <a:pPr marL="216000" indent="-216000">
              <a:buNone/>
            </a:pPr>
            <a:r>
              <a:rPr lang="en-US" sz="2000" b="0" strike="noStrike" spc="-1">
                <a:solidFill>
                  <a:srgbClr val="000000"/>
                </a:solidFill>
                <a:latin typeface="Arial"/>
              </a:rPr>
              <a:t>when HTTP_RESPONSE {</a:t>
            </a:r>
          </a:p>
          <a:p>
            <a:pPr marL="216000" indent="-216000">
              <a:buNone/>
            </a:pPr>
            <a:r>
              <a:rPr lang="en-US" sz="2000" b="0" strike="noStrike" spc="-1">
                <a:solidFill>
                  <a:srgbClr val="000000"/>
                </a:solidFill>
                <a:latin typeface="Arial"/>
              </a:rPr>
              <a:t>  HTTP::header remove "Server"</a:t>
            </a:r>
          </a:p>
          <a:p>
            <a:pPr marL="216000" indent="-216000">
              <a:buNone/>
            </a:pPr>
            <a:r>
              <a:rPr lang="en-US" sz="2000" b="0" strike="noStrike" spc="-1">
                <a:solidFill>
                  <a:srgbClr val="000000"/>
                </a:solidFill>
                <a:latin typeface="Arial"/>
              </a:rPr>
              <a:t>  HTTP::header remove "X-Powered-By"</a:t>
            </a:r>
          </a:p>
          <a:p>
            <a:pPr marL="216000" indent="-216000">
              <a:buNone/>
            </a:pPr>
            <a:r>
              <a:rPr lang="en-US" sz="2000" b="0" strike="noStrike" spc="-1">
                <a:solidFill>
                  <a:srgbClr val="000000"/>
                </a:solidFill>
                <a:latin typeface="Arial"/>
              </a:rPr>
              <a:t>  HTTP::header insert "Strict-Transport-Security" "max-age=31536000"</a:t>
            </a:r>
          </a:p>
          <a:p>
            <a:pPr marL="216000" indent="-216000">
              <a:buNone/>
            </a:pPr>
            <a:r>
              <a:rPr lang="en-US" sz="2000" b="0" strike="noStrike" spc="-1">
                <a:solidFill>
                  <a:srgbClr val="000000"/>
                </a:solidFill>
                <a:latin typeface="Arial"/>
              </a:rPr>
              <a:t>}</a:t>
            </a:r>
          </a:p>
          <a:p>
            <a:pPr marL="216000" indent="-216000">
              <a:buNone/>
            </a:pPr>
            <a:r>
              <a:rPr lang="en-US" sz="2000" b="0" strike="noStrike" spc="-1">
                <a:solidFill>
                  <a:srgbClr val="000000"/>
                </a:solidFill>
                <a:latin typeface="Arial"/>
              </a:rPr>
              <a:t>This removes server version disclosure headers and adds HSTS. Note: response modification does NOT work with nPath/DSR since the response bypasses the BIG-IP.</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COMMON STUDENT MISTAKES</a:t>
            </a:r>
          </a:p>
          <a:p>
            <a:pPr marL="216000" indent="-216000">
              <a:buNone/>
            </a:pPr>
            <a:r>
              <a:rPr lang="en-US" sz="2000" b="0" strike="noStrike" spc="-1">
                <a:solidFill>
                  <a:srgbClr val="000000"/>
                </a:solidFill>
                <a:latin typeface="Arial"/>
              </a:rPr>
              <a:t>- Creating the redirect VS with an iRule but forgetting the HTTP profile → iRule never fires, no redirect happens, no error message</a:t>
            </a:r>
          </a:p>
          <a:p>
            <a:pPr marL="216000" indent="-216000">
              <a:buNone/>
            </a:pPr>
            <a:r>
              <a:rPr lang="en-US" sz="2000" b="0" strike="noStrike" spc="-1">
                <a:solidFill>
                  <a:srgbClr val="000000"/>
                </a:solidFill>
                <a:latin typeface="Arial"/>
              </a:rPr>
              <a:t>- Adding the redirect iRule to the HTTPS VS instead of creating a separate port-80 VS</a:t>
            </a:r>
          </a:p>
          <a:p>
            <a:pPr marL="216000" indent="-216000">
              <a:buNone/>
            </a:pPr>
            <a:r>
              <a:rPr lang="en-US" sz="2000" b="0" strike="noStrike" spc="-1">
                <a:solidFill>
                  <a:srgbClr val="000000"/>
                </a:solidFill>
                <a:latin typeface="Arial"/>
              </a:rPr>
              <a:t>- Not understanding that "pool" command in an iRule overrides the VS default pool for that specific request only</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PIVOT QUESTION</a:t>
            </a:r>
          </a:p>
          <a:p>
            <a:pPr marL="216000" indent="-216000">
              <a:buNone/>
            </a:pPr>
            <a:r>
              <a:rPr lang="en-US" sz="2000" b="0" strike="noStrike" spc="-1">
                <a:solidFill>
                  <a:srgbClr val="000000"/>
                </a:solidFill>
                <a:latin typeface="Arial"/>
              </a:rPr>
              <a:t>"A virtual server has iRule 2 (URI content switching) attached. Client requests https://app.example.com/api/v2/users. The VS default pool is web_pool. Which pool handles this request?"</a:t>
            </a:r>
          </a:p>
          <a:p>
            <a:pPr marL="216000" indent="-216000">
              <a:buNone/>
            </a:pPr>
            <a:r>
              <a:rPr lang="en-US" sz="2000" b="0" strike="noStrike" spc="-1">
                <a:solidFill>
                  <a:srgbClr val="000000"/>
                </a:solidFill>
                <a:latin typeface="Arial"/>
              </a:rPr>
              <a:t>ANSWER: api_pool. The URI /api/v2/users matches pattern "/api/*" (glob wildcard * matches "v2/users"). The switch evaluates in order, first match wins. The pool command overrides the VS default pool for this request.</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F5 DOCUMENTATION</a:t>
            </a:r>
          </a:p>
          <a:p>
            <a:pPr marL="216000" indent="-216000">
              <a:buNone/>
            </a:pPr>
            <a:r>
              <a:rPr lang="en-US" sz="2000" b="0" strike="noStrike" spc="-1">
                <a:solidFill>
                  <a:srgbClr val="000000"/>
                </a:solidFill>
                <a:latin typeface="Arial"/>
              </a:rPr>
              <a:t>- iRules API reference: https://clouddocs.f5.com/api/irules/</a:t>
            </a:r>
          </a:p>
          <a:p>
            <a:pPr marL="216000" indent="-216000">
              <a:buNone/>
            </a:pPr>
            <a:r>
              <a:rPr lang="en-US" sz="2000" b="0" strike="noStrike" spc="-1">
                <a:solidFill>
                  <a:srgbClr val="000000"/>
                </a:solidFill>
                <a:latin typeface="Arial"/>
              </a:rPr>
              <a:t>- HTTP::redirect: https://clouddocs.f5.com/api/irules/HTTP__redirect.html</a:t>
            </a:r>
          </a:p>
          <a:p>
            <a:pPr marL="216000" indent="-216000">
              <a:buNone/>
            </a:pPr>
            <a:r>
              <a:rPr lang="en-US" sz="2000" b="0" strike="noStrike" spc="-1">
                <a:solidFill>
                  <a:srgbClr val="000000"/>
                </a:solidFill>
                <a:latin typeface="Arial"/>
              </a:rPr>
              <a:t>- HTTP::header: https://clouddocs.f5.com/api/irules/HTTP__header.html</a:t>
            </a:r>
          </a:p>
          <a:p>
            <a:pPr marL="216000" indent="-216000">
              <a:buNone/>
            </a:pPr>
            <a:r>
              <a:rPr lang="en-US" sz="2000" b="0" strike="noStrike" spc="-1">
                <a:solidFill>
                  <a:srgbClr val="000000"/>
                </a:solidFill>
                <a:latin typeface="Arial"/>
              </a:rPr>
              <a:t>- LTM Policies vs iRules: https://my.f5.com/manage/s/article/K04597703</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EXAM QUESTION PATTERNS</a:t>
            </a:r>
          </a:p>
          <a:p>
            <a:pPr marL="216000" indent="-216000">
              <a:buNone/>
            </a:pPr>
            <a:r>
              <a:rPr lang="en-US" sz="2000" b="0" strike="noStrike" spc="-1">
                <a:solidFill>
                  <a:srgbClr val="000000"/>
                </a:solidFill>
                <a:latin typeface="Arial"/>
              </a:rPr>
              <a:t>- "An iRule with HTTP_REQUEST never fires. The VS has TCP only. What's missing?" → HTTP profile</a:t>
            </a:r>
          </a:p>
          <a:p>
            <a:pPr marL="216000" indent="-216000">
              <a:buNone/>
            </a:pPr>
            <a:r>
              <a:rPr lang="en-US" sz="2000" b="0" strike="noStrike" spc="-1">
                <a:solidFill>
                  <a:srgbClr val="000000"/>
                </a:solidFill>
                <a:latin typeface="Arial"/>
              </a:rPr>
              <a:t>- "Which iRule event requires Client-SSL profile?" → CLIENTSSL_HANDSHAKE</a:t>
            </a:r>
          </a:p>
          <a:p>
            <a:pPr marL="216000" indent="0">
              <a:lnSpc>
                <a:spcPct val="100000"/>
              </a:lnSpc>
              <a:buNone/>
            </a:pPr>
            <a:r>
              <a:rPr lang="en-US" sz="2000" b="0" strike="noStrike" spc="-1">
                <a:solidFill>
                  <a:srgbClr val="000000"/>
                </a:solidFill>
                <a:latin typeface="Arial"/>
              </a:rPr>
              <a:t>- "Can the URI content switching iRule be replaced with an LTM policy?" → Yes, for simple URI matching</a:t>
            </a:r>
          </a:p>
        </p:txBody>
      </p:sp>
      <p:sp>
        <p:nvSpPr>
          <p:cNvPr id="2553" name="PlaceHolder 3"/>
          <p:cNvSpPr>
            <a:spLocks noGrp="1"/>
          </p:cNvSpPr>
          <p:nvPr>
            <p:ph type="sldNum" idx="30"/>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60306D38-3925-47FE-9742-B45C4943D462}" type="slidenum">
              <a:rPr lang="en-US" sz="1800" b="0" strike="noStrike" spc="-1">
                <a:solidFill>
                  <a:schemeClr val="dk1"/>
                </a:solidFill>
                <a:latin typeface="+mn-lt"/>
                <a:ea typeface="+mn-ea"/>
              </a:rPr>
              <a:t>27</a:t>
            </a:fld>
            <a:endParaRPr lang="en-US" sz="1800" b="0" strike="noStrike" spc="-1">
              <a:solidFill>
                <a:srgbClr val="000000"/>
              </a:solidFill>
              <a:latin typeface="Times New Roman"/>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54" name="PlaceHolder 1"/>
          <p:cNvSpPr>
            <a:spLocks noGrp="1" noRot="1" noChangeAspect="1"/>
          </p:cNvSpPr>
          <p:nvPr>
            <p:ph type="sldImg"/>
          </p:nvPr>
        </p:nvSpPr>
        <p:spPr>
          <a:xfrm>
            <a:off x="0" y="0"/>
            <a:ext cx="0" cy="0"/>
          </a:xfrm>
          <a:prstGeom prst="rect">
            <a:avLst/>
          </a:prstGeom>
          <a:ln w="0">
            <a:noFill/>
          </a:ln>
        </p:spPr>
      </p:sp>
      <p:sp>
        <p:nvSpPr>
          <p:cNvPr id="2555"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This is the lab launch slide — it stays on screen while students work through the hands-on exercises. The four activities are sequenced deliberately: Activity 1 establishes the profile dependency concept through controlled failures, and Activity 4 reinforces it with iRules.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FULL TECHNICAL EXPLANATION OF EACH ACTIVITY</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ACTIVITY 1: WORKING WITH PROFILES (10 minutes)</a:t>
            </a:r>
          </a:p>
          <a:p>
            <a:pPr marL="216000" indent="-216000">
              <a:buNone/>
            </a:pPr>
            <a:r>
              <a:rPr lang="en-US" sz="2000" b="0" strike="noStrike" spc="-1">
                <a:solidFill>
                  <a:srgbClr val="000000"/>
                </a:solidFill>
                <a:latin typeface="Arial"/>
              </a:rPr>
              <a:t>Students build a new HTTPS virtual server and discover profile dependencies through a series of deliberate failures: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Step-by-step walkthrough:</a:t>
            </a:r>
          </a:p>
          <a:p>
            <a:pPr marL="216000" indent="-216000">
              <a:buNone/>
            </a:pPr>
            <a:r>
              <a:rPr lang="en-US" sz="2000" b="0" strike="noStrike" spc="-1">
                <a:solidFill>
                  <a:srgbClr val="000000"/>
                </a:solidFill>
                <a:latin typeface="Arial"/>
              </a:rPr>
              <a:t>1. Create secure_pool: members 10.1.20.11:443, 10.1.20.12:443, 10.1.20.13:443, monitor https</a:t>
            </a:r>
          </a:p>
          <a:p>
            <a:pPr marL="216000" indent="-216000">
              <a:buNone/>
            </a:pPr>
            <a:r>
              <a:rPr lang="en-US" sz="2000" b="0" strike="noStrike" spc="-1">
                <a:solidFill>
                  <a:srgbClr val="000000"/>
                </a:solidFill>
                <a:latin typeface="Arial"/>
              </a:rPr>
              <a:t>2. Create secure_vs at 10.1.10.115:443 with ONLY a TCP profile → Browse to https://10.1.10.115</a:t>
            </a:r>
          </a:p>
          <a:p>
            <a:pPr marL="216000" indent="-216000">
              <a:buNone/>
            </a:pPr>
            <a:r>
              <a:rPr lang="en-US" sz="2000" b="0" strike="noStrike" spc="-1">
                <a:solidFill>
                  <a:srgbClr val="000000"/>
                </a:solidFill>
                <a:latin typeface="Arial"/>
              </a:rPr>
              <a:t>   - Q: Does it work? YES — this is SSL pass-through. The BIG-IP forwards encrypted packets without inspecting them. The server handles SSL.</a:t>
            </a:r>
          </a:p>
          <a:p>
            <a:pPr marL="216000" indent="-216000">
              <a:buNone/>
            </a:pPr>
            <a:r>
              <a:rPr lang="en-US" sz="2000" b="0" strike="noStrike" spc="-1">
                <a:solidFill>
                  <a:srgbClr val="000000"/>
                </a:solidFill>
                <a:latin typeface="Arial"/>
              </a:rPr>
              <a:t>   - Q: Can you use L7 iRules or profiles? NO — BIG-IP can't see inside the encrypted traffic.</a:t>
            </a:r>
          </a:p>
          <a:p>
            <a:pPr marL="216000" indent="-216000">
              <a:buNone/>
            </a:pPr>
            <a:r>
              <a:rPr lang="en-US" sz="2000" b="0" strike="noStrike" spc="-1">
                <a:solidFill>
                  <a:srgbClr val="000000"/>
                </a:solidFill>
                <a:latin typeface="Arial"/>
              </a:rPr>
              <a:t>3. Switch to www_pool (port 80) → Browse → FAILS. Client sends HTTPS, server expects HTTP. Connection breaks because port 80 servers can't decrypt SSL.</a:t>
            </a:r>
          </a:p>
          <a:p>
            <a:pPr marL="216000" indent="-216000">
              <a:buNone/>
            </a:pPr>
            <a:r>
              <a:rPr lang="en-US" sz="2000" b="0" strike="noStrike" spc="-1">
                <a:solidFill>
                  <a:srgbClr val="000000"/>
                </a:solidFill>
                <a:latin typeface="Arial"/>
              </a:rPr>
              <a:t>4. Add clientssl profile → NOW BIG-IP terminates SSL from client, forwards unencrypted HTTP to port 80 servers. This is SSL offload.</a:t>
            </a:r>
          </a:p>
          <a:p>
            <a:pPr marL="216000" indent="-216000">
              <a:buNone/>
            </a:pPr>
            <a:r>
              <a:rPr lang="en-US" sz="2000" b="0" strike="noStrike" spc="-1">
                <a:solidFill>
                  <a:srgbClr val="000000"/>
                </a:solidFill>
                <a:latin typeface="Arial"/>
              </a:rPr>
              <a:t>5. Add cookie persistence → FAILS because there's no HTTP profile. Cookies are HTTP-layer objects.</a:t>
            </a:r>
          </a:p>
          <a:p>
            <a:pPr marL="216000" indent="-216000">
              <a:buNone/>
            </a:pPr>
            <a:r>
              <a:rPr lang="en-US" sz="2000" b="0" strike="noStrike" spc="-1">
                <a:solidFill>
                  <a:srgbClr val="000000"/>
                </a:solidFill>
                <a:latin typeface="Arial"/>
              </a:rPr>
              <a:t>   TEACHING MOMENT: This is the key lesson. Students must add an HTTP profile before cookie persistence works.</a:t>
            </a:r>
          </a:p>
          <a:p>
            <a:pPr marL="216000" indent="-216000">
              <a:buNone/>
            </a:pPr>
            <a:r>
              <a:rPr lang="en-US" sz="2000" b="0" strike="noStrike" spc="-1">
                <a:solidFill>
                  <a:srgbClr val="000000"/>
                </a:solidFill>
                <a:latin typeface="Arial"/>
              </a:rPr>
              <a:t>6. Switch back to secure_pool (port 443), add serverssl → Full SSL re-encryption.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ACTIVITY 2: APPLICATION ACCELERATION (15 minutes)</a:t>
            </a:r>
          </a:p>
          <a:p>
            <a:pPr marL="216000" indent="-216000">
              <a:buNone/>
            </a:pPr>
            <a:r>
              <a:rPr lang="en-US" sz="2000" b="0" strike="noStrike" spc="-1">
                <a:solidFill>
                  <a:srgbClr val="000000"/>
                </a:solidFill>
                <a:latin typeface="Arial"/>
              </a:rPr>
              <a:t>TCP Express:</a:t>
            </a:r>
          </a:p>
          <a:p>
            <a:pPr marL="216000" indent="-216000">
              <a:buNone/>
            </a:pPr>
            <a:r>
              <a:rPr lang="en-US" sz="2000" b="0" strike="noStrike" spc="-1">
                <a:solidFill>
                  <a:srgbClr val="000000"/>
                </a:solidFill>
                <a:latin typeface="Arial"/>
              </a:rPr>
              <a:t>- Apply tcp-wan-optimized (client side) and tcp-lan-optimized (server side) to www_vs</a:t>
            </a:r>
          </a:p>
          <a:p>
            <a:pPr marL="216000" indent="-216000">
              <a:buNone/>
            </a:pPr>
            <a:r>
              <a:rPr lang="en-US" sz="2000" b="0" strike="noStrike" spc="-1">
                <a:solidFill>
                  <a:srgbClr val="000000"/>
                </a:solidFill>
                <a:latin typeface="Arial"/>
              </a:rPr>
              <a:t>- Examine actual profile settings in GUI: idle timeout, Nagle, buffer sizes</a:t>
            </a:r>
          </a:p>
          <a:p>
            <a:pPr marL="216000" indent="-216000">
              <a:buNone/>
            </a:pPr>
            <a:r>
              <a:rPr lang="en-US" sz="2000" b="0" strike="noStrike" spc="-1">
                <a:solidFill>
                  <a:srgbClr val="000000"/>
                </a:solidFill>
                <a:latin typeface="Arial"/>
              </a:rPr>
              <a:t>- Lab questions test understanding of WHY settings differ</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RamCache:</a:t>
            </a:r>
          </a:p>
          <a:p>
            <a:pPr marL="216000" indent="-216000">
              <a:buNone/>
            </a:pPr>
            <a:r>
              <a:rPr lang="en-US" sz="2000" b="0" strike="noStrike" spc="-1">
                <a:solidFill>
                  <a:srgbClr val="000000"/>
                </a:solidFill>
                <a:latin typeface="Arial"/>
              </a:rPr>
              <a:t>- Create www-opt-caching profile (parent: optimized-caching)</a:t>
            </a:r>
          </a:p>
          <a:p>
            <a:pPr marL="216000" indent="-216000">
              <a:buNone/>
            </a:pPr>
            <a:r>
              <a:rPr lang="en-US" sz="2000" b="0" strike="noStrike" spc="-1">
                <a:solidFill>
                  <a:srgbClr val="000000"/>
                </a:solidFill>
                <a:latin typeface="Arial"/>
              </a:rPr>
              <a:t>- Apply to www_vs with HTTP profile</a:t>
            </a:r>
          </a:p>
          <a:p>
            <a:pPr marL="216000" indent="-216000">
              <a:buNone/>
            </a:pPr>
            <a:r>
              <a:rPr lang="en-US" sz="2000" b="0" strike="noStrike" spc="-1">
                <a:solidFill>
                  <a:srgbClr val="000000"/>
                </a:solidFill>
                <a:latin typeface="Arial"/>
              </a:rPr>
              <a:t>- Browse and refresh — images stop changing (served from cache, not different pool members)</a:t>
            </a:r>
          </a:p>
          <a:p>
            <a:pPr marL="216000" indent="-216000">
              <a:buNone/>
            </a:pPr>
            <a:r>
              <a:rPr lang="en-US" sz="2000" b="0" strike="noStrike" spc="-1">
                <a:solidFill>
                  <a:srgbClr val="000000"/>
                </a:solidFill>
                <a:latin typeface="Arial"/>
              </a:rPr>
              <a:t>- Check pool stats — some members show no new connections</a:t>
            </a:r>
          </a:p>
          <a:p>
            <a:pPr marL="216000" indent="-216000">
              <a:buNone/>
            </a:pPr>
            <a:r>
              <a:rPr lang="en-US" sz="2000" b="0" strike="noStrike" spc="-1">
                <a:solidFill>
                  <a:srgbClr val="000000"/>
                </a:solidFill>
                <a:latin typeface="Arial"/>
              </a:rPr>
              <a:t>- CLI: show ltm profile ramcache www-opt-caching</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HTTP Compression:</a:t>
            </a:r>
          </a:p>
          <a:p>
            <a:pPr marL="216000" indent="-216000">
              <a:buNone/>
            </a:pPr>
            <a:r>
              <a:rPr lang="en-US" sz="2000" b="0" strike="noStrike" spc="-1">
                <a:solidFill>
                  <a:srgbClr val="000000"/>
                </a:solidFill>
                <a:latin typeface="Arial"/>
              </a:rPr>
              <a:t>- Create www-compress profile (parent: wan-optimized-compression)</a:t>
            </a:r>
          </a:p>
          <a:p>
            <a:pPr marL="216000" indent="-216000">
              <a:buNone/>
            </a:pPr>
            <a:r>
              <a:rPr lang="en-US" sz="2000" b="0" strike="noStrike" spc="-1">
                <a:solidFill>
                  <a:srgbClr val="000000"/>
                </a:solidFill>
                <a:latin typeface="Arial"/>
              </a:rPr>
              <a:t>- Remove caching first (avoid interference)</a:t>
            </a:r>
          </a:p>
          <a:p>
            <a:pPr marL="216000" indent="-216000">
              <a:buNone/>
            </a:pPr>
            <a:r>
              <a:rPr lang="en-US" sz="2000" b="0" strike="noStrike" spc="-1">
                <a:solidFill>
                  <a:srgbClr val="000000"/>
                </a:solidFill>
                <a:latin typeface="Arial"/>
              </a:rPr>
              <a:t>- Apply compression, browse, check headers — Accept-Encoding removed from server-bound request</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ACTIVITY 3: SECURING WEB APPLICATIONS (10 minutes)</a:t>
            </a:r>
          </a:p>
          <a:p>
            <a:pPr marL="216000" indent="-216000">
              <a:buNone/>
            </a:pPr>
            <a:r>
              <a:rPr lang="en-US" sz="2000" b="0" strike="noStrike" spc="-1">
                <a:solidFill>
                  <a:srgbClr val="000000"/>
                </a:solidFill>
                <a:latin typeface="Arial"/>
              </a:rPr>
              <a:t>Create custom HTTP profile "secure-my-website":</a:t>
            </a:r>
          </a:p>
          <a:p>
            <a:pPr marL="216000" indent="-216000">
              <a:buNone/>
            </a:pPr>
            <a:r>
              <a:rPr lang="en-US" sz="2000" b="0" strike="noStrike" spc="-1">
                <a:solidFill>
                  <a:srgbClr val="000000"/>
                </a:solidFill>
                <a:latin typeface="Arial"/>
              </a:rPr>
              <a:t>- Fallback Host: http://www.f5.com (redirect on error)</a:t>
            </a:r>
          </a:p>
          <a:p>
            <a:pPr marL="216000" indent="-216000">
              <a:buNone/>
            </a:pPr>
            <a:r>
              <a:rPr lang="en-US" sz="2000" b="0" strike="noStrike" spc="-1">
                <a:solidFill>
                  <a:srgbClr val="000000"/>
                </a:solidFill>
                <a:latin typeface="Arial"/>
              </a:rPr>
              <a:t>- Fallback on Error Codes: 404, 500-505 (server errors redirect to fallback)</a:t>
            </a:r>
          </a:p>
          <a:p>
            <a:pPr marL="216000" indent="-216000">
              <a:buNone/>
            </a:pPr>
            <a:r>
              <a:rPr lang="en-US" sz="2000" b="0" strike="noStrike" spc="-1">
                <a:solidFill>
                  <a:srgbClr val="000000"/>
                </a:solidFill>
                <a:latin typeface="Arial"/>
              </a:rPr>
              <a:t>- Response Headers Allowed: Content-Type, Set-Cookie, Location (strips all other response headers — prevents info disclosure like Server, X-Powered-By)</a:t>
            </a:r>
          </a:p>
          <a:p>
            <a:pPr marL="216000" indent="-216000">
              <a:buNone/>
            </a:pPr>
            <a:r>
              <a:rPr lang="en-US" sz="2000" b="0" strike="noStrike" spc="-1">
                <a:solidFill>
                  <a:srgbClr val="000000"/>
                </a:solidFill>
                <a:latin typeface="Arial"/>
              </a:rPr>
              <a:t>- Cookie Encryption: encrypt the BIGipServer cookie (prevents attacker from decoding pool member IP)</a:t>
            </a:r>
          </a:p>
          <a:p>
            <a:pPr marL="216000" indent="-216000">
              <a:buNone/>
            </a:pPr>
            <a:r>
              <a:rPr lang="en-US" sz="2000" b="0" strike="noStrike" spc="-1">
                <a:solidFill>
                  <a:srgbClr val="000000"/>
                </a:solidFill>
                <a:latin typeface="Arial"/>
              </a:rPr>
              <a:t>- X-Forwarded-For: Enabled (pass original client IP to server)</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ACTIVITY 4: USING iRULES (10 minutes)</a:t>
            </a:r>
          </a:p>
          <a:p>
            <a:pPr marL="216000" indent="-216000">
              <a:buNone/>
            </a:pPr>
            <a:r>
              <a:rPr lang="en-US" sz="2000" b="0" strike="noStrike" spc="-1">
                <a:solidFill>
                  <a:srgbClr val="000000"/>
                </a:solidFill>
                <a:latin typeface="Arial"/>
              </a:rPr>
              <a:t>1. Find _sys_https_redirect iRule in Local Traffic &gt; iRules</a:t>
            </a:r>
          </a:p>
          <a:p>
            <a:pPr marL="216000" indent="-216000">
              <a:buNone/>
            </a:pPr>
            <a:r>
              <a:rPr lang="en-US" sz="2000" b="0" strike="noStrike" spc="-1">
                <a:solidFill>
                  <a:srgbClr val="000000"/>
                </a:solidFill>
                <a:latin typeface="Arial"/>
              </a:rPr>
              <a:t>2. Create redirect_to_secure_vs at 10.1.10.115:80 with HTTP type</a:t>
            </a:r>
          </a:p>
          <a:p>
            <a:pPr marL="216000" indent="-216000">
              <a:buNone/>
            </a:pPr>
            <a:r>
              <a:rPr lang="en-US" sz="2000" b="0" strike="noStrike" spc="-1">
                <a:solidFill>
                  <a:srgbClr val="000000"/>
                </a:solidFill>
                <a:latin typeface="Arial"/>
              </a:rPr>
              <a:t>3. Attach the redirect iRule → GET AN ERROR — needs HTTP profile for HTTP_REQUEST event</a:t>
            </a:r>
          </a:p>
          <a:p>
            <a:pPr marL="216000" indent="-216000">
              <a:buNone/>
            </a:pPr>
            <a:r>
              <a:rPr lang="en-US" sz="2000" b="0" strike="noStrike" spc="-1">
                <a:solidFill>
                  <a:srgbClr val="000000"/>
                </a:solidFill>
                <a:latin typeface="Arial"/>
              </a:rPr>
              <a:t>4. Add HTTP profile → try again → SUCCESS</a:t>
            </a:r>
          </a:p>
          <a:p>
            <a:pPr marL="216000" indent="-216000">
              <a:buNone/>
            </a:pPr>
            <a:r>
              <a:rPr lang="en-US" sz="2000" b="0" strike="noStrike" spc="-1">
                <a:solidFill>
                  <a:srgbClr val="000000"/>
                </a:solidFill>
                <a:latin typeface="Arial"/>
              </a:rPr>
              <a:t>5. Browse http://10.1.10.115 → automatically redirected to https://10.1.10.115</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COMMON STUDENT ISSUES</a:t>
            </a:r>
          </a:p>
          <a:p>
            <a:pPr marL="216000" indent="-216000">
              <a:buNone/>
            </a:pPr>
            <a:r>
              <a:rPr lang="en-US" sz="2000" b="0" strike="noStrike" spc="-1">
                <a:solidFill>
                  <a:srgbClr val="000000"/>
                </a:solidFill>
                <a:latin typeface="Arial"/>
              </a:rPr>
              <a:t>- Forgetting to switch back to secure_pool after HTTP/HTTPS testing in Activity 1</a:t>
            </a:r>
          </a:p>
          <a:p>
            <a:pPr marL="216000" indent="-216000">
              <a:buNone/>
            </a:pPr>
            <a:r>
              <a:rPr lang="en-US" sz="2000" b="0" strike="noStrike" spc="-1">
                <a:solidFill>
                  <a:srgbClr val="000000"/>
                </a:solidFill>
                <a:latin typeface="Arial"/>
              </a:rPr>
              <a:t>- Not understanding why the redirect VS doesn't need a pool (traffic goes nowhere — the 302 response goes back to the client)</a:t>
            </a:r>
          </a:p>
          <a:p>
            <a:pPr marL="216000" indent="-216000">
              <a:buNone/>
            </a:pPr>
            <a:r>
              <a:rPr lang="en-US" sz="2000" b="0" strike="noStrike" spc="-1">
                <a:solidFill>
                  <a:srgbClr val="000000"/>
                </a:solidFill>
                <a:latin typeface="Arial"/>
              </a:rPr>
              <a:t>- Confusion between "VS terminates SSL" (with Client-SSL profile) vs "VS passes SSL through" (no SSL profile)</a:t>
            </a:r>
          </a:p>
          <a:p>
            <a:pPr marL="216000" indent="-216000">
              <a:buNone/>
            </a:pPr>
            <a:r>
              <a:rPr lang="en-US" sz="2000" b="0" strike="noStrike" spc="-1">
                <a:solidFill>
                  <a:srgbClr val="000000"/>
                </a:solidFill>
                <a:latin typeface="Arial"/>
              </a:rPr>
              <a:t>- SSH session to management IP (10.1.1.4) won't appear in "show sys connection" — management traffic is handled by host OS, not TMM</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PIVOT QUESTION</a:t>
            </a:r>
          </a:p>
          <a:p>
            <a:pPr marL="216000" indent="-216000">
              <a:buNone/>
            </a:pPr>
            <a:r>
              <a:rPr lang="en-US" sz="2000" b="0" strike="noStrike" spc="-1">
                <a:solidFill>
                  <a:srgbClr val="000000"/>
                </a:solidFill>
                <a:latin typeface="Arial"/>
              </a:rPr>
              <a:t>"In Activity 1, step 2, you create a VS with only a TCP profile and browse to https://10.1.10.115. It works. But you can't add cookie persistence. Why does HTTPS work without an SSL profile?"</a:t>
            </a:r>
          </a:p>
          <a:p>
            <a:pPr marL="216000" indent="-216000">
              <a:buNone/>
            </a:pPr>
            <a:r>
              <a:rPr lang="en-US" sz="2000" b="0" strike="noStrike" spc="-1">
                <a:solidFill>
                  <a:srgbClr val="000000"/>
                </a:solidFill>
                <a:latin typeface="Arial"/>
              </a:rPr>
              <a:t>ANSWER: Without a Client-SSL profile, the BIG-IP is doing SSL PASS-THROUGH. It doesn't terminate or decrypt the SSL — it just forwards the encrypted packets to the server. The server handles all SSL processing. This works for basic load balancing but prevents any L7 features because the BIG-IP can't see inside the encrypted traffic. To add cookie persistence, you need Client-SSL (to decrypt) + HTTP (to parse cookies).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F5 DOCUMENTATION</a:t>
            </a:r>
          </a:p>
          <a:p>
            <a:pPr marL="216000" indent="-216000">
              <a:buNone/>
            </a:pPr>
            <a:r>
              <a:rPr lang="en-US" sz="2000" b="0" strike="noStrike" spc="-1">
                <a:solidFill>
                  <a:srgbClr val="000000"/>
                </a:solidFill>
                <a:latin typeface="Arial"/>
              </a:rPr>
              <a:t>- Lab reference: https://techdocs.f5.com/en-us/bigip-14-1-0/big-ip-local-traffic-manager-profiles-reference.html</a:t>
            </a:r>
          </a:p>
          <a:p>
            <a:pPr marL="216000" indent="-216000">
              <a:buNone/>
            </a:pPr>
            <a:r>
              <a:rPr lang="en-US" sz="2000" b="0" strike="noStrike" spc="-1">
                <a:solidFill>
                  <a:srgbClr val="000000"/>
                </a:solidFill>
                <a:latin typeface="Arial"/>
              </a:rPr>
              <a:t>- HTTP monitor crafting: https://my.f5.com/manage/s/article/K2167</a:t>
            </a:r>
          </a:p>
          <a:p>
            <a:pPr marL="216000" indent="-216000">
              <a:buNone/>
            </a:pPr>
            <a:r>
              <a:rPr lang="en-US" sz="2000" b="0" strike="noStrike" spc="-1">
                <a:solidFill>
                  <a:srgbClr val="000000"/>
                </a:solidFill>
                <a:latin typeface="Arial"/>
              </a:rPr>
              <a:t>- Cookie encoding: https://my.f5.com/manage/s/article/K6917</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EXAM QUESTION PATTERNS</a:t>
            </a:r>
          </a:p>
          <a:p>
            <a:pPr marL="216000" indent="-216000">
              <a:buNone/>
            </a:pPr>
            <a:r>
              <a:rPr lang="en-US" sz="2000" b="0" strike="noStrike" spc="-1">
                <a:solidFill>
                  <a:srgbClr val="000000"/>
                </a:solidFill>
                <a:latin typeface="Arial"/>
              </a:rPr>
              <a:t>- "An HTTPS VS with only a TCP profile loads the site but you can't add cookie persistence. What profiles are missing?" → Client-SSL + HTTP</a:t>
            </a:r>
          </a:p>
          <a:p>
            <a:pPr marL="216000" indent="0">
              <a:lnSpc>
                <a:spcPct val="100000"/>
              </a:lnSpc>
              <a:buNone/>
            </a:pPr>
            <a:r>
              <a:rPr lang="en-US" sz="2000" b="0" strike="noStrike" spc="-1">
                <a:solidFill>
                  <a:srgbClr val="000000"/>
                </a:solidFill>
                <a:latin typeface="Arial"/>
              </a:rPr>
              <a:t>- "What is the minimum profile set for an HTTP-to-HTTPS redirect VS?" → TCP + HTTP + iRule (no pool, no SNAT needed)</a:t>
            </a:r>
          </a:p>
        </p:txBody>
      </p:sp>
      <p:sp>
        <p:nvSpPr>
          <p:cNvPr id="2556" name="PlaceHolder 3"/>
          <p:cNvSpPr>
            <a:spLocks noGrp="1"/>
          </p:cNvSpPr>
          <p:nvPr>
            <p:ph type="sldNum" idx="31"/>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05B9551D-A306-4B05-A53F-173CA778A281}" type="slidenum">
              <a:rPr lang="en-US" sz="1800" b="0" strike="noStrike" spc="-1">
                <a:solidFill>
                  <a:schemeClr val="dk1"/>
                </a:solidFill>
                <a:latin typeface="+mn-lt"/>
                <a:ea typeface="+mn-ea"/>
              </a:rPr>
              <a:t>28</a:t>
            </a:fld>
            <a:endParaRPr lang="en-US" sz="1800" b="0" strike="noStrike" spc="-1">
              <a:solidFill>
                <a:srgbClr val="000000"/>
              </a:solidFill>
              <a:latin typeface="Times New Roman"/>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57" name="PlaceHolder 1"/>
          <p:cNvSpPr>
            <a:spLocks noGrp="1" noRot="1" noChangeAspect="1"/>
          </p:cNvSpPr>
          <p:nvPr>
            <p:ph type="sldImg"/>
          </p:nvPr>
        </p:nvSpPr>
        <p:spPr>
          <a:xfrm>
            <a:off x="0" y="0"/>
            <a:ext cx="0" cy="0"/>
          </a:xfrm>
          <a:prstGeom prst="rect">
            <a:avLst/>
          </a:prstGeom>
          <a:ln w="0">
            <a:noFill/>
          </a:ln>
        </p:spPr>
      </p:sp>
      <p:sp>
        <p:nvSpPr>
          <p:cNvPr id="2558"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These checkpoint questions test the key concepts from the Lab 2 concept slides at the cognitive levels specified in the Beta blueprint. They are designed to be asked verbally after students complete the lab — do NOT show answers on screen.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Q1 ANSWER (A/E — Objective 2.10)</a:t>
            </a:r>
          </a:p>
          <a:p>
            <a:pPr marL="216000" indent="-216000">
              <a:buNone/>
            </a:pPr>
            <a:r>
              <a:rPr lang="en-US" sz="2000" b="0" strike="noStrike" spc="-1">
                <a:solidFill>
                  <a:srgbClr val="000000"/>
                </a:solidFill>
                <a:latin typeface="Arial"/>
              </a:rPr>
              <a:t>Images (JPEG, PNG, GIF) are already compressed formats. The HTTP compression profile does NOT help them and wastes CPU attempting to recompress incompressible data. The slow image loading is a bandwidth issue.</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Recommended fix: Enable Web Acceleration (RamCache) for static image content. Cached images are served from BIG-IP memory, eliminating server round-trips entirely. Also verify images are excluded from compression Content-Type Include list (they should be by default in wan-optimized-compression).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This tests whether students can distinguish between compression (reduces size of compressible text) and caching (eliminates server round-trips for repeat requests).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Q2 ANSWER (U/A — Objective 3.01)</a:t>
            </a:r>
          </a:p>
          <a:p>
            <a:pPr marL="216000" indent="-216000">
              <a:buNone/>
            </a:pPr>
            <a:r>
              <a:rPr lang="en-US" sz="2000" b="0" strike="noStrike" spc="-1">
                <a:solidFill>
                  <a:srgbClr val="000000"/>
                </a:solidFill>
                <a:latin typeface="Arial"/>
              </a:rPr>
              <a:t>The virtual server is missing an HTTP profile. The HTTP_REQUEST event only fires when the BIG-IP has parsed HTTP request headers, which requires an HTTP profile. Without it, the BIG-IP treats traffic as raw TCP bytes and never raises HTTP-layer events. The iRule's HTTP_REQUEST handler is registered but never triggered.</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Fix: Add an HTTP profile to the VS.</a:t>
            </a:r>
          </a:p>
          <a:p>
            <a:pPr marL="216000" indent="-216000">
              <a:buNone/>
            </a:pPr>
            <a:r>
              <a:rPr lang="en-US" sz="2000" b="0" strike="noStrike" spc="-1">
                <a:solidFill>
                  <a:srgbClr val="000000"/>
                </a:solidFill>
                <a:latin typeface="Arial"/>
              </a:rPr>
              <a:t>GUI: Virtual Servers &gt; [VS] &gt; HTTP Profile &gt; select "http"</a:t>
            </a:r>
          </a:p>
          <a:p>
            <a:pPr marL="216000" indent="-216000">
              <a:buNone/>
            </a:pPr>
            <a:r>
              <a:rPr lang="en-US" sz="2000" b="0" strike="noStrike" spc="-1">
                <a:solidFill>
                  <a:srgbClr val="000000"/>
                </a:solidFill>
                <a:latin typeface="Arial"/>
              </a:rPr>
              <a:t>TMSH: modify ltm virtual [vs_name] profiles add { http { } }</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This is exactly what happens in Lab Activity 4 — the deliberate failure teaches this lesson.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Q3 ANSWER (U/A — Objective 2.04)</a:t>
            </a:r>
          </a:p>
          <a:p>
            <a:pPr marL="216000" indent="-216000">
              <a:buNone/>
            </a:pPr>
            <a:r>
              <a:rPr lang="en-US" sz="2000" b="0" strike="noStrike" spc="-1">
                <a:solidFill>
                  <a:srgbClr val="000000"/>
                </a:solidFill>
                <a:latin typeface="Arial"/>
              </a:rPr>
              <a:t>Tier 1 SNAT automap changes ALL source IPs to the BIG-IP self IP. Tier 2 source address persistence sees all traffic from one IP (the BIG-IP), so it persists ALL users to the same app server. When the persistence record expires, a new load balancing decision sends traffic to a different server — users get "bounced."</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Fix options:</a:t>
            </a:r>
          </a:p>
          <a:p>
            <a:pPr marL="216000" indent="-216000">
              <a:buNone/>
            </a:pPr>
            <a:r>
              <a:rPr lang="en-US" sz="2000" b="0" strike="noStrike" spc="-1">
                <a:solidFill>
                  <a:srgbClr val="000000"/>
                </a:solidFill>
                <a:latin typeface="Arial"/>
              </a:rPr>
              <a:t>1. Use cookie persistence at Tier 2 (if app protocol is HTTP) — cookies identify individual users regardless of source IP</a:t>
            </a:r>
          </a:p>
          <a:p>
            <a:pPr marL="216000" indent="-216000">
              <a:buNone/>
            </a:pPr>
            <a:r>
              <a:rPr lang="en-US" sz="2000" b="0" strike="noStrike" spc="-1">
                <a:solidFill>
                  <a:srgbClr val="000000"/>
                </a:solidFill>
                <a:latin typeface="Arial"/>
              </a:rPr>
              <a:t>2. Use universal persistence at Tier 2 with XFF header from Tier 1 — persist on the original client IP passed in XFF</a:t>
            </a:r>
          </a:p>
          <a:p>
            <a:pPr marL="216000" indent="-216000">
              <a:buNone/>
            </a:pPr>
            <a:r>
              <a:rPr lang="en-US" sz="2000" b="0" strike="noStrike" spc="-1">
                <a:solidFill>
                  <a:srgbClr val="000000"/>
                </a:solidFill>
                <a:latin typeface="Arial"/>
              </a:rPr>
              <a:t>3. Eliminate SNAT at Tier 1 (change server routing to gateway through BIG-IP) — preserves original client IP at Tier 2</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COMMON STUDENT MISTAKES</a:t>
            </a:r>
          </a:p>
          <a:p>
            <a:pPr marL="216000" indent="-216000">
              <a:buNone/>
            </a:pPr>
            <a:r>
              <a:rPr lang="en-US" sz="2000" b="0" strike="noStrike" spc="-1">
                <a:solidFill>
                  <a:srgbClr val="000000"/>
                </a:solidFill>
                <a:latin typeface="Arial"/>
              </a:rPr>
              <a:t>- Not connecting the SNAT + persistence interaction across tiers</a:t>
            </a:r>
          </a:p>
          <a:p>
            <a:pPr marL="216000" indent="-216000">
              <a:buNone/>
            </a:pPr>
            <a:r>
              <a:rPr lang="en-US" sz="2000" b="0" strike="noStrike" spc="-1">
                <a:solidFill>
                  <a:srgbClr val="000000"/>
                </a:solidFill>
                <a:latin typeface="Arial"/>
              </a:rPr>
              <a:t>- Answering Q1 by suggesting "higher compression level" — this is wrong; the issue is that images can't be compressed further</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F5 DOCUMENTATION</a:t>
            </a:r>
          </a:p>
          <a:p>
            <a:pPr marL="216000" indent="-216000">
              <a:buNone/>
            </a:pPr>
            <a:r>
              <a:rPr lang="en-US" sz="2000" b="0" strike="noStrike" spc="-1">
                <a:solidFill>
                  <a:srgbClr val="000000"/>
                </a:solidFill>
                <a:latin typeface="Arial"/>
              </a:rPr>
              <a:t>- Profile dependencies: https://my.f5.com/manage/s/article/K23843660</a:t>
            </a:r>
          </a:p>
          <a:p>
            <a:pPr marL="216000" indent="-216000">
              <a:buNone/>
            </a:pPr>
            <a:r>
              <a:rPr lang="en-US" sz="2000" b="0" strike="noStrike" spc="-1">
                <a:solidFill>
                  <a:srgbClr val="000000"/>
                </a:solidFill>
                <a:latin typeface="Arial"/>
              </a:rPr>
              <a:t>- SNAT overview: https://my.f5.com/manage/s/article/K7820</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EXAM QUESTION PATTERNS</a:t>
            </a:r>
          </a:p>
          <a:p>
            <a:pPr marL="216000" indent="0">
              <a:lnSpc>
                <a:spcPct val="100000"/>
              </a:lnSpc>
              <a:buNone/>
            </a:pPr>
            <a:r>
              <a:rPr lang="en-US" sz="2000" b="0" strike="noStrike" spc="-1">
                <a:solidFill>
                  <a:srgbClr val="000000"/>
                </a:solidFill>
                <a:latin typeface="Arial"/>
              </a:rPr>
              <a:t>All three questions mirror real exam patterns: Q1 is scenario-based (A/E), Q2 is troubleshooting (U/A), Q3 is multi-tier architecture (U/A).</a:t>
            </a:r>
          </a:p>
        </p:txBody>
      </p:sp>
      <p:sp>
        <p:nvSpPr>
          <p:cNvPr id="2559" name="PlaceHolder 3"/>
          <p:cNvSpPr>
            <a:spLocks noGrp="1"/>
          </p:cNvSpPr>
          <p:nvPr>
            <p:ph type="sldNum" idx="32"/>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7E04DE00-0499-4491-81C4-A2347481DB41}" type="slidenum">
              <a:rPr lang="en-US" sz="1800" b="0" strike="noStrike" spc="-1">
                <a:solidFill>
                  <a:schemeClr val="dk1"/>
                </a:solidFill>
                <a:latin typeface="+mn-lt"/>
                <a:ea typeface="+mn-ea"/>
              </a:rPr>
              <a:t>29</a:t>
            </a:fld>
            <a:endParaRPr lang="en-US" sz="1800" b="0" strike="noStrike" spc="-1">
              <a:solidFill>
                <a:srgbClr val="000000"/>
              </a:solidFill>
              <a:latin typeface="Times New Roman"/>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 name="PlaceHolder 1"/>
          <p:cNvSpPr>
            <a:spLocks noGrp="1" noRot="1" noChangeAspect="1"/>
          </p:cNvSpPr>
          <p:nvPr>
            <p:ph type="sldImg"/>
          </p:nvPr>
        </p:nvSpPr>
        <p:spPr>
          <a:xfrm>
            <a:off x="0" y="0"/>
            <a:ext cx="0" cy="0"/>
          </a:xfrm>
          <a:prstGeom prst="rect">
            <a:avLst/>
          </a:prstGeom>
          <a:ln w="0">
            <a:noFill/>
          </a:ln>
        </p:spPr>
      </p:sp>
      <p:sp>
        <p:nvSpPr>
          <p:cNvPr id="2561"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These final checkpoint questions test two critical concepts: the minimum profile set for a common deployment scenario (Q4) and the OneConnect profile that's called out in the blueprint but not exercised in any lab (Q5).</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Q4 ANSWER (U/A — Objective 2.01)</a:t>
            </a:r>
          </a:p>
          <a:p>
            <a:pPr marL="216000" indent="-216000">
              <a:buNone/>
            </a:pPr>
            <a:r>
              <a:rPr lang="en-US" sz="2000" b="0" strike="noStrike" spc="-1">
                <a:solidFill>
                  <a:srgbClr val="000000"/>
                </a:solidFill>
                <a:latin typeface="Arial"/>
              </a:rPr>
              <a:t>Minimum profiles for cookie persistence on an HTTPS virtual server:</a:t>
            </a:r>
          </a:p>
          <a:p>
            <a:pPr marL="216000" indent="-216000">
              <a:buNone/>
            </a:pPr>
            <a:r>
              <a:rPr lang="en-US" sz="2000" b="0" strike="noStrike" spc="-1">
                <a:solidFill>
                  <a:srgbClr val="000000"/>
                </a:solidFill>
                <a:latin typeface="Arial"/>
              </a:rPr>
              <a:t>1. TCP profile — transport layer foundation</a:t>
            </a:r>
          </a:p>
          <a:p>
            <a:pPr marL="216000" indent="-216000">
              <a:buNone/>
            </a:pPr>
            <a:r>
              <a:rPr lang="en-US" sz="2000" b="0" strike="noStrike" spc="-1">
                <a:solidFill>
                  <a:srgbClr val="000000"/>
                </a:solidFill>
                <a:latin typeface="Arial"/>
              </a:rPr>
              <a:t>2. Client-SSL profile — decrypt HTTPS from client so BIG-IP can read HTTP content</a:t>
            </a:r>
          </a:p>
          <a:p>
            <a:pPr marL="216000" indent="-216000">
              <a:buNone/>
            </a:pPr>
            <a:r>
              <a:rPr lang="en-US" sz="2000" b="0" strike="noStrike" spc="-1">
                <a:solidFill>
                  <a:srgbClr val="000000"/>
                </a:solidFill>
                <a:latin typeface="Arial"/>
              </a:rPr>
              <a:t>3. HTTP profile — parse HTTP to read/insert cookies (cookies are HTTP headers)</a:t>
            </a:r>
          </a:p>
          <a:p>
            <a:pPr marL="216000" indent="-216000">
              <a:buNone/>
            </a:pPr>
            <a:r>
              <a:rPr lang="en-US" sz="2000" b="0" strike="noStrike" spc="-1">
                <a:solidFill>
                  <a:srgbClr val="000000"/>
                </a:solidFill>
                <a:latin typeface="Arial"/>
              </a:rPr>
              <a:t>4. Cookie persistence profile — the persistence method itself</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The dependency chain: Cookie persistence → requires HTTP (cookies are HTTP objects) → requires TCP (HTTP requires TCP connection termination). Plus Client-SSL for HTTPS decryption.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Common mistake: Students forget the HTTP profile. They add Client-SSL + cookie persistence and wonder why persistence doesn't work. Client-SSL decrypts the traffic, but without HTTP, the BIG-IP doesn't parse the HTTP layer and cannot read or insert cookies.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If the application also requires SSL to the backend (end-to-end encryption), add a Server-SSL profile. But that's not required for cookie persistence to function — it's a separate requirement.</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TMSH for the complete setup:</a:t>
            </a:r>
          </a:p>
          <a:p>
            <a:pPr marL="216000" indent="-216000">
              <a:buNone/>
            </a:pPr>
            <a:r>
              <a:rPr lang="en-US" sz="2000" b="0" strike="noStrike" spc="-1">
                <a:solidFill>
                  <a:srgbClr val="000000"/>
                </a:solidFill>
                <a:latin typeface="Arial"/>
              </a:rPr>
              <a:t>create ltm profile client-ssl my-clientssl cert my-cert key my-key</a:t>
            </a:r>
          </a:p>
          <a:p>
            <a:pPr marL="216000" indent="-216000">
              <a:buNone/>
            </a:pPr>
            <a:r>
              <a:rPr lang="en-US" sz="2000" b="0" strike="noStrike" spc="-1">
                <a:solidFill>
                  <a:srgbClr val="000000"/>
                </a:solidFill>
                <a:latin typeface="Arial"/>
              </a:rPr>
              <a:t>create ltm virtual secure_vs destination 10.1.10.115:443 ip-protocol tcp \</a:t>
            </a:r>
          </a:p>
          <a:p>
            <a:pPr marL="216000" indent="-216000">
              <a:buNone/>
            </a:pPr>
            <a:r>
              <a:rPr lang="en-US" sz="2000" b="0" strike="noStrike" spc="-1">
                <a:solidFill>
                  <a:srgbClr val="000000"/>
                </a:solidFill>
                <a:latin typeface="Arial"/>
              </a:rPr>
              <a:t>  profiles add { my-clientssl { context clientside } http { } tcp { } } \</a:t>
            </a:r>
          </a:p>
          <a:p>
            <a:pPr marL="216000" indent="-216000">
              <a:buNone/>
            </a:pPr>
            <a:r>
              <a:rPr lang="en-US" sz="2000" b="0" strike="noStrike" spc="-1">
                <a:solidFill>
                  <a:srgbClr val="000000"/>
                </a:solidFill>
                <a:latin typeface="Arial"/>
              </a:rPr>
              <a:t>  persist add { cookie { } } pool www_pool source-address-translation { type automap }</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Q5 ANSWER (U/A — Objective 2.02)</a:t>
            </a:r>
          </a:p>
          <a:p>
            <a:pPr marL="216000" indent="-216000">
              <a:buNone/>
            </a:pPr>
            <a:r>
              <a:rPr lang="en-US" sz="2000" b="0" strike="noStrike" spc="-1">
                <a:solidFill>
                  <a:srgbClr val="000000"/>
                </a:solidFill>
                <a:latin typeface="Arial"/>
              </a:rPr>
              <a:t>Add a OneConnect profile.</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How OneConnect works:</a:t>
            </a:r>
          </a:p>
          <a:p>
            <a:pPr marL="216000" indent="-216000">
              <a:buNone/>
            </a:pPr>
            <a:r>
              <a:rPr lang="en-US" sz="2000" b="0" strike="noStrike" spc="-1">
                <a:solidFill>
                  <a:srgbClr val="000000"/>
                </a:solidFill>
                <a:latin typeface="Arial"/>
              </a:rPr>
              <a:t>- Without OneConnect: Each client HTTP request creates a new TCP connection to the server. 50,000 requests/second = 50,000 TCP connections = 50,000 sockets on each server.</a:t>
            </a:r>
          </a:p>
          <a:p>
            <a:pPr marL="216000" indent="-216000">
              <a:buNone/>
            </a:pPr>
            <a:r>
              <a:rPr lang="en-US" sz="2000" b="0" strike="noStrike" spc="-1">
                <a:solidFill>
                  <a:srgbClr val="000000"/>
                </a:solidFill>
                <a:latin typeface="Arial"/>
              </a:rPr>
              <a:t>- With OneConnect: The BIG-IP reuses idle server-side TCP connections. After a server responds to a request and the connection goes idle, instead of closing it, the BIG-IP keeps it open and reuses it for the next client's request.</a:t>
            </a:r>
          </a:p>
          <a:p>
            <a:pPr marL="216000" indent="-216000">
              <a:buNone/>
            </a:pPr>
            <a:r>
              <a:rPr lang="en-US" sz="2000" b="0" strike="noStrike" spc="-1">
                <a:solidFill>
                  <a:srgbClr val="000000"/>
                </a:solidFill>
                <a:latin typeface="Arial"/>
              </a:rPr>
              <a:t>- Result: 50,000 client requests/second might only need 100-500 server connections (depending on server response time and connection idle timeout).</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Requirements: TCP + HTTP profiles (OneConnect must understand HTTP request/response boundaries to know when a server connection is idle and safe to reuse for a different client).</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Configuration:</a:t>
            </a:r>
          </a:p>
          <a:p>
            <a:pPr marL="216000" indent="-216000">
              <a:buNone/>
            </a:pPr>
            <a:r>
              <a:rPr lang="en-US" sz="2000" b="0" strike="noStrike" spc="-1">
                <a:solidFill>
                  <a:srgbClr val="000000"/>
                </a:solidFill>
                <a:latin typeface="Arial"/>
              </a:rPr>
              <a:t>GUI: Create profile under Profiles &gt; Other &gt; OneConnect</a:t>
            </a:r>
          </a:p>
          <a:p>
            <a:pPr marL="216000" indent="-216000">
              <a:buNone/>
            </a:pPr>
            <a:r>
              <a:rPr lang="en-US" sz="2000" b="0" strike="noStrike" spc="-1">
                <a:solidFill>
                  <a:srgbClr val="000000"/>
                </a:solidFill>
                <a:latin typeface="Arial"/>
              </a:rPr>
              <a:t>TMSH: create ltm profile one-connect my-oneconnect defaults-from oneconnect</a:t>
            </a:r>
          </a:p>
          <a:p>
            <a:pPr marL="216000" indent="-216000">
              <a:buNone/>
            </a:pPr>
            <a:r>
              <a:rPr lang="en-US" sz="2000" b="0" strike="noStrike" spc="-1">
                <a:solidFill>
                  <a:srgbClr val="000000"/>
                </a:solidFill>
                <a:latin typeface="Arial"/>
              </a:rPr>
              <a:t>Apply to VS: modify ltm virtual [vs_name] profiles add { my-oneconnect { } }</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Source mask setting:</a:t>
            </a:r>
          </a:p>
          <a:p>
            <a:pPr marL="216000" indent="-216000">
              <a:buNone/>
            </a:pPr>
            <a:r>
              <a:rPr lang="en-US" sz="2000" b="0" strike="noStrike" spc="-1">
                <a:solidFill>
                  <a:srgbClr val="000000"/>
                </a:solidFill>
                <a:latin typeface="Arial"/>
              </a:rPr>
              <a:t>- 0.0.0.0: All clients share all server connections (most aggressive reuse, best performance)</a:t>
            </a:r>
          </a:p>
          <a:p>
            <a:pPr marL="216000" indent="-216000">
              <a:buNone/>
            </a:pPr>
            <a:r>
              <a:rPr lang="en-US" sz="2000" b="0" strike="noStrike" spc="-1">
                <a:solidFill>
                  <a:srgbClr val="000000"/>
                </a:solidFill>
                <a:latin typeface="Arial"/>
              </a:rPr>
              <a:t>- 255.255.255.255: Each client IP gets its own connections (least reuse)</a:t>
            </a:r>
          </a:p>
          <a:p>
            <a:pPr marL="216000" indent="-216000">
              <a:buNone/>
            </a:pPr>
            <a:r>
              <a:rPr lang="en-US" sz="2000" b="0" strike="noStrike" spc="-1">
                <a:solidFill>
                  <a:srgbClr val="000000"/>
                </a:solidFill>
                <a:latin typeface="Arial"/>
              </a:rPr>
              <a:t>- Default: 0.0.0.0</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Warning: Not compatible with NTLM authentication without the NTLM profile (K10477).</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This question tests the F5CTSLTM2.02 sub-bullet: "Identify LTM profile settings to deploy OneConnect." Since there's no lab exercise for OneConnect, this checkpoint is the only hands-on coverage.</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PERSISTENCE METHOD SELECTION GUIDE (study reference):</a:t>
            </a:r>
          </a:p>
          <a:p>
            <a:pPr marL="216000" indent="-216000">
              <a:buNone/>
            </a:pPr>
            <a:r>
              <a:rPr lang="en-US" sz="2000" b="0" strike="noStrike" spc="-1">
                <a:solidFill>
                  <a:srgbClr val="000000"/>
                </a:solidFill>
                <a:latin typeface="Arial"/>
              </a:rPr>
              <a:t>- HTTP web application → Cookie insert (most granular, survives IP changes, no server-side state)</a:t>
            </a:r>
          </a:p>
          <a:p>
            <a:pPr marL="216000" indent="-216000">
              <a:buNone/>
            </a:pPr>
            <a:r>
              <a:rPr lang="en-US" sz="2000" b="0" strike="noStrike" spc="-1">
                <a:solidFill>
                  <a:srgbClr val="000000"/>
                </a:solidFill>
                <a:latin typeface="Arial"/>
              </a:rPr>
              <a:t>- Non-HTTP / FastL4 virtual server → Source address (only option that works without HTTP)</a:t>
            </a:r>
          </a:p>
          <a:p>
            <a:pPr marL="216000" indent="-216000">
              <a:buNone/>
            </a:pPr>
            <a:r>
              <a:rPr lang="en-US" sz="2000" b="0" strike="noStrike" spc="-1">
                <a:solidFill>
                  <a:srgbClr val="000000"/>
                </a:solidFill>
                <a:latin typeface="Arial"/>
              </a:rPr>
              <a:t>- SSL pass-through → SSL session ID (no HTTP profile available for cookies)</a:t>
            </a:r>
          </a:p>
          <a:p>
            <a:pPr marL="216000" indent="-216000">
              <a:buNone/>
            </a:pPr>
            <a:r>
              <a:rPr lang="en-US" sz="2000" b="0" strike="noStrike" spc="-1">
                <a:solidFill>
                  <a:srgbClr val="000000"/>
                </a:solidFill>
                <a:latin typeface="Arial"/>
              </a:rPr>
              <a:t>- Custom/proprietary protocol → Universal persistence with iRule (most flexible)</a:t>
            </a:r>
          </a:p>
          <a:p>
            <a:pPr marL="216000" indent="-216000">
              <a:buNone/>
            </a:pPr>
            <a:r>
              <a:rPr lang="en-US" sz="2000" b="0" strike="noStrike" spc="-1">
                <a:solidFill>
                  <a:srgbClr val="000000"/>
                </a:solidFill>
                <a:latin typeface="Arial"/>
              </a:rPr>
              <a:t>- Mobile users who change IPs frequently → Cookie insert (NOT source address — IP changes break it)</a:t>
            </a:r>
          </a:p>
          <a:p>
            <a:pPr marL="216000" indent="-216000">
              <a:buNone/>
            </a:pPr>
            <a:r>
              <a:rPr lang="en-US" sz="2000" b="0" strike="noStrike" spc="-1">
                <a:solidFill>
                  <a:srgbClr val="000000"/>
                </a:solidFill>
                <a:latin typeface="Arial"/>
              </a:rPr>
              <a:t>- High-security environment → Cookie insert with encryption (prevent cookie tampering)</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F5 DOCUMENTATION</a:t>
            </a:r>
          </a:p>
          <a:p>
            <a:pPr marL="216000" indent="-216000">
              <a:buNone/>
            </a:pPr>
            <a:r>
              <a:rPr lang="en-US" sz="2000" b="0" strike="noStrike" spc="-1">
                <a:solidFill>
                  <a:srgbClr val="000000"/>
                </a:solidFill>
                <a:latin typeface="Arial"/>
              </a:rPr>
              <a:t>- Cookie persistence: https://my.f5.com/manage/s/article/K6917</a:t>
            </a:r>
          </a:p>
          <a:p>
            <a:pPr marL="216000" indent="-216000">
              <a:buNone/>
            </a:pPr>
            <a:r>
              <a:rPr lang="en-US" sz="2000" b="0" strike="noStrike" spc="-1">
                <a:solidFill>
                  <a:srgbClr val="000000"/>
                </a:solidFill>
                <a:latin typeface="Arial"/>
              </a:rPr>
              <a:t>- OneConnect: https://my.f5.com/manage/s/article/K7208</a:t>
            </a:r>
          </a:p>
          <a:p>
            <a:pPr marL="216000" indent="-216000">
              <a:buNone/>
            </a:pPr>
            <a:r>
              <a:rPr lang="en-US" sz="2000" b="0" strike="noStrike" spc="-1">
                <a:solidFill>
                  <a:srgbClr val="000000"/>
                </a:solidFill>
                <a:latin typeface="Arial"/>
              </a:rPr>
              <a:t>- OneConnect + NTLM: https://my.f5.com/manage/s/article/K10477</a:t>
            </a:r>
          </a:p>
          <a:p>
            <a:pPr marL="216000" indent="-216000">
              <a:buNone/>
            </a:pPr>
            <a:r>
              <a:rPr lang="en-US" sz="2000" b="0" strike="noStrike" spc="-1">
                <a:solidFill>
                  <a:srgbClr val="000000"/>
                </a:solidFill>
                <a:latin typeface="Arial"/>
              </a:rPr>
              <a:t>- Profile dependencies: https://my.f5.com/manage/s/article/K23843660</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EXAM QUESTION PATTERNS</a:t>
            </a:r>
          </a:p>
          <a:p>
            <a:pPr marL="216000" indent="-216000">
              <a:buNone/>
            </a:pPr>
            <a:r>
              <a:rPr lang="en-US" sz="2000" b="0" strike="noStrike" spc="-1">
                <a:solidFill>
                  <a:srgbClr val="000000"/>
                </a:solidFill>
                <a:latin typeface="Arial"/>
              </a:rPr>
              <a:t>- "What is the minimum profile set for cookie persistence on HTTPS?" → TCP + Client-SSL + HTTP + Cookie</a:t>
            </a:r>
          </a:p>
          <a:p>
            <a:pPr marL="216000" indent="-216000">
              <a:buNone/>
            </a:pPr>
            <a:r>
              <a:rPr lang="en-US" sz="2000" b="0" strike="noStrike" spc="-1">
                <a:solidFill>
                  <a:srgbClr val="000000"/>
                </a:solidFill>
                <a:latin typeface="Arial"/>
              </a:rPr>
              <a:t>- "What profile reduces server TCP connection count?" → OneConnect</a:t>
            </a:r>
          </a:p>
          <a:p>
            <a:pPr marL="216000" indent="0">
              <a:lnSpc>
                <a:spcPct val="100000"/>
              </a:lnSpc>
              <a:buNone/>
            </a:pPr>
            <a:r>
              <a:rPr lang="en-US" sz="2000" b="0" strike="noStrike" spc="-1">
                <a:solidFill>
                  <a:srgbClr val="000000"/>
                </a:solidFill>
                <a:latin typeface="Arial"/>
              </a:rPr>
              <a:t>- "Which persistence method works for mobile users changing networks?" → Cookie insert</a:t>
            </a:r>
          </a:p>
        </p:txBody>
      </p:sp>
      <p:sp>
        <p:nvSpPr>
          <p:cNvPr id="2562" name="PlaceHolder 3"/>
          <p:cNvSpPr>
            <a:spLocks noGrp="1"/>
          </p:cNvSpPr>
          <p:nvPr>
            <p:ph type="sldNum" idx="33"/>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47B339CF-1EE6-4F56-A1AA-27FFA5FD4E6F}" type="slidenum">
              <a:rPr lang="en-US" sz="1800" b="0" strike="noStrike" spc="-1">
                <a:solidFill>
                  <a:schemeClr val="dk1"/>
                </a:solidFill>
                <a:latin typeface="+mn-lt"/>
                <a:ea typeface="+mn-ea"/>
              </a:rPr>
              <a:t>30</a:t>
            </a:fld>
            <a:endParaRPr lang="en-US" sz="1800" b="0" strike="noStrike" spc="-1">
              <a:solidFill>
                <a:srgbClr val="000000"/>
              </a:solidFill>
              <a:latin typeface="Times New Roman"/>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3" name="PlaceHolder 1"/>
          <p:cNvSpPr>
            <a:spLocks noGrp="1" noRot="1" noChangeAspect="1"/>
          </p:cNvSpPr>
          <p:nvPr>
            <p:ph type="sldImg"/>
          </p:nvPr>
        </p:nvSpPr>
        <p:spPr>
          <a:xfrm>
            <a:off x="0" y="0"/>
            <a:ext cx="0" cy="0"/>
          </a:xfrm>
          <a:prstGeom prst="rect">
            <a:avLst/>
          </a:prstGeom>
          <a:ln w="0">
            <a:noFill/>
          </a:ln>
        </p:spPr>
      </p:sp>
      <p:sp>
        <p:nvSpPr>
          <p:cNvPr id="2564"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SECTION OPENER - Lab 3: Application Visibility and Reporting (AVR)</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PURPOSE</a:t>
            </a:r>
          </a:p>
          <a:p>
            <a:pPr marL="216000" indent="-216000">
              <a:buNone/>
            </a:pPr>
            <a:r>
              <a:rPr lang="en-US" sz="2000" b="0" strike="noStrike" spc="-1">
                <a:solidFill>
                  <a:srgbClr val="000000"/>
                </a:solidFill>
                <a:latin typeface="Arial"/>
              </a:rPr>
              <a:t>This lab teaches students to use BIG-IP's built-in analytics engine to monitor application performance, identify bottlenecks, and detect misconfigurations. AVR (Application Visibility and Reporting) provides real-time and historical dashboards that show transaction rates, latency, throughput, response codes, and client demographics — without requiring external monitoring tools.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The lab uses two iRules (pre-built on the BIG-IP) to simulate diverse client traffic: one randomizes client IPs and user agents, the other introduces artificial server-side delay on one pool member. This creates realistic AVR data that students can then analyze to identify the slow server.</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BETA BLUEPRINT COVERAGE</a:t>
            </a:r>
          </a:p>
          <a:p>
            <a:pPr marL="216000" indent="-216000">
              <a:buNone/>
            </a:pPr>
            <a:r>
              <a:rPr lang="en-US" sz="2000" b="0" strike="noStrike" spc="-1">
                <a:solidFill>
                  <a:srgbClr val="000000"/>
                </a:solidFill>
                <a:latin typeface="Arial"/>
              </a:rPr>
              <a:t>- F5CTSLTM3.06 (U/A): "Interpret AVR and/or Telemetry on application behavior to identify performance issues or application attacks." Sub-bullets: explain how to modify profile settings using AVR data, use advanced filters to narrow output, identify potential latency increases.</a:t>
            </a:r>
          </a:p>
          <a:p>
            <a:pPr marL="216000" indent="-216000">
              <a:buNone/>
            </a:pPr>
            <a:r>
              <a:rPr lang="en-US" sz="2000" b="0" strike="noStrike" spc="-1">
                <a:solidFill>
                  <a:srgbClr val="000000"/>
                </a:solidFill>
                <a:latin typeface="Arial"/>
              </a:rPr>
              <a:t>- F5CTSLTM3.07 (U/A): "Interpret AVR information to identify LTM device misconfiguration." Sub-bullets: explain how latency trends identify application tier bottlenecks, use AVR to trace application traffic.</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TELEMETRY STREAMING GAP</a:t>
            </a:r>
          </a:p>
          <a:p>
            <a:pPr marL="216000" indent="-216000">
              <a:buNone/>
            </a:pPr>
            <a:r>
              <a:rPr lang="en-US" sz="2000" b="0" strike="noStrike" spc="-1">
                <a:solidFill>
                  <a:srgbClr val="000000"/>
                </a:solidFill>
                <a:latin typeface="Arial"/>
              </a:rPr>
              <a:t>The blueprint mentions "Telemetry" alongside AVR in objective 3.06. F5 Telemetry Streaming (TS) is a separate module that exports BIG-IP telemetry data to external consumers (Splunk, Azure Log Analytics, AWS CloudWatch, Kafka, etc.). It is NOT the same as AVR. TS uses a declarative JSON model deployed via iControl REST. This lab covers AVR only — address Telemetry Streaming briefly during concept slides as a complementary tool.</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Reference for TS: https://clouddocs.f5.com/products/extensions/f5-telemetry-streaming/latest/</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301a OBJECTIVES: 1.06–1.07</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DELIVERY TIPS</a:t>
            </a:r>
          </a:p>
          <a:p>
            <a:pPr marL="216000" indent="-216000">
              <a:buNone/>
            </a:pPr>
            <a:r>
              <a:rPr lang="en-US" sz="2000" b="0" strike="noStrike" spc="-1">
                <a:solidFill>
                  <a:srgbClr val="000000"/>
                </a:solidFill>
                <a:latin typeface="Arial"/>
              </a:rPr>
              <a:t>- AVR data takes up to 5 minutes to populate. Have students start traffic generation IMMEDIATELY after building the virtual servers, then cover concept slides while data accumulates.</a:t>
            </a:r>
          </a:p>
          <a:p>
            <a:pPr marL="216000" indent="-216000">
              <a:buNone/>
            </a:pPr>
            <a:r>
              <a:rPr lang="en-US" sz="2000" b="0" strike="noStrike" spc="-1">
                <a:solidFill>
                  <a:srgbClr val="000000"/>
                </a:solidFill>
                <a:latin typeface="Arial"/>
              </a:rPr>
              <a:t>- The "delay_server" iRule introduces 20ms delay on pool member 10.1.20.13 — this is what students will identify in the Server Latency view. Make sure they understand this was artificially introduced for learning purposes.</a:t>
            </a:r>
          </a:p>
          <a:p>
            <a:pPr marL="216000" indent="-216000">
              <a:buNone/>
            </a:pPr>
            <a:r>
              <a:rPr lang="en-US" sz="2000" b="0" strike="noStrike" spc="-1">
                <a:solidFill>
                  <a:srgbClr val="000000"/>
                </a:solidFill>
                <a:latin typeface="Arial"/>
              </a:rPr>
              <a:t>- If AVR is not provisioned, it must be provisioned first (System &gt; Resource Provisioning &gt; Application Visibility and Reporting = Nominal). This requires a service restart.</a:t>
            </a:r>
          </a:p>
          <a:p>
            <a:pPr marL="216000" indent="-216000">
              <a:buNone/>
            </a:pPr>
            <a:endParaRPr lang="en-US"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TIME MANAGEMENT: 55 min total (10 slides + 45 lab). The lab's traffic generation step can run in the background while you deliver concept slides.</a:t>
            </a:r>
          </a:p>
        </p:txBody>
      </p:sp>
      <p:sp>
        <p:nvSpPr>
          <p:cNvPr id="2565" name="PlaceHolder 3"/>
          <p:cNvSpPr>
            <a:spLocks noGrp="1"/>
          </p:cNvSpPr>
          <p:nvPr>
            <p:ph type="sldNum" idx="34"/>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DFAB1854-7EB4-442F-AE56-DBD974E89BCE}" type="slidenum">
              <a:rPr lang="en-US" sz="1800" b="0" strike="noStrike" spc="-1">
                <a:solidFill>
                  <a:schemeClr val="dk1"/>
                </a:solidFill>
                <a:latin typeface="+mn-lt"/>
                <a:ea typeface="+mn-ea"/>
              </a:rPr>
              <a:t>31</a:t>
            </a:fld>
            <a:endParaRPr lang="en-US" sz="1800" b="0" strike="noStrike" spc="-1">
              <a:solidFill>
                <a:srgbClr val="000000"/>
              </a:solidFill>
              <a:latin typeface="Times New Roman"/>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6" name="PlaceHolder 1"/>
          <p:cNvSpPr>
            <a:spLocks noGrp="1" noRot="1" noChangeAspect="1"/>
          </p:cNvSpPr>
          <p:nvPr>
            <p:ph type="sldImg"/>
          </p:nvPr>
        </p:nvSpPr>
        <p:spPr>
          <a:xfrm>
            <a:off x="0" y="0"/>
            <a:ext cx="0" cy="0"/>
          </a:xfrm>
          <a:prstGeom prst="rect">
            <a:avLst/>
          </a:prstGeom>
          <a:ln w="0">
            <a:noFill/>
          </a:ln>
        </p:spPr>
      </p:sp>
      <p:sp>
        <p:nvSpPr>
          <p:cNvPr id="2567"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CONCEPT SLIDE - What AVR Provides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AVR is BIG-IP's built-in application analytics engine. It collects, stores, and presents traffic data in real-time dashboards. Unlike external monitoring tools (Splunk, Datadog, Grafana), AVR runs entirely on the BIG-IP with no additional infrastructure required.</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AVR ARCHITECTURE</a:t>
            </a:r>
          </a:p>
          <a:p>
            <a:pPr marL="216000" indent="-216000">
              <a:buNone/>
            </a:pPr>
            <a:r>
              <a:rPr lang="en-US" sz="2000" b="0" strike="noStrike" spc="-1">
                <a:solidFill>
                  <a:srgbClr val="000000"/>
                </a:solidFill>
                <a:latin typeface="Arial"/>
              </a:rPr>
              <a:t>- AVR runs as a provisioned module within TMOS. It requires CPU and memory resources.</a:t>
            </a:r>
          </a:p>
          <a:p>
            <a:pPr marL="216000" indent="-216000">
              <a:buNone/>
            </a:pPr>
            <a:r>
              <a:rPr lang="en-US" sz="2000" b="0" strike="noStrike" spc="-1">
                <a:solidFill>
                  <a:srgbClr val="000000"/>
                </a:solidFill>
                <a:latin typeface="Arial"/>
              </a:rPr>
              <a:t>- Data is collected by TMM (Traffic Management Microkernel) as traffic flows through virtual servers with analytics profiles attached.</a:t>
            </a:r>
          </a:p>
          <a:p>
            <a:pPr marL="216000" indent="-216000">
              <a:buNone/>
            </a:pPr>
            <a:r>
              <a:rPr lang="en-US" sz="2000" b="0" strike="noStrike" spc="-1">
                <a:solidFill>
                  <a:srgbClr val="000000"/>
                </a:solidFill>
                <a:latin typeface="Arial"/>
              </a:rPr>
              <a:t>- Data is aggregated and stored locally on the BIG-IP in a circular database (older data is overwritten as new data arrives).</a:t>
            </a:r>
          </a:p>
          <a:p>
            <a:pPr marL="216000" indent="-216000">
              <a:buNone/>
            </a:pPr>
            <a:r>
              <a:rPr lang="en-US" sz="2000" b="0" strike="noStrike" spc="-1">
                <a:solidFill>
                  <a:srgbClr val="000000"/>
                </a:solidFill>
                <a:latin typeface="Arial"/>
              </a:rPr>
              <a:t>- Reports are accessed via the TMUI (GUI) under Statistics &gt; Analytics.</a:t>
            </a:r>
          </a:p>
          <a:p>
            <a:pPr marL="216000" indent="-216000">
              <a:buNone/>
            </a:pPr>
            <a:r>
              <a:rPr lang="en-US" sz="2000" b="0" strike="noStrike" spc="-1">
                <a:solidFill>
                  <a:srgbClr val="000000"/>
                </a:solidFill>
                <a:latin typeface="Arial"/>
              </a:rPr>
              <a:t>- AVR data can also be exported to external systems using the Analytics Data Export feature or F5 Telemetry Streaming.</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PROVISIONING DETAILS</a:t>
            </a:r>
          </a:p>
          <a:p>
            <a:pPr marL="216000" indent="-216000">
              <a:buNone/>
            </a:pPr>
            <a:r>
              <a:rPr lang="en-US" sz="2000" b="0" strike="noStrike" spc="-1">
                <a:solidFill>
                  <a:srgbClr val="000000"/>
                </a:solidFill>
                <a:latin typeface="Arial"/>
              </a:rPr>
              <a:t>AVR is NOT provisioned by default on a new BIG-IP installation. To enable it:</a:t>
            </a:r>
          </a:p>
          <a:p>
            <a:pPr marL="216000" indent="-216000">
              <a:buNone/>
            </a:pPr>
            <a:r>
              <a:rPr lang="en-US" sz="2000" b="0" strike="noStrike" spc="-1">
                <a:solidFill>
                  <a:srgbClr val="000000"/>
                </a:solidFill>
                <a:latin typeface="Arial"/>
              </a:rPr>
              <a:t>1. Go to System &gt; Resource Provisioning</a:t>
            </a:r>
          </a:p>
          <a:p>
            <a:pPr marL="216000" indent="-216000">
              <a:buNone/>
            </a:pPr>
            <a:r>
              <a:rPr lang="en-US" sz="2000" b="0" strike="noStrike" spc="-1">
                <a:solidFill>
                  <a:srgbClr val="000000"/>
                </a:solidFill>
                <a:latin typeface="Arial"/>
              </a:rPr>
              <a:t>2. Set "Application Visibility and Reporting (AVR)" to Nominal</a:t>
            </a:r>
          </a:p>
          <a:p>
            <a:pPr marL="216000" indent="-216000">
              <a:buNone/>
            </a:pPr>
            <a:r>
              <a:rPr lang="en-US" sz="2000" b="0" strike="noStrike" spc="-1">
                <a:solidFill>
                  <a:srgbClr val="000000"/>
                </a:solidFill>
                <a:latin typeface="Arial"/>
              </a:rPr>
              <a:t>3. Click Submit — this triggers a service restart (TMM restarts)</a:t>
            </a:r>
          </a:p>
          <a:p>
            <a:pPr marL="216000" indent="-216000">
              <a:buNone/>
            </a:pPr>
            <a:r>
              <a:rPr lang="en-US" sz="2000" b="0" strike="noStrike" spc="-1">
                <a:solidFill>
                  <a:srgbClr val="000000"/>
                </a:solidFill>
                <a:latin typeface="Arial"/>
              </a:rPr>
              <a:t>4. Wait for the system to become active again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IMPORTANT: Provisioning AVR on a production system requires a maintenance window because TMM restarts during the provisioning process, which briefly interrupts traffic.</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The lab environment has AVR pre-provisioned to save time. Students should verify this in Step 1 of the lab.</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ANALYTICS PROFILE</a:t>
            </a:r>
          </a:p>
          <a:p>
            <a:pPr marL="216000" indent="-216000">
              <a:buNone/>
            </a:pPr>
            <a:r>
              <a:rPr lang="en-US" sz="2000" b="0" strike="noStrike" spc="-1">
                <a:solidFill>
                  <a:srgbClr val="000000"/>
                </a:solidFill>
                <a:latin typeface="Arial"/>
              </a:rPr>
              <a:t>The analytics profile controls WHAT data is collected. There are two main categories:</a:t>
            </a:r>
          </a:p>
          <a:p>
            <a:pPr marL="216000" indent="-216000">
              <a:buNone/>
            </a:pPr>
            <a:r>
              <a:rPr lang="en-US" sz="2000" b="0" strike="noStrike" spc="-1">
                <a:solidFill>
                  <a:srgbClr val="000000"/>
                </a:solidFill>
                <a:latin typeface="Arial"/>
              </a:rPr>
              <a:t>1. Collected Metrics: The numerical measurements</a:t>
            </a:r>
          </a:p>
          <a:p>
            <a:pPr marL="216000" indent="-216000">
              <a:buNone/>
            </a:pPr>
            <a:r>
              <a:rPr lang="en-US" sz="2000" b="0" strike="noStrike" spc="-1">
                <a:solidFill>
                  <a:srgbClr val="000000"/>
                </a:solidFill>
                <a:latin typeface="Arial"/>
              </a:rPr>
              <a:t>   - Max TPS (Transactions Per Second): Peak request rate</a:t>
            </a:r>
          </a:p>
          <a:p>
            <a:pPr marL="216000" indent="-216000">
              <a:buNone/>
            </a:pPr>
            <a:r>
              <a:rPr lang="en-US" sz="2000" b="0" strike="noStrike" spc="-1">
                <a:solidFill>
                  <a:srgbClr val="000000"/>
                </a:solidFill>
                <a:latin typeface="Arial"/>
              </a:rPr>
              <a:t>   - Throughput: Bits per second of traffic</a:t>
            </a:r>
          </a:p>
          <a:p>
            <a:pPr marL="216000" indent="-216000">
              <a:buNone/>
            </a:pPr>
            <a:r>
              <a:rPr lang="en-US" sz="2000" b="0" strike="noStrike" spc="-1">
                <a:solidFill>
                  <a:srgbClr val="000000"/>
                </a:solidFill>
                <a:latin typeface="Arial"/>
              </a:rPr>
              <a:t>   - Page Load Time: End-to-end time from client request to full page render (requires JavaScript injection)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2. Collected Entities: The dimensions you can filter and group by</a:t>
            </a:r>
          </a:p>
          <a:p>
            <a:pPr marL="216000" indent="-216000">
              <a:buNone/>
            </a:pPr>
            <a:r>
              <a:rPr lang="en-US" sz="2000" b="0" strike="noStrike" spc="-1">
                <a:solidFill>
                  <a:srgbClr val="000000"/>
                </a:solidFill>
                <a:latin typeface="Arial"/>
              </a:rPr>
              <a:t>   - URLs: Which pages/endpoints are being accessed</a:t>
            </a:r>
          </a:p>
          <a:p>
            <a:pPr marL="216000" indent="-216000">
              <a:buNone/>
            </a:pPr>
            <a:r>
              <a:rPr lang="en-US" sz="2000" b="0" strike="noStrike" spc="-1">
                <a:solidFill>
                  <a:srgbClr val="000000"/>
                </a:solidFill>
                <a:latin typeface="Arial"/>
              </a:rPr>
              <a:t>   - Countries: Geographic origin of clients (based on IP geolocation)</a:t>
            </a:r>
          </a:p>
          <a:p>
            <a:pPr marL="216000" indent="-216000">
              <a:buNone/>
            </a:pPr>
            <a:r>
              <a:rPr lang="en-US" sz="2000" b="0" strike="noStrike" spc="-1">
                <a:solidFill>
                  <a:srgbClr val="000000"/>
                </a:solidFill>
                <a:latin typeface="Arial"/>
              </a:rPr>
              <a:t>   - Client IP Addresses: Individual client IPs</a:t>
            </a:r>
          </a:p>
          <a:p>
            <a:pPr marL="216000" indent="-216000">
              <a:buNone/>
            </a:pPr>
            <a:r>
              <a:rPr lang="en-US" sz="2000" b="0" strike="noStrike" spc="-1">
                <a:solidFill>
                  <a:srgbClr val="000000"/>
                </a:solidFill>
                <a:latin typeface="Arial"/>
              </a:rPr>
              <a:t>   - Client Subnets: Grouped by subnet</a:t>
            </a:r>
          </a:p>
          <a:p>
            <a:pPr marL="216000" indent="-216000">
              <a:buNone/>
            </a:pPr>
            <a:r>
              <a:rPr lang="en-US" sz="2000" b="0" strike="noStrike" spc="-1">
                <a:solidFill>
                  <a:srgbClr val="000000"/>
                </a:solidFill>
                <a:latin typeface="Arial"/>
              </a:rPr>
              <a:t>   - Response Codes: HTTP status code distribution (200, 301, 404, 500, etc.)</a:t>
            </a:r>
          </a:p>
          <a:p>
            <a:pPr marL="216000" indent="-216000">
              <a:buNone/>
            </a:pPr>
            <a:r>
              <a:rPr lang="en-US" sz="2000" b="0" strike="noStrike" spc="-1">
                <a:solidFill>
                  <a:srgbClr val="000000"/>
                </a:solidFill>
                <a:latin typeface="Arial"/>
              </a:rPr>
              <a:t>   - User Agents: Browser/device type distribution</a:t>
            </a:r>
          </a:p>
          <a:p>
            <a:pPr marL="216000" indent="-216000">
              <a:buNone/>
            </a:pPr>
            <a:r>
              <a:rPr lang="en-US" sz="2000" b="0" strike="noStrike" spc="-1">
                <a:solidFill>
                  <a:srgbClr val="000000"/>
                </a:solidFill>
                <a:latin typeface="Arial"/>
              </a:rPr>
              <a:t>   - Methods: HTTP method distribution (GET, POST, PUT, DELETE)</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MORE entities = MORE data collection = MORE resource consumption. In production, only enable the entities you actually need.</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TELEMETRY STREAMING (BLUEPRINT GAP)</a:t>
            </a:r>
          </a:p>
          <a:p>
            <a:pPr marL="216000" indent="-216000">
              <a:buNone/>
            </a:pPr>
            <a:r>
              <a:rPr lang="en-US" sz="2000" b="0" strike="noStrike" spc="-1">
                <a:solidFill>
                  <a:srgbClr val="000000"/>
                </a:solidFill>
                <a:latin typeface="Arial"/>
              </a:rPr>
              <a:t>F5 Telemetry Streaming (TS) is a separate iControl LX extension that pushes BIG-IP telemetry data to external analytics platforms. It is complementary to AVR, not a replacement:</a:t>
            </a:r>
          </a:p>
          <a:p>
            <a:pPr marL="216000" indent="-216000">
              <a:buNone/>
            </a:pPr>
            <a:r>
              <a:rPr lang="en-US" sz="2000" b="0" strike="noStrike" spc="-1">
                <a:solidFill>
                  <a:srgbClr val="000000"/>
                </a:solidFill>
                <a:latin typeface="Arial"/>
              </a:rPr>
              <a:t>- AVR: On-box analytics with built-in dashboards. Good for quick troubleshooting.</a:t>
            </a:r>
          </a:p>
          <a:p>
            <a:pPr marL="216000" indent="-216000">
              <a:buNone/>
            </a:pPr>
            <a:r>
              <a:rPr lang="en-US" sz="2000" b="0" strike="noStrike" spc="-1">
                <a:solidFill>
                  <a:srgbClr val="000000"/>
                </a:solidFill>
                <a:latin typeface="Arial"/>
              </a:rPr>
              <a:t>- TS: Off-box analytics via external platforms. Good for long-term trending, cross-device correlation, SIEM integration.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TS consumers include: Splunk, Azure Log Analytics, AWS CloudWatch, Kafka, ElasticSearch, Graphite, StatsD.</a:t>
            </a:r>
          </a:p>
          <a:p>
            <a:pPr marL="216000" indent="-216000">
              <a:buNone/>
            </a:pPr>
            <a:r>
              <a:rPr lang="en-US" sz="2000" b="0" strike="noStrike" spc="-1">
                <a:solidFill>
                  <a:srgbClr val="000000"/>
                </a:solidFill>
                <a:latin typeface="Arial"/>
              </a:rPr>
              <a:t>TS is deployed via declarative JSON POSTed to iControl REST. It is NOT configured in the GUI.</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Reference: https://clouddocs.f5.com/products/extensions/f5-telemetry-streaming/latest/</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F5 DOCUMENTATION</a:t>
            </a:r>
          </a:p>
          <a:p>
            <a:pPr marL="216000" indent="-216000">
              <a:buNone/>
            </a:pPr>
            <a:r>
              <a:rPr lang="en-US" sz="2000" b="0" strike="noStrike" spc="-1">
                <a:solidFill>
                  <a:srgbClr val="000000"/>
                </a:solidFill>
                <a:latin typeface="Arial"/>
              </a:rPr>
              <a:t>- AVR overview: https://techdocs.f5.com/en-us/bigip-14-1-0/big-ip-analytics-implementations.html</a:t>
            </a:r>
          </a:p>
          <a:p>
            <a:pPr marL="216000" indent="-216000">
              <a:buNone/>
            </a:pPr>
            <a:r>
              <a:rPr lang="en-US" sz="2000" b="0" strike="noStrike" spc="-1">
                <a:solidFill>
                  <a:srgbClr val="000000"/>
                </a:solidFill>
                <a:latin typeface="Arial"/>
              </a:rPr>
              <a:t>- Analytics profile reference: https://my.f5.com/manage/s/article/K13637</a:t>
            </a:r>
          </a:p>
          <a:p>
            <a:pPr marL="216000" indent="-216000">
              <a:buNone/>
            </a:pPr>
            <a:r>
              <a:rPr lang="en-US" sz="2000" b="0" strike="noStrike" spc="-1">
                <a:solidFill>
                  <a:srgbClr val="000000"/>
                </a:solidFill>
                <a:latin typeface="Arial"/>
              </a:rPr>
              <a:t>- Provisioning modules: https://my.f5.com/manage/s/article/K12111</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PIVOT QUESTION</a:t>
            </a:r>
          </a:p>
          <a:p>
            <a:pPr marL="216000" indent="-216000">
              <a:buNone/>
            </a:pPr>
            <a:r>
              <a:rPr lang="en-US" sz="2000" b="0" strike="noStrike" spc="-1">
                <a:solidFill>
                  <a:srgbClr val="000000"/>
                </a:solidFill>
                <a:latin typeface="Arial"/>
              </a:rPr>
              <a:t>"AVR is not provisioned on the BIG-IP. What happens when you try to create an analytics profile?"</a:t>
            </a:r>
          </a:p>
          <a:p>
            <a:pPr marL="216000" indent="0">
              <a:lnSpc>
                <a:spcPct val="100000"/>
              </a:lnSpc>
              <a:buNone/>
            </a:pPr>
            <a:r>
              <a:rPr lang="en-US" sz="2000" b="0" strike="noStrike" spc="-1">
                <a:solidFill>
                  <a:srgbClr val="000000"/>
                </a:solidFill>
                <a:latin typeface="Arial"/>
              </a:rPr>
              <a:t>ANSWER: The option to create an analytics profile does not appear in the GUI. The Profiles &gt; Analytics menu item is absent entirely. You must first provision AVR under System &gt; Resource Provisioning before any analytics configuration is available.</a:t>
            </a:r>
          </a:p>
        </p:txBody>
      </p:sp>
      <p:sp>
        <p:nvSpPr>
          <p:cNvPr id="2568" name="PlaceHolder 3"/>
          <p:cNvSpPr>
            <a:spLocks noGrp="1"/>
          </p:cNvSpPr>
          <p:nvPr>
            <p:ph type="sldNum" idx="35"/>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A5C6DDA7-D88C-4D56-A641-890C62B0AEE3}" type="slidenum">
              <a:rPr lang="en-US" sz="1800" b="0" strike="noStrike" spc="-1">
                <a:solidFill>
                  <a:schemeClr val="dk1"/>
                </a:solidFill>
                <a:latin typeface="+mn-lt"/>
                <a:ea typeface="+mn-ea"/>
              </a:rPr>
              <a:t>32</a:t>
            </a:fld>
            <a:endParaRPr lang="en-US" sz="1800" b="0" strike="noStrike" spc="-1">
              <a:solidFill>
                <a:srgbClr val="000000"/>
              </a:solidFill>
              <a:latin typeface="Times New Roman"/>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9" name="PlaceHolder 1"/>
          <p:cNvSpPr>
            <a:spLocks noGrp="1" noRot="1" noChangeAspect="1"/>
          </p:cNvSpPr>
          <p:nvPr>
            <p:ph type="sldImg"/>
          </p:nvPr>
        </p:nvSpPr>
        <p:spPr>
          <a:xfrm>
            <a:off x="0" y="0"/>
            <a:ext cx="0" cy="0"/>
          </a:xfrm>
          <a:prstGeom prst="rect">
            <a:avLst/>
          </a:prstGeom>
          <a:ln w="0">
            <a:noFill/>
          </a:ln>
        </p:spPr>
      </p:sp>
      <p:sp>
        <p:nvSpPr>
          <p:cNvPr id="2570"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CONCEPT SLIDE - What AVR Provides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AVR is BIG-IP's built-in application analytics engine. It collects, stores, and presents traffic data in real-time dashboards. Unlike external monitoring tools (Splunk, Datadog, Grafana), AVR runs entirely on the BIG-IP with no additional infrastructure required.</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AVR ARCHITECTURE</a:t>
            </a:r>
          </a:p>
          <a:p>
            <a:pPr marL="216000" indent="-216000">
              <a:buNone/>
            </a:pPr>
            <a:r>
              <a:rPr lang="en-US" sz="2000" b="0" strike="noStrike" spc="-1">
                <a:solidFill>
                  <a:srgbClr val="000000"/>
                </a:solidFill>
                <a:latin typeface="Arial"/>
              </a:rPr>
              <a:t>- AVR runs as a provisioned module within TMOS. It requires CPU and memory resources.</a:t>
            </a:r>
          </a:p>
          <a:p>
            <a:pPr marL="216000" indent="-216000">
              <a:buNone/>
            </a:pPr>
            <a:r>
              <a:rPr lang="en-US" sz="2000" b="0" strike="noStrike" spc="-1">
                <a:solidFill>
                  <a:srgbClr val="000000"/>
                </a:solidFill>
                <a:latin typeface="Arial"/>
              </a:rPr>
              <a:t>- Data is collected by TMM (Traffic Management Microkernel) as traffic flows through virtual servers with analytics profiles attached.</a:t>
            </a:r>
          </a:p>
          <a:p>
            <a:pPr marL="216000" indent="-216000">
              <a:buNone/>
            </a:pPr>
            <a:r>
              <a:rPr lang="en-US" sz="2000" b="0" strike="noStrike" spc="-1">
                <a:solidFill>
                  <a:srgbClr val="000000"/>
                </a:solidFill>
                <a:latin typeface="Arial"/>
              </a:rPr>
              <a:t>- Data is aggregated and stored locally on the BIG-IP in a circular database (older data is overwritten as new data arrives).</a:t>
            </a:r>
          </a:p>
          <a:p>
            <a:pPr marL="216000" indent="-216000">
              <a:buNone/>
            </a:pPr>
            <a:r>
              <a:rPr lang="en-US" sz="2000" b="0" strike="noStrike" spc="-1">
                <a:solidFill>
                  <a:srgbClr val="000000"/>
                </a:solidFill>
                <a:latin typeface="Arial"/>
              </a:rPr>
              <a:t>- Reports are accessed via the TMUI (GUI) under Statistics &gt; Analytics.</a:t>
            </a:r>
          </a:p>
          <a:p>
            <a:pPr marL="216000" indent="-216000">
              <a:buNone/>
            </a:pPr>
            <a:r>
              <a:rPr lang="en-US" sz="2000" b="0" strike="noStrike" spc="-1">
                <a:solidFill>
                  <a:srgbClr val="000000"/>
                </a:solidFill>
                <a:latin typeface="Arial"/>
              </a:rPr>
              <a:t>- AVR data can also be exported to external systems using the Analytics Data Export feature or F5 Telemetry Streaming.</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PROVISIONING DETAILS</a:t>
            </a:r>
          </a:p>
          <a:p>
            <a:pPr marL="216000" indent="-216000">
              <a:buNone/>
            </a:pPr>
            <a:r>
              <a:rPr lang="en-US" sz="2000" b="0" strike="noStrike" spc="-1">
                <a:solidFill>
                  <a:srgbClr val="000000"/>
                </a:solidFill>
                <a:latin typeface="Arial"/>
              </a:rPr>
              <a:t>AVR is NOT provisioned by default on a new BIG-IP installation. To enable it:</a:t>
            </a:r>
          </a:p>
          <a:p>
            <a:pPr marL="216000" indent="-216000">
              <a:buNone/>
            </a:pPr>
            <a:r>
              <a:rPr lang="en-US" sz="2000" b="0" strike="noStrike" spc="-1">
                <a:solidFill>
                  <a:srgbClr val="000000"/>
                </a:solidFill>
                <a:latin typeface="Arial"/>
              </a:rPr>
              <a:t>1. Go to System &gt; Resource Provisioning</a:t>
            </a:r>
          </a:p>
          <a:p>
            <a:pPr marL="216000" indent="-216000">
              <a:buNone/>
            </a:pPr>
            <a:r>
              <a:rPr lang="en-US" sz="2000" b="0" strike="noStrike" spc="-1">
                <a:solidFill>
                  <a:srgbClr val="000000"/>
                </a:solidFill>
                <a:latin typeface="Arial"/>
              </a:rPr>
              <a:t>2. Set "Application Visibility and Reporting (AVR)" to Nominal</a:t>
            </a:r>
          </a:p>
          <a:p>
            <a:pPr marL="216000" indent="-216000">
              <a:buNone/>
            </a:pPr>
            <a:r>
              <a:rPr lang="en-US" sz="2000" b="0" strike="noStrike" spc="-1">
                <a:solidFill>
                  <a:srgbClr val="000000"/>
                </a:solidFill>
                <a:latin typeface="Arial"/>
              </a:rPr>
              <a:t>3. Click Submit — this triggers a service restart (TMM restarts)</a:t>
            </a:r>
          </a:p>
          <a:p>
            <a:pPr marL="216000" indent="-216000">
              <a:buNone/>
            </a:pPr>
            <a:r>
              <a:rPr lang="en-US" sz="2000" b="0" strike="noStrike" spc="-1">
                <a:solidFill>
                  <a:srgbClr val="000000"/>
                </a:solidFill>
                <a:latin typeface="Arial"/>
              </a:rPr>
              <a:t>4. Wait for the system to become active again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IMPORTANT: Provisioning AVR on a production system requires a maintenance window because TMM restarts during the provisioning process, which briefly interrupts traffic.</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The lab environment has AVR pre-provisioned to save time. Students should verify this in Step 1 of the lab.</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ANALYTICS PROFILE</a:t>
            </a:r>
          </a:p>
          <a:p>
            <a:pPr marL="216000" indent="-216000">
              <a:buNone/>
            </a:pPr>
            <a:r>
              <a:rPr lang="en-US" sz="2000" b="0" strike="noStrike" spc="-1">
                <a:solidFill>
                  <a:srgbClr val="000000"/>
                </a:solidFill>
                <a:latin typeface="Arial"/>
              </a:rPr>
              <a:t>The analytics profile controls WHAT data is collected. There are two main categories:</a:t>
            </a:r>
          </a:p>
          <a:p>
            <a:pPr marL="216000" indent="-216000">
              <a:buNone/>
            </a:pPr>
            <a:r>
              <a:rPr lang="en-US" sz="2000" b="0" strike="noStrike" spc="-1">
                <a:solidFill>
                  <a:srgbClr val="000000"/>
                </a:solidFill>
                <a:latin typeface="Arial"/>
              </a:rPr>
              <a:t>1. Collected Metrics: The numerical measurements</a:t>
            </a:r>
          </a:p>
          <a:p>
            <a:pPr marL="216000" indent="-216000">
              <a:buNone/>
            </a:pPr>
            <a:r>
              <a:rPr lang="en-US" sz="2000" b="0" strike="noStrike" spc="-1">
                <a:solidFill>
                  <a:srgbClr val="000000"/>
                </a:solidFill>
                <a:latin typeface="Arial"/>
              </a:rPr>
              <a:t>   - Max TPS (Transactions Per Second): Peak request rate</a:t>
            </a:r>
          </a:p>
          <a:p>
            <a:pPr marL="216000" indent="-216000">
              <a:buNone/>
            </a:pPr>
            <a:r>
              <a:rPr lang="en-US" sz="2000" b="0" strike="noStrike" spc="-1">
                <a:solidFill>
                  <a:srgbClr val="000000"/>
                </a:solidFill>
                <a:latin typeface="Arial"/>
              </a:rPr>
              <a:t>   - Throughput: Bits per second of traffic</a:t>
            </a:r>
          </a:p>
          <a:p>
            <a:pPr marL="216000" indent="-216000">
              <a:buNone/>
            </a:pPr>
            <a:r>
              <a:rPr lang="en-US" sz="2000" b="0" strike="noStrike" spc="-1">
                <a:solidFill>
                  <a:srgbClr val="000000"/>
                </a:solidFill>
                <a:latin typeface="Arial"/>
              </a:rPr>
              <a:t>   - Page Load Time: End-to-end time from client request to full page render (requires JavaScript injection)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2. Collected Entities: The dimensions you can filter and group by</a:t>
            </a:r>
          </a:p>
          <a:p>
            <a:pPr marL="216000" indent="-216000">
              <a:buNone/>
            </a:pPr>
            <a:r>
              <a:rPr lang="en-US" sz="2000" b="0" strike="noStrike" spc="-1">
                <a:solidFill>
                  <a:srgbClr val="000000"/>
                </a:solidFill>
                <a:latin typeface="Arial"/>
              </a:rPr>
              <a:t>   - URLs: Which pages/endpoints are being accessed</a:t>
            </a:r>
          </a:p>
          <a:p>
            <a:pPr marL="216000" indent="-216000">
              <a:buNone/>
            </a:pPr>
            <a:r>
              <a:rPr lang="en-US" sz="2000" b="0" strike="noStrike" spc="-1">
                <a:solidFill>
                  <a:srgbClr val="000000"/>
                </a:solidFill>
                <a:latin typeface="Arial"/>
              </a:rPr>
              <a:t>   - Countries: Geographic origin of clients (based on IP geolocation)</a:t>
            </a:r>
          </a:p>
          <a:p>
            <a:pPr marL="216000" indent="-216000">
              <a:buNone/>
            </a:pPr>
            <a:r>
              <a:rPr lang="en-US" sz="2000" b="0" strike="noStrike" spc="-1">
                <a:solidFill>
                  <a:srgbClr val="000000"/>
                </a:solidFill>
                <a:latin typeface="Arial"/>
              </a:rPr>
              <a:t>   - Client IP Addresses: Individual client IPs</a:t>
            </a:r>
          </a:p>
          <a:p>
            <a:pPr marL="216000" indent="-216000">
              <a:buNone/>
            </a:pPr>
            <a:r>
              <a:rPr lang="en-US" sz="2000" b="0" strike="noStrike" spc="-1">
                <a:solidFill>
                  <a:srgbClr val="000000"/>
                </a:solidFill>
                <a:latin typeface="Arial"/>
              </a:rPr>
              <a:t>   - Client Subnets: Grouped by subnet</a:t>
            </a:r>
          </a:p>
          <a:p>
            <a:pPr marL="216000" indent="-216000">
              <a:buNone/>
            </a:pPr>
            <a:r>
              <a:rPr lang="en-US" sz="2000" b="0" strike="noStrike" spc="-1">
                <a:solidFill>
                  <a:srgbClr val="000000"/>
                </a:solidFill>
                <a:latin typeface="Arial"/>
              </a:rPr>
              <a:t>   - Response Codes: HTTP status code distribution (200, 301, 404, 500, etc.)</a:t>
            </a:r>
          </a:p>
          <a:p>
            <a:pPr marL="216000" indent="-216000">
              <a:buNone/>
            </a:pPr>
            <a:r>
              <a:rPr lang="en-US" sz="2000" b="0" strike="noStrike" spc="-1">
                <a:solidFill>
                  <a:srgbClr val="000000"/>
                </a:solidFill>
                <a:latin typeface="Arial"/>
              </a:rPr>
              <a:t>   - User Agents: Browser/device type distribution</a:t>
            </a:r>
          </a:p>
          <a:p>
            <a:pPr marL="216000" indent="-216000">
              <a:buNone/>
            </a:pPr>
            <a:r>
              <a:rPr lang="en-US" sz="2000" b="0" strike="noStrike" spc="-1">
                <a:solidFill>
                  <a:srgbClr val="000000"/>
                </a:solidFill>
                <a:latin typeface="Arial"/>
              </a:rPr>
              <a:t>   - Methods: HTTP method distribution (GET, POST, PUT, DELETE)</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MORE entities = MORE data collection = MORE resource consumption. In production, only enable the entities you actually need.</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TELEMETRY STREAMING (BLUEPRINT GAP)</a:t>
            </a:r>
          </a:p>
          <a:p>
            <a:pPr marL="216000" indent="-216000">
              <a:buNone/>
            </a:pPr>
            <a:r>
              <a:rPr lang="en-US" sz="2000" b="0" strike="noStrike" spc="-1">
                <a:solidFill>
                  <a:srgbClr val="000000"/>
                </a:solidFill>
                <a:latin typeface="Arial"/>
              </a:rPr>
              <a:t>F5 Telemetry Streaming (TS) is a separate iControl LX extension that pushes BIG-IP telemetry data to external analytics platforms. It is complementary to AVR, not a replacement:</a:t>
            </a:r>
          </a:p>
          <a:p>
            <a:pPr marL="216000" indent="-216000">
              <a:buNone/>
            </a:pPr>
            <a:r>
              <a:rPr lang="en-US" sz="2000" b="0" strike="noStrike" spc="-1">
                <a:solidFill>
                  <a:srgbClr val="000000"/>
                </a:solidFill>
                <a:latin typeface="Arial"/>
              </a:rPr>
              <a:t>- AVR: On-box analytics with built-in dashboards. Good for quick troubleshooting.</a:t>
            </a:r>
          </a:p>
          <a:p>
            <a:pPr marL="216000" indent="-216000">
              <a:buNone/>
            </a:pPr>
            <a:r>
              <a:rPr lang="en-US" sz="2000" b="0" strike="noStrike" spc="-1">
                <a:solidFill>
                  <a:srgbClr val="000000"/>
                </a:solidFill>
                <a:latin typeface="Arial"/>
              </a:rPr>
              <a:t>- TS: Off-box analytics via external platforms. Good for long-term trending, cross-device correlation, SIEM integration.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TS consumers include: Splunk, Azure Log Analytics, AWS CloudWatch, Kafka, ElasticSearch, Graphite, StatsD.</a:t>
            </a:r>
          </a:p>
          <a:p>
            <a:pPr marL="216000" indent="-216000">
              <a:buNone/>
            </a:pPr>
            <a:r>
              <a:rPr lang="en-US" sz="2000" b="0" strike="noStrike" spc="-1">
                <a:solidFill>
                  <a:srgbClr val="000000"/>
                </a:solidFill>
                <a:latin typeface="Arial"/>
              </a:rPr>
              <a:t>TS is deployed via declarative JSON POSTed to iControl REST. It is NOT configured in the GUI.</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Reference: https://clouddocs.f5.com/products/extensions/f5-telemetry-streaming/latest/</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F5 DOCUMENTATION</a:t>
            </a:r>
          </a:p>
          <a:p>
            <a:pPr marL="216000" indent="-216000">
              <a:buNone/>
            </a:pPr>
            <a:r>
              <a:rPr lang="en-US" sz="2000" b="0" strike="noStrike" spc="-1">
                <a:solidFill>
                  <a:srgbClr val="000000"/>
                </a:solidFill>
                <a:latin typeface="Arial"/>
              </a:rPr>
              <a:t>- AVR overview: https://techdocs.f5.com/en-us/bigip-14-1-0/big-ip-analytics-implementations.html</a:t>
            </a:r>
          </a:p>
          <a:p>
            <a:pPr marL="216000" indent="-216000">
              <a:buNone/>
            </a:pPr>
            <a:r>
              <a:rPr lang="en-US" sz="2000" b="0" strike="noStrike" spc="-1">
                <a:solidFill>
                  <a:srgbClr val="000000"/>
                </a:solidFill>
                <a:latin typeface="Arial"/>
              </a:rPr>
              <a:t>- Analytics profile reference: https://my.f5.com/manage/s/article/K13637</a:t>
            </a:r>
          </a:p>
          <a:p>
            <a:pPr marL="216000" indent="-216000">
              <a:buNone/>
            </a:pPr>
            <a:r>
              <a:rPr lang="en-US" sz="2000" b="0" strike="noStrike" spc="-1">
                <a:solidFill>
                  <a:srgbClr val="000000"/>
                </a:solidFill>
                <a:latin typeface="Arial"/>
              </a:rPr>
              <a:t>- Provisioning modules: https://my.f5.com/manage/s/article/K12111</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PIVOT QUESTION</a:t>
            </a:r>
          </a:p>
          <a:p>
            <a:pPr marL="216000" indent="-216000">
              <a:buNone/>
            </a:pPr>
            <a:r>
              <a:rPr lang="en-US" sz="2000" b="0" strike="noStrike" spc="-1">
                <a:solidFill>
                  <a:srgbClr val="000000"/>
                </a:solidFill>
                <a:latin typeface="Arial"/>
              </a:rPr>
              <a:t>"AVR is not provisioned on the BIG-IP. What happens when you try to create an analytics profile?"</a:t>
            </a:r>
          </a:p>
          <a:p>
            <a:pPr marL="216000" indent="0">
              <a:lnSpc>
                <a:spcPct val="100000"/>
              </a:lnSpc>
              <a:buNone/>
            </a:pPr>
            <a:r>
              <a:rPr lang="en-US" sz="2000" b="0" strike="noStrike" spc="-1">
                <a:solidFill>
                  <a:srgbClr val="000000"/>
                </a:solidFill>
                <a:latin typeface="Arial"/>
              </a:rPr>
              <a:t>ANSWER: The option to create an analytics profile does not appear in the GUI. The Profiles &gt; Analytics menu item is absent entirely. You must first provision AVR under System &gt; Resource Provisioning before any analytics configuration is available.</a:t>
            </a:r>
          </a:p>
        </p:txBody>
      </p:sp>
      <p:sp>
        <p:nvSpPr>
          <p:cNvPr id="2571" name="PlaceHolder 3"/>
          <p:cNvSpPr>
            <a:spLocks noGrp="1"/>
          </p:cNvSpPr>
          <p:nvPr>
            <p:ph type="sldNum" idx="36"/>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B4FC8A14-B035-4C48-B8F2-34F5F1B6CCA5}" type="slidenum">
              <a:rPr lang="en-US" sz="1800" b="0" strike="noStrike" spc="-1">
                <a:solidFill>
                  <a:schemeClr val="dk1"/>
                </a:solidFill>
                <a:latin typeface="+mn-lt"/>
                <a:ea typeface="+mn-ea"/>
              </a:rPr>
              <a:t>33</a:t>
            </a:fld>
            <a:endParaRPr lang="en-US" sz="1800" b="0" strike="noStrike" spc="-1">
              <a:solidFill>
                <a:srgbClr val="000000"/>
              </a:solidFill>
              <a:latin typeface="Times New Roman"/>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2" name="PlaceHolder 1"/>
          <p:cNvSpPr>
            <a:spLocks noGrp="1" noRot="1" noChangeAspect="1"/>
          </p:cNvSpPr>
          <p:nvPr>
            <p:ph type="sldImg"/>
          </p:nvPr>
        </p:nvSpPr>
        <p:spPr>
          <a:xfrm>
            <a:off x="0" y="0"/>
            <a:ext cx="0" cy="0"/>
          </a:xfrm>
          <a:prstGeom prst="rect">
            <a:avLst/>
          </a:prstGeom>
          <a:ln w="0">
            <a:noFill/>
          </a:ln>
        </p:spPr>
      </p:sp>
      <p:sp>
        <p:nvSpPr>
          <p:cNvPr id="2573"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CONCEPT SLIDE - What AVR Provides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AVR is BIG-IP's built-in application analytics engine. It collects, stores, and presents traffic data in real-time dashboards. Unlike external monitoring tools (Splunk, Datadog, Grafana), AVR runs entirely on the BIG-IP with no additional infrastructure required.</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AVR ARCHITECTURE</a:t>
            </a:r>
          </a:p>
          <a:p>
            <a:pPr marL="216000" indent="-216000">
              <a:buNone/>
            </a:pPr>
            <a:r>
              <a:rPr lang="en-US" sz="2000" b="0" strike="noStrike" spc="-1">
                <a:solidFill>
                  <a:srgbClr val="000000"/>
                </a:solidFill>
                <a:latin typeface="Arial"/>
              </a:rPr>
              <a:t>- AVR runs as a provisioned module within TMOS. It requires CPU and memory resources.</a:t>
            </a:r>
          </a:p>
          <a:p>
            <a:pPr marL="216000" indent="-216000">
              <a:buNone/>
            </a:pPr>
            <a:r>
              <a:rPr lang="en-US" sz="2000" b="0" strike="noStrike" spc="-1">
                <a:solidFill>
                  <a:srgbClr val="000000"/>
                </a:solidFill>
                <a:latin typeface="Arial"/>
              </a:rPr>
              <a:t>- Data is collected by TMM (Traffic Management Microkernel) as traffic flows through virtual servers with analytics profiles attached.</a:t>
            </a:r>
          </a:p>
          <a:p>
            <a:pPr marL="216000" indent="-216000">
              <a:buNone/>
            </a:pPr>
            <a:r>
              <a:rPr lang="en-US" sz="2000" b="0" strike="noStrike" spc="-1">
                <a:solidFill>
                  <a:srgbClr val="000000"/>
                </a:solidFill>
                <a:latin typeface="Arial"/>
              </a:rPr>
              <a:t>- Data is aggregated and stored locally on the BIG-IP in a circular database (older data is overwritten as new data arrives).</a:t>
            </a:r>
          </a:p>
          <a:p>
            <a:pPr marL="216000" indent="-216000">
              <a:buNone/>
            </a:pPr>
            <a:r>
              <a:rPr lang="en-US" sz="2000" b="0" strike="noStrike" spc="-1">
                <a:solidFill>
                  <a:srgbClr val="000000"/>
                </a:solidFill>
                <a:latin typeface="Arial"/>
              </a:rPr>
              <a:t>- Reports are accessed via the TMUI (GUI) under Statistics &gt; Analytics.</a:t>
            </a:r>
          </a:p>
          <a:p>
            <a:pPr marL="216000" indent="-216000">
              <a:buNone/>
            </a:pPr>
            <a:r>
              <a:rPr lang="en-US" sz="2000" b="0" strike="noStrike" spc="-1">
                <a:solidFill>
                  <a:srgbClr val="000000"/>
                </a:solidFill>
                <a:latin typeface="Arial"/>
              </a:rPr>
              <a:t>- AVR data can also be exported to external systems using the Analytics Data Export feature or F5 Telemetry Streaming.</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PROVISIONING DETAILS</a:t>
            </a:r>
          </a:p>
          <a:p>
            <a:pPr marL="216000" indent="-216000">
              <a:buNone/>
            </a:pPr>
            <a:r>
              <a:rPr lang="en-US" sz="2000" b="0" strike="noStrike" spc="-1">
                <a:solidFill>
                  <a:srgbClr val="000000"/>
                </a:solidFill>
                <a:latin typeface="Arial"/>
              </a:rPr>
              <a:t>AVR is NOT provisioned by default on a new BIG-IP installation. To enable it:</a:t>
            </a:r>
          </a:p>
          <a:p>
            <a:pPr marL="216000" indent="-216000">
              <a:buNone/>
            </a:pPr>
            <a:r>
              <a:rPr lang="en-US" sz="2000" b="0" strike="noStrike" spc="-1">
                <a:solidFill>
                  <a:srgbClr val="000000"/>
                </a:solidFill>
                <a:latin typeface="Arial"/>
              </a:rPr>
              <a:t>1. Go to System &gt; Resource Provisioning</a:t>
            </a:r>
          </a:p>
          <a:p>
            <a:pPr marL="216000" indent="-216000">
              <a:buNone/>
            </a:pPr>
            <a:r>
              <a:rPr lang="en-US" sz="2000" b="0" strike="noStrike" spc="-1">
                <a:solidFill>
                  <a:srgbClr val="000000"/>
                </a:solidFill>
                <a:latin typeface="Arial"/>
              </a:rPr>
              <a:t>2. Set "Application Visibility and Reporting (AVR)" to Nominal</a:t>
            </a:r>
          </a:p>
          <a:p>
            <a:pPr marL="216000" indent="-216000">
              <a:buNone/>
            </a:pPr>
            <a:r>
              <a:rPr lang="en-US" sz="2000" b="0" strike="noStrike" spc="-1">
                <a:solidFill>
                  <a:srgbClr val="000000"/>
                </a:solidFill>
                <a:latin typeface="Arial"/>
              </a:rPr>
              <a:t>3. Click Submit — this triggers a service restart (TMM restarts)</a:t>
            </a:r>
          </a:p>
          <a:p>
            <a:pPr marL="216000" indent="-216000">
              <a:buNone/>
            </a:pPr>
            <a:r>
              <a:rPr lang="en-US" sz="2000" b="0" strike="noStrike" spc="-1">
                <a:solidFill>
                  <a:srgbClr val="000000"/>
                </a:solidFill>
                <a:latin typeface="Arial"/>
              </a:rPr>
              <a:t>4. Wait for the system to become active again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IMPORTANT: Provisioning AVR on a production system requires a maintenance window because TMM restarts during the provisioning process, which briefly interrupts traffic.</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The lab environment has AVR pre-provisioned to save time. Students should verify this in Step 1 of the lab.</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ANALYTICS PROFILE</a:t>
            </a:r>
          </a:p>
          <a:p>
            <a:pPr marL="216000" indent="-216000">
              <a:buNone/>
            </a:pPr>
            <a:r>
              <a:rPr lang="en-US" sz="2000" b="0" strike="noStrike" spc="-1">
                <a:solidFill>
                  <a:srgbClr val="000000"/>
                </a:solidFill>
                <a:latin typeface="Arial"/>
              </a:rPr>
              <a:t>The analytics profile controls WHAT data is collected. There are two main categories:</a:t>
            </a:r>
          </a:p>
          <a:p>
            <a:pPr marL="216000" indent="-216000">
              <a:buNone/>
            </a:pPr>
            <a:r>
              <a:rPr lang="en-US" sz="2000" b="0" strike="noStrike" spc="-1">
                <a:solidFill>
                  <a:srgbClr val="000000"/>
                </a:solidFill>
                <a:latin typeface="Arial"/>
              </a:rPr>
              <a:t>1. Collected Metrics: The numerical measurements</a:t>
            </a:r>
          </a:p>
          <a:p>
            <a:pPr marL="216000" indent="-216000">
              <a:buNone/>
            </a:pPr>
            <a:r>
              <a:rPr lang="en-US" sz="2000" b="0" strike="noStrike" spc="-1">
                <a:solidFill>
                  <a:srgbClr val="000000"/>
                </a:solidFill>
                <a:latin typeface="Arial"/>
              </a:rPr>
              <a:t>   - Max TPS (Transactions Per Second): Peak request rate</a:t>
            </a:r>
          </a:p>
          <a:p>
            <a:pPr marL="216000" indent="-216000">
              <a:buNone/>
            </a:pPr>
            <a:r>
              <a:rPr lang="en-US" sz="2000" b="0" strike="noStrike" spc="-1">
                <a:solidFill>
                  <a:srgbClr val="000000"/>
                </a:solidFill>
                <a:latin typeface="Arial"/>
              </a:rPr>
              <a:t>   - Throughput: Bits per second of traffic</a:t>
            </a:r>
          </a:p>
          <a:p>
            <a:pPr marL="216000" indent="-216000">
              <a:buNone/>
            </a:pPr>
            <a:r>
              <a:rPr lang="en-US" sz="2000" b="0" strike="noStrike" spc="-1">
                <a:solidFill>
                  <a:srgbClr val="000000"/>
                </a:solidFill>
                <a:latin typeface="Arial"/>
              </a:rPr>
              <a:t>   - Page Load Time: End-to-end time from client request to full page render (requires JavaScript injection)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2. Collected Entities: The dimensions you can filter and group by</a:t>
            </a:r>
          </a:p>
          <a:p>
            <a:pPr marL="216000" indent="-216000">
              <a:buNone/>
            </a:pPr>
            <a:r>
              <a:rPr lang="en-US" sz="2000" b="0" strike="noStrike" spc="-1">
                <a:solidFill>
                  <a:srgbClr val="000000"/>
                </a:solidFill>
                <a:latin typeface="Arial"/>
              </a:rPr>
              <a:t>   - URLs: Which pages/endpoints are being accessed</a:t>
            </a:r>
          </a:p>
          <a:p>
            <a:pPr marL="216000" indent="-216000">
              <a:buNone/>
            </a:pPr>
            <a:r>
              <a:rPr lang="en-US" sz="2000" b="0" strike="noStrike" spc="-1">
                <a:solidFill>
                  <a:srgbClr val="000000"/>
                </a:solidFill>
                <a:latin typeface="Arial"/>
              </a:rPr>
              <a:t>   - Countries: Geographic origin of clients (based on IP geolocation)</a:t>
            </a:r>
          </a:p>
          <a:p>
            <a:pPr marL="216000" indent="-216000">
              <a:buNone/>
            </a:pPr>
            <a:r>
              <a:rPr lang="en-US" sz="2000" b="0" strike="noStrike" spc="-1">
                <a:solidFill>
                  <a:srgbClr val="000000"/>
                </a:solidFill>
                <a:latin typeface="Arial"/>
              </a:rPr>
              <a:t>   - Client IP Addresses: Individual client IPs</a:t>
            </a:r>
          </a:p>
          <a:p>
            <a:pPr marL="216000" indent="-216000">
              <a:buNone/>
            </a:pPr>
            <a:r>
              <a:rPr lang="en-US" sz="2000" b="0" strike="noStrike" spc="-1">
                <a:solidFill>
                  <a:srgbClr val="000000"/>
                </a:solidFill>
                <a:latin typeface="Arial"/>
              </a:rPr>
              <a:t>   - Client Subnets: Grouped by subnet</a:t>
            </a:r>
          </a:p>
          <a:p>
            <a:pPr marL="216000" indent="-216000">
              <a:buNone/>
            </a:pPr>
            <a:r>
              <a:rPr lang="en-US" sz="2000" b="0" strike="noStrike" spc="-1">
                <a:solidFill>
                  <a:srgbClr val="000000"/>
                </a:solidFill>
                <a:latin typeface="Arial"/>
              </a:rPr>
              <a:t>   - Response Codes: HTTP status code distribution (200, 301, 404, 500, etc.)</a:t>
            </a:r>
          </a:p>
          <a:p>
            <a:pPr marL="216000" indent="-216000">
              <a:buNone/>
            </a:pPr>
            <a:r>
              <a:rPr lang="en-US" sz="2000" b="0" strike="noStrike" spc="-1">
                <a:solidFill>
                  <a:srgbClr val="000000"/>
                </a:solidFill>
                <a:latin typeface="Arial"/>
              </a:rPr>
              <a:t>   - User Agents: Browser/device type distribution</a:t>
            </a:r>
          </a:p>
          <a:p>
            <a:pPr marL="216000" indent="-216000">
              <a:buNone/>
            </a:pPr>
            <a:r>
              <a:rPr lang="en-US" sz="2000" b="0" strike="noStrike" spc="-1">
                <a:solidFill>
                  <a:srgbClr val="000000"/>
                </a:solidFill>
                <a:latin typeface="Arial"/>
              </a:rPr>
              <a:t>   - Methods: HTTP method distribution (GET, POST, PUT, DELETE)</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MORE entities = MORE data collection = MORE resource consumption. In production, only enable the entities you actually need.</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TELEMETRY STREAMING (BLUEPRINT GAP)</a:t>
            </a:r>
          </a:p>
          <a:p>
            <a:pPr marL="216000" indent="-216000">
              <a:buNone/>
            </a:pPr>
            <a:r>
              <a:rPr lang="en-US" sz="2000" b="0" strike="noStrike" spc="-1">
                <a:solidFill>
                  <a:srgbClr val="000000"/>
                </a:solidFill>
                <a:latin typeface="Arial"/>
              </a:rPr>
              <a:t>F5 Telemetry Streaming (TS) is a separate iControl LX extension that pushes BIG-IP telemetry data to external analytics platforms. It is complementary to AVR, not a replacement:</a:t>
            </a:r>
          </a:p>
          <a:p>
            <a:pPr marL="216000" indent="-216000">
              <a:buNone/>
            </a:pPr>
            <a:r>
              <a:rPr lang="en-US" sz="2000" b="0" strike="noStrike" spc="-1">
                <a:solidFill>
                  <a:srgbClr val="000000"/>
                </a:solidFill>
                <a:latin typeface="Arial"/>
              </a:rPr>
              <a:t>- AVR: On-box analytics with built-in dashboards. Good for quick troubleshooting.</a:t>
            </a:r>
          </a:p>
          <a:p>
            <a:pPr marL="216000" indent="-216000">
              <a:buNone/>
            </a:pPr>
            <a:r>
              <a:rPr lang="en-US" sz="2000" b="0" strike="noStrike" spc="-1">
                <a:solidFill>
                  <a:srgbClr val="000000"/>
                </a:solidFill>
                <a:latin typeface="Arial"/>
              </a:rPr>
              <a:t>- TS: Off-box analytics via external platforms. Good for long-term trending, cross-device correlation, SIEM integration.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TS consumers include: Splunk, Azure Log Analytics, AWS CloudWatch, Kafka, ElasticSearch, Graphite, StatsD.</a:t>
            </a:r>
          </a:p>
          <a:p>
            <a:pPr marL="216000" indent="-216000">
              <a:buNone/>
            </a:pPr>
            <a:r>
              <a:rPr lang="en-US" sz="2000" b="0" strike="noStrike" spc="-1">
                <a:solidFill>
                  <a:srgbClr val="000000"/>
                </a:solidFill>
                <a:latin typeface="Arial"/>
              </a:rPr>
              <a:t>TS is deployed via declarative JSON POSTed to iControl REST. It is NOT configured in the GUI.</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Reference: https://clouddocs.f5.com/products/extensions/f5-telemetry-streaming/latest/</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F5 DOCUMENTATION</a:t>
            </a:r>
          </a:p>
          <a:p>
            <a:pPr marL="216000" indent="-216000">
              <a:buNone/>
            </a:pPr>
            <a:r>
              <a:rPr lang="en-US" sz="2000" b="0" strike="noStrike" spc="-1">
                <a:solidFill>
                  <a:srgbClr val="000000"/>
                </a:solidFill>
                <a:latin typeface="Arial"/>
              </a:rPr>
              <a:t>- AVR overview: https://techdocs.f5.com/en-us/bigip-14-1-0/big-ip-analytics-implementations.html</a:t>
            </a:r>
          </a:p>
          <a:p>
            <a:pPr marL="216000" indent="-216000">
              <a:buNone/>
            </a:pPr>
            <a:r>
              <a:rPr lang="en-US" sz="2000" b="0" strike="noStrike" spc="-1">
                <a:solidFill>
                  <a:srgbClr val="000000"/>
                </a:solidFill>
                <a:latin typeface="Arial"/>
              </a:rPr>
              <a:t>- Analytics profile reference: https://my.f5.com/manage/s/article/K13637</a:t>
            </a:r>
          </a:p>
          <a:p>
            <a:pPr marL="216000" indent="-216000">
              <a:buNone/>
            </a:pPr>
            <a:r>
              <a:rPr lang="en-US" sz="2000" b="0" strike="noStrike" spc="-1">
                <a:solidFill>
                  <a:srgbClr val="000000"/>
                </a:solidFill>
                <a:latin typeface="Arial"/>
              </a:rPr>
              <a:t>- Provisioning modules: https://my.f5.com/manage/s/article/K12111</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PIVOT QUESTION</a:t>
            </a:r>
          </a:p>
          <a:p>
            <a:pPr marL="216000" indent="-216000">
              <a:buNone/>
            </a:pPr>
            <a:r>
              <a:rPr lang="en-US" sz="2000" b="0" strike="noStrike" spc="-1">
                <a:solidFill>
                  <a:srgbClr val="000000"/>
                </a:solidFill>
                <a:latin typeface="Arial"/>
              </a:rPr>
              <a:t>"AVR is not provisioned on the BIG-IP. What happens when you try to create an analytics profile?"</a:t>
            </a:r>
          </a:p>
          <a:p>
            <a:pPr marL="216000" indent="0">
              <a:lnSpc>
                <a:spcPct val="100000"/>
              </a:lnSpc>
              <a:buNone/>
            </a:pPr>
            <a:r>
              <a:rPr lang="en-US" sz="2000" b="0" strike="noStrike" spc="-1">
                <a:solidFill>
                  <a:srgbClr val="000000"/>
                </a:solidFill>
                <a:latin typeface="Arial"/>
              </a:rPr>
              <a:t>ANSWER: The option to create an analytics profile does not appear in the GUI. The Profiles &gt; Analytics menu item is absent entirely. You must first provision AVR under System &gt; Resource Provisioning before any analytics configuration is available.</a:t>
            </a:r>
          </a:p>
        </p:txBody>
      </p:sp>
      <p:sp>
        <p:nvSpPr>
          <p:cNvPr id="2574" name="PlaceHolder 3"/>
          <p:cNvSpPr>
            <a:spLocks noGrp="1"/>
          </p:cNvSpPr>
          <p:nvPr>
            <p:ph type="sldNum" idx="37"/>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65497691-9B51-4D2E-ACA4-E15966BF9A95}" type="slidenum">
              <a:rPr lang="en-US" sz="1800" b="0" strike="noStrike" spc="-1">
                <a:solidFill>
                  <a:schemeClr val="dk1"/>
                </a:solidFill>
                <a:latin typeface="+mn-lt"/>
                <a:ea typeface="+mn-ea"/>
              </a:rPr>
              <a:t>34</a:t>
            </a:fld>
            <a:endParaRPr lang="en-US" sz="1800" b="0" strike="noStrike" spc="-1">
              <a:solidFill>
                <a:srgbClr val="000000"/>
              </a:solidFill>
              <a:latin typeface="Times New Roman"/>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5" name="PlaceHolder 1"/>
          <p:cNvSpPr>
            <a:spLocks noGrp="1" noRot="1" noChangeAspect="1"/>
          </p:cNvSpPr>
          <p:nvPr>
            <p:ph type="sldImg"/>
          </p:nvPr>
        </p:nvSpPr>
        <p:spPr>
          <a:xfrm>
            <a:off x="0" y="0"/>
            <a:ext cx="0" cy="0"/>
          </a:xfrm>
          <a:prstGeom prst="rect">
            <a:avLst/>
          </a:prstGeom>
          <a:ln w="0">
            <a:noFill/>
          </a:ln>
        </p:spPr>
      </p:sp>
      <p:sp>
        <p:nvSpPr>
          <p:cNvPr id="2576"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CONCEPT SLIDE - Metrics vs Entities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This slide establishes the mental model for reading AVR dashboards. Students must understand that metrics are WHAT you measure, and entities are HOW you slice/filter/group that data. This distinction maps directly to the blueprint sub-bullets for 3.06 ("use advanced filters to narrow output data from AVR") and 3.07 ("use AVR to trace application traffic").</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METRICS IN DETAIL</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MAX TPS (Transactions Per Second)</a:t>
            </a:r>
          </a:p>
          <a:p>
            <a:pPr marL="216000" indent="-216000">
              <a:buNone/>
            </a:pPr>
            <a:r>
              <a:rPr lang="en-US" sz="2000" b="0" strike="noStrike" spc="-1">
                <a:solidFill>
                  <a:srgbClr val="000000"/>
                </a:solidFill>
                <a:latin typeface="Arial"/>
              </a:rPr>
              <a:t>- Measures the peak rate of HTTP transactions processed by the virtual server</a:t>
            </a:r>
          </a:p>
          <a:p>
            <a:pPr marL="216000" indent="-216000">
              <a:buNone/>
            </a:pPr>
            <a:r>
              <a:rPr lang="en-US" sz="2000" b="0" strike="noStrike" spc="-1">
                <a:solidFill>
                  <a:srgbClr val="000000"/>
                </a:solidFill>
                <a:latin typeface="Arial"/>
              </a:rPr>
              <a:t>- A "transaction" is one complete HTTP request/response cycle</a:t>
            </a:r>
          </a:p>
          <a:p>
            <a:pPr marL="216000" indent="-216000">
              <a:buNone/>
            </a:pPr>
            <a:r>
              <a:rPr lang="en-US" sz="2000" b="0" strike="noStrike" spc="-1">
                <a:solidFill>
                  <a:srgbClr val="000000"/>
                </a:solidFill>
                <a:latin typeface="Arial"/>
              </a:rPr>
              <a:t>- Use for: capacity planning (am I approaching the BIG-IP's throughput limit?), detecting traffic spikes (DDoS, flash crowds, marketing campaigns)</a:t>
            </a:r>
          </a:p>
          <a:p>
            <a:pPr marL="216000" indent="-216000">
              <a:buNone/>
            </a:pPr>
            <a:r>
              <a:rPr lang="en-US" sz="2000" b="0" strike="noStrike" spc="-1">
                <a:solidFill>
                  <a:srgbClr val="000000"/>
                </a:solidFill>
                <a:latin typeface="Arial"/>
              </a:rPr>
              <a:t>- AVR shows this as a time-series graph — spikes are immediately visible</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THROUGHPUT</a:t>
            </a:r>
          </a:p>
          <a:p>
            <a:pPr marL="216000" indent="-216000">
              <a:buNone/>
            </a:pPr>
            <a:r>
              <a:rPr lang="en-US" sz="2000" b="0" strike="noStrike" spc="-1">
                <a:solidFill>
                  <a:srgbClr val="000000"/>
                </a:solidFill>
                <a:latin typeface="Arial"/>
              </a:rPr>
              <a:t>- Measures bits per second of traffic (both client-side and server-side)</a:t>
            </a:r>
          </a:p>
          <a:p>
            <a:pPr marL="216000" indent="-216000">
              <a:buNone/>
            </a:pPr>
            <a:r>
              <a:rPr lang="en-US" sz="2000" b="0" strike="noStrike" spc="-1">
                <a:solidFill>
                  <a:srgbClr val="000000"/>
                </a:solidFill>
                <a:latin typeface="Arial"/>
              </a:rPr>
              <a:t>- Useful for bandwidth planning and detecting unusual traffic volumes</a:t>
            </a:r>
          </a:p>
          <a:p>
            <a:pPr marL="216000" indent="-216000">
              <a:buNone/>
            </a:pPr>
            <a:r>
              <a:rPr lang="en-US" sz="2000" b="0" strike="noStrike" spc="-1">
                <a:solidFill>
                  <a:srgbClr val="000000"/>
                </a:solidFill>
                <a:latin typeface="Arial"/>
              </a:rPr>
              <a:t>- A sudden spike in throughput with stable TPS may indicate large file downloads or responses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PAGE LOAD TIME</a:t>
            </a:r>
          </a:p>
          <a:p>
            <a:pPr marL="216000" indent="-216000">
              <a:buNone/>
            </a:pPr>
            <a:r>
              <a:rPr lang="en-US" sz="2000" b="0" strike="noStrike" spc="-1">
                <a:solidFill>
                  <a:srgbClr val="000000"/>
                </a:solidFill>
                <a:latin typeface="Arial"/>
              </a:rPr>
              <a:t>- Measures the end-to-end time from client request to full page render</a:t>
            </a:r>
          </a:p>
          <a:p>
            <a:pPr marL="216000" indent="-216000">
              <a:buNone/>
            </a:pPr>
            <a:r>
              <a:rPr lang="en-US" sz="2000" b="0" strike="noStrike" spc="-1">
                <a:solidFill>
                  <a:srgbClr val="000000"/>
                </a:solidFill>
                <a:latin typeface="Arial"/>
              </a:rPr>
              <a:t>- REQUIRES JavaScript injection: the HTTP profile must have "Response Analytics" enabled, which injects a small JavaScript snippet into HTML responses. The JavaScript reports back timing data to the BIG-IP.</a:t>
            </a:r>
          </a:p>
          <a:p>
            <a:pPr marL="216000" indent="-216000">
              <a:buNone/>
            </a:pPr>
            <a:r>
              <a:rPr lang="en-US" sz="2000" b="0" strike="noStrike" spc="-1">
                <a:solidFill>
                  <a:srgbClr val="000000"/>
                </a:solidFill>
                <a:latin typeface="Arial"/>
              </a:rPr>
              <a:t>- This is the MOST end-user-relevant metric but has the most overhead</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SERVER LATENCY vs CLIENT LATENCY</a:t>
            </a:r>
          </a:p>
          <a:p>
            <a:pPr marL="216000" indent="-216000">
              <a:buNone/>
            </a:pPr>
            <a:r>
              <a:rPr lang="en-US" sz="2000" b="0" strike="noStrike" spc="-1">
                <a:solidFill>
                  <a:srgbClr val="000000"/>
                </a:solidFill>
                <a:latin typeface="Arial"/>
              </a:rPr>
              <a:t>- Server latency: time between BIG-IP sending request to pool member and receiving the response. HIGH server latency = backend problem (slow database, overloaded app server, disk I/O).</a:t>
            </a:r>
          </a:p>
          <a:p>
            <a:pPr marL="216000" indent="-216000">
              <a:buNone/>
            </a:pPr>
            <a:r>
              <a:rPr lang="en-US" sz="2000" b="0" strike="noStrike" spc="-1">
                <a:solidFill>
                  <a:srgbClr val="000000"/>
                </a:solidFill>
                <a:latin typeface="Arial"/>
              </a:rPr>
              <a:t>- Client latency: time between BIG-IP sending response to client and the client acknowledging. HIGH client latency = network problem (WAN congestion, mobile network, geographic distance).</a:t>
            </a:r>
          </a:p>
          <a:p>
            <a:pPr marL="216000" indent="-216000">
              <a:buNone/>
            </a:pPr>
            <a:r>
              <a:rPr lang="en-US" sz="2000" b="0" strike="noStrike" spc="-1">
                <a:solidFill>
                  <a:srgbClr val="000000"/>
                </a:solidFill>
                <a:latin typeface="Arial"/>
              </a:rPr>
              <a:t>- The ability to SEPARATE server and client latency is one of AVR's most powerful features. Without it, you can't tell whether "slow app" is a backend problem or a network problem.</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ENTITIES IN DETAIL</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URLs: The most common entity for troubleshooting. "Which pages are slow?" → View Server Latency by URL → Find the URL with the highest average latency → Investigate why that specific endpoint is slow.</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Response Codes: Essential for error detection. A spike in 5xx codes indicates server errors. A spike in 4xx codes may indicate client-side issues (broken links, changed URLs) or potential attacks (scanning, probing). The lab should show a mix of 200 codes.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Pool Members: The key entity for identifying which SERVER is the problem. In the lab, the delay_server iRule introduces latency on 10.1.20.13 — when students view Server Latency by Pool Members, 10.1.20.13 should show noticeably higher latency than 10.1.20.11 and 10.1.20.12.</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THE DRILL-DOWN PATTERN (EXAM RELEVANT)</a:t>
            </a:r>
          </a:p>
          <a:p>
            <a:pPr marL="216000" indent="-216000">
              <a:buNone/>
            </a:pPr>
            <a:r>
              <a:rPr lang="en-US" sz="2000" b="0" strike="noStrike" spc="-1">
                <a:solidFill>
                  <a:srgbClr val="000000"/>
                </a:solidFill>
                <a:latin typeface="Arial"/>
              </a:rPr>
              <a:t>The exam may present a scenario: "Users report intermittent slowness. AVR shows overall TPS is normal. How do you identify the problem?"</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Answer pattern:</a:t>
            </a:r>
          </a:p>
          <a:p>
            <a:pPr marL="216000" indent="-216000">
              <a:buNone/>
            </a:pPr>
            <a:r>
              <a:rPr lang="en-US" sz="2000" b="0" strike="noStrike" spc="-1">
                <a:solidFill>
                  <a:srgbClr val="000000"/>
                </a:solidFill>
                <a:latin typeface="Arial"/>
              </a:rPr>
              <a:t>1. Overview → TPS and throughput are normal → not a capacity issue</a:t>
            </a:r>
          </a:p>
          <a:p>
            <a:pPr marL="216000" indent="-216000">
              <a:buNone/>
            </a:pPr>
            <a:r>
              <a:rPr lang="en-US" sz="2000" b="0" strike="noStrike" spc="-1">
                <a:solidFill>
                  <a:srgbClr val="000000"/>
                </a:solidFill>
                <a:latin typeface="Arial"/>
              </a:rPr>
              <a:t>2. Transactions → View By Pool Members → one member has fewer transactions (it's slower, so load balancer sends it less traffic over time with algorithms like Least Connections)</a:t>
            </a:r>
          </a:p>
          <a:p>
            <a:pPr marL="216000" indent="-216000">
              <a:buNone/>
            </a:pPr>
            <a:r>
              <a:rPr lang="en-US" sz="2000" b="0" strike="noStrike" spc="-1">
                <a:solidFill>
                  <a:srgbClr val="000000"/>
                </a:solidFill>
                <a:latin typeface="Arial"/>
              </a:rPr>
              <a:t>3. Latency → Server Latency → View By Pool Members → that member shows 20ms+ higher latency</a:t>
            </a:r>
          </a:p>
          <a:p>
            <a:pPr marL="216000" indent="-216000">
              <a:buNone/>
            </a:pPr>
            <a:r>
              <a:rPr lang="en-US" sz="2000" b="0" strike="noStrike" spc="-1">
                <a:solidFill>
                  <a:srgbClr val="000000"/>
                </a:solidFill>
                <a:latin typeface="Arial"/>
              </a:rPr>
              <a:t>4. Drill into that member → View By URLs → specific URL has the highest latency</a:t>
            </a:r>
          </a:p>
          <a:p>
            <a:pPr marL="216000" indent="-216000">
              <a:buNone/>
            </a:pPr>
            <a:r>
              <a:rPr lang="en-US" sz="2000" b="0" strike="noStrike" spc="-1">
                <a:solidFill>
                  <a:srgbClr val="000000"/>
                </a:solidFill>
                <a:latin typeface="Arial"/>
              </a:rPr>
              <a:t>5. Root cause: that specific URL on that specific server has a backend issue (slow query, disk I/O, memory pressure)</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This drill-down pattern is exactly what the lab exercises.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F5 DOCUMENTATION</a:t>
            </a:r>
          </a:p>
          <a:p>
            <a:pPr marL="216000" indent="-216000">
              <a:buNone/>
            </a:pPr>
            <a:r>
              <a:rPr lang="en-US" sz="2000" b="0" strike="noStrike" spc="-1">
                <a:solidFill>
                  <a:srgbClr val="000000"/>
                </a:solidFill>
                <a:latin typeface="Arial"/>
              </a:rPr>
              <a:t>- Analytics implementations: https://techdocs.f5.com/en-us/bigip-14-1-0/big-ip-analytics-implementations.html</a:t>
            </a:r>
          </a:p>
          <a:p>
            <a:pPr marL="216000" indent="-216000">
              <a:buNone/>
            </a:pPr>
            <a:r>
              <a:rPr lang="en-US" sz="2000" b="0" strike="noStrike" spc="-1">
                <a:solidFill>
                  <a:srgbClr val="000000"/>
                </a:solidFill>
                <a:latin typeface="Arial"/>
              </a:rPr>
              <a:t>- Analytics profile settings: https://my.f5.com/manage/s/article/K14260</a:t>
            </a:r>
          </a:p>
          <a:p>
            <a:pPr marL="216000" indent="0">
              <a:lnSpc>
                <a:spcPct val="100000"/>
              </a:lnSpc>
              <a:buNone/>
            </a:pPr>
            <a:r>
              <a:rPr lang="en-US" sz="2000" b="0" strike="noStrike" spc="-1">
                <a:solidFill>
                  <a:srgbClr val="000000"/>
                </a:solidFill>
                <a:latin typeface="Arial"/>
              </a:rPr>
              <a:t>- Page Load Time (JavaScript injection): https://my.f5.com/manage/s/article/K13637</a:t>
            </a:r>
          </a:p>
        </p:txBody>
      </p:sp>
      <p:sp>
        <p:nvSpPr>
          <p:cNvPr id="2577" name="PlaceHolder 3"/>
          <p:cNvSpPr>
            <a:spLocks noGrp="1"/>
          </p:cNvSpPr>
          <p:nvPr>
            <p:ph type="sldNum" idx="38"/>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C085869D-9354-452D-A253-D9B7197189CF}" type="slidenum">
              <a:rPr lang="en-US" sz="1800" b="0" strike="noStrike" spc="-1">
                <a:solidFill>
                  <a:schemeClr val="dk1"/>
                </a:solidFill>
                <a:latin typeface="+mn-lt"/>
                <a:ea typeface="+mn-ea"/>
              </a:rPr>
              <a:t>35</a:t>
            </a:fld>
            <a:endParaRPr lang="en-US" sz="1800" b="0" strike="noStrike" spc="-1">
              <a:solidFill>
                <a:srgbClr val="000000"/>
              </a:solidFill>
              <a:latin typeface="Times New Roman"/>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8" name="PlaceHolder 1"/>
          <p:cNvSpPr>
            <a:spLocks noGrp="1" noRot="1" noChangeAspect="1"/>
          </p:cNvSpPr>
          <p:nvPr>
            <p:ph type="sldImg"/>
          </p:nvPr>
        </p:nvSpPr>
        <p:spPr>
          <a:xfrm>
            <a:off x="0" y="0"/>
            <a:ext cx="0" cy="0"/>
          </a:xfrm>
          <a:prstGeom prst="rect">
            <a:avLst/>
          </a:prstGeom>
          <a:ln w="0">
            <a:noFill/>
          </a:ln>
        </p:spPr>
      </p:sp>
      <p:sp>
        <p:nvSpPr>
          <p:cNvPr id="2579"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CONCEPT SLIDE - Using AVR to Identify Bottlenecks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This slide provides the troubleshooting methodology for AVR — the drill-down workflow that students will use in the lab to find the artificially slow pool member. This directly addresses F5CTSLTM3.06 ("identify potential latency increases") and F5CTSLTM3.07 ("explain how latency trends identify application tier bottlenecks").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THE FIVE-STEP DRILL-DOWN WORKFLOW</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STEP 1: OVERVIEW</a:t>
            </a:r>
          </a:p>
          <a:p>
            <a:pPr marL="216000" indent="-216000">
              <a:buNone/>
            </a:pPr>
            <a:r>
              <a:rPr lang="en-US" sz="2000" b="0" strike="noStrike" spc="-1">
                <a:solidFill>
                  <a:srgbClr val="000000"/>
                </a:solidFill>
                <a:latin typeface="Arial"/>
              </a:rPr>
              <a:t>Start at Statistics &gt; Analytics &gt; HTTP &gt; Overview. This gives you the big picture:</a:t>
            </a:r>
          </a:p>
          <a:p>
            <a:pPr marL="216000" indent="-216000">
              <a:buNone/>
            </a:pPr>
            <a:r>
              <a:rPr lang="en-US" sz="2000" b="0" strike="noStrike" spc="-1">
                <a:solidFill>
                  <a:srgbClr val="000000"/>
                </a:solidFill>
                <a:latin typeface="Arial"/>
              </a:rPr>
              <a:t>- Total transactions per second: Is the app seeing normal traffic volume?</a:t>
            </a:r>
          </a:p>
          <a:p>
            <a:pPr marL="216000" indent="-216000">
              <a:buNone/>
            </a:pPr>
            <a:r>
              <a:rPr lang="en-US" sz="2000" b="0" strike="noStrike" spc="-1">
                <a:solidFill>
                  <a:srgbClr val="000000"/>
                </a:solidFill>
                <a:latin typeface="Arial"/>
              </a:rPr>
              <a:t>- Total throughput: Is bandwidth consumption normal?</a:t>
            </a:r>
          </a:p>
          <a:p>
            <a:pPr marL="216000" indent="-216000">
              <a:buNone/>
            </a:pPr>
            <a:r>
              <a:rPr lang="en-US" sz="2000" b="0" strike="noStrike" spc="-1">
                <a:solidFill>
                  <a:srgbClr val="000000"/>
                </a:solidFill>
                <a:latin typeface="Arial"/>
              </a:rPr>
              <a:t>- Error rate: Are there spikes in error responses?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If everything looks normal here but users still report issues, the problem is localized — go deeper.</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STEP 2: TRANSACTIONS BY POOL MEMBER</a:t>
            </a:r>
          </a:p>
          <a:p>
            <a:pPr marL="216000" indent="-216000">
              <a:buNone/>
            </a:pPr>
            <a:r>
              <a:rPr lang="en-US" sz="2000" b="0" strike="noStrike" spc="-1">
                <a:solidFill>
                  <a:srgbClr val="000000"/>
                </a:solidFill>
                <a:latin typeface="Arial"/>
              </a:rPr>
              <a:t>Go to Transactions tab &gt; View By: Pool Members. This shows how traffic is distributed across servers.</a:t>
            </a:r>
          </a:p>
          <a:p>
            <a:pPr marL="216000" indent="-216000">
              <a:buNone/>
            </a:pPr>
            <a:r>
              <a:rPr lang="en-US" sz="2000" b="0" strike="noStrike" spc="-1">
                <a:solidFill>
                  <a:srgbClr val="000000"/>
                </a:solidFill>
                <a:latin typeface="Arial"/>
              </a:rPr>
              <a:t>- If one server is handling significantly fewer transactions, it may be slow (least-connections algorithms naturally route less traffic to slower servers).</a:t>
            </a:r>
          </a:p>
          <a:p>
            <a:pPr marL="216000" indent="-216000">
              <a:buNone/>
            </a:pPr>
            <a:r>
              <a:rPr lang="en-US" sz="2000" b="0" strike="noStrike" spc="-1">
                <a:solidFill>
                  <a:srgbClr val="000000"/>
                </a:solidFill>
                <a:latin typeface="Arial"/>
              </a:rPr>
              <a:t>- If one server has more transactions, check if persistence is sending disproportionate traffic there.</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STEP 3: SERVER LATENCY BY POOL MEMBER</a:t>
            </a:r>
          </a:p>
          <a:p>
            <a:pPr marL="216000" indent="-216000">
              <a:buNone/>
            </a:pPr>
            <a:r>
              <a:rPr lang="en-US" sz="2000" b="0" strike="noStrike" spc="-1">
                <a:solidFill>
                  <a:srgbClr val="000000"/>
                </a:solidFill>
                <a:latin typeface="Arial"/>
              </a:rPr>
              <a:t>Go to Latency &gt; Server Latency &gt; View By: Pool Members. This is the most diagnostic view.</a:t>
            </a:r>
          </a:p>
          <a:p>
            <a:pPr marL="216000" indent="-216000">
              <a:buNone/>
            </a:pPr>
            <a:r>
              <a:rPr lang="en-US" sz="2000" b="0" strike="noStrike" spc="-1">
                <a:solidFill>
                  <a:srgbClr val="000000"/>
                </a:solidFill>
                <a:latin typeface="Arial"/>
              </a:rPr>
              <a:t>- Server latency measures the time between the BIG-IP sending a request to the server and receiving the response.</a:t>
            </a:r>
          </a:p>
          <a:p>
            <a:pPr marL="216000" indent="-216000">
              <a:buNone/>
            </a:pPr>
            <a:r>
              <a:rPr lang="en-US" sz="2000" b="0" strike="noStrike" spc="-1">
                <a:solidFill>
                  <a:srgbClr val="000000"/>
                </a:solidFill>
                <a:latin typeface="Arial"/>
              </a:rPr>
              <a:t>- If ONE member has higher latency: that specific server has an issue.</a:t>
            </a:r>
          </a:p>
          <a:p>
            <a:pPr marL="216000" indent="-216000">
              <a:buNone/>
            </a:pPr>
            <a:r>
              <a:rPr lang="en-US" sz="2000" b="0" strike="noStrike" spc="-1">
                <a:solidFill>
                  <a:srgbClr val="000000"/>
                </a:solidFill>
                <a:latin typeface="Arial"/>
              </a:rPr>
              <a:t>- If ALL members have similar high latency: the problem is a shared dependency (database, external API, DNS).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IN THE LAB: The delay_server iRule adds 20ms delay to member 10.1.20.13. Students should see 10.1.20.13 with noticeably higher server latency in this view.</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STEP 4: DRILL INTO THE SLOW MEMBER</a:t>
            </a:r>
          </a:p>
          <a:p>
            <a:pPr marL="216000" indent="-216000">
              <a:buNone/>
            </a:pPr>
            <a:r>
              <a:rPr lang="en-US" sz="2000" b="0" strike="noStrike" spc="-1">
                <a:solidFill>
                  <a:srgbClr val="000000"/>
                </a:solidFill>
                <a:latin typeface="Arial"/>
              </a:rPr>
              <a:t>Click on the slow member (10.1.20.13:80) in the detail section. Then View By: URLs.</a:t>
            </a:r>
          </a:p>
          <a:p>
            <a:pPr marL="216000" indent="-216000">
              <a:buNone/>
            </a:pPr>
            <a:r>
              <a:rPr lang="en-US" sz="2000" b="0" strike="noStrike" spc="-1">
                <a:solidFill>
                  <a:srgbClr val="000000"/>
                </a:solidFill>
                <a:latin typeface="Arial"/>
              </a:rPr>
              <a:t>- This reveals which specific URLs/endpoints are slow on that server.</a:t>
            </a:r>
          </a:p>
          <a:p>
            <a:pPr marL="216000" indent="-216000">
              <a:buNone/>
            </a:pPr>
            <a:r>
              <a:rPr lang="en-US" sz="2000" b="0" strike="noStrike" spc="-1">
                <a:solidFill>
                  <a:srgbClr val="000000"/>
                </a:solidFill>
                <a:latin typeface="Arial"/>
              </a:rPr>
              <a:t>- The delay_server iRule adds extra delay for the URL "/web_site/" — students should see this URL with higher latency.</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STEP 5: CORRELATE WITH ROOT CAUSE</a:t>
            </a:r>
          </a:p>
          <a:p>
            <a:pPr marL="216000" indent="-216000">
              <a:buNone/>
            </a:pPr>
            <a:r>
              <a:rPr lang="en-US" sz="2000" b="0" strike="noStrike" spc="-1">
                <a:solidFill>
                  <a:srgbClr val="000000"/>
                </a:solidFill>
                <a:latin typeface="Arial"/>
              </a:rPr>
              <a:t>AVR tells you WHERE the problem is and WHAT the symptoms are. The root cause requires investigating the server itself:</a:t>
            </a:r>
          </a:p>
          <a:p>
            <a:pPr marL="216000" indent="-216000">
              <a:buNone/>
            </a:pPr>
            <a:r>
              <a:rPr lang="en-US" sz="2000" b="0" strike="noStrike" spc="-1">
                <a:solidFill>
                  <a:srgbClr val="000000"/>
                </a:solidFill>
                <a:latin typeface="Arial"/>
              </a:rPr>
              <a:t>- Check server CPU, memory, disk I/O</a:t>
            </a:r>
          </a:p>
          <a:p>
            <a:pPr marL="216000" indent="-216000">
              <a:buNone/>
            </a:pPr>
            <a:r>
              <a:rPr lang="en-US" sz="2000" b="0" strike="noStrike" spc="-1">
                <a:solidFill>
                  <a:srgbClr val="000000"/>
                </a:solidFill>
                <a:latin typeface="Arial"/>
              </a:rPr>
              <a:t>- Check database query performance</a:t>
            </a:r>
          </a:p>
          <a:p>
            <a:pPr marL="216000" indent="-216000">
              <a:buNone/>
            </a:pPr>
            <a:r>
              <a:rPr lang="en-US" sz="2000" b="0" strike="noStrike" spc="-1">
                <a:solidFill>
                  <a:srgbClr val="000000"/>
                </a:solidFill>
                <a:latin typeface="Arial"/>
              </a:rPr>
              <a:t>- Check application logs for errors or slow queries</a:t>
            </a:r>
          </a:p>
          <a:p>
            <a:pPr marL="216000" indent="-216000">
              <a:buNone/>
            </a:pPr>
            <a:r>
              <a:rPr lang="en-US" sz="2000" b="0" strike="noStrike" spc="-1">
                <a:solidFill>
                  <a:srgbClr val="000000"/>
                </a:solidFill>
                <a:latin typeface="Arial"/>
              </a:rPr>
              <a:t>- Check if a recent deployment changed behavior</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THE PATTERN TABLE</a:t>
            </a:r>
          </a:p>
          <a:p>
            <a:pPr marL="216000" indent="-216000">
              <a:buNone/>
            </a:pPr>
            <a:r>
              <a:rPr lang="en-US" sz="2000" b="0" strike="noStrike" spc="-1">
                <a:solidFill>
                  <a:srgbClr val="000000"/>
                </a:solidFill>
                <a:latin typeface="Arial"/>
              </a:rPr>
              <a:t>The six patterns in the table cover the most common AVR scenarios. Each maps an observation to a likely cause and an action. Students should memorize these patterns because the exam presents scenarios and asks "what does this AVR data indicate?"</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KEY EXAM INSIGHT: SEPARATING CLIENT VS SERVER LATENCY</a:t>
            </a:r>
          </a:p>
          <a:p>
            <a:pPr marL="216000" indent="-216000">
              <a:buNone/>
            </a:pPr>
            <a:r>
              <a:rPr lang="en-US" sz="2000" b="0" strike="noStrike" spc="-1">
                <a:solidFill>
                  <a:srgbClr val="000000"/>
                </a:solidFill>
                <a:latin typeface="Arial"/>
              </a:rPr>
              <a:t>This is AVR's most powerful diagnostic capability. Without AVR, when users report "the app is slow," you don't know if it's the server, the network, or the BIG-IP. AVR separates these:</a:t>
            </a:r>
          </a:p>
          <a:p>
            <a:pPr marL="216000" indent="-216000">
              <a:buNone/>
            </a:pPr>
            <a:r>
              <a:rPr lang="en-US" sz="2000" b="0" strike="noStrike" spc="-1">
                <a:solidFill>
                  <a:srgbClr val="000000"/>
                </a:solidFill>
                <a:latin typeface="Arial"/>
              </a:rPr>
              <a:t>- High server latency + normal client latency = server/backend problem</a:t>
            </a:r>
          </a:p>
          <a:p>
            <a:pPr marL="216000" indent="-216000">
              <a:buNone/>
            </a:pPr>
            <a:r>
              <a:rPr lang="en-US" sz="2000" b="0" strike="noStrike" spc="-1">
                <a:solidFill>
                  <a:srgbClr val="000000"/>
                </a:solidFill>
                <a:latin typeface="Arial"/>
              </a:rPr>
              <a:t>- Normal server latency + high client latency = network problem</a:t>
            </a:r>
          </a:p>
          <a:p>
            <a:pPr marL="216000" indent="-216000">
              <a:buNone/>
            </a:pPr>
            <a:r>
              <a:rPr lang="en-US" sz="2000" b="0" strike="noStrike" spc="-1">
                <a:solidFill>
                  <a:srgbClr val="000000"/>
                </a:solidFill>
                <a:latin typeface="Arial"/>
              </a:rPr>
              <a:t>- High server latency + high client latency = server problem causing delays that cascade to clients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MODIFYING PROFILE SETTINGS BASED ON AVR (3.06 sub-bullet)</a:t>
            </a:r>
          </a:p>
          <a:p>
            <a:pPr marL="216000" indent="-216000">
              <a:buNone/>
            </a:pPr>
            <a:r>
              <a:rPr lang="en-US" sz="2000" b="0" strike="noStrike" spc="-1">
                <a:solidFill>
                  <a:srgbClr val="000000"/>
                </a:solidFill>
                <a:latin typeface="Arial"/>
              </a:rPr>
              <a:t>"Explain how to modify profile settings using information from the AVR."</a:t>
            </a:r>
          </a:p>
          <a:p>
            <a:pPr marL="216000" indent="-216000">
              <a:buNone/>
            </a:pPr>
            <a:r>
              <a:rPr lang="en-US" sz="2000" b="0" strike="noStrike" spc="-1">
                <a:solidFill>
                  <a:srgbClr val="000000"/>
                </a:solidFill>
                <a:latin typeface="Arial"/>
              </a:rPr>
              <a:t>Example: AVR shows high throughput but moderate TPS with large response sizes. This suggests enabling HTTP compression to reduce bandwidth. Or: AVR shows a URL is accessed thousands of times per minute with identical responses — this suggests enabling Web Acceleration (RamCache) for that content.</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F5 DOCUMENTATION</a:t>
            </a:r>
          </a:p>
          <a:p>
            <a:pPr marL="216000" indent="-216000">
              <a:buNone/>
            </a:pPr>
            <a:r>
              <a:rPr lang="en-US" sz="2000" b="0" strike="noStrike" spc="-1">
                <a:solidFill>
                  <a:srgbClr val="000000"/>
                </a:solidFill>
                <a:latin typeface="Arial"/>
              </a:rPr>
              <a:t>- Analytics troubleshooting: https://techdocs.f5.com/en-us/bigip-14-1-0/big-ip-analytics-implementations.html</a:t>
            </a:r>
          </a:p>
          <a:p>
            <a:pPr marL="216000" indent="-216000">
              <a:buNone/>
            </a:pPr>
            <a:r>
              <a:rPr lang="en-US" sz="2000" b="0" strike="noStrike" spc="-1">
                <a:solidFill>
                  <a:srgbClr val="000000"/>
                </a:solidFill>
                <a:latin typeface="Arial"/>
              </a:rPr>
              <a:t>- Server latency analysis: https://my.f5.com/manage/s/article/K14260</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PIVOT QUESTION (U/A)</a:t>
            </a:r>
          </a:p>
          <a:p>
            <a:pPr marL="216000" indent="-216000">
              <a:buNone/>
            </a:pPr>
            <a:r>
              <a:rPr lang="en-US" sz="2000" b="0" strike="noStrike" spc="-1">
                <a:solidFill>
                  <a:srgbClr val="000000"/>
                </a:solidFill>
                <a:latin typeface="Arial"/>
              </a:rPr>
              <a:t>"AVR shows server latency of 800ms for pool member 10.1.20.13 but only 50ms for 10.1.20.11 and 10.1.20.12. Client latency is 200ms for all clients. What tier is the problem in?"</a:t>
            </a:r>
          </a:p>
          <a:p>
            <a:pPr marL="216000" indent="0">
              <a:lnSpc>
                <a:spcPct val="100000"/>
              </a:lnSpc>
              <a:buNone/>
            </a:pPr>
            <a:r>
              <a:rPr lang="en-US" sz="2000" b="0" strike="noStrike" spc="-1">
                <a:solidFill>
                  <a:srgbClr val="000000"/>
                </a:solidFill>
                <a:latin typeface="Arial"/>
              </a:rPr>
              <a:t>ANSWER: The backend/server tier. Specifically, server 10.1.20.13 has an issue. The fact that client latency is consistent across all clients eliminates the network as the cause. The fact that only one pool member is slow eliminates shared dependencies (like a database). The problem is isolated to that specific server — investigate its CPU, memory, application logs, and any server-specific configuration.</a:t>
            </a:r>
          </a:p>
        </p:txBody>
      </p:sp>
      <p:sp>
        <p:nvSpPr>
          <p:cNvPr id="2580" name="PlaceHolder 3"/>
          <p:cNvSpPr>
            <a:spLocks noGrp="1"/>
          </p:cNvSpPr>
          <p:nvPr>
            <p:ph type="sldNum" idx="39"/>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DCD8CDB7-46F0-458D-A576-126038A883B0}" type="slidenum">
              <a:rPr lang="en-US" sz="1800" b="0" strike="noStrike" spc="-1">
                <a:solidFill>
                  <a:schemeClr val="dk1"/>
                </a:solidFill>
                <a:latin typeface="+mn-lt"/>
                <a:ea typeface="+mn-ea"/>
              </a:rPr>
              <a:t>36</a:t>
            </a:fld>
            <a:endParaRPr lang="en-US" sz="1800" b="0" strike="noStrike" spc="-1">
              <a:solidFill>
                <a:srgbClr val="000000"/>
              </a:solidFill>
              <a:latin typeface="Times New Roman"/>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1" name="PlaceHolder 1"/>
          <p:cNvSpPr>
            <a:spLocks noGrp="1" noRot="1" noChangeAspect="1"/>
          </p:cNvSpPr>
          <p:nvPr>
            <p:ph type="sldImg"/>
          </p:nvPr>
        </p:nvSpPr>
        <p:spPr>
          <a:xfrm>
            <a:off x="0" y="0"/>
            <a:ext cx="0" cy="0"/>
          </a:xfrm>
          <a:prstGeom prst="rect">
            <a:avLst/>
          </a:prstGeom>
          <a:ln w="0">
            <a:noFill/>
          </a:ln>
        </p:spPr>
      </p:sp>
      <p:sp>
        <p:nvSpPr>
          <p:cNvPr id="2582"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LAB LAUNCH - Leave this slide on screen while students work.</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LAB 3 EXERCISE DETAILS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THE TWO-VIRTUAL-SERVER ARCHITECTURE</a:t>
            </a:r>
          </a:p>
          <a:p>
            <a:pPr marL="216000" indent="-216000">
              <a:buNone/>
            </a:pPr>
            <a:r>
              <a:rPr lang="en-US" sz="2000" b="0" strike="noStrike" spc="-1">
                <a:solidFill>
                  <a:srgbClr val="000000"/>
                </a:solidFill>
                <a:latin typeface="Arial"/>
              </a:rPr>
              <a:t>This lab uses a clever two-VS design to simulate diverse client traffic:</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avr_virtual1 (10.1.10.90:80) — "Traffic generator" VS</a:t>
            </a:r>
          </a:p>
          <a:p>
            <a:pPr marL="216000" indent="-216000">
              <a:buNone/>
            </a:pPr>
            <a:r>
              <a:rPr lang="en-US" sz="2000" b="0" strike="noStrike" spc="-1">
                <a:solidFill>
                  <a:srgbClr val="000000"/>
                </a:solidFill>
                <a:latin typeface="Arial"/>
              </a:rPr>
              <a:t>- Receives traffic from the student's browser</a:t>
            </a:r>
          </a:p>
          <a:p>
            <a:pPr marL="216000" indent="-216000">
              <a:buNone/>
            </a:pPr>
            <a:r>
              <a:rPr lang="en-US" sz="2000" b="0" strike="noStrike" spc="-1">
                <a:solidFill>
                  <a:srgbClr val="000000"/>
                </a:solidFill>
                <a:latin typeface="Arial"/>
              </a:rPr>
              <a:t>- The random_client_ip iRule: (a) generates a random source IP, (b) picks a random user agent from the data group, (c) forwards the request to avr_virtual2 using the "virtual" command</a:t>
            </a:r>
          </a:p>
          <a:p>
            <a:pPr marL="216000" indent="-216000">
              <a:buNone/>
            </a:pPr>
            <a:r>
              <a:rPr lang="en-US" sz="2000" b="0" strike="noStrike" spc="-1">
                <a:solidFill>
                  <a:srgbClr val="000000"/>
                </a:solidFill>
                <a:latin typeface="Arial"/>
              </a:rPr>
              <a:t>- This simulates hundreds of different clients hitting the application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avr_virtual2 (10.1.20.240:80) — "Application" VS</a:t>
            </a:r>
          </a:p>
          <a:p>
            <a:pPr marL="216000" indent="-216000">
              <a:buNone/>
            </a:pPr>
            <a:r>
              <a:rPr lang="en-US" sz="2000" b="0" strike="noStrike" spc="-1">
                <a:solidFill>
                  <a:srgbClr val="000000"/>
                </a:solidFill>
                <a:latin typeface="Arial"/>
              </a:rPr>
              <a:t>- This is the VS with the analytics profile attached</a:t>
            </a:r>
          </a:p>
          <a:p>
            <a:pPr marL="216000" indent="-216000">
              <a:buNone/>
            </a:pPr>
            <a:r>
              <a:rPr lang="en-US" sz="2000" b="0" strike="noStrike" spc="-1">
                <a:solidFill>
                  <a:srgbClr val="000000"/>
                </a:solidFill>
                <a:latin typeface="Arial"/>
              </a:rPr>
              <a:t>- The delay_server iRule introduces 20ms delay specifically for member 10.1.20.13 on certain URLs</a:t>
            </a:r>
          </a:p>
          <a:p>
            <a:pPr marL="216000" indent="-216000">
              <a:buNone/>
            </a:pPr>
            <a:r>
              <a:rPr lang="en-US" sz="2000" b="0" strike="noStrike" spc="-1">
                <a:solidFill>
                  <a:srgbClr val="000000"/>
                </a:solidFill>
                <a:latin typeface="Arial"/>
              </a:rPr>
              <a:t>- Uses www_pool as the default pool</a:t>
            </a:r>
          </a:p>
          <a:p>
            <a:pPr marL="216000" indent="-216000">
              <a:buNone/>
            </a:pPr>
            <a:r>
              <a:rPr lang="en-US" sz="2000" b="0" strike="noStrike" spc="-1">
                <a:solidFill>
                  <a:srgbClr val="000000"/>
                </a:solidFill>
                <a:latin typeface="Arial"/>
              </a:rPr>
              <a:t>- All AVR data is collected here</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Students browse to avr_virtual1 (http://10.1.10.90), which generates randomized traffic to avr_virtual2. The analytics profile on avr_virtual2 collects the data.</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IMPORTANT: avr_virtual2 must be created FIRST because avr_virtual1's iRule references it with the "virtual avr_virtual2" command. If created in the wrong order, the iRule will fail.</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ACTIVITY 4: VIEWING REPORTS</a:t>
            </a:r>
          </a:p>
          <a:p>
            <a:pPr marL="216000" indent="-216000">
              <a:buNone/>
            </a:pPr>
            <a:r>
              <a:rPr lang="en-US" sz="2000" b="0" strike="noStrike" spc="-1">
                <a:solidFill>
                  <a:srgbClr val="000000"/>
                </a:solidFill>
                <a:latin typeface="Arial"/>
              </a:rPr>
              <a:t>Guide students through this sequence:</a:t>
            </a:r>
          </a:p>
          <a:p>
            <a:pPr marL="216000" indent="-216000">
              <a:buNone/>
            </a:pPr>
            <a:r>
              <a:rPr lang="en-US" sz="2000" b="0" strike="noStrike" spc="-1">
                <a:solidFill>
                  <a:srgbClr val="000000"/>
                </a:solidFill>
                <a:latin typeface="Arial"/>
              </a:rPr>
              <a:t>1. Statistics &gt; Analytics &gt; HTTP &gt; Overview</a:t>
            </a:r>
          </a:p>
          <a:p>
            <a:pPr marL="216000" indent="-216000">
              <a:buNone/>
            </a:pPr>
            <a:r>
              <a:rPr lang="en-US" sz="2000" b="0" strike="noStrike" spc="-1">
                <a:solidFill>
                  <a:srgbClr val="000000"/>
                </a:solidFill>
                <a:latin typeface="Arial"/>
              </a:rPr>
              <a:t>   - Set Auto Refresh to 1 minute</a:t>
            </a:r>
          </a:p>
          <a:p>
            <a:pPr marL="216000" indent="-216000">
              <a:buNone/>
            </a:pPr>
            <a:r>
              <a:rPr lang="en-US" sz="2000" b="0" strike="noStrike" spc="-1">
                <a:solidFill>
                  <a:srgbClr val="000000"/>
                </a:solidFill>
                <a:latin typeface="Arial"/>
              </a:rPr>
              <a:t>   - Set time range to "Last Hour"</a:t>
            </a:r>
          </a:p>
          <a:p>
            <a:pPr marL="216000" indent="-216000">
              <a:buNone/>
            </a:pPr>
            <a:r>
              <a:rPr lang="en-US" sz="2000" b="0" strike="noStrike" spc="-1">
                <a:solidFill>
                  <a:srgbClr val="000000"/>
                </a:solidFill>
                <a:latin typeface="Arial"/>
              </a:rPr>
              <a:t>   - Observe total TPS and throughput graphs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2. Transactions tab &gt; View By: Pool Members</a:t>
            </a:r>
          </a:p>
          <a:p>
            <a:pPr marL="216000" indent="-216000">
              <a:buNone/>
            </a:pPr>
            <a:r>
              <a:rPr lang="en-US" sz="2000" b="0" strike="noStrike" spc="-1">
                <a:solidFill>
                  <a:srgbClr val="000000"/>
                </a:solidFill>
                <a:latin typeface="Arial"/>
              </a:rPr>
              <a:t>   - See how traffic distributes across the three www_pool members</a:t>
            </a:r>
          </a:p>
          <a:p>
            <a:pPr marL="216000" indent="-216000">
              <a:buNone/>
            </a:pPr>
            <a:r>
              <a:rPr lang="en-US" sz="2000" b="0" strike="noStrike" spc="-1">
                <a:solidFill>
                  <a:srgbClr val="000000"/>
                </a:solidFill>
                <a:latin typeface="Arial"/>
              </a:rPr>
              <a:t>   - Member 10.1.20.13 may show fewer transactions (it's slower, so Round Robin still sends equal share, but if using Least Connections it would get less)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3. Latency &gt; Server Latency &gt; View By: Pool Members</a:t>
            </a:r>
          </a:p>
          <a:p>
            <a:pPr marL="216000" indent="-216000">
              <a:buNone/>
            </a:pPr>
            <a:r>
              <a:rPr lang="en-US" sz="2000" b="0" strike="noStrike" spc="-1">
                <a:solidFill>
                  <a:srgbClr val="000000"/>
                </a:solidFill>
                <a:latin typeface="Arial"/>
              </a:rPr>
              <a:t>   - THIS IS THE KEY VIEW — member 10.1.20.13 should show ~20ms higher latency</a:t>
            </a:r>
          </a:p>
          <a:p>
            <a:pPr marL="216000" indent="-216000">
              <a:buNone/>
            </a:pPr>
            <a:r>
              <a:rPr lang="en-US" sz="2000" b="0" strike="noStrike" spc="-1">
                <a:solidFill>
                  <a:srgbClr val="000000"/>
                </a:solidFill>
                <a:latin typeface="Arial"/>
              </a:rPr>
              <a:t>   - Click on 10.1.20.13:80 to drill into its specific URLs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4. View By: URLs</a:t>
            </a:r>
          </a:p>
          <a:p>
            <a:pPr marL="216000" indent="-216000">
              <a:buNone/>
            </a:pPr>
            <a:r>
              <a:rPr lang="en-US" sz="2000" b="0" strike="noStrike" spc="-1">
                <a:solidFill>
                  <a:srgbClr val="000000"/>
                </a:solidFill>
                <a:latin typeface="Arial"/>
              </a:rPr>
              <a:t>   - The URL "/web_site/" should show the highest latency on 10.1.20.13</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5. View By: Response Codes</a:t>
            </a:r>
          </a:p>
          <a:p>
            <a:pPr marL="216000" indent="-216000">
              <a:buNone/>
            </a:pPr>
            <a:r>
              <a:rPr lang="en-US" sz="2000" b="0" strike="noStrike" spc="-1">
                <a:solidFill>
                  <a:srgbClr val="000000"/>
                </a:solidFill>
                <a:latin typeface="Arial"/>
              </a:rPr>
              <a:t>   - Should see predominantly 200 OK</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6. View By: Countries and User Agents</a:t>
            </a:r>
          </a:p>
          <a:p>
            <a:pPr marL="216000" indent="-216000">
              <a:buNone/>
            </a:pPr>
            <a:r>
              <a:rPr lang="en-US" sz="2000" b="0" strike="noStrike" spc="-1">
                <a:solidFill>
                  <a:srgbClr val="000000"/>
                </a:solidFill>
                <a:latin typeface="Arial"/>
              </a:rPr>
              <a:t>   - Random IPs create diverse geographic distribution</a:t>
            </a:r>
          </a:p>
          <a:p>
            <a:pPr marL="216000" indent="-216000">
              <a:buNone/>
            </a:pPr>
            <a:r>
              <a:rPr lang="en-US" sz="2000" b="0" strike="noStrike" spc="-1">
                <a:solidFill>
                  <a:srgbClr val="000000"/>
                </a:solidFill>
                <a:latin typeface="Arial"/>
              </a:rPr>
              <a:t>   - Random user agents show the distribution from the data group</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COMMON ISSUES</a:t>
            </a:r>
          </a:p>
          <a:p>
            <a:pPr marL="216000" indent="-216000">
              <a:buNone/>
            </a:pPr>
            <a:r>
              <a:rPr lang="en-US" sz="2000" b="0" strike="noStrike" spc="-1">
                <a:solidFill>
                  <a:srgbClr val="000000"/>
                </a:solidFill>
                <a:latin typeface="Arial"/>
              </a:rPr>
              <a:t>- "No data showing": Set Auto Refresh to 1 minute. Data takes 1-5 minutes to appear. Make sure you browsed to 10.1.10.90 (not 10.1.10.100).</a:t>
            </a:r>
          </a:p>
          <a:p>
            <a:pPr marL="216000" indent="-216000">
              <a:buNone/>
            </a:pPr>
            <a:r>
              <a:rPr lang="en-US" sz="2000" b="0" strike="noStrike" spc="-1">
                <a:solidFill>
                  <a:srgbClr val="000000"/>
                </a:solidFill>
                <a:latin typeface="Arial"/>
              </a:rPr>
              <a:t>- "All latency looks the same": Need more traffic. Have students refresh (Ctrl+F5) 20-30 times across different pages.</a:t>
            </a:r>
          </a:p>
          <a:p>
            <a:pPr marL="216000" indent="0">
              <a:lnSpc>
                <a:spcPct val="100000"/>
              </a:lnSpc>
              <a:buNone/>
            </a:pPr>
            <a:r>
              <a:rPr lang="en-US" sz="2000" b="0" strike="noStrike" spc="-1">
                <a:solidFill>
                  <a:srgbClr val="000000"/>
                </a:solidFill>
                <a:latin typeface="Arial"/>
              </a:rPr>
              <a:t>- "Analytics menu is missing": AVR is not provisioned. Check System &gt; Resource Provisioning.</a:t>
            </a:r>
          </a:p>
        </p:txBody>
      </p:sp>
      <p:sp>
        <p:nvSpPr>
          <p:cNvPr id="2583" name="PlaceHolder 3"/>
          <p:cNvSpPr>
            <a:spLocks noGrp="1"/>
          </p:cNvSpPr>
          <p:nvPr>
            <p:ph type="sldNum" idx="40"/>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DFBFD59E-7308-4D36-92FE-15D18CCFE479}" type="slidenum">
              <a:rPr lang="en-US" sz="1800" b="0" strike="noStrike" spc="-1">
                <a:solidFill>
                  <a:schemeClr val="dk1"/>
                </a:solidFill>
                <a:latin typeface="+mn-lt"/>
                <a:ea typeface="+mn-ea"/>
              </a:rPr>
              <a:t>37</a:t>
            </a:fld>
            <a:endParaRPr lang="en-US" sz="1800" b="0" strike="noStrike" spc="-1">
              <a:solidFill>
                <a:srgbClr val="000000"/>
              </a:solidFill>
              <a:latin typeface="Times New Roman"/>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4" name="PlaceHolder 1"/>
          <p:cNvSpPr>
            <a:spLocks noGrp="1" noRot="1" noChangeAspect="1"/>
          </p:cNvSpPr>
          <p:nvPr>
            <p:ph type="sldImg"/>
          </p:nvPr>
        </p:nvSpPr>
        <p:spPr>
          <a:xfrm>
            <a:off x="0" y="0"/>
            <a:ext cx="0" cy="0"/>
          </a:xfrm>
          <a:prstGeom prst="rect">
            <a:avLst/>
          </a:prstGeom>
          <a:ln w="0">
            <a:noFill/>
          </a:ln>
        </p:spPr>
      </p:sp>
      <p:sp>
        <p:nvSpPr>
          <p:cNvPr id="2585"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EXAM CHECKPOINTS - Lab 3</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Q1 ANSWER (U/A - 3.06)</a:t>
            </a:r>
          </a:p>
          <a:p>
            <a:pPr marL="216000" indent="-216000">
              <a:buNone/>
            </a:pPr>
            <a:r>
              <a:rPr lang="en-US" sz="2000" b="0" strike="noStrike" spc="-1">
                <a:solidFill>
                  <a:srgbClr val="000000"/>
                </a:solidFill>
                <a:latin typeface="Arial"/>
              </a:rPr>
              <a:t>This is a SERVER-TIER problem, specifically isolated to server 10.1.20.13.</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How to determine this:</a:t>
            </a:r>
          </a:p>
          <a:p>
            <a:pPr marL="216000" indent="-216000">
              <a:buNone/>
            </a:pPr>
            <a:r>
              <a:rPr lang="en-US" sz="2000" b="0" strike="noStrike" spc="-1">
                <a:solidFill>
                  <a:srgbClr val="000000"/>
                </a:solidFill>
                <a:latin typeface="Arial"/>
              </a:rPr>
              <a:t>- Server latency is the time between the BIG-IP sending a request to the pool member and receiving the response. 800ms on ONE member vs 50ms on the others means that specific server is slow.</a:t>
            </a:r>
          </a:p>
          <a:p>
            <a:pPr marL="216000" indent="-216000">
              <a:buNone/>
            </a:pPr>
            <a:r>
              <a:rPr lang="en-US" sz="2000" b="0" strike="noStrike" spc="-1">
                <a:solidFill>
                  <a:srgbClr val="000000"/>
                </a:solidFill>
                <a:latin typeface="Arial"/>
              </a:rPr>
              <a:t>- Client latency is the time between the BIG-IP sending the response to the client and the client acknowledging. 200ms is consistent across all clients — this eliminates the network as a cause.</a:t>
            </a:r>
          </a:p>
          <a:p>
            <a:pPr marL="216000" indent="-216000">
              <a:buNone/>
            </a:pPr>
            <a:r>
              <a:rPr lang="en-US" sz="2000" b="0" strike="noStrike" spc="-1">
                <a:solidFill>
                  <a:srgbClr val="000000"/>
                </a:solidFill>
                <a:latin typeface="Arial"/>
              </a:rPr>
              <a:t>- If this were a BIG-IP configuration issue, ALL pool members would show similar latency (since the BIG-IP processes them all the same way).</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Conclusion: The problem is on server 10.1.20.13 itself. Investigate: CPU utilization, memory pressure, disk I/O, application logs, database query performance on that specific server.</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In the lab, this is caused by the delay_server iRule introducing artificial 20ms delay. In production, this pattern typically indicates a server-level issue like a slow database query, disk contention, or a memory leak.</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Q2 ANSWER (U/A - 3.07)</a:t>
            </a:r>
          </a:p>
          <a:p>
            <a:pPr marL="216000" indent="-216000">
              <a:buNone/>
            </a:pPr>
            <a:r>
              <a:rPr lang="en-US" sz="2000" b="0" strike="noStrike" spc="-1">
                <a:solidFill>
                  <a:srgbClr val="000000"/>
                </a:solidFill>
                <a:latin typeface="Arial"/>
              </a:rPr>
              <a:t>1. Enable HTTP Compression (wan-optimized-compression profile) to compress text-based responses before sending to clients. This reduces throughput (bandwidth) without reducing TPS (requests still process at the same rate, but each response is smaller on the wire).</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2. Enable Web Acceleration (RamCache profile) to cache frequently-accessed static content. This eliminates repeat requests for the same content entirely — the BIG-IP serves from RAM without contacting the server.</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Both profiles require the HTTP profile as a prerequisite. They can be combined: the BIG-IP caches the compressed version, so subsequent requests get compressed content from cache without re-compressing or contacting the server.</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This question tests the 3.06 sub-bullet: "Explain how to modify profile settings using information from the AVR." The AVR data (high throughput, large responses) directly informs the profile selection (compression for bandwidth, caching for repeat requests).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Q3 ANSWER (U/A - 3.06)</a:t>
            </a:r>
          </a:p>
          <a:p>
            <a:pPr marL="216000" indent="-216000">
              <a:buNone/>
            </a:pPr>
            <a:r>
              <a:rPr lang="en-US" sz="2000" b="0" strike="noStrike" spc="-1">
                <a:solidFill>
                  <a:srgbClr val="000000"/>
                </a:solidFill>
                <a:latin typeface="Arial"/>
              </a:rPr>
              <a:t>This is a server-side application issue, not a BIG-IP problem.</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How to determine this:</a:t>
            </a:r>
          </a:p>
          <a:p>
            <a:pPr marL="216000" indent="-216000">
              <a:buNone/>
            </a:pPr>
            <a:r>
              <a:rPr lang="en-US" sz="2000" b="0" strike="noStrike" spc="-1">
                <a:solidFill>
                  <a:srgbClr val="000000"/>
                </a:solidFill>
                <a:latin typeface="Arial"/>
              </a:rPr>
              <a:t>- 5xx response codes are generated by the APPLICATION SERVER, not the BIG-IP (unless an iRule or LTM policy generates them)</a:t>
            </a:r>
          </a:p>
          <a:p>
            <a:pPr marL="216000" indent="-216000">
              <a:buNone/>
            </a:pPr>
            <a:r>
              <a:rPr lang="en-US" sz="2000" b="0" strike="noStrike" spc="-1">
                <a:solidFill>
                  <a:srgbClr val="000000"/>
                </a:solidFill>
                <a:latin typeface="Arial"/>
              </a:rPr>
              <a:t>- Normal TPS means the BIG-IP is still receiving and forwarding requests — it's not a connectivity issue</a:t>
            </a:r>
          </a:p>
          <a:p>
            <a:pPr marL="216000" indent="-216000">
              <a:buNone/>
            </a:pPr>
            <a:r>
              <a:rPr lang="en-US" sz="2000" b="0" strike="noStrike" spc="-1">
                <a:solidFill>
                  <a:srgbClr val="000000"/>
                </a:solidFill>
                <a:latin typeface="Arial"/>
              </a:rPr>
              <a:t>- No BIG-IP configuration changes eliminates the BIG-IP as the cause</a:t>
            </a:r>
          </a:p>
          <a:p>
            <a:pPr marL="216000" indent="-216000">
              <a:buNone/>
            </a:pPr>
            <a:r>
              <a:rPr lang="en-US" sz="2000" b="0" strike="noStrike" spc="-1">
                <a:solidFill>
                  <a:srgbClr val="000000"/>
                </a:solidFill>
                <a:latin typeface="Arial"/>
              </a:rPr>
              <a:t>- The timing (2:00 PM Tuesday) suggests a scheduled event: deployment, cron job, batch process, backup</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Investigation:</a:t>
            </a:r>
          </a:p>
          <a:p>
            <a:pPr marL="216000" indent="-216000">
              <a:buNone/>
            </a:pPr>
            <a:r>
              <a:rPr lang="en-US" sz="2000" b="0" strike="noStrike" spc="-1">
                <a:solidFill>
                  <a:srgbClr val="000000"/>
                </a:solidFill>
                <a:latin typeface="Arial"/>
              </a:rPr>
              <a:t>1. AVR: Drill into 5xx codes &gt; View By: Pool Members → Which server is generating the errors?</a:t>
            </a:r>
          </a:p>
          <a:p>
            <a:pPr marL="216000" indent="-216000">
              <a:buNone/>
            </a:pPr>
            <a:r>
              <a:rPr lang="en-US" sz="2000" b="0" strike="noStrike" spc="-1">
                <a:solidFill>
                  <a:srgbClr val="000000"/>
                </a:solidFill>
                <a:latin typeface="Arial"/>
              </a:rPr>
              <a:t>2. AVR: View By: URLs → Which endpoints are returning 5xx?</a:t>
            </a:r>
          </a:p>
          <a:p>
            <a:pPr marL="216000" indent="-216000">
              <a:buNone/>
            </a:pPr>
            <a:r>
              <a:rPr lang="en-US" sz="2000" b="0" strike="noStrike" spc="-1">
                <a:solidFill>
                  <a:srgbClr val="000000"/>
                </a:solidFill>
                <a:latin typeface="Arial"/>
              </a:rPr>
              <a:t>3. Server logs: Check the identified server's application logs around 2:00 PM</a:t>
            </a:r>
          </a:p>
          <a:p>
            <a:pPr marL="216000" indent="-216000">
              <a:buNone/>
            </a:pPr>
            <a:r>
              <a:rPr lang="en-US" sz="2000" b="0" strike="noStrike" spc="-1">
                <a:solidFill>
                  <a:srgbClr val="000000"/>
                </a:solidFill>
                <a:latin typeface="Arial"/>
              </a:rPr>
              <a:t>4. Deployment history: Was a code deployment scheduled at that time?</a:t>
            </a:r>
          </a:p>
          <a:p>
            <a:pPr marL="216000" indent="-216000">
              <a:buNone/>
            </a:pPr>
            <a:r>
              <a:rPr lang="en-US" sz="2000" b="0" strike="noStrike" spc="-1">
                <a:solidFill>
                  <a:srgbClr val="000000"/>
                </a:solidFill>
                <a:latin typeface="Arial"/>
              </a:rPr>
              <a:t>5. System events: Was there a database maintenance window, certificate expiry, or license check?</a:t>
            </a:r>
          </a:p>
          <a:p>
            <a:pPr marL="216000" indent="-216000">
              <a:buNone/>
            </a:pPr>
            <a:endParaRPr lang="en-US"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The key insight: AVR shows SYMPTOMS (5xx spike). The ROOT CAUSE is in the server-side application/infrastructure. AVR narrows your search to the right server and endpoint, then you correlate with server-side data.</a:t>
            </a:r>
          </a:p>
        </p:txBody>
      </p:sp>
      <p:sp>
        <p:nvSpPr>
          <p:cNvPr id="2586" name="PlaceHolder 3"/>
          <p:cNvSpPr>
            <a:spLocks noGrp="1"/>
          </p:cNvSpPr>
          <p:nvPr>
            <p:ph type="sldNum" idx="41"/>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8C2B26B3-4428-436B-AEB5-90EB590FD874}" type="slidenum">
              <a:rPr lang="en-US" sz="1800" b="0" strike="noStrike" spc="-1">
                <a:solidFill>
                  <a:schemeClr val="dk1"/>
                </a:solidFill>
                <a:latin typeface="+mn-lt"/>
                <a:ea typeface="+mn-ea"/>
              </a:rPr>
              <a:t>38</a:t>
            </a:fld>
            <a:endParaRPr lang="en-US" sz="1800" b="0" strike="noStrike" spc="-1">
              <a:solidFill>
                <a:srgbClr val="000000"/>
              </a:solidFill>
              <a:latin typeface="Times New Roman"/>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7" name="PlaceHolder 1"/>
          <p:cNvSpPr>
            <a:spLocks noGrp="1" noRot="1" noChangeAspect="1"/>
          </p:cNvSpPr>
          <p:nvPr>
            <p:ph type="sldImg"/>
          </p:nvPr>
        </p:nvSpPr>
        <p:spPr>
          <a:xfrm>
            <a:off x="0" y="0"/>
            <a:ext cx="0" cy="0"/>
          </a:xfrm>
          <a:prstGeom prst="rect">
            <a:avLst/>
          </a:prstGeom>
          <a:ln w="0">
            <a:noFill/>
          </a:ln>
        </p:spPr>
      </p:sp>
      <p:sp>
        <p:nvSpPr>
          <p:cNvPr id="2588"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Section opener for Lab 4. Covers F5CTSLTM2.13 (packet capture monitor issues) and F5CTSLTM2.14 (monitor troubleshooting, including when to apply In-TMM monitoring — an explicit sub-bullet). Five lab activities build from basic ICMP monitors through content monitors, status states, EAV external scripts, and inband + active monitor combinations.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301a OBJECTIVES: 1.08–1.10. DELIVERY: 60 min (15 slides + 45 lab).</a:t>
            </a:r>
          </a:p>
          <a:p>
            <a:pPr marL="216000" indent="-216000">
              <a:buNone/>
            </a:pPr>
            <a:endParaRPr lang="en-US"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F5 DOCUMENTATION: K12531 (monitor overview), K2167 (HTTP monitors), K2282 (external monitors), K45753464 (In-TMM monitoring).</a:t>
            </a:r>
          </a:p>
        </p:txBody>
      </p:sp>
      <p:sp>
        <p:nvSpPr>
          <p:cNvPr id="2589" name="PlaceHolder 3"/>
          <p:cNvSpPr>
            <a:spLocks noGrp="1"/>
          </p:cNvSpPr>
          <p:nvPr>
            <p:ph type="sldNum" idx="42"/>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52412A18-8891-488C-B2D2-3D85391554E3}" type="slidenum">
              <a:rPr lang="en-US" sz="1800" b="0" strike="noStrike" spc="-1">
                <a:solidFill>
                  <a:schemeClr val="dk1"/>
                </a:solidFill>
                <a:latin typeface="+mn-lt"/>
                <a:ea typeface="+mn-ea"/>
              </a:rPr>
              <a:t>39</a:t>
            </a:fld>
            <a:endParaRPr lang="en-US" sz="1800" b="0" strike="noStrike" spc="-1">
              <a:solidFill>
                <a:srgbClr val="000000"/>
              </a:solidFill>
              <a:latin typeface="Times New Roman"/>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 name="PlaceHolder 1"/>
          <p:cNvSpPr>
            <a:spLocks noGrp="1" noRot="1" noChangeAspect="1"/>
          </p:cNvSpPr>
          <p:nvPr>
            <p:ph type="sldImg"/>
          </p:nvPr>
        </p:nvSpPr>
        <p:spPr>
          <a:xfrm>
            <a:off x="0" y="0"/>
            <a:ext cx="0" cy="0"/>
          </a:xfrm>
          <a:prstGeom prst="rect">
            <a:avLst/>
          </a:prstGeom>
          <a:ln w="0">
            <a:noFill/>
          </a:ln>
        </p:spPr>
      </p:sp>
      <p:sp>
        <p:nvSpPr>
          <p:cNvPr id="2591"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This slide covers all monitor types including In-TMM (added per F5CTSLTM2.14 sub-bullet: "Describe when In-TMM monitoring should be applied"). The progression from ICMP to In-TMM represents increasing specificity and sophistication.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FULL TECHNICAL EXPLANATION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MONITOR HIERARCHY (least to most specific):</a:t>
            </a:r>
          </a:p>
          <a:p>
            <a:pPr marL="216000" indent="-216000">
              <a:buNone/>
            </a:pPr>
            <a:r>
              <a:rPr lang="en-US" sz="2000" b="0" strike="noStrike" spc="-1">
                <a:solidFill>
                  <a:srgbClr val="000000"/>
                </a:solidFill>
                <a:latin typeface="Arial"/>
              </a:rPr>
              <a:t>1. ICMP: Pings the IP. Only verifies network connectivity. A crashed web server with working OS passes ICMP.</a:t>
            </a:r>
          </a:p>
          <a:p>
            <a:pPr marL="216000" indent="-216000">
              <a:buNone/>
            </a:pPr>
            <a:r>
              <a:rPr lang="en-US" sz="2000" b="0" strike="noStrike" spc="-1">
                <a:solidFill>
                  <a:srgbClr val="000000"/>
                </a:solidFill>
                <a:latin typeface="Arial"/>
              </a:rPr>
              <a:t>2. TCP: Attempts a TCP connection. Verifies the port is listening. An app accepting connections but returning errors passes TCP.</a:t>
            </a:r>
          </a:p>
          <a:p>
            <a:pPr marL="216000" indent="-216000">
              <a:buNone/>
            </a:pPr>
            <a:r>
              <a:rPr lang="en-US" sz="2000" b="0" strike="noStrike" spc="-1">
                <a:solidFill>
                  <a:srgbClr val="000000"/>
                </a:solidFill>
                <a:latin typeface="Arial"/>
              </a:rPr>
              <a:t>3. HTTP/HTTPS: Sends an HTTP request and checks the response for specific content. The standard for web apps.</a:t>
            </a:r>
          </a:p>
          <a:p>
            <a:pPr marL="216000" indent="-216000">
              <a:buNone/>
            </a:pPr>
            <a:r>
              <a:rPr lang="en-US" sz="2000" b="0" strike="noStrike" spc="-1">
                <a:solidFill>
                  <a:srgbClr val="000000"/>
                </a:solidFill>
                <a:latin typeface="Arial"/>
              </a:rPr>
              <a:t>4. External (EAV): Runs a custom script. Can check anything — DB queries, multi-step workflows, file existence.</a:t>
            </a:r>
          </a:p>
          <a:p>
            <a:pPr marL="216000" indent="-216000">
              <a:buNone/>
            </a:pPr>
            <a:r>
              <a:rPr lang="en-US" sz="2000" b="0" strike="noStrike" spc="-1">
                <a:solidFill>
                  <a:srgbClr val="000000"/>
                </a:solidFill>
                <a:latin typeface="Arial"/>
              </a:rPr>
              <a:t>5. Inband: No synthetic traffic. Watches actual client traffic for failures. Detects load-dependent issues active monitors miss.</a:t>
            </a:r>
          </a:p>
          <a:p>
            <a:pPr marL="216000" indent="-216000">
              <a:buNone/>
            </a:pPr>
            <a:r>
              <a:rPr lang="en-US" sz="2000" b="0" strike="noStrike" spc="-1">
                <a:solidFill>
                  <a:srgbClr val="000000"/>
                </a:solidFill>
                <a:latin typeface="Arial"/>
              </a:rPr>
              <a:t>6. In-TMM: Active monitor that runs inside the TMM data plane process instead of the BIG-IP host OS.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HTTP SEND/RECEIVE STRINGS — CRITICAL DETAILS:</a:t>
            </a:r>
          </a:p>
          <a:p>
            <a:pPr marL="216000" indent="-216000">
              <a:buNone/>
            </a:pPr>
            <a:r>
              <a:rPr lang="en-US" sz="2000" b="0" strike="noStrike" spc="-1">
                <a:solidFill>
                  <a:srgbClr val="000000"/>
                </a:solidFill>
                <a:latin typeface="Arial"/>
              </a:rPr>
              <a:t>Send string format: METHOD URI HTTP/VERSION\r\n[Headers\r\n]\r\n</a:t>
            </a:r>
          </a:p>
          <a:p>
            <a:pPr marL="216000" indent="-216000">
              <a:buNone/>
            </a:pPr>
            <a:r>
              <a:rPr lang="en-US" sz="2000" b="0" strike="noStrike" spc="-1">
                <a:solidFill>
                  <a:srgbClr val="000000"/>
                </a:solidFill>
                <a:latin typeface="Arial"/>
              </a:rPr>
              <a:t>- The final \r\n\r\n is MANDATORY — it signals the end of HTTP headers</a:t>
            </a:r>
          </a:p>
          <a:p>
            <a:pPr marL="216000" indent="-216000">
              <a:buNone/>
            </a:pPr>
            <a:r>
              <a:rPr lang="en-US" sz="2000" b="0" strike="noStrike" spc="-1">
                <a:solidFill>
                  <a:srgbClr val="000000"/>
                </a:solidFill>
                <a:latin typeface="Arial"/>
              </a:rPr>
              <a:t>- Without it, the server waits for more data → monitor times out → member marked DOWN</a:t>
            </a:r>
          </a:p>
          <a:p>
            <a:pPr marL="216000" indent="-216000">
              <a:buNone/>
            </a:pPr>
            <a:r>
              <a:rPr lang="en-US" sz="2000" b="0" strike="noStrike" spc="-1">
                <a:solidFill>
                  <a:srgbClr val="000000"/>
                </a:solidFill>
                <a:latin typeface="Arial"/>
              </a:rPr>
              <a:t>- Common mistake: "GET /health" without \r\n\r\n → always fails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Receive string: Text searched in the complete response (headers AND body)</a:t>
            </a:r>
          </a:p>
          <a:p>
            <a:pPr marL="216000" indent="-216000">
              <a:buNone/>
            </a:pPr>
            <a:r>
              <a:rPr lang="en-US" sz="2000" b="0" strike="noStrike" spc="-1">
                <a:solidFill>
                  <a:srgbClr val="000000"/>
                </a:solidFill>
                <a:latin typeface="Arial"/>
              </a:rPr>
              <a:t>- "200 OK" is found in the status line of a successful response</a:t>
            </a:r>
          </a:p>
          <a:p>
            <a:pPr marL="216000" indent="-216000">
              <a:buNone/>
            </a:pPr>
            <a:r>
              <a:rPr lang="en-US" sz="2000" b="0" strike="noStrike" spc="-1">
                <a:solidFill>
                  <a:srgbClr val="000000"/>
                </a:solidFill>
                <a:latin typeface="Arial"/>
              </a:rPr>
              <a:t>- NOT case sensitive: "200 ok" would also match</a:t>
            </a:r>
          </a:p>
          <a:p>
            <a:pPr marL="216000" indent="-216000">
              <a:buNone/>
            </a:pPr>
            <a:r>
              <a:rPr lang="en-US" sz="2000" b="0" strike="noStrike" spc="-1">
                <a:solidFill>
                  <a:srgbClr val="000000"/>
                </a:solidFill>
                <a:latin typeface="Arial"/>
              </a:rPr>
              <a:t>- If NO receive string specified: ANY response = UP (even 500 errors)</a:t>
            </a:r>
          </a:p>
          <a:p>
            <a:pPr marL="216000" indent="-216000">
              <a:buNone/>
            </a:pPr>
            <a:r>
              <a:rPr lang="en-US" sz="2000" b="0" strike="noStrike" spc="-1">
                <a:solidFill>
                  <a:srgbClr val="000000"/>
                </a:solidFill>
                <a:latin typeface="Arial"/>
              </a:rPr>
              <a:t>- If receive string specified but NOT found: member = DOWN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Reverse monitors: Inverts the logic. If receive string IS found → DOWN. Use case: check for error conditions.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IN-TMM MONITORING — EXPLAINED:</a:t>
            </a:r>
          </a:p>
          <a:p>
            <a:pPr marL="216000" indent="-216000">
              <a:buNone/>
            </a:pPr>
            <a:r>
              <a:rPr lang="en-US" sz="2000" b="0" strike="noStrike" spc="-1">
                <a:solidFill>
                  <a:srgbClr val="000000"/>
                </a:solidFill>
                <a:latin typeface="Arial"/>
              </a:rPr>
              <a:t>By default, BIG-IP health monitors run in the host OS (Linux) network stack, not inside the TMM (Traffic Management Microkernel) data plane. This means monitors use the management/host routing table, not the TMM routing table.</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When In-TMM monitoring is needed:</a:t>
            </a:r>
          </a:p>
          <a:p>
            <a:pPr marL="216000" indent="-216000">
              <a:buNone/>
            </a:pPr>
            <a:r>
              <a:rPr lang="en-US" sz="2000" b="0" strike="noStrike" spc="-1">
                <a:solidFill>
                  <a:srgbClr val="000000"/>
                </a:solidFill>
                <a:latin typeface="Arial"/>
              </a:rPr>
              <a:t>- Pool members are only reachable via TMM data plane routing (e.g., route domains, tunnels, VLANs that the host OS doesn't have routes to)</a:t>
            </a:r>
          </a:p>
          <a:p>
            <a:pPr marL="216000" indent="-216000">
              <a:buNone/>
            </a:pPr>
            <a:r>
              <a:rPr lang="en-US" sz="2000" b="0" strike="noStrike" spc="-1">
                <a:solidFill>
                  <a:srgbClr val="000000"/>
                </a:solidFill>
                <a:latin typeface="Arial"/>
              </a:rPr>
              <a:t>- Monitor traffic must traverse the same network path as client traffic</a:t>
            </a:r>
          </a:p>
          <a:p>
            <a:pPr marL="216000" indent="-216000">
              <a:buNone/>
            </a:pPr>
            <a:r>
              <a:rPr lang="en-US" sz="2000" b="0" strike="noStrike" spc="-1">
                <a:solidFill>
                  <a:srgbClr val="000000"/>
                </a:solidFill>
                <a:latin typeface="Arial"/>
              </a:rPr>
              <a:t>- Pool members are behind a firewall that only allows traffic from TMM self IPs (not the host OS management IP)</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Supported In-TMM monitor types: gateway_icmp, TCP half-open, UDP, HTTP, HTTPS</a:t>
            </a:r>
          </a:p>
          <a:p>
            <a:pPr marL="216000" indent="-216000">
              <a:buNone/>
            </a:pPr>
            <a:r>
              <a:rPr lang="en-US" sz="2000" b="0" strike="noStrike" spc="-1">
                <a:solidFill>
                  <a:srgbClr val="000000"/>
                </a:solidFill>
                <a:latin typeface="Arial"/>
              </a:rPr>
              <a:t>NOT supported: ICMP (full), external scripts, inband</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Configuration: On the monitor, set "In-TMM Monitoring" to Enabled.</a:t>
            </a:r>
          </a:p>
          <a:p>
            <a:pPr marL="216000" indent="-216000">
              <a:buNone/>
            </a:pPr>
            <a:r>
              <a:rPr lang="en-US" sz="2000" b="0" strike="noStrike" spc="-1">
                <a:solidFill>
                  <a:srgbClr val="000000"/>
                </a:solidFill>
                <a:latin typeface="Arial"/>
              </a:rPr>
              <a:t>TMSH: modify ltm monitor http my_monitor in-tmm enabled</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Performance consideration: In-TMM monitors consume TMM CPU cycles. On heavily loaded systems, this can affect traffic processing. Use In-TMM only when required by the network topology.</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Reference: https://my.f5.com/manage/s/article/K45753464</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COMMON STUDENT MISTAKES</a:t>
            </a:r>
          </a:p>
          <a:p>
            <a:pPr marL="216000" indent="-216000">
              <a:buNone/>
            </a:pPr>
            <a:r>
              <a:rPr lang="en-US" sz="2000" b="0" strike="noStrike" spc="-1">
                <a:solidFill>
                  <a:srgbClr val="000000"/>
                </a:solidFill>
                <a:latin typeface="Arial"/>
              </a:rPr>
              <a:t>- Using ICMP as the only pool monitor. ICMP checks the host, not the application.</a:t>
            </a:r>
          </a:p>
          <a:p>
            <a:pPr marL="216000" indent="-216000">
              <a:buNone/>
            </a:pPr>
            <a:r>
              <a:rPr lang="en-US" sz="2000" b="0" strike="noStrike" spc="-1">
                <a:solidFill>
                  <a:srgbClr val="000000"/>
                </a:solidFill>
                <a:latin typeface="Arial"/>
              </a:rPr>
              <a:t>- Missing \r\n\r\n in HTTP send string. The most common monitor failure cause.</a:t>
            </a:r>
          </a:p>
          <a:p>
            <a:pPr marL="216000" indent="-216000">
              <a:buNone/>
            </a:pPr>
            <a:r>
              <a:rPr lang="en-US" sz="2000" b="0" strike="noStrike" spc="-1">
                <a:solidFill>
                  <a:srgbClr val="000000"/>
                </a:solidFill>
                <a:latin typeface="Arial"/>
              </a:rPr>
              <a:t>- Not understanding when In-TMM is needed vs default monitoring. In-TMM is only needed when the pool members aren't reachable from the host OS network stack.</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PIVOT QUESTION</a:t>
            </a:r>
          </a:p>
          <a:p>
            <a:pPr marL="216000" indent="-216000">
              <a:buNone/>
            </a:pPr>
            <a:r>
              <a:rPr lang="en-US" sz="2000" b="0" strike="noStrike" spc="-1">
                <a:solidFill>
                  <a:srgbClr val="000000"/>
                </a:solidFill>
                <a:latin typeface="Arial"/>
              </a:rPr>
              <a:t>"Your HTTP monitor works on BIG-IP-1 but fails on BIG-IP-2 in the same HA pair. Both have the same configuration. Pool members show as DOWN on BIG-IP-2 only. What do you check?"</a:t>
            </a:r>
          </a:p>
          <a:p>
            <a:pPr marL="216000" indent="-216000">
              <a:buNone/>
            </a:pPr>
            <a:r>
              <a:rPr lang="en-US" sz="2000" b="0" strike="noStrike" spc="-1">
                <a:solidFill>
                  <a:srgbClr val="000000"/>
                </a:solidFill>
                <a:latin typeface="Arial"/>
              </a:rPr>
              <a:t>ANSWER: The monitors run from the host OS by default. Check if BIG-IP-2's host routing table has a route to the pool member subnet. If pool members are only reachable via TMM routing (e.g., through a specific VLAN), enable In-TMM monitoring on the monitor so it uses TMM's routing table instead of the host OS.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F5 DOCUMENTATION</a:t>
            </a:r>
          </a:p>
          <a:p>
            <a:pPr marL="216000" indent="-216000">
              <a:buNone/>
            </a:pPr>
            <a:r>
              <a:rPr lang="en-US" sz="2000" b="0" strike="noStrike" spc="-1">
                <a:solidFill>
                  <a:srgbClr val="000000"/>
                </a:solidFill>
                <a:latin typeface="Arial"/>
              </a:rPr>
              <a:t>- HTTP monitors: https://my.f5.com/manage/s/article/K2167</a:t>
            </a:r>
          </a:p>
          <a:p>
            <a:pPr marL="216000" indent="-216000">
              <a:buNone/>
            </a:pPr>
            <a:r>
              <a:rPr lang="en-US" sz="2000" b="0" strike="noStrike" spc="-1">
                <a:solidFill>
                  <a:srgbClr val="000000"/>
                </a:solidFill>
                <a:latin typeface="Arial"/>
              </a:rPr>
              <a:t>- In-TMM monitoring: https://my.f5.com/manage/s/article/K45753464</a:t>
            </a:r>
          </a:p>
          <a:p>
            <a:pPr marL="216000" indent="-216000">
              <a:buNone/>
            </a:pPr>
            <a:r>
              <a:rPr lang="en-US" sz="2000" b="0" strike="noStrike" spc="-1">
                <a:solidFill>
                  <a:srgbClr val="000000"/>
                </a:solidFill>
                <a:latin typeface="Arial"/>
              </a:rPr>
              <a:t>- External monitors: https://my.f5.com/manage/s/article/K2282</a:t>
            </a:r>
          </a:p>
          <a:p>
            <a:pPr marL="216000" indent="-216000">
              <a:buNone/>
            </a:pPr>
            <a:r>
              <a:rPr lang="en-US" sz="2000" b="0" strike="noStrike" spc="-1">
                <a:solidFill>
                  <a:srgbClr val="000000"/>
                </a:solidFill>
                <a:latin typeface="Arial"/>
              </a:rPr>
              <a:t>- Monitor overview: https://my.f5.com/manage/s/article/K12531</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EXAM QUESTION PATTERNS</a:t>
            </a:r>
          </a:p>
          <a:p>
            <a:pPr marL="216000" indent="-216000">
              <a:buNone/>
            </a:pPr>
            <a:r>
              <a:rPr lang="en-US" sz="2000" b="0" strike="noStrike" spc="-1">
                <a:solidFill>
                  <a:srgbClr val="000000"/>
                </a:solidFill>
                <a:latin typeface="Arial"/>
              </a:rPr>
              <a:t>- "Monitor works on active BIG-IP but fails on standby. Why?" → Host OS routing differs; enable In-TMM</a:t>
            </a:r>
          </a:p>
          <a:p>
            <a:pPr marL="216000" indent="-216000">
              <a:buNone/>
            </a:pPr>
            <a:r>
              <a:rPr lang="en-US" sz="2000" b="0" strike="noStrike" spc="-1">
                <a:solidFill>
                  <a:srgbClr val="000000"/>
                </a:solidFill>
                <a:latin typeface="Arial"/>
              </a:rPr>
              <a:t>- "When should you enable In-TMM monitoring?" → When pool members are only reachable via TMM data plane routing</a:t>
            </a:r>
          </a:p>
          <a:p>
            <a:pPr marL="216000" indent="0">
              <a:lnSpc>
                <a:spcPct val="100000"/>
              </a:lnSpc>
              <a:buNone/>
            </a:pPr>
            <a:r>
              <a:rPr lang="en-US" sz="2000" b="0" strike="noStrike" spc="-1">
                <a:solidFill>
                  <a:srgbClr val="000000"/>
                </a:solidFill>
                <a:latin typeface="Arial"/>
              </a:rPr>
              <a:t>- "Which monitor types support In-TMM?" → gateway_icmp, TCP half-open, UDP, HTTP, HTTPS</a:t>
            </a:r>
          </a:p>
        </p:txBody>
      </p:sp>
      <p:sp>
        <p:nvSpPr>
          <p:cNvPr id="2592" name="PlaceHolder 3"/>
          <p:cNvSpPr>
            <a:spLocks noGrp="1"/>
          </p:cNvSpPr>
          <p:nvPr>
            <p:ph type="sldNum" idx="43"/>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585C75E1-6FE7-46D8-8091-5DD457453FFE}" type="slidenum">
              <a:rPr lang="en-US" sz="1800" b="0" strike="noStrike" spc="-1">
                <a:solidFill>
                  <a:schemeClr val="dk1"/>
                </a:solidFill>
                <a:latin typeface="+mn-lt"/>
                <a:ea typeface="+mn-ea"/>
              </a:rPr>
              <a:t>40</a:t>
            </a:fld>
            <a:endParaRPr lang="en-US" sz="1800" b="0" strike="noStrike" spc="-1">
              <a:solidFill>
                <a:srgbClr val="000000"/>
              </a:solidFill>
              <a:latin typeface="Times New Roman"/>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3" name="PlaceHolder 1"/>
          <p:cNvSpPr>
            <a:spLocks noGrp="1" noRot="1" noChangeAspect="1"/>
          </p:cNvSpPr>
          <p:nvPr>
            <p:ph type="sldImg"/>
          </p:nvPr>
        </p:nvSpPr>
        <p:spPr>
          <a:xfrm>
            <a:off x="0" y="0"/>
            <a:ext cx="0" cy="0"/>
          </a:xfrm>
          <a:prstGeom prst="rect">
            <a:avLst/>
          </a:prstGeom>
          <a:ln w="0">
            <a:noFill/>
          </a:ln>
        </p:spPr>
      </p:sp>
      <p:sp>
        <p:nvSpPr>
          <p:cNvPr id="2594"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This slide covers the critical timing relationships between interval, timeout, Time Until Up, and Up Interval. This directly addresses F5CTSLTM2.14: "Determine appropriate monitor and monitor timing based on application and server limitations."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FULL TECHNICAL EXPLANATION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INTERVAL: Frequency of health checks. Every N seconds, the BIG-IP sends a check to each pool member.</a:t>
            </a:r>
          </a:p>
          <a:p>
            <a:pPr marL="216000" indent="-216000">
              <a:buNone/>
            </a:pPr>
            <a:r>
              <a:rPr lang="en-US" sz="2000" b="0" strike="noStrike" spc="-1">
                <a:solidFill>
                  <a:srgbClr val="000000"/>
                </a:solidFill>
                <a:latin typeface="Arial"/>
              </a:rPr>
              <a:t>- Lower = faster detection, more monitor traffic</a:t>
            </a:r>
          </a:p>
          <a:p>
            <a:pPr marL="216000" indent="-216000">
              <a:buNone/>
            </a:pPr>
            <a:r>
              <a:rPr lang="en-US" sz="2000" b="0" strike="noStrike" spc="-1">
                <a:solidFill>
                  <a:srgbClr val="000000"/>
                </a:solidFill>
                <a:latin typeface="Arial"/>
              </a:rPr>
              <a:t>- Higher = slower detection, less traffic</a:t>
            </a:r>
          </a:p>
          <a:p>
            <a:pPr marL="216000" indent="-216000">
              <a:buNone/>
            </a:pPr>
            <a:r>
              <a:rPr lang="en-US" sz="2000" b="0" strike="noStrike" spc="-1">
                <a:solidFill>
                  <a:srgbClr val="000000"/>
                </a:solidFill>
                <a:latin typeface="Arial"/>
              </a:rPr>
              <a:t>- Pool with 100 members, interval=5 = 20 monitor requests/second</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TIMEOUT: Maximum window for a successful response. NOT the timeout for a single check.</a:t>
            </a:r>
          </a:p>
          <a:p>
            <a:pPr marL="216000" indent="-216000">
              <a:buNone/>
            </a:pPr>
            <a:r>
              <a:rPr lang="en-US" sz="2000" b="0" strike="noStrike" spc="-1">
                <a:solidFill>
                  <a:srgbClr val="000000"/>
                </a:solidFill>
                <a:latin typeface="Arial"/>
              </a:rPr>
              <a:t>- The BIG-IP sends checks every [interval] seconds</a:t>
            </a:r>
          </a:p>
          <a:p>
            <a:pPr marL="216000" indent="-216000">
              <a:buNone/>
            </a:pPr>
            <a:r>
              <a:rPr lang="en-US" sz="2000" b="0" strike="noStrike" spc="-1">
                <a:solidFill>
                  <a:srgbClr val="000000"/>
                </a:solidFill>
                <a:latin typeface="Arial"/>
              </a:rPr>
              <a:t>- If no successful response within [timeout] seconds → member DOWN</a:t>
            </a:r>
          </a:p>
          <a:p>
            <a:pPr marL="216000" indent="-216000">
              <a:buNone/>
            </a:pPr>
            <a:r>
              <a:rPr lang="en-US" sz="2000" b="0" strike="noStrike" spc="-1">
                <a:solidFill>
                  <a:srgbClr val="000000"/>
                </a:solidFill>
                <a:latin typeface="Arial"/>
              </a:rPr>
              <a:t>- Number of failed checks = timeout / interval (rounded down)</a:t>
            </a:r>
          </a:p>
          <a:p>
            <a:pPr marL="216000" indent="-216000">
              <a:buNone/>
            </a:pPr>
            <a:r>
              <a:rPr lang="en-US" sz="2000" b="0" strike="noStrike" spc="-1">
                <a:solidFill>
                  <a:srgbClr val="000000"/>
                </a:solidFill>
                <a:latin typeface="Arial"/>
              </a:rPr>
              <a:t>- Default: 16/5 = 3.2 → 3 consecutive failures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WHY TIMEOUT &gt; INTERVAL: If timeout ≤ interval, the member is marked DOWN after the FIRST failed check. A single slow response (GC pause, network blip) causes flapping.</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TIME UNTIL UP: After a DOWN member starts responding, it must pass checks for this duration before being promoted to UP. Default 0 = immediate promotion. Set to 30+ seconds for servers that need warm-up time (loading caches, establishing DB connections).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UP INTERVAL: Used with inband + active monitor combinations. When a member is UP, the active monitor checks every [interval]. When DOWN, it checks every [Up Interval] (typically shorter than the inband retry timer). This allows faster recovery detection.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COMMON STUDENT MISTAKES</a:t>
            </a:r>
          </a:p>
          <a:p>
            <a:pPr marL="216000" indent="-216000">
              <a:buNone/>
            </a:pPr>
            <a:r>
              <a:rPr lang="en-US" sz="2000" b="0" strike="noStrike" spc="-1">
                <a:solidFill>
                  <a:srgbClr val="000000"/>
                </a:solidFill>
                <a:latin typeface="Arial"/>
              </a:rPr>
              <a:t>- Setting timeout = interval → instant DOWN on first failure → flapping</a:t>
            </a:r>
          </a:p>
          <a:p>
            <a:pPr marL="216000" indent="-216000">
              <a:buNone/>
            </a:pPr>
            <a:r>
              <a:rPr lang="en-US" sz="2000" b="0" strike="noStrike" spc="-1">
                <a:solidFill>
                  <a:srgbClr val="000000"/>
                </a:solidFill>
                <a:latin typeface="Arial"/>
              </a:rPr>
              <a:t>- Not understanding the "3+1" formula: timeout = (interval × 3) + 1 gives 3 failures before DOWN</a:t>
            </a:r>
          </a:p>
          <a:p>
            <a:pPr marL="216000" indent="-216000">
              <a:buNone/>
            </a:pPr>
            <a:r>
              <a:rPr lang="en-US" sz="2000" b="0" strike="noStrike" spc="-1">
                <a:solidFill>
                  <a:srgbClr val="000000"/>
                </a:solidFill>
                <a:latin typeface="Arial"/>
              </a:rPr>
              <a:t>- Confusing Up Interval with Time Until Up: Up Interval = check frequency when DOWN. Time Until Up = how long good responses must continue before promotion to UP.</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PIVOT QUESTION</a:t>
            </a:r>
          </a:p>
          <a:p>
            <a:pPr marL="216000" indent="-216000">
              <a:buNone/>
            </a:pPr>
            <a:r>
              <a:rPr lang="en-US" sz="2000" b="0" strike="noStrike" spc="-1">
                <a:solidFill>
                  <a:srgbClr val="000000"/>
                </a:solidFill>
                <a:latin typeface="Arial"/>
              </a:rPr>
              <a:t>"An HTTP monitor has interval=10 and timeout=16. A server becomes unresponsive. How many failed checks before DOWN?"</a:t>
            </a:r>
          </a:p>
          <a:p>
            <a:pPr marL="216000" indent="-216000">
              <a:buNone/>
            </a:pPr>
            <a:r>
              <a:rPr lang="en-US" sz="2000" b="0" strike="noStrike" spc="-1">
                <a:solidFill>
                  <a:srgbClr val="000000"/>
                </a:solidFill>
                <a:latin typeface="Arial"/>
              </a:rPr>
              <a:t>ANSWER: 16 ÷ 10 = 1.6 → 1 failed check. This is problematic — a single slow response marks the member DOWN. Should be timeout=31 for 3 failed checks.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F5 DOCUMENTATION: https://my.f5.com/manage/s/article/K2167, https://my.f5.com/manage/s/article/K13148 (Time Until Up)</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EXAM QUESTION PATTERNS</a:t>
            </a:r>
          </a:p>
          <a:p>
            <a:pPr marL="216000" indent="-216000">
              <a:buNone/>
            </a:pPr>
            <a:r>
              <a:rPr lang="en-US" sz="2000" b="0" strike="noStrike" spc="-1">
                <a:solidFill>
                  <a:srgbClr val="000000"/>
                </a:solidFill>
                <a:latin typeface="Arial"/>
              </a:rPr>
              <a:t>- "Interval=5, Timeout=16. Failed checks before DOWN?" → 3</a:t>
            </a:r>
          </a:p>
          <a:p>
            <a:pPr marL="216000" indent="-216000">
              <a:buNone/>
            </a:pPr>
            <a:r>
              <a:rPr lang="en-US" sz="2000" b="0" strike="noStrike" spc="-1">
                <a:solidFill>
                  <a:srgbClr val="000000"/>
                </a:solidFill>
                <a:latin typeface="Arial"/>
              </a:rPr>
              <a:t>- "Interval=10, Timeout=16. Failed checks?" → 1 (bad config, will flap)</a:t>
            </a:r>
          </a:p>
          <a:p>
            <a:pPr marL="216000" indent="0">
              <a:lnSpc>
                <a:spcPct val="100000"/>
              </a:lnSpc>
              <a:buNone/>
            </a:pPr>
            <a:r>
              <a:rPr lang="en-US" sz="2000" b="0" strike="noStrike" spc="-1">
                <a:solidFill>
                  <a:srgbClr val="000000"/>
                </a:solidFill>
                <a:latin typeface="Arial"/>
              </a:rPr>
              <a:t>- "What prevents sending traffic to a server still warming up?" → Time Until Up</a:t>
            </a:r>
          </a:p>
        </p:txBody>
      </p:sp>
      <p:sp>
        <p:nvSpPr>
          <p:cNvPr id="2595" name="PlaceHolder 3"/>
          <p:cNvSpPr>
            <a:spLocks noGrp="1"/>
          </p:cNvSpPr>
          <p:nvPr>
            <p:ph type="sldNum" idx="44"/>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7AD8DB95-A34C-4EB1-A256-7A84A928F734}" type="slidenum">
              <a:rPr lang="en-US" sz="1800" b="0" strike="noStrike" spc="-1">
                <a:solidFill>
                  <a:schemeClr val="dk1"/>
                </a:solidFill>
                <a:latin typeface="+mn-lt"/>
                <a:ea typeface="+mn-ea"/>
              </a:rPr>
              <a:t>41</a:t>
            </a:fld>
            <a:endParaRPr lang="en-US" sz="1800" b="0" strike="noStrike" spc="-1">
              <a:solidFill>
                <a:srgbClr val="000000"/>
              </a:solidFill>
              <a:latin typeface="Times New Roman"/>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6" name="PlaceHolder 1"/>
          <p:cNvSpPr>
            <a:spLocks noGrp="1" noRot="1" noChangeAspect="1"/>
          </p:cNvSpPr>
          <p:nvPr>
            <p:ph type="sldImg"/>
          </p:nvPr>
        </p:nvSpPr>
        <p:spPr>
          <a:xfrm>
            <a:off x="0" y="0"/>
            <a:ext cx="0" cy="0"/>
          </a:xfrm>
          <a:prstGeom prst="rect">
            <a:avLst/>
          </a:prstGeom>
          <a:ln w="0">
            <a:noFill/>
          </a:ln>
        </p:spPr>
      </p:sp>
      <p:sp>
        <p:nvSpPr>
          <p:cNvPr id="2597"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This dedicated slide breaks down the BIG-IP status icon system into its two dimensions: shape (monitor result) and color (admin state). Students must be able to read status icons in the GUI, Network Map, and CLI output to diagnose issues. This is tested frequently on the exam — scenarios often include "the pool member shows a [color] [shape]" and ask what it means.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FULL TECHNICAL EXPLANATION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THE TWO-DIMENSIONAL ICON SYSTEM:</a:t>
            </a:r>
          </a:p>
          <a:p>
            <a:pPr marL="216000" indent="-216000">
              <a:buNone/>
            </a:pPr>
            <a:r>
              <a:rPr lang="en-US" sz="2000" b="0" strike="noStrike" spc="-1">
                <a:solidFill>
                  <a:srgbClr val="000000"/>
                </a:solidFill>
                <a:latin typeface="Arial"/>
              </a:rPr>
              <a:t>BIG-IP uses shape AND color together to communicate two independent pieces of information:</a:t>
            </a:r>
          </a:p>
          <a:p>
            <a:pPr marL="216000" indent="-216000">
              <a:buNone/>
            </a:pPr>
            <a:r>
              <a:rPr lang="en-US" sz="2000" b="0" strike="noStrike" spc="-1">
                <a:solidFill>
                  <a:srgbClr val="000000"/>
                </a:solidFill>
                <a:latin typeface="Arial"/>
              </a:rPr>
              <a:t>1. SHAPE tells you what the MONITOR says about the object's health</a:t>
            </a:r>
          </a:p>
          <a:p>
            <a:pPr marL="216000" indent="-216000">
              <a:buNone/>
            </a:pPr>
            <a:r>
              <a:rPr lang="en-US" sz="2000" b="0" strike="noStrike" spc="-1">
                <a:solidFill>
                  <a:srgbClr val="000000"/>
                </a:solidFill>
                <a:latin typeface="Arial"/>
              </a:rPr>
              <a:t>2. COLOR tells you what the ADMINISTRATOR has done to the object's state</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SHAPES:</a:t>
            </a:r>
          </a:p>
          <a:p>
            <a:pPr marL="216000" indent="-216000">
              <a:buNone/>
            </a:pPr>
            <a:r>
              <a:rPr lang="en-US" sz="2000" b="0" strike="noStrike" spc="-1">
                <a:solidFill>
                  <a:srgbClr val="000000"/>
                </a:solidFill>
                <a:latin typeface="Arial"/>
              </a:rPr>
              <a:t>- Circle: Monitor says UP. The health check succeeded — the service responded correctly.</a:t>
            </a:r>
          </a:p>
          <a:p>
            <a:pPr marL="216000" indent="-216000">
              <a:buNone/>
            </a:pPr>
            <a:r>
              <a:rPr lang="en-US" sz="2000" b="0" strike="noStrike" spc="-1">
                <a:solidFill>
                  <a:srgbClr val="000000"/>
                </a:solidFill>
                <a:latin typeface="Arial"/>
              </a:rPr>
              <a:t>- Diamond: Monitor says DOWN. The health check failed — the service didn't respond or responded incorrectly.</a:t>
            </a:r>
          </a:p>
          <a:p>
            <a:pPr marL="216000" indent="-216000">
              <a:buNone/>
            </a:pPr>
            <a:r>
              <a:rPr lang="en-US" sz="2000" b="0" strike="noStrike" spc="-1">
                <a:solidFill>
                  <a:srgbClr val="000000"/>
                </a:solidFill>
                <a:latin typeface="Arial"/>
              </a:rPr>
              <a:t>- Square: Monitor status is UNKNOWN. Either no monitor is assigned, or the monitor hasn't completed its first check yet.</a:t>
            </a:r>
          </a:p>
          <a:p>
            <a:pPr marL="216000" indent="-216000">
              <a:buNone/>
            </a:pPr>
            <a:r>
              <a:rPr lang="en-US" sz="2000" b="0" strike="noStrike" spc="-1">
                <a:solidFill>
                  <a:srgbClr val="000000"/>
                </a:solidFill>
                <a:latin typeface="Arial"/>
              </a:rPr>
              <a:t>- Triangle: Status is somewhere between fully available and fully offline — approaching a threshold or partially degraded.</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COLORS:</a:t>
            </a:r>
          </a:p>
          <a:p>
            <a:pPr marL="216000" indent="-216000">
              <a:buNone/>
            </a:pPr>
            <a:r>
              <a:rPr lang="en-US" sz="2000" b="0" strike="noStrike" spc="-1">
                <a:solidFill>
                  <a:srgbClr val="000000"/>
                </a:solidFill>
                <a:latin typeface="Arial"/>
              </a:rPr>
              <a:t>- Green: Enabled AND available. The object is enabled by the admin AND the monitor reports it as healthy. This is the normal operating state.</a:t>
            </a:r>
          </a:p>
          <a:p>
            <a:pPr marL="216000" indent="-216000">
              <a:buNone/>
            </a:pPr>
            <a:r>
              <a:rPr lang="en-US" sz="2000" b="0" strike="noStrike" spc="-1">
                <a:solidFill>
                  <a:srgbClr val="000000"/>
                </a:solidFill>
                <a:latin typeface="Arial"/>
              </a:rPr>
              <a:t>- Yellow: Enabled but showing a warning condition. The object works but may be approaching a problem (connection count approaching limit, pool member count approaching minimum).</a:t>
            </a:r>
          </a:p>
          <a:p>
            <a:pPr marL="216000" indent="-216000">
              <a:buNone/>
            </a:pPr>
            <a:r>
              <a:rPr lang="en-US" sz="2000" b="0" strike="noStrike" spc="-1">
                <a:solidFill>
                  <a:srgbClr val="000000"/>
                </a:solidFill>
                <a:latin typeface="Arial"/>
              </a:rPr>
              <a:t>- Red: Enabled but offline. The admin has NOT disabled the object, but the monitor reports it as unhealthy. The BIG-IP actively refuses new traffic (sends TCP RST).</a:t>
            </a:r>
          </a:p>
          <a:p>
            <a:pPr marL="216000" indent="-216000">
              <a:buNone/>
            </a:pPr>
            <a:r>
              <a:rPr lang="en-US" sz="2000" b="0" strike="noStrike" spc="-1">
                <a:solidFill>
                  <a:srgbClr val="000000"/>
                </a:solidFill>
                <a:latin typeface="Arial"/>
              </a:rPr>
              <a:t>- Black: Disabled by administrator. The admin has manually taken the object out of service. Existing connections continue, but no new connections are accepted.</a:t>
            </a:r>
          </a:p>
          <a:p>
            <a:pPr marL="216000" indent="-216000">
              <a:buNone/>
            </a:pPr>
            <a:r>
              <a:rPr lang="en-US" sz="2000" b="0" strike="noStrike" spc="-1">
                <a:solidFill>
                  <a:srgbClr val="000000"/>
                </a:solidFill>
                <a:latin typeface="Arial"/>
              </a:rPr>
              <a:t>- Blue: Unknown. No monitor assigned, or the first health check hasn't completed yet. The BIG-IP treats these objects as available by default (sends traffic to them).</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KEY INSIGHT: BLUE SQUARE = UNCHECKED = STILL RECEIVES TRAFFIC</a:t>
            </a:r>
          </a:p>
          <a:p>
            <a:pPr marL="216000" indent="-216000">
              <a:buNone/>
            </a:pPr>
            <a:r>
              <a:rPr lang="en-US" sz="2000" b="0" strike="noStrike" spc="-1">
                <a:solidFill>
                  <a:srgbClr val="000000"/>
                </a:solidFill>
                <a:latin typeface="Arial"/>
              </a:rPr>
              <a:t>Students often assume blue square means "not working." In fact, it means "not monitored" — and unmonitored members receive traffic by default. This is why assigning monitors is critical. Without monitors, a failed server continues to receive traffic, causing errors for clients.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COMMON STUDENT MISTAKES</a:t>
            </a:r>
          </a:p>
          <a:p>
            <a:pPr marL="216000" indent="-216000">
              <a:buNone/>
            </a:pPr>
            <a:r>
              <a:rPr lang="en-US" sz="2000" b="0" strike="noStrike" spc="-1">
                <a:solidFill>
                  <a:srgbClr val="000000"/>
                </a:solidFill>
                <a:latin typeface="Arial"/>
              </a:rPr>
              <a:t>- Confusing red diamond (monitor failure) with black diamond (admin disabled). Red = something broke. Black = someone chose to disable it.</a:t>
            </a:r>
          </a:p>
          <a:p>
            <a:pPr marL="216000" indent="-216000">
              <a:buNone/>
            </a:pPr>
            <a:r>
              <a:rPr lang="en-US" sz="2000" b="0" strike="noStrike" spc="-1">
                <a:solidFill>
                  <a:srgbClr val="000000"/>
                </a:solidFill>
                <a:latin typeface="Arial"/>
              </a:rPr>
              <a:t>- Assuming blue square means "offline." Blue square means unchecked — the member receives traffic but isn't being health-checked.</a:t>
            </a:r>
          </a:p>
          <a:p>
            <a:pPr marL="216000" indent="-216000">
              <a:buNone/>
            </a:pPr>
            <a:r>
              <a:rPr lang="en-US" sz="2000" b="0" strike="noStrike" spc="-1">
                <a:solidFill>
                  <a:srgbClr val="000000"/>
                </a:solidFill>
                <a:latin typeface="Arial"/>
              </a:rPr>
              <a:t>- Not understanding that color and shape convey INDEPENDENT information. Green circle = good. Red circle doesn't exist (a healthy member can't be red). Black diamond = disabled regardless of health.</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PIVOT QUESTION</a:t>
            </a:r>
          </a:p>
          <a:p>
            <a:pPr marL="216000" indent="-216000">
              <a:buNone/>
            </a:pPr>
            <a:r>
              <a:rPr lang="en-US" sz="2000" b="0" strike="noStrike" spc="-1">
                <a:solidFill>
                  <a:srgbClr val="000000"/>
                </a:solidFill>
                <a:latin typeface="Arial"/>
              </a:rPr>
              <a:t>"A pool member shows a blue square. Is it receiving traffic? Should you be concerned?"</a:t>
            </a:r>
          </a:p>
          <a:p>
            <a:pPr marL="216000" indent="-216000">
              <a:buNone/>
            </a:pPr>
            <a:r>
              <a:rPr lang="en-US" sz="2000" b="0" strike="noStrike" spc="-1">
                <a:solidFill>
                  <a:srgbClr val="000000"/>
                </a:solidFill>
                <a:latin typeface="Arial"/>
              </a:rPr>
              <a:t>ANSWER: Yes, it IS receiving traffic (blue square = unchecked, treated as available by default). Yes, you SHOULD be concerned — without a health monitor, the BIG-IP will continue sending traffic to this member even if the application crashes. Assign an appropriate health monitor immediately.</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F5 DOCUMENTATION</a:t>
            </a:r>
          </a:p>
          <a:p>
            <a:pPr marL="216000" indent="-216000">
              <a:buNone/>
            </a:pPr>
            <a:r>
              <a:rPr lang="en-US" sz="2000" b="0" strike="noStrike" spc="-1">
                <a:solidFill>
                  <a:srgbClr val="000000"/>
                </a:solidFill>
                <a:latin typeface="Arial"/>
              </a:rPr>
              <a:t>- Status icons: https://my.f5.com/manage/s/article/K13132</a:t>
            </a:r>
          </a:p>
          <a:p>
            <a:pPr marL="216000" indent="-216000">
              <a:buNone/>
            </a:pPr>
            <a:r>
              <a:rPr lang="en-US" sz="2000" b="0" strike="noStrike" spc="-1">
                <a:solidFill>
                  <a:srgbClr val="000000"/>
                </a:solidFill>
                <a:latin typeface="Arial"/>
              </a:rPr>
              <a:t>- Colored status icons: https://techdocs.f5.com/en-us/bigip-14-1-0/big-ip-local-traffic-manager-basics/ltm-pools.html</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EXAM QUESTION PATTERNS</a:t>
            </a:r>
          </a:p>
          <a:p>
            <a:pPr marL="216000" indent="-216000">
              <a:buNone/>
            </a:pPr>
            <a:r>
              <a:rPr lang="en-US" sz="2000" b="0" strike="noStrike" spc="-1">
                <a:solidFill>
                  <a:srgbClr val="000000"/>
                </a:solidFill>
                <a:latin typeface="Arial"/>
              </a:rPr>
              <a:t>- "What does a blue square indicate?" → No monitor assigned, member is unchecked but receiving traffic</a:t>
            </a:r>
          </a:p>
          <a:p>
            <a:pPr marL="216000" indent="-216000">
              <a:buNone/>
            </a:pPr>
            <a:r>
              <a:rPr lang="en-US" sz="2000" b="0" strike="noStrike" spc="-1">
                <a:solidFill>
                  <a:srgbClr val="000000"/>
                </a:solidFill>
                <a:latin typeface="Arial"/>
              </a:rPr>
              <a:t>- "What does a red diamond indicate?" → Monitor reports DOWN, but admin has NOT disabled it</a:t>
            </a:r>
          </a:p>
          <a:p>
            <a:pPr marL="216000" indent="-216000">
              <a:buNone/>
            </a:pPr>
            <a:r>
              <a:rPr lang="en-US" sz="2000" b="0" strike="noStrike" spc="-1">
                <a:solidFill>
                  <a:srgbClr val="000000"/>
                </a:solidFill>
                <a:latin typeface="Arial"/>
              </a:rPr>
              <a:t>- "What does a black diamond indicate?" → Admin has disabled the object</a:t>
            </a:r>
          </a:p>
          <a:p>
            <a:pPr marL="216000" indent="0">
              <a:lnSpc>
                <a:spcPct val="100000"/>
              </a:lnSpc>
              <a:buNone/>
            </a:pPr>
            <a:r>
              <a:rPr lang="en-US" sz="2000" b="0" strike="noStrike" spc="-1">
                <a:solidFill>
                  <a:srgbClr val="000000"/>
                </a:solidFill>
                <a:latin typeface="Arial"/>
              </a:rPr>
              <a:t>- "A member shows green circle. The admin disables it. What icon appears?" → Black diamond</a:t>
            </a:r>
          </a:p>
        </p:txBody>
      </p:sp>
      <p:sp>
        <p:nvSpPr>
          <p:cNvPr id="2598" name="PlaceHolder 3"/>
          <p:cNvSpPr>
            <a:spLocks noGrp="1"/>
          </p:cNvSpPr>
          <p:nvPr>
            <p:ph type="sldNum" idx="45"/>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0E42F71B-1F0F-4571-B7D9-FEFDF89BC77C}" type="slidenum">
              <a:rPr kumimoji="0" lang="en-US" sz="1800" b="0" i="0" u="none" strike="noStrike" kern="1200" cap="none" spc="-1" normalizeH="0" baseline="0" noProof="0">
                <a:ln>
                  <a:noFill/>
                </a:ln>
                <a:solidFill>
                  <a:srgbClr val="000000"/>
                </a:solidFill>
                <a:effectLst/>
                <a:uLnTx/>
                <a:uFillTx/>
                <a:latin typeface="Arial"/>
                <a:ea typeface="+mn-ea"/>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US" sz="1800" b="0" i="0" u="none" strike="noStrike" kern="1200" cap="none" spc="-1" normalizeH="0" baseline="0" noProof="0">
              <a:ln>
                <a:noFill/>
              </a:ln>
              <a:solidFill>
                <a:srgbClr val="000000"/>
              </a:solidFill>
              <a:effectLst/>
              <a:uLnTx/>
              <a:uFillTx/>
              <a:latin typeface="Times New Roman"/>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9" name="PlaceHolder 1"/>
          <p:cNvSpPr>
            <a:spLocks noGrp="1" noRot="1" noChangeAspect="1"/>
          </p:cNvSpPr>
          <p:nvPr>
            <p:ph type="sldImg"/>
          </p:nvPr>
        </p:nvSpPr>
        <p:spPr>
          <a:xfrm>
            <a:off x="0" y="0"/>
            <a:ext cx="0" cy="0"/>
          </a:xfrm>
          <a:prstGeom prst="rect">
            <a:avLst/>
          </a:prstGeom>
          <a:ln w="0">
            <a:noFill/>
          </a:ln>
        </p:spPr>
      </p:sp>
      <p:sp>
        <p:nvSpPr>
          <p:cNvPr id="2600"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This slide covers two critical concepts: (1) how monitor results cascade from member to pool to virtual server, and (2) the behavioral difference between Disabled and Offline states. The cascade model and the Disabled/Offline distinction are among the most frequently tested concepts on the exam.</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FULL TECHNICAL EXPLANATION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CASCADE MODEL:</a:t>
            </a:r>
          </a:p>
          <a:p>
            <a:pPr marL="216000" indent="-216000">
              <a:buNone/>
            </a:pPr>
            <a:r>
              <a:rPr lang="en-US" sz="2000" b="0" strike="noStrike" spc="-1">
                <a:solidFill>
                  <a:srgbClr val="000000"/>
                </a:solidFill>
                <a:latin typeface="Arial"/>
              </a:rPr>
              <a:t>The BIG-IP object hierarchy has dependencies: Virtual Server → Pool → Members → Nodes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Member status: Determined by the health monitor assigned to the pool (or to the individual member if member-specific monitors are configured).</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Pool status: Determined by the combined status of its members.</a:t>
            </a:r>
          </a:p>
          <a:p>
            <a:pPr marL="216000" indent="-216000">
              <a:buNone/>
            </a:pPr>
            <a:r>
              <a:rPr lang="en-US" sz="2000" b="0" strike="noStrike" spc="-1">
                <a:solidFill>
                  <a:srgbClr val="000000"/>
                </a:solidFill>
                <a:latin typeface="Arial"/>
              </a:rPr>
              <a:t>- If at least ONE member is available → pool is available (green)</a:t>
            </a:r>
          </a:p>
          <a:p>
            <a:pPr marL="216000" indent="-216000">
              <a:buNone/>
            </a:pPr>
            <a:r>
              <a:rPr lang="en-US" sz="2000" b="0" strike="noStrike" spc="-1">
                <a:solidFill>
                  <a:srgbClr val="000000"/>
                </a:solidFill>
                <a:latin typeface="Arial"/>
              </a:rPr>
              <a:t>- If ALL members are unavailable → pool is offline (red)</a:t>
            </a:r>
          </a:p>
          <a:p>
            <a:pPr marL="216000" indent="-216000">
              <a:buNone/>
            </a:pPr>
            <a:r>
              <a:rPr lang="en-US" sz="2000" b="0" strike="noStrike" spc="-1">
                <a:solidFill>
                  <a:srgbClr val="000000"/>
                </a:solidFill>
                <a:latin typeface="Arial"/>
              </a:rPr>
              <a:t>- If the pool has a minimum active members setting and the count falls below it → pool is offline</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Virtual Server status: Determined by the status of its default pool.</a:t>
            </a:r>
          </a:p>
          <a:p>
            <a:pPr marL="216000" indent="-216000">
              <a:buNone/>
            </a:pPr>
            <a:r>
              <a:rPr lang="en-US" sz="2000" b="0" strike="noStrike" spc="-1">
                <a:solidFill>
                  <a:srgbClr val="000000"/>
                </a:solidFill>
                <a:latin typeface="Arial"/>
              </a:rPr>
              <a:t>- If default pool is available → VS is available</a:t>
            </a:r>
          </a:p>
          <a:p>
            <a:pPr marL="216000" indent="-216000">
              <a:buNone/>
            </a:pPr>
            <a:r>
              <a:rPr lang="en-US" sz="2000" b="0" strike="noStrike" spc="-1">
                <a:solidFill>
                  <a:srgbClr val="000000"/>
                </a:solidFill>
                <a:latin typeface="Arial"/>
              </a:rPr>
              <a:t>- If default pool is offline → VS is offline</a:t>
            </a:r>
          </a:p>
          <a:p>
            <a:pPr marL="216000" indent="-216000">
              <a:buNone/>
            </a:pPr>
            <a:r>
              <a:rPr lang="en-US" sz="2000" b="0" strike="noStrike" spc="-1">
                <a:solidFill>
                  <a:srgbClr val="000000"/>
                </a:solidFill>
                <a:latin typeface="Arial"/>
              </a:rPr>
              <a:t>- A VS with no pool assigned → status depends only on its admin state</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Node status: A node represents the IP address itself (not the service). Node monitors (ICMP, TCP Echo) check the node. If a node is marked DOWN, ALL pool members using that node's IP are affected across ALL pools. This is a cross-pool dependency — one failed node can take down members in multiple pools.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DISABLED vs OFFLINE — EXAM CRITICAL:</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Disabled (Black Diamond):</a:t>
            </a:r>
          </a:p>
          <a:p>
            <a:pPr marL="216000" indent="-216000">
              <a:buNone/>
            </a:pPr>
            <a:r>
              <a:rPr lang="en-US" sz="2000" b="0" strike="noStrike" spc="-1">
                <a:solidFill>
                  <a:srgbClr val="000000"/>
                </a:solidFill>
                <a:latin typeface="Arial"/>
              </a:rPr>
              <a:t>- CAUSE: Administrator manually disables the object</a:t>
            </a:r>
          </a:p>
          <a:p>
            <a:pPr marL="216000" indent="-216000">
              <a:buNone/>
            </a:pPr>
            <a:r>
              <a:rPr lang="en-US" sz="2000" b="0" strike="noStrike" spc="-1">
                <a:solidFill>
                  <a:srgbClr val="000000"/>
                </a:solidFill>
                <a:latin typeface="Arial"/>
              </a:rPr>
              <a:t>- EXISTING CONNECTIONS: Continue until client closes them (graceful drain)</a:t>
            </a:r>
          </a:p>
          <a:p>
            <a:pPr marL="216000" indent="-216000">
              <a:buNone/>
            </a:pPr>
            <a:r>
              <a:rPr lang="en-US" sz="2000" b="0" strike="noStrike" spc="-1">
                <a:solidFill>
                  <a:srgbClr val="000000"/>
                </a:solidFill>
                <a:latin typeface="Arial"/>
              </a:rPr>
              <a:t>- NEW CONNECTIONS: Silently dropped (SYN arrives, BIG-IP doesn't respond — no RST)</a:t>
            </a:r>
          </a:p>
          <a:p>
            <a:pPr marL="216000" indent="-216000">
              <a:buNone/>
            </a:pPr>
            <a:r>
              <a:rPr lang="en-US" sz="2000" b="0" strike="noStrike" spc="-1">
                <a:solidFill>
                  <a:srgbClr val="000000"/>
                </a:solidFill>
                <a:latin typeface="Arial"/>
              </a:rPr>
              <a:t>- PERSISTENCE: Honored for current session</a:t>
            </a:r>
          </a:p>
          <a:p>
            <a:pPr marL="216000" indent="-216000">
              <a:buNone/>
            </a:pPr>
            <a:r>
              <a:rPr lang="en-US" sz="2000" b="0" strike="noStrike" spc="-1">
                <a:solidFill>
                  <a:srgbClr val="000000"/>
                </a:solidFill>
                <a:latin typeface="Arial"/>
              </a:rPr>
              <a:t>- tcpdump: SYN packet arrives, NO outgoing packet (silent)</a:t>
            </a:r>
          </a:p>
          <a:p>
            <a:pPr marL="216000" indent="-216000">
              <a:buNone/>
            </a:pPr>
            <a:r>
              <a:rPr lang="en-US" sz="2000" b="0" strike="noStrike" spc="-1">
                <a:solidFill>
                  <a:srgbClr val="000000"/>
                </a:solidFill>
                <a:latin typeface="Arial"/>
              </a:rPr>
              <a:t>- Use case: Planned maintenance. Disable → wait for connections to drain → perform work.</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Offline (Red Diamond):</a:t>
            </a:r>
          </a:p>
          <a:p>
            <a:pPr marL="216000" indent="-216000">
              <a:buNone/>
            </a:pPr>
            <a:r>
              <a:rPr lang="en-US" sz="2000" b="0" strike="noStrike" spc="-1">
                <a:solidFill>
                  <a:srgbClr val="000000"/>
                </a:solidFill>
                <a:latin typeface="Arial"/>
              </a:rPr>
              <a:t>- CAUSE: Health monitor detects failure (or all members of a pool fail)</a:t>
            </a:r>
          </a:p>
          <a:p>
            <a:pPr marL="216000" indent="-216000">
              <a:buNone/>
            </a:pPr>
            <a:r>
              <a:rPr lang="en-US" sz="2000" b="0" strike="noStrike" spc="-1">
                <a:solidFill>
                  <a:srgbClr val="000000"/>
                </a:solidFill>
                <a:latin typeface="Arial"/>
              </a:rPr>
              <a:t>- EXISTING CONNECTIONS: Continue (assuming the server is still partially responding)</a:t>
            </a:r>
          </a:p>
          <a:p>
            <a:pPr marL="216000" indent="-216000">
              <a:buNone/>
            </a:pPr>
            <a:r>
              <a:rPr lang="en-US" sz="2000" b="0" strike="noStrike" spc="-1">
                <a:solidFill>
                  <a:srgbClr val="000000"/>
                </a:solidFill>
                <a:latin typeface="Arial"/>
              </a:rPr>
              <a:t>- NEW CONNECTIONS: BIG-IP sends TCP RST back to client</a:t>
            </a:r>
          </a:p>
          <a:p>
            <a:pPr marL="216000" indent="-216000">
              <a:buNone/>
            </a:pPr>
            <a:r>
              <a:rPr lang="en-US" sz="2000" b="0" strike="noStrike" spc="-1">
                <a:solidFill>
                  <a:srgbClr val="000000"/>
                </a:solidFill>
                <a:latin typeface="Arial"/>
              </a:rPr>
              <a:t>- tcpdump: SYN arrives, RST goes back to client</a:t>
            </a:r>
          </a:p>
          <a:p>
            <a:pPr marL="216000" indent="-216000">
              <a:buNone/>
            </a:pPr>
            <a:r>
              <a:rPr lang="en-US" sz="2000" b="0" strike="noStrike" spc="-1">
                <a:solidFill>
                  <a:srgbClr val="000000"/>
                </a:solidFill>
                <a:latin typeface="Arial"/>
              </a:rPr>
              <a:t>- The active RST tells the client immediately that the service is unavailable (vs silent drop where the client waits for timeout)</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Force Offline:</a:t>
            </a:r>
          </a:p>
          <a:p>
            <a:pPr marL="216000" indent="-216000">
              <a:buNone/>
            </a:pPr>
            <a:r>
              <a:rPr lang="en-US" sz="2000" b="0" strike="noStrike" spc="-1">
                <a:solidFill>
                  <a:srgbClr val="000000"/>
                </a:solidFill>
                <a:latin typeface="Arial"/>
              </a:rPr>
              <a:t>- Immediately terminates ALL connections — existing AND new</a:t>
            </a:r>
          </a:p>
          <a:p>
            <a:pPr marL="216000" indent="-216000">
              <a:buNone/>
            </a:pPr>
            <a:r>
              <a:rPr lang="en-US" sz="2000" b="0" strike="noStrike" spc="-1">
                <a:solidFill>
                  <a:srgbClr val="000000"/>
                </a:solidFill>
                <a:latin typeface="Arial"/>
              </a:rPr>
              <a:t>- More aggressive than Disable</a:t>
            </a:r>
          </a:p>
          <a:p>
            <a:pPr marL="216000" indent="-216000">
              <a:buNone/>
            </a:pPr>
            <a:r>
              <a:rPr lang="en-US" sz="2000" b="0" strike="noStrike" spc="-1">
                <a:solidFill>
                  <a:srgbClr val="000000"/>
                </a:solidFill>
                <a:latin typeface="Arial"/>
              </a:rPr>
              <a:t>- Use only when you need to take a member out of service immediately (security incident, data corruption)</a:t>
            </a:r>
          </a:p>
          <a:p>
            <a:pPr marL="216000" indent="-216000">
              <a:buNone/>
            </a:pPr>
            <a:r>
              <a:rPr lang="en-US" sz="2000" b="0" strike="noStrike" spc="-1">
                <a:solidFill>
                  <a:srgbClr val="000000"/>
                </a:solidFill>
                <a:latin typeface="Arial"/>
              </a:rPr>
              <a:t>- TMSH: modify ltm pool [pool] members modify { [ip]:[port] { session user-disabled state user-down } }</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COMMON STUDENT MISTAKES</a:t>
            </a:r>
          </a:p>
          <a:p>
            <a:pPr marL="216000" indent="-216000">
              <a:buNone/>
            </a:pPr>
            <a:r>
              <a:rPr lang="en-US" sz="2000" b="0" strike="noStrike" spc="-1">
                <a:solidFill>
                  <a:srgbClr val="000000"/>
                </a:solidFill>
                <a:latin typeface="Arial"/>
              </a:rPr>
              <a:t>- Thinking Disabled means the server is broken. It's an intentional admin action.</a:t>
            </a:r>
          </a:p>
          <a:p>
            <a:pPr marL="216000" indent="-216000">
              <a:buNone/>
            </a:pPr>
            <a:r>
              <a:rPr lang="en-US" sz="2000" b="0" strike="noStrike" spc="-1">
                <a:solidFill>
                  <a:srgbClr val="000000"/>
                </a:solidFill>
                <a:latin typeface="Arial"/>
              </a:rPr>
              <a:t>- Expecting ping to fail when a VS is disabled. Ping hits the virtual ADDRESS, which is still active.</a:t>
            </a:r>
          </a:p>
          <a:p>
            <a:pPr marL="216000" indent="-216000">
              <a:buNone/>
            </a:pPr>
            <a:r>
              <a:rPr lang="en-US" sz="2000" b="0" strike="noStrike" spc="-1">
                <a:solidFill>
                  <a:srgbClr val="000000"/>
                </a:solidFill>
                <a:latin typeface="Arial"/>
              </a:rPr>
              <a:t>- Not understanding that existing connections survive BOTH states. Only new connections are affected.</a:t>
            </a:r>
          </a:p>
          <a:p>
            <a:pPr marL="216000" indent="-216000">
              <a:buNone/>
            </a:pPr>
            <a:r>
              <a:rPr lang="en-US" sz="2000" b="0" strike="noStrike" spc="-1">
                <a:solidFill>
                  <a:srgbClr val="000000"/>
                </a:solidFill>
                <a:latin typeface="Arial"/>
              </a:rPr>
              <a:t>- Confusing Force Offline with Disable. Force Offline kills everything immediately.</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PIVOT QUESTION</a:t>
            </a:r>
          </a:p>
          <a:p>
            <a:pPr marL="216000" indent="-216000">
              <a:buNone/>
            </a:pPr>
            <a:r>
              <a:rPr lang="en-US" sz="2000" b="0" strike="noStrike" spc="-1">
                <a:solidFill>
                  <a:srgbClr val="000000"/>
                </a:solidFill>
                <a:latin typeface="Arial"/>
              </a:rPr>
              <a:t>"You disable a pool member for maintenance. 30 minutes later, 'show ltm pool [name] members' still shows active connections. Is this a bug?"</a:t>
            </a:r>
          </a:p>
          <a:p>
            <a:pPr marL="216000" indent="-216000">
              <a:buNone/>
            </a:pPr>
            <a:r>
              <a:rPr lang="en-US" sz="2000" b="0" strike="noStrike" spc="-1">
                <a:solidFill>
                  <a:srgbClr val="000000"/>
                </a:solidFill>
                <a:latin typeface="Arial"/>
              </a:rPr>
              <a:t>ANSWER: No. Disabled members allow existing connections to continue. Long-lived connections (WebSocket, database, FTP) can persist for hours. To verify drain progress, check the 'Cur Sessions' counter. To force drain: either wait, reduce the VS idle timeout temporarily, or use Force Offline (kills all connections immediately).</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F5 DOCUMENTATION</a:t>
            </a:r>
          </a:p>
          <a:p>
            <a:pPr marL="216000" indent="-216000">
              <a:buNone/>
            </a:pPr>
            <a:r>
              <a:rPr lang="en-US" sz="2000" b="0" strike="noStrike" spc="-1">
                <a:solidFill>
                  <a:srgbClr val="000000"/>
                </a:solidFill>
                <a:latin typeface="Arial"/>
              </a:rPr>
              <a:t>- Disabled vs Offline: https://my.f5.com/manage/s/article/K13132</a:t>
            </a:r>
          </a:p>
          <a:p>
            <a:pPr marL="216000" indent="-216000">
              <a:buNone/>
            </a:pPr>
            <a:r>
              <a:rPr lang="en-US" sz="2000" b="0" strike="noStrike" spc="-1">
                <a:solidFill>
                  <a:srgbClr val="000000"/>
                </a:solidFill>
                <a:latin typeface="Arial"/>
              </a:rPr>
              <a:t>- Force Offline: https://my.f5.com/manage/s/article/K13132</a:t>
            </a:r>
          </a:p>
          <a:p>
            <a:pPr marL="216000" indent="-216000">
              <a:buNone/>
            </a:pPr>
            <a:r>
              <a:rPr lang="en-US" sz="2000" b="0" strike="noStrike" spc="-1">
                <a:solidFill>
                  <a:srgbClr val="000000"/>
                </a:solidFill>
                <a:latin typeface="Arial"/>
              </a:rPr>
              <a:t>- Pool member status: https://techdocs.f5.com/en-us/bigip-14-1-0/big-ip-local-traffic-manager-basics/ltm-pools.html</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EXAM QUESTION PATTERNS</a:t>
            </a:r>
          </a:p>
          <a:p>
            <a:pPr marL="216000" indent="-216000">
              <a:buNone/>
            </a:pPr>
            <a:r>
              <a:rPr lang="en-US" sz="2000" b="0" strike="noStrike" spc="-1">
                <a:solidFill>
                  <a:srgbClr val="000000"/>
                </a:solidFill>
                <a:latin typeface="Arial"/>
              </a:rPr>
              <a:t>- "All pool members show red diamond. VS status?" → Offline (red) — no available members</a:t>
            </a:r>
          </a:p>
          <a:p>
            <a:pPr marL="216000" indent="-216000">
              <a:buNone/>
            </a:pPr>
            <a:r>
              <a:rPr lang="en-US" sz="2000" b="0" strike="noStrike" spc="-1">
                <a:solidFill>
                  <a:srgbClr val="000000"/>
                </a:solidFill>
                <a:latin typeface="Arial"/>
              </a:rPr>
              <a:t>- "VS disabled, can you ping VIP?" → Yes — virtual address still active</a:t>
            </a:r>
          </a:p>
          <a:p>
            <a:pPr marL="216000" indent="-216000">
              <a:buNone/>
            </a:pPr>
            <a:r>
              <a:rPr lang="en-US" sz="2000" b="0" strike="noStrike" spc="-1">
                <a:solidFill>
                  <a:srgbClr val="000000"/>
                </a:solidFill>
                <a:latin typeface="Arial"/>
              </a:rPr>
              <a:t>- "tcpdump shows SYN in, no response. Disabled or Offline?" → Disabled (silent drop)</a:t>
            </a:r>
          </a:p>
          <a:p>
            <a:pPr marL="216000" indent="0">
              <a:lnSpc>
                <a:spcPct val="100000"/>
              </a:lnSpc>
              <a:buNone/>
            </a:pPr>
            <a:r>
              <a:rPr lang="en-US" sz="2000" b="0" strike="noStrike" spc="-1">
                <a:solidFill>
                  <a:srgbClr val="000000"/>
                </a:solidFill>
                <a:latin typeface="Arial"/>
              </a:rPr>
              <a:t>- "tcpdump shows SYN in, RST out. Disabled or Offline?" → Offline (active RST)</a:t>
            </a:r>
          </a:p>
        </p:txBody>
      </p:sp>
      <p:sp>
        <p:nvSpPr>
          <p:cNvPr id="2601" name="PlaceHolder 3"/>
          <p:cNvSpPr>
            <a:spLocks noGrp="1"/>
          </p:cNvSpPr>
          <p:nvPr>
            <p:ph type="sldNum" idx="46"/>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37F7236B-B3FA-46AB-881A-36CABB14399C}" type="slidenum">
              <a:rPr lang="en-US" sz="1800" b="0" strike="noStrike" spc="-1">
                <a:solidFill>
                  <a:schemeClr val="dk1"/>
                </a:solidFill>
                <a:latin typeface="+mn-lt"/>
                <a:ea typeface="+mn-ea"/>
              </a:rPr>
              <a:t>43</a:t>
            </a:fld>
            <a:endParaRPr lang="en-US" sz="1800" b="0" strike="noStrike" spc="-1">
              <a:solidFill>
                <a:srgbClr val="000000"/>
              </a:solidFill>
              <a:latin typeface="Times New Roman"/>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2" name="PlaceHolder 1"/>
          <p:cNvSpPr>
            <a:spLocks noGrp="1" noRot="1" noChangeAspect="1"/>
          </p:cNvSpPr>
          <p:nvPr>
            <p:ph type="sldImg"/>
          </p:nvPr>
        </p:nvSpPr>
        <p:spPr>
          <a:xfrm>
            <a:off x="0" y="0"/>
            <a:ext cx="0" cy="0"/>
          </a:xfrm>
          <a:prstGeom prst="rect">
            <a:avLst/>
          </a:prstGeom>
          <a:ln w="0">
            <a:noFill/>
          </a:ln>
        </p:spPr>
      </p:sp>
      <p:sp>
        <p:nvSpPr>
          <p:cNvPr id="2603"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Lab launch slide with five activities. See Lab 4 v1 notes for complete activity walkthroughs.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KEY TEACHING MOMENTS:</a:t>
            </a:r>
          </a:p>
          <a:p>
            <a:pPr marL="216000" indent="-216000">
              <a:buNone/>
            </a:pPr>
            <a:r>
              <a:rPr lang="en-US" sz="2000" b="0" strike="noStrike" spc="-1">
                <a:solidFill>
                  <a:srgbClr val="000000"/>
                </a:solidFill>
                <a:latin typeface="Arial"/>
              </a:rPr>
              <a:t>- Activity 1: ICMP vs HTTP content monitors — specificity matters</a:t>
            </a:r>
          </a:p>
          <a:p>
            <a:pPr marL="216000" indent="-216000">
              <a:buNone/>
            </a:pPr>
            <a:r>
              <a:rPr lang="en-US" sz="2000" b="0" strike="noStrike" spc="-1">
                <a:solidFill>
                  <a:srgbClr val="000000"/>
                </a:solidFill>
                <a:latin typeface="Arial"/>
              </a:rPr>
              <a:t>- Activity 2: Disabled (silent drop) vs Offline (RST) — tcpdump proves it</a:t>
            </a:r>
          </a:p>
          <a:p>
            <a:pPr marL="216000" indent="-216000">
              <a:buNone/>
            </a:pPr>
            <a:r>
              <a:rPr lang="en-US" sz="2000" b="0" strike="noStrike" spc="-1">
                <a:solidFill>
                  <a:srgbClr val="000000"/>
                </a:solidFill>
                <a:latin typeface="Arial"/>
              </a:rPr>
              <a:t>- Activity 3: mysql_monitor cascade failure — timeout calculation in action</a:t>
            </a:r>
          </a:p>
          <a:p>
            <a:pPr marL="216000" indent="-216000">
              <a:buNone/>
            </a:pPr>
            <a:r>
              <a:rPr lang="en-US" sz="2000" b="0" strike="noStrike" spc="-1">
                <a:solidFill>
                  <a:srgbClr val="000000"/>
                </a:solidFill>
                <a:latin typeface="Arial"/>
              </a:rPr>
              <a:t>- Activity 4: EAV external scripts — custom health checks</a:t>
            </a:r>
          </a:p>
          <a:p>
            <a:pPr marL="216000" indent="-216000">
              <a:buNone/>
            </a:pPr>
            <a:r>
              <a:rPr lang="en-US" sz="2000" b="0" strike="noStrike" spc="-1">
                <a:solidFill>
                  <a:srgbClr val="000000"/>
                </a:solidFill>
                <a:latin typeface="Arial"/>
              </a:rPr>
              <a:t>- Activity 5: Inband + active with Up Interval — faster recovery detection</a:t>
            </a:r>
          </a:p>
          <a:p>
            <a:pPr marL="216000" indent="-216000">
              <a:buNone/>
            </a:pPr>
            <a:endParaRPr lang="en-US"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F5 DOCUMENTATION: K2167, K12531, K2282, K45753464</a:t>
            </a:r>
          </a:p>
        </p:txBody>
      </p:sp>
      <p:sp>
        <p:nvSpPr>
          <p:cNvPr id="2604" name="PlaceHolder 3"/>
          <p:cNvSpPr>
            <a:spLocks noGrp="1"/>
          </p:cNvSpPr>
          <p:nvPr>
            <p:ph type="sldNum" idx="47"/>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1499F18D-F5D4-4D1A-8848-5B3BC7B5E418}" type="slidenum">
              <a:rPr lang="en-US" sz="1800" b="0" strike="noStrike" spc="-1">
                <a:solidFill>
                  <a:schemeClr val="dk1"/>
                </a:solidFill>
                <a:latin typeface="+mn-lt"/>
                <a:ea typeface="+mn-ea"/>
              </a:rPr>
              <a:t>44</a:t>
            </a:fld>
            <a:endParaRPr lang="en-US" sz="1800" b="0" strike="noStrike" spc="-1">
              <a:solidFill>
                <a:srgbClr val="000000"/>
              </a:solidFill>
              <a:latin typeface="Times New Roman"/>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5" name="PlaceHolder 1"/>
          <p:cNvSpPr>
            <a:spLocks noGrp="1" noRot="1" noChangeAspect="1"/>
          </p:cNvSpPr>
          <p:nvPr>
            <p:ph type="sldImg"/>
          </p:nvPr>
        </p:nvSpPr>
        <p:spPr>
          <a:xfrm>
            <a:off x="0" y="0"/>
            <a:ext cx="0" cy="0"/>
          </a:xfrm>
          <a:prstGeom prst="rect">
            <a:avLst/>
          </a:prstGeom>
          <a:ln w="0">
            <a:noFill/>
          </a:ln>
        </p:spPr>
      </p:sp>
      <p:sp>
        <p:nvSpPr>
          <p:cNvPr id="2606"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Four checkpoint questions covering timing, send string format, inband monitoring, and In-TMM.</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Q1 ANSWER: 16÷10 = 1.6 → 1 failed check. This is a BAD configuration — a single slow response marks the member DOWN. Should be timeout=31 for 3 failures (formula: (10×3)+1=31).</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Q2 ANSWER: Missing \r\n\r\n at the end of the send string. Without the empty line that terminates HTTP headers, the server waits for more data. The monitor times out because the server never sends a response. Fix: "GET /health HTTP/1.0\r\n\r\n"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Q3 ANSWER: Inband monitor. It watches actual client traffic for failures instead of sending synthetic health checks. If the server fails only under load (resource exhaustion, thread pool depletion), the active monitor's lightweight check passes while real requests fail. Combine inband with an active monitor + Up Interval for faster recovery.</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Q4 ANSWER: Enable In-TMM monitoring on the health monitor. By default, monitors run from the BIG-IP host OS, which has its own routing table. If pool members are only reachable via TMM data plane routing (VLANs, route domains, tunnels), the host OS can't reach them. In-TMM monitoring runs the monitor check inside the TMM process, using TMM's routing table. TMSH: modify ltm monitor http [name] in-tmm enabled. Reference: K45753464.</a:t>
            </a:r>
          </a:p>
          <a:p>
            <a:pPr marL="216000" indent="-216000">
              <a:buNone/>
            </a:pPr>
            <a:endParaRPr lang="en-US"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F5 DOCUMENTATION: K2167, K12531, K45753464, K2282</a:t>
            </a:r>
          </a:p>
        </p:txBody>
      </p:sp>
      <p:sp>
        <p:nvSpPr>
          <p:cNvPr id="2607" name="PlaceHolder 3"/>
          <p:cNvSpPr>
            <a:spLocks noGrp="1"/>
          </p:cNvSpPr>
          <p:nvPr>
            <p:ph type="sldNum" idx="48"/>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B81592F2-86F8-49EF-B0B6-4A4E01FB10C4}" type="slidenum">
              <a:rPr lang="en-US" sz="1800" b="0" strike="noStrike" spc="-1">
                <a:solidFill>
                  <a:schemeClr val="dk1"/>
                </a:solidFill>
                <a:latin typeface="+mn-lt"/>
                <a:ea typeface="+mn-ea"/>
              </a:rPr>
              <a:t>45</a:t>
            </a:fld>
            <a:endParaRPr lang="en-US" sz="1800" b="0" strike="noStrike" spc="-1">
              <a:solidFill>
                <a:srgbClr val="000000"/>
              </a:solidFill>
              <a:latin typeface="Times New Roman"/>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8" name="PlaceHolder 1"/>
          <p:cNvSpPr>
            <a:spLocks noGrp="1" noRot="1" noChangeAspect="1"/>
          </p:cNvSpPr>
          <p:nvPr>
            <p:ph type="sldImg"/>
          </p:nvPr>
        </p:nvSpPr>
        <p:spPr>
          <a:xfrm>
            <a:off x="0" y="0"/>
            <a:ext cx="0" cy="0"/>
          </a:xfrm>
          <a:prstGeom prst="rect">
            <a:avLst/>
          </a:prstGeom>
          <a:ln w="0">
            <a:noFill/>
          </a:ln>
        </p:spPr>
      </p:sp>
      <p:sp>
        <p:nvSpPr>
          <p:cNvPr id="2609"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Final checkpoint questions testing status icon interpretation and disabled vs offline diagnosis.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Q5 ANSWER: YES, it IS receiving traffic. Blue square = unchecked (no monitor assigned). The BIG-IP treats unmonitored members as available and sends traffic to them. This is dangerous — if the application crashes, the BIG-IP continues sending traffic. Assign an appropriate health monitor (HTTP for web apps, TCP for other services).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Q6 ANSWER: The colleague is WRONG. The tcpdump shows SYN in, NO response — this is the signature of a DISABLED state (admin action), not OFFLINE. If the VS were OFFLINE (monitor failure), tcpdump would show SYN in, RST out. The silent drop (no response) indicates an administrator has disabled the object. Check: show ltm virtual [name] — look for "State: disabled" vs "Availability: offline".</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F5 DOCUMENTATION</a:t>
            </a:r>
          </a:p>
          <a:p>
            <a:pPr marL="216000" indent="-216000">
              <a:buNone/>
            </a:pPr>
            <a:r>
              <a:rPr lang="en-US" sz="2000" b="0" strike="noStrike" spc="-1">
                <a:solidFill>
                  <a:srgbClr val="000000"/>
                </a:solidFill>
                <a:latin typeface="Arial"/>
              </a:rPr>
              <a:t>- Status icons: https://my.f5.com/manage/s/article/K13132</a:t>
            </a:r>
          </a:p>
          <a:p>
            <a:pPr marL="216000" indent="-216000">
              <a:buNone/>
            </a:pPr>
            <a:r>
              <a:rPr lang="en-US" sz="2000" b="0" strike="noStrike" spc="-1">
                <a:solidFill>
                  <a:srgbClr val="000000"/>
                </a:solidFill>
                <a:latin typeface="Arial"/>
              </a:rPr>
              <a:t>- Monitor overview: https://my.f5.com/manage/s/article/K12531</a:t>
            </a:r>
          </a:p>
          <a:p>
            <a:pPr marL="216000" indent="0">
              <a:lnSpc>
                <a:spcPct val="100000"/>
              </a:lnSpc>
              <a:buNone/>
            </a:pPr>
            <a:r>
              <a:rPr lang="en-US" sz="2000" b="0" strike="noStrike" spc="-1">
                <a:solidFill>
                  <a:srgbClr val="000000"/>
                </a:solidFill>
                <a:latin typeface="Arial"/>
              </a:rPr>
              <a:t>- In-TMM: https://my.f5.com/manage/s/article/K45753464</a:t>
            </a:r>
          </a:p>
        </p:txBody>
      </p:sp>
      <p:sp>
        <p:nvSpPr>
          <p:cNvPr id="2610" name="PlaceHolder 3"/>
          <p:cNvSpPr>
            <a:spLocks noGrp="1"/>
          </p:cNvSpPr>
          <p:nvPr>
            <p:ph type="sldNum" idx="49"/>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943CA2ED-F2D1-4610-B4AA-70C9C6958610}" type="slidenum">
              <a:rPr lang="en-US" sz="1800" b="0" strike="noStrike" spc="-1">
                <a:solidFill>
                  <a:schemeClr val="dk1"/>
                </a:solidFill>
                <a:latin typeface="+mn-lt"/>
                <a:ea typeface="+mn-ea"/>
              </a:rPr>
              <a:t>46</a:t>
            </a:fld>
            <a:endParaRPr lang="en-US" sz="1800" b="0" strike="noStrike" spc="-1">
              <a:solidFill>
                <a:srgbClr val="000000"/>
              </a:solidFill>
              <a:latin typeface="Times New Roman"/>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 name="PlaceHolder 1"/>
          <p:cNvSpPr>
            <a:spLocks noGrp="1" noRot="1" noChangeAspect="1"/>
          </p:cNvSpPr>
          <p:nvPr>
            <p:ph type="sldImg"/>
          </p:nvPr>
        </p:nvSpPr>
        <p:spPr>
          <a:xfrm>
            <a:off x="0" y="0"/>
            <a:ext cx="0" cy="0"/>
          </a:xfrm>
          <a:prstGeom prst="rect">
            <a:avLst/>
          </a:prstGeom>
          <a:ln w="0">
            <a:noFill/>
          </a:ln>
        </p:spPr>
      </p:sp>
      <p:sp>
        <p:nvSpPr>
          <p:cNvPr id="2612"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Section opener for Lab 5: SSL. Maps to exam F5CTSLTM6-B (three A/E objectives + one U/A). The expanded version now includes a full TLS negotiation walkthrough and replaces the legacy ssldump tool with the modern tcpdump --f5 ssl provider for decrypted packet capture.</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FULL TECHNICAL EXPLANATION</a:t>
            </a:r>
          </a:p>
          <a:p>
            <a:pPr marL="216000" indent="-216000">
              <a:buNone/>
            </a:pPr>
            <a:r>
              <a:rPr lang="en-US" sz="2000" b="0" strike="noStrike" spc="-1">
                <a:solidFill>
                  <a:srgbClr val="000000"/>
                </a:solidFill>
                <a:latin typeface="Arial"/>
              </a:rPr>
              <a:t>This lab teaches the complete SSL workflow on the BIG-IP: certificate management, SSL profile configuration, and TLS troubleshooting. The concept slides go deeper than the lab exercises, covering the full TLS 1.2 negotiation step-by-step and the F5 SSL provider for tcpdump that captures decrypted application data alongside encrypted traffic.</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301a OBJECTIVES: 1.11–1.12</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F5 DOCUMENTATION</a:t>
            </a:r>
          </a:p>
          <a:p>
            <a:pPr marL="216000" indent="-216000">
              <a:buNone/>
            </a:pPr>
            <a:r>
              <a:rPr lang="en-US" sz="2000" b="0" strike="noStrike" spc="-1">
                <a:solidFill>
                  <a:srgbClr val="000000"/>
                </a:solidFill>
                <a:latin typeface="Arial"/>
              </a:rPr>
              <a:t>- Client-SSL: https://my.f5.com/manage/s/article/K14783</a:t>
            </a:r>
          </a:p>
          <a:p>
            <a:pPr marL="216000" indent="-216000">
              <a:buNone/>
            </a:pPr>
            <a:r>
              <a:rPr lang="en-US" sz="2000" b="0" strike="noStrike" spc="-1">
                <a:solidFill>
                  <a:srgbClr val="000000"/>
                </a:solidFill>
                <a:latin typeface="Arial"/>
              </a:rPr>
              <a:t>- Server-SSL: https://my.f5.com/manage/s/article/K14806</a:t>
            </a:r>
          </a:p>
          <a:p>
            <a:pPr marL="216000" indent="-216000">
              <a:buNone/>
            </a:pPr>
            <a:r>
              <a:rPr lang="en-US" sz="2000" b="0" strike="noStrike" spc="-1">
                <a:solidFill>
                  <a:srgbClr val="000000"/>
                </a:solidFill>
                <a:latin typeface="Arial"/>
              </a:rPr>
              <a:t>- tcpdump SSL provider: https://my.f5.com/manage/s/article/K50557518</a:t>
            </a:r>
          </a:p>
          <a:p>
            <a:pPr marL="216000" indent="0">
              <a:lnSpc>
                <a:spcPct val="100000"/>
              </a:lnSpc>
              <a:buNone/>
            </a:pPr>
            <a:r>
              <a:rPr lang="en-US" sz="2000" b="0" strike="noStrike" spc="-1">
                <a:solidFill>
                  <a:srgbClr val="000000"/>
                </a:solidFill>
                <a:latin typeface="Arial"/>
              </a:rPr>
              <a:t>- Cipher suites: https://my.f5.com/manage/s/article/K15194</a:t>
            </a:r>
          </a:p>
        </p:txBody>
      </p:sp>
      <p:sp>
        <p:nvSpPr>
          <p:cNvPr id="2613" name="PlaceHolder 3"/>
          <p:cNvSpPr>
            <a:spLocks noGrp="1"/>
          </p:cNvSpPr>
          <p:nvPr>
            <p:ph type="sldNum" idx="50"/>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CCCFB411-8996-4549-875A-088BC848240E}" type="slidenum">
              <a:rPr lang="en-US" sz="1800" b="0" strike="noStrike" spc="-1">
                <a:solidFill>
                  <a:schemeClr val="dk1"/>
                </a:solidFill>
                <a:latin typeface="+mn-lt"/>
                <a:ea typeface="+mn-ea"/>
              </a:rPr>
              <a:t>47</a:t>
            </a:fld>
            <a:endParaRPr lang="en-US" sz="1800" b="0" strike="noStrike" spc="-1">
              <a:solidFill>
                <a:srgbClr val="000000"/>
              </a:solidFill>
              <a:latin typeface="Times New Roman"/>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4" name="PlaceHolder 1"/>
          <p:cNvSpPr>
            <a:spLocks noGrp="1" noRot="1" noChangeAspect="1"/>
          </p:cNvSpPr>
          <p:nvPr>
            <p:ph type="sldImg"/>
          </p:nvPr>
        </p:nvSpPr>
        <p:spPr>
          <a:xfrm>
            <a:off x="0" y="0"/>
            <a:ext cx="0" cy="0"/>
          </a:xfrm>
          <a:prstGeom prst="rect">
            <a:avLst/>
          </a:prstGeom>
          <a:ln w="0">
            <a:noFill/>
          </a:ln>
        </p:spPr>
      </p:sp>
      <p:sp>
        <p:nvSpPr>
          <p:cNvPr id="2615"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Covers the complete SSL certificate lifecycle on the BIG-IP (301a 1.12). See Lab 5 v1 slide 2 notes for the full standalone documentation including CSR process, import order, and zero-downtime renewal.</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KEY POINTS: Import KEY first then cert. Click "Add" in Certificate Key Chain. Self-signed triggers browser warning but still encrypts. CA-signed requires CSR workflow. Replace cert in profile for zero-downtime renewal.</a:t>
            </a:r>
          </a:p>
          <a:p>
            <a:pPr marL="216000" indent="-216000">
              <a:buNone/>
            </a:pPr>
            <a:endParaRPr lang="en-US"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F5 DOCUMENTATION: K14620 (cert management), K13838 (CSR), K15564 (cert/key validation)</a:t>
            </a:r>
          </a:p>
        </p:txBody>
      </p:sp>
      <p:sp>
        <p:nvSpPr>
          <p:cNvPr id="2616" name="PlaceHolder 3"/>
          <p:cNvSpPr>
            <a:spLocks noGrp="1"/>
          </p:cNvSpPr>
          <p:nvPr>
            <p:ph type="sldNum" idx="51"/>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89D15D60-2ECF-491A-AC72-641C985B7526}" type="slidenum">
              <a:rPr lang="en-US" sz="1800" b="0" strike="noStrike" spc="-1">
                <a:solidFill>
                  <a:schemeClr val="dk1"/>
                </a:solidFill>
                <a:latin typeface="+mn-lt"/>
                <a:ea typeface="+mn-ea"/>
              </a:rPr>
              <a:t>48</a:t>
            </a:fld>
            <a:endParaRPr lang="en-US" sz="1800" b="0" strike="noStrike" spc="-1">
              <a:solidFill>
                <a:srgbClr val="000000"/>
              </a:solidFill>
              <a:latin typeface="Times New Roman"/>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7" name="PlaceHolder 1"/>
          <p:cNvSpPr>
            <a:spLocks noGrp="1" noRot="1" noChangeAspect="1"/>
          </p:cNvSpPr>
          <p:nvPr>
            <p:ph type="sldImg"/>
          </p:nvPr>
        </p:nvSpPr>
        <p:spPr>
          <a:xfrm>
            <a:off x="0" y="0"/>
            <a:ext cx="0" cy="0"/>
          </a:xfrm>
          <a:prstGeom prst="rect">
            <a:avLst/>
          </a:prstGeom>
          <a:ln w="0">
            <a:noFill/>
          </a:ln>
        </p:spPr>
      </p:sp>
      <p:sp>
        <p:nvSpPr>
          <p:cNvPr id="2618"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SSL profile settings reference from F5 operations guide Table 5.5. See Lab 5 v1 slide 3 notes for complete standalone documentation including cipher string syntax, mTLS, Server Authentication implications, and SNI configuration.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KEY EXAM POINTS: Chain cert = intermediate CA for trust chain (Client-SSL only). Server Auth disabled by default = BIG-IP accepts any backend cert. Cipher string tested with tmm --clientciphers. SNI allows multiple certs per VIP.</a:t>
            </a:r>
          </a:p>
          <a:p>
            <a:pPr marL="216000" indent="-216000">
              <a:buNone/>
            </a:pPr>
            <a:endParaRPr lang="en-US"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F5 DOCUMENTATION: K14783 (Client-SSL), K14806 (Server-SSL), K15194 (ciphers), K13452 (SNI)</a:t>
            </a:r>
          </a:p>
        </p:txBody>
      </p:sp>
      <p:sp>
        <p:nvSpPr>
          <p:cNvPr id="2619" name="PlaceHolder 3"/>
          <p:cNvSpPr>
            <a:spLocks noGrp="1"/>
          </p:cNvSpPr>
          <p:nvPr>
            <p:ph type="sldNum" idx="52"/>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0C29D35A-00E3-4FA4-A73F-6C9C010B4279}" type="slidenum">
              <a:rPr lang="en-US" sz="1800" b="0" strike="noStrike" spc="-1">
                <a:solidFill>
                  <a:schemeClr val="dk1"/>
                </a:solidFill>
                <a:latin typeface="+mn-lt"/>
                <a:ea typeface="+mn-ea"/>
              </a:rPr>
              <a:t>49</a:t>
            </a:fld>
            <a:endParaRPr lang="en-US" sz="1800" b="0" strike="noStrike" spc="-1">
              <a:solidFill>
                <a:srgbClr val="000000"/>
              </a:solidFill>
              <a:latin typeface="Times New Roman"/>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0" name="PlaceHolder 1"/>
          <p:cNvSpPr>
            <a:spLocks noGrp="1" noRot="1" noChangeAspect="1"/>
          </p:cNvSpPr>
          <p:nvPr>
            <p:ph type="sldImg"/>
          </p:nvPr>
        </p:nvSpPr>
        <p:spPr>
          <a:xfrm>
            <a:off x="0" y="0"/>
            <a:ext cx="0" cy="0"/>
          </a:xfrm>
          <a:prstGeom prst="rect">
            <a:avLst/>
          </a:prstGeom>
          <a:ln w="0">
            <a:noFill/>
          </a:ln>
        </p:spPr>
      </p:sp>
      <p:sp>
        <p:nvSpPr>
          <p:cNvPr id="2621"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This slide walks through the complete TLS 1.2 handshake message-by-message. Students must understand this flow to diagnose failures in packet captures, which is the core skill tested in F5CTSLTM6-B (objectives 6.01, 6.02, 6.03). Every handshake failure maps to a specific point in this sequence.</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FULL TECHNICAL EXPLANATION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MESSAGE 1: ClientHello (Client → BIG-IP)</a:t>
            </a:r>
          </a:p>
          <a:p>
            <a:pPr marL="216000" indent="-216000">
              <a:buNone/>
            </a:pPr>
            <a:r>
              <a:rPr lang="en-US" sz="2000" b="0" strike="noStrike" spc="-1">
                <a:solidFill>
                  <a:srgbClr val="000000"/>
                </a:solidFill>
                <a:latin typeface="Arial"/>
              </a:rPr>
              <a:t>The client initiates the TLS connection by sending:</a:t>
            </a:r>
          </a:p>
          <a:p>
            <a:pPr marL="216000" indent="-216000">
              <a:buNone/>
            </a:pPr>
            <a:r>
              <a:rPr lang="en-US" sz="2000" b="0" strike="noStrike" spc="-1">
                <a:solidFill>
                  <a:srgbClr val="000000"/>
                </a:solidFill>
                <a:latin typeface="Arial"/>
              </a:rPr>
              <a:t>- Supported TLS versions: e.g., TLS 1.0, 1.1, 1.2 (listed from highest to lowest preference)</a:t>
            </a:r>
          </a:p>
          <a:p>
            <a:pPr marL="216000" indent="-216000">
              <a:buNone/>
            </a:pPr>
            <a:r>
              <a:rPr lang="en-US" sz="2000" b="0" strike="noStrike" spc="-1">
                <a:solidFill>
                  <a:srgbClr val="000000"/>
                </a:solidFill>
                <a:latin typeface="Arial"/>
              </a:rPr>
              <a:t>- Cipher suites: Ordered list of algorithms the client supports (e.g., TLS_ECDHE_RSA_WITH_AES_256_GCM_SHA384)</a:t>
            </a:r>
          </a:p>
          <a:p>
            <a:pPr marL="216000" indent="-216000">
              <a:buNone/>
            </a:pPr>
            <a:r>
              <a:rPr lang="en-US" sz="2000" b="0" strike="noStrike" spc="-1">
                <a:solidFill>
                  <a:srgbClr val="000000"/>
                </a:solidFill>
                <a:latin typeface="Arial"/>
              </a:rPr>
              <a:t>- SNI extension: The hostname the client wants to connect to (e.g., www.example.com). This allows the BIG-IP to select the correct certificate when multiple sites share one VIP.</a:t>
            </a:r>
          </a:p>
          <a:p>
            <a:pPr marL="216000" indent="-216000">
              <a:buNone/>
            </a:pPr>
            <a:r>
              <a:rPr lang="en-US" sz="2000" b="0" strike="noStrike" spc="-1">
                <a:solidFill>
                  <a:srgbClr val="000000"/>
                </a:solidFill>
                <a:latin typeface="Arial"/>
              </a:rPr>
              <a:t>- Client random: 32 bytes of random data used for key derivation</a:t>
            </a:r>
          </a:p>
          <a:p>
            <a:pPr marL="216000" indent="-216000">
              <a:buNone/>
            </a:pPr>
            <a:r>
              <a:rPr lang="en-US" sz="2000" b="0" strike="noStrike" spc="-1">
                <a:solidFill>
                  <a:srgbClr val="000000"/>
                </a:solidFill>
                <a:latin typeface="Arial"/>
              </a:rPr>
              <a:t>- Session ID: For session resumption (empty on first connection)</a:t>
            </a:r>
          </a:p>
          <a:p>
            <a:pPr marL="216000" indent="-216000">
              <a:buNone/>
            </a:pPr>
            <a:r>
              <a:rPr lang="en-US" sz="2000" b="0" strike="noStrike" spc="-1">
                <a:solidFill>
                  <a:srgbClr val="000000"/>
                </a:solidFill>
                <a:latin typeface="Arial"/>
              </a:rPr>
              <a:t>- Compression methods: Usually just "null" (TLS compression is deprecated)</a:t>
            </a:r>
          </a:p>
          <a:p>
            <a:pPr marL="216000" indent="-216000">
              <a:buNone/>
            </a:pPr>
            <a:r>
              <a:rPr lang="en-US" sz="2000" b="0" strike="noStrike" spc="-1">
                <a:solidFill>
                  <a:srgbClr val="000000"/>
                </a:solidFill>
                <a:latin typeface="Arial"/>
              </a:rPr>
              <a:t>- Extensions: ALPN (Application-Layer Protocol Negotiation — used for HTTP/2), supported groups (for ECDHE curves), signature algorithms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WIRESHARK FILTER: tls.handshake.type == 1</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WHAT TO CHECK IN ClientHello:</a:t>
            </a:r>
          </a:p>
          <a:p>
            <a:pPr marL="216000" indent="-216000">
              <a:buNone/>
            </a:pPr>
            <a:r>
              <a:rPr lang="en-US" sz="2000" b="0" strike="noStrike" spc="-1">
                <a:solidFill>
                  <a:srgbClr val="000000"/>
                </a:solidFill>
                <a:latin typeface="Arial"/>
              </a:rPr>
              <a:t>- Which TLS versions does the client offer? If it only offers TLS 1.0 and the BIG-IP has it disabled → handshake fails</a:t>
            </a:r>
          </a:p>
          <a:p>
            <a:pPr marL="216000" indent="-216000">
              <a:buNone/>
            </a:pPr>
            <a:r>
              <a:rPr lang="en-US" sz="2000" b="0" strike="noStrike" spc="-1">
                <a:solidFill>
                  <a:srgbClr val="000000"/>
                </a:solidFill>
                <a:latin typeface="Arial"/>
              </a:rPr>
              <a:t>- Which cipher suites? If none overlap with the BIG-IP's cipher string → "no shared cipher" error</a:t>
            </a:r>
          </a:p>
          <a:p>
            <a:pPr marL="216000" indent="-216000">
              <a:buNone/>
            </a:pPr>
            <a:r>
              <a:rPr lang="en-US" sz="2000" b="0" strike="noStrike" spc="-1">
                <a:solidFill>
                  <a:srgbClr val="000000"/>
                </a:solidFill>
                <a:latin typeface="Arial"/>
              </a:rPr>
              <a:t>- Is SNI present? If the BIG-IP uses SNI-based certificate selection and the client doesn't send SNI → wrong cert presented</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MESSAGE 2: ServerHello (BIG-IP → Client)</a:t>
            </a:r>
          </a:p>
          <a:p>
            <a:pPr marL="216000" indent="-216000">
              <a:buNone/>
            </a:pPr>
            <a:r>
              <a:rPr lang="en-US" sz="2000" b="0" strike="noStrike" spc="-1">
                <a:solidFill>
                  <a:srgbClr val="000000"/>
                </a:solidFill>
                <a:latin typeface="Arial"/>
              </a:rPr>
              <a:t>The BIG-IP selects from the client's offerings:</a:t>
            </a:r>
          </a:p>
          <a:p>
            <a:pPr marL="216000" indent="-216000">
              <a:buNone/>
            </a:pPr>
            <a:r>
              <a:rPr lang="en-US" sz="2000" b="0" strike="noStrike" spc="-1">
                <a:solidFill>
                  <a:srgbClr val="000000"/>
                </a:solidFill>
                <a:latin typeface="Arial"/>
              </a:rPr>
              <a:t>- Chosen TLS version: The highest version both sides support</a:t>
            </a:r>
          </a:p>
          <a:p>
            <a:pPr marL="216000" indent="-216000">
              <a:buNone/>
            </a:pPr>
            <a:r>
              <a:rPr lang="en-US" sz="2000" b="0" strike="noStrike" spc="-1">
                <a:solidFill>
                  <a:srgbClr val="000000"/>
                </a:solidFill>
                <a:latin typeface="Arial"/>
              </a:rPr>
              <a:t>- Chosen cipher suite: The BIG-IP's preferred cipher from the client's list (server preference by default)</a:t>
            </a:r>
          </a:p>
          <a:p>
            <a:pPr marL="216000" indent="-216000">
              <a:buNone/>
            </a:pPr>
            <a:r>
              <a:rPr lang="en-US" sz="2000" b="0" strike="noStrike" spc="-1">
                <a:solidFill>
                  <a:srgbClr val="000000"/>
                </a:solidFill>
                <a:latin typeface="Arial"/>
              </a:rPr>
              <a:t>- Server random: 32 bytes of random data</a:t>
            </a:r>
          </a:p>
          <a:p>
            <a:pPr marL="216000" indent="-216000">
              <a:buNone/>
            </a:pPr>
            <a:r>
              <a:rPr lang="en-US" sz="2000" b="0" strike="noStrike" spc="-1">
                <a:solidFill>
                  <a:srgbClr val="000000"/>
                </a:solidFill>
                <a:latin typeface="Arial"/>
              </a:rPr>
              <a:t>- Session ID: For session resumption or a new session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WIRESHARK FILTER: tls.handshake.type == 2</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IF NO ServerHello IS SENT: The BIG-IP couldn't find any acceptable combination of TLS version + cipher suite. It sends a fatal "handshake_failure" alert instead, which terminates the connection.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MESSAGE 3: Certificate (BIG-IP → Client)</a:t>
            </a:r>
          </a:p>
          <a:p>
            <a:pPr marL="216000" indent="-216000">
              <a:buNone/>
            </a:pPr>
            <a:r>
              <a:rPr lang="en-US" sz="2000" b="0" strike="noStrike" spc="-1">
                <a:solidFill>
                  <a:srgbClr val="000000"/>
                </a:solidFill>
                <a:latin typeface="Arial"/>
              </a:rPr>
              <a:t>The BIG-IP sends its server certificate (from the Client-SSL profile's Certificate Key Chain):</a:t>
            </a:r>
          </a:p>
          <a:p>
            <a:pPr marL="216000" indent="-216000">
              <a:buNone/>
            </a:pPr>
            <a:r>
              <a:rPr lang="en-US" sz="2000" b="0" strike="noStrike" spc="-1">
                <a:solidFill>
                  <a:srgbClr val="000000"/>
                </a:solidFill>
                <a:latin typeface="Arial"/>
              </a:rPr>
              <a:t>- The certificate itself (contains the public key, CN, SAN, validity dates)</a:t>
            </a:r>
          </a:p>
          <a:p>
            <a:pPr marL="216000" indent="-216000">
              <a:buNone/>
            </a:pPr>
            <a:r>
              <a:rPr lang="en-US" sz="2000" b="0" strike="noStrike" spc="-1">
                <a:solidFill>
                  <a:srgbClr val="000000"/>
                </a:solidFill>
                <a:latin typeface="Arial"/>
              </a:rPr>
              <a:t>- Chain certificates (intermediate CA certs that bridge to the root CA)</a:t>
            </a:r>
          </a:p>
          <a:p>
            <a:pPr marL="216000" indent="-216000">
              <a:buNone/>
            </a:pPr>
            <a:r>
              <a:rPr lang="en-US" sz="2000" b="0" strike="noStrike" spc="-1">
                <a:solidFill>
                  <a:srgbClr val="000000"/>
                </a:solidFill>
                <a:latin typeface="Arial"/>
              </a:rPr>
              <a:t>- The client validates the certificate: checks the issuer chain, expiration, CN/SAN match, revocation status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COMMON FAILURES AT THIS POINT:</a:t>
            </a:r>
          </a:p>
          <a:p>
            <a:pPr marL="216000" indent="-216000">
              <a:buNone/>
            </a:pPr>
            <a:r>
              <a:rPr lang="en-US" sz="2000" b="0" strike="noStrike" spc="-1">
                <a:solidFill>
                  <a:srgbClr val="000000"/>
                </a:solidFill>
                <a:latin typeface="Arial"/>
              </a:rPr>
              <a:t>- Certificate CN doesn't match the requested hostname → ERR_CERT_COMMON_NAME_INVALID</a:t>
            </a:r>
          </a:p>
          <a:p>
            <a:pPr marL="216000" indent="-216000">
              <a:buNone/>
            </a:pPr>
            <a:r>
              <a:rPr lang="en-US" sz="2000" b="0" strike="noStrike" spc="-1">
                <a:solidFill>
                  <a:srgbClr val="000000"/>
                </a:solidFill>
                <a:latin typeface="Arial"/>
              </a:rPr>
              <a:t>- Certificate is expired → ERR_CERT_DATE_INVALID</a:t>
            </a:r>
          </a:p>
          <a:p>
            <a:pPr marL="216000" indent="-216000">
              <a:buNone/>
            </a:pPr>
            <a:r>
              <a:rPr lang="en-US" sz="2000" b="0" strike="noStrike" spc="-1">
                <a:solidFill>
                  <a:srgbClr val="000000"/>
                </a:solidFill>
                <a:latin typeface="Arial"/>
              </a:rPr>
              <a:t>- Missing chain certificate → ERR_CERT_AUTHORITY_INVALID (client can't verify the issuer)</a:t>
            </a:r>
          </a:p>
          <a:p>
            <a:pPr marL="216000" indent="-216000">
              <a:buNone/>
            </a:pPr>
            <a:r>
              <a:rPr lang="en-US" sz="2000" b="0" strike="noStrike" spc="-1">
                <a:solidFill>
                  <a:srgbClr val="000000"/>
                </a:solidFill>
                <a:latin typeface="Arial"/>
              </a:rPr>
              <a:t>- Self-signed certificate → ERR_CERT_AUTHORITY_INVALID (no trusted root)</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MESSAGE 4: ServerKeyExchange (BIG-IP → Client)</a:t>
            </a:r>
          </a:p>
          <a:p>
            <a:pPr marL="216000" indent="-216000">
              <a:buNone/>
            </a:pPr>
            <a:r>
              <a:rPr lang="en-US" sz="2000" b="0" strike="noStrike" spc="-1">
                <a:solidFill>
                  <a:srgbClr val="000000"/>
                </a:solidFill>
                <a:latin typeface="Arial"/>
              </a:rPr>
              <a:t>Only sent for DHE and ECDHE key exchanges (Perfect Forward Secrecy). Contains the server's DH/ECDHE parameters.</a:t>
            </a:r>
          </a:p>
          <a:p>
            <a:pPr marL="216000" indent="-216000">
              <a:buNone/>
            </a:pPr>
            <a:r>
              <a:rPr lang="en-US" sz="2000" b="0" strike="noStrike" spc="-1">
                <a:solidFill>
                  <a:srgbClr val="000000"/>
                </a:solidFill>
                <a:latin typeface="Arial"/>
              </a:rPr>
              <a:t>NOT sent for RSA key exchange — the client encrypts the pre-master secret directly with the server's RSA public key from the certificate.</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WHY THIS MATTERS: ECDHE provides PFS — even if the private key is compromised later, past sessions can't be decrypted. RSA key exchange does NOT have this property.</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MESSAGE 5: CertificateRequest (BIG-IP → Client) — OPTIONAL</a:t>
            </a:r>
          </a:p>
          <a:p>
            <a:pPr marL="216000" indent="-216000">
              <a:buNone/>
            </a:pPr>
            <a:r>
              <a:rPr lang="en-US" sz="2000" b="0" strike="noStrike" spc="-1">
                <a:solidFill>
                  <a:srgbClr val="000000"/>
                </a:solidFill>
                <a:latin typeface="Arial"/>
              </a:rPr>
              <a:t>Only sent if mutual TLS (Client Authentication) is enabled in the Client-SSL profile. The BIG-IP requests a certificate from the client and specifies:</a:t>
            </a:r>
          </a:p>
          <a:p>
            <a:pPr marL="216000" indent="-216000">
              <a:buNone/>
            </a:pPr>
            <a:r>
              <a:rPr lang="en-US" sz="2000" b="0" strike="noStrike" spc="-1">
                <a:solidFill>
                  <a:srgbClr val="000000"/>
                </a:solidFill>
                <a:latin typeface="Arial"/>
              </a:rPr>
              <a:t>- Acceptable certificate types</a:t>
            </a:r>
          </a:p>
          <a:p>
            <a:pPr marL="216000" indent="-216000">
              <a:buNone/>
            </a:pPr>
            <a:r>
              <a:rPr lang="en-US" sz="2000" b="0" strike="noStrike" spc="-1">
                <a:solidFill>
                  <a:srgbClr val="000000"/>
                </a:solidFill>
                <a:latin typeface="Arial"/>
              </a:rPr>
              <a:t>- Acceptable certificate authorities (CAs the client cert must be signed by)</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If the client doesn't have a valid certificate → handshake fails with "certificate_required" or "bad_certificate" alert.</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MESSAGE 6: ServerHelloDone (BIG-IP → Client)</a:t>
            </a:r>
          </a:p>
          <a:p>
            <a:pPr marL="216000" indent="-216000">
              <a:buNone/>
            </a:pPr>
            <a:r>
              <a:rPr lang="en-US" sz="2000" b="0" strike="noStrike" spc="-1">
                <a:solidFill>
                  <a:srgbClr val="000000"/>
                </a:solidFill>
                <a:latin typeface="Arial"/>
              </a:rPr>
              <a:t>A simple message indicating the BIG-IP has finished sending its hello messages. The client can now respond.</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MESSAGE 7: ClientKeyExchange (Client → BIG-IP)</a:t>
            </a:r>
          </a:p>
          <a:p>
            <a:pPr marL="216000" indent="-216000">
              <a:buNone/>
            </a:pPr>
            <a:r>
              <a:rPr lang="en-US" sz="2000" b="0" strike="noStrike" spc="-1">
                <a:solidFill>
                  <a:srgbClr val="000000"/>
                </a:solidFill>
                <a:latin typeface="Arial"/>
              </a:rPr>
              <a:t>The client sends its key exchange data:</a:t>
            </a:r>
          </a:p>
          <a:p>
            <a:pPr marL="216000" indent="-216000">
              <a:buNone/>
            </a:pPr>
            <a:r>
              <a:rPr lang="en-US" sz="2000" b="0" strike="noStrike" spc="-1">
                <a:solidFill>
                  <a:srgbClr val="000000"/>
                </a:solidFill>
                <a:latin typeface="Arial"/>
              </a:rPr>
              <a:t>- For RSA: A pre-master secret encrypted with the server's public key. Only the server (with its private key) can decrypt it.</a:t>
            </a:r>
          </a:p>
          <a:p>
            <a:pPr marL="216000" indent="-216000">
              <a:buNone/>
            </a:pPr>
            <a:r>
              <a:rPr lang="en-US" sz="2000" b="0" strike="noStrike" spc="-1">
                <a:solidFill>
                  <a:srgbClr val="000000"/>
                </a:solidFill>
                <a:latin typeface="Arial"/>
              </a:rPr>
              <a:t>- For ECDHE: The client's DH public value. Combined with the server's DH parameters, both sides can compute the same shared secret.</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If the certificate and key in the Client-SSL profile DON'T MATCH → the BIG-IP can't decrypt the pre-master secret → handshake fails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MESSAGE 8: ChangeCipherSpec + Finished (Both)</a:t>
            </a:r>
          </a:p>
          <a:p>
            <a:pPr marL="216000" indent="-216000">
              <a:buNone/>
            </a:pPr>
            <a:r>
              <a:rPr lang="en-US" sz="2000" b="0" strike="noStrike" spc="-1">
                <a:solidFill>
                  <a:srgbClr val="000000"/>
                </a:solidFill>
                <a:latin typeface="Arial"/>
              </a:rPr>
              <a:t>Both sides:</a:t>
            </a:r>
          </a:p>
          <a:p>
            <a:pPr marL="216000" indent="-216000">
              <a:buNone/>
            </a:pPr>
            <a:r>
              <a:rPr lang="en-US" sz="2000" b="0" strike="noStrike" spc="-1">
                <a:solidFill>
                  <a:srgbClr val="000000"/>
                </a:solidFill>
                <a:latin typeface="Arial"/>
              </a:rPr>
              <a:t>1. Send ChangeCipherSpec: "From now on, all messages are encrypted"</a:t>
            </a:r>
          </a:p>
          <a:p>
            <a:pPr marL="216000" indent="-216000">
              <a:buNone/>
            </a:pPr>
            <a:r>
              <a:rPr lang="en-US" sz="2000" b="0" strike="noStrike" spc="-1">
                <a:solidFill>
                  <a:srgbClr val="000000"/>
                </a:solidFill>
                <a:latin typeface="Arial"/>
              </a:rPr>
              <a:t>2. Send Finished: A hash of all handshake messages, encrypted with the new session key. This proves:</a:t>
            </a:r>
          </a:p>
          <a:p>
            <a:pPr marL="216000" indent="-216000">
              <a:buNone/>
            </a:pPr>
            <a:r>
              <a:rPr lang="en-US" sz="2000" b="0" strike="noStrike" spc="-1">
                <a:solidFill>
                  <a:srgbClr val="000000"/>
                </a:solidFill>
                <a:latin typeface="Arial"/>
              </a:rPr>
              <a:t>   - Neither side's messages were tampered with during the handshake</a:t>
            </a:r>
          </a:p>
          <a:p>
            <a:pPr marL="216000" indent="-216000">
              <a:buNone/>
            </a:pPr>
            <a:r>
              <a:rPr lang="en-US" sz="2000" b="0" strike="noStrike" spc="-1">
                <a:solidFill>
                  <a:srgbClr val="000000"/>
                </a:solidFill>
                <a:latin typeface="Arial"/>
              </a:rPr>
              <a:t>   - Both sides computed the same session key</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After Finished, application data flows encrypted.</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TLS 1.3 DIFFERENCES:</a:t>
            </a:r>
          </a:p>
          <a:p>
            <a:pPr marL="216000" indent="-216000">
              <a:buNone/>
            </a:pPr>
            <a:r>
              <a:rPr lang="en-US" sz="2000" b="0" strike="noStrike" spc="-1">
                <a:solidFill>
                  <a:srgbClr val="000000"/>
                </a:solidFill>
                <a:latin typeface="Arial"/>
              </a:rPr>
              <a:t>TLS 1.3 reduces the handshake to 1 round-trip:</a:t>
            </a:r>
          </a:p>
          <a:p>
            <a:pPr marL="216000" indent="-216000">
              <a:buNone/>
            </a:pPr>
            <a:r>
              <a:rPr lang="en-US" sz="2000" b="0" strike="noStrike" spc="-1">
                <a:solidFill>
                  <a:srgbClr val="000000"/>
                </a:solidFill>
                <a:latin typeface="Arial"/>
              </a:rPr>
              <a:t>- ClientHello includes key_share extension (client's DH public value)</a:t>
            </a:r>
          </a:p>
          <a:p>
            <a:pPr marL="216000" indent="-216000">
              <a:buNone/>
            </a:pPr>
            <a:r>
              <a:rPr lang="en-US" sz="2000" b="0" strike="noStrike" spc="-1">
                <a:solidFill>
                  <a:srgbClr val="000000"/>
                </a:solidFill>
                <a:latin typeface="Arial"/>
              </a:rPr>
              <a:t>- ServerHello includes the server's key_share</a:t>
            </a:r>
          </a:p>
          <a:p>
            <a:pPr marL="216000" indent="-216000">
              <a:buNone/>
            </a:pPr>
            <a:r>
              <a:rPr lang="en-US" sz="2000" b="0" strike="noStrike" spc="-1">
                <a:solidFill>
                  <a:srgbClr val="000000"/>
                </a:solidFill>
                <a:latin typeface="Arial"/>
              </a:rPr>
              <a:t>- Both sides can derive keys after just 1 exchange</a:t>
            </a:r>
          </a:p>
          <a:p>
            <a:pPr marL="216000" indent="-216000">
              <a:buNone/>
            </a:pPr>
            <a:r>
              <a:rPr lang="en-US" sz="2000" b="0" strike="noStrike" spc="-1">
                <a:solidFill>
                  <a:srgbClr val="000000"/>
                </a:solidFill>
                <a:latin typeface="Arial"/>
              </a:rPr>
              <a:t>- The Certificate and Finished messages are encrypted in TLS 1.3 (in TLS 1.2 they're plaintext)</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COMMON STUDENT MISTAKES</a:t>
            </a:r>
          </a:p>
          <a:p>
            <a:pPr marL="216000" indent="-216000">
              <a:buNone/>
            </a:pPr>
            <a:r>
              <a:rPr lang="en-US" sz="2000" b="0" strike="noStrike" spc="-1">
                <a:solidFill>
                  <a:srgbClr val="000000"/>
                </a:solidFill>
                <a:latin typeface="Arial"/>
              </a:rPr>
              <a:t>- Not understanding that the ServerKeyExchange message is only present for DHE/ECDHE, not RSA</a:t>
            </a:r>
          </a:p>
          <a:p>
            <a:pPr marL="216000" indent="-216000">
              <a:buNone/>
            </a:pPr>
            <a:r>
              <a:rPr lang="en-US" sz="2000" b="0" strike="noStrike" spc="-1">
                <a:solidFill>
                  <a:srgbClr val="000000"/>
                </a:solidFill>
                <a:latin typeface="Arial"/>
              </a:rPr>
              <a:t>- Confusing ClientHello (from the client) with ServerHello (from the BIG-IP) in packet captures</a:t>
            </a:r>
          </a:p>
          <a:p>
            <a:pPr marL="216000" indent="-216000">
              <a:buNone/>
            </a:pPr>
            <a:r>
              <a:rPr lang="en-US" sz="2000" b="0" strike="noStrike" spc="-1">
                <a:solidFill>
                  <a:srgbClr val="000000"/>
                </a:solidFill>
                <a:latin typeface="Arial"/>
              </a:rPr>
              <a:t>- Not checking the SNI extension in ClientHello when troubleshooting wrong-certificate issues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PIVOT QUESTION</a:t>
            </a:r>
          </a:p>
          <a:p>
            <a:pPr marL="216000" indent="-216000">
              <a:buNone/>
            </a:pPr>
            <a:r>
              <a:rPr lang="en-US" sz="2000" b="0" strike="noStrike" spc="-1">
                <a:solidFill>
                  <a:srgbClr val="000000"/>
                </a:solidFill>
                <a:latin typeface="Arial"/>
              </a:rPr>
              <a:t>"In Wireshark, you see ClientHello → ServerHello → Certificate → Alert (fatal: bad_certificate). At what stage did the negotiation fail, and what's the likely cause?"</a:t>
            </a:r>
          </a:p>
          <a:p>
            <a:pPr marL="216000" indent="-216000">
              <a:buNone/>
            </a:pPr>
            <a:r>
              <a:rPr lang="en-US" sz="2000" b="0" strike="noStrike" spc="-1">
                <a:solidFill>
                  <a:srgbClr val="000000"/>
                </a:solidFill>
                <a:latin typeface="Arial"/>
              </a:rPr>
              <a:t>ANSWER: The failure occurred after the BIG-IP sent its Certificate message. The "bad_certificate" alert means the client rejected the BIG-IP's certificate. Common causes: certificate CN/SAN doesn't match the hostname, certificate is expired, self-signed without the client trusting the CA, or missing chain certificate. Check the certificate's CN, SAN, expiration, and chain in the Client-SSL profile.</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F5 DOCUMENTATION</a:t>
            </a:r>
          </a:p>
          <a:p>
            <a:pPr marL="216000" indent="-216000">
              <a:buNone/>
            </a:pPr>
            <a:r>
              <a:rPr lang="en-US" sz="2000" b="0" strike="noStrike" spc="-1">
                <a:solidFill>
                  <a:srgbClr val="000000"/>
                </a:solidFill>
                <a:latin typeface="Arial"/>
              </a:rPr>
              <a:t>- TLS handshake: https://my.f5.com/manage/s/article/K15292</a:t>
            </a:r>
          </a:p>
          <a:p>
            <a:pPr marL="216000" indent="-216000">
              <a:buNone/>
            </a:pPr>
            <a:r>
              <a:rPr lang="en-US" sz="2000" b="0" strike="noStrike" spc="-1">
                <a:solidFill>
                  <a:srgbClr val="000000"/>
                </a:solidFill>
                <a:latin typeface="Arial"/>
              </a:rPr>
              <a:t>- TLS 1.3 on BIG-IP: https://my.f5.com/manage/s/article/K44134926</a:t>
            </a:r>
          </a:p>
          <a:p>
            <a:pPr marL="216000" indent="-216000">
              <a:buNone/>
            </a:pPr>
            <a:r>
              <a:rPr lang="en-US" sz="2000" b="0" strike="noStrike" spc="-1">
                <a:solidFill>
                  <a:srgbClr val="000000"/>
                </a:solidFill>
                <a:latin typeface="Arial"/>
              </a:rPr>
              <a:t>- Wireshark TLS analysis: https://wiki.wireshark.org/TLS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EXAM QUESTION PATTERNS</a:t>
            </a:r>
          </a:p>
          <a:p>
            <a:pPr marL="216000" indent="-216000">
              <a:buNone/>
            </a:pPr>
            <a:r>
              <a:rPr lang="en-US" sz="2000" b="0" strike="noStrike" spc="-1">
                <a:solidFill>
                  <a:srgbClr val="000000"/>
                </a:solidFill>
                <a:latin typeface="Arial"/>
              </a:rPr>
              <a:t>- "What message does the BIG-IP send its certificate in?" → Certificate (message 3)</a:t>
            </a:r>
          </a:p>
          <a:p>
            <a:pPr marL="216000" indent="-216000">
              <a:buNone/>
            </a:pPr>
            <a:r>
              <a:rPr lang="en-US" sz="2000" b="0" strike="noStrike" spc="-1">
                <a:solidFill>
                  <a:srgbClr val="000000"/>
                </a:solidFill>
                <a:latin typeface="Arial"/>
              </a:rPr>
              <a:t>- "What triggers a CertificateRequest?" → Client Authentication (mutual TLS) enabled in Client-SSL</a:t>
            </a:r>
          </a:p>
          <a:p>
            <a:pPr marL="216000" indent="0">
              <a:lnSpc>
                <a:spcPct val="100000"/>
              </a:lnSpc>
              <a:buNone/>
            </a:pPr>
            <a:r>
              <a:rPr lang="en-US" sz="2000" b="0" strike="noStrike" spc="-1">
                <a:solidFill>
                  <a:srgbClr val="000000"/>
                </a:solidFill>
                <a:latin typeface="Arial"/>
              </a:rPr>
              <a:t>- "ServerKeyExchange is missing from the capture. Is this normal?" → Yes, if RSA key exchange is used (no PFS)</a:t>
            </a:r>
          </a:p>
        </p:txBody>
      </p:sp>
      <p:sp>
        <p:nvSpPr>
          <p:cNvPr id="2622" name="PlaceHolder 3"/>
          <p:cNvSpPr>
            <a:spLocks noGrp="1"/>
          </p:cNvSpPr>
          <p:nvPr>
            <p:ph type="sldNum" idx="53"/>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9339C006-E0E8-416E-8447-5199905D3CD7}" type="slidenum">
              <a:rPr lang="en-US" sz="1800" b="0" strike="noStrike" spc="-1">
                <a:solidFill>
                  <a:schemeClr val="dk1"/>
                </a:solidFill>
                <a:latin typeface="+mn-lt"/>
                <a:ea typeface="+mn-ea"/>
              </a:rPr>
              <a:t>50</a:t>
            </a:fld>
            <a:endParaRPr lang="en-US" sz="1800" b="0" strike="noStrike" spc="-1">
              <a:solidFill>
                <a:srgbClr val="000000"/>
              </a:solidFill>
              <a:latin typeface="Times New Roman"/>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3" name="PlaceHolder 1"/>
          <p:cNvSpPr>
            <a:spLocks noGrp="1" noRot="1" noChangeAspect="1"/>
          </p:cNvSpPr>
          <p:nvPr>
            <p:ph type="sldImg"/>
          </p:nvPr>
        </p:nvSpPr>
        <p:spPr>
          <a:xfrm>
            <a:off x="0" y="0"/>
            <a:ext cx="0" cy="0"/>
          </a:xfrm>
          <a:prstGeom prst="rect">
            <a:avLst/>
          </a:prstGeom>
          <a:ln w="0">
            <a:noFill/>
          </a:ln>
        </p:spPr>
      </p:sp>
      <p:sp>
        <p:nvSpPr>
          <p:cNvPr id="2624"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This slide introduces the F5 SSL provider for tcpdump — the modern method for capturing decrypted SSL traffic on the BIG-IP. This replaces the legacy ssldump tool and directly addresses F5CTSLTM6.04: "Explain how to decrypt SSL traffic for protocol analysis."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FULL TECHNICAL EXPLANATION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THE F5 SSL PROVIDER (tcpdump --f5 ssl):</a:t>
            </a:r>
          </a:p>
          <a:p>
            <a:pPr marL="216000" indent="-216000">
              <a:buNone/>
            </a:pPr>
            <a:r>
              <a:rPr lang="en-US" sz="2000" b="0" strike="noStrike" spc="-1">
                <a:solidFill>
                  <a:srgbClr val="000000"/>
                </a:solidFill>
                <a:latin typeface="Arial"/>
              </a:rPr>
              <a:t>Starting in BIG-IP 14.0+, the tcpdump utility includes an F5-specific provider that hooks into TMM's SSL processing pipeline. When you add --f5 ssl to a tcpdump command, TMM intercepts the SSL flow and injects the DECRYPTED application data into the packet capture alongside the encrypted traffic.</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THE COMMAND:</a:t>
            </a:r>
          </a:p>
          <a:p>
            <a:pPr marL="216000" indent="-216000">
              <a:buNone/>
            </a:pPr>
            <a:r>
              <a:rPr lang="en-US" sz="2000" b="0" strike="noStrike" spc="-1">
                <a:solidFill>
                  <a:srgbClr val="000000"/>
                </a:solidFill>
                <a:latin typeface="Arial"/>
              </a:rPr>
              <a:t>tcpdump -nni 0.0:nnnp -s0 -w /var/tmp/ssl_capture.pcap --f5 ssl</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BREAKDOWN:</a:t>
            </a:r>
          </a:p>
          <a:p>
            <a:pPr marL="216000" indent="-216000">
              <a:buNone/>
            </a:pPr>
            <a:r>
              <a:rPr lang="en-US" sz="2000" b="0" strike="noStrike" spc="-1">
                <a:solidFill>
                  <a:srgbClr val="000000"/>
                </a:solidFill>
                <a:latin typeface="Arial"/>
              </a:rPr>
              <a:t>- -nni 0.0: Capture on all VLANs (0.0 is a special BIG-IP interface that captures all TMM-processed traffic)</a:t>
            </a:r>
          </a:p>
          <a:p>
            <a:pPr marL="216000" indent="-216000">
              <a:buNone/>
            </a:pPr>
            <a:r>
              <a:rPr lang="en-US" sz="2000" b="0" strike="noStrike" spc="-1">
                <a:solidFill>
                  <a:srgbClr val="000000"/>
                </a:solidFill>
                <a:latin typeface="Arial"/>
              </a:rPr>
              <a:t>- :nnnp: A BIG-IP-specific modifier that adds peer flow information to each packet. This is critical because it shows BOTH the client-side and server-side of the same flow in one capture, with annotations showing which side each packet belongs to.</a:t>
            </a:r>
          </a:p>
          <a:p>
            <a:pPr marL="216000" indent="-216000">
              <a:buNone/>
            </a:pPr>
            <a:r>
              <a:rPr lang="en-US" sz="2000" b="0" strike="noStrike" spc="-1">
                <a:solidFill>
                  <a:srgbClr val="000000"/>
                </a:solidFill>
                <a:latin typeface="Arial"/>
              </a:rPr>
              <a:t>- -s0: Full packet capture (no truncation). Essential for TLS — truncated packets can't be analyzed.</a:t>
            </a:r>
          </a:p>
          <a:p>
            <a:pPr marL="216000" indent="-216000">
              <a:buNone/>
            </a:pPr>
            <a:r>
              <a:rPr lang="en-US" sz="2000" b="0" strike="noStrike" spc="-1">
                <a:solidFill>
                  <a:srgbClr val="000000"/>
                </a:solidFill>
                <a:latin typeface="Arial"/>
              </a:rPr>
              <a:t>- -w /var/tmp/ssl_capture.pcap: Write to file for Wireshark analysis</a:t>
            </a:r>
          </a:p>
          <a:p>
            <a:pPr marL="216000" indent="-216000">
              <a:buNone/>
            </a:pPr>
            <a:r>
              <a:rPr lang="en-US" sz="2000" b="0" strike="noStrike" spc="-1">
                <a:solidFill>
                  <a:srgbClr val="000000"/>
                </a:solidFill>
                <a:latin typeface="Arial"/>
              </a:rPr>
              <a:t>- --f5 ssl: Enable the SSL provider. This is the key flag.</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WHAT THE CAPTURE CONTAINS:</a:t>
            </a:r>
          </a:p>
          <a:p>
            <a:pPr marL="216000" indent="-216000">
              <a:buNone/>
            </a:pPr>
            <a:r>
              <a:rPr lang="en-US" sz="2000" b="0" strike="noStrike" spc="-1">
                <a:solidFill>
                  <a:srgbClr val="000000"/>
                </a:solidFill>
                <a:latin typeface="Arial"/>
              </a:rPr>
              <a:t>When you open the .pcap in Wireshark (with the F5 Wireshark plugin installed), you see:</a:t>
            </a:r>
          </a:p>
          <a:p>
            <a:pPr marL="216000" indent="-216000">
              <a:buNone/>
            </a:pPr>
            <a:r>
              <a:rPr lang="en-US" sz="2000" b="0" strike="noStrike" spc="-1">
                <a:solidFill>
                  <a:srgbClr val="000000"/>
                </a:solidFill>
                <a:latin typeface="Arial"/>
              </a:rPr>
              <a:t>1. The encrypted TLS packets (ClientHello, ServerHello, etc.) — as you'd see in any capture</a:t>
            </a:r>
          </a:p>
          <a:p>
            <a:pPr marL="216000" indent="-216000">
              <a:buNone/>
            </a:pPr>
            <a:r>
              <a:rPr lang="en-US" sz="2000" b="0" strike="noStrike" spc="-1">
                <a:solidFill>
                  <a:srgbClr val="000000"/>
                </a:solidFill>
                <a:latin typeface="Arial"/>
              </a:rPr>
              <a:t>2. PLUS decrypted "inner" packets showing the actual HTTP requests and responses in plaintext</a:t>
            </a:r>
          </a:p>
          <a:p>
            <a:pPr marL="216000" indent="-216000">
              <a:buNone/>
            </a:pPr>
            <a:r>
              <a:rPr lang="en-US" sz="2000" b="0" strike="noStrike" spc="-1">
                <a:solidFill>
                  <a:srgbClr val="000000"/>
                </a:solidFill>
                <a:latin typeface="Arial"/>
              </a:rPr>
              <a:t>3. PLUS F5 metadata showing which VLAN, virtual server, and pool member processed each packet</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This means you can see BOTH the encrypted handshake AND the decrypted application data in the same file — no separate decryption step needed.</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WHY THIS REPLACES ssldump:</a:t>
            </a:r>
          </a:p>
          <a:p>
            <a:pPr marL="216000" indent="-216000">
              <a:buNone/>
            </a:pPr>
            <a:r>
              <a:rPr lang="en-US" sz="2000" b="0" strike="noStrike" spc="-1">
                <a:solidFill>
                  <a:srgbClr val="000000"/>
                </a:solidFill>
                <a:latin typeface="Arial"/>
              </a:rPr>
              <a:t>1. PFS/ECDHE support: ssldump requires the server's private key to decrypt traffic. With ECDHE (Perfect Forward Secrecy), the private key alone cannot decrypt — each session uses unique ephemeral keys. The F5 SSL provider works because it captures the decrypted data directly from TMM's memory, not by decrypting the capture offline.</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2. TLS 1.3: ssldump does not support TLS 1.3. The F5 SSL provider fully supports it.</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3. No key file needed: ssldump requires you to specify -k /path/to/key. The F5 SSL provider gets the decrypted data from TMM directly — no private key file needed on the command line.</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4. Inline capture: ssldump is a separate offline process (capture first, then decrypt). The F5 SSL provider captures decrypted data in real-time as part of the tcpdump.</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USING THE CAPTURE IN WIRESHARK:</a:t>
            </a:r>
          </a:p>
          <a:p>
            <a:pPr marL="216000" indent="-216000">
              <a:buNone/>
            </a:pPr>
            <a:r>
              <a:rPr lang="en-US" sz="2000" b="0" strike="noStrike" spc="-1">
                <a:solidFill>
                  <a:srgbClr val="000000"/>
                </a:solidFill>
                <a:latin typeface="Arial"/>
              </a:rPr>
              <a:t>1. Install the F5 Wireshark plugin (available from downloads.f5.com or the F5 GitHub repo)</a:t>
            </a:r>
          </a:p>
          <a:p>
            <a:pPr marL="216000" indent="-216000">
              <a:buNone/>
            </a:pPr>
            <a:r>
              <a:rPr lang="en-US" sz="2000" b="0" strike="noStrike" spc="-1">
                <a:solidFill>
                  <a:srgbClr val="000000"/>
                </a:solidFill>
                <a:latin typeface="Arial"/>
              </a:rPr>
              <a:t>2. Open the .pcap in Wireshark</a:t>
            </a:r>
          </a:p>
          <a:p>
            <a:pPr marL="216000" indent="-216000">
              <a:buNone/>
            </a:pPr>
            <a:r>
              <a:rPr lang="en-US" sz="2000" b="0" strike="noStrike" spc="-1">
                <a:solidFill>
                  <a:srgbClr val="000000"/>
                </a:solidFill>
                <a:latin typeface="Arial"/>
              </a:rPr>
              <a:t>3. The plugin adds F5-specific columns: F5 Virtual Server, F5 Flow, F5 Peer</a:t>
            </a:r>
          </a:p>
          <a:p>
            <a:pPr marL="216000" indent="-216000">
              <a:buNone/>
            </a:pPr>
            <a:r>
              <a:rPr lang="en-US" sz="2000" b="0" strike="noStrike" spc="-1">
                <a:solidFill>
                  <a:srgbClr val="000000"/>
                </a:solidFill>
                <a:latin typeface="Arial"/>
              </a:rPr>
              <a:t>4. Decrypted HTTP data appears as separate "inner" packets alongside the encrypted outer packets</a:t>
            </a:r>
          </a:p>
          <a:p>
            <a:pPr marL="216000" indent="-216000">
              <a:buNone/>
            </a:pPr>
            <a:r>
              <a:rPr lang="en-US" sz="2000" b="0" strike="noStrike" spc="-1">
                <a:solidFill>
                  <a:srgbClr val="000000"/>
                </a:solidFill>
                <a:latin typeface="Arial"/>
              </a:rPr>
              <a:t>5. You can filter on HTTP methods, status codes, headers — even though the traffic was TLS-encrypted on the wire</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ALTERNATIVE CAPTURE VARIATIONS:</a:t>
            </a:r>
          </a:p>
          <a:p>
            <a:pPr marL="216000" indent="-216000">
              <a:buNone/>
            </a:pPr>
            <a:r>
              <a:rPr lang="en-US" sz="2000" b="0" strike="noStrike" spc="-1">
                <a:solidFill>
                  <a:srgbClr val="000000"/>
                </a:solidFill>
                <a:latin typeface="Arial"/>
              </a:rPr>
              <a:t>- Capture on specific VLAN: tcpdump -nni client_vlan:nnnp -s0 -w /var/tmp/client.pcap --f5 ssl</a:t>
            </a:r>
          </a:p>
          <a:p>
            <a:pPr marL="216000" indent="-216000">
              <a:buNone/>
            </a:pPr>
            <a:r>
              <a:rPr lang="en-US" sz="2000" b="0" strike="noStrike" spc="-1">
                <a:solidFill>
                  <a:srgbClr val="000000"/>
                </a:solidFill>
                <a:latin typeface="Arial"/>
              </a:rPr>
              <a:t>- Capture for specific VIP: tcpdump -nni 0.0:nnnp -s0 -w /var/tmp/capture.pcap --f5 ssl host 10.1.10.115</a:t>
            </a:r>
          </a:p>
          <a:p>
            <a:pPr marL="216000" indent="-216000">
              <a:buNone/>
            </a:pPr>
            <a:r>
              <a:rPr lang="en-US" sz="2000" b="0" strike="noStrike" spc="-1">
                <a:solidFill>
                  <a:srgbClr val="000000"/>
                </a:solidFill>
                <a:latin typeface="Arial"/>
              </a:rPr>
              <a:t>- Capture without SSL provider (encrypted only): tcpdump -nni client_vlan -s0 -w /var/tmp/encrypted.pcap host 10.1.10.115 and port 443</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COMMON STUDENT MISTAKES</a:t>
            </a:r>
          </a:p>
          <a:p>
            <a:pPr marL="216000" indent="-216000">
              <a:buNone/>
            </a:pPr>
            <a:r>
              <a:rPr lang="en-US" sz="2000" b="0" strike="noStrike" spc="-1">
                <a:solidFill>
                  <a:srgbClr val="000000"/>
                </a:solidFill>
                <a:latin typeface="Arial"/>
              </a:rPr>
              <a:t>- Forgetting --f5 ssl flag and wondering why the capture only shows encrypted data</a:t>
            </a:r>
          </a:p>
          <a:p>
            <a:pPr marL="216000" indent="-216000">
              <a:buNone/>
            </a:pPr>
            <a:r>
              <a:rPr lang="en-US" sz="2000" b="0" strike="noStrike" spc="-1">
                <a:solidFill>
                  <a:srgbClr val="000000"/>
                </a:solidFill>
                <a:latin typeface="Arial"/>
              </a:rPr>
              <a:t>- Not using :nnnp modifier — without it, you don't see the peer flow data (client-side vs server-side)</a:t>
            </a:r>
          </a:p>
          <a:p>
            <a:pPr marL="216000" indent="-216000">
              <a:buNone/>
            </a:pPr>
            <a:r>
              <a:rPr lang="en-US" sz="2000" b="0" strike="noStrike" spc="-1">
                <a:solidFill>
                  <a:srgbClr val="000000"/>
                </a:solidFill>
                <a:latin typeface="Arial"/>
              </a:rPr>
              <a:t>- Capturing on a specific VLAN instead of 0.0 — you miss the other side of the connection</a:t>
            </a:r>
          </a:p>
          <a:p>
            <a:pPr marL="216000" indent="-216000">
              <a:buNone/>
            </a:pPr>
            <a:r>
              <a:rPr lang="en-US" sz="2000" b="0" strike="noStrike" spc="-1">
                <a:solidFill>
                  <a:srgbClr val="000000"/>
                </a:solidFill>
                <a:latin typeface="Arial"/>
              </a:rPr>
              <a:t>- Not installing the F5 Wireshark plugin — without it, the F5 metadata and decrypted packets don't display properly</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PIVOT QUESTION</a:t>
            </a:r>
          </a:p>
          <a:p>
            <a:pPr marL="216000" indent="-216000">
              <a:buNone/>
            </a:pPr>
            <a:r>
              <a:rPr lang="en-US" sz="2000" b="0" strike="noStrike" spc="-1">
                <a:solidFill>
                  <a:srgbClr val="000000"/>
                </a:solidFill>
                <a:latin typeface="Arial"/>
              </a:rPr>
              <a:t>"You need to capture and analyze the HTTP request/response flowing through an HTTPS virtual server that uses ECDHE ciphers. What tcpdump command do you use?"</a:t>
            </a:r>
          </a:p>
          <a:p>
            <a:pPr marL="216000" indent="-216000">
              <a:buNone/>
            </a:pPr>
            <a:r>
              <a:rPr lang="en-US" sz="2000" b="0" strike="noStrike" spc="-1">
                <a:solidFill>
                  <a:srgbClr val="000000"/>
                </a:solidFill>
                <a:latin typeface="Arial"/>
              </a:rPr>
              <a:t>ANSWER: tcpdump -nni 0.0:nnnp -s0 -w /var/tmp/ssl_capture.pcap --f5 ssl host 10.1.10.115</a:t>
            </a:r>
          </a:p>
          <a:p>
            <a:pPr marL="216000" indent="-216000">
              <a:buNone/>
            </a:pPr>
            <a:r>
              <a:rPr lang="en-US" sz="2000" b="0" strike="noStrike" spc="-1">
                <a:solidFill>
                  <a:srgbClr val="000000"/>
                </a:solidFill>
                <a:latin typeface="Arial"/>
              </a:rPr>
              <a:t>The --f5 ssl provider captures the decrypted HTTP data inline, regardless of cipher suite (including ECDHE). No private key needed. Open in Wireshark with the F5 plugin to see both encrypted TLS and decrypted HTTP.</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F5 DOCUMENTATION</a:t>
            </a:r>
          </a:p>
          <a:p>
            <a:pPr marL="216000" indent="-216000">
              <a:buNone/>
            </a:pPr>
            <a:r>
              <a:rPr lang="en-US" sz="2000" b="0" strike="noStrike" spc="-1">
                <a:solidFill>
                  <a:srgbClr val="000000"/>
                </a:solidFill>
                <a:latin typeface="Arial"/>
              </a:rPr>
              <a:t>- tcpdump SSL provider: https://my.f5.com/manage/s/article/K50557518</a:t>
            </a:r>
          </a:p>
          <a:p>
            <a:pPr marL="216000" indent="-216000">
              <a:buNone/>
            </a:pPr>
            <a:r>
              <a:rPr lang="en-US" sz="2000" b="0" strike="noStrike" spc="-1">
                <a:solidFill>
                  <a:srgbClr val="000000"/>
                </a:solidFill>
                <a:latin typeface="Arial"/>
              </a:rPr>
              <a:t>- F5 Wireshark plugin: https://my.f5.com/manage/s/article/K03590185</a:t>
            </a:r>
          </a:p>
          <a:p>
            <a:pPr marL="216000" indent="-216000">
              <a:buNone/>
            </a:pPr>
            <a:r>
              <a:rPr lang="en-US" sz="2000" b="0" strike="noStrike" spc="-1">
                <a:solidFill>
                  <a:srgbClr val="000000"/>
                </a:solidFill>
                <a:latin typeface="Arial"/>
              </a:rPr>
              <a:t>- tcpdump on BIG-IP: https://my.f5.com/manage/s/article/K411</a:t>
            </a:r>
          </a:p>
          <a:p>
            <a:pPr marL="216000" indent="-216000">
              <a:buNone/>
            </a:pPr>
            <a:r>
              <a:rPr lang="en-US" sz="2000" b="0" strike="noStrike" spc="-1">
                <a:solidFill>
                  <a:srgbClr val="000000"/>
                </a:solidFill>
                <a:latin typeface="Arial"/>
              </a:rPr>
              <a:t>- Packet capture best practices: https://my.f5.com/manage/s/article/K4714</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EXAM QUESTION PATTERNS</a:t>
            </a:r>
          </a:p>
          <a:p>
            <a:pPr marL="216000" indent="-216000">
              <a:buNone/>
            </a:pPr>
            <a:r>
              <a:rPr lang="en-US" sz="2000" b="0" strike="noStrike" spc="-1">
                <a:solidFill>
                  <a:srgbClr val="000000"/>
                </a:solidFill>
                <a:latin typeface="Arial"/>
              </a:rPr>
              <a:t>- "How do you decrypt ECDHE/PFS traffic on the BIG-IP?" → tcpdump --f5 ssl (not ssldump)</a:t>
            </a:r>
          </a:p>
          <a:p>
            <a:pPr marL="216000" indent="-216000">
              <a:buNone/>
            </a:pPr>
            <a:r>
              <a:rPr lang="en-US" sz="2000" b="0" strike="noStrike" spc="-1">
                <a:solidFill>
                  <a:srgbClr val="000000"/>
                </a:solidFill>
                <a:latin typeface="Arial"/>
              </a:rPr>
              <a:t>- "What does the :nnnp modifier do?" → Adds peer flow data showing both sides of the connection</a:t>
            </a:r>
          </a:p>
          <a:p>
            <a:pPr marL="216000" indent="0">
              <a:lnSpc>
                <a:spcPct val="100000"/>
              </a:lnSpc>
              <a:buNone/>
            </a:pPr>
            <a:r>
              <a:rPr lang="en-US" sz="2000" b="0" strike="noStrike" spc="-1">
                <a:solidFill>
                  <a:srgbClr val="000000"/>
                </a:solidFill>
                <a:latin typeface="Arial"/>
              </a:rPr>
              <a:t>- "What Wireshark plugin is needed for F5 captures?" → F5 Wireshark plugin (f5-wireshark-plugin)</a:t>
            </a:r>
          </a:p>
        </p:txBody>
      </p:sp>
      <p:sp>
        <p:nvSpPr>
          <p:cNvPr id="2625" name="PlaceHolder 3"/>
          <p:cNvSpPr>
            <a:spLocks noGrp="1"/>
          </p:cNvSpPr>
          <p:nvPr>
            <p:ph type="sldNum" idx="54"/>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ABE2DC3E-DE94-4300-8DB9-D34DBA8F5333}" type="slidenum">
              <a:rPr lang="en-US" sz="1800" b="0" strike="noStrike" spc="-1">
                <a:solidFill>
                  <a:schemeClr val="dk1"/>
                </a:solidFill>
                <a:latin typeface="+mn-lt"/>
                <a:ea typeface="+mn-ea"/>
              </a:rPr>
              <a:t>51</a:t>
            </a:fld>
            <a:endParaRPr lang="en-US" sz="1800" b="0" strike="noStrike" spc="-1">
              <a:solidFill>
                <a:srgbClr val="000000"/>
              </a:solidFill>
              <a:latin typeface="Times New Roman"/>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6" name="PlaceHolder 1"/>
          <p:cNvSpPr>
            <a:spLocks noGrp="1" noRot="1" noChangeAspect="1"/>
          </p:cNvSpPr>
          <p:nvPr>
            <p:ph type="sldImg"/>
          </p:nvPr>
        </p:nvSpPr>
        <p:spPr>
          <a:xfrm>
            <a:off x="0" y="0"/>
            <a:ext cx="0" cy="0"/>
          </a:xfrm>
          <a:prstGeom prst="rect">
            <a:avLst/>
          </a:prstGeom>
          <a:ln w="0">
            <a:noFill/>
          </a:ln>
        </p:spPr>
      </p:sp>
      <p:sp>
        <p:nvSpPr>
          <p:cNvPr id="2627"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Lab launch for the SSL hands-on exercises. See Lab 5 v1 slide 5 notes for complete activity walkthroughs.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KEY TEACHING MOMENTS: Import key first, click Add, verify cert in browser padlock. Lab uses 2048-bit for client-facing, 1024-bit for server-facing (intentional to show different key strengths per side).</a:t>
            </a:r>
          </a:p>
          <a:p>
            <a:pPr marL="216000" indent="-216000">
              <a:buNone/>
            </a:pPr>
            <a:endParaRPr lang="en-US"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F5 DOCUMENTATION: K14620, K14783, K14806</a:t>
            </a:r>
          </a:p>
        </p:txBody>
      </p:sp>
      <p:sp>
        <p:nvSpPr>
          <p:cNvPr id="2628" name="PlaceHolder 3"/>
          <p:cNvSpPr>
            <a:spLocks noGrp="1"/>
          </p:cNvSpPr>
          <p:nvPr>
            <p:ph type="sldNum" idx="55"/>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C2A29130-40E6-4340-A61F-47B2EED2DC27}" type="slidenum">
              <a:rPr lang="en-US" sz="1800" b="0" strike="noStrike" spc="-1">
                <a:solidFill>
                  <a:schemeClr val="dk1"/>
                </a:solidFill>
                <a:latin typeface="+mn-lt"/>
                <a:ea typeface="+mn-ea"/>
              </a:rPr>
              <a:t>52</a:t>
            </a:fld>
            <a:endParaRPr lang="en-US" sz="1800" b="0" strike="noStrike" spc="-1">
              <a:solidFill>
                <a:srgbClr val="000000"/>
              </a:solidFill>
              <a:latin typeface="Times New Roman"/>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9" name="PlaceHolder 1"/>
          <p:cNvSpPr>
            <a:spLocks noGrp="1" noRot="1" noChangeAspect="1"/>
          </p:cNvSpPr>
          <p:nvPr>
            <p:ph type="sldImg"/>
          </p:nvPr>
        </p:nvSpPr>
        <p:spPr>
          <a:xfrm>
            <a:off x="0" y="0"/>
            <a:ext cx="0" cy="0"/>
          </a:xfrm>
          <a:prstGeom prst="rect">
            <a:avLst/>
          </a:prstGeom>
          <a:ln w="0">
            <a:noFill/>
          </a:ln>
        </p:spPr>
      </p:sp>
      <p:sp>
        <p:nvSpPr>
          <p:cNvPr id="2630"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Four checkpoint questions matching the A/E level of F5CTSLTM6-B.</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Q1 ANSWER: No common TLS version or cipher suite. BIG-IP received ClientHello, found no overlap with its cipher string, sent fatal alert (appears as RST). Fix: broaden cipher string or update client. Test: tmm --clientciphers 'string'.</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Q2 ANSWER: Missing chain certificate in Client-SSL profile. Browser can't verify trust chain without intermediate CA cert. Fix: add chain cert to profile.</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Q3 ANSWER: tcpdump -nni 0.0:nnnp -s0 -w /var/tmp/ssl.pcap --f5 ssl host &lt;VIP&gt;</a:t>
            </a:r>
          </a:p>
          <a:p>
            <a:pPr marL="216000" indent="-216000">
              <a:buNone/>
            </a:pPr>
            <a:r>
              <a:rPr lang="en-US" sz="2000" b="0" strike="noStrike" spc="-1">
                <a:solidFill>
                  <a:srgbClr val="000000"/>
                </a:solidFill>
                <a:latin typeface="Arial"/>
              </a:rPr>
              <a:t>The --f5 ssl provider captures decrypted HTTP alongside encrypted TLS. Works with ECDHE/PFS — no private key needed. Open in Wireshark with F5 plugin.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Q4 ANSWER: Server Authentication validates backend cert. Self-signed certs aren't in any trusted CA list → validation fails → all server-side connections rejected. Fix: import backend self-signed certs as Trusted Server CAs, or disable Server Authentication.</a:t>
            </a:r>
          </a:p>
          <a:p>
            <a:pPr marL="216000" indent="-216000">
              <a:buNone/>
            </a:pPr>
            <a:endParaRPr lang="en-US"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F5 DOCUMENTATION: K15292 (handshake troubleshooting), K50557518 (tcpdump SSL provider), K13302 (chain certs), K14806 (Server-SSL)</a:t>
            </a:r>
          </a:p>
        </p:txBody>
      </p:sp>
      <p:sp>
        <p:nvSpPr>
          <p:cNvPr id="2631" name="PlaceHolder 3"/>
          <p:cNvSpPr>
            <a:spLocks noGrp="1"/>
          </p:cNvSpPr>
          <p:nvPr>
            <p:ph type="sldNum" idx="56"/>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C5B9D2FA-000D-4D44-9C91-91D6F0F84DD1}" type="slidenum">
              <a:rPr lang="en-US" sz="1800" b="0" strike="noStrike" spc="-1">
                <a:solidFill>
                  <a:schemeClr val="dk1"/>
                </a:solidFill>
                <a:latin typeface="+mn-lt"/>
                <a:ea typeface="+mn-ea"/>
              </a:rPr>
              <a:t>53</a:t>
            </a:fld>
            <a:endParaRPr lang="en-US" sz="1800" b="0" strike="noStrike" spc="-1">
              <a:solidFill>
                <a:srgbClr val="000000"/>
              </a:solidFill>
              <a:latin typeface="Times New Roman"/>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2" name="PlaceHolder 1"/>
          <p:cNvSpPr>
            <a:spLocks noGrp="1" noRot="1" noChangeAspect="1"/>
          </p:cNvSpPr>
          <p:nvPr>
            <p:ph type="sldImg"/>
          </p:nvPr>
        </p:nvSpPr>
        <p:spPr>
          <a:xfrm>
            <a:off x="0" y="0"/>
            <a:ext cx="0" cy="0"/>
          </a:xfrm>
          <a:prstGeom prst="rect">
            <a:avLst/>
          </a:prstGeom>
          <a:ln w="0">
            <a:noFill/>
          </a:ln>
        </p:spPr>
      </p:sp>
      <p:sp>
        <p:nvSpPr>
          <p:cNvPr id="2633"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Quick-reference slide with the three SSL modes, essential troubleshooting commands (using tcpdump --f5 ssl, NOT ssldump), and Wireshark filters.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KEY CHANGES FROM v1:</a:t>
            </a:r>
          </a:p>
          <a:p>
            <a:pPr marL="216000" indent="-216000">
              <a:buNone/>
            </a:pPr>
            <a:r>
              <a:rPr lang="en-US" sz="2000" b="0" strike="noStrike" spc="-1">
                <a:solidFill>
                  <a:srgbClr val="000000"/>
                </a:solidFill>
                <a:latin typeface="Arial"/>
              </a:rPr>
              <a:t>- ALL ssldump references removed</a:t>
            </a:r>
          </a:p>
          <a:p>
            <a:pPr marL="216000" indent="-216000">
              <a:buNone/>
            </a:pPr>
            <a:r>
              <a:rPr lang="en-US" sz="2000" b="0" strike="noStrike" spc="-1">
                <a:solidFill>
                  <a:srgbClr val="000000"/>
                </a:solidFill>
                <a:latin typeface="Arial"/>
              </a:rPr>
              <a:t>- Replaced with tcpdump --f5 ssl provider</a:t>
            </a:r>
          </a:p>
          <a:p>
            <a:pPr marL="216000" indent="-216000">
              <a:buNone/>
            </a:pPr>
            <a:r>
              <a:rPr lang="en-US" sz="2000" b="0" strike="noStrike" spc="-1">
                <a:solidFill>
                  <a:srgbClr val="000000"/>
                </a:solidFill>
                <a:latin typeface="Arial"/>
              </a:rPr>
              <a:t>- Added openssl s_client for testing TLS connections</a:t>
            </a:r>
          </a:p>
          <a:p>
            <a:pPr marL="216000" indent="-216000">
              <a:buNone/>
            </a:pPr>
            <a:r>
              <a:rPr lang="en-US" sz="2000" b="0" strike="noStrike" spc="-1">
                <a:solidFill>
                  <a:srgbClr val="000000"/>
                </a:solidFill>
                <a:latin typeface="Arial"/>
              </a:rPr>
              <a:t>- Added :nnnp modifier to all tcpdump commands for peer flow data</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THE F5 SSL PROVIDER ADVANTAGE:</a:t>
            </a:r>
          </a:p>
          <a:p>
            <a:pPr marL="216000" indent="-216000">
              <a:buNone/>
            </a:pPr>
            <a:r>
              <a:rPr lang="en-US" sz="2000" b="0" strike="noStrike" spc="-1">
                <a:solidFill>
                  <a:srgbClr val="000000"/>
                </a:solidFill>
                <a:latin typeface="Arial"/>
              </a:rPr>
              <a:t>tcpdump --f5 ssl captures decrypted application data inline, regardless of cipher suite. It works with ECDHE/PFS and TLS 1.3 because it hooks into TMM's SSL processing pipeline — it doesn't try to decrypt offline like ssldump.</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WIRESHARK FILTERS:</a:t>
            </a:r>
          </a:p>
          <a:p>
            <a:pPr marL="216000" indent="-216000">
              <a:buNone/>
            </a:pPr>
            <a:r>
              <a:rPr lang="en-US" sz="2000" b="0" strike="noStrike" spc="-1">
                <a:solidFill>
                  <a:srgbClr val="000000"/>
                </a:solidFill>
                <a:latin typeface="Arial"/>
              </a:rPr>
              <a:t>- tls.handshake.type == 1: ClientHello (client's initial message)</a:t>
            </a:r>
          </a:p>
          <a:p>
            <a:pPr marL="216000" indent="-216000">
              <a:buNone/>
            </a:pPr>
            <a:r>
              <a:rPr lang="en-US" sz="2000" b="0" strike="noStrike" spc="-1">
                <a:solidFill>
                  <a:srgbClr val="000000"/>
                </a:solidFill>
                <a:latin typeface="Arial"/>
              </a:rPr>
              <a:t>- tls.handshake.type == 2: ServerHello (server's response with chosen cipher)</a:t>
            </a:r>
          </a:p>
          <a:p>
            <a:pPr marL="216000" indent="-216000">
              <a:buNone/>
            </a:pPr>
            <a:r>
              <a:rPr lang="en-US" sz="2000" b="0" strike="noStrike" spc="-1">
                <a:solidFill>
                  <a:srgbClr val="000000"/>
                </a:solidFill>
                <a:latin typeface="Arial"/>
              </a:rPr>
              <a:t>- tls.handshake.type == 11: Certificate (server's certificate message)</a:t>
            </a:r>
          </a:p>
          <a:p>
            <a:pPr marL="216000" indent="-216000">
              <a:buNone/>
            </a:pPr>
            <a:r>
              <a:rPr lang="en-US" sz="2000" b="0" strike="noStrike" spc="-1">
                <a:solidFill>
                  <a:srgbClr val="000000"/>
                </a:solidFill>
                <a:latin typeface="Arial"/>
              </a:rPr>
              <a:t>- tls.handshake.type == 12: ServerKeyExchange (DHE/ECDHE parameters)</a:t>
            </a:r>
          </a:p>
          <a:p>
            <a:pPr marL="216000" indent="-216000">
              <a:buNone/>
            </a:pPr>
            <a:r>
              <a:rPr lang="en-US" sz="2000" b="0" strike="noStrike" spc="-1">
                <a:solidFill>
                  <a:srgbClr val="000000"/>
                </a:solidFill>
                <a:latin typeface="Arial"/>
              </a:rPr>
              <a:t>- tls.alert_message: Any TLS alert (errors, warnings)</a:t>
            </a:r>
          </a:p>
          <a:p>
            <a:pPr marL="216000" indent="-216000">
              <a:buNone/>
            </a:pPr>
            <a:r>
              <a:rPr lang="en-US" sz="2000" b="0" strike="noStrike" spc="-1">
                <a:solidFill>
                  <a:srgbClr val="000000"/>
                </a:solidFill>
                <a:latin typeface="Arial"/>
              </a:rPr>
              <a:t>- http: Decrypted HTTP traffic (visible with F5 SSL provider captures)</a:t>
            </a:r>
          </a:p>
          <a:p>
            <a:pPr marL="216000" indent="-216000">
              <a:buNone/>
            </a:pPr>
            <a:r>
              <a:rPr lang="en-US" sz="2000" b="0" strike="noStrike" spc="-1">
                <a:solidFill>
                  <a:srgbClr val="000000"/>
                </a:solidFill>
                <a:latin typeface="Arial"/>
              </a:rPr>
              <a:t>- f5ethtrailer.ingress: 1 (ingress packets) or 0 (egress packets) — F5 plugin filter</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F5 DOCUMENTATION</a:t>
            </a:r>
          </a:p>
          <a:p>
            <a:pPr marL="216000" indent="-216000">
              <a:buNone/>
            </a:pPr>
            <a:r>
              <a:rPr lang="en-US" sz="2000" b="0" strike="noStrike" spc="-1">
                <a:solidFill>
                  <a:srgbClr val="000000"/>
                </a:solidFill>
                <a:latin typeface="Arial"/>
              </a:rPr>
              <a:t>- tcpdump SSL provider: https://my.f5.com/manage/s/article/K50557518</a:t>
            </a:r>
          </a:p>
          <a:p>
            <a:pPr marL="216000" indent="-216000">
              <a:buNone/>
            </a:pPr>
            <a:r>
              <a:rPr lang="en-US" sz="2000" b="0" strike="noStrike" spc="-1">
                <a:solidFill>
                  <a:srgbClr val="000000"/>
                </a:solidFill>
                <a:latin typeface="Arial"/>
              </a:rPr>
              <a:t>- F5 Wireshark plugin: https://my.f5.com/manage/s/article/K03590185</a:t>
            </a:r>
          </a:p>
          <a:p>
            <a:pPr marL="216000" indent="-216000">
              <a:buNone/>
            </a:pPr>
            <a:r>
              <a:rPr lang="en-US" sz="2000" b="0" strike="noStrike" spc="-1">
                <a:solidFill>
                  <a:srgbClr val="000000"/>
                </a:solidFill>
                <a:latin typeface="Arial"/>
              </a:rPr>
              <a:t>- openssl s_client: https://my.f5.com/manage/s/article/K15292</a:t>
            </a:r>
          </a:p>
          <a:p>
            <a:pPr marL="216000" indent="-216000">
              <a:buNone/>
            </a:pPr>
            <a:r>
              <a:rPr lang="en-US" sz="2000" b="0" strike="noStrike" spc="-1">
                <a:solidFill>
                  <a:srgbClr val="000000"/>
                </a:solidFill>
                <a:latin typeface="Arial"/>
              </a:rPr>
              <a:t>- Cipher testing: https://my.f5.com/manage/s/article/K15194</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EXAM QUESTION PATTERNS</a:t>
            </a:r>
          </a:p>
          <a:p>
            <a:pPr marL="216000" indent="-216000">
              <a:buNone/>
            </a:pPr>
            <a:r>
              <a:rPr lang="en-US" sz="2000" b="0" strike="noStrike" spc="-1">
                <a:solidFill>
                  <a:srgbClr val="000000"/>
                </a:solidFill>
                <a:latin typeface="Arial"/>
              </a:rPr>
              <a:t>- "How do you capture decrypted HTTPS traffic?" → tcpdump --f5 ssl</a:t>
            </a:r>
          </a:p>
          <a:p>
            <a:pPr marL="216000" indent="-216000">
              <a:buNone/>
            </a:pPr>
            <a:r>
              <a:rPr lang="en-US" sz="2000" b="0" strike="noStrike" spc="-1">
                <a:solidFill>
                  <a:srgbClr val="000000"/>
                </a:solidFill>
                <a:latin typeface="Arial"/>
              </a:rPr>
              <a:t>- "What Wireshark filter shows TLS handshake errors?" → tls.alert_message</a:t>
            </a:r>
          </a:p>
          <a:p>
            <a:pPr marL="216000" indent="0">
              <a:lnSpc>
                <a:spcPct val="100000"/>
              </a:lnSpc>
              <a:buNone/>
            </a:pPr>
            <a:r>
              <a:rPr lang="en-US" sz="2000" b="0" strike="noStrike" spc="-1">
                <a:solidFill>
                  <a:srgbClr val="000000"/>
                </a:solidFill>
                <a:latin typeface="Arial"/>
              </a:rPr>
              <a:t>- "How do you verify a cert/key pair match?" → Compare MD5 of modulus values</a:t>
            </a:r>
          </a:p>
        </p:txBody>
      </p:sp>
      <p:sp>
        <p:nvSpPr>
          <p:cNvPr id="2634" name="PlaceHolder 3"/>
          <p:cNvSpPr>
            <a:spLocks noGrp="1"/>
          </p:cNvSpPr>
          <p:nvPr>
            <p:ph type="sldNum" idx="57"/>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1857F022-260F-48A7-8894-2D0A82AEF048}" type="slidenum">
              <a:rPr lang="en-US" sz="1800" b="0" strike="noStrike" spc="-1">
                <a:solidFill>
                  <a:schemeClr val="dk1"/>
                </a:solidFill>
                <a:latin typeface="+mn-lt"/>
                <a:ea typeface="+mn-ea"/>
              </a:rPr>
              <a:t>54</a:t>
            </a:fld>
            <a:endParaRPr lang="en-US" sz="1800" b="0" strike="noStrike" spc="-1">
              <a:solidFill>
                <a:srgbClr val="000000"/>
              </a:solidFill>
              <a:latin typeface="Times New Roman"/>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5" name="PlaceHolder 1"/>
          <p:cNvSpPr>
            <a:spLocks noGrp="1" noRot="1" noChangeAspect="1"/>
          </p:cNvSpPr>
          <p:nvPr>
            <p:ph type="sldImg"/>
          </p:nvPr>
        </p:nvSpPr>
        <p:spPr>
          <a:xfrm>
            <a:off x="0" y="0"/>
            <a:ext cx="0" cy="0"/>
          </a:xfrm>
          <a:prstGeom prst="rect">
            <a:avLst/>
          </a:prstGeom>
          <a:ln w="0">
            <a:noFill/>
          </a:ln>
        </p:spPr>
      </p:sp>
      <p:sp>
        <p:nvSpPr>
          <p:cNvPr id="2636"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Section opener for Lab 6. This lab is described in the lab guide as "a review but an important one — these concepts are vital to passing the 301a." It covers virtual server types, the packet processing order, VS matching precedence, and packet filters.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FULL TECHNICAL EXPLANATION</a:t>
            </a:r>
          </a:p>
          <a:p>
            <a:pPr marL="216000" indent="-216000">
              <a:buNone/>
            </a:pPr>
            <a:r>
              <a:rPr lang="en-US" sz="2000" b="0" strike="noStrike" spc="-1">
                <a:solidFill>
                  <a:srgbClr val="000000"/>
                </a:solidFill>
                <a:latin typeface="Arial"/>
              </a:rPr>
              <a:t>Lab 6 has four activities:</a:t>
            </a:r>
          </a:p>
          <a:p>
            <a:pPr marL="216000" indent="-216000">
              <a:buNone/>
            </a:pPr>
            <a:r>
              <a:rPr lang="en-US" sz="2000" b="0" strike="noStrike" spc="-1">
                <a:solidFill>
                  <a:srgbClr val="000000"/>
                </a:solidFill>
                <a:latin typeface="Arial"/>
              </a:rPr>
              <a:t>1. Packet Processing: tcpdump and connection table to observe client-side/server-side flows, SNAT behavior</a:t>
            </a:r>
          </a:p>
          <a:p>
            <a:pPr marL="216000" indent="-216000">
              <a:buNone/>
            </a:pPr>
            <a:r>
              <a:rPr lang="en-US" sz="2000" b="0" strike="noStrike" spc="-1">
                <a:solidFill>
                  <a:srgbClr val="000000"/>
                </a:solidFill>
                <a:latin typeface="Arial"/>
              </a:rPr>
              <a:t>2. Packet Filter: Create and test packet filters, learn the 7-step packet processing order</a:t>
            </a:r>
          </a:p>
          <a:p>
            <a:pPr marL="216000" indent="-216000">
              <a:buNone/>
            </a:pPr>
            <a:r>
              <a:rPr lang="en-US" sz="2000" b="0" strike="noStrike" spc="-1">
                <a:solidFill>
                  <a:srgbClr val="000000"/>
                </a:solidFill>
                <a:latin typeface="Arial"/>
              </a:rPr>
              <a:t>3. VS Packet Processing: Wildcard VS, host VS vs wildcard matching, source address filtering</a:t>
            </a:r>
          </a:p>
          <a:p>
            <a:pPr marL="216000" indent="-216000">
              <a:buNone/>
            </a:pPr>
            <a:r>
              <a:rPr lang="en-US" sz="2000" b="0" strike="noStrike" spc="-1">
                <a:solidFill>
                  <a:srgbClr val="000000"/>
                </a:solidFill>
                <a:latin typeface="Arial"/>
              </a:rPr>
              <a:t>4. Forwarding VS: IP forwarding and transparent (Performance L4) virtual servers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BETA BLUEPRINT COVERAGE</a:t>
            </a:r>
          </a:p>
          <a:p>
            <a:pPr marL="216000" indent="-216000">
              <a:buNone/>
            </a:pPr>
            <a:r>
              <a:rPr lang="en-US" sz="2000" b="0" strike="noStrike" spc="-1">
                <a:solidFill>
                  <a:srgbClr val="000000"/>
                </a:solidFill>
                <a:latin typeface="Arial"/>
              </a:rPr>
              <a:t>- F5CTSLTM2.03 (U/A): "Choose virtual server type and load balancing type." Sub-bullets: L2-L3 VS types, Standard vs FastL4, LB methods.</a:t>
            </a:r>
          </a:p>
          <a:p>
            <a:pPr marL="216000" indent="-216000">
              <a:buNone/>
            </a:pPr>
            <a:r>
              <a:rPr lang="en-US" sz="2000" b="0" strike="noStrike" spc="-1">
                <a:solidFill>
                  <a:srgbClr val="000000"/>
                </a:solidFill>
                <a:latin typeface="Arial"/>
              </a:rPr>
              <a:t>- F5CTSLTM2.05 (U/A): "Distinguish packet-based vs connection-based load balancing." Sub-bullets: when to use each.</a:t>
            </a:r>
          </a:p>
          <a:p>
            <a:pPr marL="216000" indent="-216000">
              <a:buNone/>
            </a:pPr>
            <a:r>
              <a:rPr lang="en-US" sz="2000" b="0" strike="noStrike" spc="-1">
                <a:solidFill>
                  <a:srgbClr val="000000"/>
                </a:solidFill>
                <a:latin typeface="Arial"/>
              </a:rPr>
              <a:t>- F5CTSLTM2.07 (U/A): "Identify the matching order of multiple virtual servers." Sub-bullets: which VS processes traffic, why VS fails to receive traffic.</a:t>
            </a:r>
          </a:p>
          <a:p>
            <a:pPr marL="216000" indent="-216000">
              <a:buNone/>
            </a:pPr>
            <a:r>
              <a:rPr lang="en-US" sz="2000" b="0" strike="noStrike" spc="-1">
                <a:solidFill>
                  <a:srgbClr val="000000"/>
                </a:solidFill>
                <a:latin typeface="Arial"/>
              </a:rPr>
              <a:t>- F5CTSLTM2.08 (U/A): "Determine how to secure virtual servers." Sub-bullets: limit access, compare VS types.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301a OBJECTIVES: 1.13–1.15</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F5 DOCUMENTATION</a:t>
            </a:r>
          </a:p>
          <a:p>
            <a:pPr marL="216000" indent="-216000">
              <a:buNone/>
            </a:pPr>
            <a:r>
              <a:rPr lang="en-US" sz="2000" b="0" strike="noStrike" spc="-1">
                <a:solidFill>
                  <a:srgbClr val="000000"/>
                </a:solidFill>
                <a:latin typeface="Arial"/>
              </a:rPr>
              <a:t>- VS types: https://my.f5.com/manage/s/article/K55185917</a:t>
            </a:r>
          </a:p>
          <a:p>
            <a:pPr marL="216000" indent="-216000">
              <a:buNone/>
            </a:pPr>
            <a:r>
              <a:rPr lang="en-US" sz="2000" b="0" strike="noStrike" spc="-1">
                <a:solidFill>
                  <a:srgbClr val="000000"/>
                </a:solidFill>
                <a:latin typeface="Arial"/>
              </a:rPr>
              <a:t>- Packet processing order: https://my.f5.com/manage/s/article/K8082</a:t>
            </a:r>
          </a:p>
          <a:p>
            <a:pPr marL="216000" indent="-216000">
              <a:buNone/>
            </a:pPr>
            <a:r>
              <a:rPr lang="en-US" sz="2000" b="0" strike="noStrike" spc="-1">
                <a:solidFill>
                  <a:srgbClr val="000000"/>
                </a:solidFill>
                <a:latin typeface="Arial"/>
              </a:rPr>
              <a:t>- VS matching: https://my.f5.com/manage/s/article/K14800</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EXAM QUESTION PATTERNS</a:t>
            </a:r>
          </a:p>
          <a:p>
            <a:pPr marL="216000" indent="-216000">
              <a:buNone/>
            </a:pPr>
            <a:r>
              <a:rPr lang="en-US" sz="2000" b="0" strike="noStrike" spc="-1">
                <a:solidFill>
                  <a:srgbClr val="000000"/>
                </a:solidFill>
                <a:latin typeface="Arial"/>
              </a:rPr>
              <a:t>- "Which VS type should you use for a web application?" → Standard</a:t>
            </a:r>
          </a:p>
          <a:p>
            <a:pPr marL="216000" indent="0">
              <a:lnSpc>
                <a:spcPct val="100000"/>
              </a:lnSpc>
              <a:buNone/>
            </a:pPr>
            <a:r>
              <a:rPr lang="en-US" sz="2000" b="0" strike="noStrike" spc="-1">
                <a:solidFill>
                  <a:srgbClr val="000000"/>
                </a:solidFill>
                <a:latin typeface="Arial"/>
              </a:rPr>
              <a:t>- "What is the packet processing order?" → Existing conns → Packet filter → VS → SNAT → NAT → Self IP → Drop</a:t>
            </a:r>
          </a:p>
        </p:txBody>
      </p:sp>
      <p:sp>
        <p:nvSpPr>
          <p:cNvPr id="2637" name="PlaceHolder 3"/>
          <p:cNvSpPr>
            <a:spLocks noGrp="1"/>
          </p:cNvSpPr>
          <p:nvPr>
            <p:ph type="sldNum" idx="58"/>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3D582E3F-5658-4FFC-9590-1A314FE8858D}" type="slidenum">
              <a:rPr lang="en-US" sz="1800" b="0" strike="noStrike" spc="-1">
                <a:solidFill>
                  <a:schemeClr val="dk1"/>
                </a:solidFill>
                <a:latin typeface="+mn-lt"/>
                <a:ea typeface="+mn-ea"/>
              </a:rPr>
              <a:t>55</a:t>
            </a:fld>
            <a:endParaRPr lang="en-US" sz="1800" b="0" strike="noStrike" spc="-1">
              <a:solidFill>
                <a:srgbClr val="000000"/>
              </a:solidFill>
              <a:latin typeface="Times New Roman"/>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8" name="PlaceHolder 1"/>
          <p:cNvSpPr>
            <a:spLocks noGrp="1" noRot="1" noChangeAspect="1"/>
          </p:cNvSpPr>
          <p:nvPr>
            <p:ph type="sldImg"/>
          </p:nvPr>
        </p:nvSpPr>
        <p:spPr>
          <a:xfrm>
            <a:off x="0" y="0"/>
            <a:ext cx="0" cy="0"/>
          </a:xfrm>
          <a:prstGeom prst="rect">
            <a:avLst/>
          </a:prstGeom>
          <a:ln w="0">
            <a:noFill/>
          </a:ln>
        </p:spPr>
      </p:sp>
      <p:sp>
        <p:nvSpPr>
          <p:cNvPr id="2639"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This slide covers all virtual server types on the BIG-IP, supporting F5CTSLTM2.03: "Choose virtual server type and load balancing type to fit application requirements." Students must understand the trade-offs: Standard gives full L7 intelligence at the cost of CPU; Performance L4 gives maximum throughput but no L7.</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FULL TECHNICAL EXPLANATION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STANDARD VIRTUAL SERVER — FULL PROXY:</a:t>
            </a:r>
          </a:p>
          <a:p>
            <a:pPr marL="216000" indent="-216000">
              <a:buNone/>
            </a:pPr>
            <a:r>
              <a:rPr lang="en-US" sz="2000" b="0" strike="noStrike" spc="-1">
                <a:solidFill>
                  <a:srgbClr val="000000"/>
                </a:solidFill>
                <a:latin typeface="Arial"/>
              </a:rPr>
              <a:t>When a Standard VS with a TCP profile receives a connection:</a:t>
            </a:r>
          </a:p>
          <a:p>
            <a:pPr marL="216000" indent="-216000">
              <a:buNone/>
            </a:pPr>
            <a:r>
              <a:rPr lang="en-US" sz="2000" b="0" strike="noStrike" spc="-1">
                <a:solidFill>
                  <a:srgbClr val="000000"/>
                </a:solidFill>
                <a:latin typeface="Arial"/>
              </a:rPr>
              <a:t>1. Client sends SYN to VIP → BIG-IP completes the three-way handshake (SYN-ACK, ACK)</a:t>
            </a:r>
          </a:p>
          <a:p>
            <a:pPr marL="216000" indent="-216000">
              <a:buNone/>
            </a:pPr>
            <a:r>
              <a:rPr lang="en-US" sz="2000" b="0" strike="noStrike" spc="-1">
                <a:solidFill>
                  <a:srgbClr val="000000"/>
                </a:solidFill>
                <a:latin typeface="Arial"/>
              </a:rPr>
              <a:t>2. BIG-IP waits for client data (if HTTP profile is present, it waits for the HTTP request)</a:t>
            </a:r>
          </a:p>
          <a:p>
            <a:pPr marL="216000" indent="-216000">
              <a:buNone/>
            </a:pPr>
            <a:r>
              <a:rPr lang="en-US" sz="2000" b="0" strike="noStrike" spc="-1">
                <a:solidFill>
                  <a:srgbClr val="000000"/>
                </a:solidFill>
                <a:latin typeface="Arial"/>
              </a:rPr>
              <a:t>3. BIG-IP parses the request and makes a load balancing decision</a:t>
            </a:r>
          </a:p>
          <a:p>
            <a:pPr marL="216000" indent="-216000">
              <a:buNone/>
            </a:pPr>
            <a:r>
              <a:rPr lang="en-US" sz="2000" b="0" strike="noStrike" spc="-1">
                <a:solidFill>
                  <a:srgbClr val="000000"/>
                </a:solidFill>
                <a:latin typeface="Arial"/>
              </a:rPr>
              <a:t>4. BIG-IP opens a NEW, INDEPENDENT TCP connection to the selected pool member</a:t>
            </a:r>
          </a:p>
          <a:p>
            <a:pPr marL="216000" indent="-216000">
              <a:buNone/>
            </a:pPr>
            <a:r>
              <a:rPr lang="en-US" sz="2000" b="0" strike="noStrike" spc="-1">
                <a:solidFill>
                  <a:srgbClr val="000000"/>
                </a:solidFill>
                <a:latin typeface="Arial"/>
              </a:rPr>
              <a:t>5. The two connections have different sequence numbers, window sizes, and potentially different TCP options</a:t>
            </a:r>
          </a:p>
          <a:p>
            <a:pPr marL="216000" indent="-216000">
              <a:buNone/>
            </a:pPr>
            <a:r>
              <a:rPr lang="en-US" sz="2000" b="0" strike="noStrike" spc="-1">
                <a:solidFill>
                  <a:srgbClr val="000000"/>
                </a:solidFill>
                <a:latin typeface="Arial"/>
              </a:rPr>
              <a:t>6. The BIG-IP can modify data between the two connections (HTTP headers, compression, SSL)</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This full proxy architecture enables ALL L7 features: HTTP inspection, SSL termination, compression, caching, cookie persistence, iRules, OneConnect, content switching.</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PERFORMANCE (LAYER 4) VIRTUAL SERVER — PACKET-BY-PACKET:</a:t>
            </a:r>
          </a:p>
          <a:p>
            <a:pPr marL="216000" indent="-216000">
              <a:buNone/>
            </a:pPr>
            <a:r>
              <a:rPr lang="en-US" sz="2000" b="0" strike="noStrike" spc="-1">
                <a:solidFill>
                  <a:srgbClr val="000000"/>
                </a:solidFill>
                <a:latin typeface="Arial"/>
              </a:rPr>
              <a:t>1. Client sends SYN to VIP → BIG-IP makes LB decision immediately (on first packet)</a:t>
            </a:r>
          </a:p>
          <a:p>
            <a:pPr marL="216000" indent="-216000">
              <a:buNone/>
            </a:pPr>
            <a:r>
              <a:rPr lang="en-US" sz="2000" b="0" strike="noStrike" spc="-1">
                <a:solidFill>
                  <a:srgbClr val="000000"/>
                </a:solidFill>
                <a:latin typeface="Arial"/>
              </a:rPr>
              <a:t>2. BIG-IP forwards the SYN to the selected pool member with destination NAT</a:t>
            </a:r>
          </a:p>
          <a:p>
            <a:pPr marL="216000" indent="-216000">
              <a:buNone/>
            </a:pPr>
            <a:r>
              <a:rPr lang="en-US" sz="2000" b="0" strike="noStrike" spc="-1">
                <a:solidFill>
                  <a:srgbClr val="000000"/>
                </a:solidFill>
                <a:latin typeface="Arial"/>
              </a:rPr>
              <a:t>3. Server responds with SYN-ACK → BIG-IP forwards back to client with source NAT</a:t>
            </a:r>
          </a:p>
          <a:p>
            <a:pPr marL="216000" indent="-216000">
              <a:buNone/>
            </a:pPr>
            <a:r>
              <a:rPr lang="en-US" sz="2000" b="0" strike="noStrike" spc="-1">
                <a:solidFill>
                  <a:srgbClr val="000000"/>
                </a:solidFill>
                <a:latin typeface="Arial"/>
              </a:rPr>
              <a:t>4. All subsequent packets pass through with address translation — no TCP reassembly</a:t>
            </a:r>
          </a:p>
          <a:p>
            <a:pPr marL="216000" indent="-216000">
              <a:buNone/>
            </a:pPr>
            <a:r>
              <a:rPr lang="en-US" sz="2000" b="0" strike="noStrike" spc="-1">
                <a:solidFill>
                  <a:srgbClr val="000000"/>
                </a:solidFill>
                <a:latin typeface="Arial"/>
              </a:rPr>
              <a:t>5. The BIG-IP does NOT maintain a complete TCP state machine — it tracks connections minimally</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Because there's no L7 inspection, Performance L4 is MUCH faster for raw throughput. On hardware platforms with PVA (Packet Velocity ASIC), connections can be offloaded to dedicated hardware for line-rate performance.</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FORWARDING (IP) VIRTUAL SERVER:</a:t>
            </a:r>
          </a:p>
          <a:p>
            <a:pPr marL="216000" indent="-216000">
              <a:buNone/>
            </a:pPr>
            <a:r>
              <a:rPr lang="en-US" sz="2000" b="0" strike="noStrike" spc="-1">
                <a:solidFill>
                  <a:srgbClr val="000000"/>
                </a:solidFill>
                <a:latin typeface="Arial"/>
              </a:rPr>
              <a:t>- No pool, no load balancing</a:t>
            </a:r>
          </a:p>
          <a:p>
            <a:pPr marL="216000" indent="-216000">
              <a:buNone/>
            </a:pPr>
            <a:r>
              <a:rPr lang="en-US" sz="2000" b="0" strike="noStrike" spc="-1">
                <a:solidFill>
                  <a:srgbClr val="000000"/>
                </a:solidFill>
                <a:latin typeface="Arial"/>
              </a:rPr>
              <a:t>- Uses the BIG-IP's routing table to forward traffic based on destination IP</a:t>
            </a:r>
          </a:p>
          <a:p>
            <a:pPr marL="216000" indent="-216000">
              <a:buNone/>
            </a:pPr>
            <a:r>
              <a:rPr lang="en-US" sz="2000" b="0" strike="noStrike" spc="-1">
                <a:solidFill>
                  <a:srgbClr val="000000"/>
                </a:solidFill>
                <a:latin typeface="Arial"/>
              </a:rPr>
              <a:t>- Acts like a router — allows traffic from specific sources to reach specific networks</a:t>
            </a:r>
          </a:p>
          <a:p>
            <a:pPr marL="216000" indent="-216000">
              <a:buNone/>
            </a:pPr>
            <a:r>
              <a:rPr lang="en-US" sz="2000" b="0" strike="noStrike" spc="-1">
                <a:solidFill>
                  <a:srgbClr val="000000"/>
                </a:solidFill>
                <a:latin typeface="Arial"/>
              </a:rPr>
              <a:t>- Lab exercise: Create a Forwarding IP VS that allows 10.1.10.0/24 to reach 10.1.20.0/24</a:t>
            </a:r>
          </a:p>
          <a:p>
            <a:pPr marL="216000" indent="-216000">
              <a:buNone/>
            </a:pPr>
            <a:r>
              <a:rPr lang="en-US" sz="2000" b="0" strike="noStrike" spc="-1">
                <a:solidFill>
                  <a:srgbClr val="000000"/>
                </a:solidFill>
                <a:latin typeface="Arial"/>
              </a:rPr>
              <a:t>- Must set Protocol to "All Protocols" (not just TCP) for general forwarding</a:t>
            </a:r>
          </a:p>
          <a:p>
            <a:pPr marL="216000" indent="-216000">
              <a:buNone/>
            </a:pPr>
            <a:r>
              <a:rPr lang="en-US" sz="2000" b="0" strike="noStrike" spc="-1">
                <a:solidFill>
                  <a:srgbClr val="000000"/>
                </a:solidFill>
                <a:latin typeface="Arial"/>
              </a:rPr>
              <a:t>- The VS is green only if there's a route to the destination network</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FORWARDING (L2) VIRTUAL SERVER:</a:t>
            </a:r>
          </a:p>
          <a:p>
            <a:pPr marL="216000" indent="-216000">
              <a:buNone/>
            </a:pPr>
            <a:r>
              <a:rPr lang="en-US" sz="2000" b="0" strike="noStrike" spc="-1">
                <a:solidFill>
                  <a:srgbClr val="000000"/>
                </a:solidFill>
                <a:latin typeface="Arial"/>
              </a:rPr>
              <a:t>- Operates at Layer 2 (MAC addresses)</a:t>
            </a:r>
          </a:p>
          <a:p>
            <a:pPr marL="216000" indent="-216000">
              <a:buNone/>
            </a:pPr>
            <a:r>
              <a:rPr lang="en-US" sz="2000" b="0" strike="noStrike" spc="-1">
                <a:solidFill>
                  <a:srgbClr val="000000"/>
                </a:solidFill>
                <a:latin typeface="Arial"/>
              </a:rPr>
              <a:t>- Bridges traffic between VLANs without routing</a:t>
            </a:r>
          </a:p>
          <a:p>
            <a:pPr marL="216000" indent="-216000">
              <a:buNone/>
            </a:pPr>
            <a:r>
              <a:rPr lang="en-US" sz="2000" b="0" strike="noStrike" spc="-1">
                <a:solidFill>
                  <a:srgbClr val="000000"/>
                </a:solidFill>
                <a:latin typeface="Arial"/>
              </a:rPr>
              <a:t>- Used in transparent deployments where the BIG-IP sits inline but doesn't change IP addresses</a:t>
            </a:r>
          </a:p>
          <a:p>
            <a:pPr marL="216000" indent="-216000">
              <a:buNone/>
            </a:pPr>
            <a:r>
              <a:rPr lang="en-US" sz="2000" b="0" strike="noStrike" spc="-1">
                <a:solidFill>
                  <a:srgbClr val="000000"/>
                </a:solidFill>
                <a:latin typeface="Arial"/>
              </a:rPr>
              <a:t>- Rare in modern deployments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REJECT VIRTUAL SERVER:</a:t>
            </a:r>
          </a:p>
          <a:p>
            <a:pPr marL="216000" indent="-216000">
              <a:buNone/>
            </a:pPr>
            <a:r>
              <a:rPr lang="en-US" sz="2000" b="0" strike="noStrike" spc="-1">
                <a:solidFill>
                  <a:srgbClr val="000000"/>
                </a:solidFill>
                <a:latin typeface="Arial"/>
              </a:rPr>
              <a:t>- No pool, no forwarding</a:t>
            </a:r>
          </a:p>
          <a:p>
            <a:pPr marL="216000" indent="-216000">
              <a:buNone/>
            </a:pPr>
            <a:r>
              <a:rPr lang="en-US" sz="2000" b="0" strike="noStrike" spc="-1">
                <a:solidFill>
                  <a:srgbClr val="000000"/>
                </a:solidFill>
                <a:latin typeface="Arial"/>
              </a:rPr>
              <a:t>- Actively refuses connections: sends TCP RST or ICMP unreachable</a:t>
            </a:r>
          </a:p>
          <a:p>
            <a:pPr marL="216000" indent="-216000">
              <a:buNone/>
            </a:pPr>
            <a:r>
              <a:rPr lang="en-US" sz="2000" b="0" strike="noStrike" spc="-1">
                <a:solidFill>
                  <a:srgbClr val="000000"/>
                </a:solidFill>
                <a:latin typeface="Arial"/>
              </a:rPr>
              <a:t>- Use case: Block specific traffic to a VIP with a proper rejection (instead of silent drop)</a:t>
            </a:r>
          </a:p>
          <a:p>
            <a:pPr marL="216000" indent="-216000">
              <a:buNone/>
            </a:pPr>
            <a:r>
              <a:rPr lang="en-US" sz="2000" b="0" strike="noStrike" spc="-1">
                <a:solidFill>
                  <a:srgbClr val="000000"/>
                </a:solidFill>
                <a:latin typeface="Arial"/>
              </a:rPr>
              <a:t>- Example: Create a reject VS on port 23 (Telnet) to actively refuse Telnet connections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TRANSPARENT VS (from lab activity 4):</a:t>
            </a:r>
          </a:p>
          <a:p>
            <a:pPr marL="216000" indent="-216000">
              <a:buNone/>
            </a:pPr>
            <a:r>
              <a:rPr lang="en-US" sz="2000" b="0" strike="noStrike" spc="-1">
                <a:solidFill>
                  <a:srgbClr val="000000"/>
                </a:solidFill>
                <a:latin typeface="Arial"/>
              </a:rPr>
              <a:t>A Performance (Layer 4) VS with a wildcard port (*) and Address Translation enabled but Port Translation disabled. Traffic is sent to the pool using the ORIGINAL destination port. This allows multiple services (HTTP, HTTPS, SSH, DNS) to pass through to the same pool without creating separate VS per port.</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COMMON STUDENT MISTAKES</a:t>
            </a:r>
          </a:p>
          <a:p>
            <a:pPr marL="216000" indent="-216000">
              <a:buNone/>
            </a:pPr>
            <a:r>
              <a:rPr lang="en-US" sz="2000" b="0" strike="noStrike" spc="-1">
                <a:solidFill>
                  <a:srgbClr val="000000"/>
                </a:solidFill>
                <a:latin typeface="Arial"/>
              </a:rPr>
              <a:t>- Using Standard when Performance L4 would suffice (wastes CPU for non-HTTP traffic)</a:t>
            </a:r>
          </a:p>
          <a:p>
            <a:pPr marL="216000" indent="-216000">
              <a:buNone/>
            </a:pPr>
            <a:r>
              <a:rPr lang="en-US" sz="2000" b="0" strike="noStrike" spc="-1">
                <a:solidFill>
                  <a:srgbClr val="000000"/>
                </a:solidFill>
                <a:latin typeface="Arial"/>
              </a:rPr>
              <a:t>- Using Performance L4 when they need HTTP features (compression, iRules, SSL offload)</a:t>
            </a:r>
          </a:p>
          <a:p>
            <a:pPr marL="216000" indent="-216000">
              <a:buNone/>
            </a:pPr>
            <a:r>
              <a:rPr lang="en-US" sz="2000" b="0" strike="noStrike" spc="-1">
                <a:solidFill>
                  <a:srgbClr val="000000"/>
                </a:solidFill>
                <a:latin typeface="Arial"/>
              </a:rPr>
              <a:t>- Forgetting to set Protocol to "All Protocols" on Forwarding IP VS — defaults to TCP only</a:t>
            </a:r>
          </a:p>
          <a:p>
            <a:pPr marL="216000" indent="-216000">
              <a:buNone/>
            </a:pPr>
            <a:r>
              <a:rPr lang="en-US" sz="2000" b="0" strike="noStrike" spc="-1">
                <a:solidFill>
                  <a:srgbClr val="000000"/>
                </a:solidFill>
                <a:latin typeface="Arial"/>
              </a:rPr>
              <a:t>- Not understanding that Forwarding IP VS has no pool — it uses the routing table</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PIVOT QUESTION</a:t>
            </a:r>
          </a:p>
          <a:p>
            <a:pPr marL="216000" indent="-216000">
              <a:buNone/>
            </a:pPr>
            <a:r>
              <a:rPr lang="en-US" sz="2000" b="0" strike="noStrike" spc="-1">
                <a:solidFill>
                  <a:srgbClr val="000000"/>
                </a:solidFill>
                <a:latin typeface="Arial"/>
              </a:rPr>
              <a:t>"You need to load balance MySQL database connections on port 3306. You don't need to inspect the MySQL protocol. Which VS type do you use, and why?"</a:t>
            </a:r>
          </a:p>
          <a:p>
            <a:pPr marL="216000" indent="-216000">
              <a:buNone/>
            </a:pPr>
            <a:r>
              <a:rPr lang="en-US" sz="2000" b="0" strike="noStrike" spc="-1">
                <a:solidFill>
                  <a:srgbClr val="000000"/>
                </a:solidFill>
                <a:latin typeface="Arial"/>
              </a:rPr>
              <a:t>ANSWER: Performance (Layer 4) with a FastL4 profile. MySQL is not HTTP — you don't need L7 inspection, SSL, or HTTP profiles. Performance L4 provides maximum throughput with minimum CPU overhead. Use a TCP monitor on port 3306 for health checking.</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F5 DOCUMENTATION</a:t>
            </a:r>
          </a:p>
          <a:p>
            <a:pPr marL="216000" indent="-216000">
              <a:buNone/>
            </a:pPr>
            <a:r>
              <a:rPr lang="en-US" sz="2000" b="0" strike="noStrike" spc="-1">
                <a:solidFill>
                  <a:srgbClr val="000000"/>
                </a:solidFill>
                <a:latin typeface="Arial"/>
              </a:rPr>
              <a:t>- VS types: https://my.f5.com/manage/s/article/K55185917</a:t>
            </a:r>
          </a:p>
          <a:p>
            <a:pPr marL="216000" indent="-216000">
              <a:buNone/>
            </a:pPr>
            <a:r>
              <a:rPr lang="en-US" sz="2000" b="0" strike="noStrike" spc="-1">
                <a:solidFill>
                  <a:srgbClr val="000000"/>
                </a:solidFill>
                <a:latin typeface="Arial"/>
              </a:rPr>
              <a:t>- Standard VS TCP flow: https://my.f5.com/manage/s/article/K8082</a:t>
            </a:r>
          </a:p>
          <a:p>
            <a:pPr marL="216000" indent="-216000">
              <a:buNone/>
            </a:pPr>
            <a:r>
              <a:rPr lang="en-US" sz="2000" b="0" strike="noStrike" spc="-1">
                <a:solidFill>
                  <a:srgbClr val="000000"/>
                </a:solidFill>
                <a:latin typeface="Arial"/>
              </a:rPr>
              <a:t>- Performance L4 VS: https://my.f5.com/manage/s/article/K55185917</a:t>
            </a:r>
          </a:p>
          <a:p>
            <a:pPr marL="216000" indent="-216000">
              <a:buNone/>
            </a:pPr>
            <a:r>
              <a:rPr lang="en-US" sz="2000" b="0" strike="noStrike" spc="-1">
                <a:solidFill>
                  <a:srgbClr val="000000"/>
                </a:solidFill>
                <a:latin typeface="Arial"/>
              </a:rPr>
              <a:t>- Forwarding VS: https://my.f5.com/manage/s/article/K7595</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EXAM QUESTION PATTERNS</a:t>
            </a:r>
          </a:p>
          <a:p>
            <a:pPr marL="216000" indent="-216000">
              <a:buNone/>
            </a:pPr>
            <a:r>
              <a:rPr lang="en-US" sz="2000" b="0" strike="noStrike" spc="-1">
                <a:solidFill>
                  <a:srgbClr val="000000"/>
                </a:solidFill>
                <a:latin typeface="Arial"/>
              </a:rPr>
              <a:t>- "Which VS type for web applications?" → Standard (need L7)</a:t>
            </a:r>
          </a:p>
          <a:p>
            <a:pPr marL="216000" indent="-216000">
              <a:buNone/>
            </a:pPr>
            <a:r>
              <a:rPr lang="en-US" sz="2000" b="0" strike="noStrike" spc="-1">
                <a:solidFill>
                  <a:srgbClr val="000000"/>
                </a:solidFill>
                <a:latin typeface="Arial"/>
              </a:rPr>
              <a:t>- "Which VS type for maximum throughput without L7?" → Performance (Layer 4)</a:t>
            </a:r>
          </a:p>
          <a:p>
            <a:pPr marL="216000" indent="-216000">
              <a:buNone/>
            </a:pPr>
            <a:r>
              <a:rPr lang="en-US" sz="2000" b="0" strike="noStrike" spc="-1">
                <a:solidFill>
                  <a:srgbClr val="000000"/>
                </a:solidFill>
                <a:latin typeface="Arial"/>
              </a:rPr>
              <a:t>- "Which VS type acts as a router?" → Forwarding (IP)</a:t>
            </a:r>
          </a:p>
          <a:p>
            <a:pPr marL="216000" indent="0">
              <a:lnSpc>
                <a:spcPct val="100000"/>
              </a:lnSpc>
              <a:buNone/>
            </a:pPr>
            <a:r>
              <a:rPr lang="en-US" sz="2000" b="0" strike="noStrike" spc="-1">
                <a:solidFill>
                  <a:srgbClr val="000000"/>
                </a:solidFill>
                <a:latin typeface="Arial"/>
              </a:rPr>
              <a:t>- "What's the difference between Standard and Performance L4?" → Standard = full proxy (two TCP connections). L4 = packet-by-packet (one flow with NAT)</a:t>
            </a:r>
          </a:p>
        </p:txBody>
      </p:sp>
      <p:sp>
        <p:nvSpPr>
          <p:cNvPr id="2640" name="PlaceHolder 3"/>
          <p:cNvSpPr>
            <a:spLocks noGrp="1"/>
          </p:cNvSpPr>
          <p:nvPr>
            <p:ph type="sldNum" idx="59"/>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96856662-19DB-4DB2-99C5-8E147A1688B4}" type="slidenum">
              <a:rPr lang="en-US" sz="1800" b="0" strike="noStrike" spc="-1">
                <a:solidFill>
                  <a:schemeClr val="dk1"/>
                </a:solidFill>
                <a:latin typeface="+mn-lt"/>
                <a:ea typeface="+mn-ea"/>
              </a:rPr>
              <a:t>56</a:t>
            </a:fld>
            <a:endParaRPr lang="en-US" sz="1800" b="0" strike="noStrike" spc="-1">
              <a:solidFill>
                <a:srgbClr val="000000"/>
              </a:solidFill>
              <a:latin typeface="Times New Roman"/>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 name="PlaceHolder 1"/>
          <p:cNvSpPr>
            <a:spLocks noGrp="1" noRot="1" noChangeAspect="1"/>
          </p:cNvSpPr>
          <p:nvPr>
            <p:ph type="sldImg"/>
          </p:nvPr>
        </p:nvSpPr>
        <p:spPr>
          <a:xfrm>
            <a:off x="0" y="0"/>
            <a:ext cx="0" cy="0"/>
          </a:xfrm>
          <a:prstGeom prst="rect">
            <a:avLst/>
          </a:prstGeom>
          <a:ln w="0">
            <a:noFill/>
          </a:ln>
        </p:spPr>
      </p:sp>
      <p:sp>
        <p:nvSpPr>
          <p:cNvPr id="2642"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The packet processing order is one of the most fundamental concepts on the BIG-IP and one of the most frequently tested topics on the exam. Students must be able to prioritize the 7 steps and understand why existing connections take precedence over everything else.</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FULL TECHNICAL EXPLANATION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THE SEVEN-STEP PROCESSING ORDER:</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STEP 1: EXISTING CONNECTIONS (highest priority)</a:t>
            </a:r>
          </a:p>
          <a:p>
            <a:pPr marL="216000" indent="-216000">
              <a:buNone/>
            </a:pPr>
            <a:r>
              <a:rPr lang="en-US" sz="2000" b="0" strike="noStrike" spc="-1">
                <a:solidFill>
                  <a:srgbClr val="000000"/>
                </a:solidFill>
                <a:latin typeface="Arial"/>
              </a:rPr>
              <a:t>When a packet arrives, the BIG-IP first checks its connection table. If the packet matches an existing connection (by source IP, source port, destination IP, destination port, protocol), the packet follows that connection — no further evaluation happens.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This is why:</a:t>
            </a:r>
          </a:p>
          <a:p>
            <a:pPr marL="216000" indent="-216000">
              <a:buNone/>
            </a:pPr>
            <a:r>
              <a:rPr lang="en-US" sz="2000" b="0" strike="noStrike" spc="-1">
                <a:solidFill>
                  <a:srgbClr val="000000"/>
                </a:solidFill>
                <a:latin typeface="Arial"/>
              </a:rPr>
              <a:t>- Disabling a VS doesn't disconnect existing sessions — they're already in the connection table</a:t>
            </a:r>
          </a:p>
          <a:p>
            <a:pPr marL="216000" indent="-216000">
              <a:buNone/>
            </a:pPr>
            <a:r>
              <a:rPr lang="en-US" sz="2000" b="0" strike="noStrike" spc="-1">
                <a:solidFill>
                  <a:srgbClr val="000000"/>
                </a:solidFill>
                <a:latin typeface="Arial"/>
              </a:rPr>
              <a:t>- Changing a VS configuration doesn't affect active connections until they're re-established</a:t>
            </a:r>
          </a:p>
          <a:p>
            <a:pPr marL="216000" indent="-216000">
              <a:buNone/>
            </a:pPr>
            <a:r>
              <a:rPr lang="en-US" sz="2000" b="0" strike="noStrike" spc="-1">
                <a:solidFill>
                  <a:srgbClr val="000000"/>
                </a:solidFill>
                <a:latin typeface="Arial"/>
              </a:rPr>
              <a:t>- Packet filters enabled AFTER connections are established don't affect those connections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TMSH: show sys connection cs-client-addr 10.1.10.199</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STEP 2: PACKET FILTERS (AFM)</a:t>
            </a:r>
          </a:p>
          <a:p>
            <a:pPr marL="216000" indent="-216000">
              <a:buNone/>
            </a:pPr>
            <a:r>
              <a:rPr lang="en-US" sz="2000" b="0" strike="noStrike" spc="-1">
                <a:solidFill>
                  <a:srgbClr val="000000"/>
                </a:solidFill>
                <a:latin typeface="Arial"/>
              </a:rPr>
              <a:t>If packet filters are enabled (Network &gt; Packet Filters &gt; General &gt; Enable), each new packet (not matching an existing connection) is evaluated against packet filter rules.</a:t>
            </a:r>
          </a:p>
          <a:p>
            <a:pPr marL="216000" indent="-216000">
              <a:buNone/>
            </a:pPr>
            <a:r>
              <a:rPr lang="en-US" sz="2000" b="0" strike="noStrike" spc="-1">
                <a:solidFill>
                  <a:srgbClr val="000000"/>
                </a:solidFill>
                <a:latin typeface="Arial"/>
              </a:rPr>
              <a:t>- Rules are evaluated in order (First, Second, Third...)</a:t>
            </a:r>
          </a:p>
          <a:p>
            <a:pPr marL="216000" indent="-216000">
              <a:buNone/>
            </a:pPr>
            <a:r>
              <a:rPr lang="en-US" sz="2000" b="0" strike="noStrike" spc="-1">
                <a:solidFill>
                  <a:srgbClr val="000000"/>
                </a:solidFill>
                <a:latin typeface="Arial"/>
              </a:rPr>
              <a:t>- If a rule matches with Action: Discard → packet is silently dropped</a:t>
            </a:r>
          </a:p>
          <a:p>
            <a:pPr marL="216000" indent="-216000">
              <a:buNone/>
            </a:pPr>
            <a:r>
              <a:rPr lang="en-US" sz="2000" b="0" strike="noStrike" spc="-1">
                <a:solidFill>
                  <a:srgbClr val="000000"/>
                </a:solidFill>
                <a:latin typeface="Arial"/>
              </a:rPr>
              <a:t>- If a rule matches with Action: Accept → packet continues to Step 3</a:t>
            </a:r>
          </a:p>
          <a:p>
            <a:pPr marL="216000" indent="-216000">
              <a:buNone/>
            </a:pPr>
            <a:r>
              <a:rPr lang="en-US" sz="2000" b="0" strike="noStrike" spc="-1">
                <a:solidFill>
                  <a:srgbClr val="000000"/>
                </a:solidFill>
                <a:latin typeface="Arial"/>
              </a:rPr>
              <a:t>- If no rule matches → default action (Accept or Discard based on configuration)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KEY EXAM POINT: Packet filters are evaluated BEFORE virtual servers. This means a packet filter can block traffic that would otherwise be handled by a VS. In the lab, students create a filter blocking FTP to 10.1.10.100 and observe that the ftp_vs never sees the traffic.</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STEP 3: VIRTUAL SERVER</a:t>
            </a:r>
          </a:p>
          <a:p>
            <a:pPr marL="216000" indent="-216000">
              <a:buNone/>
            </a:pPr>
            <a:r>
              <a:rPr lang="en-US" sz="2000" b="0" strike="noStrike" spc="-1">
                <a:solidFill>
                  <a:srgbClr val="000000"/>
                </a:solidFill>
                <a:latin typeface="Arial"/>
              </a:rPr>
              <a:t>The BIG-IP matches the packet against configured virtual servers using the VS matching order (next slide). The most specific match wins.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STEP 4: SNAT (Source NAT)</a:t>
            </a:r>
          </a:p>
          <a:p>
            <a:pPr marL="216000" indent="-216000">
              <a:buNone/>
            </a:pPr>
            <a:r>
              <a:rPr lang="en-US" sz="2000" b="0" strike="noStrike" spc="-1">
                <a:solidFill>
                  <a:srgbClr val="000000"/>
                </a:solidFill>
                <a:latin typeface="Arial"/>
              </a:rPr>
              <a:t>If no VS matches, the BIG-IP checks for SNAT objects. SNATs translate source addresses for outbound traffic. This allows internal servers to access the internet through the BIG-IP.</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STEP 5: NAT</a:t>
            </a:r>
          </a:p>
          <a:p>
            <a:pPr marL="216000" indent="-216000">
              <a:buNone/>
            </a:pPr>
            <a:r>
              <a:rPr lang="en-US" sz="2000" b="0" strike="noStrike" spc="-1">
                <a:solidFill>
                  <a:srgbClr val="000000"/>
                </a:solidFill>
                <a:latin typeface="Arial"/>
              </a:rPr>
              <a:t>Similar to SNAT but maps one IP to another (1:1 translation).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STEP 6: SELF IP</a:t>
            </a:r>
          </a:p>
          <a:p>
            <a:pPr marL="216000" indent="-216000">
              <a:buNone/>
            </a:pPr>
            <a:r>
              <a:rPr lang="en-US" sz="2000" b="0" strike="noStrike" spc="-1">
                <a:solidFill>
                  <a:srgbClr val="000000"/>
                </a:solidFill>
                <a:latin typeface="Arial"/>
              </a:rPr>
              <a:t>If the destination IP matches a BIG-IP self IP (the BIG-IP's own address on a VLAN), TMM processes it locally. This handles: routing protocol traffic (BGP, OSPF), health monitor responses (when servers respond to monitors), management traffic through TMM interfaces.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STEP 7: DROP</a:t>
            </a:r>
          </a:p>
          <a:p>
            <a:pPr marL="216000" indent="-216000">
              <a:buNone/>
            </a:pPr>
            <a:r>
              <a:rPr lang="en-US" sz="2000" b="0" strike="noStrike" spc="-1">
                <a:solidFill>
                  <a:srgbClr val="000000"/>
                </a:solidFill>
                <a:latin typeface="Arial"/>
              </a:rPr>
              <a:t>If no match at any step, the packet is silently dropped. No RST is sent. The client will eventually time out.</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WHY MANAGEMENT SSH ISN'T IN THE CONNECTION TABLE:</a:t>
            </a:r>
          </a:p>
          <a:p>
            <a:pPr marL="216000" indent="-216000">
              <a:buNone/>
            </a:pPr>
            <a:r>
              <a:rPr lang="en-US" sz="2000" b="0" strike="noStrike" spc="-1">
                <a:solidFill>
                  <a:srgbClr val="000000"/>
                </a:solidFill>
                <a:latin typeface="Arial"/>
              </a:rPr>
              <a:t>Lab question: "Why are SSH sessions to the management IP not in the connection table?"</a:t>
            </a:r>
          </a:p>
          <a:p>
            <a:pPr marL="216000" indent="-216000">
              <a:buNone/>
            </a:pPr>
            <a:r>
              <a:rPr lang="en-US" sz="2000" b="0" strike="noStrike" spc="-1">
                <a:solidFill>
                  <a:srgbClr val="000000"/>
                </a:solidFill>
                <a:latin typeface="Arial"/>
              </a:rPr>
              <a:t>Answer: Management traffic (to the MGMT interface on 10.1.1.4) is handled by the BIG-IP's host OS (Linux), not TMM. The connection table only shows TMM-processed connections. Management traffic never enters TMM's processing pipeline.</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COMMON STUDENT MISTAKES</a:t>
            </a:r>
          </a:p>
          <a:p>
            <a:pPr marL="216000" indent="-216000">
              <a:buNone/>
            </a:pPr>
            <a:r>
              <a:rPr lang="en-US" sz="2000" b="0" strike="noStrike" spc="-1">
                <a:solidFill>
                  <a:srgbClr val="000000"/>
                </a:solidFill>
                <a:latin typeface="Arial"/>
              </a:rPr>
              <a:t>- Not understanding that existing connections are checked FIRST — this is why disabling a VS doesn't disconnect active users</a:t>
            </a:r>
          </a:p>
          <a:p>
            <a:pPr marL="216000" indent="-216000">
              <a:buNone/>
            </a:pPr>
            <a:r>
              <a:rPr lang="en-US" sz="2000" b="0" strike="noStrike" spc="-1">
                <a:solidFill>
                  <a:srgbClr val="000000"/>
                </a:solidFill>
                <a:latin typeface="Arial"/>
              </a:rPr>
              <a:t>- Thinking packet filters are checked after VS — they're checked BEFORE</a:t>
            </a:r>
          </a:p>
          <a:p>
            <a:pPr marL="216000" indent="-216000">
              <a:buNone/>
            </a:pPr>
            <a:r>
              <a:rPr lang="en-US" sz="2000" b="0" strike="noStrike" spc="-1">
                <a:solidFill>
                  <a:srgbClr val="000000"/>
                </a:solidFill>
                <a:latin typeface="Arial"/>
              </a:rPr>
              <a:t>- Assuming unmatched packets get a RST — they're silently dropped (no response)</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PIVOT QUESTION</a:t>
            </a:r>
          </a:p>
          <a:p>
            <a:pPr marL="216000" indent="-216000">
              <a:buNone/>
            </a:pPr>
            <a:r>
              <a:rPr lang="en-US" sz="2000" b="0" strike="noStrike" spc="-1">
                <a:solidFill>
                  <a:srgbClr val="000000"/>
                </a:solidFill>
                <a:latin typeface="Arial"/>
              </a:rPr>
              <a:t>"You enable a packet filter to block port 21 (FTP). An existing FTP session continues to work. Why?"</a:t>
            </a:r>
          </a:p>
          <a:p>
            <a:pPr marL="216000" indent="-216000">
              <a:buNone/>
            </a:pPr>
            <a:r>
              <a:rPr lang="en-US" sz="2000" b="0" strike="noStrike" spc="-1">
                <a:solidFill>
                  <a:srgbClr val="000000"/>
                </a:solidFill>
                <a:latin typeface="Arial"/>
              </a:rPr>
              <a:t>ANSWER: Existing connections (Step 1) are checked before packet filters (Step 2). The FTP session is already in the connection table, so packets for it bypass the packet filter entirely. Only NEW FTP connections will be blocked. To block existing connections, you'd need to clear the connection table: delete sys connection cs-client-addr [ip]</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F5 DOCUMENTATION</a:t>
            </a:r>
          </a:p>
          <a:p>
            <a:pPr marL="216000" indent="-216000">
              <a:buNone/>
            </a:pPr>
            <a:r>
              <a:rPr lang="en-US" sz="2000" b="0" strike="noStrike" spc="-1">
                <a:solidFill>
                  <a:srgbClr val="000000"/>
                </a:solidFill>
                <a:latin typeface="Arial"/>
              </a:rPr>
              <a:t>- Packet processing order: https://my.f5.com/manage/s/article/K8082</a:t>
            </a:r>
          </a:p>
          <a:p>
            <a:pPr marL="216000" indent="-216000">
              <a:buNone/>
            </a:pPr>
            <a:r>
              <a:rPr lang="en-US" sz="2000" b="0" strike="noStrike" spc="-1">
                <a:solidFill>
                  <a:srgbClr val="000000"/>
                </a:solidFill>
                <a:latin typeface="Arial"/>
              </a:rPr>
              <a:t>- Connection table: https://my.f5.com/manage/s/article/K13637</a:t>
            </a:r>
          </a:p>
          <a:p>
            <a:pPr marL="216000" indent="-216000">
              <a:buNone/>
            </a:pPr>
            <a:r>
              <a:rPr lang="en-US" sz="2000" b="0" strike="noStrike" spc="-1">
                <a:solidFill>
                  <a:srgbClr val="000000"/>
                </a:solidFill>
                <a:latin typeface="Arial"/>
              </a:rPr>
              <a:t>- Packet filters: https://my.f5.com/manage/s/article/K2250</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EXAM QUESTION PATTERNS</a:t>
            </a:r>
          </a:p>
          <a:p>
            <a:pPr marL="216000" indent="-216000">
              <a:buNone/>
            </a:pPr>
            <a:r>
              <a:rPr lang="en-US" sz="2000" b="0" strike="noStrike" spc="-1">
                <a:solidFill>
                  <a:srgbClr val="000000"/>
                </a:solidFill>
                <a:latin typeface="Arial"/>
              </a:rPr>
              <a:t>- "What is the order?" → Existing connections → Packet filter → VS → SNAT → NAT → Self IP → Drop</a:t>
            </a:r>
          </a:p>
          <a:p>
            <a:pPr marL="216000" indent="-216000">
              <a:buNone/>
            </a:pPr>
            <a:r>
              <a:rPr lang="en-US" sz="2000" b="0" strike="noStrike" spc="-1">
                <a:solidFill>
                  <a:srgbClr val="000000"/>
                </a:solidFill>
                <a:latin typeface="Arial"/>
              </a:rPr>
              <a:t>- "Packet filter enabled after FTP session established. Does it block the session?" → No (existing connections take priority)</a:t>
            </a:r>
          </a:p>
          <a:p>
            <a:pPr marL="216000" indent="0">
              <a:lnSpc>
                <a:spcPct val="100000"/>
              </a:lnSpc>
              <a:buNone/>
            </a:pPr>
            <a:r>
              <a:rPr lang="en-US" sz="2000" b="0" strike="noStrike" spc="-1">
                <a:solidFill>
                  <a:srgbClr val="000000"/>
                </a:solidFill>
                <a:latin typeface="Arial"/>
              </a:rPr>
              <a:t>- "Unmatched traffic to VIP. What happens?" → Silently dropped (no RST)</a:t>
            </a:r>
          </a:p>
        </p:txBody>
      </p:sp>
      <p:sp>
        <p:nvSpPr>
          <p:cNvPr id="2643" name="PlaceHolder 3"/>
          <p:cNvSpPr>
            <a:spLocks noGrp="1"/>
          </p:cNvSpPr>
          <p:nvPr>
            <p:ph type="sldNum" idx="60"/>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6E969177-03AC-4CB5-A78D-D1FC2E323032}" type="slidenum">
              <a:rPr lang="en-US" sz="1800" b="0" strike="noStrike" spc="-1">
                <a:solidFill>
                  <a:schemeClr val="dk1"/>
                </a:solidFill>
                <a:latin typeface="+mn-lt"/>
                <a:ea typeface="+mn-ea"/>
              </a:rPr>
              <a:t>57</a:t>
            </a:fld>
            <a:endParaRPr lang="en-US" sz="1800" b="0" strike="noStrike" spc="-1">
              <a:solidFill>
                <a:srgbClr val="000000"/>
              </a:solidFill>
              <a:latin typeface="Times New Roman"/>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4" name="PlaceHolder 1"/>
          <p:cNvSpPr>
            <a:spLocks noGrp="1" noRot="1" noChangeAspect="1"/>
          </p:cNvSpPr>
          <p:nvPr>
            <p:ph type="sldImg"/>
          </p:nvPr>
        </p:nvSpPr>
        <p:spPr>
          <a:xfrm>
            <a:off x="0" y="0"/>
            <a:ext cx="0" cy="0"/>
          </a:xfrm>
          <a:prstGeom prst="rect">
            <a:avLst/>
          </a:prstGeom>
          <a:ln w="0">
            <a:noFill/>
          </a:ln>
        </p:spPr>
      </p:sp>
      <p:sp>
        <p:nvSpPr>
          <p:cNvPr id="2645"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This slide covers F5CTSLTM2.07: "Identify the matching order of multiple virtual servers." The exam presents scenarios with multiple VS configured on the same VIP and asks which one handles a specific request. Understanding the specificity hierarchy is critical.</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FULL TECHNICAL EXPLANATION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VS MATCHING SPECIFICITY:</a:t>
            </a:r>
          </a:p>
          <a:p>
            <a:pPr marL="216000" indent="-216000">
              <a:buNone/>
            </a:pPr>
            <a:r>
              <a:rPr lang="en-US" sz="2000" b="0" strike="noStrike" spc="-1">
                <a:solidFill>
                  <a:srgbClr val="000000"/>
                </a:solidFill>
                <a:latin typeface="Arial"/>
              </a:rPr>
              <a:t>The BIG-IP evaluates virtual servers from most specific to least specific. When a packet arrives, it checks destination address specificity first, then port specificity.</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The hierarchy (from most to least specific):</a:t>
            </a:r>
          </a:p>
          <a:p>
            <a:pPr marL="216000" indent="-216000">
              <a:buNone/>
            </a:pPr>
            <a:r>
              <a:rPr lang="en-US" sz="2000" b="0" strike="noStrike" spc="-1">
                <a:solidFill>
                  <a:srgbClr val="000000"/>
                </a:solidFill>
                <a:latin typeface="Arial"/>
              </a:rPr>
              <a:t>1. Host address (exact IP) + specific port → e.g., 10.1.10.100:80</a:t>
            </a:r>
          </a:p>
          <a:p>
            <a:pPr marL="216000" indent="-216000">
              <a:buNone/>
            </a:pPr>
            <a:r>
              <a:rPr lang="en-US" sz="2000" b="0" strike="noStrike" spc="-1">
                <a:solidFill>
                  <a:srgbClr val="000000"/>
                </a:solidFill>
                <a:latin typeface="Arial"/>
              </a:rPr>
              <a:t>2. Host address + wildcard port → e.g., 10.1.10.100:*</a:t>
            </a:r>
          </a:p>
          <a:p>
            <a:pPr marL="216000" indent="-216000">
              <a:buNone/>
            </a:pPr>
            <a:r>
              <a:rPr lang="en-US" sz="2000" b="0" strike="noStrike" spc="-1">
                <a:solidFill>
                  <a:srgbClr val="000000"/>
                </a:solidFill>
                <a:latin typeface="Arial"/>
              </a:rPr>
              <a:t>3. Network address + specific port → e.g., 10.1.10.0/24:80</a:t>
            </a:r>
          </a:p>
          <a:p>
            <a:pPr marL="216000" indent="-216000">
              <a:buNone/>
            </a:pPr>
            <a:r>
              <a:rPr lang="en-US" sz="2000" b="0" strike="noStrike" spc="-1">
                <a:solidFill>
                  <a:srgbClr val="000000"/>
                </a:solidFill>
                <a:latin typeface="Arial"/>
              </a:rPr>
              <a:t>4. Network address + wildcard port → e.g., 10.1.10.0/24:*</a:t>
            </a:r>
          </a:p>
          <a:p>
            <a:pPr marL="216000" indent="-216000">
              <a:buNone/>
            </a:pPr>
            <a:r>
              <a:rPr lang="en-US" sz="2000" b="0" strike="noStrike" spc="-1">
                <a:solidFill>
                  <a:srgbClr val="000000"/>
                </a:solidFill>
                <a:latin typeface="Arial"/>
              </a:rPr>
              <a:t>5. Wildcard address + specific port → e.g., 0.0.0.0/0:80</a:t>
            </a:r>
          </a:p>
          <a:p>
            <a:pPr marL="216000" indent="-216000">
              <a:buNone/>
            </a:pPr>
            <a:r>
              <a:rPr lang="en-US" sz="2000" b="0" strike="noStrike" spc="-1">
                <a:solidFill>
                  <a:srgbClr val="000000"/>
                </a:solidFill>
                <a:latin typeface="Arial"/>
              </a:rPr>
              <a:t>6. Wildcard address + wildcard port → e.g., 0.0.0.0/0:*</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THE LAB SCENARIO:</a:t>
            </a:r>
          </a:p>
          <a:p>
            <a:pPr marL="216000" indent="-216000">
              <a:buNone/>
            </a:pPr>
            <a:r>
              <a:rPr lang="en-US" sz="2000" b="0" strike="noStrike" spc="-1">
                <a:solidFill>
                  <a:srgbClr val="000000"/>
                </a:solidFill>
                <a:latin typeface="Arial"/>
              </a:rPr>
              <a:t>Students have these VS configured on 10.1.10.100:</a:t>
            </a:r>
          </a:p>
          <a:p>
            <a:pPr marL="216000" indent="-216000">
              <a:buNone/>
            </a:pPr>
            <a:r>
              <a:rPr lang="en-US" sz="2000" b="0" strike="noStrike" spc="-1">
                <a:solidFill>
                  <a:srgbClr val="000000"/>
                </a:solidFill>
                <a:latin typeface="Arial"/>
              </a:rPr>
              <a:t>- www_vs: 10.1.10.100:80 (host + port)</a:t>
            </a:r>
          </a:p>
          <a:p>
            <a:pPr marL="216000" indent="-216000">
              <a:buNone/>
            </a:pPr>
            <a:r>
              <a:rPr lang="en-US" sz="2000" b="0" strike="noStrike" spc="-1">
                <a:solidFill>
                  <a:srgbClr val="000000"/>
                </a:solidFill>
                <a:latin typeface="Arial"/>
              </a:rPr>
              <a:t>- ftp_vs: 10.1.10.100:21 (host + port)</a:t>
            </a:r>
          </a:p>
          <a:p>
            <a:pPr marL="216000" indent="-216000">
              <a:buNone/>
            </a:pPr>
            <a:r>
              <a:rPr lang="en-US" sz="2000" b="0" strike="noStrike" spc="-1">
                <a:solidFill>
                  <a:srgbClr val="000000"/>
                </a:solidFill>
                <a:latin typeface="Arial"/>
              </a:rPr>
              <a:t>- wildcard_vs: 10.1.10.100:* (host + wildcard port)</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Traffic to:</a:t>
            </a:r>
          </a:p>
          <a:p>
            <a:pPr marL="216000" indent="-216000">
              <a:buNone/>
            </a:pPr>
            <a:r>
              <a:rPr lang="en-US" sz="2000" b="0" strike="noStrike" spc="-1">
                <a:solidFill>
                  <a:srgbClr val="000000"/>
                </a:solidFill>
                <a:latin typeface="Arial"/>
              </a:rPr>
              <a:t>- http://10.1.10.100 (port 80) → www_vs wins (most specific: host + port 80)</a:t>
            </a:r>
          </a:p>
          <a:p>
            <a:pPr marL="216000" indent="-216000">
              <a:buNone/>
            </a:pPr>
            <a:r>
              <a:rPr lang="en-US" sz="2000" b="0" strike="noStrike" spc="-1">
                <a:solidFill>
                  <a:srgbClr val="000000"/>
                </a:solidFill>
                <a:latin typeface="Arial"/>
              </a:rPr>
              <a:t>- ftp 10.1.10.100 (port 21) → ftp_vs wins (most specific: host + port 21)</a:t>
            </a:r>
          </a:p>
          <a:p>
            <a:pPr marL="216000" indent="-216000">
              <a:buNone/>
            </a:pPr>
            <a:r>
              <a:rPr lang="en-US" sz="2000" b="0" strike="noStrike" spc="-1">
                <a:solidFill>
                  <a:srgbClr val="000000"/>
                </a:solidFill>
                <a:latin typeface="Arial"/>
              </a:rPr>
              <a:t>- http://10.1.10.100:8080 → wildcard_vs wins (host + wildcard port, since no VS has port 8080)</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SOURCE ADDRESS AS TIEBREAKER:</a:t>
            </a:r>
          </a:p>
          <a:p>
            <a:pPr marL="216000" indent="-216000">
              <a:buNone/>
            </a:pPr>
            <a:r>
              <a:rPr lang="en-US" sz="2000" b="0" strike="noStrike" spc="-1">
                <a:solidFill>
                  <a:srgbClr val="000000"/>
                </a:solidFill>
                <a:latin typeface="Arial"/>
              </a:rPr>
              <a:t>When two VS have the same destination specificity (same IP:port or same wildcard pattern), the BIG-IP uses the Source Address field to break the tie:</a:t>
            </a:r>
          </a:p>
          <a:p>
            <a:pPr marL="216000" indent="-216000">
              <a:buNone/>
            </a:pPr>
            <a:r>
              <a:rPr lang="en-US" sz="2000" b="0" strike="noStrike" spc="-1">
                <a:solidFill>
                  <a:srgbClr val="000000"/>
                </a:solidFill>
                <a:latin typeface="Arial"/>
              </a:rPr>
              <a:t>- A VS with Source 10.1.10.0/24 is more specific than Source 0.0.0.0/0</a:t>
            </a:r>
          </a:p>
          <a:p>
            <a:pPr marL="216000" indent="-216000">
              <a:buNone/>
            </a:pPr>
            <a:r>
              <a:rPr lang="en-US" sz="2000" b="0" strike="noStrike" spc="-1">
                <a:solidFill>
                  <a:srgbClr val="000000"/>
                </a:solidFill>
                <a:latin typeface="Arial"/>
              </a:rPr>
              <a:t>- A client from 10.1.10.199 matches the /24 source first</a:t>
            </a:r>
          </a:p>
          <a:p>
            <a:pPr marL="216000" indent="-216000">
              <a:buNone/>
            </a:pPr>
            <a:r>
              <a:rPr lang="en-US" sz="2000" b="0" strike="noStrike" spc="-1">
                <a:solidFill>
                  <a:srgbClr val="000000"/>
                </a:solidFill>
                <a:latin typeface="Arial"/>
              </a:rPr>
              <a:t>- A client from 10.2.20.50 doesn't match /24 → falls through to /0</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Lab Activity 3 tests this: students modify wildcard_vs Source to 10.1.10.0/24, then browse from 10.1.10.199 → wildcard_vs matches (same dest specificity as www_vs for non-80 ports, but /24 source is more specific than www_vs's default /0).</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COMMON STUDENT MISTAKES</a:t>
            </a:r>
          </a:p>
          <a:p>
            <a:pPr marL="216000" indent="-216000">
              <a:buNone/>
            </a:pPr>
            <a:r>
              <a:rPr lang="en-US" sz="2000" b="0" strike="noStrike" spc="-1">
                <a:solidFill>
                  <a:srgbClr val="000000"/>
                </a:solidFill>
                <a:latin typeface="Arial"/>
              </a:rPr>
              <a:t>- Assuming wildcard VS always handles traffic — it only handles traffic that no more specific VS matches</a:t>
            </a:r>
          </a:p>
          <a:p>
            <a:pPr marL="216000" indent="-216000">
              <a:buNone/>
            </a:pPr>
            <a:r>
              <a:rPr lang="en-US" sz="2000" b="0" strike="noStrike" spc="-1">
                <a:solidFill>
                  <a:srgbClr val="000000"/>
                </a:solidFill>
                <a:latin typeface="Arial"/>
              </a:rPr>
              <a:t>- Not understanding that source address breaks ties — when two VS have the same dest, source specificity wins</a:t>
            </a:r>
          </a:p>
          <a:p>
            <a:pPr marL="216000" indent="-216000">
              <a:buNone/>
            </a:pPr>
            <a:r>
              <a:rPr lang="en-US" sz="2000" b="0" strike="noStrike" spc="-1">
                <a:solidFill>
                  <a:srgbClr val="000000"/>
                </a:solidFill>
                <a:latin typeface="Arial"/>
              </a:rPr>
              <a:t>- Thinking port-specific beats host-specific — the hierarchy is destination address first, then port</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PIVOT QUESTION</a:t>
            </a:r>
          </a:p>
          <a:p>
            <a:pPr marL="216000" indent="-216000">
              <a:buNone/>
            </a:pPr>
            <a:r>
              <a:rPr lang="en-US" sz="2000" b="0" strike="noStrike" spc="-1">
                <a:solidFill>
                  <a:srgbClr val="000000"/>
                </a:solidFill>
                <a:latin typeface="Arial"/>
              </a:rPr>
              <a:t>"You have www_vs (10.1.10.100:80) and wildcard_vs (10.1.10.100:*). A client browses to https://10.1.10.100 (port 443). Which VS processes the request?"</a:t>
            </a:r>
          </a:p>
          <a:p>
            <a:pPr marL="216000" indent="-216000">
              <a:buNone/>
            </a:pPr>
            <a:r>
              <a:rPr lang="en-US" sz="2000" b="0" strike="noStrike" spc="-1">
                <a:solidFill>
                  <a:srgbClr val="000000"/>
                </a:solidFill>
                <a:latin typeface="Arial"/>
              </a:rPr>
              <a:t>ANSWER: wildcard_vs. There is no VS matching 10.1.10.100:443 specifically. The wildcard_vs (10.1.10.100:*) matches because the host address is exact and the wildcard port includes 443. If there were also a secure_vs on 10.1.10.100:443, it would win over wildcard_vs because host+port is more specific than host+wildcard.</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F5 DOCUMENTATION</a:t>
            </a:r>
          </a:p>
          <a:p>
            <a:pPr marL="216000" indent="-216000">
              <a:buNone/>
            </a:pPr>
            <a:r>
              <a:rPr lang="en-US" sz="2000" b="0" strike="noStrike" spc="-1">
                <a:solidFill>
                  <a:srgbClr val="000000"/>
                </a:solidFill>
                <a:latin typeface="Arial"/>
              </a:rPr>
              <a:t>- VS matching order: https://my.f5.com/manage/s/article/K14800</a:t>
            </a:r>
          </a:p>
          <a:p>
            <a:pPr marL="216000" indent="-216000">
              <a:buNone/>
            </a:pPr>
            <a:r>
              <a:rPr lang="en-US" sz="2000" b="0" strike="noStrike" spc="-1">
                <a:solidFill>
                  <a:srgbClr val="000000"/>
                </a:solidFill>
                <a:latin typeface="Arial"/>
              </a:rPr>
              <a:t>- VS types and precedence: https://my.f5.com/manage/s/article/K55185917</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EXAM QUESTION PATTERNS</a:t>
            </a:r>
          </a:p>
          <a:p>
            <a:pPr marL="216000" indent="-216000">
              <a:buNone/>
            </a:pPr>
            <a:r>
              <a:rPr lang="en-US" sz="2000" b="0" strike="noStrike" spc="-1">
                <a:solidFill>
                  <a:srgbClr val="000000"/>
                </a:solidFill>
                <a:latin typeface="Arial"/>
              </a:rPr>
              <a:t>- "VS-A is 10.1.10.100:80, VS-B is 10.1.10.100:*. Client requests port 8080. Which VS?" → VS-B</a:t>
            </a:r>
          </a:p>
          <a:p>
            <a:pPr marL="216000" indent="-216000">
              <a:buNone/>
            </a:pPr>
            <a:r>
              <a:rPr lang="en-US" sz="2000" b="0" strike="noStrike" spc="-1">
                <a:solidFill>
                  <a:srgbClr val="000000"/>
                </a:solidFill>
                <a:latin typeface="Arial"/>
              </a:rPr>
              <a:t>- "VS-A has source 10.1.10.0/24, VS-B has source 0.0.0.0/0, same dest. Client from 10.1.10.50?" → VS-A</a:t>
            </a:r>
          </a:p>
          <a:p>
            <a:pPr marL="216000" indent="0">
              <a:lnSpc>
                <a:spcPct val="100000"/>
              </a:lnSpc>
              <a:buNone/>
            </a:pPr>
            <a:r>
              <a:rPr lang="en-US" sz="2000" b="0" strike="noStrike" spc="-1">
                <a:solidFill>
                  <a:srgbClr val="000000"/>
                </a:solidFill>
                <a:latin typeface="Arial"/>
              </a:rPr>
              <a:t>- "Why doesn't my VS receive traffic?" → A more specific VS is matching first</a:t>
            </a:r>
          </a:p>
        </p:txBody>
      </p:sp>
      <p:sp>
        <p:nvSpPr>
          <p:cNvPr id="2646" name="PlaceHolder 3"/>
          <p:cNvSpPr>
            <a:spLocks noGrp="1"/>
          </p:cNvSpPr>
          <p:nvPr>
            <p:ph type="sldNum" idx="61"/>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5C15596F-29DC-4DBB-AF75-C34124E31025}" type="slidenum">
              <a:rPr lang="en-US" sz="1800" b="0" strike="noStrike" spc="-1">
                <a:solidFill>
                  <a:schemeClr val="dk1"/>
                </a:solidFill>
                <a:latin typeface="+mn-lt"/>
                <a:ea typeface="+mn-ea"/>
              </a:rPr>
              <a:t>58</a:t>
            </a:fld>
            <a:endParaRPr lang="en-US" sz="1800" b="0" strike="noStrike" spc="-1">
              <a:solidFill>
                <a:srgbClr val="000000"/>
              </a:solidFill>
              <a:latin typeface="Times New Roman"/>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7" name="PlaceHolder 1"/>
          <p:cNvSpPr>
            <a:spLocks noGrp="1" noRot="1" noChangeAspect="1"/>
          </p:cNvSpPr>
          <p:nvPr>
            <p:ph type="sldImg"/>
          </p:nvPr>
        </p:nvSpPr>
        <p:spPr>
          <a:xfrm>
            <a:off x="0" y="0"/>
            <a:ext cx="0" cy="0"/>
          </a:xfrm>
          <a:prstGeom prst="rect">
            <a:avLst/>
          </a:prstGeom>
          <a:ln w="0">
            <a:noFill/>
          </a:ln>
        </p:spPr>
      </p:sp>
      <p:sp>
        <p:nvSpPr>
          <p:cNvPr id="2648"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This slide covers F5CTSLTM2.05: "Distinguish between packet-based versus connection-based load balancing." Students must understand when to use each approach and the trade-offs involved.</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FULL TECHNICAL EXPLANATION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PACKET-BASED (Performance L4 / FastL4):</a:t>
            </a:r>
          </a:p>
          <a:p>
            <a:pPr marL="216000" indent="-216000">
              <a:buNone/>
            </a:pPr>
            <a:r>
              <a:rPr lang="en-US" sz="2000" b="0" strike="noStrike" spc="-1">
                <a:solidFill>
                  <a:srgbClr val="000000"/>
                </a:solidFill>
                <a:latin typeface="Arial"/>
              </a:rPr>
              <a:t>The BIG-IP processes each packet individually without reassembling the TCP byte stream:</a:t>
            </a:r>
          </a:p>
          <a:p>
            <a:pPr marL="216000" indent="-216000">
              <a:buNone/>
            </a:pPr>
            <a:r>
              <a:rPr lang="en-US" sz="2000" b="0" strike="noStrike" spc="-1">
                <a:solidFill>
                  <a:srgbClr val="000000"/>
                </a:solidFill>
                <a:latin typeface="Arial"/>
              </a:rPr>
              <a:t>1. First packet (SYN) arrives → BIG-IP makes LB decision based on L3/L4 info only (source/dest IP and port)</a:t>
            </a:r>
          </a:p>
          <a:p>
            <a:pPr marL="216000" indent="-216000">
              <a:buNone/>
            </a:pPr>
            <a:r>
              <a:rPr lang="en-US" sz="2000" b="0" strike="noStrike" spc="-1">
                <a:solidFill>
                  <a:srgbClr val="000000"/>
                </a:solidFill>
                <a:latin typeface="Arial"/>
              </a:rPr>
              <a:t>2. BIG-IP translates addresses and forwards the SYN to the selected pool member</a:t>
            </a:r>
          </a:p>
          <a:p>
            <a:pPr marL="216000" indent="-216000">
              <a:buNone/>
            </a:pPr>
            <a:r>
              <a:rPr lang="en-US" sz="2000" b="0" strike="noStrike" spc="-1">
                <a:solidFill>
                  <a:srgbClr val="000000"/>
                </a:solidFill>
                <a:latin typeface="Arial"/>
              </a:rPr>
              <a:t>3. All subsequent packets in the flow are forwarded with the same translation — no inspection</a:t>
            </a:r>
          </a:p>
          <a:p>
            <a:pPr marL="216000" indent="-216000">
              <a:buNone/>
            </a:pPr>
            <a:r>
              <a:rPr lang="en-US" sz="2000" b="0" strike="noStrike" spc="-1">
                <a:solidFill>
                  <a:srgbClr val="000000"/>
                </a:solidFill>
                <a:latin typeface="Arial"/>
              </a:rPr>
              <a:t>4. The BIG-IP maintains minimal connection state (just the address translation mapping)</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Loose initiation: Performance L4 can pick up mid-flow connections (connections that started before the BIG-IP was inserted into the path). Standard VS cannot do this because it needs to see the SYN to establish full proxy state.</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PVA acceleration: On hardware BIG-IP platforms with PVA ASIC, Performance L4 flows can be offloaded to dedicated hardware. This removes TMM CPU from the processing path entirely, achieving line-rate throughput.</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CONNECTION-BASED (Standard / Full Proxy):</a:t>
            </a:r>
          </a:p>
          <a:p>
            <a:pPr marL="216000" indent="-216000">
              <a:buNone/>
            </a:pPr>
            <a:r>
              <a:rPr lang="en-US" sz="2000" b="0" strike="noStrike" spc="-1">
                <a:solidFill>
                  <a:srgbClr val="000000"/>
                </a:solidFill>
                <a:latin typeface="Arial"/>
              </a:rPr>
              <a:t>The BIG-IP terminates the client's TCP connection and establishes a new, independent connection to the server:</a:t>
            </a:r>
          </a:p>
          <a:p>
            <a:pPr marL="216000" indent="-216000">
              <a:buNone/>
            </a:pPr>
            <a:r>
              <a:rPr lang="en-US" sz="2000" b="0" strike="noStrike" spc="-1">
                <a:solidFill>
                  <a:srgbClr val="000000"/>
                </a:solidFill>
                <a:latin typeface="Arial"/>
              </a:rPr>
              <a:t>1. Client SYN → BIG-IP completes three-way handshake (client-side connection)</a:t>
            </a:r>
          </a:p>
          <a:p>
            <a:pPr marL="216000" indent="-216000">
              <a:buNone/>
            </a:pPr>
            <a:r>
              <a:rPr lang="en-US" sz="2000" b="0" strike="noStrike" spc="-1">
                <a:solidFill>
                  <a:srgbClr val="000000"/>
                </a:solidFill>
                <a:latin typeface="Arial"/>
              </a:rPr>
              <a:t>2. Client sends data → BIG-IP buffers and reassembles the byte stream</a:t>
            </a:r>
          </a:p>
          <a:p>
            <a:pPr marL="216000" indent="-216000">
              <a:buNone/>
            </a:pPr>
            <a:r>
              <a:rPr lang="en-US" sz="2000" b="0" strike="noStrike" spc="-1">
                <a:solidFill>
                  <a:srgbClr val="000000"/>
                </a:solidFill>
                <a:latin typeface="Arial"/>
              </a:rPr>
              <a:t>3. If HTTP profile: BIG-IP parses HTTP request, can inspect headers, URI, cookies</a:t>
            </a:r>
          </a:p>
          <a:p>
            <a:pPr marL="216000" indent="-216000">
              <a:buNone/>
            </a:pPr>
            <a:r>
              <a:rPr lang="en-US" sz="2000" b="0" strike="noStrike" spc="-1">
                <a:solidFill>
                  <a:srgbClr val="000000"/>
                </a:solidFill>
                <a:latin typeface="Arial"/>
              </a:rPr>
              <a:t>4. BIG-IP makes LB decision (can be based on L7 data like URI, Host header, cookie)</a:t>
            </a:r>
          </a:p>
          <a:p>
            <a:pPr marL="216000" indent="-216000">
              <a:buNone/>
            </a:pPr>
            <a:r>
              <a:rPr lang="en-US" sz="2000" b="0" strike="noStrike" spc="-1">
                <a:solidFill>
                  <a:srgbClr val="000000"/>
                </a:solidFill>
                <a:latin typeface="Arial"/>
              </a:rPr>
              <a:t>5. BIG-IP opens new TCP connection to pool member (server-side connection)</a:t>
            </a:r>
          </a:p>
          <a:p>
            <a:pPr marL="216000" indent="-216000">
              <a:buNone/>
            </a:pPr>
            <a:r>
              <a:rPr lang="en-US" sz="2000" b="0" strike="noStrike" spc="-1">
                <a:solidFill>
                  <a:srgbClr val="000000"/>
                </a:solidFill>
                <a:latin typeface="Arial"/>
              </a:rPr>
              <a:t>6. BIG-IP can modify data between the two connections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The two connections are fully independent — different sequence numbers, different window sizes, potentially different TCP options (wan-optimized on client side, lan-optimized on server side).</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KEY EXAM DISTINCTION:</a:t>
            </a:r>
          </a:p>
          <a:p>
            <a:pPr marL="216000" indent="-216000">
              <a:buNone/>
            </a:pPr>
            <a:r>
              <a:rPr lang="en-US" sz="2000" b="0" strike="noStrike" spc="-1">
                <a:solidFill>
                  <a:srgbClr val="000000"/>
                </a:solidFill>
                <a:latin typeface="Arial"/>
              </a:rPr>
              <a:t>The exam may present a scenario and ask whether packet-based or connection-based is appropriate:</a:t>
            </a:r>
          </a:p>
          <a:p>
            <a:pPr marL="216000" indent="-216000">
              <a:buNone/>
            </a:pPr>
            <a:r>
              <a:rPr lang="en-US" sz="2000" b="0" strike="noStrike" spc="-1">
                <a:solidFill>
                  <a:srgbClr val="000000"/>
                </a:solidFill>
                <a:latin typeface="Arial"/>
              </a:rPr>
              <a:t>- "Load balance MySQL connections" → Packet-based (no L7 needed, FastL4 profile)</a:t>
            </a:r>
          </a:p>
          <a:p>
            <a:pPr marL="216000" indent="-216000">
              <a:buNone/>
            </a:pPr>
            <a:r>
              <a:rPr lang="en-US" sz="2000" b="0" strike="noStrike" spc="-1">
                <a:solidFill>
                  <a:srgbClr val="000000"/>
                </a:solidFill>
                <a:latin typeface="Arial"/>
              </a:rPr>
              <a:t>- "Load balance web application with cookie persistence" → Connection-based (need HTTP for cookies)</a:t>
            </a:r>
          </a:p>
          <a:p>
            <a:pPr marL="216000" indent="-216000">
              <a:buNone/>
            </a:pPr>
            <a:r>
              <a:rPr lang="en-US" sz="2000" b="0" strike="noStrike" spc="-1">
                <a:solidFill>
                  <a:srgbClr val="000000"/>
                </a:solidFill>
                <a:latin typeface="Arial"/>
              </a:rPr>
              <a:t>- "Forward traffic to a backend network" → Packet-based (Forwarding IP VS with FastL4)</a:t>
            </a:r>
          </a:p>
          <a:p>
            <a:pPr marL="216000" indent="-216000">
              <a:buNone/>
            </a:pPr>
            <a:r>
              <a:rPr lang="en-US" sz="2000" b="0" strike="noStrike" spc="-1">
                <a:solidFill>
                  <a:srgbClr val="000000"/>
                </a:solidFill>
                <a:latin typeface="Arial"/>
              </a:rPr>
              <a:t>- "Load balance HTTP with content switching" → Connection-based (need to read HTTP URI)</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COMMON STUDENT MISTAKES</a:t>
            </a:r>
          </a:p>
          <a:p>
            <a:pPr marL="216000" indent="-216000">
              <a:buNone/>
            </a:pPr>
            <a:r>
              <a:rPr lang="en-US" sz="2000" b="0" strike="noStrike" spc="-1">
                <a:solidFill>
                  <a:srgbClr val="000000"/>
                </a:solidFill>
                <a:latin typeface="Arial"/>
              </a:rPr>
              <a:t>- Thinking connection-based is always better. For non-HTTP traffic that doesn't need L7 inspection, packet-based is more efficient.</a:t>
            </a:r>
          </a:p>
          <a:p>
            <a:pPr marL="216000" indent="-216000">
              <a:buNone/>
            </a:pPr>
            <a:r>
              <a:rPr lang="en-US" sz="2000" b="0" strike="noStrike" spc="-1">
                <a:solidFill>
                  <a:srgbClr val="000000"/>
                </a:solidFill>
                <a:latin typeface="Arial"/>
              </a:rPr>
              <a:t>- Not understanding that packet-based VS cannot do cookie persistence. Cookies are L7 (HTTP) objects — you need to parse the byte stream to read them.</a:t>
            </a:r>
          </a:p>
          <a:p>
            <a:pPr marL="216000" indent="-216000">
              <a:buNone/>
            </a:pPr>
            <a:r>
              <a:rPr lang="en-US" sz="2000" b="0" strike="noStrike" spc="-1">
                <a:solidFill>
                  <a:srgbClr val="000000"/>
                </a:solidFill>
                <a:latin typeface="Arial"/>
              </a:rPr>
              <a:t>- Confusing "packet-based" with "stateless." Packet-based still tracks connections (for NAT translation) — it just doesn't reassemble the byte stream.</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PIVOT QUESTION</a:t>
            </a:r>
          </a:p>
          <a:p>
            <a:pPr marL="216000" indent="-216000">
              <a:buNone/>
            </a:pPr>
            <a:r>
              <a:rPr lang="en-US" sz="2000" b="0" strike="noStrike" spc="-1">
                <a:solidFill>
                  <a:srgbClr val="000000"/>
                </a:solidFill>
                <a:latin typeface="Arial"/>
              </a:rPr>
              <a:t>"An application requires HTTP header insertion (X-Forwarded-For) and cookie persistence. The network team wants maximum throughput and suggests Performance L4. Can this work?"</a:t>
            </a:r>
          </a:p>
          <a:p>
            <a:pPr marL="216000" indent="-216000">
              <a:buNone/>
            </a:pPr>
            <a:r>
              <a:rPr lang="en-US" sz="2000" b="0" strike="noStrike" spc="-1">
                <a:solidFill>
                  <a:srgbClr val="000000"/>
                </a:solidFill>
                <a:latin typeface="Arial"/>
              </a:rPr>
              <a:t>ANSWER: No. HTTP header insertion and cookie persistence both require the BIG-IP to parse HTTP — which requires a TCP + HTTP profile on a Standard VS (connection-based). Performance L4 doesn't reassemble the byte stream and cannot inspect or modify HTTP headers. The network team must accept the overhead of connection-based processing for these L7 features.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F5 DOCUMENTATION</a:t>
            </a:r>
          </a:p>
          <a:p>
            <a:pPr marL="216000" indent="-216000">
              <a:buNone/>
            </a:pPr>
            <a:r>
              <a:rPr lang="en-US" sz="2000" b="0" strike="noStrike" spc="-1">
                <a:solidFill>
                  <a:srgbClr val="000000"/>
                </a:solidFill>
                <a:latin typeface="Arial"/>
              </a:rPr>
              <a:t>- Packet vs connection processing: https://my.f5.com/manage/s/article/K55185917</a:t>
            </a:r>
          </a:p>
          <a:p>
            <a:pPr marL="216000" indent="-216000">
              <a:buNone/>
            </a:pPr>
            <a:r>
              <a:rPr lang="en-US" sz="2000" b="0" strike="noStrike" spc="-1">
                <a:solidFill>
                  <a:srgbClr val="000000"/>
                </a:solidFill>
                <a:latin typeface="Arial"/>
              </a:rPr>
              <a:t>- FastL4 profile: https://my.f5.com/manage/s/article/K55185917</a:t>
            </a:r>
          </a:p>
          <a:p>
            <a:pPr marL="216000" indent="-216000">
              <a:buNone/>
            </a:pPr>
            <a:r>
              <a:rPr lang="en-US" sz="2000" b="0" strike="noStrike" spc="-1">
                <a:solidFill>
                  <a:srgbClr val="000000"/>
                </a:solidFill>
                <a:latin typeface="Arial"/>
              </a:rPr>
              <a:t>- Standard VS: https://my.f5.com/manage/s/article/K8082</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EXAM QUESTION PATTERNS</a:t>
            </a:r>
          </a:p>
          <a:p>
            <a:pPr marL="216000" indent="-216000">
              <a:buNone/>
            </a:pPr>
            <a:r>
              <a:rPr lang="en-US" sz="2000" b="0" strike="noStrike" spc="-1">
                <a:solidFill>
                  <a:srgbClr val="000000"/>
                </a:solidFill>
                <a:latin typeface="Arial"/>
              </a:rPr>
              <a:t>- "Which processing mode supports cookie persistence?" → Connection-based (Standard)</a:t>
            </a:r>
          </a:p>
          <a:p>
            <a:pPr marL="216000" indent="-216000">
              <a:buNone/>
            </a:pPr>
            <a:r>
              <a:rPr lang="en-US" sz="2000" b="0" strike="noStrike" spc="-1">
                <a:solidFill>
                  <a:srgbClr val="000000"/>
                </a:solidFill>
                <a:latin typeface="Arial"/>
              </a:rPr>
              <a:t>- "Which processing mode provides maximum throughput?" → Packet-based (Performance L4)</a:t>
            </a:r>
          </a:p>
          <a:p>
            <a:pPr marL="216000" indent="0">
              <a:lnSpc>
                <a:spcPct val="100000"/>
              </a:lnSpc>
              <a:buNone/>
            </a:pPr>
            <a:r>
              <a:rPr lang="en-US" sz="2000" b="0" strike="noStrike" spc="-1">
                <a:solidFill>
                  <a:srgbClr val="000000"/>
                </a:solidFill>
                <a:latin typeface="Arial"/>
              </a:rPr>
              <a:t>- "Application needs HTTP inspection. Can you use FastL4?" → No (need Standard with TCP + HTTP)</a:t>
            </a:r>
          </a:p>
        </p:txBody>
      </p:sp>
      <p:sp>
        <p:nvSpPr>
          <p:cNvPr id="2649" name="PlaceHolder 3"/>
          <p:cNvSpPr>
            <a:spLocks noGrp="1"/>
          </p:cNvSpPr>
          <p:nvPr>
            <p:ph type="sldNum" idx="62"/>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4D08B8BA-FE8E-432E-BFF8-62A0DA85FE29}" type="slidenum">
              <a:rPr lang="en-US" sz="1800" b="0" strike="noStrike" spc="-1">
                <a:solidFill>
                  <a:schemeClr val="dk1"/>
                </a:solidFill>
                <a:latin typeface="+mn-lt"/>
                <a:ea typeface="+mn-ea"/>
              </a:rPr>
              <a:t>59</a:t>
            </a:fld>
            <a:endParaRPr lang="en-US" sz="1800" b="0" strike="noStrike" spc="-1">
              <a:solidFill>
                <a:srgbClr val="000000"/>
              </a:solidFill>
              <a:latin typeface="Times New Roman"/>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0" name="PlaceHolder 1"/>
          <p:cNvSpPr>
            <a:spLocks noGrp="1" noRot="1" noChangeAspect="1"/>
          </p:cNvSpPr>
          <p:nvPr>
            <p:ph type="sldImg"/>
          </p:nvPr>
        </p:nvSpPr>
        <p:spPr>
          <a:xfrm>
            <a:off x="0" y="0"/>
            <a:ext cx="0" cy="0"/>
          </a:xfrm>
          <a:prstGeom prst="rect">
            <a:avLst/>
          </a:prstGeom>
          <a:ln w="0">
            <a:noFill/>
          </a:ln>
        </p:spPr>
      </p:sp>
      <p:sp>
        <p:nvSpPr>
          <p:cNvPr id="2651"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Lab launch for the VS and packet processing exercises. See the full activity walkthroughs in the speaker notes of the corresponding v1 deck.</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KEY TEACHING MOMENTS:</a:t>
            </a:r>
          </a:p>
          <a:p>
            <a:pPr marL="216000" indent="-216000">
              <a:buNone/>
            </a:pPr>
            <a:r>
              <a:rPr lang="en-US" sz="2000" b="0" strike="noStrike" spc="-1">
                <a:solidFill>
                  <a:srgbClr val="000000"/>
                </a:solidFill>
                <a:latin typeface="Arial"/>
              </a:rPr>
              <a:t>- Activity 1: Management SSH not in connection table (host OS, not TMM)</a:t>
            </a:r>
          </a:p>
          <a:p>
            <a:pPr marL="216000" indent="-216000">
              <a:buNone/>
            </a:pPr>
            <a:r>
              <a:rPr lang="en-US" sz="2000" b="0" strike="noStrike" spc="-1">
                <a:solidFill>
                  <a:srgbClr val="000000"/>
                </a:solidFill>
                <a:latin typeface="Arial"/>
              </a:rPr>
              <a:t>- Activity 2: Packet filter doesn't affect existing connections (Step 1 &gt; Step 2)</a:t>
            </a:r>
          </a:p>
          <a:p>
            <a:pPr marL="216000" indent="-216000">
              <a:buNone/>
            </a:pPr>
            <a:r>
              <a:rPr lang="en-US" sz="2000" b="0" strike="noStrike" spc="-1">
                <a:solidFill>
                  <a:srgbClr val="000000"/>
                </a:solidFill>
                <a:latin typeface="Arial"/>
              </a:rPr>
              <a:t>- Activity 3: Most specific VS wins (host+port &gt; host+wildcard)</a:t>
            </a:r>
          </a:p>
          <a:p>
            <a:pPr marL="216000" indent="-216000">
              <a:buNone/>
            </a:pPr>
            <a:r>
              <a:rPr lang="en-US" sz="2000" b="0" strike="noStrike" spc="-1">
                <a:solidFill>
                  <a:srgbClr val="000000"/>
                </a:solidFill>
                <a:latin typeface="Arial"/>
              </a:rPr>
              <a:t>- Activity 4: Forwarding IP VS has no pool; uses routing table. Protocol must be "All Protocols."</a:t>
            </a:r>
          </a:p>
          <a:p>
            <a:pPr marL="216000" indent="-216000">
              <a:buNone/>
            </a:pPr>
            <a:endParaRPr lang="en-US"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F5 DOCUMENTATION: K8082, K14800, K55185917, K7595</a:t>
            </a:r>
          </a:p>
        </p:txBody>
      </p:sp>
      <p:sp>
        <p:nvSpPr>
          <p:cNvPr id="2652" name="PlaceHolder 3"/>
          <p:cNvSpPr>
            <a:spLocks noGrp="1"/>
          </p:cNvSpPr>
          <p:nvPr>
            <p:ph type="sldNum" idx="63"/>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D94BBF0E-F608-46CB-B5A7-8A471ED70A3A}" type="slidenum">
              <a:rPr lang="en-US" sz="1800" b="0" strike="noStrike" spc="-1">
                <a:solidFill>
                  <a:schemeClr val="dk1"/>
                </a:solidFill>
                <a:latin typeface="+mn-lt"/>
                <a:ea typeface="+mn-ea"/>
              </a:rPr>
              <a:t>60</a:t>
            </a:fld>
            <a:endParaRPr lang="en-US" sz="1800" b="0" strike="noStrike" spc="-1">
              <a:solidFill>
                <a:srgbClr val="000000"/>
              </a:solidFill>
              <a:latin typeface="Times New Roman"/>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3" name="PlaceHolder 1"/>
          <p:cNvSpPr>
            <a:spLocks noGrp="1" noRot="1" noChangeAspect="1"/>
          </p:cNvSpPr>
          <p:nvPr>
            <p:ph type="sldImg"/>
          </p:nvPr>
        </p:nvSpPr>
        <p:spPr>
          <a:xfrm>
            <a:off x="0" y="0"/>
            <a:ext cx="0" cy="0"/>
          </a:xfrm>
          <a:prstGeom prst="rect">
            <a:avLst/>
          </a:prstGeom>
          <a:ln w="0">
            <a:noFill/>
          </a:ln>
        </p:spPr>
      </p:sp>
      <p:sp>
        <p:nvSpPr>
          <p:cNvPr id="2654"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Four checkpoint questions testing VS matching, packet vs connection-based, VS type selection, and packet processing order.</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Q1 ANSWER: wildcard_vs (10.1.10.100:*). No VS matches 10.1.10.100:8080 specifically. www_vs matches port 80, ftp_vs matches port 21. wildcard_vs matches any port on that IP, including 8080.</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Q2 ANSWER: No. Cookie persistence requires HTTP (cookies are HTTP headers). HTTP compression requires HTTP. Both need the BIG-IP to parse the HTTP byte stream, which requires a Standard VS with TCP + HTTP profiles (connection-based). Performance L4 doesn't reassemble the byte stream.</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Q3 ANSWER: Forwarding (IP) virtual server with Source: 10.1.10.0/24, Destination: 10.1.20.0/24, Port: *, Protocol: All Protocols. This allows all traffic types (SSH, HTTP, ICMP) from the admin subnet to the server subnet without separate VS per service. A route to 10.1.20.0/24 via the BIG-IP must exist on the admin workstations.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Q4 ANSWER: Existing connections (Step 1 in packet processing order) are checked before packet filters (Step 2). The FTP session is already in the connection table, so its packets bypass the packet filter. Only new connections are evaluated against the filter. To clear existing connections: delete sys connection cs-client-addr [ip]</a:t>
            </a:r>
          </a:p>
          <a:p>
            <a:pPr marL="216000" indent="-216000">
              <a:buNone/>
            </a:pPr>
            <a:endParaRPr lang="en-US"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F5 DOCUMENTATION: K14800 (VS matching), K55185917 (VS types), K8082 (packet processing), K2250 (packet filters)</a:t>
            </a:r>
          </a:p>
        </p:txBody>
      </p:sp>
      <p:sp>
        <p:nvSpPr>
          <p:cNvPr id="2655" name="PlaceHolder 3"/>
          <p:cNvSpPr>
            <a:spLocks noGrp="1"/>
          </p:cNvSpPr>
          <p:nvPr>
            <p:ph type="sldNum" idx="64"/>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8F27273B-7F16-4CD2-B6A0-CDB64E4FA108}" type="slidenum">
              <a:rPr lang="en-US" sz="1800" b="0" strike="noStrike" spc="-1">
                <a:solidFill>
                  <a:schemeClr val="dk1"/>
                </a:solidFill>
                <a:latin typeface="+mn-lt"/>
                <a:ea typeface="+mn-ea"/>
              </a:rPr>
              <a:t>61</a:t>
            </a:fld>
            <a:endParaRPr lang="en-US" sz="1800" b="0" strike="noStrike" spc="-1">
              <a:solidFill>
                <a:srgbClr val="000000"/>
              </a:solidFill>
              <a:latin typeface="Times New Roman"/>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6" name="PlaceHolder 1"/>
          <p:cNvSpPr>
            <a:spLocks noGrp="1" noRot="1" noChangeAspect="1"/>
          </p:cNvSpPr>
          <p:nvPr>
            <p:ph type="sldImg"/>
          </p:nvPr>
        </p:nvSpPr>
        <p:spPr>
          <a:xfrm>
            <a:off x="0" y="0"/>
            <a:ext cx="0" cy="0"/>
          </a:xfrm>
          <a:prstGeom prst="rect">
            <a:avLst/>
          </a:prstGeom>
          <a:ln w="0">
            <a:noFill/>
          </a:ln>
        </p:spPr>
      </p:sp>
      <p:sp>
        <p:nvSpPr>
          <p:cNvPr id="2657"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Final checkpoints plus the packet processing order study reference that students should memorize.</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Q5 ANSWER: Standard VS operates as a FULL PROXY — it terminates the client's TCP connection (completes the three-way handshake) and opens a NEW, INDEPENDENT TCP connection to the server. These are two separate connections with different sequence numbers. This enables all L7 features.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Performance (Layer 4) VS processes traffic PACKET-BY-PACKET — it forwards the client's SYN directly to the server (with address translation) without terminating the connection. There's ONE flow through the BIG-IP with minimal state tracking. This provides maximum throughput but no L7 capability.</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The key visual: Standard = two TCP handshakes (client↔BIG-IP and BIG-IP↔server). Performance L4 = one TCP handshake (client↔server, with BIG-IP translating addresses in the middle).</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Q6 ANSWER: VS-A. When two VS have the same destination specificity (same IP:port), the BIG-IP uses Source address as a tiebreaker. VS-A's source (10.1.10.0/24) is more specific than VS-B's source (0.0.0.0/0) for a client from 10.1.10.50. The /24 mask matches the client, so VS-A wins.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If the client were from 10.2.20.100 (outside the /24), VS-A would NOT match and VS-B (0.0.0.0/0) would handle the traffic.</a:t>
            </a:r>
          </a:p>
          <a:p>
            <a:pPr marL="216000" indent="-216000">
              <a:buNone/>
            </a:pPr>
            <a:endParaRPr lang="en-US"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F5 DOCUMENTATION: K8082 (packet processing), K14800 (VS matching), K55185917 (VS types)</a:t>
            </a:r>
          </a:p>
        </p:txBody>
      </p:sp>
      <p:sp>
        <p:nvSpPr>
          <p:cNvPr id="2658" name="PlaceHolder 3"/>
          <p:cNvSpPr>
            <a:spLocks noGrp="1"/>
          </p:cNvSpPr>
          <p:nvPr>
            <p:ph type="sldNum" idx="65"/>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6072ACB3-129A-4766-B49E-802169AF8E62}" type="slidenum">
              <a:rPr lang="en-US" sz="1800" b="0" strike="noStrike" spc="-1">
                <a:solidFill>
                  <a:schemeClr val="dk1"/>
                </a:solidFill>
                <a:latin typeface="+mn-lt"/>
                <a:ea typeface="+mn-ea"/>
              </a:rPr>
              <a:t>62</a:t>
            </a:fld>
            <a:endParaRPr lang="en-US" sz="1800" b="0" strike="noStrike" spc="-1">
              <a:solidFill>
                <a:srgbClr val="000000"/>
              </a:solidFill>
              <a:latin typeface="Times New Roman"/>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9" name="PlaceHolder 1"/>
          <p:cNvSpPr>
            <a:spLocks noGrp="1" noRot="1" noChangeAspect="1"/>
          </p:cNvSpPr>
          <p:nvPr>
            <p:ph type="sldImg"/>
          </p:nvPr>
        </p:nvSpPr>
        <p:spPr>
          <a:xfrm>
            <a:off x="0" y="0"/>
            <a:ext cx="0" cy="0"/>
          </a:xfrm>
          <a:prstGeom prst="rect">
            <a:avLst/>
          </a:prstGeom>
          <a:ln w="0">
            <a:noFill/>
          </a:ln>
        </p:spPr>
      </p:sp>
      <p:sp>
        <p:nvSpPr>
          <p:cNvPr id="2660"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Section opener for Lab 7. This lab explores how load balancing methods, priority groups, and persistence profiles interact to determine where traffic goes. It directly addresses the 301a objective 1.16: "Explain the effect of LTM device configuration parameters on load balancing decisions."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FULL TECHNICAL EXPLANATION</a:t>
            </a:r>
          </a:p>
          <a:p>
            <a:pPr marL="216000" indent="-216000">
              <a:buNone/>
            </a:pPr>
            <a:r>
              <a:rPr lang="en-US" sz="2000" b="0" strike="noStrike" spc="-1">
                <a:solidFill>
                  <a:srgbClr val="000000"/>
                </a:solidFill>
                <a:latin typeface="Arial"/>
              </a:rPr>
              <a:t>Three lab activities:</a:t>
            </a:r>
          </a:p>
          <a:p>
            <a:pPr marL="216000" indent="-216000">
              <a:buNone/>
            </a:pPr>
            <a:r>
              <a:rPr lang="en-US" sz="2000" b="0" strike="noStrike" spc="-1">
                <a:solidFill>
                  <a:srgbClr val="000000"/>
                </a:solidFill>
                <a:latin typeface="Arial"/>
              </a:rPr>
              <a:t>1. Ratio Load Balancing: Change www_pool from Round Robin to Ratio (Member), set one member's ratio to 3, observe weighted distribution. Then revert to Round Robin and see that ratio settings are ignored.</a:t>
            </a:r>
          </a:p>
          <a:p>
            <a:pPr marL="216000" indent="-216000">
              <a:buNone/>
            </a:pPr>
            <a:r>
              <a:rPr lang="en-US" sz="2000" b="0" strike="noStrike" spc="-1">
                <a:solidFill>
                  <a:srgbClr val="000000"/>
                </a:solidFill>
                <a:latin typeface="Arial"/>
              </a:rPr>
              <a:t>2. Priority Groups: Configure priority group activation (&lt;2 members), assign priorities, disable members to trigger DR failover to low-priority group.</a:t>
            </a:r>
          </a:p>
          <a:p>
            <a:pPr marL="216000" indent="-216000">
              <a:buNone/>
            </a:pPr>
            <a:r>
              <a:rPr lang="en-US" sz="2000" b="0" strike="noStrike" spc="-1">
                <a:solidFill>
                  <a:srgbClr val="000000"/>
                </a:solidFill>
                <a:latin typeface="Arial"/>
              </a:rPr>
              <a:t>3. Source Address Persistence: Create persistence profile, observe records, test Disable (persistence honored) vs Force Offline (persistence broken).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BETA BLUEPRINT COVERAGE</a:t>
            </a:r>
          </a:p>
          <a:p>
            <a:pPr marL="216000" indent="-216000">
              <a:buNone/>
            </a:pPr>
            <a:r>
              <a:rPr lang="en-US" sz="2000" b="0" strike="noStrike" spc="-1">
                <a:solidFill>
                  <a:srgbClr val="000000"/>
                </a:solidFill>
                <a:latin typeface="Arial"/>
              </a:rPr>
              <a:t>- F5CTSLTM2.03 (U/A): "Compare and contrast different load balancing methods" and "Identify different load balancing method use cases."</a:t>
            </a:r>
          </a:p>
          <a:p>
            <a:pPr marL="216000" indent="-216000">
              <a:buNone/>
            </a:pPr>
            <a:r>
              <a:rPr lang="en-US" sz="2000" b="0" strike="noStrike" spc="-1">
                <a:solidFill>
                  <a:srgbClr val="000000"/>
                </a:solidFill>
                <a:latin typeface="Arial"/>
              </a:rPr>
              <a:t>- F5CTSLTM2.09 (U/A): "Determine how configuration changes affect existing and new connections." Sub-bullets: predict persistence for existing connections, calculate when changes affect connections, predict LB and persistence for new connections.</a:t>
            </a:r>
          </a:p>
          <a:p>
            <a:pPr marL="216000" indent="-216000">
              <a:buNone/>
            </a:pPr>
            <a:endParaRPr lang="en-US"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F5 DOCUMENTATION: K16649 (LB methods), K14358 (priority groups), K5779 (persistence)</a:t>
            </a:r>
          </a:p>
        </p:txBody>
      </p:sp>
      <p:sp>
        <p:nvSpPr>
          <p:cNvPr id="2661" name="PlaceHolder 3"/>
          <p:cNvSpPr>
            <a:spLocks noGrp="1"/>
          </p:cNvSpPr>
          <p:nvPr>
            <p:ph type="sldNum" idx="66"/>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AF7ABF0E-56A4-4180-BC07-42BF11CB34CB}" type="slidenum">
              <a:rPr lang="en-US" sz="1800" b="0" strike="noStrike" spc="-1">
                <a:solidFill>
                  <a:schemeClr val="dk1"/>
                </a:solidFill>
                <a:latin typeface="+mn-lt"/>
                <a:ea typeface="+mn-ea"/>
              </a:rPr>
              <a:t>63</a:t>
            </a:fld>
            <a:endParaRPr lang="en-US" sz="1800" b="0" strike="noStrike" spc="-1">
              <a:solidFill>
                <a:srgbClr val="000000"/>
              </a:solidFill>
              <a:latin typeface="Times New Roman"/>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 name="PlaceHolder 1"/>
          <p:cNvSpPr>
            <a:spLocks noGrp="1" noRot="1" noChangeAspect="1"/>
          </p:cNvSpPr>
          <p:nvPr>
            <p:ph type="sldImg"/>
          </p:nvPr>
        </p:nvSpPr>
        <p:spPr>
          <a:xfrm>
            <a:off x="0" y="0"/>
            <a:ext cx="0" cy="0"/>
          </a:xfrm>
          <a:prstGeom prst="rect">
            <a:avLst/>
          </a:prstGeom>
          <a:ln w="0">
            <a:noFill/>
          </a:ln>
        </p:spPr>
      </p:sp>
      <p:sp>
        <p:nvSpPr>
          <p:cNvPr id="2663"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This slide covers the load balancing methods available on the BIG-IP, supporting F5CTSLTM2.03: "Compare and contrast different load balancing methods" and "Identify different load balancing method use cases."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FULL TECHNICAL EXPLANATION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ROUND ROBIN (default):</a:t>
            </a:r>
          </a:p>
          <a:p>
            <a:pPr marL="216000" indent="-216000">
              <a:buNone/>
            </a:pPr>
            <a:r>
              <a:rPr lang="en-US" sz="2000" b="0" strike="noStrike" spc="-1">
                <a:solidFill>
                  <a:srgbClr val="000000"/>
                </a:solidFill>
                <a:latin typeface="Arial"/>
              </a:rPr>
              <a:t>The simplest method. The BIG-IP cycles through pool members in order: A → B → C → A → B → C.</a:t>
            </a:r>
          </a:p>
          <a:p>
            <a:pPr marL="216000" indent="-216000">
              <a:buNone/>
            </a:pPr>
            <a:r>
              <a:rPr lang="en-US" sz="2000" b="0" strike="noStrike" spc="-1">
                <a:solidFill>
                  <a:srgbClr val="000000"/>
                </a:solidFill>
                <a:latin typeface="Arial"/>
              </a:rPr>
              <a:t>- No awareness of server load, response time, or capacity</a:t>
            </a:r>
          </a:p>
          <a:p>
            <a:pPr marL="216000" indent="-216000">
              <a:buNone/>
            </a:pPr>
            <a:r>
              <a:rPr lang="en-US" sz="2000" b="0" strike="noStrike" spc="-1">
                <a:solidFill>
                  <a:srgbClr val="000000"/>
                </a:solidFill>
                <a:latin typeface="Arial"/>
              </a:rPr>
              <a:t>- Works well when all servers are identical in capacity and request processing time</a:t>
            </a:r>
          </a:p>
          <a:p>
            <a:pPr marL="216000" indent="-216000">
              <a:buNone/>
            </a:pPr>
            <a:r>
              <a:rPr lang="en-US" sz="2000" b="0" strike="noStrike" spc="-1">
                <a:solidFill>
                  <a:srgbClr val="000000"/>
                </a:solidFill>
                <a:latin typeface="Arial"/>
              </a:rPr>
              <a:t>- The "baseline" method — use this unless you have a reason to choose something else</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RATIO (Member) and RATIO (Node):</a:t>
            </a:r>
          </a:p>
          <a:p>
            <a:pPr marL="216000" indent="-216000">
              <a:buNone/>
            </a:pPr>
            <a:r>
              <a:rPr lang="en-US" sz="2000" b="0" strike="noStrike" spc="-1">
                <a:solidFill>
                  <a:srgbClr val="000000"/>
                </a:solidFill>
                <a:latin typeface="Arial"/>
              </a:rPr>
              <a:t>Static weight-based distribution. If member A has ratio 3 and members B and C have ratio 1, the distribution is: A, A, A, B, C, A, A, A, B, C...</a:t>
            </a:r>
          </a:p>
          <a:p>
            <a:pPr marL="216000" indent="-216000">
              <a:buNone/>
            </a:pPr>
            <a:r>
              <a:rPr lang="en-US" sz="2000" b="0" strike="noStrike" spc="-1">
                <a:solidFill>
                  <a:srgbClr val="000000"/>
                </a:solidFill>
                <a:latin typeface="Arial"/>
              </a:rPr>
              <a:t>- The ratio is set PER MEMBER (in the pool member properties) or PER NODE (in the node properties)</a:t>
            </a:r>
          </a:p>
          <a:p>
            <a:pPr marL="216000" indent="-216000">
              <a:buNone/>
            </a:pPr>
            <a:r>
              <a:rPr lang="en-US" sz="2000" b="0" strike="noStrike" spc="-1">
                <a:solidFill>
                  <a:srgbClr val="000000"/>
                </a:solidFill>
                <a:latin typeface="Arial"/>
              </a:rPr>
              <a:t>- Ratio is STATIC — it doesn't change based on server load</a:t>
            </a:r>
          </a:p>
          <a:p>
            <a:pPr marL="216000" indent="-216000">
              <a:buNone/>
            </a:pPr>
            <a:r>
              <a:rPr lang="en-US" sz="2000" b="0" strike="noStrike" spc="-1">
                <a:solidFill>
                  <a:srgbClr val="000000"/>
                </a:solidFill>
                <a:latin typeface="Arial"/>
              </a:rPr>
              <a:t>- Useful when you know servers have different capacities (e.g., a 16-core server should get 4x the traffic of a 4-core server)</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LAB EXERCISE: Set member 10.1.20.11 ratio to 3, others default to 1. With Ratio (Member) method, 10.1.20.11 should get approximately 3/5 (60%) of connections.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IMPORTANT: Ratio settings are ONLY used when the LB method is Ratio. If you switch back to Round Robin, the ratio values still exist on the members but are IGNORED.</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LEAST CONNECTIONS (Member) and LEAST CONNECTIONS (Node):</a:t>
            </a:r>
          </a:p>
          <a:p>
            <a:pPr marL="216000" indent="-216000">
              <a:buNone/>
            </a:pPr>
            <a:r>
              <a:rPr lang="en-US" sz="2000" b="0" strike="noStrike" spc="-1">
                <a:solidFill>
                  <a:srgbClr val="000000"/>
                </a:solidFill>
                <a:latin typeface="Arial"/>
              </a:rPr>
              <a:t>Dynamic method. The BIG-IP sends each new connection to the member with the fewest active connections.</a:t>
            </a:r>
          </a:p>
          <a:p>
            <a:pPr marL="216000" indent="-216000">
              <a:buNone/>
            </a:pPr>
            <a:r>
              <a:rPr lang="en-US" sz="2000" b="0" strike="noStrike" spc="-1">
                <a:solidFill>
                  <a:srgbClr val="000000"/>
                </a:solidFill>
                <a:latin typeface="Arial"/>
              </a:rPr>
              <a:t>- Adapts to real-time load — slow members accumulate connections, fast members clear them quickly</a:t>
            </a:r>
          </a:p>
          <a:p>
            <a:pPr marL="216000" indent="-216000">
              <a:buNone/>
            </a:pPr>
            <a:r>
              <a:rPr lang="en-US" sz="2000" b="0" strike="noStrike" spc="-1">
                <a:solidFill>
                  <a:srgbClr val="000000"/>
                </a:solidFill>
                <a:latin typeface="Arial"/>
              </a:rPr>
              <a:t>- Most commonly used dynamic method in production</a:t>
            </a:r>
          </a:p>
          <a:p>
            <a:pPr marL="216000" indent="-216000">
              <a:buNone/>
            </a:pPr>
            <a:r>
              <a:rPr lang="en-US" sz="2000" b="0" strike="noStrike" spc="-1">
                <a:solidFill>
                  <a:srgbClr val="000000"/>
                </a:solidFill>
                <a:latin typeface="Arial"/>
              </a:rPr>
              <a:t>- OneConnect interaction: If OneConnect is enabled, Least Connections counts only ACTIVE connections (not idle pooled connections)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SLOW RAMP TIME (critical interaction):</a:t>
            </a:r>
          </a:p>
          <a:p>
            <a:pPr marL="216000" indent="-216000">
              <a:buNone/>
            </a:pPr>
            <a:r>
              <a:rPr lang="en-US" sz="2000" b="0" strike="noStrike" spc="-1">
                <a:solidFill>
                  <a:srgbClr val="000000"/>
                </a:solidFill>
                <a:latin typeface="Arial"/>
              </a:rPr>
              <a:t>When a new member comes online (or recovers from a health check failure), it has ZERO active connections. Least Connections will send ALL new traffic to it until it reaches the same connection count as other members. This can overwhelm the new member.</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Slow Ramp Time: Gradually increases the rate of new connections to a newly available member.</a:t>
            </a:r>
          </a:p>
          <a:p>
            <a:pPr marL="216000" indent="-216000">
              <a:buNone/>
            </a:pPr>
            <a:r>
              <a:rPr lang="en-US" sz="2000" b="0" strike="noStrike" spc="-1">
                <a:solidFill>
                  <a:srgbClr val="000000"/>
                </a:solidFill>
                <a:latin typeface="Arial"/>
              </a:rPr>
              <a:t>- Default: 10 seconds</a:t>
            </a:r>
          </a:p>
          <a:p>
            <a:pPr marL="216000" indent="-216000">
              <a:buNone/>
            </a:pPr>
            <a:r>
              <a:rPr lang="en-US" sz="2000" b="0" strike="noStrike" spc="-1">
                <a:solidFill>
                  <a:srgbClr val="000000"/>
                </a:solidFill>
                <a:latin typeface="Arial"/>
              </a:rPr>
              <a:t>- During the ramp period, the BIG-IP sends connections to the new member at a reduced rate</a:t>
            </a:r>
          </a:p>
          <a:p>
            <a:pPr marL="216000" indent="-216000">
              <a:buNone/>
            </a:pPr>
            <a:r>
              <a:rPr lang="en-US" sz="2000" b="0" strike="noStrike" spc="-1">
                <a:solidFill>
                  <a:srgbClr val="000000"/>
                </a:solidFill>
                <a:latin typeface="Arial"/>
              </a:rPr>
              <a:t>- After the ramp period, the member participates fully in Least Connections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TMSH: modify ltm pool [pool] slow-ramp-time 30</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FASTEST:</a:t>
            </a:r>
          </a:p>
          <a:p>
            <a:pPr marL="216000" indent="-216000">
              <a:buNone/>
            </a:pPr>
            <a:r>
              <a:rPr lang="en-US" sz="2000" b="0" strike="noStrike" spc="-1">
                <a:solidFill>
                  <a:srgbClr val="000000"/>
                </a:solidFill>
                <a:latin typeface="Arial"/>
              </a:rPr>
              <a:t>Similar to Least Connections but counts Layer 7 requests instead of TCP connections. A member processing many long-running HTTP requests might have few TCP connections but high L7 load.</a:t>
            </a:r>
          </a:p>
          <a:p>
            <a:pPr marL="216000" indent="-216000">
              <a:buNone/>
            </a:pPr>
            <a:r>
              <a:rPr lang="en-US" sz="2000" b="0" strike="noStrike" spc="-1">
                <a:solidFill>
                  <a:srgbClr val="000000"/>
                </a:solidFill>
                <a:latin typeface="Arial"/>
              </a:rPr>
              <a:t>- Requires TCP + HTTP profiles (L7 profile needed to track request count)</a:t>
            </a:r>
          </a:p>
          <a:p>
            <a:pPr marL="216000" indent="-216000">
              <a:buNone/>
            </a:pPr>
            <a:r>
              <a:rPr lang="en-US" sz="2000" b="0" strike="noStrike" spc="-1">
                <a:solidFill>
                  <a:srgbClr val="000000"/>
                </a:solidFill>
                <a:latin typeface="Arial"/>
              </a:rPr>
              <a:t>- Less commonly used than Least Connections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MEMBER vs NODE SCOPE:</a:t>
            </a:r>
          </a:p>
          <a:p>
            <a:pPr marL="216000" indent="-216000">
              <a:buNone/>
            </a:pPr>
            <a:r>
              <a:rPr lang="en-US" sz="2000" b="0" strike="noStrike" spc="-1">
                <a:solidFill>
                  <a:srgbClr val="000000"/>
                </a:solidFill>
                <a:latin typeface="Arial"/>
              </a:rPr>
              <a:t>Every LB method has two variants: (Member) and (Node).</a:t>
            </a:r>
          </a:p>
          <a:p>
            <a:pPr marL="216000" indent="-216000">
              <a:buNone/>
            </a:pPr>
            <a:r>
              <a:rPr lang="en-US" sz="2000" b="0" strike="noStrike" spc="-1">
                <a:solidFill>
                  <a:srgbClr val="000000"/>
                </a:solidFill>
                <a:latin typeface="Arial"/>
              </a:rPr>
              <a:t>- Member: Decision per pool member (IP:port combination). The same physical server can have different weights in different pools.</a:t>
            </a:r>
          </a:p>
          <a:p>
            <a:pPr marL="216000" indent="-216000">
              <a:buNone/>
            </a:pPr>
            <a:r>
              <a:rPr lang="en-US" sz="2000" b="0" strike="noStrike" spc="-1">
                <a:solidFill>
                  <a:srgbClr val="000000"/>
                </a:solidFill>
                <a:latin typeface="Arial"/>
              </a:rPr>
              <a:t>- Node: Decision per node (IP address only). The weight applies across ALL pools that include that node.</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Example: Server 10.1.20.11 is in www_pool (port 80) and api_pool (port 8080).</a:t>
            </a:r>
          </a:p>
          <a:p>
            <a:pPr marL="216000" indent="-216000">
              <a:buNone/>
            </a:pPr>
            <a:r>
              <a:rPr lang="en-US" sz="2000" b="0" strike="noStrike" spc="-1">
                <a:solidFill>
                  <a:srgbClr val="000000"/>
                </a:solidFill>
                <a:latin typeface="Arial"/>
              </a:rPr>
              <a:t>- Ratio (Member): You can set ratio 3 for 10.1.20.11:80 in www_pool and ratio 1 for 10.1.20.11:8080 in api_pool.</a:t>
            </a:r>
          </a:p>
          <a:p>
            <a:pPr marL="216000" indent="-216000">
              <a:buNone/>
            </a:pPr>
            <a:r>
              <a:rPr lang="en-US" sz="2000" b="0" strike="noStrike" spc="-1">
                <a:solidFill>
                  <a:srgbClr val="000000"/>
                </a:solidFill>
                <a:latin typeface="Arial"/>
              </a:rPr>
              <a:t>- Ratio (Node): You set ratio 3 on the NODE 10.1.20.11, and it gets 3x traffic in BOTH pools.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COMMON STUDENT MISTAKES</a:t>
            </a:r>
          </a:p>
          <a:p>
            <a:pPr marL="216000" indent="-216000">
              <a:buNone/>
            </a:pPr>
            <a:r>
              <a:rPr lang="en-US" sz="2000" b="0" strike="noStrike" spc="-1">
                <a:solidFill>
                  <a:srgbClr val="000000"/>
                </a:solidFill>
                <a:latin typeface="Arial"/>
              </a:rPr>
              <a:t>- Changing to Ratio but forgetting to set member ratios (default ratio is 1 — all members equal)</a:t>
            </a:r>
          </a:p>
          <a:p>
            <a:pPr marL="216000" indent="-216000">
              <a:buNone/>
            </a:pPr>
            <a:r>
              <a:rPr lang="en-US" sz="2000" b="0" strike="noStrike" spc="-1">
                <a:solidFill>
                  <a:srgbClr val="000000"/>
                </a:solidFill>
                <a:latin typeface="Arial"/>
              </a:rPr>
              <a:t>- Switching back to Round Robin and expecting ratio weights to still matter (they don't)</a:t>
            </a:r>
          </a:p>
          <a:p>
            <a:pPr marL="216000" indent="-216000">
              <a:buNone/>
            </a:pPr>
            <a:r>
              <a:rPr lang="en-US" sz="2000" b="0" strike="noStrike" spc="-1">
                <a:solidFill>
                  <a:srgbClr val="000000"/>
                </a:solidFill>
                <a:latin typeface="Arial"/>
              </a:rPr>
              <a:t>- Using Least Connections without Slow Ramp — new members get hammered</a:t>
            </a:r>
          </a:p>
          <a:p>
            <a:pPr marL="216000" indent="-216000">
              <a:buNone/>
            </a:pPr>
            <a:r>
              <a:rPr lang="en-US" sz="2000" b="0" strike="noStrike" spc="-1">
                <a:solidFill>
                  <a:srgbClr val="000000"/>
                </a:solidFill>
                <a:latin typeface="Arial"/>
              </a:rPr>
              <a:t>- Confusing Member vs Node scope — Node affects ALL pools using that server</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PIVOT QUESTION</a:t>
            </a:r>
          </a:p>
          <a:p>
            <a:pPr marL="216000" indent="-216000">
              <a:buNone/>
            </a:pPr>
            <a:r>
              <a:rPr lang="en-US" sz="2000" b="0" strike="noStrike" spc="-1">
                <a:solidFill>
                  <a:srgbClr val="000000"/>
                </a:solidFill>
                <a:latin typeface="Arial"/>
              </a:rPr>
              <a:t>"You change the pool LB method from Round Robin to Ratio (Member) but don't set any ratio values. What happens?"</a:t>
            </a:r>
          </a:p>
          <a:p>
            <a:pPr marL="216000" indent="-216000">
              <a:buNone/>
            </a:pPr>
            <a:r>
              <a:rPr lang="en-US" sz="2000" b="0" strike="noStrike" spc="-1">
                <a:solidFill>
                  <a:srgbClr val="000000"/>
                </a:solidFill>
                <a:latin typeface="Arial"/>
              </a:rPr>
              <a:t>ANSWER: All members have the default ratio of 1. Ratio with equal weights behaves identically to Round Robin — connections are distributed evenly. You must explicitly set different ratio values on individual members for Ratio to have any effect.</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F5 DOCUMENTATION</a:t>
            </a:r>
          </a:p>
          <a:p>
            <a:pPr marL="216000" indent="-216000">
              <a:buNone/>
            </a:pPr>
            <a:r>
              <a:rPr lang="en-US" sz="2000" b="0" strike="noStrike" spc="-1">
                <a:solidFill>
                  <a:srgbClr val="000000"/>
                </a:solidFill>
                <a:latin typeface="Arial"/>
              </a:rPr>
              <a:t>- LB methods: https://my.f5.com/manage/s/article/K16649</a:t>
            </a:r>
          </a:p>
          <a:p>
            <a:pPr marL="216000" indent="-216000">
              <a:buNone/>
            </a:pPr>
            <a:r>
              <a:rPr lang="en-US" sz="2000" b="0" strike="noStrike" spc="-1">
                <a:solidFill>
                  <a:srgbClr val="000000"/>
                </a:solidFill>
                <a:latin typeface="Arial"/>
              </a:rPr>
              <a:t>- Slow ramp time: https://my.f5.com/manage/s/article/K13637</a:t>
            </a:r>
          </a:p>
          <a:p>
            <a:pPr marL="216000" indent="-216000">
              <a:buNone/>
            </a:pPr>
            <a:r>
              <a:rPr lang="en-US" sz="2000" b="0" strike="noStrike" spc="-1">
                <a:solidFill>
                  <a:srgbClr val="000000"/>
                </a:solidFill>
                <a:latin typeface="Arial"/>
              </a:rPr>
              <a:t>- Member vs Node: https://techdocs.f5.com/en-us/bigip-14-1-0/big-ip-local-traffic-manager-basics/ltm-pools.html</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EXAM QUESTION PATTERNS</a:t>
            </a:r>
          </a:p>
          <a:p>
            <a:pPr marL="216000" indent="-216000">
              <a:buNone/>
            </a:pPr>
            <a:r>
              <a:rPr lang="en-US" sz="2000" b="0" strike="noStrike" spc="-1">
                <a:solidFill>
                  <a:srgbClr val="000000"/>
                </a:solidFill>
                <a:latin typeface="Arial"/>
              </a:rPr>
              <a:t>- "Default LB method?" → Round Robin</a:t>
            </a:r>
          </a:p>
          <a:p>
            <a:pPr marL="216000" indent="-216000">
              <a:buNone/>
            </a:pPr>
            <a:r>
              <a:rPr lang="en-US" sz="2000" b="0" strike="noStrike" spc="-1">
                <a:solidFill>
                  <a:srgbClr val="000000"/>
                </a:solidFill>
                <a:latin typeface="Arial"/>
              </a:rPr>
              <a:t>- "Server load varies. Which dynamic method?" → Least Connections</a:t>
            </a:r>
          </a:p>
          <a:p>
            <a:pPr marL="216000" indent="-216000">
              <a:buNone/>
            </a:pPr>
            <a:r>
              <a:rPr lang="en-US" sz="2000" b="0" strike="noStrike" spc="-1">
                <a:solidFill>
                  <a:srgbClr val="000000"/>
                </a:solidFill>
                <a:latin typeface="Arial"/>
              </a:rPr>
              <a:t>- "Servers have different capacities (known)?" → Ratio</a:t>
            </a:r>
          </a:p>
          <a:p>
            <a:pPr marL="216000" indent="0">
              <a:lnSpc>
                <a:spcPct val="100000"/>
              </a:lnSpc>
              <a:buNone/>
            </a:pPr>
            <a:r>
              <a:rPr lang="en-US" sz="2000" b="0" strike="noStrike" spc="-1">
                <a:solidFill>
                  <a:srgbClr val="000000"/>
                </a:solidFill>
                <a:latin typeface="Arial"/>
              </a:rPr>
              <a:t>- "New member gets overwhelmed with Least Connections. What setting?" → Slow Ramp Time</a:t>
            </a:r>
          </a:p>
        </p:txBody>
      </p:sp>
      <p:sp>
        <p:nvSpPr>
          <p:cNvPr id="2664" name="PlaceHolder 3"/>
          <p:cNvSpPr>
            <a:spLocks noGrp="1"/>
          </p:cNvSpPr>
          <p:nvPr>
            <p:ph type="sldNum" idx="67"/>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F06E5F18-9603-42EC-A6C7-3FE154D9EC16}" type="slidenum">
              <a:rPr lang="en-US" sz="1800" b="0" strike="noStrike" spc="-1">
                <a:solidFill>
                  <a:schemeClr val="dk1"/>
                </a:solidFill>
                <a:latin typeface="+mn-lt"/>
                <a:ea typeface="+mn-ea"/>
              </a:rPr>
              <a:t>64</a:t>
            </a:fld>
            <a:endParaRPr lang="en-US" sz="1800" b="0" strike="noStrike" spc="-1">
              <a:solidFill>
                <a:srgbClr val="000000"/>
              </a:solidFill>
              <a:latin typeface="Times New Roman"/>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5" name="PlaceHolder 1"/>
          <p:cNvSpPr>
            <a:spLocks noGrp="1" noRot="1" noChangeAspect="1"/>
          </p:cNvSpPr>
          <p:nvPr>
            <p:ph type="sldImg"/>
          </p:nvPr>
        </p:nvSpPr>
        <p:spPr>
          <a:xfrm>
            <a:off x="0" y="0"/>
            <a:ext cx="0" cy="0"/>
          </a:xfrm>
          <a:prstGeom prst="rect">
            <a:avLst/>
          </a:prstGeom>
          <a:ln w="0">
            <a:noFill/>
          </a:ln>
        </p:spPr>
      </p:sp>
      <p:sp>
        <p:nvSpPr>
          <p:cNvPr id="2666"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This slide covers priority-based member activation and slow ramp time — two features that control how traffic distribution changes during failure and recovery scenarios. This directly supports F5CTSLTM2.09: "Predict load balancing and persistence for new connections" and "Calculate when changes will affect the connections."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FULL TECHNICAL EXPLANATION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PRIORITY GROUP ACTIVATION:</a:t>
            </a:r>
          </a:p>
          <a:p>
            <a:pPr marL="216000" indent="-216000">
              <a:buNone/>
            </a:pPr>
            <a:r>
              <a:rPr lang="en-US" sz="2000" b="0" strike="noStrike" spc="-1">
                <a:solidFill>
                  <a:srgbClr val="000000"/>
                </a:solidFill>
                <a:latin typeface="Arial"/>
              </a:rPr>
              <a:t>Each pool member can be assigned a priority group number (0-65535). Higher numbers have higher priority.</a:t>
            </a:r>
          </a:p>
          <a:p>
            <a:pPr marL="216000" indent="-216000">
              <a:buNone/>
            </a:pPr>
            <a:r>
              <a:rPr lang="en-US" sz="2000" b="0" strike="noStrike" spc="-1">
                <a:solidFill>
                  <a:srgbClr val="000000"/>
                </a:solidFill>
                <a:latin typeface="Arial"/>
              </a:rPr>
              <a:t>- Priority Group Activation: Set on the pool (not the member). Specifies the minimum number of available members required in the highest priority group before lower priority groups are activated.</a:t>
            </a:r>
          </a:p>
          <a:p>
            <a:pPr marL="216000" indent="-216000">
              <a:buNone/>
            </a:pPr>
            <a:r>
              <a:rPr lang="en-US" sz="2000" b="0" strike="noStrike" spc="-1">
                <a:solidFill>
                  <a:srgbClr val="000000"/>
                </a:solidFill>
                <a:latin typeface="Arial"/>
              </a:rPr>
              <a:t>- When available members in the highest group fall BELOW the threshold, the next lower group is activated.</a:t>
            </a:r>
          </a:p>
          <a:p>
            <a:pPr marL="216000" indent="-216000">
              <a:buNone/>
            </a:pPr>
            <a:r>
              <a:rPr lang="en-US" sz="2000" b="0" strike="noStrike" spc="-1">
                <a:solidFill>
                  <a:srgbClr val="000000"/>
                </a:solidFill>
                <a:latin typeface="Arial"/>
              </a:rPr>
              <a:t>- When enough members recover to meet the threshold, lower priority groups are deactivated.</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Configuration:</a:t>
            </a:r>
          </a:p>
          <a:p>
            <a:pPr marL="216000" indent="-216000">
              <a:buNone/>
            </a:pPr>
            <a:r>
              <a:rPr lang="en-US" sz="2000" b="0" strike="noStrike" spc="-1">
                <a:solidFill>
                  <a:srgbClr val="000000"/>
                </a:solidFill>
                <a:latin typeface="Arial"/>
              </a:rPr>
              <a:t>GUI: Pool &gt; Members &gt; Load Balancing section &gt; Priority Group Activation &gt; Less Than [N] Available Members</a:t>
            </a:r>
          </a:p>
          <a:p>
            <a:pPr marL="216000" indent="-216000">
              <a:buNone/>
            </a:pPr>
            <a:r>
              <a:rPr lang="en-US" sz="2000" b="0" strike="noStrike" spc="-1">
                <a:solidFill>
                  <a:srgbClr val="000000"/>
                </a:solidFill>
                <a:latin typeface="Arial"/>
              </a:rPr>
              <a:t>Then edit each member to set its Priority Group number.</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TMSH:</a:t>
            </a:r>
          </a:p>
          <a:p>
            <a:pPr marL="216000" indent="-216000">
              <a:buNone/>
            </a:pPr>
            <a:r>
              <a:rPr lang="en-US" sz="2000" b="0" strike="noStrike" spc="-1">
                <a:solidFill>
                  <a:srgbClr val="000000"/>
                </a:solidFill>
                <a:latin typeface="Arial"/>
              </a:rPr>
              <a:t>modify ltm pool www_pool min-active-members 2</a:t>
            </a:r>
          </a:p>
          <a:p>
            <a:pPr marL="216000" indent="-216000">
              <a:buNone/>
            </a:pPr>
            <a:r>
              <a:rPr lang="en-US" sz="2000" b="0" strike="noStrike" spc="-1">
                <a:solidFill>
                  <a:srgbClr val="000000"/>
                </a:solidFill>
                <a:latin typeface="Arial"/>
              </a:rPr>
              <a:t>modify ltm pool www_pool members modify { 10.1.20.11:80 { priority-group 10 } 10.1.20.12:80 { priority-group 10 } 10.1.20.13:80 { priority-group 0 } }</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Lab scenario walkthrough:</a:t>
            </a:r>
          </a:p>
          <a:p>
            <a:pPr marL="216000" indent="-216000">
              <a:buNone/>
            </a:pPr>
            <a:r>
              <a:rPr lang="en-US" sz="2000" b="0" strike="noStrike" spc="-1">
                <a:solidFill>
                  <a:srgbClr val="000000"/>
                </a:solidFill>
                <a:latin typeface="Arial"/>
              </a:rPr>
              <a:t>1. All three members UP: .11 (PG10), .12 (PG10), .13 (PG0). Threshold = 2.</a:t>
            </a:r>
          </a:p>
          <a:p>
            <a:pPr marL="216000" indent="-216000">
              <a:buNone/>
            </a:pPr>
            <a:r>
              <a:rPr lang="en-US" sz="2000" b="0" strike="noStrike" spc="-1">
                <a:solidFill>
                  <a:srgbClr val="000000"/>
                </a:solidFill>
                <a:latin typeface="Arial"/>
              </a:rPr>
              <a:t>   - Highest group (PG10) has 2 members ≥ threshold → only PG10 receives traffic</a:t>
            </a:r>
          </a:p>
          <a:p>
            <a:pPr marL="216000" indent="-216000">
              <a:buNone/>
            </a:pPr>
            <a:r>
              <a:rPr lang="en-US" sz="2000" b="0" strike="noStrike" spc="-1">
                <a:solidFill>
                  <a:srgbClr val="000000"/>
                </a:solidFill>
                <a:latin typeface="Arial"/>
              </a:rPr>
              <a:t>   - .13 is idle (PG0 not activated)</a:t>
            </a:r>
          </a:p>
          <a:p>
            <a:pPr marL="216000" indent="-216000">
              <a:buNone/>
            </a:pPr>
            <a:r>
              <a:rPr lang="en-US" sz="2000" b="0" strike="noStrike" spc="-1">
                <a:solidFill>
                  <a:srgbClr val="000000"/>
                </a:solidFill>
                <a:latin typeface="Arial"/>
              </a:rPr>
              <a:t>2. Disable .11: PG10 now has 1 member &lt; threshold of 2</a:t>
            </a:r>
          </a:p>
          <a:p>
            <a:pPr marL="216000" indent="-216000">
              <a:buNone/>
            </a:pPr>
            <a:r>
              <a:rPr lang="en-US" sz="2000" b="0" strike="noStrike" spc="-1">
                <a:solidFill>
                  <a:srgbClr val="000000"/>
                </a:solidFill>
                <a:latin typeface="Arial"/>
              </a:rPr>
              <a:t>   - PG0 activated → .12 (PG10) + .13 (PG0) both receive traffic</a:t>
            </a:r>
          </a:p>
          <a:p>
            <a:pPr marL="216000" indent="-216000">
              <a:buNone/>
            </a:pPr>
            <a:r>
              <a:rPr lang="en-US" sz="2000" b="0" strike="noStrike" spc="-1">
                <a:solidFill>
                  <a:srgbClr val="000000"/>
                </a:solidFill>
                <a:latin typeface="Arial"/>
              </a:rPr>
              <a:t>3. Re-enable .11: PG10 now has 2 members ≥ threshold</a:t>
            </a:r>
          </a:p>
          <a:p>
            <a:pPr marL="216000" indent="-216000">
              <a:buNone/>
            </a:pPr>
            <a:r>
              <a:rPr lang="en-US" sz="2000" b="0" strike="noStrike" spc="-1">
                <a:solidFill>
                  <a:srgbClr val="000000"/>
                </a:solidFill>
                <a:latin typeface="Arial"/>
              </a:rPr>
              <a:t>   - PG0 deactivated → .13 returns to standby</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SLOW RAMP TIME:</a:t>
            </a:r>
          </a:p>
          <a:p>
            <a:pPr marL="216000" indent="-216000">
              <a:buNone/>
            </a:pPr>
            <a:r>
              <a:rPr lang="en-US" sz="2000" b="0" strike="noStrike" spc="-1">
                <a:solidFill>
                  <a:srgbClr val="000000"/>
                </a:solidFill>
                <a:latin typeface="Arial"/>
              </a:rPr>
              <a:t>When using dynamic LB methods (Least Connections, Weighted LC), a newly available member has 0 active connections. The LB algorithm immediately selects it for ALL new connections until its count catches up with other members. This can overwhelm the member, especially if it needs warm-up time.</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Slow Ramp Time introduces a grace period:</a:t>
            </a:r>
          </a:p>
          <a:p>
            <a:pPr marL="216000" indent="-216000">
              <a:buNone/>
            </a:pPr>
            <a:r>
              <a:rPr lang="en-US" sz="2000" b="0" strike="noStrike" spc="-1">
                <a:solidFill>
                  <a:srgbClr val="000000"/>
                </a:solidFill>
                <a:latin typeface="Arial"/>
              </a:rPr>
              <a:t>- During the ramp period, the BIG-IP gradually increases the rate of new connections to the member</a:t>
            </a:r>
          </a:p>
          <a:p>
            <a:pPr marL="216000" indent="-216000">
              <a:buNone/>
            </a:pPr>
            <a:r>
              <a:rPr lang="en-US" sz="2000" b="0" strike="noStrike" spc="-1">
                <a:solidFill>
                  <a:srgbClr val="000000"/>
                </a:solidFill>
                <a:latin typeface="Arial"/>
              </a:rPr>
              <a:t>- The ramp is linear: at time 0, the member gets minimal connections. At the end of the ramp period, it participates fully.</a:t>
            </a:r>
          </a:p>
          <a:p>
            <a:pPr marL="216000" indent="-216000">
              <a:buNone/>
            </a:pPr>
            <a:r>
              <a:rPr lang="en-US" sz="2000" b="0" strike="noStrike" spc="-1">
                <a:solidFill>
                  <a:srgbClr val="000000"/>
                </a:solidFill>
                <a:latin typeface="Arial"/>
              </a:rPr>
              <a:t>- Default: 10 seconds (usually sufficient for most applications)</a:t>
            </a:r>
          </a:p>
          <a:p>
            <a:pPr marL="216000" indent="-216000">
              <a:buNone/>
            </a:pPr>
            <a:r>
              <a:rPr lang="en-US" sz="2000" b="0" strike="noStrike" spc="-1">
                <a:solidFill>
                  <a:srgbClr val="000000"/>
                </a:solidFill>
                <a:latin typeface="Arial"/>
              </a:rPr>
              <a:t>- For applications with long warm-up (JVM, cache loading): set to 30-60 seconds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Important: Slow Ramp only applies to DYNAMIC methods. Round Robin and Ratio distribute connections based on static rules — they don't consider connection count, so there's no "thundering herd" problem.</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COMMON STUDENT MISTAKES</a:t>
            </a:r>
          </a:p>
          <a:p>
            <a:pPr marL="216000" indent="-216000">
              <a:buNone/>
            </a:pPr>
            <a:r>
              <a:rPr lang="en-US" sz="2000" b="0" strike="noStrike" spc="-1">
                <a:solidFill>
                  <a:srgbClr val="000000"/>
                </a:solidFill>
                <a:latin typeface="Arial"/>
              </a:rPr>
              <a:t>- Setting priority group numbers but forgetting to set the activation threshold (min-active-members). Without it, priority groups have no effect — all members receive traffic regardless of priority.</a:t>
            </a:r>
          </a:p>
          <a:p>
            <a:pPr marL="216000" indent="-216000">
              <a:buNone/>
            </a:pPr>
            <a:r>
              <a:rPr lang="en-US" sz="2000" b="0" strike="noStrike" spc="-1">
                <a:solidFill>
                  <a:srgbClr val="000000"/>
                </a:solidFill>
                <a:latin typeface="Arial"/>
              </a:rPr>
              <a:t>- Not understanding that priority groups work with ANY LB method — Round Robin, Ratio, Least Connections all respect priority groups.</a:t>
            </a:r>
          </a:p>
          <a:p>
            <a:pPr marL="216000" indent="-216000">
              <a:buNone/>
            </a:pPr>
            <a:r>
              <a:rPr lang="en-US" sz="2000" b="0" strike="noStrike" spc="-1">
                <a:solidFill>
                  <a:srgbClr val="000000"/>
                </a:solidFill>
                <a:latin typeface="Arial"/>
              </a:rPr>
              <a:t>- Forgetting slow ramp when using Least Connections with priority groups — the recovery scenario is exactly when slow ramp matters most.</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PIVOT QUESTION</a:t>
            </a:r>
          </a:p>
          <a:p>
            <a:pPr marL="216000" indent="-216000">
              <a:buNone/>
            </a:pPr>
            <a:r>
              <a:rPr lang="en-US" sz="2000" b="0" strike="noStrike" spc="-1">
                <a:solidFill>
                  <a:srgbClr val="000000"/>
                </a:solidFill>
                <a:latin typeface="Arial"/>
              </a:rPr>
              <a:t>"Pool has 4 members: A (PG10), B (PG10), C (PG5), D (PG5). Min-active-members is 2. A and B are UP. You disable A. What happens?"</a:t>
            </a:r>
          </a:p>
          <a:p>
            <a:pPr marL="216000" indent="-216000">
              <a:buNone/>
            </a:pPr>
            <a:r>
              <a:rPr lang="en-US" sz="2000" b="0" strike="noStrike" spc="-1">
                <a:solidFill>
                  <a:srgbClr val="000000"/>
                </a:solidFill>
                <a:latin typeface="Arial"/>
              </a:rPr>
              <a:t>ANSWER: PG10 now has 1 member (B) — below the threshold of 2. The next lower group (PG5) is activated. Traffic goes to B (PG10), C (PG5), and D (PG5). When A recovers, PG10 has 2 members again and PG5 is deactivated.</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F5 DOCUMENTATION</a:t>
            </a:r>
          </a:p>
          <a:p>
            <a:pPr marL="216000" indent="-216000">
              <a:buNone/>
            </a:pPr>
            <a:r>
              <a:rPr lang="en-US" sz="2000" b="0" strike="noStrike" spc="-1">
                <a:solidFill>
                  <a:srgbClr val="000000"/>
                </a:solidFill>
                <a:latin typeface="Arial"/>
              </a:rPr>
              <a:t>- Priority groups: https://my.f5.com/manage/s/article/K14358</a:t>
            </a:r>
          </a:p>
          <a:p>
            <a:pPr marL="216000" indent="-216000">
              <a:buNone/>
            </a:pPr>
            <a:r>
              <a:rPr lang="en-US" sz="2000" b="0" strike="noStrike" spc="-1">
                <a:solidFill>
                  <a:srgbClr val="000000"/>
                </a:solidFill>
                <a:latin typeface="Arial"/>
              </a:rPr>
              <a:t>- Slow ramp time: https://my.f5.com/manage/s/article/K13637</a:t>
            </a:r>
          </a:p>
          <a:p>
            <a:pPr marL="216000" indent="-216000">
              <a:buNone/>
            </a:pPr>
            <a:r>
              <a:rPr lang="en-US" sz="2000" b="0" strike="noStrike" spc="-1">
                <a:solidFill>
                  <a:srgbClr val="000000"/>
                </a:solidFill>
                <a:latin typeface="Arial"/>
              </a:rPr>
              <a:t>- LB methods: https://my.f5.com/manage/s/article/K16649</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EXAM QUESTION PATTERNS</a:t>
            </a:r>
          </a:p>
          <a:p>
            <a:pPr marL="216000" indent="-216000">
              <a:buNone/>
            </a:pPr>
            <a:r>
              <a:rPr lang="en-US" sz="2000" b="0" strike="noStrike" spc="-1">
                <a:solidFill>
                  <a:srgbClr val="000000"/>
                </a:solidFill>
                <a:latin typeface="Arial"/>
              </a:rPr>
              <a:t>- "Priority Group Activation set to &lt;2. Highest group has 3 members. One fails. Is the lower group activated?" → No (2 remaining ≥ threshold of 2)</a:t>
            </a:r>
          </a:p>
          <a:p>
            <a:pPr marL="216000" indent="-216000">
              <a:buNone/>
            </a:pPr>
            <a:r>
              <a:rPr lang="en-US" sz="2000" b="0" strike="noStrike" spc="-1">
                <a:solidFill>
                  <a:srgbClr val="000000"/>
                </a:solidFill>
                <a:latin typeface="Arial"/>
              </a:rPr>
              <a:t>- "New member comes online with Least Connections. Gets overwhelmed. What setting?" → Slow Ramp Time</a:t>
            </a:r>
          </a:p>
          <a:p>
            <a:pPr marL="216000" indent="0">
              <a:lnSpc>
                <a:spcPct val="100000"/>
              </a:lnSpc>
              <a:buNone/>
            </a:pPr>
            <a:r>
              <a:rPr lang="en-US" sz="2000" b="0" strike="noStrike" spc="-1">
                <a:solidFill>
                  <a:srgbClr val="000000"/>
                </a:solidFill>
                <a:latin typeface="Arial"/>
              </a:rPr>
              <a:t>- "Priority groups configured but all members get traffic. What's missing?" → min-active-members not set</a:t>
            </a:r>
          </a:p>
        </p:txBody>
      </p:sp>
      <p:sp>
        <p:nvSpPr>
          <p:cNvPr id="2667" name="PlaceHolder 3"/>
          <p:cNvSpPr>
            <a:spLocks noGrp="1"/>
          </p:cNvSpPr>
          <p:nvPr>
            <p:ph type="sldNum" idx="68"/>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3FCE2DD2-BAF2-41BD-8160-3D8CD698473B}" type="slidenum">
              <a:rPr lang="en-US" sz="1800" b="0" strike="noStrike" spc="-1">
                <a:solidFill>
                  <a:schemeClr val="dk1"/>
                </a:solidFill>
                <a:latin typeface="+mn-lt"/>
                <a:ea typeface="+mn-ea"/>
              </a:rPr>
              <a:t>65</a:t>
            </a:fld>
            <a:endParaRPr lang="en-US" sz="1800" b="0" strike="noStrike" spc="-1">
              <a:solidFill>
                <a:srgbClr val="000000"/>
              </a:solidFill>
              <a:latin typeface="Times New Roman"/>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8" name="PlaceHolder 1"/>
          <p:cNvSpPr>
            <a:spLocks noGrp="1" noRot="1" noChangeAspect="1"/>
          </p:cNvSpPr>
          <p:nvPr>
            <p:ph type="sldImg"/>
          </p:nvPr>
        </p:nvSpPr>
        <p:spPr>
          <a:xfrm>
            <a:off x="0" y="0"/>
            <a:ext cx="0" cy="0"/>
          </a:xfrm>
          <a:prstGeom prst="rect">
            <a:avLst/>
          </a:prstGeom>
          <a:ln w="0">
            <a:noFill/>
          </a:ln>
        </p:spPr>
      </p:sp>
      <p:sp>
        <p:nvSpPr>
          <p:cNvPr id="2669"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This slide covers the critical interaction between persistence and load balancing, directly supporting F5CTSLTM2.09: "Predict persistence for existing connections" and "Predict load balancing and persistence for new connections." The exam frequently presents scenarios where a member is disabled or goes offline and asks what happens to persisted clients.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FULL TECHNICAL EXPLANATION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PERSISTENCE vs LOAD BALANCING — DECISION FLOW:</a:t>
            </a:r>
          </a:p>
          <a:p>
            <a:pPr marL="216000" indent="-216000">
              <a:buNone/>
            </a:pPr>
            <a:r>
              <a:rPr lang="en-US" sz="2000" b="0" strike="noStrike" spc="-1">
                <a:solidFill>
                  <a:srgbClr val="000000"/>
                </a:solidFill>
                <a:latin typeface="Arial"/>
              </a:rPr>
              <a:t>When a new connection arrives at a virtual server with persistence enabled:</a:t>
            </a:r>
          </a:p>
          <a:p>
            <a:pPr marL="216000" indent="-216000">
              <a:buNone/>
            </a:pPr>
            <a:r>
              <a:rPr lang="en-US" sz="2000" b="0" strike="noStrike" spc="-1">
                <a:solidFill>
                  <a:srgbClr val="000000"/>
                </a:solidFill>
                <a:latin typeface="Arial"/>
              </a:rPr>
              <a:t>1. BIG-IP checks for an existing persistence record matching this client</a:t>
            </a:r>
          </a:p>
          <a:p>
            <a:pPr marL="216000" indent="-216000">
              <a:buNone/>
            </a:pPr>
            <a:r>
              <a:rPr lang="en-US" sz="2000" b="0" strike="noStrike" spc="-1">
                <a:solidFill>
                  <a:srgbClr val="000000"/>
                </a:solidFill>
                <a:latin typeface="Arial"/>
              </a:rPr>
              <a:t>2. If a record exists → traffic goes to the persisted member (LB method is BYPASSED)</a:t>
            </a:r>
          </a:p>
          <a:p>
            <a:pPr marL="216000" indent="-216000">
              <a:buNone/>
            </a:pPr>
            <a:r>
              <a:rPr lang="en-US" sz="2000" b="0" strike="noStrike" spc="-1">
                <a:solidFill>
                  <a:srgbClr val="000000"/>
                </a:solidFill>
                <a:latin typeface="Arial"/>
              </a:rPr>
              <a:t>3. If no record exists → LB method selects a member → BIG-IP creates a new persistence record</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This means persistence OVERRIDES load balancing for returning clients. A member could have 10x the connections of others if persistence keeps sending the same clients back.</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THE THREE OFFLINE SCENARIOS: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1. DISABLE (admin action):</a:t>
            </a:r>
          </a:p>
          <a:p>
            <a:pPr marL="216000" indent="-216000">
              <a:buNone/>
            </a:pPr>
            <a:r>
              <a:rPr lang="en-US" sz="2000" b="0" strike="noStrike" spc="-1">
                <a:solidFill>
                  <a:srgbClr val="000000"/>
                </a:solidFill>
                <a:latin typeface="Arial"/>
              </a:rPr>
              <a:t>- Existing connections: Continue normally (already in connection table)</a:t>
            </a:r>
          </a:p>
          <a:p>
            <a:pPr marL="216000" indent="-216000">
              <a:buNone/>
            </a:pPr>
            <a:r>
              <a:rPr lang="en-US" sz="2000" b="0" strike="noStrike" spc="-1">
                <a:solidFill>
                  <a:srgbClr val="000000"/>
                </a:solidFill>
                <a:latin typeface="Arial"/>
              </a:rPr>
              <a:t>- Persistence records: HONORED. If a client has an active persistence record to the disabled member, new connections from that client still go to the disabled member. The BIG-IP respects the persistence record.</a:t>
            </a:r>
          </a:p>
          <a:p>
            <a:pPr marL="216000" indent="-216000">
              <a:buNone/>
            </a:pPr>
            <a:r>
              <a:rPr lang="en-US" sz="2000" b="0" strike="noStrike" spc="-1">
                <a:solidFill>
                  <a:srgbClr val="000000"/>
                </a:solidFill>
                <a:latin typeface="Arial"/>
              </a:rPr>
              <a:t>- Non-persisted new connections: Refused. The LB method skips the disabled member and selects another.</a:t>
            </a:r>
          </a:p>
          <a:p>
            <a:pPr marL="216000" indent="-216000">
              <a:buNone/>
            </a:pPr>
            <a:r>
              <a:rPr lang="en-US" sz="2000" b="0" strike="noStrike" spc="-1">
                <a:solidFill>
                  <a:srgbClr val="000000"/>
                </a:solidFill>
                <a:latin typeface="Arial"/>
              </a:rPr>
              <a:t>- Use case: Planned maintenance. Disable the member, wait for persistence records to expire (check timeout), then perform maintenance.</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2. FORCE OFFLINE:</a:t>
            </a:r>
          </a:p>
          <a:p>
            <a:pPr marL="216000" indent="-216000">
              <a:buNone/>
            </a:pPr>
            <a:r>
              <a:rPr lang="en-US" sz="2000" b="0" strike="noStrike" spc="-1">
                <a:solidFill>
                  <a:srgbClr val="000000"/>
                </a:solidFill>
                <a:latin typeface="Arial"/>
              </a:rPr>
              <a:t>- Existing connections: Immediately terminated (RST sent)</a:t>
            </a:r>
          </a:p>
          <a:p>
            <a:pPr marL="216000" indent="-216000">
              <a:buNone/>
            </a:pPr>
            <a:r>
              <a:rPr lang="en-US" sz="2000" b="0" strike="noStrike" spc="-1">
                <a:solidFill>
                  <a:srgbClr val="000000"/>
                </a:solidFill>
                <a:latin typeface="Arial"/>
              </a:rPr>
              <a:t>- Persistence records: BROKEN. All persistence records pointing to this member are invalidated. Clients are re-load-balanced to a different member on their next connection.</a:t>
            </a:r>
          </a:p>
          <a:p>
            <a:pPr marL="216000" indent="-216000">
              <a:buNone/>
            </a:pPr>
            <a:r>
              <a:rPr lang="en-US" sz="2000" b="0" strike="noStrike" spc="-1">
                <a:solidFill>
                  <a:srgbClr val="000000"/>
                </a:solidFill>
                <a:latin typeface="Arial"/>
              </a:rPr>
              <a:t>- Non-persisted new connections: Refused.</a:t>
            </a:r>
          </a:p>
          <a:p>
            <a:pPr marL="216000" indent="-216000">
              <a:buNone/>
            </a:pPr>
            <a:r>
              <a:rPr lang="en-US" sz="2000" b="0" strike="noStrike" spc="-1">
                <a:solidFill>
                  <a:srgbClr val="000000"/>
                </a:solidFill>
                <a:latin typeface="Arial"/>
              </a:rPr>
              <a:t>- Use case: Emergency removal. Security incident, data corruption, unresponsive server.</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3. MONITOR FAILURE (member goes offline):</a:t>
            </a:r>
          </a:p>
          <a:p>
            <a:pPr marL="216000" indent="-216000">
              <a:buNone/>
            </a:pPr>
            <a:r>
              <a:rPr lang="en-US" sz="2000" b="0" strike="noStrike" spc="-1">
                <a:solidFill>
                  <a:srgbClr val="000000"/>
                </a:solidFill>
                <a:latin typeface="Arial"/>
              </a:rPr>
              <a:t>- Existing connections: Continue (the server may still be partially responding)</a:t>
            </a:r>
          </a:p>
          <a:p>
            <a:pPr marL="216000" indent="-216000">
              <a:buNone/>
            </a:pPr>
            <a:r>
              <a:rPr lang="en-US" sz="2000" b="0" strike="noStrike" spc="-1">
                <a:solidFill>
                  <a:srgbClr val="000000"/>
                </a:solidFill>
                <a:latin typeface="Arial"/>
              </a:rPr>
              <a:t>- Persistence records: Honored in most configurations. The persistence record still exists in the table — the BIG-IP will attempt to send traffic to the offline member, which may result in failures for the client. This depends on the "Action On Service Down" setting.</a:t>
            </a:r>
          </a:p>
          <a:p>
            <a:pPr marL="216000" indent="-216000">
              <a:buNone/>
            </a:pPr>
            <a:r>
              <a:rPr lang="en-US" sz="2000" b="0" strike="noStrike" spc="-1">
                <a:solidFill>
                  <a:srgbClr val="000000"/>
                </a:solidFill>
                <a:latin typeface="Arial"/>
              </a:rPr>
              <a:t>- Action On Service Down options: None (default — connections remain), Reset (send RST), Drop (silently drop), Reselect (pick another member).</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ACTION ON SERVICE DOWN:</a:t>
            </a:r>
          </a:p>
          <a:p>
            <a:pPr marL="216000" indent="-216000">
              <a:buNone/>
            </a:pPr>
            <a:r>
              <a:rPr lang="en-US" sz="2000" b="0" strike="noStrike" spc="-1">
                <a:solidFill>
                  <a:srgbClr val="000000"/>
                </a:solidFill>
                <a:latin typeface="Arial"/>
              </a:rPr>
              <a:t>This pool-level setting determines what happens to connections when a pool member's monitor fails:</a:t>
            </a:r>
          </a:p>
          <a:p>
            <a:pPr marL="216000" indent="-216000">
              <a:buNone/>
            </a:pPr>
            <a:r>
              <a:rPr lang="en-US" sz="2000" b="0" strike="noStrike" spc="-1">
                <a:solidFill>
                  <a:srgbClr val="000000"/>
                </a:solidFill>
                <a:latin typeface="Arial"/>
              </a:rPr>
              <a:t>- None: Default. Existing connections remain. New connections go elsewhere.</a:t>
            </a:r>
          </a:p>
          <a:p>
            <a:pPr marL="216000" indent="-216000">
              <a:buNone/>
            </a:pPr>
            <a:r>
              <a:rPr lang="en-US" sz="2000" b="0" strike="noStrike" spc="-1">
                <a:solidFill>
                  <a:srgbClr val="000000"/>
                </a:solidFill>
                <a:latin typeface="Arial"/>
              </a:rPr>
              <a:t>- Reset: Send TCP RST to all connections to the failed member.</a:t>
            </a:r>
          </a:p>
          <a:p>
            <a:pPr marL="216000" indent="-216000">
              <a:buNone/>
            </a:pPr>
            <a:r>
              <a:rPr lang="en-US" sz="2000" b="0" strike="noStrike" spc="-1">
                <a:solidFill>
                  <a:srgbClr val="000000"/>
                </a:solidFill>
                <a:latin typeface="Arial"/>
              </a:rPr>
              <a:t>- Drop: Silently drop connections to the failed member.</a:t>
            </a:r>
          </a:p>
          <a:p>
            <a:pPr marL="216000" indent="-216000">
              <a:buNone/>
            </a:pPr>
            <a:r>
              <a:rPr lang="en-US" sz="2000" b="0" strike="noStrike" spc="-1">
                <a:solidFill>
                  <a:srgbClr val="000000"/>
                </a:solidFill>
                <a:latin typeface="Arial"/>
              </a:rPr>
              <a:t>- Reselect: Rebalance active connections to other members. Best for stateless applications.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PERSISTENCE RECORD TIMEOUT:</a:t>
            </a:r>
          </a:p>
          <a:p>
            <a:pPr marL="216000" indent="-216000">
              <a:buNone/>
            </a:pPr>
            <a:r>
              <a:rPr lang="en-US" sz="2000" b="0" strike="noStrike" spc="-1">
                <a:solidFill>
                  <a:srgbClr val="000000"/>
                </a:solidFill>
                <a:latin typeface="Arial"/>
              </a:rPr>
              <a:t>Source address persistence records have a configurable timeout (default 180 seconds). After the timeout, the record expires and the client gets a fresh LB decision on the next connection. During planned maintenance:</a:t>
            </a:r>
          </a:p>
          <a:p>
            <a:pPr marL="216000" indent="-216000">
              <a:buNone/>
            </a:pPr>
            <a:r>
              <a:rPr lang="en-US" sz="2000" b="0" strike="noStrike" spc="-1">
                <a:solidFill>
                  <a:srgbClr val="000000"/>
                </a:solidFill>
                <a:latin typeface="Arial"/>
              </a:rPr>
              <a:t>1. Disable the member (persistence is still honored)</a:t>
            </a:r>
          </a:p>
          <a:p>
            <a:pPr marL="216000" indent="-216000">
              <a:buNone/>
            </a:pPr>
            <a:r>
              <a:rPr lang="en-US" sz="2000" b="0" strike="noStrike" spc="-1">
                <a:solidFill>
                  <a:srgbClr val="000000"/>
                </a:solidFill>
                <a:latin typeface="Arial"/>
              </a:rPr>
              <a:t>2. Wait for persistence records to expire (check Statistics &gt; Persistence Records)</a:t>
            </a:r>
          </a:p>
          <a:p>
            <a:pPr marL="216000" indent="-216000">
              <a:buNone/>
            </a:pPr>
            <a:r>
              <a:rPr lang="en-US" sz="2000" b="0" strike="noStrike" spc="-1">
                <a:solidFill>
                  <a:srgbClr val="000000"/>
                </a:solidFill>
                <a:latin typeface="Arial"/>
              </a:rPr>
              <a:t>3. When no records remain → all clients have been naturally moved to other members</a:t>
            </a:r>
          </a:p>
          <a:p>
            <a:pPr marL="216000" indent="-216000">
              <a:buNone/>
            </a:pPr>
            <a:r>
              <a:rPr lang="en-US" sz="2000" b="0" strike="noStrike" spc="-1">
                <a:solidFill>
                  <a:srgbClr val="000000"/>
                </a:solidFill>
                <a:latin typeface="Arial"/>
              </a:rPr>
              <a:t>4. Perform maintenance safely</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COMMON STUDENT MISTAKES</a:t>
            </a:r>
          </a:p>
          <a:p>
            <a:pPr marL="216000" indent="-216000">
              <a:buNone/>
            </a:pPr>
            <a:r>
              <a:rPr lang="en-US" sz="2000" b="0" strike="noStrike" spc="-1">
                <a:solidFill>
                  <a:srgbClr val="000000"/>
                </a:solidFill>
                <a:latin typeface="Arial"/>
              </a:rPr>
              <a:t>- Thinking Disable breaks persistence immediately. It doesn't — persisted clients continue to be sent to the disabled member.</a:t>
            </a:r>
          </a:p>
          <a:p>
            <a:pPr marL="216000" indent="-216000">
              <a:buNone/>
            </a:pPr>
            <a:r>
              <a:rPr lang="en-US" sz="2000" b="0" strike="noStrike" spc="-1">
                <a:solidFill>
                  <a:srgbClr val="000000"/>
                </a:solidFill>
                <a:latin typeface="Arial"/>
              </a:rPr>
              <a:t>- Not understanding Action On Service Down. Default "None" means monitor failure doesn't reset connections.</a:t>
            </a:r>
          </a:p>
          <a:p>
            <a:pPr marL="216000" indent="-216000">
              <a:buNone/>
            </a:pPr>
            <a:r>
              <a:rPr lang="en-US" sz="2000" b="0" strike="noStrike" spc="-1">
                <a:solidFill>
                  <a:srgbClr val="000000"/>
                </a:solidFill>
                <a:latin typeface="Arial"/>
              </a:rPr>
              <a:t>- Forgetting to check persistence records before maintenance — disabling a member doesn't mean clients have moved.</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PIVOT QUESTION</a:t>
            </a:r>
          </a:p>
          <a:p>
            <a:pPr marL="216000" indent="-216000">
              <a:buNone/>
            </a:pPr>
            <a:r>
              <a:rPr lang="en-US" sz="2000" b="0" strike="noStrike" spc="-1">
                <a:solidFill>
                  <a:srgbClr val="000000"/>
                </a:solidFill>
                <a:latin typeface="Arial"/>
              </a:rPr>
              <a:t>"You disable member 10.1.20.11 for maintenance. Source address persistence is configured with a 180-second timeout. A client who was persisted to .11 refreshes the page 30 seconds later. What happens?"</a:t>
            </a:r>
          </a:p>
          <a:p>
            <a:pPr marL="216000" indent="-216000">
              <a:buNone/>
            </a:pPr>
            <a:r>
              <a:rPr lang="en-US" sz="2000" b="0" strike="noStrike" spc="-1">
                <a:solidFill>
                  <a:srgbClr val="000000"/>
                </a:solidFill>
                <a:latin typeface="Arial"/>
              </a:rPr>
              <a:t>ANSWER: The client's request is sent to the disabled member 10.1.20.11. Disable honors persistence records. The client continues to use .11 until either: (a) the persistence record expires (180 seconds of idle), or (b) the admin uses Force Offline instead of Disable. To ensure the client moves to another member, either wait for the persistence timeout or use Force Offline.</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F5 DOCUMENTATION</a:t>
            </a:r>
          </a:p>
          <a:p>
            <a:pPr marL="216000" indent="-216000">
              <a:buNone/>
            </a:pPr>
            <a:r>
              <a:rPr lang="en-US" sz="2000" b="0" strike="noStrike" spc="-1">
                <a:solidFill>
                  <a:srgbClr val="000000"/>
                </a:solidFill>
                <a:latin typeface="Arial"/>
              </a:rPr>
              <a:t>- Persistence and member state: https://my.f5.com/manage/s/article/K13132</a:t>
            </a:r>
          </a:p>
          <a:p>
            <a:pPr marL="216000" indent="-216000">
              <a:buNone/>
            </a:pPr>
            <a:r>
              <a:rPr lang="en-US" sz="2000" b="0" strike="noStrike" spc="-1">
                <a:solidFill>
                  <a:srgbClr val="000000"/>
                </a:solidFill>
                <a:latin typeface="Arial"/>
              </a:rPr>
              <a:t>- Action On Service Down: https://my.f5.com/manage/s/article/K10530</a:t>
            </a:r>
          </a:p>
          <a:p>
            <a:pPr marL="216000" indent="-216000">
              <a:buNone/>
            </a:pPr>
            <a:r>
              <a:rPr lang="en-US" sz="2000" b="0" strike="noStrike" spc="-1">
                <a:solidFill>
                  <a:srgbClr val="000000"/>
                </a:solidFill>
                <a:latin typeface="Arial"/>
              </a:rPr>
              <a:t>- Persistence records: https://my.f5.com/manage/s/article/K5779</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EXAM QUESTION PATTERNS</a:t>
            </a:r>
          </a:p>
          <a:p>
            <a:pPr marL="216000" indent="-216000">
              <a:buNone/>
            </a:pPr>
            <a:r>
              <a:rPr lang="en-US" sz="2000" b="0" strike="noStrike" spc="-1">
                <a:solidFill>
                  <a:srgbClr val="000000"/>
                </a:solidFill>
                <a:latin typeface="Arial"/>
              </a:rPr>
              <a:t>- "Member disabled, client has persistence record. Where does traffic go?" → Still to the disabled member</a:t>
            </a:r>
          </a:p>
          <a:p>
            <a:pPr marL="216000" indent="-216000">
              <a:buNone/>
            </a:pPr>
            <a:r>
              <a:rPr lang="en-US" sz="2000" b="0" strike="noStrike" spc="-1">
                <a:solidFill>
                  <a:srgbClr val="000000"/>
                </a:solidFill>
                <a:latin typeface="Arial"/>
              </a:rPr>
              <a:t>- "Member force-offlined, client has persistence record. Where?" → LB selects a new member</a:t>
            </a:r>
          </a:p>
          <a:p>
            <a:pPr marL="216000" indent="0">
              <a:lnSpc>
                <a:spcPct val="100000"/>
              </a:lnSpc>
              <a:buNone/>
            </a:pPr>
            <a:r>
              <a:rPr lang="en-US" sz="2000" b="0" strike="noStrike" spc="-1">
                <a:solidFill>
                  <a:srgbClr val="000000"/>
                </a:solidFill>
                <a:latin typeface="Arial"/>
              </a:rPr>
              <a:t>- "What setting controls behavior when a monitor marks a member down?" → Action On Service Down</a:t>
            </a:r>
          </a:p>
        </p:txBody>
      </p:sp>
      <p:sp>
        <p:nvSpPr>
          <p:cNvPr id="2670" name="PlaceHolder 3"/>
          <p:cNvSpPr>
            <a:spLocks noGrp="1"/>
          </p:cNvSpPr>
          <p:nvPr>
            <p:ph type="sldNum" idx="69"/>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65C50D7C-05A2-4906-B37B-B1EFFBF78C0A}" type="slidenum">
              <a:rPr lang="en-US" sz="1800" b="0" strike="noStrike" spc="-1">
                <a:solidFill>
                  <a:schemeClr val="dk1"/>
                </a:solidFill>
                <a:latin typeface="+mn-lt"/>
                <a:ea typeface="+mn-ea"/>
              </a:rPr>
              <a:t>66</a:t>
            </a:fld>
            <a:endParaRPr lang="en-US" sz="1800" b="0" strike="noStrike" spc="-1">
              <a:solidFill>
                <a:srgbClr val="000000"/>
              </a:solidFill>
              <a:latin typeface="Times New Roman"/>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1" name="PlaceHolder 1"/>
          <p:cNvSpPr>
            <a:spLocks noGrp="1" noRot="1" noChangeAspect="1"/>
          </p:cNvSpPr>
          <p:nvPr>
            <p:ph type="sldImg"/>
          </p:nvPr>
        </p:nvSpPr>
        <p:spPr>
          <a:xfrm>
            <a:off x="0" y="0"/>
            <a:ext cx="0" cy="0"/>
          </a:xfrm>
          <a:prstGeom prst="rect">
            <a:avLst/>
          </a:prstGeom>
          <a:ln w="0">
            <a:noFill/>
          </a:ln>
        </p:spPr>
      </p:sp>
      <p:sp>
        <p:nvSpPr>
          <p:cNvPr id="2672"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Lab launch for load balancing exercises. Three activities testing ratio distribution, priority group failover, and persistence interaction with member state changes.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KEY TEACHING MOMENTS:</a:t>
            </a:r>
          </a:p>
          <a:p>
            <a:pPr marL="216000" indent="-216000">
              <a:buNone/>
            </a:pPr>
            <a:r>
              <a:rPr lang="en-US" sz="2000" b="0" strike="noStrike" spc="-1">
                <a:solidFill>
                  <a:srgbClr val="000000"/>
                </a:solidFill>
                <a:latin typeface="Arial"/>
              </a:rPr>
              <a:t>- Activity 1: Ratio weights only matter when LB method is Ratio. Switching back to Round Robin ignores them.</a:t>
            </a:r>
          </a:p>
          <a:p>
            <a:pPr marL="216000" indent="-216000">
              <a:buNone/>
            </a:pPr>
            <a:r>
              <a:rPr lang="en-US" sz="2000" b="0" strike="noStrike" spc="-1">
                <a:solidFill>
                  <a:srgbClr val="000000"/>
                </a:solidFill>
                <a:latin typeface="Arial"/>
              </a:rPr>
              <a:t>- Activity 2: Priority groups provide active/standby member pools. Threshold controls activation.</a:t>
            </a:r>
          </a:p>
          <a:p>
            <a:pPr marL="216000" indent="-216000">
              <a:buNone/>
            </a:pPr>
            <a:r>
              <a:rPr lang="en-US" sz="2000" b="0" strike="noStrike" spc="-1">
                <a:solidFill>
                  <a:srgbClr val="000000"/>
                </a:solidFill>
                <a:latin typeface="Arial"/>
              </a:rPr>
              <a:t>- Activity 3: The critical Disable vs Force Offline persistence lesson — Disable honors persistence, Force Offline breaks it.</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IMPORTANT: Students must close browser windows between tests. HTTP keep-alive and browser connection pooling can reuse existing connections, making it look like LB settings didn't change.</a:t>
            </a:r>
          </a:p>
          <a:p>
            <a:pPr marL="216000" indent="-216000">
              <a:buNone/>
            </a:pPr>
            <a:endParaRPr lang="en-US"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F5 DOCUMENTATION: K16649 (LB methods), K14358 (priority groups), K5779 (persistence), K13132 (member states)</a:t>
            </a:r>
          </a:p>
        </p:txBody>
      </p:sp>
      <p:sp>
        <p:nvSpPr>
          <p:cNvPr id="2673" name="PlaceHolder 3"/>
          <p:cNvSpPr>
            <a:spLocks noGrp="1"/>
          </p:cNvSpPr>
          <p:nvPr>
            <p:ph type="sldNum" idx="70"/>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5AFC8FE3-AE2E-4932-81D9-23B205B1BD07}" type="slidenum">
              <a:rPr lang="en-US" sz="1800" b="0" strike="noStrike" spc="-1">
                <a:solidFill>
                  <a:schemeClr val="dk1"/>
                </a:solidFill>
                <a:latin typeface="+mn-lt"/>
                <a:ea typeface="+mn-ea"/>
              </a:rPr>
              <a:t>67</a:t>
            </a:fld>
            <a:endParaRPr lang="en-US" sz="1800" b="0" strike="noStrike" spc="-1">
              <a:solidFill>
                <a:srgbClr val="000000"/>
              </a:solidFill>
              <a:latin typeface="Times New Roman"/>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4" name="PlaceHolder 1"/>
          <p:cNvSpPr>
            <a:spLocks noGrp="1" noRot="1" noChangeAspect="1"/>
          </p:cNvSpPr>
          <p:nvPr>
            <p:ph type="sldImg"/>
          </p:nvPr>
        </p:nvSpPr>
        <p:spPr>
          <a:xfrm>
            <a:off x="0" y="0"/>
            <a:ext cx="0" cy="0"/>
          </a:xfrm>
          <a:prstGeom prst="rect">
            <a:avLst/>
          </a:prstGeom>
          <a:ln w="0">
            <a:noFill/>
          </a:ln>
        </p:spPr>
      </p:sp>
      <p:sp>
        <p:nvSpPr>
          <p:cNvPr id="2675"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Four checkpoint questions testing LB method behavior, slow ramp, and the critical Disable vs Force Offline persistence interaction.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Q1 ANSWER: Traffic is distributed evenly — identical to Round Robin. All members have the default ratio of 1. Ratio with equal weights produces the same result as Round Robin. You must explicitly change ratio values on individual members for Ratio to differ from Round Robin.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Q2 ANSWER: Slow Ramp Time. Set on the pool (modify ltm pool [name] slow-ramp-time 30). Gradually increases the connection rate to newly available members during the ramp period. Default is 10 seconds. For applications with long warm-up (JVM, cache), set to 30-60 seconds.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Q3 ANSWER: YES, the client can still access the site. Disable honors persistence records. The BIG-IP sees the client's persistence record pointing to the disabled member and sends the traffic there anyway. The disabled member continues to serve existing connections and persisted clients. Only NON-persisted new connections are redirected to other members.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Q4 ANSWER: The first request FAILS (the member is immediately taken offline and the persistence record is invalidated). The client's browser retries or refreshes → the BIG-IP makes a new LB decision → traffic goes to a different member → the client can access the site again. Force Offline breaks persistence immediately, unlike Disable which honors it.</a:t>
            </a:r>
          </a:p>
          <a:p>
            <a:pPr marL="216000" indent="-216000">
              <a:buNone/>
            </a:pPr>
            <a:endParaRPr lang="en-US"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F5 DOCUMENTATION: K16649, K13637 (slow ramp), K13132 (member states), K5779 (persistence)</a:t>
            </a:r>
          </a:p>
        </p:txBody>
      </p:sp>
      <p:sp>
        <p:nvSpPr>
          <p:cNvPr id="2676" name="PlaceHolder 3"/>
          <p:cNvSpPr>
            <a:spLocks noGrp="1"/>
          </p:cNvSpPr>
          <p:nvPr>
            <p:ph type="sldNum" idx="71"/>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9AA577F8-A78B-4164-BCAD-3E11FB942BE4}" type="slidenum">
              <a:rPr lang="en-US" sz="1800" b="0" strike="noStrike" spc="-1">
                <a:solidFill>
                  <a:schemeClr val="dk1"/>
                </a:solidFill>
                <a:latin typeface="+mn-lt"/>
                <a:ea typeface="+mn-ea"/>
              </a:rPr>
              <a:t>68</a:t>
            </a:fld>
            <a:endParaRPr lang="en-US" sz="1800" b="0" strike="noStrike" spc="-1">
              <a:solidFill>
                <a:srgbClr val="000000"/>
              </a:solidFill>
              <a:latin typeface="Times New Roman"/>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7" name="PlaceHolder 1"/>
          <p:cNvSpPr>
            <a:spLocks noGrp="1" noRot="1" noChangeAspect="1"/>
          </p:cNvSpPr>
          <p:nvPr>
            <p:ph type="sldImg"/>
          </p:nvPr>
        </p:nvSpPr>
        <p:spPr>
          <a:xfrm>
            <a:off x="0" y="0"/>
            <a:ext cx="0" cy="0"/>
          </a:xfrm>
          <a:prstGeom prst="rect">
            <a:avLst/>
          </a:prstGeom>
          <a:ln w="0">
            <a:noFill/>
          </a:ln>
        </p:spPr>
      </p:sp>
      <p:sp>
        <p:nvSpPr>
          <p:cNvPr id="2678"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Final checkpoints plus the LB decision tree reference.</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Q5 ANSWER: YES, PG5 is activated. With A failed, PG10 has only 1 available member (B). The min-active-members threshold is 2. Since 1 &lt; 2, the BIG-IP activates the next lower priority group (PG5). Traffic now goes to B (PG10), C (PG5), and D (PG5). When A recovers, PG10 has 2 members again ≥ threshold, and PG5 is deactivated.</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Q6 ANSWER:</a:t>
            </a:r>
          </a:p>
          <a:p>
            <a:pPr marL="216000" indent="-216000">
              <a:buNone/>
            </a:pPr>
            <a:r>
              <a:rPr lang="en-US" sz="2000" b="0" strike="noStrike" spc="-1">
                <a:solidFill>
                  <a:srgbClr val="000000"/>
                </a:solidFill>
                <a:latin typeface="Arial"/>
              </a:rPr>
              <a:t>- Least Connections (Member): Counts active connections per pool member (IP:port). Server 10.1.20.11 running on port 80 and port 443 has separate connection counts.</a:t>
            </a:r>
          </a:p>
          <a:p>
            <a:pPr marL="216000" indent="-216000">
              <a:buNone/>
            </a:pPr>
            <a:r>
              <a:rPr lang="en-US" sz="2000" b="0" strike="noStrike" spc="-1">
                <a:solidFill>
                  <a:srgbClr val="000000"/>
                </a:solidFill>
                <a:latin typeface="Arial"/>
              </a:rPr>
              <a:t>- Least Connections (Node): Counts active connections per node (IP address), aggregating across ALL pools and ports. Server 10.1.20.11 with connections on port 80 AND port 443 has one combined count.</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The distinction matters when: a server is a member of multiple pools or serves multiple ports. With (Node), the BIG-IP considers the server's total load across all services. With (Member), it only considers the load for that specific pool member.</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Example: Server A has 50 connections on port 80 and 200 connections on port 443.</a:t>
            </a:r>
          </a:p>
          <a:p>
            <a:pPr marL="216000" indent="-216000">
              <a:buNone/>
            </a:pPr>
            <a:r>
              <a:rPr lang="en-US" sz="2000" b="0" strike="noStrike" spc="-1">
                <a:solidFill>
                  <a:srgbClr val="000000"/>
                </a:solidFill>
                <a:latin typeface="Arial"/>
              </a:rPr>
              <a:t>- LC (Member) for the port-80 pool: only sees 50 connections → might send more traffic</a:t>
            </a:r>
          </a:p>
          <a:p>
            <a:pPr marL="216000" indent="-216000">
              <a:buNone/>
            </a:pPr>
            <a:r>
              <a:rPr lang="en-US" sz="2000" b="0" strike="noStrike" spc="-1">
                <a:solidFill>
                  <a:srgbClr val="000000"/>
                </a:solidFill>
                <a:latin typeface="Arial"/>
              </a:rPr>
              <a:t>- LC (Node): sees 250 total connections → sends less traffic to balance overall server load</a:t>
            </a:r>
          </a:p>
          <a:p>
            <a:pPr marL="216000" indent="-216000">
              <a:buNone/>
            </a:pPr>
            <a:endParaRPr lang="en-US"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F5 DOCUMENTATION: K14358 (priority groups), K16649 (LB methods)</a:t>
            </a:r>
          </a:p>
        </p:txBody>
      </p:sp>
      <p:sp>
        <p:nvSpPr>
          <p:cNvPr id="2679" name="PlaceHolder 3"/>
          <p:cNvSpPr>
            <a:spLocks noGrp="1"/>
          </p:cNvSpPr>
          <p:nvPr>
            <p:ph type="sldNum" idx="72"/>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36C9D42E-BF82-4E1E-978A-8C2133CE9B1A}" type="slidenum">
              <a:rPr lang="en-US" sz="1800" b="0" strike="noStrike" spc="-1">
                <a:solidFill>
                  <a:schemeClr val="dk1"/>
                </a:solidFill>
                <a:latin typeface="+mn-lt"/>
                <a:ea typeface="+mn-ea"/>
              </a:rPr>
              <a:t>69</a:t>
            </a:fld>
            <a:endParaRPr lang="en-US" sz="1800" b="0" strike="noStrike" spc="-1">
              <a:solidFill>
                <a:srgbClr val="000000"/>
              </a:solidFill>
              <a:latin typeface="Times New Roman"/>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0" name="PlaceHolder 1"/>
          <p:cNvSpPr>
            <a:spLocks noGrp="1" noRot="1" noChangeAspect="1"/>
          </p:cNvSpPr>
          <p:nvPr>
            <p:ph type="sldImg"/>
          </p:nvPr>
        </p:nvSpPr>
        <p:spPr>
          <a:xfrm>
            <a:off x="0" y="0"/>
            <a:ext cx="0" cy="0"/>
          </a:xfrm>
          <a:prstGeom prst="rect">
            <a:avLst/>
          </a:prstGeom>
          <a:ln w="0">
            <a:noFill/>
          </a:ln>
        </p:spPr>
      </p:sp>
      <p:sp>
        <p:nvSpPr>
          <p:cNvPr id="2681"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Section opener for Lab 8: Networking. Maps to F5CTSLTM1-B exam. 301a OBJECTIVES: 2.01–2.02.</a:t>
            </a:r>
          </a:p>
          <a:p>
            <a:pPr marL="216000" indent="-216000">
              <a:buNone/>
            </a:pPr>
            <a:endParaRPr lang="en-US"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F5 DOCUMENTATION: K13250 (port lockdown), K7595 (VLANs), K13284 (self IPs), K26588 (route domains)</a:t>
            </a:r>
          </a:p>
        </p:txBody>
      </p:sp>
      <p:sp>
        <p:nvSpPr>
          <p:cNvPr id="2682" name="PlaceHolder 3"/>
          <p:cNvSpPr>
            <a:spLocks noGrp="1"/>
          </p:cNvSpPr>
          <p:nvPr>
            <p:ph type="sldNum" idx="73"/>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A2B18895-8A3A-4834-9D41-665A39E45C74}" type="slidenum">
              <a:rPr lang="en-US" sz="1800" b="0" strike="noStrike" spc="-1">
                <a:solidFill>
                  <a:schemeClr val="dk1"/>
                </a:solidFill>
                <a:latin typeface="+mn-lt"/>
                <a:ea typeface="+mn-ea"/>
              </a:rPr>
              <a:t>70</a:t>
            </a:fld>
            <a:endParaRPr lang="en-US" sz="1800" b="0" strike="noStrike" spc="-1">
              <a:solidFill>
                <a:srgbClr val="000000"/>
              </a:solidFill>
              <a:latin typeface="Times New Roman"/>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3" name="PlaceHolder 1"/>
          <p:cNvSpPr>
            <a:spLocks noGrp="1" noRot="1" noChangeAspect="1"/>
          </p:cNvSpPr>
          <p:nvPr>
            <p:ph type="sldImg"/>
          </p:nvPr>
        </p:nvSpPr>
        <p:spPr>
          <a:xfrm>
            <a:off x="0" y="0"/>
            <a:ext cx="0" cy="0"/>
          </a:xfrm>
          <a:prstGeom prst="rect">
            <a:avLst/>
          </a:prstGeom>
          <a:ln w="0">
            <a:noFill/>
          </a:ln>
        </p:spPr>
      </p:sp>
      <p:sp>
        <p:nvSpPr>
          <p:cNvPr id="2684"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This slide covers F5CTSLTM1.03: "Determine how to secure Self IPs" with full configuration examples for each port lockdown mode. The four TMSH code blocks show the exact commands, and the Allow Defaults port table details every port with its purpose.</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FULL TECHNICAL EXPLANATION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PORT LOCKDOWN CONFIGURATION: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NONE (default, most secure):</a:t>
            </a:r>
          </a:p>
          <a:p>
            <a:pPr marL="216000" indent="-216000">
              <a:buNone/>
            </a:pPr>
            <a:r>
              <a:rPr lang="en-US" sz="2000" b="0" strike="noStrike" spc="-1">
                <a:solidFill>
                  <a:srgbClr val="000000"/>
                </a:solidFill>
                <a:latin typeface="Arial"/>
              </a:rPr>
              <a:t>GUI: Network &gt; Self IPs &gt; [self IP] &gt; Port Lockdown: None</a:t>
            </a:r>
          </a:p>
          <a:p>
            <a:pPr marL="216000" indent="-216000">
              <a:buNone/>
            </a:pPr>
            <a:r>
              <a:rPr lang="en-US" sz="2000" b="0" strike="noStrike" spc="-1">
                <a:solidFill>
                  <a:srgbClr val="000000"/>
                </a:solidFill>
                <a:latin typeface="Arial"/>
              </a:rPr>
              <a:t>TMSH: modify net self 10.1.10.245/24 allow-service none</a:t>
            </a:r>
          </a:p>
          <a:p>
            <a:pPr marL="216000" indent="-216000">
              <a:buNone/>
            </a:pPr>
            <a:r>
              <a:rPr lang="en-US" sz="2000" b="0" strike="noStrike" spc="-1">
                <a:solidFill>
                  <a:srgbClr val="000000"/>
                </a:solidFill>
                <a:latin typeface="Arial"/>
              </a:rPr>
              <a:t>Effect: Only ICMP (ping) is allowed. All TCP and UDP ports are blocked. You cannot SSH or access the GUI through this self IP. This is the DEFAULT setting for all new self IPs.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ALLOW DEFAULTS:</a:t>
            </a:r>
          </a:p>
          <a:p>
            <a:pPr marL="216000" indent="-216000">
              <a:buNone/>
            </a:pPr>
            <a:r>
              <a:rPr lang="en-US" sz="2000" b="0" strike="noStrike" spc="-1">
                <a:solidFill>
                  <a:srgbClr val="000000"/>
                </a:solidFill>
                <a:latin typeface="Arial"/>
              </a:rPr>
              <a:t>GUI: Network &gt; Self IPs &gt; [self IP] &gt; Port Lockdown: Allow Default</a:t>
            </a:r>
          </a:p>
          <a:p>
            <a:pPr marL="216000" indent="-216000">
              <a:buNone/>
            </a:pPr>
            <a:r>
              <a:rPr lang="en-US" sz="2000" b="0" strike="noStrike" spc="-1">
                <a:solidFill>
                  <a:srgbClr val="000000"/>
                </a:solidFill>
                <a:latin typeface="Arial"/>
              </a:rPr>
              <a:t>TMSH: modify net self 10.1.10.245/24 allow-service default</a:t>
            </a:r>
          </a:p>
          <a:p>
            <a:pPr marL="216000" indent="-216000">
              <a:buNone/>
            </a:pPr>
            <a:r>
              <a:rPr lang="en-US" sz="2000" b="0" strike="noStrike" spc="-1">
                <a:solidFill>
                  <a:srgbClr val="000000"/>
                </a:solidFill>
                <a:latin typeface="Arial"/>
              </a:rPr>
              <a:t>Effect: Opens the predefined port list shown in the table. This is the minimum setting for self IPs that need admin access or HA communication.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ALLOW CUSTOM:</a:t>
            </a:r>
          </a:p>
          <a:p>
            <a:pPr marL="216000" indent="-216000">
              <a:buNone/>
            </a:pPr>
            <a:r>
              <a:rPr lang="en-US" sz="2000" b="0" strike="noStrike" spc="-1">
                <a:solidFill>
                  <a:srgbClr val="000000"/>
                </a:solidFill>
                <a:latin typeface="Arial"/>
              </a:rPr>
              <a:t>GUI: Network &gt; Self IPs &gt; [self IP] &gt; Port Lockdown: Allow Custom &gt; Add ports</a:t>
            </a:r>
          </a:p>
          <a:p>
            <a:pPr marL="216000" indent="-216000">
              <a:buNone/>
            </a:pPr>
            <a:r>
              <a:rPr lang="en-US" sz="2000" b="0" strike="noStrike" spc="-1">
                <a:solidFill>
                  <a:srgbClr val="000000"/>
                </a:solidFill>
                <a:latin typeface="Arial"/>
              </a:rPr>
              <a:t>TMSH: modify net self 10.1.10.245/24 allow-service add { tcp:22 tcp:443 }</a:t>
            </a:r>
          </a:p>
          <a:p>
            <a:pPr marL="216000" indent="-216000">
              <a:buNone/>
            </a:pPr>
            <a:r>
              <a:rPr lang="en-US" sz="2000" b="0" strike="noStrike" spc="-1">
                <a:solidFill>
                  <a:srgbClr val="000000"/>
                </a:solidFill>
                <a:latin typeface="Arial"/>
              </a:rPr>
              <a:t>Effect: Only the specific ports you list. Everything else remains blocked. Use this when you want fine-grained control — for example, allow SSH but not HTTPS GUI.</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ALLOW ALL:</a:t>
            </a:r>
          </a:p>
          <a:p>
            <a:pPr marL="216000" indent="-216000">
              <a:buNone/>
            </a:pPr>
            <a:r>
              <a:rPr lang="en-US" sz="2000" b="0" strike="noStrike" spc="-1">
                <a:solidFill>
                  <a:srgbClr val="000000"/>
                </a:solidFill>
                <a:latin typeface="Arial"/>
              </a:rPr>
              <a:t>GUI: Network &gt; Self IPs &gt; [self IP] &gt; Port Lockdown: Allow All</a:t>
            </a:r>
          </a:p>
          <a:p>
            <a:pPr marL="216000" indent="-216000">
              <a:buNone/>
            </a:pPr>
            <a:r>
              <a:rPr lang="en-US" sz="2000" b="0" strike="noStrike" spc="-1">
                <a:solidFill>
                  <a:srgbClr val="000000"/>
                </a:solidFill>
                <a:latin typeface="Arial"/>
              </a:rPr>
              <a:t>TMSH: modify net self 10.1.10.245/24 allow-service all</a:t>
            </a:r>
          </a:p>
          <a:p>
            <a:pPr marL="216000" indent="-216000">
              <a:buNone/>
            </a:pPr>
            <a:r>
              <a:rPr lang="en-US" sz="2000" b="0" strike="noStrike" spc="-1">
                <a:solidFill>
                  <a:srgbClr val="000000"/>
                </a:solidFill>
                <a:latin typeface="Arial"/>
              </a:rPr>
              <a:t>Effect: All TCP and UDP ports are accessible. NEVER use in production. Only for troubleshooting.</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HA MINIMUM REQUIREMENTS:</a:t>
            </a:r>
          </a:p>
          <a:p>
            <a:pPr marL="216000" indent="-216000">
              <a:buNone/>
            </a:pPr>
            <a:r>
              <a:rPr lang="en-US" sz="2000" b="0" strike="noStrike" spc="-1">
                <a:solidFill>
                  <a:srgbClr val="000000"/>
                </a:solidFill>
                <a:latin typeface="Arial"/>
              </a:rPr>
              <a:t>For DSC to function, the HA self IP must allow at minimum:</a:t>
            </a:r>
          </a:p>
          <a:p>
            <a:pPr marL="216000" indent="-216000">
              <a:buNone/>
            </a:pPr>
            <a:r>
              <a:rPr lang="en-US" sz="2000" b="0" strike="noStrike" spc="-1">
                <a:solidFill>
                  <a:srgbClr val="000000"/>
                </a:solidFill>
                <a:latin typeface="Arial"/>
              </a:rPr>
              <a:t>- TCP 4353: ConfigSync (CMI)</a:t>
            </a:r>
          </a:p>
          <a:p>
            <a:pPr marL="216000" indent="-216000">
              <a:buNone/>
            </a:pPr>
            <a:r>
              <a:rPr lang="en-US" sz="2000" b="0" strike="noStrike" spc="-1">
                <a:solidFill>
                  <a:srgbClr val="000000"/>
                </a:solidFill>
                <a:latin typeface="Arial"/>
              </a:rPr>
              <a:t>- UDP 1026: Network failover heartbeat</a:t>
            </a:r>
          </a:p>
          <a:p>
            <a:pPr marL="216000" indent="-216000">
              <a:buNone/>
            </a:pPr>
            <a:r>
              <a:rPr lang="en-US" sz="2000" b="0" strike="noStrike" spc="-1">
                <a:solidFill>
                  <a:srgbClr val="000000"/>
                </a:solidFill>
                <a:latin typeface="Arial"/>
              </a:rPr>
              <a:t>Without these, config sync fails and failover doesn't work.</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Recommended: Use "Allow Defaults" on the HA VLAN. It opens all necessary HA ports plus management ports. Or use "Allow Custom" with: tcp:22 tcp:443 tcp:4353 udp:1026 udp:4353</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COMMON STUDENT MISTAKES</a:t>
            </a:r>
          </a:p>
          <a:p>
            <a:pPr marL="216000" indent="-216000">
              <a:buNone/>
            </a:pPr>
            <a:r>
              <a:rPr lang="en-US" sz="2000" b="0" strike="noStrike" spc="-1">
                <a:solidFill>
                  <a:srgbClr val="000000"/>
                </a:solidFill>
                <a:latin typeface="Arial"/>
              </a:rPr>
              <a:t>- Assuming "None" means the self IP doesn't work. It works for ICMP and for traffic passing through virtual servers — it just doesn't allow administrative access.</a:t>
            </a:r>
          </a:p>
          <a:p>
            <a:pPr marL="216000" indent="-216000">
              <a:buNone/>
            </a:pPr>
            <a:r>
              <a:rPr lang="en-US" sz="2000" b="0" strike="noStrike" spc="-1">
                <a:solidFill>
                  <a:srgbClr val="000000"/>
                </a:solidFill>
                <a:latin typeface="Arial"/>
              </a:rPr>
              <a:t>- Setting Allow All to "fix" a connectivity issue and forgetting to lock it back down.</a:t>
            </a:r>
          </a:p>
          <a:p>
            <a:pPr marL="216000" indent="-216000">
              <a:buNone/>
            </a:pPr>
            <a:r>
              <a:rPr lang="en-US" sz="2000" b="0" strike="noStrike" spc="-1">
                <a:solidFill>
                  <a:srgbClr val="000000"/>
                </a:solidFill>
                <a:latin typeface="Arial"/>
              </a:rPr>
              <a:t>- Not understanding that port lockdown ONLY affects the self IP itself — traffic to virtual servers on the same VLAN is NOT affected by port lockdown.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PIVOT QUESTION</a:t>
            </a:r>
          </a:p>
          <a:p>
            <a:pPr marL="216000" indent="-216000">
              <a:buNone/>
            </a:pPr>
            <a:r>
              <a:rPr lang="en-US" sz="2000" b="0" strike="noStrike" spc="-1">
                <a:solidFill>
                  <a:srgbClr val="000000"/>
                </a:solidFill>
                <a:latin typeface="Arial"/>
              </a:rPr>
              <a:t>"A self IP has Allow Custom with only TCP 22. Can you access the GUI on that self IP?"</a:t>
            </a:r>
          </a:p>
          <a:p>
            <a:pPr marL="216000" indent="-216000">
              <a:buNone/>
            </a:pPr>
            <a:r>
              <a:rPr lang="en-US" sz="2000" b="0" strike="noStrike" spc="-1">
                <a:solidFill>
                  <a:srgbClr val="000000"/>
                </a:solidFill>
                <a:latin typeface="Arial"/>
              </a:rPr>
              <a:t>ANSWER: No. The GUI uses HTTPS (TCP 443), which is not in the custom list. SSH (TCP 22) works, but HTTPS does not. Add TCP 443 to the custom list, or change to Allow Defaults.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F5 DOCUMENTATION</a:t>
            </a:r>
          </a:p>
          <a:p>
            <a:pPr marL="216000" indent="-216000">
              <a:buNone/>
            </a:pPr>
            <a:r>
              <a:rPr lang="en-US" sz="2000" b="0" strike="noStrike" spc="-1">
                <a:solidFill>
                  <a:srgbClr val="000000"/>
                </a:solidFill>
                <a:latin typeface="Arial"/>
              </a:rPr>
              <a:t>- Port lockdown: https://my.f5.com/manage/s/article/K13250</a:t>
            </a:r>
          </a:p>
          <a:p>
            <a:pPr marL="216000" indent="-216000">
              <a:buNone/>
            </a:pPr>
            <a:r>
              <a:rPr lang="en-US" sz="2000" b="0" strike="noStrike" spc="-1">
                <a:solidFill>
                  <a:srgbClr val="000000"/>
                </a:solidFill>
                <a:latin typeface="Arial"/>
              </a:rPr>
              <a:t>- Self IP management: https://my.f5.com/manage/s/article/K13284</a:t>
            </a:r>
          </a:p>
          <a:p>
            <a:pPr marL="216000" indent="-216000">
              <a:buNone/>
            </a:pPr>
            <a:r>
              <a:rPr lang="en-US" sz="2000" b="0" strike="noStrike" spc="-1">
                <a:solidFill>
                  <a:srgbClr val="000000"/>
                </a:solidFill>
                <a:latin typeface="Arial"/>
              </a:rPr>
              <a:t>- HA ports: https://my.f5.com/manage/s/article/K13946</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EXAM QUESTION PATTERNS</a:t>
            </a:r>
          </a:p>
          <a:p>
            <a:pPr marL="216000" indent="-216000">
              <a:buNone/>
            </a:pPr>
            <a:r>
              <a:rPr lang="en-US" sz="2000" b="0" strike="noStrike" spc="-1">
                <a:solidFill>
                  <a:srgbClr val="000000"/>
                </a:solidFill>
                <a:latin typeface="Arial"/>
              </a:rPr>
              <a:t>- "Self IP responds to ping but not SSH?" → Port lockdown is None</a:t>
            </a:r>
          </a:p>
          <a:p>
            <a:pPr marL="216000" indent="-216000">
              <a:buNone/>
            </a:pPr>
            <a:r>
              <a:rPr lang="en-US" sz="2000" b="0" strike="noStrike" spc="-1">
                <a:solidFill>
                  <a:srgbClr val="000000"/>
                </a:solidFill>
                <a:latin typeface="Arial"/>
              </a:rPr>
              <a:t>- "What ports does Allow Defaults open?" → The table above</a:t>
            </a:r>
          </a:p>
          <a:p>
            <a:pPr marL="216000" indent="0">
              <a:lnSpc>
                <a:spcPct val="100000"/>
              </a:lnSpc>
              <a:buNone/>
            </a:pPr>
            <a:r>
              <a:rPr lang="en-US" sz="2000" b="0" strike="noStrike" spc="-1">
                <a:solidFill>
                  <a:srgbClr val="000000"/>
                </a:solidFill>
                <a:latin typeface="Arial"/>
              </a:rPr>
              <a:t>- "HA self IP set to None — what breaks?" → ConfigSync (4353) and failover (1026)</a:t>
            </a:r>
          </a:p>
        </p:txBody>
      </p:sp>
      <p:sp>
        <p:nvSpPr>
          <p:cNvPr id="2685" name="PlaceHolder 3"/>
          <p:cNvSpPr>
            <a:spLocks noGrp="1"/>
          </p:cNvSpPr>
          <p:nvPr>
            <p:ph type="sldNum" idx="74"/>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D6089046-65FA-4B48-B7DA-8034201F1CEF}" type="slidenum">
              <a:rPr lang="en-US" sz="1800" b="0" strike="noStrike" spc="-1">
                <a:solidFill>
                  <a:schemeClr val="dk1"/>
                </a:solidFill>
                <a:latin typeface="+mn-lt"/>
                <a:ea typeface="+mn-ea"/>
              </a:rPr>
              <a:t>71</a:t>
            </a:fld>
            <a:endParaRPr lang="en-US" sz="1800" b="0" strike="noStrike" spc="-1">
              <a:solidFill>
                <a:srgbClr val="000000"/>
              </a:solidFill>
              <a:latin typeface="Times New Roman"/>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6" name="PlaceHolder 1"/>
          <p:cNvSpPr>
            <a:spLocks noGrp="1" noRot="1" noChangeAspect="1"/>
          </p:cNvSpPr>
          <p:nvPr>
            <p:ph type="sldImg"/>
          </p:nvPr>
        </p:nvSpPr>
        <p:spPr>
          <a:xfrm>
            <a:off x="0" y="0"/>
            <a:ext cx="0" cy="0"/>
          </a:xfrm>
          <a:prstGeom prst="rect">
            <a:avLst/>
          </a:prstGeom>
          <a:ln w="0">
            <a:noFill/>
          </a:ln>
        </p:spPr>
      </p:sp>
      <p:sp>
        <p:nvSpPr>
          <p:cNvPr id="2687"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Network objects overview and the critical management vs TMM distinction. See Lab 8 v1 slide 3 notes for full standalone documentation.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KEY EXAM POINTS: Tagged VLANs = 802.1Q multiple VLANs per interface. Self IPs: floating (HA) vs non-floating (device-specific). TMM and management routing tables are SEPARATE. Management SSH not in connection table (host OS, not TMM).</a:t>
            </a:r>
          </a:p>
          <a:p>
            <a:pPr marL="216000" indent="-216000">
              <a:buNone/>
            </a:pPr>
            <a:endParaRPr lang="en-US"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F5 DOCUMENTATION: K7595 (VLANs), K13284 (self IPs), K3938 (trunks)</a:t>
            </a:r>
          </a:p>
        </p:txBody>
      </p:sp>
      <p:sp>
        <p:nvSpPr>
          <p:cNvPr id="2688" name="PlaceHolder 3"/>
          <p:cNvSpPr>
            <a:spLocks noGrp="1"/>
          </p:cNvSpPr>
          <p:nvPr>
            <p:ph type="sldNum" idx="75"/>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9FC1FCD9-DE40-4F2F-B833-3B60D86196D0}" type="slidenum">
              <a:rPr lang="en-US" sz="1800" b="0" strike="noStrike" spc="-1">
                <a:solidFill>
                  <a:schemeClr val="dk1"/>
                </a:solidFill>
                <a:latin typeface="+mn-lt"/>
                <a:ea typeface="+mn-ea"/>
              </a:rPr>
              <a:t>72</a:t>
            </a:fld>
            <a:endParaRPr lang="en-US" sz="1800" b="0" strike="noStrike" spc="-1">
              <a:solidFill>
                <a:srgbClr val="000000"/>
              </a:solidFill>
              <a:latin typeface="Times New Roman"/>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9" name="PlaceHolder 1"/>
          <p:cNvSpPr>
            <a:spLocks noGrp="1" noRot="1" noChangeAspect="1"/>
          </p:cNvSpPr>
          <p:nvPr>
            <p:ph type="sldImg"/>
          </p:nvPr>
        </p:nvSpPr>
        <p:spPr>
          <a:xfrm>
            <a:off x="0" y="0"/>
            <a:ext cx="0" cy="0"/>
          </a:xfrm>
          <a:prstGeom prst="rect">
            <a:avLst/>
          </a:prstGeom>
          <a:ln w="0">
            <a:noFill/>
          </a:ln>
        </p:spPr>
      </p:sp>
      <p:sp>
        <p:nvSpPr>
          <p:cNvPr id="2690"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This slide covers F5CTSLTM1.05: "Understand route domains" with full configuration examples and clear use-case guidance. Route domains are a key concept for multi-tenant BIG-IP deployments.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FULL TECHNICAL EXPLANATION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ROUTE DOMAIN FUNDAMENTALS:</a:t>
            </a:r>
          </a:p>
          <a:p>
            <a:pPr marL="216000" indent="-216000">
              <a:buNone/>
            </a:pPr>
            <a:r>
              <a:rPr lang="en-US" sz="2000" b="0" strike="noStrike" spc="-1">
                <a:solidFill>
                  <a:srgbClr val="000000"/>
                </a:solidFill>
                <a:latin typeface="Arial"/>
              </a:rPr>
              <a:t>A route domain is a container that provides traffic isolation on the BIG-IP. Each route domain maintains its own:</a:t>
            </a:r>
          </a:p>
          <a:p>
            <a:pPr marL="216000" indent="-216000">
              <a:buNone/>
            </a:pPr>
            <a:r>
              <a:rPr lang="en-US" sz="2000" b="0" strike="noStrike" spc="-1">
                <a:solidFill>
                  <a:srgbClr val="000000"/>
                </a:solidFill>
                <a:latin typeface="Arial"/>
              </a:rPr>
              <a:t>- Routing table (separate from other route domains)</a:t>
            </a:r>
          </a:p>
          <a:p>
            <a:pPr marL="216000" indent="-216000">
              <a:buNone/>
            </a:pPr>
            <a:r>
              <a:rPr lang="en-US" sz="2000" b="0" strike="noStrike" spc="-1">
                <a:solidFill>
                  <a:srgbClr val="000000"/>
                </a:solidFill>
                <a:latin typeface="Arial"/>
              </a:rPr>
              <a:t>- ARP cache</a:t>
            </a:r>
          </a:p>
          <a:p>
            <a:pPr marL="216000" indent="-216000">
              <a:buNone/>
            </a:pPr>
            <a:r>
              <a:rPr lang="en-US" sz="2000" b="0" strike="noStrike" spc="-1">
                <a:solidFill>
                  <a:srgbClr val="000000"/>
                </a:solidFill>
                <a:latin typeface="Arial"/>
              </a:rPr>
              <a:t>- Connection table entries</a:t>
            </a:r>
          </a:p>
          <a:p>
            <a:pPr marL="216000" indent="-216000">
              <a:buNone/>
            </a:pPr>
            <a:r>
              <a:rPr lang="en-US" sz="2000" b="0" strike="noStrike" spc="-1">
                <a:solidFill>
                  <a:srgbClr val="000000"/>
                </a:solidFill>
                <a:latin typeface="Arial"/>
              </a:rPr>
              <a:t>- Forwarding database</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Route domain 0 is the DEFAULT. All objects that don't specify a route domain belong to RD0. You don't need to use route domains unless you have overlapping IP addresses.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IP ADDRESS NOTATION:</a:t>
            </a:r>
          </a:p>
          <a:p>
            <a:pPr marL="216000" indent="-216000">
              <a:buNone/>
            </a:pPr>
            <a:r>
              <a:rPr lang="en-US" sz="2000" b="0" strike="noStrike" spc="-1">
                <a:solidFill>
                  <a:srgbClr val="000000"/>
                </a:solidFill>
                <a:latin typeface="Arial"/>
              </a:rPr>
              <a:t>Objects in non-default route domains use the %RD notation: IP_ADDRESS%ROUTE_DOMAIN_ID</a:t>
            </a:r>
          </a:p>
          <a:p>
            <a:pPr marL="216000" indent="-216000">
              <a:buNone/>
            </a:pPr>
            <a:r>
              <a:rPr lang="en-US" sz="2000" b="0" strike="noStrike" spc="-1">
                <a:solidFill>
                  <a:srgbClr val="000000"/>
                </a:solidFill>
                <a:latin typeface="Arial"/>
              </a:rPr>
              <a:t>- 10.10.10.100%1 = IP 10.10.10.100 in route domain 1</a:t>
            </a:r>
          </a:p>
          <a:p>
            <a:pPr marL="216000" indent="-216000">
              <a:buNone/>
            </a:pPr>
            <a:r>
              <a:rPr lang="en-US" sz="2000" b="0" strike="noStrike" spc="-1">
                <a:solidFill>
                  <a:srgbClr val="000000"/>
                </a:solidFill>
                <a:latin typeface="Arial"/>
              </a:rPr>
              <a:t>- 10.10.10.100%2 = IP 10.10.10.100 in route domain 2</a:t>
            </a:r>
          </a:p>
          <a:p>
            <a:pPr marL="216000" indent="-216000">
              <a:buNone/>
            </a:pPr>
            <a:r>
              <a:rPr lang="en-US" sz="2000" b="0" strike="noStrike" spc="-1">
                <a:solidFill>
                  <a:srgbClr val="000000"/>
                </a:solidFill>
                <a:latin typeface="Arial"/>
              </a:rPr>
              <a:t>- 10.10.10.100 (no %RD) = IP 10.10.10.100 in route domain 0 (default)</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CONFIGURATION STEPS:</a:t>
            </a:r>
          </a:p>
          <a:p>
            <a:pPr marL="216000" indent="-216000">
              <a:buNone/>
            </a:pPr>
            <a:r>
              <a:rPr lang="en-US" sz="2000" b="0" strike="noStrike" spc="-1">
                <a:solidFill>
                  <a:srgbClr val="000000"/>
                </a:solidFill>
                <a:latin typeface="Arial"/>
              </a:rPr>
              <a:t>1. Create the route domain: create net route-domain [ID] vlans add { [vlan-list] }</a:t>
            </a:r>
          </a:p>
          <a:p>
            <a:pPr marL="216000" indent="-216000">
              <a:buNone/>
            </a:pPr>
            <a:r>
              <a:rPr lang="en-US" sz="2000" b="0" strike="noStrike" spc="-1">
                <a:solidFill>
                  <a:srgbClr val="000000"/>
                </a:solidFill>
                <a:latin typeface="Arial"/>
              </a:rPr>
              <a:t>2. Assign VLANs to the route domain. Each VLAN can only belong to ONE route domain.</a:t>
            </a:r>
          </a:p>
          <a:p>
            <a:pPr marL="216000" indent="-216000">
              <a:buNone/>
            </a:pPr>
            <a:r>
              <a:rPr lang="en-US" sz="2000" b="0" strike="noStrike" spc="-1">
                <a:solidFill>
                  <a:srgbClr val="000000"/>
                </a:solidFill>
                <a:latin typeface="Arial"/>
              </a:rPr>
              <a:t>3. Create self IPs using %RD notation: create net self [name] address [IP]%[RD]/[mask] vlan [vlan]</a:t>
            </a:r>
          </a:p>
          <a:p>
            <a:pPr marL="216000" indent="-216000">
              <a:buNone/>
            </a:pPr>
            <a:r>
              <a:rPr lang="en-US" sz="2000" b="0" strike="noStrike" spc="-1">
                <a:solidFill>
                  <a:srgbClr val="000000"/>
                </a:solidFill>
                <a:latin typeface="Arial"/>
              </a:rPr>
              <a:t>4. Create pools and virtual servers using %RD notation for all IP addresses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STRICT ISOLATION:</a:t>
            </a:r>
          </a:p>
          <a:p>
            <a:pPr marL="216000" indent="-216000">
              <a:buNone/>
            </a:pPr>
            <a:r>
              <a:rPr lang="en-US" sz="2000" b="0" strike="noStrike" spc="-1">
                <a:solidFill>
                  <a:srgbClr val="000000"/>
                </a:solidFill>
                <a:latin typeface="Arial"/>
              </a:rPr>
              <a:t>When "strict" is enabled on a route domain, traffic CANNOT cross between route domains. This is the recommended setting for multi-tenant environments.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When "strict" is disabled, traffic can be forwarded between route domains if routing permits. This is useful when you need controlled inter-domain communication (e.g., shared services).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PARENT ROUTE DOMAIN:</a:t>
            </a:r>
          </a:p>
          <a:p>
            <a:pPr marL="216000" indent="-216000">
              <a:buNone/>
            </a:pPr>
            <a:r>
              <a:rPr lang="en-US" sz="2000" b="0" strike="noStrike" spc="-1">
                <a:solidFill>
                  <a:srgbClr val="000000"/>
                </a:solidFill>
                <a:latin typeface="Arial"/>
              </a:rPr>
              <a:t>A route domain can have a parent. When a route in the child domain doesn't match, the BIG-IP checks the parent's routing table. This enables a hierarchy: tenant-specific routes in child RDs, shared routes (like internet gateway) in the parent RD.</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WHEN TO USE ROUTE DOMAINS:</a:t>
            </a:r>
          </a:p>
          <a:p>
            <a:pPr marL="216000" indent="-216000">
              <a:buNone/>
            </a:pPr>
            <a:r>
              <a:rPr lang="en-US" sz="2000" b="0" strike="noStrike" spc="-1">
                <a:solidFill>
                  <a:srgbClr val="000000"/>
                </a:solidFill>
                <a:latin typeface="Arial"/>
              </a:rPr>
              <a:t>1. Multi-tenant environments: ISPs, managed service providers hosting multiple customers on one BIG-IP. Customers often use the same private IP ranges (10.0.0.0/8, 172.16.0.0/12, 192.168.0.0/16).</a:t>
            </a:r>
          </a:p>
          <a:p>
            <a:pPr marL="216000" indent="-216000">
              <a:buNone/>
            </a:pPr>
            <a:r>
              <a:rPr lang="en-US" sz="2000" b="0" strike="noStrike" spc="-1">
                <a:solidFill>
                  <a:srgbClr val="000000"/>
                </a:solidFill>
                <a:latin typeface="Arial"/>
              </a:rPr>
              <a:t>2. Mergers/acquisitions: Two companies with conflicting IP schemes need to be consolidated on one BIG-IP during integration.</a:t>
            </a:r>
          </a:p>
          <a:p>
            <a:pPr marL="216000" indent="-216000">
              <a:buNone/>
            </a:pPr>
            <a:r>
              <a:rPr lang="en-US" sz="2000" b="0" strike="noStrike" spc="-1">
                <a:solidFill>
                  <a:srgbClr val="000000"/>
                </a:solidFill>
                <a:latin typeface="Arial"/>
              </a:rPr>
              <a:t>3. Dev/Test/Prod on one BIG-IP: Same IP ranges for different environments without cross-contamination.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WHEN NOT TO USE:</a:t>
            </a:r>
          </a:p>
          <a:p>
            <a:pPr marL="216000" indent="-216000">
              <a:buNone/>
            </a:pPr>
            <a:r>
              <a:rPr lang="en-US" sz="2000" b="0" strike="noStrike" spc="-1">
                <a:solidFill>
                  <a:srgbClr val="000000"/>
                </a:solidFill>
                <a:latin typeface="Arial"/>
              </a:rPr>
              <a:t>- If IP addresses don't overlap, use VLANs and partitions for separation — they're simpler.</a:t>
            </a:r>
          </a:p>
          <a:p>
            <a:pPr marL="216000" indent="-216000">
              <a:buNone/>
            </a:pPr>
            <a:r>
              <a:rPr lang="en-US" sz="2000" b="0" strike="noStrike" spc="-1">
                <a:solidFill>
                  <a:srgbClr val="000000"/>
                </a:solidFill>
                <a:latin typeface="Arial"/>
              </a:rPr>
              <a:t>- Route domains add operational complexity. Every object must use %RD notation, and troubleshooting requires awareness of which RD you're working in.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COMMON STUDENT MISTAKES</a:t>
            </a:r>
          </a:p>
          <a:p>
            <a:pPr marL="216000" indent="-216000">
              <a:buNone/>
            </a:pPr>
            <a:r>
              <a:rPr lang="en-US" sz="2000" b="0" strike="noStrike" spc="-1">
                <a:solidFill>
                  <a:srgbClr val="000000"/>
                </a:solidFill>
                <a:latin typeface="Arial"/>
              </a:rPr>
              <a:t>- Forgetting %RD notation when creating objects in non-default route domains → objects end up in RD0</a:t>
            </a:r>
          </a:p>
          <a:p>
            <a:pPr marL="216000" indent="-216000">
              <a:buNone/>
            </a:pPr>
            <a:r>
              <a:rPr lang="en-US" sz="2000" b="0" strike="noStrike" spc="-1">
                <a:solidFill>
                  <a:srgbClr val="000000"/>
                </a:solidFill>
                <a:latin typeface="Arial"/>
              </a:rPr>
              <a:t>- Assigning a VLAN to multiple route domains → a VLAN can only belong to ONE RD</a:t>
            </a:r>
          </a:p>
          <a:p>
            <a:pPr marL="216000" indent="-216000">
              <a:buNone/>
            </a:pPr>
            <a:r>
              <a:rPr lang="en-US" sz="2000" b="0" strike="noStrike" spc="-1">
                <a:solidFill>
                  <a:srgbClr val="000000"/>
                </a:solidFill>
                <a:latin typeface="Arial"/>
              </a:rPr>
              <a:t>- Not understanding that RD0 is the default and doesn't need %0 notation</a:t>
            </a:r>
          </a:p>
          <a:p>
            <a:pPr marL="216000" indent="-216000">
              <a:buNone/>
            </a:pPr>
            <a:r>
              <a:rPr lang="en-US" sz="2000" b="0" strike="noStrike" spc="-1">
                <a:solidFill>
                  <a:srgbClr val="000000"/>
                </a:solidFill>
                <a:latin typeface="Arial"/>
              </a:rPr>
              <a:t>- Enabling strict on a parent RD that children depend on → breaks inter-domain routing</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PIVOT QUESTION</a:t>
            </a:r>
          </a:p>
          <a:p>
            <a:pPr marL="216000" indent="-216000">
              <a:buNone/>
            </a:pPr>
            <a:r>
              <a:rPr lang="en-US" sz="2000" b="0" strike="noStrike" spc="-1">
                <a:solidFill>
                  <a:srgbClr val="000000"/>
                </a:solidFill>
                <a:latin typeface="Arial"/>
              </a:rPr>
              <a:t>"Two tenants both use 10.10.10.0/24. You create virtual servers 10.10.10.100:80 for both tenants. Without route domains, what happens?"</a:t>
            </a:r>
          </a:p>
          <a:p>
            <a:pPr marL="216000" indent="-216000">
              <a:buNone/>
            </a:pPr>
            <a:r>
              <a:rPr lang="en-US" sz="2000" b="0" strike="noStrike" spc="-1">
                <a:solidFill>
                  <a:srgbClr val="000000"/>
                </a:solidFill>
                <a:latin typeface="Arial"/>
              </a:rPr>
              <a:t>ANSWER: IP conflict. The BIG-IP can only have one object at 10.10.10.100:80. The second virtual server creation fails with a duplicate address error. With route domains, you create 10.10.10.100%1:80 (Tenant A) and 10.10.10.100%2:80 (Tenant B) — they coexist because they're in separate routing domains.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F5 DOCUMENTATION</a:t>
            </a:r>
          </a:p>
          <a:p>
            <a:pPr marL="216000" indent="-216000">
              <a:buNone/>
            </a:pPr>
            <a:r>
              <a:rPr lang="en-US" sz="2000" b="0" strike="noStrike" spc="-1">
                <a:solidFill>
                  <a:srgbClr val="000000"/>
                </a:solidFill>
                <a:latin typeface="Arial"/>
              </a:rPr>
              <a:t>- Route domains: https://my.f5.com/manage/s/article/K26588</a:t>
            </a:r>
          </a:p>
          <a:p>
            <a:pPr marL="216000" indent="-216000">
              <a:buNone/>
            </a:pPr>
            <a:r>
              <a:rPr lang="en-US" sz="2000" b="0" strike="noStrike" spc="-1">
                <a:solidFill>
                  <a:srgbClr val="000000"/>
                </a:solidFill>
                <a:latin typeface="Arial"/>
              </a:rPr>
              <a:t>- Route domain configuration: https://techdocs.f5.com/en-us/bigip-14-1-0/big-ip-tmos-routing-administration.html</a:t>
            </a:r>
          </a:p>
          <a:p>
            <a:pPr marL="216000" indent="-216000">
              <a:buNone/>
            </a:pPr>
            <a:r>
              <a:rPr lang="en-US" sz="2000" b="0" strike="noStrike" spc="-1">
                <a:solidFill>
                  <a:srgbClr val="000000"/>
                </a:solidFill>
                <a:latin typeface="Arial"/>
              </a:rPr>
              <a:t>- Strict vs non-strict: https://my.f5.com/manage/s/article/K26588</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EXAM QUESTION PATTERNS</a:t>
            </a:r>
          </a:p>
          <a:p>
            <a:pPr marL="216000" indent="-216000">
              <a:buNone/>
            </a:pPr>
            <a:r>
              <a:rPr lang="en-US" sz="2000" b="0" strike="noStrike" spc="-1">
                <a:solidFill>
                  <a:srgbClr val="000000"/>
                </a:solidFill>
                <a:latin typeface="Arial"/>
              </a:rPr>
              <a:t>- "Two tenants use same subnet. How?" → Route domains</a:t>
            </a:r>
          </a:p>
          <a:p>
            <a:pPr marL="216000" indent="-216000">
              <a:buNone/>
            </a:pPr>
            <a:r>
              <a:rPr lang="en-US" sz="2000" b="0" strike="noStrike" spc="-1">
                <a:solidFill>
                  <a:srgbClr val="000000"/>
                </a:solidFill>
                <a:latin typeface="Arial"/>
              </a:rPr>
              <a:t>- "What is %2 in 10.10.10.100%2?" → Route domain 2</a:t>
            </a:r>
          </a:p>
          <a:p>
            <a:pPr marL="216000" indent="-216000">
              <a:buNone/>
            </a:pPr>
            <a:r>
              <a:rPr lang="en-US" sz="2000" b="0" strike="noStrike" spc="-1">
                <a:solidFill>
                  <a:srgbClr val="000000"/>
                </a:solidFill>
                <a:latin typeface="Arial"/>
              </a:rPr>
              <a:t>- "What is route domain 0?" → The default RD. Objects without %RD belong here.</a:t>
            </a:r>
          </a:p>
          <a:p>
            <a:pPr marL="216000" indent="0">
              <a:lnSpc>
                <a:spcPct val="100000"/>
              </a:lnSpc>
              <a:buNone/>
            </a:pPr>
            <a:r>
              <a:rPr lang="en-US" sz="2000" b="0" strike="noStrike" spc="-1">
                <a:solidFill>
                  <a:srgbClr val="000000"/>
                </a:solidFill>
                <a:latin typeface="Arial"/>
              </a:rPr>
              <a:t>- "What does strict mode do?" → Prevents traffic from crossing between route domains</a:t>
            </a:r>
          </a:p>
        </p:txBody>
      </p:sp>
      <p:sp>
        <p:nvSpPr>
          <p:cNvPr id="2691" name="PlaceHolder 3"/>
          <p:cNvSpPr>
            <a:spLocks noGrp="1"/>
          </p:cNvSpPr>
          <p:nvPr>
            <p:ph type="sldNum" idx="76"/>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9C0D79CE-F86E-4FFB-944A-3FBDD343789F}" type="slidenum">
              <a:rPr lang="en-US" sz="1800" b="0" strike="noStrike" spc="-1">
                <a:solidFill>
                  <a:schemeClr val="dk1"/>
                </a:solidFill>
                <a:latin typeface="+mn-lt"/>
                <a:ea typeface="+mn-ea"/>
              </a:rPr>
              <a:t>73</a:t>
            </a:fld>
            <a:endParaRPr lang="en-US" sz="1800" b="0" strike="noStrike" spc="-1">
              <a:solidFill>
                <a:srgbClr val="000000"/>
              </a:solidFill>
              <a:latin typeface="Times New Roman"/>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2" name="PlaceHolder 1"/>
          <p:cNvSpPr>
            <a:spLocks noGrp="1" noRot="1" noChangeAspect="1"/>
          </p:cNvSpPr>
          <p:nvPr>
            <p:ph type="sldImg"/>
          </p:nvPr>
        </p:nvSpPr>
        <p:spPr>
          <a:xfrm>
            <a:off x="0" y="0"/>
            <a:ext cx="0" cy="0"/>
          </a:xfrm>
          <a:prstGeom prst="rect">
            <a:avLst/>
          </a:prstGeom>
          <a:ln w="0">
            <a:noFill/>
          </a:ln>
        </p:spPr>
      </p:sp>
      <p:sp>
        <p:nvSpPr>
          <p:cNvPr id="2693"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Lab launch for networking exercises. Three activities covering port lockdown, DNS/NTP, and tagged VLANs for HA.</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Note: Route domains are not exercised in the lab (no overlapping IPs in the lab environment) but are covered conceptually on slide 4 because they're in the Beta blueprint (F5CTSLTM1.05).</a:t>
            </a:r>
          </a:p>
          <a:p>
            <a:pPr marL="216000" indent="-216000">
              <a:buNone/>
            </a:pPr>
            <a:endParaRPr lang="en-US"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F5 DOCUMENTATION: K13250, K13284</a:t>
            </a:r>
          </a:p>
        </p:txBody>
      </p:sp>
      <p:sp>
        <p:nvSpPr>
          <p:cNvPr id="2694" name="PlaceHolder 3"/>
          <p:cNvSpPr>
            <a:spLocks noGrp="1"/>
          </p:cNvSpPr>
          <p:nvPr>
            <p:ph type="sldNum" idx="77"/>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901D849A-27A2-455E-8835-7DA77F6519B4}" type="slidenum">
              <a:rPr lang="en-US" sz="1800" b="0" strike="noStrike" spc="-1">
                <a:solidFill>
                  <a:schemeClr val="dk1"/>
                </a:solidFill>
                <a:latin typeface="+mn-lt"/>
                <a:ea typeface="+mn-ea"/>
              </a:rPr>
              <a:t>74</a:t>
            </a:fld>
            <a:endParaRPr lang="en-US" sz="1800" b="0" strike="noStrike" spc="-1">
              <a:solidFill>
                <a:srgbClr val="000000"/>
              </a:solidFill>
              <a:latin typeface="Times New Roman"/>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5" name="PlaceHolder 1"/>
          <p:cNvSpPr>
            <a:spLocks noGrp="1" noRot="1" noChangeAspect="1"/>
          </p:cNvSpPr>
          <p:nvPr>
            <p:ph type="sldImg"/>
          </p:nvPr>
        </p:nvSpPr>
        <p:spPr>
          <a:xfrm>
            <a:off x="0" y="0"/>
            <a:ext cx="0" cy="0"/>
          </a:xfrm>
          <a:prstGeom prst="rect">
            <a:avLst/>
          </a:prstGeom>
          <a:ln w="0">
            <a:noFill/>
          </a:ln>
        </p:spPr>
      </p:sp>
      <p:sp>
        <p:nvSpPr>
          <p:cNvPr id="2696"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Four checkpoint questions covering port lockdown config, HA requirements, route domains, and TMM vs management routing.</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Q1 ANSWER: Port lockdown is "None" (default). ICMP is allowed, TCP 22 (SSH) is blocked.</a:t>
            </a:r>
          </a:p>
          <a:p>
            <a:pPr marL="216000" indent="-216000">
              <a:buNone/>
            </a:pPr>
            <a:r>
              <a:rPr lang="en-US" sz="2000" b="0" strike="noStrike" spc="-1">
                <a:solidFill>
                  <a:srgbClr val="000000"/>
                </a:solidFill>
                <a:latin typeface="Arial"/>
              </a:rPr>
              <a:t>Fix: modify net self 10.1.10.245/24 allow-service default</a:t>
            </a:r>
          </a:p>
          <a:p>
            <a:pPr marL="216000" indent="-216000">
              <a:buNone/>
            </a:pPr>
            <a:r>
              <a:rPr lang="en-US" sz="2000" b="0" strike="noStrike" spc="-1">
                <a:solidFill>
                  <a:srgbClr val="000000"/>
                </a:solidFill>
                <a:latin typeface="Arial"/>
              </a:rPr>
              <a:t>Or for SSH only: modify net self 10.1.10.245/24 allow-service add { tcp:22 }</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Q2 ANSWER: Config sync requires TCP 4353 (CMI) and network failover requires UDP 1026.</a:t>
            </a:r>
          </a:p>
          <a:p>
            <a:pPr marL="216000" indent="-216000">
              <a:buNone/>
            </a:pPr>
            <a:r>
              <a:rPr lang="en-US" sz="2000" b="0" strike="noStrike" spc="-1">
                <a:solidFill>
                  <a:srgbClr val="000000"/>
                </a:solidFill>
                <a:latin typeface="Arial"/>
              </a:rPr>
              <a:t>Fix: modify net self [HA-IP] allow-service default</a:t>
            </a:r>
          </a:p>
          <a:p>
            <a:pPr marL="216000" indent="-216000">
              <a:buNone/>
            </a:pPr>
            <a:r>
              <a:rPr lang="en-US" sz="2000" b="0" strike="noStrike" spc="-1">
                <a:solidFill>
                  <a:srgbClr val="000000"/>
                </a:solidFill>
                <a:latin typeface="Arial"/>
              </a:rPr>
              <a:t>Or minimal: modify net self [HA-IP] allow-service add { tcp:4353 udp:1026 }</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Q3 ANSWER: Create two route domains. Assign each tenant's VLANs to a separate route domain.</a:t>
            </a:r>
          </a:p>
          <a:p>
            <a:pPr marL="216000" indent="-216000">
              <a:buNone/>
            </a:pPr>
            <a:r>
              <a:rPr lang="en-US" sz="2000" b="0" strike="noStrike" spc="-1">
                <a:solidFill>
                  <a:srgbClr val="000000"/>
                </a:solidFill>
                <a:latin typeface="Arial"/>
              </a:rPr>
              <a:t>- create net route-domain 1 vlans add { tenant-a-vlan }</a:t>
            </a:r>
          </a:p>
          <a:p>
            <a:pPr marL="216000" indent="-216000">
              <a:buNone/>
            </a:pPr>
            <a:r>
              <a:rPr lang="en-US" sz="2000" b="0" strike="noStrike" spc="-1">
                <a:solidFill>
                  <a:srgbClr val="000000"/>
                </a:solidFill>
                <a:latin typeface="Arial"/>
              </a:rPr>
              <a:t>- create net route-domain 2 vlans add { tenant-b-vlan }</a:t>
            </a:r>
          </a:p>
          <a:p>
            <a:pPr marL="216000" indent="-216000">
              <a:buNone/>
            </a:pPr>
            <a:r>
              <a:rPr lang="en-US" sz="2000" b="0" strike="noStrike" spc="-1">
                <a:solidFill>
                  <a:srgbClr val="000000"/>
                </a:solidFill>
                <a:latin typeface="Arial"/>
              </a:rPr>
              <a:t>Use %RD notation: 10.10.10.100%1 (Tenant A), 10.10.10.100%2 (Tenant B). The addresses are identical but isolated in separate routing tables.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Q4 ANSWER: TMM routes (Network &gt; Routes) and management routes (System &gt; Platform) are SEPARATE routing tables. The route you added only affects TMM traffic. Management SSH uses the host OS routing table. Add a management route under System &gt; Platform for 10.1.20.0/24.</a:t>
            </a:r>
          </a:p>
          <a:p>
            <a:pPr marL="216000" indent="-216000">
              <a:buNone/>
            </a:pPr>
            <a:endParaRPr lang="en-US"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F5 DOCUMENTATION: K13250, K26588, K13284, K13946</a:t>
            </a:r>
          </a:p>
        </p:txBody>
      </p:sp>
      <p:sp>
        <p:nvSpPr>
          <p:cNvPr id="2697" name="PlaceHolder 3"/>
          <p:cNvSpPr>
            <a:spLocks noGrp="1"/>
          </p:cNvSpPr>
          <p:nvPr>
            <p:ph type="sldNum" idx="78"/>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F7D0D82B-62A5-4406-860A-067083F61DDB}" type="slidenum">
              <a:rPr lang="en-US" sz="1800" b="0" strike="noStrike" spc="-1">
                <a:solidFill>
                  <a:schemeClr val="dk1"/>
                </a:solidFill>
                <a:latin typeface="+mn-lt"/>
                <a:ea typeface="+mn-ea"/>
              </a:rPr>
              <a:t>75</a:t>
            </a:fld>
            <a:endParaRPr lang="en-US" sz="1800" b="0" strike="noStrike" spc="-1">
              <a:solidFill>
                <a:srgbClr val="000000"/>
              </a:solidFill>
              <a:latin typeface="Times New Roman"/>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8" name="PlaceHolder 1"/>
          <p:cNvSpPr>
            <a:spLocks noGrp="1" noRot="1" noChangeAspect="1"/>
          </p:cNvSpPr>
          <p:nvPr>
            <p:ph type="sldImg"/>
          </p:nvPr>
        </p:nvSpPr>
        <p:spPr>
          <a:xfrm>
            <a:off x="0" y="0"/>
            <a:ext cx="0" cy="0"/>
          </a:xfrm>
          <a:prstGeom prst="rect">
            <a:avLst/>
          </a:prstGeom>
          <a:ln w="0">
            <a:noFill/>
          </a:ln>
        </p:spPr>
      </p:sp>
      <p:sp>
        <p:nvSpPr>
          <p:cNvPr id="2699"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Final checkpoints plus networking reference card.</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Q5 ANSWER: Strict mode prevents traffic from crossing between route domains. When strict is enabled, packets cannot be forwarded from one RD to another — each RD is completely isolated.</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Disable strict when: You have a shared services model — for example, a shared internet gateway in a parent route domain that child route domains need to reach. With strict disabled on the child, unmatched routes fall through to the parent's routing table.</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Q6 ANSWER:</a:t>
            </a:r>
          </a:p>
          <a:p>
            <a:pPr marL="216000" indent="-216000">
              <a:buNone/>
            </a:pPr>
            <a:r>
              <a:rPr lang="en-US" sz="2000" b="0" strike="noStrike" spc="-1">
                <a:solidFill>
                  <a:srgbClr val="000000"/>
                </a:solidFill>
                <a:latin typeface="Arial"/>
              </a:rPr>
              <a:t>- Non-floating: Static, stays on one specific BIG-IP device. Used for device management (SSH to a specific unit).</a:t>
            </a:r>
          </a:p>
          <a:p>
            <a:pPr marL="216000" indent="-216000">
              <a:buNone/>
            </a:pPr>
            <a:r>
              <a:rPr lang="en-US" sz="2000" b="0" strike="noStrike" spc="-1">
                <a:solidFill>
                  <a:srgbClr val="000000"/>
                </a:solidFill>
                <a:latin typeface="Arial"/>
              </a:rPr>
              <a:t>- Floating: Shared between HA peers. Moves to the active device during failover. Part of a traffic group.</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Servers should use the FLOATING self IP as their default gateway. This ensures that when failover occurs, the gateway address moves to the new active device, and server traffic continues to flow without reconfiguration. If servers used a non-floating self IP as their gateway, failover would break their connectivity.</a:t>
            </a:r>
          </a:p>
          <a:p>
            <a:pPr marL="216000" indent="-216000">
              <a:buNone/>
            </a:pPr>
            <a:endParaRPr lang="en-US"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F5 DOCUMENTATION: K26588 (route domains), K13284 (self IPs), K13946 (HA networking)</a:t>
            </a:r>
          </a:p>
        </p:txBody>
      </p:sp>
      <p:sp>
        <p:nvSpPr>
          <p:cNvPr id="2700" name="PlaceHolder 3"/>
          <p:cNvSpPr>
            <a:spLocks noGrp="1"/>
          </p:cNvSpPr>
          <p:nvPr>
            <p:ph type="sldNum" idx="79"/>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7E1964FC-755F-415E-A3DF-66302F2D60F0}" type="slidenum">
              <a:rPr lang="en-US" sz="1800" b="0" strike="noStrike" spc="-1">
                <a:solidFill>
                  <a:schemeClr val="dk1"/>
                </a:solidFill>
                <a:latin typeface="+mn-lt"/>
                <a:ea typeface="+mn-ea"/>
              </a:rPr>
              <a:t>76</a:t>
            </a:fld>
            <a:endParaRPr lang="en-US" sz="1800" b="0" strike="noStrike" spc="-1">
              <a:solidFill>
                <a:srgbClr val="000000"/>
              </a:solidFill>
              <a:latin typeface="Times New Roman"/>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1" name="PlaceHolder 1"/>
          <p:cNvSpPr>
            <a:spLocks noGrp="1" noRot="1" noChangeAspect="1"/>
          </p:cNvSpPr>
          <p:nvPr>
            <p:ph type="sldImg"/>
          </p:nvPr>
        </p:nvSpPr>
        <p:spPr>
          <a:xfrm>
            <a:off x="0" y="0"/>
            <a:ext cx="0" cy="0"/>
          </a:xfrm>
          <a:prstGeom prst="rect">
            <a:avLst/>
          </a:prstGeom>
          <a:ln w="0">
            <a:noFill/>
          </a:ln>
        </p:spPr>
      </p:sp>
      <p:sp>
        <p:nvSpPr>
          <p:cNvPr id="2702"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Complete TMSH reference for Lab 8 networking commands including route domain configuration and all port lockdown modes.</a:t>
            </a:r>
          </a:p>
          <a:p>
            <a:pPr marL="216000" indent="-216000">
              <a:buNone/>
            </a:pPr>
            <a:endParaRPr lang="en-US"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F5 DOCUMENTATION: K13250 (port lockdown), K26588 (route domains), K13284 (self IPs), K7595 (VLANs)</a:t>
            </a:r>
          </a:p>
        </p:txBody>
      </p:sp>
      <p:sp>
        <p:nvSpPr>
          <p:cNvPr id="2703" name="PlaceHolder 3"/>
          <p:cNvSpPr>
            <a:spLocks noGrp="1"/>
          </p:cNvSpPr>
          <p:nvPr>
            <p:ph type="sldNum" idx="80"/>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D675F22D-2B61-4E49-8C11-3BF91315E3FB}" type="slidenum">
              <a:rPr lang="en-US" sz="1800" b="0" strike="noStrike" spc="-1">
                <a:solidFill>
                  <a:schemeClr val="dk1"/>
                </a:solidFill>
                <a:latin typeface="+mn-lt"/>
                <a:ea typeface="+mn-ea"/>
              </a:rPr>
              <a:t>77</a:t>
            </a:fld>
            <a:endParaRPr lang="en-US" sz="1800" b="0" strike="noStrike" spc="-1">
              <a:solidFill>
                <a:srgbClr val="000000"/>
              </a:solidFill>
              <a:latin typeface="Times New Roman"/>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4" name="PlaceHolder 1"/>
          <p:cNvSpPr>
            <a:spLocks noGrp="1" noRot="1" noChangeAspect="1"/>
          </p:cNvSpPr>
          <p:nvPr>
            <p:ph type="sldImg"/>
          </p:nvPr>
        </p:nvSpPr>
        <p:spPr>
          <a:xfrm>
            <a:off x="0" y="0"/>
            <a:ext cx="0" cy="0"/>
          </a:xfrm>
          <a:prstGeom prst="rect">
            <a:avLst/>
          </a:prstGeom>
          <a:ln w="0">
            <a:noFill/>
          </a:ln>
        </p:spPr>
      </p:sp>
      <p:sp>
        <p:nvSpPr>
          <p:cNvPr id="2705"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Section opener for Lab 9. Maps to F5CTSLTM4.03 and F5CTSLTM1.04. 301a: 2.04–2.05.</a:t>
            </a:r>
          </a:p>
          <a:p>
            <a:pPr marL="216000" indent="0">
              <a:lnSpc>
                <a:spcPct val="100000"/>
              </a:lnSpc>
              <a:buNone/>
            </a:pPr>
            <a:r>
              <a:rPr lang="en-US" sz="2000" b="0" strike="noStrike" spc="-1">
                <a:solidFill>
                  <a:srgbClr val="000000"/>
                </a:solidFill>
                <a:latin typeface="Arial"/>
              </a:rPr>
              <a:t>F5 DOCUMENTATION: K14020 (roles), K13403 (partitions), K15811 (LDAP), K15596 (TACACS+), K15763 (RADIUS)</a:t>
            </a:r>
          </a:p>
        </p:txBody>
      </p:sp>
      <p:sp>
        <p:nvSpPr>
          <p:cNvPr id="2706" name="PlaceHolder 3"/>
          <p:cNvSpPr>
            <a:spLocks noGrp="1"/>
          </p:cNvSpPr>
          <p:nvPr>
            <p:ph type="sldNum" idx="81"/>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618F470E-731B-4B6A-B37A-8A773A272698}" type="slidenum">
              <a:rPr lang="en-US" sz="1800" b="0" strike="noStrike" spc="-1">
                <a:solidFill>
                  <a:schemeClr val="dk1"/>
                </a:solidFill>
                <a:latin typeface="+mn-lt"/>
                <a:ea typeface="+mn-ea"/>
              </a:rPr>
              <a:t>78</a:t>
            </a:fld>
            <a:endParaRPr lang="en-US" sz="1800" b="0" strike="noStrike" spc="-1">
              <a:solidFill>
                <a:srgbClr val="000000"/>
              </a:solidFill>
              <a:latin typeface="Times New Roman"/>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7" name="PlaceHolder 1"/>
          <p:cNvSpPr>
            <a:spLocks noGrp="1" noRot="1" noChangeAspect="1"/>
          </p:cNvSpPr>
          <p:nvPr>
            <p:ph type="sldImg"/>
          </p:nvPr>
        </p:nvSpPr>
        <p:spPr>
          <a:xfrm>
            <a:off x="0" y="0"/>
            <a:ext cx="0" cy="0"/>
          </a:xfrm>
          <a:prstGeom prst="rect">
            <a:avLst/>
          </a:prstGeom>
          <a:ln w="0">
            <a:noFill/>
          </a:ln>
        </p:spPr>
      </p:sp>
      <p:sp>
        <p:nvSpPr>
          <p:cNvPr id="2708"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All 8 default BIG-IP roles with capabilities. See Lab 9 v2 slide 2 notes for full documentation.</a:t>
            </a:r>
          </a:p>
          <a:p>
            <a:pPr marL="216000" indent="0">
              <a:lnSpc>
                <a:spcPct val="100000"/>
              </a:lnSpc>
              <a:buNone/>
            </a:pPr>
            <a:r>
              <a:rPr lang="en-US" sz="2000" b="0" strike="noStrike" spc="-1">
                <a:solidFill>
                  <a:srgbClr val="000000"/>
                </a:solidFill>
                <a:latin typeface="Arial"/>
              </a:rPr>
              <a:t>F5 DOCUMENTATION: K14020</a:t>
            </a:r>
          </a:p>
        </p:txBody>
      </p:sp>
      <p:sp>
        <p:nvSpPr>
          <p:cNvPr id="2709" name="PlaceHolder 3"/>
          <p:cNvSpPr>
            <a:spLocks noGrp="1"/>
          </p:cNvSpPr>
          <p:nvPr>
            <p:ph type="sldNum" idx="82"/>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569AD942-8913-4365-A329-FFA4FA3A3E80}" type="slidenum">
              <a:rPr lang="en-US" sz="1800" b="0" strike="noStrike" spc="-1">
                <a:solidFill>
                  <a:schemeClr val="dk1"/>
                </a:solidFill>
                <a:latin typeface="+mn-lt"/>
                <a:ea typeface="+mn-ea"/>
              </a:rPr>
              <a:t>79</a:t>
            </a:fld>
            <a:endParaRPr lang="en-US" sz="1800" b="0" strike="noStrike" spc="-1">
              <a:solidFill>
                <a:srgbClr val="000000"/>
              </a:solidFill>
              <a:latin typeface="Times New Roman"/>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0" name="PlaceHolder 1"/>
          <p:cNvSpPr>
            <a:spLocks noGrp="1" noRot="1" noChangeAspect="1"/>
          </p:cNvSpPr>
          <p:nvPr>
            <p:ph type="sldImg"/>
          </p:nvPr>
        </p:nvSpPr>
        <p:spPr>
          <a:xfrm>
            <a:off x="0" y="0"/>
            <a:ext cx="0" cy="0"/>
          </a:xfrm>
          <a:prstGeom prst="rect">
            <a:avLst/>
          </a:prstGeom>
          <a:ln w="0">
            <a:noFill/>
          </a:ln>
        </p:spPr>
      </p:sp>
      <p:sp>
        <p:nvSpPr>
          <p:cNvPr id="2711"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/Common is the shared foundation. See Lab 9 supplement notes for full documentation.</a:t>
            </a:r>
          </a:p>
          <a:p>
            <a:pPr marL="216000" indent="0">
              <a:lnSpc>
                <a:spcPct val="100000"/>
              </a:lnSpc>
              <a:buNone/>
            </a:pPr>
            <a:r>
              <a:rPr lang="en-US" sz="2000" b="0" strike="noStrike" spc="-1">
                <a:solidFill>
                  <a:srgbClr val="000000"/>
                </a:solidFill>
                <a:latin typeface="Arial"/>
              </a:rPr>
              <a:t>F5 DOCUMENTATION: K13403</a:t>
            </a:r>
          </a:p>
        </p:txBody>
      </p:sp>
      <p:sp>
        <p:nvSpPr>
          <p:cNvPr id="2712" name="PlaceHolder 3"/>
          <p:cNvSpPr>
            <a:spLocks noGrp="1"/>
          </p:cNvSpPr>
          <p:nvPr>
            <p:ph type="sldNum" idx="83"/>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80182D07-6C85-4D32-8386-BC98DBA90125}" type="slidenum">
              <a:rPr lang="en-US" sz="1800" b="0" strike="noStrike" spc="-1">
                <a:solidFill>
                  <a:schemeClr val="dk1"/>
                </a:solidFill>
                <a:latin typeface="+mn-lt"/>
                <a:ea typeface="+mn-ea"/>
              </a:rPr>
              <a:t>80</a:t>
            </a:fld>
            <a:endParaRPr lang="en-US" sz="1800" b="0" strike="noStrike" spc="-1">
              <a:solidFill>
                <a:srgbClr val="000000"/>
              </a:solidFill>
              <a:latin typeface="Times New Roman"/>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 name="PlaceHolder 1"/>
          <p:cNvSpPr>
            <a:spLocks noGrp="1" noRot="1" noChangeAspect="1"/>
          </p:cNvSpPr>
          <p:nvPr>
            <p:ph type="sldImg"/>
          </p:nvPr>
        </p:nvSpPr>
        <p:spPr>
          <a:xfrm>
            <a:off x="0" y="0"/>
            <a:ext cx="0" cy="0"/>
          </a:xfrm>
          <a:prstGeom prst="rect">
            <a:avLst/>
          </a:prstGeom>
          <a:ln w="0">
            <a:noFill/>
          </a:ln>
        </p:spPr>
      </p:sp>
      <p:sp>
        <p:nvSpPr>
          <p:cNvPr id="2714"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GUI and TMSH for creating partitions and local users. See Lab 9 supplement notes for full documentation.</a:t>
            </a:r>
          </a:p>
          <a:p>
            <a:pPr marL="216000" indent="-216000">
              <a:buNone/>
            </a:pPr>
            <a:r>
              <a:rPr lang="en-US" sz="2000" b="0" strike="noStrike" spc="-1">
                <a:solidFill>
                  <a:srgbClr val="000000"/>
                </a:solidFill>
                <a:latin typeface="Arial"/>
              </a:rPr>
              <a:t>KEY: Create partition FIRST, then user. Role+Partition paired. Terminal access independent of role.</a:t>
            </a:r>
          </a:p>
          <a:p>
            <a:pPr marL="216000" indent="0">
              <a:lnSpc>
                <a:spcPct val="100000"/>
              </a:lnSpc>
              <a:buNone/>
            </a:pPr>
            <a:r>
              <a:rPr lang="en-US" sz="2000" b="0" strike="noStrike" spc="-1">
                <a:solidFill>
                  <a:srgbClr val="000000"/>
                </a:solidFill>
                <a:latin typeface="Arial"/>
              </a:rPr>
              <a:t>F5 DOCUMENTATION: K14020, K13403</a:t>
            </a:r>
          </a:p>
        </p:txBody>
      </p:sp>
      <p:sp>
        <p:nvSpPr>
          <p:cNvPr id="2715" name="PlaceHolder 3"/>
          <p:cNvSpPr>
            <a:spLocks noGrp="1"/>
          </p:cNvSpPr>
          <p:nvPr>
            <p:ph type="sldNum" idx="84"/>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A66C7870-122C-4988-A0EB-AF231A8A5228}" type="slidenum">
              <a:rPr lang="en-US" sz="1800" b="0" strike="noStrike" spc="-1">
                <a:solidFill>
                  <a:schemeClr val="dk1"/>
                </a:solidFill>
                <a:latin typeface="+mn-lt"/>
                <a:ea typeface="+mn-ea"/>
              </a:rPr>
              <a:t>81</a:t>
            </a:fld>
            <a:endParaRPr lang="en-US" sz="1800" b="0" strike="noStrike" spc="-1">
              <a:solidFill>
                <a:srgbClr val="000000"/>
              </a:solidFill>
              <a:latin typeface="Times New Roman"/>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6" name="PlaceHolder 1"/>
          <p:cNvSpPr>
            <a:spLocks noGrp="1" noRot="1" noChangeAspect="1"/>
          </p:cNvSpPr>
          <p:nvPr>
            <p:ph type="sldImg"/>
          </p:nvPr>
        </p:nvSpPr>
        <p:spPr>
          <a:xfrm>
            <a:off x="0" y="0"/>
            <a:ext cx="0" cy="0"/>
          </a:xfrm>
          <a:prstGeom prst="rect">
            <a:avLst/>
          </a:prstGeom>
          <a:ln w="0">
            <a:noFill/>
          </a:ln>
        </p:spPr>
      </p:sp>
      <p:sp>
        <p:nvSpPr>
          <p:cNvPr id="2717"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Partition access matrix. See Lab 9 v2 slide 4 notes for full documentation.</a:t>
            </a:r>
          </a:p>
          <a:p>
            <a:pPr marL="216000" indent="0">
              <a:lnSpc>
                <a:spcPct val="100000"/>
              </a:lnSpc>
              <a:buNone/>
            </a:pPr>
            <a:r>
              <a:rPr lang="en-US" sz="2000" b="0" strike="noStrike" spc="-1">
                <a:solidFill>
                  <a:srgbClr val="000000"/>
                </a:solidFill>
                <a:latin typeface="Arial"/>
              </a:rPr>
              <a:t>F5 DOCUMENTATION: K13403</a:t>
            </a:r>
          </a:p>
        </p:txBody>
      </p:sp>
      <p:sp>
        <p:nvSpPr>
          <p:cNvPr id="2718" name="PlaceHolder 3"/>
          <p:cNvSpPr>
            <a:spLocks noGrp="1"/>
          </p:cNvSpPr>
          <p:nvPr>
            <p:ph type="sldNum" idx="85"/>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CB635815-9177-4CFE-8B87-CABEEB0690C2}" type="slidenum">
              <a:rPr lang="en-US" sz="1800" b="0" strike="noStrike" spc="-1">
                <a:solidFill>
                  <a:schemeClr val="dk1"/>
                </a:solidFill>
                <a:latin typeface="+mn-lt"/>
                <a:ea typeface="+mn-ea"/>
              </a:rPr>
              <a:t>82</a:t>
            </a:fld>
            <a:endParaRPr lang="en-US" sz="1800" b="0" strike="noStrike" spc="-1">
              <a:solidFill>
                <a:srgbClr val="000000"/>
              </a:solidFill>
              <a:latin typeface="Times New Roman"/>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9" name="PlaceHolder 1"/>
          <p:cNvSpPr>
            <a:spLocks noGrp="1" noRot="1" noChangeAspect="1"/>
          </p:cNvSpPr>
          <p:nvPr>
            <p:ph type="sldImg"/>
          </p:nvPr>
        </p:nvSpPr>
        <p:spPr>
          <a:xfrm>
            <a:off x="0" y="0"/>
            <a:ext cx="0" cy="0"/>
          </a:xfrm>
          <a:prstGeom prst="rect">
            <a:avLst/>
          </a:prstGeom>
          <a:ln w="0">
            <a:noFill/>
          </a:ln>
        </p:spPr>
      </p:sp>
      <p:sp>
        <p:nvSpPr>
          <p:cNvPr id="2720"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This slide covers remote user authentication and authorization, showing GUI configuration fields and TMSH commands for all three methods (LDAP, RADIUS, TACACS+). Directly addresses 301a objective 2.04: "Explain how to configure remote authentication."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FULL TECHNICAL EXPLANATION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LDAP (Lightweight Directory Access Protocol):</a:t>
            </a:r>
          </a:p>
          <a:p>
            <a:pPr marL="216000" indent="-216000">
              <a:buNone/>
            </a:pPr>
            <a:r>
              <a:rPr lang="en-US" sz="2000" b="0" strike="noStrike" spc="-1">
                <a:solidFill>
                  <a:srgbClr val="000000"/>
                </a:solidFill>
                <a:latin typeface="Arial"/>
              </a:rPr>
              <a:t>Most common in enterprise. Used with Active Directory and OpenLDAP.</a:t>
            </a:r>
          </a:p>
          <a:p>
            <a:pPr marL="216000" indent="-216000">
              <a:buNone/>
            </a:pPr>
            <a:r>
              <a:rPr lang="en-US" sz="2000" b="0" strike="noStrike" spc="-1">
                <a:solidFill>
                  <a:srgbClr val="000000"/>
                </a:solidFill>
                <a:latin typeface="Arial"/>
              </a:rPr>
              <a:t>- GUI: System &gt; Users &gt; Authentication &gt; Change &gt; LDAP</a:t>
            </a:r>
          </a:p>
          <a:p>
            <a:pPr marL="216000" indent="-216000">
              <a:buNone/>
            </a:pPr>
            <a:r>
              <a:rPr lang="en-US" sz="2000" b="0" strike="noStrike" spc="-1">
                <a:solidFill>
                  <a:srgbClr val="000000"/>
                </a:solidFill>
                <a:latin typeface="Arial"/>
              </a:rPr>
              <a:t>- Key fields: Host (LDAP server IP), Port (389 or 636 for LDAPS), Remote Directory Tree (base DN for user search), Bind DN (account used to search the directory), Bind Password, SSL (enable for LDAPS)</a:t>
            </a:r>
          </a:p>
          <a:p>
            <a:pPr marL="216000" indent="-216000">
              <a:buNone/>
            </a:pPr>
            <a:r>
              <a:rPr lang="en-US" sz="2000" b="0" strike="noStrike" spc="-1">
                <a:solidFill>
                  <a:srgbClr val="000000"/>
                </a:solidFill>
                <a:latin typeface="Arial"/>
              </a:rPr>
              <a:t>- Role assignment: Default role for all LDAP users, OR map LDAP groups to BIG-IP roles using "Remote Role Groups" configuration</a:t>
            </a:r>
          </a:p>
          <a:p>
            <a:pPr marL="216000" indent="-216000">
              <a:buNone/>
            </a:pPr>
            <a:r>
              <a:rPr lang="en-US" sz="2000" b="0" strike="noStrike" spc="-1">
                <a:solidFill>
                  <a:srgbClr val="000000"/>
                </a:solidFill>
                <a:latin typeface="Arial"/>
              </a:rPr>
              <a:t>- The lab uses: Host 10.1.20.252, Port 389, Tree dc=f5demo,dc=com, Bind DN cn=Directory Manager</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RADIUS (Remote Authentication Dial-In User Service):</a:t>
            </a:r>
          </a:p>
          <a:p>
            <a:pPr marL="216000" indent="-216000">
              <a:buNone/>
            </a:pPr>
            <a:r>
              <a:rPr lang="en-US" sz="2000" b="0" strike="noStrike" spc="-1">
                <a:solidFill>
                  <a:srgbClr val="000000"/>
                </a:solidFill>
                <a:latin typeface="Arial"/>
              </a:rPr>
              <a:t>Centralized AAA. Common in ISP/telecom.</a:t>
            </a:r>
          </a:p>
          <a:p>
            <a:pPr marL="216000" indent="-216000">
              <a:buNone/>
            </a:pPr>
            <a:r>
              <a:rPr lang="en-US" sz="2000" b="0" strike="noStrike" spc="-1">
                <a:solidFill>
                  <a:srgbClr val="000000"/>
                </a:solidFill>
                <a:latin typeface="Arial"/>
              </a:rPr>
              <a:t>- GUI: System &gt; Users &gt; Authentication &gt; Change &gt; RADIUS</a:t>
            </a:r>
          </a:p>
          <a:p>
            <a:pPr marL="216000" indent="-216000">
              <a:buNone/>
            </a:pPr>
            <a:r>
              <a:rPr lang="en-US" sz="2000" b="0" strike="noStrike" spc="-1">
                <a:solidFill>
                  <a:srgbClr val="000000"/>
                </a:solidFill>
                <a:latin typeface="Arial"/>
              </a:rPr>
              <a:t>- Key fields: Server IP, Port (1812), Secret (shared key), Default Role</a:t>
            </a:r>
          </a:p>
          <a:p>
            <a:pPr marL="216000" indent="-216000">
              <a:buNone/>
            </a:pPr>
            <a:r>
              <a:rPr lang="en-US" sz="2000" b="0" strike="noStrike" spc="-1">
                <a:solidFill>
                  <a:srgbClr val="000000"/>
                </a:solidFill>
                <a:latin typeface="Arial"/>
              </a:rPr>
              <a:t>- Role assignment: Via F5 Vendor-Specific Attributes (VSA) in the RADIUS response. The RADIUS server includes F5-LTM-User-Info-1 attribute with the role name. If no VSA, the default role is used.</a:t>
            </a:r>
          </a:p>
          <a:p>
            <a:pPr marL="216000" indent="-216000">
              <a:buNone/>
            </a:pPr>
            <a:r>
              <a:rPr lang="en-US" sz="2000" b="0" strike="noStrike" spc="-1">
                <a:solidFill>
                  <a:srgbClr val="000000"/>
                </a:solidFill>
                <a:latin typeface="Arial"/>
              </a:rPr>
              <a:t>- F5 VSA: Vendor ID 3375, Attribute F5-LTM-User-Info-1 = "adm" (admin), "mgr" (manager), "op" (operator), etc.</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TACACS+ (Terminal Access Controller Access-Control System Plus):</a:t>
            </a:r>
          </a:p>
          <a:p>
            <a:pPr marL="216000" indent="-216000">
              <a:buNone/>
            </a:pPr>
            <a:r>
              <a:rPr lang="en-US" sz="2000" b="0" strike="noStrike" spc="-1">
                <a:solidFill>
                  <a:srgbClr val="000000"/>
                </a:solidFill>
                <a:latin typeface="Arial"/>
              </a:rPr>
              <a:t>Cisco's AAA protocol. Provides per-command authorization.</a:t>
            </a:r>
          </a:p>
          <a:p>
            <a:pPr marL="216000" indent="-216000">
              <a:buNone/>
            </a:pPr>
            <a:r>
              <a:rPr lang="en-US" sz="2000" b="0" strike="noStrike" spc="-1">
                <a:solidFill>
                  <a:srgbClr val="000000"/>
                </a:solidFill>
                <a:latin typeface="Arial"/>
              </a:rPr>
              <a:t>- GUI: System &gt; Users &gt; Authentication &gt; Change &gt; TACACS+</a:t>
            </a:r>
          </a:p>
          <a:p>
            <a:pPr marL="216000" indent="-216000">
              <a:buNone/>
            </a:pPr>
            <a:r>
              <a:rPr lang="en-US" sz="2000" b="0" strike="noStrike" spc="-1">
                <a:solidFill>
                  <a:srgbClr val="000000"/>
                </a:solidFill>
                <a:latin typeface="Arial"/>
              </a:rPr>
              <a:t>- Key fields: Server IP, Port (49), Secret, Service (ppp), Protocol (ip)</a:t>
            </a:r>
          </a:p>
          <a:p>
            <a:pPr marL="216000" indent="-216000">
              <a:buNone/>
            </a:pPr>
            <a:r>
              <a:rPr lang="en-US" sz="2000" b="0" strike="noStrike" spc="-1">
                <a:solidFill>
                  <a:srgbClr val="000000"/>
                </a:solidFill>
                <a:latin typeface="Arial"/>
              </a:rPr>
              <a:t>- Role assignment: Via TACACS+ attributes. Can map to BIG-IP roles.</a:t>
            </a:r>
          </a:p>
          <a:p>
            <a:pPr marL="216000" indent="-216000">
              <a:buNone/>
            </a:pPr>
            <a:r>
              <a:rPr lang="en-US" sz="2000" b="0" strike="noStrike" spc="-1">
                <a:solidFill>
                  <a:srgbClr val="000000"/>
                </a:solidFill>
                <a:latin typeface="Arial"/>
              </a:rPr>
              <a:t>- UNIQUE CAPABILITY: Per-command authorization. The TACACS+ server can control which TMSH commands a user can execute. Every command the user types is sent to the TACACS+ server for authorization before execution. This provides the most granular access control.</a:t>
            </a:r>
          </a:p>
          <a:p>
            <a:pPr marL="216000" indent="-216000">
              <a:buNone/>
            </a:pPr>
            <a:r>
              <a:rPr lang="en-US" sz="2000" b="0" strike="noStrike" spc="-1">
                <a:solidFill>
                  <a:srgbClr val="000000"/>
                </a:solidFill>
                <a:latin typeface="Arial"/>
              </a:rPr>
              <a:t>- Service/Protocol: Set to "ppp" and "ip" for standard BIG-IP integration.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AUTH FALLBACK BEHAVIOR (CRITICAL EXAM CONCEPT):</a:t>
            </a:r>
          </a:p>
          <a:p>
            <a:pPr marL="216000" indent="-216000">
              <a:buNone/>
            </a:pPr>
            <a:r>
              <a:rPr lang="en-US" sz="2000" b="0" strike="noStrike" spc="-1">
                <a:solidFill>
                  <a:srgbClr val="000000"/>
                </a:solidFill>
                <a:latin typeface="Arial"/>
              </a:rPr>
              <a:t>When remote auth is configured, the BIG-IP handles authentication in this order:</a:t>
            </a:r>
          </a:p>
          <a:p>
            <a:pPr marL="216000" indent="-216000">
              <a:buNone/>
            </a:pPr>
            <a:r>
              <a:rPr lang="en-US" sz="2000" b="0" strike="noStrike" spc="-1">
                <a:solidFill>
                  <a:srgbClr val="000000"/>
                </a:solidFill>
                <a:latin typeface="Arial"/>
              </a:rPr>
              <a:t>1. User submits credentials (GUI or SSH)</a:t>
            </a:r>
          </a:p>
          <a:p>
            <a:pPr marL="216000" indent="-216000">
              <a:buNone/>
            </a:pPr>
            <a:r>
              <a:rPr lang="en-US" sz="2000" b="0" strike="noStrike" spc="-1">
                <a:solidFill>
                  <a:srgbClr val="000000"/>
                </a:solidFill>
                <a:latin typeface="Arial"/>
              </a:rPr>
              <a:t>2. BIG-IP forwards credentials to remote server</a:t>
            </a:r>
          </a:p>
          <a:p>
            <a:pPr marL="216000" indent="-216000">
              <a:buNone/>
            </a:pPr>
            <a:r>
              <a:rPr lang="en-US" sz="2000" b="0" strike="noStrike" spc="-1">
                <a:solidFill>
                  <a:srgbClr val="000000"/>
                </a:solidFill>
                <a:latin typeface="Arial"/>
              </a:rPr>
              <a:t>3. IF remote server AUTHENTICATES → access granted with remote-assigned role</a:t>
            </a:r>
          </a:p>
          <a:p>
            <a:pPr marL="216000" indent="-216000">
              <a:buNone/>
            </a:pPr>
            <a:r>
              <a:rPr lang="en-US" sz="2000" b="0" strike="noStrike" spc="-1">
                <a:solidFill>
                  <a:srgbClr val="000000"/>
                </a:solidFill>
                <a:latin typeface="Arial"/>
              </a:rPr>
              <a:t>4. IF remote server REJECTS → access DENIED. NO fallback to local.</a:t>
            </a:r>
          </a:p>
          <a:p>
            <a:pPr marL="216000" indent="-216000">
              <a:buNone/>
            </a:pPr>
            <a:r>
              <a:rPr lang="en-US" sz="2000" b="0" strike="noStrike" spc="-1">
                <a:solidFill>
                  <a:srgbClr val="000000"/>
                </a:solidFill>
                <a:latin typeface="Arial"/>
              </a:rPr>
              <a:t>5. IF remote server is UNREACHABLE → BIG-IP falls back to LOCAL auth</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This means:</a:t>
            </a:r>
          </a:p>
          <a:p>
            <a:pPr marL="216000" indent="-216000">
              <a:buNone/>
            </a:pPr>
            <a:r>
              <a:rPr lang="en-US" sz="2000" b="0" strike="noStrike" spc="-1">
                <a:solidFill>
                  <a:srgbClr val="000000"/>
                </a:solidFill>
                <a:latin typeface="Arial"/>
              </a:rPr>
              <a:t>- LDAP user with wrong password → denied (LDAP server is reachable and rejected)</a:t>
            </a:r>
          </a:p>
          <a:p>
            <a:pPr marL="216000" indent="-216000">
              <a:buNone/>
            </a:pPr>
            <a:r>
              <a:rPr lang="en-US" sz="2000" b="0" strike="noStrike" spc="-1">
                <a:solidFill>
                  <a:srgbClr val="000000"/>
                </a:solidFill>
                <a:latin typeface="Arial"/>
              </a:rPr>
              <a:t>- LDAP server is down → local admin can still log in (fallback to local)</a:t>
            </a:r>
          </a:p>
          <a:p>
            <a:pPr marL="216000" indent="-216000">
              <a:buNone/>
            </a:pPr>
            <a:r>
              <a:rPr lang="en-US" sz="2000" b="0" strike="noStrike" spc="-1">
                <a:solidFill>
                  <a:srgbClr val="000000"/>
                </a:solidFill>
                <a:latin typeface="Arial"/>
              </a:rPr>
              <a:t>- Local user with LDAP configured and LDAP server up → denied (LDAP doesn't know this user, LDAP rejects, no fallback)</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SECURITY BEST PRACTICE: Always maintain a local admin account. If the remote auth server goes down, you need a local account to log in and fix the issue.</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REMOTE ROLE GROUPS (LDAP Advanced):</a:t>
            </a:r>
          </a:p>
          <a:p>
            <a:pPr marL="216000" indent="-216000">
              <a:buNone/>
            </a:pPr>
            <a:r>
              <a:rPr lang="en-US" sz="2000" b="0" strike="noStrike" spc="-1">
                <a:solidFill>
                  <a:srgbClr val="000000"/>
                </a:solidFill>
                <a:latin typeface="Arial"/>
              </a:rPr>
              <a:t>For more granular role mapping, configure Remote Role Groups:</a:t>
            </a:r>
          </a:p>
          <a:p>
            <a:pPr marL="216000" indent="-216000">
              <a:buNone/>
            </a:pPr>
            <a:r>
              <a:rPr lang="en-US" sz="2000" b="0" strike="noStrike" spc="-1">
                <a:solidFill>
                  <a:srgbClr val="000000"/>
                </a:solidFill>
                <a:latin typeface="Arial"/>
              </a:rPr>
              <a:t>- System &gt; Users &gt; Remote Role Groups</a:t>
            </a:r>
          </a:p>
          <a:p>
            <a:pPr marL="216000" indent="-216000">
              <a:buNone/>
            </a:pPr>
            <a:r>
              <a:rPr lang="en-US" sz="2000" b="0" strike="noStrike" spc="-1">
                <a:solidFill>
                  <a:srgbClr val="000000"/>
                </a:solidFill>
                <a:latin typeface="Arial"/>
              </a:rPr>
              <a:t>- Map LDAP group membership to specific BIG-IP roles</a:t>
            </a:r>
          </a:p>
          <a:p>
            <a:pPr marL="216000" indent="-216000">
              <a:buNone/>
            </a:pPr>
            <a:r>
              <a:rPr lang="en-US" sz="2000" b="0" strike="noStrike" spc="-1">
                <a:solidFill>
                  <a:srgbClr val="000000"/>
                </a:solidFill>
                <a:latin typeface="Arial"/>
              </a:rPr>
              <a:t>- Example: LDAP group "network-admins" → Administrator role, "noc-team" → Operator role</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COMMON STUDENT MISTAKES</a:t>
            </a:r>
          </a:p>
          <a:p>
            <a:pPr marL="216000" indent="-216000">
              <a:buNone/>
            </a:pPr>
            <a:r>
              <a:rPr lang="en-US" sz="2000" b="0" strike="noStrike" spc="-1">
                <a:solidFill>
                  <a:srgbClr val="000000"/>
                </a:solidFill>
                <a:latin typeface="Arial"/>
              </a:rPr>
              <a:t>- Deleting the local admin after configuring remote auth → locked out if remote server fails</a:t>
            </a:r>
          </a:p>
          <a:p>
            <a:pPr marL="216000" indent="-216000">
              <a:buNone/>
            </a:pPr>
            <a:r>
              <a:rPr lang="en-US" sz="2000" b="0" strike="noStrike" spc="-1">
                <a:solidFill>
                  <a:srgbClr val="000000"/>
                </a:solidFill>
                <a:latin typeface="Arial"/>
              </a:rPr>
              <a:t>- Thinking local users still work when remote auth is active and remote server is UP → they don't (unless remote server doesn't know the user AND is configured to allow fallback)</a:t>
            </a:r>
          </a:p>
          <a:p>
            <a:pPr marL="216000" indent="-216000">
              <a:buNone/>
            </a:pPr>
            <a:r>
              <a:rPr lang="en-US" sz="2000" b="0" strike="noStrike" spc="-1">
                <a:solidFill>
                  <a:srgbClr val="000000"/>
                </a:solidFill>
                <a:latin typeface="Arial"/>
              </a:rPr>
              <a:t>- Not testing fallback before production deployment</a:t>
            </a:r>
          </a:p>
          <a:p>
            <a:pPr marL="216000" indent="-216000">
              <a:buNone/>
            </a:pPr>
            <a:r>
              <a:rPr lang="en-US" sz="2000" b="0" strike="noStrike" spc="-1">
                <a:solidFill>
                  <a:srgbClr val="000000"/>
                </a:solidFill>
                <a:latin typeface="Arial"/>
              </a:rPr>
              <a:t>- Confusing "rejected" (server says no) with "unreachable" (server is down) — only unreachable triggers fallback</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PIVOT QUESTION</a:t>
            </a:r>
          </a:p>
          <a:p>
            <a:pPr marL="216000" indent="-216000">
              <a:buNone/>
            </a:pPr>
            <a:r>
              <a:rPr lang="en-US" sz="2000" b="0" strike="noStrike" spc="-1">
                <a:solidFill>
                  <a:srgbClr val="000000"/>
                </a:solidFill>
                <a:latin typeface="Arial"/>
              </a:rPr>
              <a:t>"LDAP is configured. An LDAP user enters the wrong password. The LDAP server is up. Does the BIG-IP try local auth?"</a:t>
            </a:r>
          </a:p>
          <a:p>
            <a:pPr marL="216000" indent="-216000">
              <a:buNone/>
            </a:pPr>
            <a:r>
              <a:rPr lang="en-US" sz="2000" b="0" strike="noStrike" spc="-1">
                <a:solidFill>
                  <a:srgbClr val="000000"/>
                </a:solidFill>
                <a:latin typeface="Arial"/>
              </a:rPr>
              <a:t>ANSWER: No. The LDAP server is reachable and explicitly rejected the credentials. The BIG-IP trusts this rejection and denies access. Fallback to local ONLY happens when the remote server is unreachable (network error, server down). This is by design — if fallback happened on rejection, it would create a security hole.</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F5 DOCUMENTATION</a:t>
            </a:r>
          </a:p>
          <a:p>
            <a:pPr marL="216000" indent="-216000">
              <a:buNone/>
            </a:pPr>
            <a:r>
              <a:rPr lang="en-US" sz="2000" b="0" strike="noStrike" spc="-1">
                <a:solidFill>
                  <a:srgbClr val="000000"/>
                </a:solidFill>
                <a:latin typeface="Arial"/>
              </a:rPr>
              <a:t>- LDAP auth: https://my.f5.com/manage/s/article/K15811</a:t>
            </a:r>
          </a:p>
          <a:p>
            <a:pPr marL="216000" indent="-216000">
              <a:buNone/>
            </a:pPr>
            <a:r>
              <a:rPr lang="en-US" sz="2000" b="0" strike="noStrike" spc="-1">
                <a:solidFill>
                  <a:srgbClr val="000000"/>
                </a:solidFill>
                <a:latin typeface="Arial"/>
              </a:rPr>
              <a:t>- RADIUS auth: https://my.f5.com/manage/s/article/K15763</a:t>
            </a:r>
          </a:p>
          <a:p>
            <a:pPr marL="216000" indent="-216000">
              <a:buNone/>
            </a:pPr>
            <a:r>
              <a:rPr lang="en-US" sz="2000" b="0" strike="noStrike" spc="-1">
                <a:solidFill>
                  <a:srgbClr val="000000"/>
                </a:solidFill>
                <a:latin typeface="Arial"/>
              </a:rPr>
              <a:t>- TACACS+ auth: https://my.f5.com/manage/s/article/K15596</a:t>
            </a:r>
          </a:p>
          <a:p>
            <a:pPr marL="216000" indent="-216000">
              <a:buNone/>
            </a:pPr>
            <a:r>
              <a:rPr lang="en-US" sz="2000" b="0" strike="noStrike" spc="-1">
                <a:solidFill>
                  <a:srgbClr val="000000"/>
                </a:solidFill>
                <a:latin typeface="Arial"/>
              </a:rPr>
              <a:t>- Remote role groups: https://my.f5.com/manage/s/article/K3472</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EXAM QUESTION PATTERNS</a:t>
            </a:r>
          </a:p>
          <a:p>
            <a:pPr marL="216000" indent="-216000">
              <a:buNone/>
            </a:pPr>
            <a:r>
              <a:rPr lang="en-US" sz="2000" b="0" strike="noStrike" spc="-1">
                <a:solidFill>
                  <a:srgbClr val="000000"/>
                </a:solidFill>
                <a:latin typeface="Arial"/>
              </a:rPr>
              <a:t>- "Remote server rejects user. Fallback to local?" → No</a:t>
            </a:r>
          </a:p>
          <a:p>
            <a:pPr marL="216000" indent="-216000">
              <a:buNone/>
            </a:pPr>
            <a:r>
              <a:rPr lang="en-US" sz="2000" b="0" strike="noStrike" spc="-1">
                <a:solidFill>
                  <a:srgbClr val="000000"/>
                </a:solidFill>
                <a:latin typeface="Arial"/>
              </a:rPr>
              <a:t>- "Remote server unreachable. Fallback to local?" → Yes</a:t>
            </a:r>
          </a:p>
          <a:p>
            <a:pPr marL="216000" indent="-216000">
              <a:buNone/>
            </a:pPr>
            <a:r>
              <a:rPr lang="en-US" sz="2000" b="0" strike="noStrike" spc="-1">
                <a:solidFill>
                  <a:srgbClr val="000000"/>
                </a:solidFill>
                <a:latin typeface="Arial"/>
              </a:rPr>
              <a:t>- "Which auth method supports per-command authorization?" → TACACS+</a:t>
            </a:r>
          </a:p>
          <a:p>
            <a:pPr marL="216000" indent="0">
              <a:lnSpc>
                <a:spcPct val="100000"/>
              </a:lnSpc>
              <a:buNone/>
            </a:pPr>
            <a:r>
              <a:rPr lang="en-US" sz="2000" b="0" strike="noStrike" spc="-1">
                <a:solidFill>
                  <a:srgbClr val="000000"/>
                </a:solidFill>
                <a:latin typeface="Arial"/>
              </a:rPr>
              <a:t>- "How are roles assigned with RADIUS?" → F5 Vendor-Specific Attributes (VSA)</a:t>
            </a:r>
          </a:p>
        </p:txBody>
      </p:sp>
      <p:sp>
        <p:nvSpPr>
          <p:cNvPr id="2721" name="PlaceHolder 3"/>
          <p:cNvSpPr>
            <a:spLocks noGrp="1"/>
          </p:cNvSpPr>
          <p:nvPr>
            <p:ph type="sldNum" idx="86"/>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35744E4B-F234-4BF9-8279-51552D81959F}" type="slidenum">
              <a:rPr lang="en-US" sz="1800" b="0" strike="noStrike" spc="-1">
                <a:solidFill>
                  <a:schemeClr val="dk1"/>
                </a:solidFill>
                <a:latin typeface="+mn-lt"/>
                <a:ea typeface="+mn-ea"/>
              </a:rPr>
              <a:t>83</a:t>
            </a:fld>
            <a:endParaRPr lang="en-US" sz="1800" b="0" strike="noStrike" spc="-1">
              <a:solidFill>
                <a:srgbClr val="000000"/>
              </a:solidFill>
              <a:latin typeface="Times New Roman"/>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2" name="PlaceHolder 1"/>
          <p:cNvSpPr>
            <a:spLocks noGrp="1" noRot="1" noChangeAspect="1"/>
          </p:cNvSpPr>
          <p:nvPr>
            <p:ph type="sldImg"/>
          </p:nvPr>
        </p:nvSpPr>
        <p:spPr>
          <a:xfrm>
            <a:off x="0" y="0"/>
            <a:ext cx="0" cy="0"/>
          </a:xfrm>
          <a:prstGeom prst="rect">
            <a:avLst/>
          </a:prstGeom>
          <a:ln w="0">
            <a:noFill/>
          </a:ln>
        </p:spPr>
      </p:sp>
      <p:sp>
        <p:nvSpPr>
          <p:cNvPr id="2723"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Lab launch. Two activities: partition/role testing and LDAP authentication.</a:t>
            </a:r>
          </a:p>
          <a:p>
            <a:pPr marL="216000" indent="0">
              <a:lnSpc>
                <a:spcPct val="100000"/>
              </a:lnSpc>
              <a:buNone/>
            </a:pPr>
            <a:r>
              <a:rPr lang="en-US" sz="2000" b="0" strike="noStrike" spc="-1">
                <a:solidFill>
                  <a:srgbClr val="000000"/>
                </a:solidFill>
                <a:latin typeface="Arial"/>
              </a:rPr>
              <a:t>F5 DOCUMENTATION: K14020, K13403, K15811</a:t>
            </a:r>
          </a:p>
        </p:txBody>
      </p:sp>
      <p:sp>
        <p:nvSpPr>
          <p:cNvPr id="2724" name="PlaceHolder 3"/>
          <p:cNvSpPr>
            <a:spLocks noGrp="1"/>
          </p:cNvSpPr>
          <p:nvPr>
            <p:ph type="sldNum" idx="87"/>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AB3E66AC-CC74-4CB2-A43F-FB99125E9289}" type="slidenum">
              <a:rPr lang="en-US" sz="1800" b="0" strike="noStrike" spc="-1">
                <a:solidFill>
                  <a:schemeClr val="dk1"/>
                </a:solidFill>
                <a:latin typeface="+mn-lt"/>
                <a:ea typeface="+mn-ea"/>
              </a:rPr>
              <a:t>84</a:t>
            </a:fld>
            <a:endParaRPr lang="en-US" sz="1800" b="0" strike="noStrike" spc="-1">
              <a:solidFill>
                <a:srgbClr val="000000"/>
              </a:solidFill>
              <a:latin typeface="Times New Roman"/>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5" name="PlaceHolder 1"/>
          <p:cNvSpPr>
            <a:spLocks noGrp="1" noRot="1" noChangeAspect="1"/>
          </p:cNvSpPr>
          <p:nvPr>
            <p:ph type="sldImg"/>
          </p:nvPr>
        </p:nvSpPr>
        <p:spPr>
          <a:xfrm>
            <a:off x="0" y="0"/>
            <a:ext cx="0" cy="0"/>
          </a:xfrm>
          <a:prstGeom prst="rect">
            <a:avLst/>
          </a:prstGeom>
          <a:ln w="0">
            <a:noFill/>
          </a:ln>
        </p:spPr>
      </p:sp>
      <p:sp>
        <p:nvSpPr>
          <p:cNvPr id="2726"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Q1: Yes. Manager can VIEW Common (read-only), CREATE in own partition, REFERENCE Common objects.</a:t>
            </a:r>
          </a:p>
          <a:p>
            <a:pPr marL="216000" indent="-216000">
              <a:buNone/>
            </a:pPr>
            <a:r>
              <a:rPr lang="en-US" sz="2000" b="0" strike="noStrike" spc="-1">
                <a:solidFill>
                  <a:srgbClr val="000000"/>
                </a:solidFill>
                <a:latin typeface="Arial"/>
              </a:rPr>
              <a:t>Q2: Certificate Manager.</a:t>
            </a:r>
          </a:p>
          <a:p>
            <a:pPr marL="216000" indent="-216000">
              <a:buNone/>
            </a:pPr>
            <a:r>
              <a:rPr lang="en-US" sz="2000" b="0" strike="noStrike" spc="-1">
                <a:solidFill>
                  <a:srgbClr val="000000"/>
                </a:solidFill>
                <a:latin typeface="Arial"/>
              </a:rPr>
              <a:t>Q3: No. Server is reachable and rejected. Fallback only on unreachable.</a:t>
            </a:r>
          </a:p>
          <a:p>
            <a:pPr marL="216000" indent="-216000">
              <a:buNone/>
            </a:pPr>
            <a:r>
              <a:rPr lang="en-US" sz="2000" b="0" strike="noStrike" spc="-1">
                <a:solidFill>
                  <a:srgbClr val="000000"/>
                </a:solidFill>
                <a:latin typeface="Arial"/>
              </a:rPr>
              <a:t>Q4: TACACS+. It sends each TMSH command to the server for authorization.</a:t>
            </a:r>
          </a:p>
          <a:p>
            <a:pPr marL="216000" indent="0">
              <a:lnSpc>
                <a:spcPct val="100000"/>
              </a:lnSpc>
              <a:buNone/>
            </a:pPr>
            <a:r>
              <a:rPr lang="en-US" sz="2000" b="0" strike="noStrike" spc="-1">
                <a:solidFill>
                  <a:srgbClr val="000000"/>
                </a:solidFill>
                <a:latin typeface="Arial"/>
              </a:rPr>
              <a:t>F5 DOCUMENTATION: K14020, K13403, K15811, K15596</a:t>
            </a:r>
          </a:p>
        </p:txBody>
      </p:sp>
      <p:sp>
        <p:nvSpPr>
          <p:cNvPr id="2727" name="PlaceHolder 3"/>
          <p:cNvSpPr>
            <a:spLocks noGrp="1"/>
          </p:cNvSpPr>
          <p:nvPr>
            <p:ph type="sldNum" idx="88"/>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5BF9153C-E545-4810-82C9-69D8751CB11D}" type="slidenum">
              <a:rPr lang="en-US" sz="1800" b="0" strike="noStrike" spc="-1">
                <a:solidFill>
                  <a:schemeClr val="dk1"/>
                </a:solidFill>
                <a:latin typeface="+mn-lt"/>
                <a:ea typeface="+mn-ea"/>
              </a:rPr>
              <a:t>85</a:t>
            </a:fld>
            <a:endParaRPr lang="en-US" sz="1800" b="0" strike="noStrike" spc="-1">
              <a:solidFill>
                <a:srgbClr val="000000"/>
              </a:solidFill>
              <a:latin typeface="Times New Roman"/>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8" name="PlaceHolder 1"/>
          <p:cNvSpPr>
            <a:spLocks noGrp="1" noRot="1" noChangeAspect="1"/>
          </p:cNvSpPr>
          <p:nvPr>
            <p:ph type="sldImg"/>
          </p:nvPr>
        </p:nvSpPr>
        <p:spPr>
          <a:xfrm>
            <a:off x="0" y="0"/>
            <a:ext cx="0" cy="0"/>
          </a:xfrm>
          <a:prstGeom prst="rect">
            <a:avLst/>
          </a:prstGeom>
          <a:ln w="0">
            <a:noFill/>
          </a:ln>
        </p:spPr>
      </p:sp>
      <p:sp>
        <p:nvSpPr>
          <p:cNvPr id="2729"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Complete TMSH reference for roles, partitions, and all three remote auth methods.</a:t>
            </a:r>
          </a:p>
          <a:p>
            <a:pPr marL="216000" indent="0">
              <a:lnSpc>
                <a:spcPct val="100000"/>
              </a:lnSpc>
              <a:buNone/>
            </a:pPr>
            <a:r>
              <a:rPr lang="en-US" sz="2000" b="0" strike="noStrike" spc="-1">
                <a:solidFill>
                  <a:srgbClr val="000000"/>
                </a:solidFill>
                <a:latin typeface="Arial"/>
              </a:rPr>
              <a:t>F5 DOCUMENTATION: K14020, K13403, K15811, K15763, K15596</a:t>
            </a:r>
          </a:p>
        </p:txBody>
      </p:sp>
      <p:sp>
        <p:nvSpPr>
          <p:cNvPr id="2730" name="PlaceHolder 3"/>
          <p:cNvSpPr>
            <a:spLocks noGrp="1"/>
          </p:cNvSpPr>
          <p:nvPr>
            <p:ph type="sldNum" idx="89"/>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BE7CDF8A-F75A-4470-B813-F19C7D538C03}" type="slidenum">
              <a:rPr lang="en-US" sz="1800" b="0" strike="noStrike" spc="-1">
                <a:solidFill>
                  <a:schemeClr val="dk1"/>
                </a:solidFill>
                <a:latin typeface="+mn-lt"/>
                <a:ea typeface="+mn-ea"/>
              </a:rPr>
              <a:t>86</a:t>
            </a:fld>
            <a:endParaRPr lang="en-US" sz="1800" b="0" strike="noStrike" spc="-1">
              <a:solidFill>
                <a:srgbClr val="000000"/>
              </a:solidFill>
              <a:latin typeface="Times New Roman"/>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1" name="PlaceHolder 1"/>
          <p:cNvSpPr>
            <a:spLocks noGrp="1" noRot="1" noChangeAspect="1"/>
          </p:cNvSpPr>
          <p:nvPr>
            <p:ph type="sldImg"/>
          </p:nvPr>
        </p:nvSpPr>
        <p:spPr>
          <a:xfrm>
            <a:off x="0" y="0"/>
            <a:ext cx="0" cy="0"/>
          </a:xfrm>
          <a:prstGeom prst="rect">
            <a:avLst/>
          </a:prstGeom>
          <a:ln w="0">
            <a:noFill/>
          </a:ln>
        </p:spPr>
      </p:sp>
      <p:sp>
        <p:nvSpPr>
          <p:cNvPr id="2732"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Opener for Lab 10. 301a: 2.05–2.07. Three Beta objectives with expanded sub-bullet detail in the opener text.</a:t>
            </a:r>
          </a:p>
          <a:p>
            <a:pPr marL="216000" indent="0">
              <a:lnSpc>
                <a:spcPct val="100000"/>
              </a:lnSpc>
              <a:buNone/>
            </a:pPr>
            <a:r>
              <a:rPr lang="en-US" sz="2000" b="0" strike="noStrike" spc="-1">
                <a:solidFill>
                  <a:srgbClr val="000000"/>
                </a:solidFill>
                <a:latin typeface="Arial"/>
              </a:rPr>
              <a:t>F5 DOCUMENTATION: K13946, K14592, K13639, K16427 (HA groups)</a:t>
            </a:r>
          </a:p>
        </p:txBody>
      </p:sp>
      <p:sp>
        <p:nvSpPr>
          <p:cNvPr id="2733" name="PlaceHolder 3"/>
          <p:cNvSpPr>
            <a:spLocks noGrp="1"/>
          </p:cNvSpPr>
          <p:nvPr>
            <p:ph type="sldNum" idx="90"/>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2097F858-E2D0-4A0A-9277-0959CF07A04E}" type="slidenum">
              <a:rPr lang="en-US" sz="1800" b="0" strike="noStrike" spc="-1">
                <a:solidFill>
                  <a:schemeClr val="dk1"/>
                </a:solidFill>
                <a:latin typeface="+mn-lt"/>
                <a:ea typeface="+mn-ea"/>
              </a:rPr>
              <a:t>87</a:t>
            </a:fld>
            <a:endParaRPr lang="en-US" sz="1800" b="0" strike="noStrike" spc="-1">
              <a:solidFill>
                <a:srgbClr val="000000"/>
              </a:solidFill>
              <a:latin typeface="Times New Roman"/>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 name="PlaceHolder 1"/>
          <p:cNvSpPr>
            <a:spLocks noGrp="1" noRot="1" noChangeAspect="1"/>
          </p:cNvSpPr>
          <p:nvPr>
            <p:ph type="sldImg"/>
          </p:nvPr>
        </p:nvSpPr>
        <p:spPr>
          <a:xfrm>
            <a:off x="0" y="0"/>
            <a:ext cx="0" cy="0"/>
          </a:xfrm>
          <a:prstGeom prst="rect">
            <a:avLst/>
          </a:prstGeom>
          <a:ln w="0">
            <a:noFill/>
          </a:ln>
        </p:spPr>
      </p:sp>
      <p:sp>
        <p:nvSpPr>
          <p:cNvPr id="2735"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Six DSC building blocks. See Lab 10 v1 slide 2 notes for full documentation.</a:t>
            </a:r>
          </a:p>
          <a:p>
            <a:pPr marL="216000" indent="0">
              <a:lnSpc>
                <a:spcPct val="100000"/>
              </a:lnSpc>
              <a:buNone/>
            </a:pPr>
            <a:r>
              <a:rPr lang="en-US" sz="2000" b="0" strike="noStrike" spc="-1">
                <a:solidFill>
                  <a:srgbClr val="000000"/>
                </a:solidFill>
                <a:latin typeface="Arial"/>
              </a:rPr>
              <a:t>F5 DOCUMENTATION: K13946, K14592, K13639</a:t>
            </a:r>
          </a:p>
        </p:txBody>
      </p:sp>
      <p:sp>
        <p:nvSpPr>
          <p:cNvPr id="2736" name="PlaceHolder 3"/>
          <p:cNvSpPr>
            <a:spLocks noGrp="1"/>
          </p:cNvSpPr>
          <p:nvPr>
            <p:ph type="sldNum" idx="91"/>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A630A585-DBB7-440E-A2B1-EDBF1F0B5351}" type="slidenum">
              <a:rPr lang="en-US" sz="1800" b="0" strike="noStrike" spc="-1">
                <a:solidFill>
                  <a:schemeClr val="dk1"/>
                </a:solidFill>
                <a:latin typeface="+mn-lt"/>
                <a:ea typeface="+mn-ea"/>
              </a:rPr>
              <a:t>88</a:t>
            </a:fld>
            <a:endParaRPr lang="en-US" sz="1800" b="0" strike="noStrike" spc="-1">
              <a:solidFill>
                <a:srgbClr val="000000"/>
              </a:solidFill>
              <a:latin typeface="Times New Roman"/>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7" name="PlaceHolder 1"/>
          <p:cNvSpPr>
            <a:spLocks noGrp="1" noRot="1" noChangeAspect="1"/>
          </p:cNvSpPr>
          <p:nvPr>
            <p:ph type="sldImg"/>
          </p:nvPr>
        </p:nvSpPr>
        <p:spPr>
          <a:xfrm>
            <a:off x="0" y="0"/>
            <a:ext cx="0" cy="0"/>
          </a:xfrm>
          <a:prstGeom prst="rect">
            <a:avLst/>
          </a:prstGeom>
          <a:ln w="0">
            <a:noFill/>
          </a:ln>
        </p:spPr>
      </p:sp>
      <p:sp>
        <p:nvSpPr>
          <p:cNvPr id="2738"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DSC build workflow. See Lab 10 v1 slide 3 notes.</a:t>
            </a:r>
          </a:p>
          <a:p>
            <a:pPr marL="216000" indent="0">
              <a:lnSpc>
                <a:spcPct val="100000"/>
              </a:lnSpc>
              <a:buNone/>
            </a:pPr>
            <a:r>
              <a:rPr lang="en-US" sz="2000" b="0" strike="noStrike" spc="-1">
                <a:solidFill>
                  <a:srgbClr val="000000"/>
                </a:solidFill>
                <a:latin typeface="Arial"/>
              </a:rPr>
              <a:t>F5 DOCUMENTATION: K13946, K14592, K13639</a:t>
            </a:r>
          </a:p>
        </p:txBody>
      </p:sp>
      <p:sp>
        <p:nvSpPr>
          <p:cNvPr id="2739" name="PlaceHolder 3"/>
          <p:cNvSpPr>
            <a:spLocks noGrp="1"/>
          </p:cNvSpPr>
          <p:nvPr>
            <p:ph type="sldNum" idx="92"/>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03C0F27E-5218-4195-9524-2F6958F7C65A}" type="slidenum">
              <a:rPr lang="en-US" sz="1800" b="0" strike="noStrike" spc="-1">
                <a:solidFill>
                  <a:schemeClr val="dk1"/>
                </a:solidFill>
                <a:latin typeface="+mn-lt"/>
                <a:ea typeface="+mn-ea"/>
              </a:rPr>
              <a:t>89</a:t>
            </a:fld>
            <a:endParaRPr lang="en-US" sz="1800" b="0" strike="noStrike" spc="-1">
              <a:solidFill>
                <a:srgbClr val="000000"/>
              </a:solidFill>
              <a:latin typeface="Times New Roman"/>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0" name="PlaceHolder 1"/>
          <p:cNvSpPr>
            <a:spLocks noGrp="1" noRot="1" noChangeAspect="1"/>
          </p:cNvSpPr>
          <p:nvPr>
            <p:ph type="sldImg"/>
          </p:nvPr>
        </p:nvSpPr>
        <p:spPr>
          <a:xfrm>
            <a:off x="0" y="0"/>
            <a:ext cx="0" cy="0"/>
          </a:xfrm>
          <a:prstGeom prst="rect">
            <a:avLst/>
          </a:prstGeom>
          <a:ln w="0">
            <a:noFill/>
          </a:ln>
        </p:spPr>
      </p:sp>
      <p:sp>
        <p:nvSpPr>
          <p:cNvPr id="2741"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This slide directly addresses F5CTSLTM4.02: "Compare and contrast traffic groups vs HA groups." Students must understand that these are two DIFFERENT mechanisms that work together.</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FULL TECHNICAL EXPLANATION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TRAFFIC GROUPS — WHERE TRAFFIC GOES:</a:t>
            </a:r>
          </a:p>
          <a:p>
            <a:pPr marL="216000" indent="-216000">
              <a:buNone/>
            </a:pPr>
            <a:r>
              <a:rPr lang="en-US" sz="2000" b="0" strike="noStrike" spc="-1">
                <a:solidFill>
                  <a:srgbClr val="000000"/>
                </a:solidFill>
                <a:latin typeface="Arial"/>
              </a:rPr>
              <a:t>A traffic group is a collection of floating objects that move together during failover. The default traffic-group-1 contains all floating objects unless you create additional groups.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Objects assigned to traffic groups:</a:t>
            </a:r>
          </a:p>
          <a:p>
            <a:pPr marL="216000" indent="-216000">
              <a:buNone/>
            </a:pPr>
            <a:r>
              <a:rPr lang="en-US" sz="2000" b="0" strike="noStrike" spc="-1">
                <a:solidFill>
                  <a:srgbClr val="000000"/>
                </a:solidFill>
                <a:latin typeface="Arial"/>
              </a:rPr>
              <a:t>- Virtual ADDRESSES (not virtual servers — the ADDRESS object): LT &gt; Virtual Servers &gt; Virtual Address List &gt; select &gt; Traffic Group</a:t>
            </a:r>
          </a:p>
          <a:p>
            <a:pPr marL="216000" indent="-216000">
              <a:buNone/>
            </a:pPr>
            <a:r>
              <a:rPr lang="en-US" sz="2000" b="0" strike="noStrike" spc="-1">
                <a:solidFill>
                  <a:srgbClr val="000000"/>
                </a:solidFill>
                <a:latin typeface="Arial"/>
              </a:rPr>
              <a:t>- Floating self IPs: Network &gt; Self IPs &gt; select &gt; Traffic Group</a:t>
            </a:r>
          </a:p>
          <a:p>
            <a:pPr marL="216000" indent="-216000">
              <a:buNone/>
            </a:pPr>
            <a:r>
              <a:rPr lang="en-US" sz="2000" b="0" strike="noStrike" spc="-1">
                <a:solidFill>
                  <a:srgbClr val="000000"/>
                </a:solidFill>
                <a:latin typeface="Arial"/>
              </a:rPr>
              <a:t>- SNAT translation addresses: LT &gt; Address Translation &gt; SNAT Translation List &gt; Traffic Group</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Active/Standby: One traffic group → one device active for all traffic. Simple but wastes standby capacity.</a:t>
            </a:r>
          </a:p>
          <a:p>
            <a:pPr marL="216000" indent="-216000">
              <a:buNone/>
            </a:pPr>
            <a:r>
              <a:rPr lang="en-US" sz="2000" b="0" strike="noStrike" spc="-1">
                <a:solidFill>
                  <a:srgbClr val="000000"/>
                </a:solidFill>
                <a:latin typeface="Arial"/>
              </a:rPr>
              <a:t>Active/Active: Multiple traffic groups → each active on a different device. Both devices process traffic.</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CRITICAL RULE: All objects supporting one application must be in the SAME traffic group. If www_vs VIP is in tg-2 but its SNAT pool is in tg-1, failover of tg-2 breaks the application because the SNAT address is still on the other device.</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HA GROUPS — WHICH DEVICE IS PREFERRED:</a:t>
            </a:r>
          </a:p>
          <a:p>
            <a:pPr marL="216000" indent="-216000">
              <a:buNone/>
            </a:pPr>
            <a:r>
              <a:rPr lang="en-US" sz="2000" b="0" strike="noStrike" spc="-1">
                <a:solidFill>
                  <a:srgbClr val="000000"/>
                </a:solidFill>
                <a:latin typeface="Arial"/>
              </a:rPr>
              <a:t>An HA group is a health scoring mechanism. Each device calculates a score based on the health of its resources:</a:t>
            </a:r>
          </a:p>
          <a:p>
            <a:pPr marL="216000" indent="-216000">
              <a:buNone/>
            </a:pPr>
            <a:r>
              <a:rPr lang="en-US" sz="2000" b="0" strike="noStrike" spc="-1">
                <a:solidFill>
                  <a:srgbClr val="000000"/>
                </a:solidFill>
                <a:latin typeface="Arial"/>
              </a:rPr>
              <a:t>- Pools: Weight assigned per pool. Score based on available members / total members.</a:t>
            </a:r>
          </a:p>
          <a:p>
            <a:pPr marL="216000" indent="-216000">
              <a:buNone/>
            </a:pPr>
            <a:r>
              <a:rPr lang="en-US" sz="2000" b="0" strike="noStrike" spc="-1">
                <a:solidFill>
                  <a:srgbClr val="000000"/>
                </a:solidFill>
                <a:latin typeface="Arial"/>
              </a:rPr>
              <a:t>- Trunks: Weight assigned per trunk. Score based on active links / total links.</a:t>
            </a:r>
          </a:p>
          <a:p>
            <a:pPr marL="216000" indent="-216000">
              <a:buNone/>
            </a:pPr>
            <a:r>
              <a:rPr lang="en-US" sz="2000" b="0" strike="noStrike" spc="-1">
                <a:solidFill>
                  <a:srgbClr val="000000"/>
                </a:solidFill>
                <a:latin typeface="Arial"/>
              </a:rPr>
              <a:t>- VLANs: Weight assigned per VLAN. Score based on link status.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The device with the HIGHER score should be active. If the active device's score drops below the standby's score, failover is triggered.</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Example:</a:t>
            </a:r>
          </a:p>
          <a:p>
            <a:pPr marL="216000" indent="-216000">
              <a:buNone/>
            </a:pPr>
            <a:r>
              <a:rPr lang="en-US" sz="2000" b="0" strike="noStrike" spc="-1">
                <a:solidFill>
                  <a:srgbClr val="000000"/>
                </a:solidFill>
                <a:latin typeface="Arial"/>
              </a:rPr>
              <a:t>Active device: www_pool = 100 pts (3/3 members up), trunk1 = 50 pts (2/2 links). Score = 150.</a:t>
            </a:r>
          </a:p>
          <a:p>
            <a:pPr marL="216000" indent="-216000">
              <a:buNone/>
            </a:pPr>
            <a:r>
              <a:rPr lang="en-US" sz="2000" b="0" strike="noStrike" spc="-1">
                <a:solidFill>
                  <a:srgbClr val="000000"/>
                </a:solidFill>
                <a:latin typeface="Arial"/>
              </a:rPr>
              <a:t>Active device loses a pool member: www_pool = 67 pts (2/3 members). Score = 117.</a:t>
            </a:r>
          </a:p>
          <a:p>
            <a:pPr marL="216000" indent="-216000">
              <a:buNone/>
            </a:pPr>
            <a:r>
              <a:rPr lang="en-US" sz="2000" b="0" strike="noStrike" spc="-1">
                <a:solidFill>
                  <a:srgbClr val="000000"/>
                </a:solidFill>
                <a:latin typeface="Arial"/>
              </a:rPr>
              <a:t>Standby device: www_pool = 100 pts (3/3 members), trunk1 = 50 pts. Score = 150.</a:t>
            </a:r>
          </a:p>
          <a:p>
            <a:pPr marL="216000" indent="-216000">
              <a:buNone/>
            </a:pPr>
            <a:r>
              <a:rPr lang="en-US" sz="2000" b="0" strike="noStrike" spc="-1">
                <a:solidFill>
                  <a:srgbClr val="000000"/>
                </a:solidFill>
                <a:latin typeface="Arial"/>
              </a:rPr>
              <a:t>150 &gt; 117 → failover occurs because standby is healthier.</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Configuration: Device Management &gt; Traffic Groups &gt; select traffic group &gt; HA Group section &gt; Enable &gt; Add pools, trunks, VLANs with weights.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HOW THEY WORK TOGETHER:</a:t>
            </a:r>
          </a:p>
          <a:p>
            <a:pPr marL="216000" indent="-216000">
              <a:buNone/>
            </a:pPr>
            <a:r>
              <a:rPr lang="en-US" sz="2000" b="0" strike="noStrike" spc="-1">
                <a:solidFill>
                  <a:srgbClr val="000000"/>
                </a:solidFill>
                <a:latin typeface="Arial"/>
              </a:rPr>
              <a:t>1. HA groups determine WHEN to fail over (based on health scores)</a:t>
            </a:r>
          </a:p>
          <a:p>
            <a:pPr marL="216000" indent="-216000">
              <a:buNone/>
            </a:pPr>
            <a:r>
              <a:rPr lang="en-US" sz="2000" b="0" strike="noStrike" spc="-1">
                <a:solidFill>
                  <a:srgbClr val="000000"/>
                </a:solidFill>
                <a:latin typeface="Arial"/>
              </a:rPr>
              <a:t>2. Traffic groups determine WHAT moves during failover (floating objects)</a:t>
            </a:r>
          </a:p>
          <a:p>
            <a:pPr marL="216000" indent="-216000">
              <a:buNone/>
            </a:pPr>
            <a:r>
              <a:rPr lang="en-US" sz="2000" b="0" strike="noStrike" spc="-1">
                <a:solidFill>
                  <a:srgbClr val="000000"/>
                </a:solidFill>
                <a:latin typeface="Arial"/>
              </a:rPr>
              <a:t>3. Network failover determines HOW failover is detected (heartbeat)</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Without HA groups: Failover only happens on total device failure or manual action.</a:t>
            </a:r>
          </a:p>
          <a:p>
            <a:pPr marL="216000" indent="-216000">
              <a:buNone/>
            </a:pPr>
            <a:r>
              <a:rPr lang="en-US" sz="2000" b="0" strike="noStrike" spc="-1">
                <a:solidFill>
                  <a:srgbClr val="000000"/>
                </a:solidFill>
                <a:latin typeface="Arial"/>
              </a:rPr>
              <a:t>With HA groups: Failover can happen when the device is still UP but degraded (lost pool members, lost trunk links).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COMMON STUDENT MISTAKES</a:t>
            </a:r>
          </a:p>
          <a:p>
            <a:pPr marL="216000" indent="-216000">
              <a:buNone/>
            </a:pPr>
            <a:r>
              <a:rPr lang="en-US" sz="2000" b="0" strike="noStrike" spc="-1">
                <a:solidFill>
                  <a:srgbClr val="000000"/>
                </a:solidFill>
                <a:latin typeface="Arial"/>
              </a:rPr>
              <a:t>- Confusing traffic groups (object containers) with HA groups (health scores)</a:t>
            </a:r>
          </a:p>
          <a:p>
            <a:pPr marL="216000" indent="-216000">
              <a:buNone/>
            </a:pPr>
            <a:r>
              <a:rPr lang="en-US" sz="2000" b="0" strike="noStrike" spc="-1">
                <a:solidFill>
                  <a:srgbClr val="000000"/>
                </a:solidFill>
                <a:latin typeface="Arial"/>
              </a:rPr>
              <a:t>- Thinking traffic groups cause failover (they don't — they're moved BY failover)</a:t>
            </a:r>
          </a:p>
          <a:p>
            <a:pPr marL="216000" indent="-216000">
              <a:buNone/>
            </a:pPr>
            <a:r>
              <a:rPr lang="en-US" sz="2000" b="0" strike="noStrike" spc="-1">
                <a:solidFill>
                  <a:srgbClr val="000000"/>
                </a:solidFill>
                <a:latin typeface="Arial"/>
              </a:rPr>
              <a:t>- Not understanding HA group scoring — it's proportional (available/total × weight), not binary</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F5 DOCUMENTATION: K14592 (traffic groups), K16427 (HA groups), K13946 (failover)</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EXAM QUESTION PATTERNS</a:t>
            </a:r>
          </a:p>
          <a:p>
            <a:pPr marL="216000" indent="-216000">
              <a:buNone/>
            </a:pPr>
            <a:r>
              <a:rPr lang="en-US" sz="2000" b="0" strike="noStrike" spc="-1">
                <a:solidFill>
                  <a:srgbClr val="000000"/>
                </a:solidFill>
                <a:latin typeface="Arial"/>
              </a:rPr>
              <a:t>- "What triggers failover when a pool loses members?" → HA group (if configured)</a:t>
            </a:r>
          </a:p>
          <a:p>
            <a:pPr marL="216000" indent="-216000">
              <a:buNone/>
            </a:pPr>
            <a:r>
              <a:rPr lang="en-US" sz="2000" b="0" strike="noStrike" spc="-1">
                <a:solidFill>
                  <a:srgbClr val="000000"/>
                </a:solidFill>
                <a:latin typeface="Arial"/>
              </a:rPr>
              <a:t>- "Traffic group vs HA group?" → TG = what moves. HA group = when to move.</a:t>
            </a:r>
          </a:p>
          <a:p>
            <a:pPr marL="216000" indent="0">
              <a:lnSpc>
                <a:spcPct val="100000"/>
              </a:lnSpc>
              <a:buNone/>
            </a:pPr>
            <a:r>
              <a:rPr lang="en-US" sz="2000" b="0" strike="noStrike" spc="-1">
                <a:solidFill>
                  <a:srgbClr val="000000"/>
                </a:solidFill>
                <a:latin typeface="Arial"/>
              </a:rPr>
              <a:t>- "All pool members down but no failover. Why?" → HA group not configured, or weight is 0</a:t>
            </a:r>
          </a:p>
        </p:txBody>
      </p:sp>
      <p:sp>
        <p:nvSpPr>
          <p:cNvPr id="2742" name="PlaceHolder 3"/>
          <p:cNvSpPr>
            <a:spLocks noGrp="1"/>
          </p:cNvSpPr>
          <p:nvPr>
            <p:ph type="sldNum" idx="93"/>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CE1AE56D-3E84-4C71-992E-C0488BA717BB}" type="slidenum">
              <a:rPr lang="en-US" sz="1800" b="0" strike="noStrike" spc="-1">
                <a:solidFill>
                  <a:schemeClr val="dk1"/>
                </a:solidFill>
                <a:latin typeface="+mn-lt"/>
                <a:ea typeface="+mn-ea"/>
              </a:rPr>
              <a:t>90</a:t>
            </a:fld>
            <a:endParaRPr lang="en-US" sz="1800" b="0" strike="noStrike" spc="-1">
              <a:solidFill>
                <a:srgbClr val="000000"/>
              </a:solidFill>
              <a:latin typeface="Times New Roman"/>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3" name="PlaceHolder 1"/>
          <p:cNvSpPr>
            <a:spLocks noGrp="1" noRot="1" noChangeAspect="1"/>
          </p:cNvSpPr>
          <p:nvPr>
            <p:ph type="sldImg"/>
          </p:nvPr>
        </p:nvSpPr>
        <p:spPr>
          <a:xfrm>
            <a:off x="0" y="0"/>
            <a:ext cx="0" cy="0"/>
          </a:xfrm>
          <a:prstGeom prst="rect">
            <a:avLst/>
          </a:prstGeom>
          <a:ln w="0">
            <a:noFill/>
          </a:ln>
        </p:spPr>
      </p:sp>
      <p:sp>
        <p:nvSpPr>
          <p:cNvPr id="2744"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This slide provides deep coverage of HA groups (the scoring mechanism) and failsafe mechanisms, directly addressing F5CTSLTM4.02: "Compare and contrast traffic groups vs HA groups" and "Determine what prevented an expected failover."</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FULL TECHNICAL EXPLANATION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HA GROUPS — HEALTH-BASED FAILOVER:</a:t>
            </a:r>
          </a:p>
          <a:p>
            <a:pPr marL="216000" indent="-216000">
              <a:buNone/>
            </a:pPr>
            <a:r>
              <a:rPr lang="en-US" sz="2000" b="0" strike="noStrike" spc="-1">
                <a:solidFill>
                  <a:srgbClr val="000000"/>
                </a:solidFill>
                <a:latin typeface="Arial"/>
              </a:rPr>
              <a:t>HA groups provide intelligent failover based on resource health rather than total device failure. Without HA groups, failover only happens when the active device is completely unreachable (heartbeat lost) or manually triggered. With HA groups, failover can happen when the device is still UP but degraded.</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Configuration:</a:t>
            </a:r>
          </a:p>
          <a:p>
            <a:pPr marL="216000" indent="-216000">
              <a:buNone/>
            </a:pPr>
            <a:r>
              <a:rPr lang="en-US" sz="2000" b="0" strike="noStrike" spc="-1">
                <a:solidFill>
                  <a:srgbClr val="000000"/>
                </a:solidFill>
                <a:latin typeface="Arial"/>
              </a:rPr>
              <a:t>Device Management &gt; Traffic Groups &gt; select traffic group &gt; HA Group section &gt; Enable</a:t>
            </a:r>
          </a:p>
          <a:p>
            <a:pPr marL="216000" indent="-216000">
              <a:buNone/>
            </a:pPr>
            <a:r>
              <a:rPr lang="en-US" sz="2000" b="0" strike="noStrike" spc="-1">
                <a:solidFill>
                  <a:srgbClr val="000000"/>
                </a:solidFill>
                <a:latin typeface="Arial"/>
              </a:rPr>
              <a:t>Then add scored objects:</a:t>
            </a:r>
          </a:p>
          <a:p>
            <a:pPr marL="216000" indent="-216000">
              <a:buNone/>
            </a:pPr>
            <a:r>
              <a:rPr lang="en-US" sz="2000" b="0" strike="noStrike" spc="-1">
                <a:solidFill>
                  <a:srgbClr val="000000"/>
                </a:solidFill>
                <a:latin typeface="Arial"/>
              </a:rPr>
              <a:t>- Pools: Select pools to monitor. Assign a weight (importance) to each pool. The score for each pool = (available members / total members) × weight.</a:t>
            </a:r>
          </a:p>
          <a:p>
            <a:pPr marL="216000" indent="-216000">
              <a:buNone/>
            </a:pPr>
            <a:r>
              <a:rPr lang="en-US" sz="2000" b="0" strike="noStrike" spc="-1">
                <a:solidFill>
                  <a:srgbClr val="000000"/>
                </a:solidFill>
                <a:latin typeface="Arial"/>
              </a:rPr>
              <a:t>- Trunks: Select trunks. Weight per trunk. Score = (active links / total links) × weight.</a:t>
            </a:r>
          </a:p>
          <a:p>
            <a:pPr marL="216000" indent="-216000">
              <a:buNone/>
            </a:pPr>
            <a:r>
              <a:rPr lang="en-US" sz="2000" b="0" strike="noStrike" spc="-1">
                <a:solidFill>
                  <a:srgbClr val="000000"/>
                </a:solidFill>
                <a:latin typeface="Arial"/>
              </a:rPr>
              <a:t>- VLANs: Select VLANs. Weight per VLAN. Score = link status (1 or 0) × weight.</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The total HA group score = sum of all individual object scores.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SCORING EXAMPLE (detailed):</a:t>
            </a:r>
          </a:p>
          <a:p>
            <a:pPr marL="216000" indent="-216000">
              <a:buNone/>
            </a:pPr>
            <a:r>
              <a:rPr lang="en-US" sz="2000" b="0" strike="noStrike" spc="-1">
                <a:solidFill>
                  <a:srgbClr val="000000"/>
                </a:solidFill>
                <a:latin typeface="Arial"/>
              </a:rPr>
              <a:t>Device A (active):</a:t>
            </a:r>
          </a:p>
          <a:p>
            <a:pPr marL="216000" indent="-216000">
              <a:buNone/>
            </a:pPr>
            <a:r>
              <a:rPr lang="en-US" sz="2000" b="0" strike="noStrike" spc="-1">
                <a:solidFill>
                  <a:srgbClr val="000000"/>
                </a:solidFill>
                <a:latin typeface="Arial"/>
              </a:rPr>
              <a:t>  www_pool: 3/3 members up, weight 100 → score = (3/3) × 100 = 100</a:t>
            </a:r>
          </a:p>
          <a:p>
            <a:pPr marL="216000" indent="-216000">
              <a:buNone/>
            </a:pPr>
            <a:r>
              <a:rPr lang="en-US" sz="2000" b="0" strike="noStrike" spc="-1">
                <a:solidFill>
                  <a:srgbClr val="000000"/>
                </a:solidFill>
                <a:latin typeface="Arial"/>
              </a:rPr>
              <a:t>  api_pool: 2/2 members up, weight 50 → score = (2/2) × 50 = 50</a:t>
            </a:r>
          </a:p>
          <a:p>
            <a:pPr marL="216000" indent="-216000">
              <a:buNone/>
            </a:pPr>
            <a:r>
              <a:rPr lang="en-US" sz="2000" b="0" strike="noStrike" spc="-1">
                <a:solidFill>
                  <a:srgbClr val="000000"/>
                </a:solidFill>
                <a:latin typeface="Arial"/>
              </a:rPr>
              <a:t>  trunk1: 2/2 links up, weight 30 → score = (2/2) × 30 = 30</a:t>
            </a:r>
          </a:p>
          <a:p>
            <a:pPr marL="216000" indent="-216000">
              <a:buNone/>
            </a:pPr>
            <a:r>
              <a:rPr lang="en-US" sz="2000" b="0" strike="noStrike" spc="-1">
                <a:solidFill>
                  <a:srgbClr val="000000"/>
                </a:solidFill>
                <a:latin typeface="Arial"/>
              </a:rPr>
              <a:t>  Total: 180</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Device B (standby):</a:t>
            </a:r>
          </a:p>
          <a:p>
            <a:pPr marL="216000" indent="-216000">
              <a:buNone/>
            </a:pPr>
            <a:r>
              <a:rPr lang="en-US" sz="2000" b="0" strike="noStrike" spc="-1">
                <a:solidFill>
                  <a:srgbClr val="000000"/>
                </a:solidFill>
                <a:latin typeface="Arial"/>
              </a:rPr>
              <a:t>  www_pool: 3/3, weight 100 → 100</a:t>
            </a:r>
          </a:p>
          <a:p>
            <a:pPr marL="216000" indent="-216000">
              <a:buNone/>
            </a:pPr>
            <a:r>
              <a:rPr lang="en-US" sz="2000" b="0" strike="noStrike" spc="-1">
                <a:solidFill>
                  <a:srgbClr val="000000"/>
                </a:solidFill>
                <a:latin typeface="Arial"/>
              </a:rPr>
              <a:t>  api_pool: 2/2, weight 50 → 50</a:t>
            </a:r>
          </a:p>
          <a:p>
            <a:pPr marL="216000" indent="-216000">
              <a:buNone/>
            </a:pPr>
            <a:r>
              <a:rPr lang="en-US" sz="2000" b="0" strike="noStrike" spc="-1">
                <a:solidFill>
                  <a:srgbClr val="000000"/>
                </a:solidFill>
                <a:latin typeface="Arial"/>
              </a:rPr>
              <a:t>  trunk1: 2/2, weight 30 → 30</a:t>
            </a:r>
          </a:p>
          <a:p>
            <a:pPr marL="216000" indent="-216000">
              <a:buNone/>
            </a:pPr>
            <a:r>
              <a:rPr lang="en-US" sz="2000" b="0" strike="noStrike" spc="-1">
                <a:solidFill>
                  <a:srgbClr val="000000"/>
                </a:solidFill>
                <a:latin typeface="Arial"/>
              </a:rPr>
              <a:t>  Total: 180</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Now www_pool on Device A loses 2 members:</a:t>
            </a:r>
          </a:p>
          <a:p>
            <a:pPr marL="216000" indent="-216000">
              <a:buNone/>
            </a:pPr>
            <a:r>
              <a:rPr lang="en-US" sz="2000" b="0" strike="noStrike" spc="-1">
                <a:solidFill>
                  <a:srgbClr val="000000"/>
                </a:solidFill>
                <a:latin typeface="Arial"/>
              </a:rPr>
              <a:t>  www_pool: 1/3, weight 100 → score = (1/3) × 100 = 33</a:t>
            </a:r>
          </a:p>
          <a:p>
            <a:pPr marL="216000" indent="-216000">
              <a:buNone/>
            </a:pPr>
            <a:r>
              <a:rPr lang="en-US" sz="2000" b="0" strike="noStrike" spc="-1">
                <a:solidFill>
                  <a:srgbClr val="000000"/>
                </a:solidFill>
                <a:latin typeface="Arial"/>
              </a:rPr>
              <a:t>  Total: 33 + 50 + 30 = 113</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Device B still at 180. Since 180 &gt; 113, Device A's traffic group fails over to Device B.</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IMPORTANT: HA groups are configured PER TRAFFIC GROUP, not per device. Different traffic groups can have different HA group configurations.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FAILSAFE MECHANISMS: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VLAN FAILSAFE:</a:t>
            </a:r>
          </a:p>
          <a:p>
            <a:pPr marL="216000" indent="-216000">
              <a:buNone/>
            </a:pPr>
            <a:r>
              <a:rPr lang="en-US" sz="2000" b="0" strike="noStrike" spc="-1">
                <a:solidFill>
                  <a:srgbClr val="000000"/>
                </a:solidFill>
                <a:latin typeface="Arial"/>
              </a:rPr>
              <a:t>Purpose: Detect when a VLAN goes silent — no traffic at all. This catches "silent failures" where the physical link is still up but the upstream switch or connected network has failed.</a:t>
            </a:r>
          </a:p>
          <a:p>
            <a:pPr marL="216000" indent="-216000">
              <a:buNone/>
            </a:pPr>
            <a:r>
              <a:rPr lang="en-US" sz="2000" b="0" strike="noStrike" spc="-1">
                <a:solidFill>
                  <a:srgbClr val="000000"/>
                </a:solidFill>
                <a:latin typeface="Arial"/>
              </a:rPr>
              <a:t>Configuration: Network &gt; VLANs &gt; select VLAN &gt; Configuration &gt; Failsafe</a:t>
            </a:r>
          </a:p>
          <a:p>
            <a:pPr marL="216000" indent="-216000">
              <a:buNone/>
            </a:pPr>
            <a:r>
              <a:rPr lang="en-US" sz="2000" b="0" strike="noStrike" spc="-1">
                <a:solidFill>
                  <a:srgbClr val="000000"/>
                </a:solidFill>
                <a:latin typeface="Arial"/>
              </a:rPr>
              <a:t>Settings:</a:t>
            </a:r>
          </a:p>
          <a:p>
            <a:pPr marL="216000" indent="-216000">
              <a:buNone/>
            </a:pPr>
            <a:r>
              <a:rPr lang="en-US" sz="2000" b="0" strike="noStrike" spc="-1">
                <a:solidFill>
                  <a:srgbClr val="000000"/>
                </a:solidFill>
                <a:latin typeface="Arial"/>
              </a:rPr>
              <a:t>- Failsafe: Enabled/Disabled</a:t>
            </a:r>
          </a:p>
          <a:p>
            <a:pPr marL="216000" indent="-216000">
              <a:buNone/>
            </a:pPr>
            <a:r>
              <a:rPr lang="en-US" sz="2000" b="0" strike="noStrike" spc="-1">
                <a:solidFill>
                  <a:srgbClr val="000000"/>
                </a:solidFill>
                <a:latin typeface="Arial"/>
              </a:rPr>
              <a:t>- Failsafe Timeout: Number of seconds with no traffic before triggering (default 90 seconds)</a:t>
            </a:r>
          </a:p>
          <a:p>
            <a:pPr marL="216000" indent="-216000">
              <a:buNone/>
            </a:pPr>
            <a:r>
              <a:rPr lang="en-US" sz="2000" b="0" strike="noStrike" spc="-1">
                <a:solidFill>
                  <a:srgbClr val="000000"/>
                </a:solidFill>
                <a:latin typeface="Arial"/>
              </a:rPr>
              <a:t>- Failsafe Action: Failover (trigger HA failover) or Reboot (restart the BIG-IP)</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How it works: The BIG-IP monitors incoming traffic on the VLAN. If NO traffic is received for the timeout period, failsafe triggers. Important: this includes ALL traffic, not just specific types. A completely idle VLAN will trigger failsafe even if nothing is wrong — so only enable on VLANs that should always have traffic.</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TMSH: modify net vlan client_vlan failsafe enabled failsafe-timeout 90 failsafe-action failover</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GATEWAY FAILSAFE:</a:t>
            </a:r>
          </a:p>
          <a:p>
            <a:pPr marL="216000" indent="-216000">
              <a:buNone/>
            </a:pPr>
            <a:r>
              <a:rPr lang="en-US" sz="2000" b="0" strike="noStrike" spc="-1">
                <a:solidFill>
                  <a:srgbClr val="000000"/>
                </a:solidFill>
                <a:latin typeface="Arial"/>
              </a:rPr>
              <a:t>Purpose: Detect when the default gateway (upstream router) becomes unreachable. If the BIG-IP can't reach its gateway, it can't route traffic — even though the device itself is healthy.</a:t>
            </a:r>
          </a:p>
          <a:p>
            <a:pPr marL="216000" indent="-216000">
              <a:buNone/>
            </a:pPr>
            <a:r>
              <a:rPr lang="en-US" sz="2000" b="0" strike="noStrike" spc="-1">
                <a:solidFill>
                  <a:srgbClr val="000000"/>
                </a:solidFill>
                <a:latin typeface="Arial"/>
              </a:rPr>
              <a:t>Configuration: System &gt; High Availability &gt; Gateway Failsafe</a:t>
            </a:r>
          </a:p>
          <a:p>
            <a:pPr marL="216000" indent="-216000">
              <a:buNone/>
            </a:pPr>
            <a:r>
              <a:rPr lang="en-US" sz="2000" b="0" strike="noStrike" spc="-1">
                <a:solidFill>
                  <a:srgbClr val="000000"/>
                </a:solidFill>
                <a:latin typeface="Arial"/>
              </a:rPr>
              <a:t>Settings: Gateway pool (ping the gateway), interval, timeout.</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HARDWARE WATCHDOG:</a:t>
            </a:r>
          </a:p>
          <a:p>
            <a:pPr marL="216000" indent="-216000">
              <a:buNone/>
            </a:pPr>
            <a:r>
              <a:rPr lang="en-US" sz="2000" b="0" strike="noStrike" spc="-1">
                <a:solidFill>
                  <a:srgbClr val="000000"/>
                </a:solidFill>
                <a:latin typeface="Arial"/>
              </a:rPr>
              <a:t>Purpose: Detect TMM process failure. The host OS monitors TMM's heartbeat. If TMM stops responding (crash, hang, resource exhaustion), the hardware watchdog triggers failover automatically.</a:t>
            </a:r>
          </a:p>
          <a:p>
            <a:pPr marL="216000" indent="-216000">
              <a:buNone/>
            </a:pPr>
            <a:r>
              <a:rPr lang="en-US" sz="2000" b="0" strike="noStrike" spc="-1">
                <a:solidFill>
                  <a:srgbClr val="000000"/>
                </a:solidFill>
                <a:latin typeface="Arial"/>
              </a:rPr>
              <a:t>This is always enabled — no configuration needed. It's a last-resort mechanism for catastrophic TMM failure.</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FAILSAFE vs HA GROUPS:</a:t>
            </a:r>
          </a:p>
          <a:p>
            <a:pPr marL="216000" indent="-216000">
              <a:buNone/>
            </a:pPr>
            <a:r>
              <a:rPr lang="en-US" sz="2000" b="0" strike="noStrike" spc="-1">
                <a:solidFill>
                  <a:srgbClr val="000000"/>
                </a:solidFill>
                <a:latin typeface="Arial"/>
              </a:rPr>
              <a:t>- HA groups: Proportional health monitoring. Score changes gradually as resources degrade. Good for "the device is working but degraded" scenarios.</a:t>
            </a:r>
          </a:p>
          <a:p>
            <a:pPr marL="216000" indent="-216000">
              <a:buNone/>
            </a:pPr>
            <a:r>
              <a:rPr lang="en-US" sz="2000" b="0" strike="noStrike" spc="-1">
                <a:solidFill>
                  <a:srgbClr val="000000"/>
                </a:solidFill>
                <a:latin typeface="Arial"/>
              </a:rPr>
              <a:t>- Failsafe: Binary detection. Either traffic is flowing or it's not. Either the gateway responds or it doesn't. Good for "something is completely dead" scenarios.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COMMON STUDENT MISTAKES</a:t>
            </a:r>
          </a:p>
          <a:p>
            <a:pPr marL="216000" indent="-216000">
              <a:buNone/>
            </a:pPr>
            <a:r>
              <a:rPr lang="en-US" sz="2000" b="0" strike="noStrike" spc="-1">
                <a:solidFill>
                  <a:srgbClr val="000000"/>
                </a:solidFill>
                <a:latin typeface="Arial"/>
              </a:rPr>
              <a:t>- Enabling VLAN failsafe on a VLAN that's normally quiet → false positive failover</a:t>
            </a:r>
          </a:p>
          <a:p>
            <a:pPr marL="216000" indent="-216000">
              <a:buNone/>
            </a:pPr>
            <a:r>
              <a:rPr lang="en-US" sz="2000" b="0" strike="noStrike" spc="-1">
                <a:solidFill>
                  <a:srgbClr val="000000"/>
                </a:solidFill>
                <a:latin typeface="Arial"/>
              </a:rPr>
              <a:t>- Not understanding that HA group scores are proportional, not binary (1/3 pool members = 33% score, not 0%)</a:t>
            </a:r>
          </a:p>
          <a:p>
            <a:pPr marL="216000" indent="-216000">
              <a:buNone/>
            </a:pPr>
            <a:r>
              <a:rPr lang="en-US" sz="2000" b="0" strike="noStrike" spc="-1">
                <a:solidFill>
                  <a:srgbClr val="000000"/>
                </a:solidFill>
                <a:latin typeface="Arial"/>
              </a:rPr>
              <a:t>- Confusing HA groups with device groups (device groups are for sync/failover membership; HA groups are for health scoring)</a:t>
            </a:r>
          </a:p>
          <a:p>
            <a:pPr marL="216000" indent="-216000">
              <a:buNone/>
            </a:pPr>
            <a:r>
              <a:rPr lang="en-US" sz="2000" b="0" strike="noStrike" spc="-1">
                <a:solidFill>
                  <a:srgbClr val="000000"/>
                </a:solidFill>
                <a:latin typeface="Arial"/>
              </a:rPr>
              <a:t>- Not configuring any health-based failover (HA groups or failsafe) → device only fails over on total failure or manual action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PIVOT QUESTION</a:t>
            </a:r>
          </a:p>
          <a:p>
            <a:pPr marL="216000" indent="-216000">
              <a:buNone/>
            </a:pPr>
            <a:r>
              <a:rPr lang="en-US" sz="2000" b="0" strike="noStrike" spc="-1">
                <a:solidFill>
                  <a:srgbClr val="000000"/>
                </a:solidFill>
                <a:latin typeface="Arial"/>
              </a:rPr>
              <a:t>"A pool has 4 members with weight 100 in the HA group. Two members fail. The peer device has all 4 members healthy. Does failover occur?"</a:t>
            </a:r>
          </a:p>
          <a:p>
            <a:pPr marL="216000" indent="-216000">
              <a:buNone/>
            </a:pPr>
            <a:r>
              <a:rPr lang="en-US" sz="2000" b="0" strike="noStrike" spc="-1">
                <a:solidFill>
                  <a:srgbClr val="000000"/>
                </a:solidFill>
                <a:latin typeface="Arial"/>
              </a:rPr>
              <a:t>ANSWER: Active device score for this pool = (2/4) × 100 = 50. Peer score = (4/4) × 100 = 100. If this is the only scored object, peer (100) &gt; active (50) → YES, failover occurs. If there are other scored objects, you must calculate the total score for both devices and compare.</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F5 DOCUMENTATION</a:t>
            </a:r>
          </a:p>
          <a:p>
            <a:pPr marL="216000" indent="-216000">
              <a:buNone/>
            </a:pPr>
            <a:r>
              <a:rPr lang="en-US" sz="2000" b="0" strike="noStrike" spc="-1">
                <a:solidFill>
                  <a:srgbClr val="000000"/>
                </a:solidFill>
                <a:latin typeface="Arial"/>
              </a:rPr>
              <a:t>- HA groups: https://my.f5.com/manage/s/article/K16427</a:t>
            </a:r>
          </a:p>
          <a:p>
            <a:pPr marL="216000" indent="-216000">
              <a:buNone/>
            </a:pPr>
            <a:r>
              <a:rPr lang="en-US" sz="2000" b="0" strike="noStrike" spc="-1">
                <a:solidFill>
                  <a:srgbClr val="000000"/>
                </a:solidFill>
                <a:latin typeface="Arial"/>
              </a:rPr>
              <a:t>- VLAN failsafe: https://my.f5.com/manage/s/article/K13297</a:t>
            </a:r>
          </a:p>
          <a:p>
            <a:pPr marL="216000" indent="-216000">
              <a:buNone/>
            </a:pPr>
            <a:r>
              <a:rPr lang="en-US" sz="2000" b="0" strike="noStrike" spc="-1">
                <a:solidFill>
                  <a:srgbClr val="000000"/>
                </a:solidFill>
                <a:latin typeface="Arial"/>
              </a:rPr>
              <a:t>- Gateway failsafe: https://my.f5.com/manage/s/article/K13297</a:t>
            </a:r>
          </a:p>
          <a:p>
            <a:pPr marL="216000" indent="-216000">
              <a:buNone/>
            </a:pPr>
            <a:r>
              <a:rPr lang="en-US" sz="2000" b="0" strike="noStrike" spc="-1">
                <a:solidFill>
                  <a:srgbClr val="000000"/>
                </a:solidFill>
                <a:latin typeface="Arial"/>
              </a:rPr>
              <a:t>- Failover overview: https://my.f5.com/manage/s/article/K13946</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EXAM QUESTION PATTERNS</a:t>
            </a:r>
          </a:p>
          <a:p>
            <a:pPr marL="216000" indent="-216000">
              <a:buNone/>
            </a:pPr>
            <a:r>
              <a:rPr lang="en-US" sz="2000" b="0" strike="noStrike" spc="-1">
                <a:solidFill>
                  <a:srgbClr val="000000"/>
                </a:solidFill>
                <a:latin typeface="Arial"/>
              </a:rPr>
              <a:t>- "Pool members down but no failover. Why?" → HA group not configured (no health scoring)</a:t>
            </a:r>
          </a:p>
          <a:p>
            <a:pPr marL="216000" indent="-216000">
              <a:buNone/>
            </a:pPr>
            <a:r>
              <a:rPr lang="en-US" sz="2000" b="0" strike="noStrike" spc="-1">
                <a:solidFill>
                  <a:srgbClr val="000000"/>
                </a:solidFill>
                <a:latin typeface="Arial"/>
              </a:rPr>
              <a:t>- "VLAN failsafe timeout is 90. No traffic for 60 seconds. Failover?" → No (below timeout)</a:t>
            </a:r>
          </a:p>
          <a:p>
            <a:pPr marL="216000" indent="0">
              <a:lnSpc>
                <a:spcPct val="100000"/>
              </a:lnSpc>
              <a:buNone/>
            </a:pPr>
            <a:r>
              <a:rPr lang="en-US" sz="2000" b="0" strike="noStrike" spc="-1">
                <a:solidFill>
                  <a:srgbClr val="000000"/>
                </a:solidFill>
                <a:latin typeface="Arial"/>
              </a:rPr>
              <a:t>- "HA group score calculation?" → (available / total) × weight per object, sum all objects</a:t>
            </a:r>
          </a:p>
        </p:txBody>
      </p:sp>
      <p:sp>
        <p:nvSpPr>
          <p:cNvPr id="2745" name="PlaceHolder 3"/>
          <p:cNvSpPr>
            <a:spLocks noGrp="1"/>
          </p:cNvSpPr>
          <p:nvPr>
            <p:ph type="sldNum" idx="94"/>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3D14F563-14E6-4E60-A2A2-617ADBA96277}" type="slidenum">
              <a:rPr lang="en-US" sz="1800" b="0" strike="noStrike" spc="-1">
                <a:solidFill>
                  <a:schemeClr val="dk1"/>
                </a:solidFill>
                <a:latin typeface="+mn-lt"/>
                <a:ea typeface="+mn-ea"/>
              </a:rPr>
              <a:t>91</a:t>
            </a:fld>
            <a:endParaRPr lang="en-US" sz="1800" b="0" strike="noStrike" spc="-1">
              <a:solidFill>
                <a:srgbClr val="000000"/>
              </a:solidFill>
              <a:latin typeface="Times New Roman"/>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6" name="PlaceHolder 1"/>
          <p:cNvSpPr>
            <a:spLocks noGrp="1" noRot="1" noChangeAspect="1"/>
          </p:cNvSpPr>
          <p:nvPr>
            <p:ph type="sldImg"/>
          </p:nvPr>
        </p:nvSpPr>
        <p:spPr>
          <a:xfrm>
            <a:off x="0" y="0"/>
            <a:ext cx="0" cy="0"/>
          </a:xfrm>
          <a:prstGeom prst="rect">
            <a:avLst/>
          </a:prstGeom>
          <a:ln w="0">
            <a:noFill/>
          </a:ln>
        </p:spPr>
      </p:sp>
      <p:sp>
        <p:nvSpPr>
          <p:cNvPr id="2747"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This slide patches two gaps: the unicast vs multicast comparison (F5CTSLTM4.11: "Differentiate between unicast and multicast network failover modes") and detailed failover trigger list.</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FULL TECHNICAL EXPLANATION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UNICAST FAILOVER:</a:t>
            </a:r>
          </a:p>
          <a:p>
            <a:pPr marL="216000" indent="-216000">
              <a:buNone/>
            </a:pPr>
            <a:r>
              <a:rPr lang="en-US" sz="2000" b="0" strike="noStrike" spc="-1">
                <a:solidFill>
                  <a:srgbClr val="000000"/>
                </a:solidFill>
                <a:latin typeface="Arial"/>
              </a:rPr>
              <a:t>- Standard method for all BIG-IP platforms (appliance, VE, Viprion)</a:t>
            </a:r>
          </a:p>
          <a:p>
            <a:pPr marL="216000" indent="-216000">
              <a:buNone/>
            </a:pPr>
            <a:r>
              <a:rPr lang="en-US" sz="2000" b="0" strike="noStrike" spc="-1">
                <a:solidFill>
                  <a:srgbClr val="000000"/>
                </a:solidFill>
                <a:latin typeface="Arial"/>
              </a:rPr>
              <a:t>- Each device sends UDP 1026 heartbeat packets directly to the peer's HA self IP</a:t>
            </a:r>
          </a:p>
          <a:p>
            <a:pPr marL="216000" indent="-216000">
              <a:buNone/>
            </a:pPr>
            <a:r>
              <a:rPr lang="en-US" sz="2000" b="0" strike="noStrike" spc="-1">
                <a:solidFill>
                  <a:srgbClr val="000000"/>
                </a:solidFill>
                <a:latin typeface="Arial"/>
              </a:rPr>
              <a:t>- Configured per device: Device Management &gt; Devices &gt; (Self) &gt; Network Failover &gt; Failover Unicast Configuration &gt; Add &gt; HA self IP, Port 1026</a:t>
            </a:r>
          </a:p>
          <a:p>
            <a:pPr marL="216000" indent="-216000">
              <a:buNone/>
            </a:pPr>
            <a:r>
              <a:rPr lang="en-US" sz="2000" b="0" strike="noStrike" spc="-1">
                <a:solidFill>
                  <a:srgbClr val="000000"/>
                </a:solidFill>
                <a:latin typeface="Arial"/>
              </a:rPr>
              <a:t>- MULTIPLE UNICAST ADDRESSES: You can configure more than one unicast address per device. If ANY address becomes unreachable, failover is triggered. This is aggressive — it's designed for fast failure detection. Use case: configure both HA VLAN IP and management IP for redundancy.</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MULTICAST FAILOVER:</a:t>
            </a:r>
          </a:p>
          <a:p>
            <a:pPr marL="216000" indent="-216000">
              <a:buNone/>
            </a:pPr>
            <a:r>
              <a:rPr lang="en-US" sz="2000" b="0" strike="noStrike" spc="-1">
                <a:solidFill>
                  <a:srgbClr val="000000"/>
                </a:solidFill>
                <a:latin typeface="Arial"/>
              </a:rPr>
              <a:t>- Viprion chassis ONLY — used for inter-blade failover within a chassis</a:t>
            </a:r>
          </a:p>
          <a:p>
            <a:pPr marL="216000" indent="-216000">
              <a:buNone/>
            </a:pPr>
            <a:r>
              <a:rPr lang="en-US" sz="2000" b="0" strike="noStrike" spc="-1">
                <a:solidFill>
                  <a:srgbClr val="000000"/>
                </a:solidFill>
                <a:latin typeface="Arial"/>
              </a:rPr>
              <a:t>- Uses multicast group address 224.0.0.245 on UDP 1026</a:t>
            </a:r>
          </a:p>
          <a:p>
            <a:pPr marL="216000" indent="-216000">
              <a:buNone/>
            </a:pPr>
            <a:r>
              <a:rPr lang="en-US" sz="2000" b="0" strike="noStrike" spc="-1">
                <a:solidFill>
                  <a:srgbClr val="000000"/>
                </a:solidFill>
                <a:latin typeface="Arial"/>
              </a:rPr>
              <a:t>- All blades in the chassis participate in the multicast group</a:t>
            </a:r>
          </a:p>
          <a:p>
            <a:pPr marL="216000" indent="-216000">
              <a:buNone/>
            </a:pPr>
            <a:r>
              <a:rPr lang="en-US" sz="2000" b="0" strike="noStrike" spc="-1">
                <a:solidFill>
                  <a:srgbClr val="000000"/>
                </a:solidFill>
                <a:latin typeface="Arial"/>
              </a:rPr>
              <a:t>- Not applicable to standard BIG-IP appliances or VE</a:t>
            </a:r>
          </a:p>
          <a:p>
            <a:pPr marL="216000" indent="-216000">
              <a:buNone/>
            </a:pPr>
            <a:r>
              <a:rPr lang="en-US" sz="2000" b="0" strike="noStrike" spc="-1">
                <a:solidFill>
                  <a:srgbClr val="000000"/>
                </a:solidFill>
                <a:latin typeface="Arial"/>
              </a:rPr>
              <a:t>- Enabled under: Device Management &gt; Devices &gt; (Self) &gt; Network Failover &gt; Failover Multicast Configuration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WHEN DOES FAILOVER HAPPEN:</a:t>
            </a:r>
          </a:p>
          <a:p>
            <a:pPr marL="216000" indent="-216000">
              <a:buNone/>
            </a:pPr>
            <a:r>
              <a:rPr lang="en-US" sz="2000" b="0" strike="noStrike" spc="-1">
                <a:solidFill>
                  <a:srgbClr val="000000"/>
                </a:solidFill>
                <a:latin typeface="Arial"/>
              </a:rPr>
              <a:t>1. Network failover: Heartbeat lost → standby waits for the failover timeout → promotes to active</a:t>
            </a:r>
          </a:p>
          <a:p>
            <a:pPr marL="216000" indent="-216000">
              <a:buNone/>
            </a:pPr>
            <a:r>
              <a:rPr lang="en-US" sz="2000" b="0" strike="noStrike" spc="-1">
                <a:solidFill>
                  <a:srgbClr val="000000"/>
                </a:solidFill>
                <a:latin typeface="Arial"/>
              </a:rPr>
              <a:t>2. Manual: Admin clicks Force to Standby → immediate failover</a:t>
            </a:r>
          </a:p>
          <a:p>
            <a:pPr marL="216000" indent="-216000">
              <a:buNone/>
            </a:pPr>
            <a:r>
              <a:rPr lang="en-US" sz="2000" b="0" strike="noStrike" spc="-1">
                <a:solidFill>
                  <a:srgbClr val="000000"/>
                </a:solidFill>
                <a:latin typeface="Arial"/>
              </a:rPr>
              <a:t>3. HA group: Active device's health score drops below standby → automatic failover</a:t>
            </a:r>
          </a:p>
          <a:p>
            <a:pPr marL="216000" indent="-216000">
              <a:buNone/>
            </a:pPr>
            <a:r>
              <a:rPr lang="en-US" sz="2000" b="0" strike="noStrike" spc="-1">
                <a:solidFill>
                  <a:srgbClr val="000000"/>
                </a:solidFill>
                <a:latin typeface="Arial"/>
              </a:rPr>
              <a:t>4. Failsafe: Interface or VLAN goes down → triggers failover if failsafe is configured</a:t>
            </a:r>
          </a:p>
          <a:p>
            <a:pPr marL="216000" indent="-216000">
              <a:buNone/>
            </a:pPr>
            <a:r>
              <a:rPr lang="en-US" sz="2000" b="0" strike="noStrike" spc="-1">
                <a:solidFill>
                  <a:srgbClr val="000000"/>
                </a:solidFill>
                <a:latin typeface="Arial"/>
              </a:rPr>
              <a:t>5. System failure: TMM crash, kernel panic, power loss → standby detects loss of heartbeat</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WHAT HAPPENS DURING FAILOVER:</a:t>
            </a:r>
          </a:p>
          <a:p>
            <a:pPr marL="216000" indent="-216000">
              <a:buNone/>
            </a:pPr>
            <a:r>
              <a:rPr lang="en-US" sz="2000" b="0" strike="noStrike" spc="-1">
                <a:solidFill>
                  <a:srgbClr val="000000"/>
                </a:solidFill>
                <a:latin typeface="Arial"/>
              </a:rPr>
              <a:t>1. Standby detects active failure</a:t>
            </a:r>
          </a:p>
          <a:p>
            <a:pPr marL="216000" indent="-216000">
              <a:buNone/>
            </a:pPr>
            <a:r>
              <a:rPr lang="en-US" sz="2000" b="0" strike="noStrike" spc="-1">
                <a:solidFill>
                  <a:srgbClr val="000000"/>
                </a:solidFill>
                <a:latin typeface="Arial"/>
              </a:rPr>
              <a:t>2. Standby promotes to Active status</a:t>
            </a:r>
          </a:p>
          <a:p>
            <a:pPr marL="216000" indent="-216000">
              <a:buNone/>
            </a:pPr>
            <a:r>
              <a:rPr lang="en-US" sz="2000" b="0" strike="noStrike" spc="-1">
                <a:solidFill>
                  <a:srgbClr val="000000"/>
                </a:solidFill>
                <a:latin typeface="Arial"/>
              </a:rPr>
              <a:t>3. Floating objects (VIPs, self IPs in traffic groups) move to new active</a:t>
            </a:r>
          </a:p>
          <a:p>
            <a:pPr marL="216000" indent="-216000">
              <a:buNone/>
            </a:pPr>
            <a:r>
              <a:rPr lang="en-US" sz="2000" b="0" strike="noStrike" spc="-1">
                <a:solidFill>
                  <a:srgbClr val="000000"/>
                </a:solidFill>
                <a:latin typeface="Arial"/>
              </a:rPr>
              <a:t>4. Gratuitous ARPs sent for all floating IPs (updates switch MAC tables)</a:t>
            </a:r>
          </a:p>
          <a:p>
            <a:pPr marL="216000" indent="-216000">
              <a:buNone/>
            </a:pPr>
            <a:r>
              <a:rPr lang="en-US" sz="2000" b="0" strike="noStrike" spc="-1">
                <a:solidFill>
                  <a:srgbClr val="000000"/>
                </a:solidFill>
                <a:latin typeface="Arial"/>
              </a:rPr>
              <a:t>5. New active device starts processing traffic</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F5 DOCUMENTATION: K13946, K14592, K75975904 (failover troubleshooting), K54622241 (mirroring)</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EXAM QUESTION PATTERNS</a:t>
            </a:r>
          </a:p>
          <a:p>
            <a:pPr marL="216000" indent="-216000">
              <a:buNone/>
            </a:pPr>
            <a:r>
              <a:rPr lang="en-US" sz="2000" b="0" strike="noStrike" spc="-1">
                <a:solidFill>
                  <a:srgbClr val="000000"/>
                </a:solidFill>
                <a:latin typeface="Arial"/>
              </a:rPr>
              <a:t>- "Unicast vs multicast?" → Unicast = IP-based, all platforms. Multicast = Viprion only, 224.0.0.245.</a:t>
            </a:r>
          </a:p>
          <a:p>
            <a:pPr marL="216000" indent="-216000">
              <a:buNone/>
            </a:pPr>
            <a:r>
              <a:rPr lang="en-US" sz="2000" b="0" strike="noStrike" spc="-1">
                <a:solidFill>
                  <a:srgbClr val="000000"/>
                </a:solidFill>
                <a:latin typeface="Arial"/>
              </a:rPr>
              <a:t>- "Multiple unicast addresses. One fails. Failover?" → YES (ANY failure triggers)</a:t>
            </a:r>
          </a:p>
          <a:p>
            <a:pPr marL="216000" indent="0">
              <a:lnSpc>
                <a:spcPct val="100000"/>
              </a:lnSpc>
              <a:buNone/>
            </a:pPr>
            <a:r>
              <a:rPr lang="en-US" sz="2000" b="0" strike="noStrike" spc="-1">
                <a:solidFill>
                  <a:srgbClr val="000000"/>
                </a:solidFill>
                <a:latin typeface="Arial"/>
              </a:rPr>
              <a:t>- "Without mirroring, what happens on failover?" → All connections and persistence lost</a:t>
            </a:r>
          </a:p>
        </p:txBody>
      </p:sp>
      <p:sp>
        <p:nvSpPr>
          <p:cNvPr id="2748" name="PlaceHolder 3"/>
          <p:cNvSpPr>
            <a:spLocks noGrp="1"/>
          </p:cNvSpPr>
          <p:nvPr>
            <p:ph type="sldNum" idx="95"/>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88148055-855E-4E43-9318-82938DF0C522}" type="slidenum">
              <a:rPr lang="en-US" sz="1800" b="0" strike="noStrike" spc="-1">
                <a:solidFill>
                  <a:schemeClr val="dk1"/>
                </a:solidFill>
                <a:latin typeface="+mn-lt"/>
                <a:ea typeface="+mn-ea"/>
              </a:rPr>
              <a:t>92</a:t>
            </a:fld>
            <a:endParaRPr lang="en-US" sz="1800" b="0" strike="noStrike" spc="-1">
              <a:solidFill>
                <a:srgbClr val="000000"/>
              </a:solidFill>
              <a:latin typeface="Times New Roman"/>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9" name="PlaceHolder 1"/>
          <p:cNvSpPr>
            <a:spLocks noGrp="1" noRot="1" noChangeAspect="1"/>
          </p:cNvSpPr>
          <p:nvPr>
            <p:ph type="sldImg"/>
          </p:nvPr>
        </p:nvSpPr>
        <p:spPr>
          <a:xfrm>
            <a:off x="0" y="0"/>
            <a:ext cx="0" cy="0"/>
          </a:xfrm>
          <a:prstGeom prst="rect">
            <a:avLst/>
          </a:prstGeom>
          <a:ln w="0">
            <a:noFill/>
          </a:ln>
        </p:spPr>
      </p:sp>
      <p:sp>
        <p:nvSpPr>
          <p:cNvPr id="2750"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This slide patches the log interpretation gap for both F5CTSLTM4.11 ("Identify the cause of failover using logs and statistics") and F5CTSLTM4.12 ("Interpret log messages to determine the cause of high availability issues").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FULL TECHNICAL EXPLANATION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LOG FILE: /var/log/ltm</a:t>
            </a:r>
          </a:p>
          <a:p>
            <a:pPr marL="216000" indent="-216000">
              <a:buNone/>
            </a:pPr>
            <a:r>
              <a:rPr lang="en-US" sz="2000" b="0" strike="noStrike" spc="-1">
                <a:solidFill>
                  <a:srgbClr val="000000"/>
                </a:solidFill>
                <a:latin typeface="Arial"/>
              </a:rPr>
              <a:t>All HA-related events are logged here. Key message patterns: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FAILOVER EVENTS:</a:t>
            </a:r>
          </a:p>
          <a:p>
            <a:pPr marL="216000" indent="-216000">
              <a:buNone/>
            </a:pPr>
            <a:r>
              <a:rPr lang="en-US" sz="2000" b="0" strike="noStrike" spc="-1">
                <a:solidFill>
                  <a:srgbClr val="000000"/>
                </a:solidFill>
                <a:latin typeface="Arial"/>
              </a:rPr>
              <a:t>- "ACTIVE for traffic group traffic-group-1" → Device just became active for that TG. Check: was this intentional (manual failover) or unexpected (heartbeat loss, HA group score)?</a:t>
            </a:r>
          </a:p>
          <a:p>
            <a:pPr marL="216000" indent="-216000">
              <a:buNone/>
            </a:pPr>
            <a:r>
              <a:rPr lang="en-US" sz="2000" b="0" strike="noStrike" spc="-1">
                <a:solidFill>
                  <a:srgbClr val="000000"/>
                </a:solidFill>
                <a:latin typeface="Arial"/>
              </a:rPr>
              <a:t>- "STANDBY for traffic group traffic-group-1" → Device went to standby. Normal after Force to Standby.</a:t>
            </a:r>
          </a:p>
          <a:p>
            <a:pPr marL="216000" indent="-216000">
              <a:buNone/>
            </a:pPr>
            <a:r>
              <a:rPr lang="en-US" sz="2000" b="0" strike="noStrike" spc="-1">
                <a:solidFill>
                  <a:srgbClr val="000000"/>
                </a:solidFill>
                <a:latin typeface="Arial"/>
              </a:rPr>
              <a:t>- "no longer hearing from device" → Network failover heartbeat lost. The device stopped receiving UDP 1026 from its peer. Causes: HA VLAN down, port lockdown blocking 1026, cable failure, peer device crashed.</a:t>
            </a:r>
          </a:p>
          <a:p>
            <a:pPr marL="216000" indent="-216000">
              <a:buNone/>
            </a:pPr>
            <a:r>
              <a:rPr lang="en-US" sz="2000" b="0" strike="noStrike" spc="-1">
                <a:solidFill>
                  <a:srgbClr val="000000"/>
                </a:solidFill>
                <a:latin typeface="Arial"/>
              </a:rPr>
              <a:t>- "Failover condition" → Generic failover trigger. Check preceding log entries for the specific cause.</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CONFIG SYNC EVENTS:</a:t>
            </a:r>
          </a:p>
          <a:p>
            <a:pPr marL="216000" indent="-216000">
              <a:buNone/>
            </a:pPr>
            <a:r>
              <a:rPr lang="en-US" sz="2000" b="0" strike="noStrike" spc="-1">
                <a:solidFill>
                  <a:srgbClr val="000000"/>
                </a:solidFill>
                <a:latin typeface="Arial"/>
              </a:rPr>
              <a:t>- "is not in sync" → Configuration has changed on one device and hasn't been synced. The GUI shows "Changes Pending" in yellow.</a:t>
            </a:r>
          </a:p>
          <a:p>
            <a:pPr marL="216000" indent="-216000">
              <a:buNone/>
            </a:pPr>
            <a:r>
              <a:rPr lang="en-US" sz="2000" b="0" strike="noStrike" spc="-1">
                <a:solidFill>
                  <a:srgbClr val="000000"/>
                </a:solidFill>
                <a:latin typeface="Arial"/>
              </a:rPr>
              <a:t>- "config sync failed" → Sync attempted but failed. Common causes:</a:t>
            </a:r>
          </a:p>
          <a:p>
            <a:pPr marL="216000" indent="-216000">
              <a:buNone/>
            </a:pPr>
            <a:r>
              <a:rPr lang="en-US" sz="2000" b="0" strike="noStrike" spc="-1">
                <a:solidFill>
                  <a:srgbClr val="000000"/>
                </a:solidFill>
                <a:latin typeface="Arial"/>
              </a:rPr>
              <a:t>  1. TCP 4353 blocked (port lockdown)</a:t>
            </a:r>
          </a:p>
          <a:p>
            <a:pPr marL="216000" indent="-216000">
              <a:buNone/>
            </a:pPr>
            <a:r>
              <a:rPr lang="en-US" sz="2000" b="0" strike="noStrike" spc="-1">
                <a:solidFill>
                  <a:srgbClr val="000000"/>
                </a:solidFill>
                <a:latin typeface="Arial"/>
              </a:rPr>
              <a:t>  2. Object dependency error (object A references object B which doesn't exist on the peer)</a:t>
            </a:r>
          </a:p>
          <a:p>
            <a:pPr marL="216000" indent="-216000">
              <a:buNone/>
            </a:pPr>
            <a:r>
              <a:rPr lang="en-US" sz="2000" b="0" strike="noStrike" spc="-1">
                <a:solidFill>
                  <a:srgbClr val="000000"/>
                </a:solidFill>
                <a:latin typeface="Arial"/>
              </a:rPr>
              <a:t>  3. Certificate trust issue (expired cert, trust not established)</a:t>
            </a:r>
          </a:p>
          <a:p>
            <a:pPr marL="216000" indent="-216000">
              <a:buNone/>
            </a:pPr>
            <a:r>
              <a:rPr lang="en-US" sz="2000" b="0" strike="noStrike" spc="-1">
                <a:solidFill>
                  <a:srgbClr val="000000"/>
                </a:solidFill>
                <a:latin typeface="Arial"/>
              </a:rPr>
              <a:t>  4. Provisioning mismatch (one device has AVR, the other doesn't)</a:t>
            </a:r>
          </a:p>
          <a:p>
            <a:pPr marL="216000" indent="-216000">
              <a:buNone/>
            </a:pPr>
            <a:r>
              <a:rPr lang="en-US" sz="2000" b="0" strike="noStrike" spc="-1">
                <a:solidFill>
                  <a:srgbClr val="000000"/>
                </a:solidFill>
                <a:latin typeface="Arial"/>
              </a:rPr>
              <a:t>- "config sync completed successfully" → Sync worked. Both devices in sync.</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TRUST EVENTS:</a:t>
            </a:r>
          </a:p>
          <a:p>
            <a:pPr marL="216000" indent="-216000">
              <a:buNone/>
            </a:pPr>
            <a:r>
              <a:rPr lang="en-US" sz="2000" b="0" strike="noStrike" spc="-1">
                <a:solidFill>
                  <a:srgbClr val="000000"/>
                </a:solidFill>
                <a:latin typeface="Arial"/>
              </a:rPr>
              <a:t>- "device trust certificate expired" → CRITICAL. The device certificate used for trust has expired. ALL HA communication fails — no sync, no failover, no mirroring. Fix: renew certificate with a long lifetime, reset device trust.</a:t>
            </a:r>
          </a:p>
          <a:p>
            <a:pPr marL="216000" indent="-216000">
              <a:buNone/>
            </a:pPr>
            <a:r>
              <a:rPr lang="en-US" sz="2000" b="0" strike="noStrike" spc="-1">
                <a:solidFill>
                  <a:srgbClr val="000000"/>
                </a:solidFill>
                <a:latin typeface="Arial"/>
              </a:rPr>
              <a:t>- "peer certificate verification failed" → Trust certificate validation failed. May occur after certificate renewal on one device but not the other.</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TMSH STATUS COMMANDS:</a:t>
            </a:r>
          </a:p>
          <a:p>
            <a:pPr marL="216000" indent="-216000">
              <a:buNone/>
            </a:pPr>
            <a:r>
              <a:rPr lang="en-US" sz="2000" b="0" strike="noStrike" spc="-1">
                <a:solidFill>
                  <a:srgbClr val="000000"/>
                </a:solidFill>
                <a:latin typeface="Arial"/>
              </a:rPr>
              <a:t>show cm sync-status → Shows current sync state:</a:t>
            </a:r>
          </a:p>
          <a:p>
            <a:pPr marL="216000" indent="-216000">
              <a:buNone/>
            </a:pPr>
            <a:r>
              <a:rPr lang="en-US" sz="2000" b="0" strike="noStrike" spc="-1">
                <a:solidFill>
                  <a:srgbClr val="000000"/>
                </a:solidFill>
                <a:latin typeface="Arial"/>
              </a:rPr>
              <a:t>  - "In Sync" (green) → Both devices have identical config</a:t>
            </a:r>
          </a:p>
          <a:p>
            <a:pPr marL="216000" indent="-216000">
              <a:buNone/>
            </a:pPr>
            <a:r>
              <a:rPr lang="en-US" sz="2000" b="0" strike="noStrike" spc="-1">
                <a:solidFill>
                  <a:srgbClr val="000000"/>
                </a:solidFill>
                <a:latin typeface="Arial"/>
              </a:rPr>
              <a:t>  - "Changes Pending" (yellow) → Config changed, needs sync</a:t>
            </a:r>
          </a:p>
          <a:p>
            <a:pPr marL="216000" indent="-216000">
              <a:buNone/>
            </a:pPr>
            <a:r>
              <a:rPr lang="en-US" sz="2000" b="0" strike="noStrike" spc="-1">
                <a:solidFill>
                  <a:srgbClr val="000000"/>
                </a:solidFill>
                <a:latin typeface="Arial"/>
              </a:rPr>
              <a:t>  - "Awaiting Initial Sync" (yellow) → Group created but never synced</a:t>
            </a:r>
          </a:p>
          <a:p>
            <a:pPr marL="216000" indent="-216000">
              <a:buNone/>
            </a:pPr>
            <a:r>
              <a:rPr lang="en-US" sz="2000" b="0" strike="noStrike" spc="-1">
                <a:solidFill>
                  <a:srgbClr val="000000"/>
                </a:solidFill>
                <a:latin typeface="Arial"/>
              </a:rPr>
              <a:t>  - "Disconnected" (red) → Cannot reach peer for sync</a:t>
            </a:r>
          </a:p>
          <a:p>
            <a:pPr marL="216000" indent="-216000">
              <a:buNone/>
            </a:pPr>
            <a:r>
              <a:rPr lang="en-US" sz="2000" b="0" strike="noStrike" spc="-1">
                <a:solidFill>
                  <a:srgbClr val="000000"/>
                </a:solidFill>
                <a:latin typeface="Arial"/>
              </a:rPr>
              <a:t>  - "Not All Devices Synced" (red) → Sync failed on one or more devices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show sys failover → Shows:</a:t>
            </a:r>
          </a:p>
          <a:p>
            <a:pPr marL="216000" indent="-216000">
              <a:buNone/>
            </a:pPr>
            <a:r>
              <a:rPr lang="en-US" sz="2000" b="0" strike="noStrike" spc="-1">
                <a:solidFill>
                  <a:srgbClr val="000000"/>
                </a:solidFill>
                <a:latin typeface="Arial"/>
              </a:rPr>
              <a:t>  - "active" → Device is processing traffic</a:t>
            </a:r>
          </a:p>
          <a:p>
            <a:pPr marL="216000" indent="-216000">
              <a:buNone/>
            </a:pPr>
            <a:r>
              <a:rPr lang="en-US" sz="2000" b="0" strike="noStrike" spc="-1">
                <a:solidFill>
                  <a:srgbClr val="000000"/>
                </a:solidFill>
                <a:latin typeface="Arial"/>
              </a:rPr>
              <a:t>  - "standby" → Device is waiting (traffic groups on peer)</a:t>
            </a:r>
          </a:p>
          <a:p>
            <a:pPr marL="216000" indent="-216000">
              <a:buNone/>
            </a:pPr>
            <a:r>
              <a:rPr lang="en-US" sz="2000" b="0" strike="noStrike" spc="-1">
                <a:solidFill>
                  <a:srgbClr val="000000"/>
                </a:solidFill>
                <a:latin typeface="Arial"/>
              </a:rPr>
              <a:t>  - "offline" → Device is forced offline or in error state</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show cm device-group → Shows device group members, sync status, and failover status per group.</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show cm traffic-group → Shows which device is active for each traffic group. Critical for active/active troubleshooting.</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TROUBLESHOOTING WORKFLOW:</a:t>
            </a:r>
          </a:p>
          <a:p>
            <a:pPr marL="216000" indent="-216000">
              <a:buNone/>
            </a:pPr>
            <a:r>
              <a:rPr lang="en-US" sz="2000" b="0" strike="noStrike" spc="-1">
                <a:solidFill>
                  <a:srgbClr val="000000"/>
                </a:solidFill>
                <a:latin typeface="Arial"/>
              </a:rPr>
              <a:t>1. Check sync status: show cm sync-status → identify the state</a:t>
            </a:r>
          </a:p>
          <a:p>
            <a:pPr marL="216000" indent="-216000">
              <a:buNone/>
            </a:pPr>
            <a:r>
              <a:rPr lang="en-US" sz="2000" b="0" strike="noStrike" spc="-1">
                <a:solidFill>
                  <a:srgbClr val="000000"/>
                </a:solidFill>
                <a:latin typeface="Arial"/>
              </a:rPr>
              <a:t>2. Check failover: show sys failover → active/standby/offline</a:t>
            </a:r>
          </a:p>
          <a:p>
            <a:pPr marL="216000" indent="-216000">
              <a:buNone/>
            </a:pPr>
            <a:r>
              <a:rPr lang="en-US" sz="2000" b="0" strike="noStrike" spc="-1">
                <a:solidFill>
                  <a:srgbClr val="000000"/>
                </a:solidFill>
                <a:latin typeface="Arial"/>
              </a:rPr>
              <a:t>3. Check logs: tail -f /var/log/ltm | grep -iE 'failover|sync|trust' → find the cause</a:t>
            </a:r>
          </a:p>
          <a:p>
            <a:pPr marL="216000" indent="-216000">
              <a:buNone/>
            </a:pPr>
            <a:r>
              <a:rPr lang="en-US" sz="2000" b="0" strike="noStrike" spc="-1">
                <a:solidFill>
                  <a:srgbClr val="000000"/>
                </a:solidFill>
                <a:latin typeface="Arial"/>
              </a:rPr>
              <a:t>4. Check ports: verify TCP 4353 and UDP 1026 are open (port lockdown)</a:t>
            </a:r>
          </a:p>
          <a:p>
            <a:pPr marL="216000" indent="-216000">
              <a:buNone/>
            </a:pPr>
            <a:r>
              <a:rPr lang="en-US" sz="2000" b="0" strike="noStrike" spc="-1">
                <a:solidFill>
                  <a:srgbClr val="000000"/>
                </a:solidFill>
                <a:latin typeface="Arial"/>
              </a:rPr>
              <a:t>5. Check NTP: ntpq -p → verify time is synchronized (clock skew breaks trust)</a:t>
            </a:r>
          </a:p>
          <a:p>
            <a:pPr marL="216000" indent="-216000">
              <a:buNone/>
            </a:pPr>
            <a:r>
              <a:rPr lang="en-US" sz="2000" b="0" strike="noStrike" spc="-1">
                <a:solidFill>
                  <a:srgbClr val="000000"/>
                </a:solidFill>
                <a:latin typeface="Arial"/>
              </a:rPr>
              <a:t>6. Check certs: show sys device-certificate → verify expiration date</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COMMON STUDENT MISTAKES</a:t>
            </a:r>
          </a:p>
          <a:p>
            <a:pPr marL="216000" indent="-216000">
              <a:buNone/>
            </a:pPr>
            <a:r>
              <a:rPr lang="en-US" sz="2000" b="0" strike="noStrike" spc="-1">
                <a:solidFill>
                  <a:srgbClr val="000000"/>
                </a:solidFill>
                <a:latin typeface="Arial"/>
              </a:rPr>
              <a:t>- Not checking logs when sync fails — the error message usually tells you exactly what's wrong</a:t>
            </a:r>
          </a:p>
          <a:p>
            <a:pPr marL="216000" indent="-216000">
              <a:buNone/>
            </a:pPr>
            <a:r>
              <a:rPr lang="en-US" sz="2000" b="0" strike="noStrike" spc="-1">
                <a:solidFill>
                  <a:srgbClr val="000000"/>
                </a:solidFill>
                <a:latin typeface="Arial"/>
              </a:rPr>
              <a:t>- Forgetting that certificate expiration breaks ALL HA communication (not just trust)</a:t>
            </a:r>
          </a:p>
          <a:p>
            <a:pPr marL="216000" indent="-216000">
              <a:buNone/>
            </a:pPr>
            <a:r>
              <a:rPr lang="en-US" sz="2000" b="0" strike="noStrike" spc="-1">
                <a:solidFill>
                  <a:srgbClr val="000000"/>
                </a:solidFill>
                <a:latin typeface="Arial"/>
              </a:rPr>
              <a:t>- Not understanding "Changes Pending" — it requires manual sync action, it doesn't auto-sync</a:t>
            </a:r>
          </a:p>
          <a:p>
            <a:pPr marL="216000" indent="-216000">
              <a:buNone/>
            </a:pPr>
            <a:r>
              <a:rPr lang="en-US" sz="2000" b="0" strike="noStrike" spc="-1">
                <a:solidFill>
                  <a:srgbClr val="000000"/>
                </a:solidFill>
                <a:latin typeface="Arial"/>
              </a:rPr>
              <a:t>- Assuming "Disconnected" means the peer is down — it might be a port lockdown or VLAN issue</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F5 DOCUMENTATION: K13946, K75975904 (failover troubleshooting), K95002127 (failover events), K13295 (sync troubleshooting)</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EXAM QUESTION PATTERNS</a:t>
            </a:r>
          </a:p>
          <a:p>
            <a:pPr marL="216000" indent="-216000">
              <a:buNone/>
            </a:pPr>
            <a:r>
              <a:rPr lang="en-US" sz="2000" b="0" strike="noStrike" spc="-1">
                <a:solidFill>
                  <a:srgbClr val="000000"/>
                </a:solidFill>
                <a:latin typeface="Arial"/>
              </a:rPr>
              <a:t>- "Config sync status shows 'Disconnected'. What do you check?" → TCP 4353, HA VLAN, port lockdown, device trust</a:t>
            </a:r>
          </a:p>
          <a:p>
            <a:pPr marL="216000" indent="-216000">
              <a:buNone/>
            </a:pPr>
            <a:r>
              <a:rPr lang="en-US" sz="2000" b="0" strike="noStrike" spc="-1">
                <a:solidFill>
                  <a:srgbClr val="000000"/>
                </a:solidFill>
                <a:latin typeface="Arial"/>
              </a:rPr>
              <a:t>- "Log shows 'no longer hearing from device'. Cause?" → Network failover heartbeat lost (UDP 1026)</a:t>
            </a:r>
          </a:p>
          <a:p>
            <a:pPr marL="216000" indent="0">
              <a:lnSpc>
                <a:spcPct val="100000"/>
              </a:lnSpc>
              <a:buNone/>
            </a:pPr>
            <a:r>
              <a:rPr lang="en-US" sz="2000" b="0" strike="noStrike" spc="-1">
                <a:solidFill>
                  <a:srgbClr val="000000"/>
                </a:solidFill>
                <a:latin typeface="Arial"/>
              </a:rPr>
              <a:t>- "Device trust cert expired. Impact?" → All HA fails — no sync, no failover, no mirroring</a:t>
            </a:r>
          </a:p>
        </p:txBody>
      </p:sp>
      <p:sp>
        <p:nvSpPr>
          <p:cNvPr id="2751" name="PlaceHolder 3"/>
          <p:cNvSpPr>
            <a:spLocks noGrp="1"/>
          </p:cNvSpPr>
          <p:nvPr>
            <p:ph type="sldNum" idx="96"/>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59DEEC74-939E-462C-8135-DCB5664D2F6F}" type="slidenum">
              <a:rPr lang="en-US" sz="1800" b="0" strike="noStrike" spc="-1">
                <a:solidFill>
                  <a:schemeClr val="dk1"/>
                </a:solidFill>
                <a:latin typeface="+mn-lt"/>
                <a:ea typeface="+mn-ea"/>
              </a:rPr>
              <a:t>93</a:t>
            </a:fld>
            <a:endParaRPr lang="en-US" sz="1800" b="0" strike="noStrike" spc="-1">
              <a:solidFill>
                <a:srgbClr val="000000"/>
              </a:solidFill>
              <a:latin typeface="Times New Roman"/>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2" name="PlaceHolder 1"/>
          <p:cNvSpPr>
            <a:spLocks noGrp="1" noRot="1" noChangeAspect="1"/>
          </p:cNvSpPr>
          <p:nvPr>
            <p:ph type="sldImg"/>
          </p:nvPr>
        </p:nvSpPr>
        <p:spPr>
          <a:xfrm>
            <a:off x="0" y="0"/>
            <a:ext cx="0" cy="0"/>
          </a:xfrm>
          <a:prstGeom prst="rect">
            <a:avLst/>
          </a:prstGeom>
          <a:ln w="0">
            <a:noFill/>
          </a:ln>
        </p:spPr>
      </p:sp>
      <p:sp>
        <p:nvSpPr>
          <p:cNvPr id="2753"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Lab launch. Three activities.</a:t>
            </a:r>
          </a:p>
          <a:p>
            <a:pPr marL="216000" indent="0">
              <a:lnSpc>
                <a:spcPct val="100000"/>
              </a:lnSpc>
              <a:buNone/>
            </a:pPr>
            <a:r>
              <a:rPr lang="en-US" sz="2000" b="0" strike="noStrike" spc="-1">
                <a:solidFill>
                  <a:srgbClr val="000000"/>
                </a:solidFill>
                <a:latin typeface="Arial"/>
              </a:rPr>
              <a:t>F5 DOCUMENTATION: K13946, K14592, K13639</a:t>
            </a:r>
          </a:p>
        </p:txBody>
      </p:sp>
      <p:sp>
        <p:nvSpPr>
          <p:cNvPr id="2754" name="PlaceHolder 3"/>
          <p:cNvSpPr>
            <a:spLocks noGrp="1"/>
          </p:cNvSpPr>
          <p:nvPr>
            <p:ph type="sldNum" idx="97"/>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D5538F7C-960B-40B6-A101-6C81F18D90EF}" type="slidenum">
              <a:rPr lang="en-US" sz="1800" b="0" strike="noStrike" spc="-1">
                <a:solidFill>
                  <a:schemeClr val="dk1"/>
                </a:solidFill>
                <a:latin typeface="+mn-lt"/>
                <a:ea typeface="+mn-ea"/>
              </a:rPr>
              <a:t>94</a:t>
            </a:fld>
            <a:endParaRPr lang="en-US" sz="1800" b="0" strike="noStrike" spc="-1">
              <a:solidFill>
                <a:srgbClr val="000000"/>
              </a:solidFill>
              <a:latin typeface="Times New Roman"/>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5" name="PlaceHolder 1"/>
          <p:cNvSpPr>
            <a:spLocks noGrp="1" noRot="1" noChangeAspect="1"/>
          </p:cNvSpPr>
          <p:nvPr>
            <p:ph type="sldImg"/>
          </p:nvPr>
        </p:nvSpPr>
        <p:spPr>
          <a:xfrm>
            <a:off x="0" y="0"/>
            <a:ext cx="0" cy="0"/>
          </a:xfrm>
          <a:prstGeom prst="rect">
            <a:avLst/>
          </a:prstGeom>
          <a:ln w="0">
            <a:noFill/>
          </a:ln>
        </p:spPr>
      </p:sp>
      <p:sp>
        <p:nvSpPr>
          <p:cNvPr id="2756"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Five checkpoints targeting all three objectives with the patched gaps.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Q1 (4.02): Traffic group = container for floating objects (VIPs, self IPs, SNATs). Determines WHICH device is active for specific traffic. HA group = health scoring mechanism. Calculates a score from pool/trunk/VLAN health. If active device's score drops below standby → failover. The HA GROUP triggers failover. Traffic groups are MOVED by failover but don't cause it.</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Q2 (4.11): YES, failover occurs. Multiple unicast addresses: ANY failure triggers failover. This is intentional — aggressive detection. If one of two addresses becomes unreachable, the device assumes the peer is degraded even if the other address still works. This prevents split-brain scenarios where partial connectivity causes both devices to think they should be active.</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Q3 (4.12): "Disconnected" + "config sync failed" = the devices cannot communicate for sync. Check in order:</a:t>
            </a:r>
          </a:p>
          <a:p>
            <a:pPr marL="216000" indent="-216000">
              <a:buNone/>
            </a:pPr>
            <a:r>
              <a:rPr lang="en-US" sz="2000" b="0" strike="noStrike" spc="-1">
                <a:solidFill>
                  <a:srgbClr val="000000"/>
                </a:solidFill>
                <a:latin typeface="Arial"/>
              </a:rPr>
              <a:t>1. TCP 4353 (ConfigSync port) — is it open? Check port lockdown on HA self IP.</a:t>
            </a:r>
          </a:p>
          <a:p>
            <a:pPr marL="216000" indent="-216000">
              <a:buNone/>
            </a:pPr>
            <a:r>
              <a:rPr lang="en-US" sz="2000" b="0" strike="noStrike" spc="-1">
                <a:solidFill>
                  <a:srgbClr val="000000"/>
                </a:solidFill>
                <a:latin typeface="Arial"/>
              </a:rPr>
              <a:t>2. HA VLAN — is the link up? Check interface status.</a:t>
            </a:r>
          </a:p>
          <a:p>
            <a:pPr marL="216000" indent="-216000">
              <a:buNone/>
            </a:pPr>
            <a:r>
              <a:rPr lang="en-US" sz="2000" b="0" strike="noStrike" spc="-1">
                <a:solidFill>
                  <a:srgbClr val="000000"/>
                </a:solidFill>
                <a:latin typeface="Arial"/>
              </a:rPr>
              <a:t>3. Device trust — is it established? Check Device Trust &gt; Peer Authorities.</a:t>
            </a:r>
          </a:p>
          <a:p>
            <a:pPr marL="216000" indent="-216000">
              <a:buNone/>
            </a:pPr>
            <a:r>
              <a:rPr lang="en-US" sz="2000" b="0" strike="noStrike" spc="-1">
                <a:solidFill>
                  <a:srgbClr val="000000"/>
                </a:solidFill>
                <a:latin typeface="Arial"/>
              </a:rPr>
              <a:t>4. NTP — are clocks synced? Clock skew can cause certificate validation failures.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Q4 (4.12): Impact: ALL HA communication fails. No config sync, no failover detection, no mirroring. The devices operate independently — they cannot synchronize or fail over. Fix: On EACH device: System &gt; Device Certificates &gt; Renew (set lifetime 3650 days). Then reset device trust: Device Trust &gt; Local Domain &gt; Reset Device Trust &gt; Generate New Self-Signed Authority. Rebuild trust.</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Q5 (4.02): FTP SNAT translation address is still in tg-1 (active on bigip01). www_vs VIP moved to tg-2 (active on bigip02). Client connects to VIP on bigip02, but FTP needs the SNAT address which is on bigip01 → asymmetric routing breaks FTP. Fix: move SNAT translation to tg-2.</a:t>
            </a:r>
          </a:p>
          <a:p>
            <a:pPr marL="216000" indent="-216000">
              <a:buNone/>
            </a:pPr>
            <a:endParaRPr lang="en-US"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F5 DOCUMENTATION: K14592, K16427, K13946, K13295, K75975904</a:t>
            </a:r>
          </a:p>
        </p:txBody>
      </p:sp>
      <p:sp>
        <p:nvSpPr>
          <p:cNvPr id="2757" name="PlaceHolder 3"/>
          <p:cNvSpPr>
            <a:spLocks noGrp="1"/>
          </p:cNvSpPr>
          <p:nvPr>
            <p:ph type="sldNum" idx="98"/>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209CFBCC-79CC-4A45-BAD3-C33D33226314}" type="slidenum">
              <a:rPr lang="en-US" sz="1800" b="0" strike="noStrike" spc="-1">
                <a:solidFill>
                  <a:schemeClr val="dk1"/>
                </a:solidFill>
                <a:latin typeface="+mn-lt"/>
                <a:ea typeface="+mn-ea"/>
              </a:rPr>
              <a:t>95</a:t>
            </a:fld>
            <a:endParaRPr lang="en-US" sz="1800" b="0" strike="noStrike" spc="-1">
              <a:solidFill>
                <a:srgbClr val="000000"/>
              </a:solidFill>
              <a:latin typeface="Times New Roman"/>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8" name="PlaceHolder 1"/>
          <p:cNvSpPr>
            <a:spLocks noGrp="1" noRot="1" noChangeAspect="1"/>
          </p:cNvSpPr>
          <p:nvPr>
            <p:ph type="sldImg"/>
          </p:nvPr>
        </p:nvSpPr>
        <p:spPr>
          <a:xfrm>
            <a:off x="0" y="0"/>
            <a:ext cx="0" cy="0"/>
          </a:xfrm>
          <a:prstGeom prst="rect">
            <a:avLst/>
          </a:prstGeom>
          <a:ln w="0">
            <a:noFill/>
          </a:ln>
        </p:spPr>
      </p:sp>
      <p:sp>
        <p:nvSpPr>
          <p:cNvPr id="2759"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Complete TMSH reference with added troubleshooting commands (show cm sync-status, show cm traffic-group, show cm device-group, log grep).</a:t>
            </a:r>
          </a:p>
          <a:p>
            <a:pPr marL="216000" indent="0">
              <a:lnSpc>
                <a:spcPct val="100000"/>
              </a:lnSpc>
              <a:buNone/>
            </a:pPr>
            <a:r>
              <a:rPr lang="en-US" sz="2000" b="0" strike="noStrike" spc="-1">
                <a:solidFill>
                  <a:srgbClr val="000000"/>
                </a:solidFill>
                <a:latin typeface="Arial"/>
              </a:rPr>
              <a:t>F5 DOCUMENTATION: K13946, K14592, K13639, K16427</a:t>
            </a:r>
          </a:p>
        </p:txBody>
      </p:sp>
      <p:sp>
        <p:nvSpPr>
          <p:cNvPr id="2760" name="PlaceHolder 3"/>
          <p:cNvSpPr>
            <a:spLocks noGrp="1"/>
          </p:cNvSpPr>
          <p:nvPr>
            <p:ph type="sldNum" idx="99"/>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CA72270E-34DD-4995-BB63-BC12090789AD}" type="slidenum">
              <a:rPr lang="en-US" sz="1800" b="0" strike="noStrike" spc="-1">
                <a:solidFill>
                  <a:schemeClr val="dk1"/>
                </a:solidFill>
                <a:latin typeface="+mn-lt"/>
                <a:ea typeface="+mn-ea"/>
              </a:rPr>
              <a:t>96</a:t>
            </a:fld>
            <a:endParaRPr lang="en-US" sz="1800" b="0" strike="noStrike" spc="-1">
              <a:solidFill>
                <a:srgbClr val="000000"/>
              </a:solidFill>
              <a:latin typeface="Times New Roman"/>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1" name="PlaceHolder 1"/>
          <p:cNvSpPr>
            <a:spLocks noGrp="1" noRot="1" noChangeAspect="1"/>
          </p:cNvSpPr>
          <p:nvPr>
            <p:ph type="sldImg"/>
          </p:nvPr>
        </p:nvSpPr>
        <p:spPr>
          <a:xfrm>
            <a:off x="0" y="0"/>
            <a:ext cx="0" cy="0"/>
          </a:xfrm>
          <a:prstGeom prst="rect">
            <a:avLst/>
          </a:prstGeom>
          <a:ln w="0">
            <a:noFill/>
          </a:ln>
        </p:spPr>
      </p:sp>
      <p:sp>
        <p:nvSpPr>
          <p:cNvPr id="2762"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Opener for Lab 11. Four Beta objectives covering logging, alerting, and troubleshooting. 301a: 2.12.</a:t>
            </a:r>
          </a:p>
          <a:p>
            <a:pPr marL="216000" indent="0">
              <a:lnSpc>
                <a:spcPct val="100000"/>
              </a:lnSpc>
              <a:buNone/>
            </a:pPr>
            <a:r>
              <a:rPr lang="en-US" sz="2000" b="0" strike="noStrike" spc="-1">
                <a:solidFill>
                  <a:srgbClr val="000000"/>
                </a:solidFill>
                <a:latin typeface="Arial"/>
              </a:rPr>
              <a:t>F5 DOCUMENTATION: K16197 (logging), K13080 (HSL), K3667 (custom alerts), K15106 (log files)</a:t>
            </a:r>
          </a:p>
        </p:txBody>
      </p:sp>
      <p:sp>
        <p:nvSpPr>
          <p:cNvPr id="2763" name="PlaceHolder 3"/>
          <p:cNvSpPr>
            <a:spLocks noGrp="1"/>
          </p:cNvSpPr>
          <p:nvPr>
            <p:ph type="sldNum" idx="100"/>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D5FC2A6B-7693-479C-A3C4-0468031669E0}" type="slidenum">
              <a:rPr lang="en-US" sz="1800" b="0" strike="noStrike" spc="-1">
                <a:solidFill>
                  <a:schemeClr val="dk1"/>
                </a:solidFill>
                <a:latin typeface="+mn-lt"/>
                <a:ea typeface="+mn-ea"/>
              </a:rPr>
              <a:t>97</a:t>
            </a:fld>
            <a:endParaRPr lang="en-US" sz="1800" b="0" strike="noStrike" spc="-1">
              <a:solidFill>
                <a:srgbClr val="000000"/>
              </a:solidFill>
              <a:latin typeface="Times New Roman"/>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 name="PlaceHolder 1"/>
          <p:cNvSpPr>
            <a:spLocks noGrp="1" noRot="1" noChangeAspect="1"/>
          </p:cNvSpPr>
          <p:nvPr>
            <p:ph type="sldImg"/>
          </p:nvPr>
        </p:nvSpPr>
        <p:spPr>
          <a:xfrm>
            <a:off x="0" y="0"/>
            <a:ext cx="0" cy="0"/>
          </a:xfrm>
          <a:prstGeom prst="rect">
            <a:avLst/>
          </a:prstGeom>
          <a:ln w="0">
            <a:noFill/>
          </a:ln>
        </p:spPr>
      </p:sp>
      <p:sp>
        <p:nvSpPr>
          <p:cNvPr id="2765"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Log files and severity levels. F5CTSLTM4.09: "Determine the appropriate log file to examine" and F5CTSLTM4.08: "Identify the available levels for local traffic logging."</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KEY EXAM POINTS: /var/log/ltm is the primary log for LTM issues. Audit log tracks admin changes. Debug level (7) should NEVER be used in production — it generates enormous volumes that can fill disk and cause the BIG-IP to drop log messages.</a:t>
            </a:r>
          </a:p>
          <a:p>
            <a:pPr marL="216000" indent="-216000">
              <a:buNone/>
            </a:pPr>
            <a:endParaRPr lang="en-US"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F5 DOCUMENTATION: K15106 (log files), K16197 (logging overview)</a:t>
            </a:r>
          </a:p>
        </p:txBody>
      </p:sp>
      <p:sp>
        <p:nvSpPr>
          <p:cNvPr id="2766" name="PlaceHolder 3"/>
          <p:cNvSpPr>
            <a:spLocks noGrp="1"/>
          </p:cNvSpPr>
          <p:nvPr>
            <p:ph type="sldNum" idx="101"/>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949EBA63-E1C2-4563-924C-28C3904F8753}" type="slidenum">
              <a:rPr lang="en-US" sz="1800" b="0" strike="noStrike" spc="-1">
                <a:solidFill>
                  <a:schemeClr val="dk1"/>
                </a:solidFill>
                <a:latin typeface="+mn-lt"/>
                <a:ea typeface="+mn-ea"/>
              </a:rPr>
              <a:t>98</a:t>
            </a:fld>
            <a:endParaRPr lang="en-US" sz="1800" b="0" strike="noStrike" spc="-1">
              <a:solidFill>
                <a:srgbClr val="000000"/>
              </a:solidFill>
              <a:latin typeface="Times New Roman"/>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7" name="PlaceHolder 1"/>
          <p:cNvSpPr>
            <a:spLocks noGrp="1" noRot="1" noChangeAspect="1"/>
          </p:cNvSpPr>
          <p:nvPr>
            <p:ph type="sldImg"/>
          </p:nvPr>
        </p:nvSpPr>
        <p:spPr>
          <a:xfrm>
            <a:off x="0" y="0"/>
            <a:ext cx="0" cy="0"/>
          </a:xfrm>
          <a:prstGeom prst="rect">
            <a:avLst/>
          </a:prstGeom>
          <a:ln w="0">
            <a:noFill/>
          </a:ln>
        </p:spPr>
      </p:sp>
      <p:sp>
        <p:nvSpPr>
          <p:cNvPr id="2768"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Audit logging and SSH/HTTPD access control. Addresses 301a 2.12: "Determine appropriate LTM device security configuration."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KEY EXAM POINTS: Audit logging disabled by default. SSH IP Allow on System &gt; Platform. Existing SSH sessions survive restriction changes. Both SSH and HTTPD access can be restricted independently.</a:t>
            </a:r>
          </a:p>
          <a:p>
            <a:pPr marL="216000" indent="-216000">
              <a:buNone/>
            </a:pPr>
            <a:endParaRPr lang="en-US"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F5 DOCUMENTATION: K16197, K13092 (SSH access), K15283 (HTTPD access)</a:t>
            </a:r>
          </a:p>
        </p:txBody>
      </p:sp>
      <p:sp>
        <p:nvSpPr>
          <p:cNvPr id="2769" name="PlaceHolder 3"/>
          <p:cNvSpPr>
            <a:spLocks noGrp="1"/>
          </p:cNvSpPr>
          <p:nvPr>
            <p:ph type="sldNum" idx="102"/>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0161211A-9BDF-4E30-BC38-BD96A66CBA68}" type="slidenum">
              <a:rPr lang="en-US" sz="1800" b="0" strike="noStrike" spc="-1">
                <a:solidFill>
                  <a:schemeClr val="dk1"/>
                </a:solidFill>
                <a:latin typeface="+mn-lt"/>
                <a:ea typeface="+mn-ea"/>
              </a:rPr>
              <a:t>99</a:t>
            </a:fld>
            <a:endParaRPr lang="en-US" sz="1800" b="0" strike="noStrike" spc="-1">
              <a:solidFill>
                <a:srgbClr val="000000"/>
              </a:solidFill>
              <a:latin typeface="Times New Roman"/>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0" name="PlaceHolder 1"/>
          <p:cNvSpPr>
            <a:spLocks noGrp="1" noRot="1" noChangeAspect="1"/>
          </p:cNvSpPr>
          <p:nvPr>
            <p:ph type="sldImg"/>
          </p:nvPr>
        </p:nvSpPr>
        <p:spPr>
          <a:xfrm>
            <a:off x="0" y="0"/>
            <a:ext cx="0" cy="0"/>
          </a:xfrm>
          <a:prstGeom prst="rect">
            <a:avLst/>
          </a:prstGeom>
          <a:ln w="0">
            <a:noFill/>
          </a:ln>
        </p:spPr>
      </p:sp>
      <p:sp>
        <p:nvSpPr>
          <p:cNvPr id="2771"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HSL remote logging architecture. Addresses F5CTSLTM4.08: "List and describe custom alerts: SNMP, email and Remote Syslog" and "Identify the location of custom alert configuration files."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FULL TECHNICAL EXPLANATION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The HSL pipeline has three layers:</a:t>
            </a:r>
          </a:p>
          <a:p>
            <a:pPr marL="216000" indent="-216000">
              <a:buNone/>
            </a:pPr>
            <a:r>
              <a:rPr lang="en-US" sz="2000" b="0" strike="noStrike" spc="-1">
                <a:solidFill>
                  <a:srgbClr val="000000"/>
                </a:solidFill>
                <a:latin typeface="Arial"/>
              </a:rPr>
              <a:t>1. DESTINATIONS — where logs go:</a:t>
            </a:r>
          </a:p>
          <a:p>
            <a:pPr marL="216000" indent="-216000">
              <a:buNone/>
            </a:pPr>
            <a:r>
              <a:rPr lang="en-US" sz="2000" b="0" strike="noStrike" spc="-1">
                <a:solidFill>
                  <a:srgbClr val="000000"/>
                </a:solidFill>
                <a:latin typeface="Arial"/>
              </a:rPr>
              <a:t>   a. HSL destination: Associates a POOL of syslog servers with a protocol. You create a pool with syslog server members (IP:port), then create an HSL destination that references the pool. The reason for the pool is to allow load balancing across multiple syslog servers and to use monitors for health checking.</a:t>
            </a:r>
          </a:p>
          <a:p>
            <a:pPr marL="216000" indent="-216000">
              <a:buNone/>
            </a:pPr>
            <a:r>
              <a:rPr lang="en-US" sz="2000" b="0" strike="noStrike" spc="-1">
                <a:solidFill>
                  <a:srgbClr val="000000"/>
                </a:solidFill>
                <a:latin typeface="Arial"/>
              </a:rPr>
              <a:t>   b. Formatted destination: Wraps the HSL destination with a message format (Syslog, Splunk, ArcSight, etc.). This ensures messages arrive in the correct format for the receiving system.</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2. PUBLISHER — how logs are routed:</a:t>
            </a:r>
          </a:p>
          <a:p>
            <a:pPr marL="216000" indent="-216000">
              <a:buNone/>
            </a:pPr>
            <a:r>
              <a:rPr lang="en-US" sz="2000" b="0" strike="noStrike" spc="-1">
                <a:solidFill>
                  <a:srgbClr val="000000"/>
                </a:solidFill>
                <a:latin typeface="Arial"/>
              </a:rPr>
              <a:t>   A publisher groups one or more destinations. A single publisher can send logs to both remote syslog AND local files simultaneously. This is the component you attach to filters and profiles.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3. FILTER/PROFILE — what gets logged:</a:t>
            </a:r>
          </a:p>
          <a:p>
            <a:pPr marL="216000" indent="-216000">
              <a:buNone/>
            </a:pPr>
            <a:r>
              <a:rPr lang="en-US" sz="2000" b="0" strike="noStrike" spc="-1">
                <a:solidFill>
                  <a:srgbClr val="000000"/>
                </a:solidFill>
                <a:latin typeface="Arial"/>
              </a:rPr>
              <a:t>   a. System Log Filter: Controls system-level events (mcpd, tmm, etc.). Configured under System &gt; Logs &gt; Configuration &gt; Log Filters.</a:t>
            </a:r>
          </a:p>
          <a:p>
            <a:pPr marL="216000" indent="-216000">
              <a:buNone/>
            </a:pPr>
            <a:r>
              <a:rPr lang="en-US" sz="2000" b="0" strike="noStrike" spc="-1">
                <a:solidFill>
                  <a:srgbClr val="000000"/>
                </a:solidFill>
                <a:latin typeface="Arial"/>
              </a:rPr>
              <a:t>   b. LTM Log Profile: Controls traffic-level events (requests, responses). Attached to individual virtual servers.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LAB EXERCISE:</a:t>
            </a:r>
          </a:p>
          <a:p>
            <a:pPr marL="216000" indent="-216000">
              <a:buNone/>
            </a:pPr>
            <a:r>
              <a:rPr lang="en-US" sz="2000" b="0" strike="noStrike" spc="-1">
                <a:solidFill>
                  <a:srgbClr val="000000"/>
                </a:solidFill>
                <a:latin typeface="Arial"/>
              </a:rPr>
              <a:t>1. Create pool: logging_pool with member 10.1.20.252:514 and syslog_inband + syslog_active monitors</a:t>
            </a:r>
          </a:p>
          <a:p>
            <a:pPr marL="216000" indent="-216000">
              <a:buNone/>
            </a:pPr>
            <a:r>
              <a:rPr lang="en-US" sz="2000" b="0" strike="noStrike" spc="-1">
                <a:solidFill>
                  <a:srgbClr val="000000"/>
                </a:solidFill>
                <a:latin typeface="Arial"/>
              </a:rPr>
              <a:t>2. Create HSL destination: hsl_logging_dest → type Remote High-Speed Log → pool logging_pool</a:t>
            </a:r>
          </a:p>
          <a:p>
            <a:pPr marL="216000" indent="-216000">
              <a:buNone/>
            </a:pPr>
            <a:r>
              <a:rPr lang="en-US" sz="2000" b="0" strike="noStrike" spc="-1">
                <a:solidFill>
                  <a:srgbClr val="000000"/>
                </a:solidFill>
                <a:latin typeface="Arial"/>
              </a:rPr>
              <a:t>3. Create formatted destination: formatted_dest → type Remote Syslog → format Syslog → forward to hsl_logging_dest</a:t>
            </a:r>
          </a:p>
          <a:p>
            <a:pPr marL="216000" indent="-216000">
              <a:buNone/>
            </a:pPr>
            <a:r>
              <a:rPr lang="en-US" sz="2000" b="0" strike="noStrike" spc="-1">
                <a:solidFill>
                  <a:srgbClr val="000000"/>
                </a:solidFill>
                <a:latin typeface="Arial"/>
              </a:rPr>
              <a:t>4. Create publisher: logging_pub → destinations: formatted_dest + local-syslog</a:t>
            </a:r>
          </a:p>
          <a:p>
            <a:pPr marL="216000" indent="-216000">
              <a:buNone/>
            </a:pPr>
            <a:r>
              <a:rPr lang="en-US" sz="2000" b="0" strike="noStrike" spc="-1">
                <a:solidFill>
                  <a:srgbClr val="000000"/>
                </a:solidFill>
                <a:latin typeface="Arial"/>
              </a:rPr>
              <a:t>5. Create filter: my-mcpd-filter → source mcpd → severity Informational → publisher logging_pub</a:t>
            </a:r>
          </a:p>
          <a:p>
            <a:pPr marL="216000" indent="-216000">
              <a:buNone/>
            </a:pPr>
            <a:r>
              <a:rPr lang="en-US" sz="2000" b="0" strike="noStrike" spc="-1">
                <a:solidFill>
                  <a:srgbClr val="000000"/>
                </a:solidFill>
                <a:latin typeface="Arial"/>
              </a:rPr>
              <a:t>6. Test: disable a pool member → check syslog server for the event</a:t>
            </a:r>
          </a:p>
          <a:p>
            <a:pPr marL="216000" indent="-216000">
              <a:buNone/>
            </a:pPr>
            <a:endParaRPr lang="en-US"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F5 DOCUMENTATION: K13080 (HSL), K16197 (logging overview)</a:t>
            </a:r>
          </a:p>
        </p:txBody>
      </p:sp>
      <p:sp>
        <p:nvSpPr>
          <p:cNvPr id="2772" name="PlaceHolder 3"/>
          <p:cNvSpPr>
            <a:spLocks noGrp="1"/>
          </p:cNvSpPr>
          <p:nvPr>
            <p:ph type="sldNum" idx="103"/>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BBD40260-22FC-4748-8624-22661F3B111F}" type="slidenum">
              <a:rPr lang="en-US" sz="1800" b="0" strike="noStrike" spc="-1">
                <a:solidFill>
                  <a:schemeClr val="dk1"/>
                </a:solidFill>
                <a:latin typeface="+mn-lt"/>
                <a:ea typeface="+mn-ea"/>
              </a:rPr>
              <a:t>100</a:t>
            </a:fld>
            <a:endParaRPr lang="en-US" sz="1800" b="0" strike="noStrike" spc="-1">
              <a:solidFill>
                <a:srgbClr val="000000"/>
              </a:solidFill>
              <a:latin typeface="Times New Roman"/>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3" name="PlaceHolder 1"/>
          <p:cNvSpPr>
            <a:spLocks noGrp="1" noRot="1" noChangeAspect="1"/>
          </p:cNvSpPr>
          <p:nvPr>
            <p:ph type="sldImg"/>
          </p:nvPr>
        </p:nvSpPr>
        <p:spPr>
          <a:xfrm>
            <a:off x="0" y="0"/>
            <a:ext cx="0" cy="0"/>
          </a:xfrm>
          <a:prstGeom prst="rect">
            <a:avLst/>
          </a:prstGeom>
          <a:ln w="0">
            <a:noFill/>
          </a:ln>
        </p:spPr>
      </p:sp>
      <p:sp>
        <p:nvSpPr>
          <p:cNvPr id="2774"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Full custom alerting configuration with three working examples. F5CTSLTM4.07 and 4.08.</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FULL TECHNICAL EXPLANATION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ALERT DEFINITION FORMAT:</a:t>
            </a:r>
          </a:p>
          <a:p>
            <a:pPr marL="216000" indent="-216000">
              <a:buNone/>
            </a:pPr>
            <a:r>
              <a:rPr lang="en-US" sz="2000" b="0" strike="noStrike" spc="-1">
                <a:solidFill>
                  <a:srgbClr val="000000"/>
                </a:solidFill>
                <a:latin typeface="Arial"/>
              </a:rPr>
              <a:t>alert ALERT_NAME {</a:t>
            </a:r>
          </a:p>
          <a:p>
            <a:pPr marL="216000" indent="-216000">
              <a:buNone/>
            </a:pPr>
            <a:r>
              <a:rPr lang="en-US" sz="2000" b="0" strike="noStrike" spc="-1">
                <a:solidFill>
                  <a:srgbClr val="000000"/>
                </a:solidFill>
                <a:latin typeface="Arial"/>
              </a:rPr>
              <a:t>  snmptrap OID=".1.3.6.1.4.1.3375.2.4.0.XX"   (SNMP trap action)</a:t>
            </a:r>
          </a:p>
          <a:p>
            <a:pPr marL="216000" indent="-216000">
              <a:buNone/>
            </a:pPr>
            <a:r>
              <a:rPr lang="en-US" sz="2000" b="0" strike="noStrike" spc="-1">
                <a:solidFill>
                  <a:srgbClr val="000000"/>
                </a:solidFill>
                <a:latin typeface="Arial"/>
              </a:rPr>
              <a:t>  email toaddress="ops@company.com" fromaddress="bigip@company.com" body="message"  (email action)</a:t>
            </a:r>
          </a:p>
          <a:p>
            <a:pPr marL="216000" indent="-216000">
              <a:buNone/>
            </a:pPr>
            <a:r>
              <a:rPr lang="en-US" sz="2000" b="0" strike="noStrike" spc="-1">
                <a:solidFill>
                  <a:srgbClr val="000000"/>
                </a:solidFill>
                <a:latin typeface="Arial"/>
              </a:rPr>
              <a:t>  match "regex pattern to match in log messages"</a:t>
            </a:r>
          </a:p>
          <a:p>
            <a:pPr marL="216000" indent="-216000">
              <a:buNone/>
            </a:pPr>
            <a:r>
              <a:rPr lang="en-US" sz="2000" b="0" strike="noStrike" spc="-1">
                <a:solidFill>
                  <a:srgbClr val="000000"/>
                </a:solidFill>
                <a:latin typeface="Arial"/>
              </a:rPr>
              <a:t>}</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The alert daemon (alertd) monitors /var/log/ltm and other logs. When a log message matches the "match" pattern, the alert fires. Multiple actions can be defined in one alert.</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OID FORMAT:</a:t>
            </a:r>
          </a:p>
          <a:p>
            <a:pPr marL="216000" indent="-216000">
              <a:buNone/>
            </a:pPr>
            <a:r>
              <a:rPr lang="en-US" sz="2000" b="0" strike="noStrike" spc="-1">
                <a:solidFill>
                  <a:srgbClr val="000000"/>
                </a:solidFill>
                <a:latin typeface="Arial"/>
              </a:rPr>
              <a:t>.1.3.6.1.4.1.3375 = F5 enterprise OID space</a:t>
            </a:r>
          </a:p>
          <a:p>
            <a:pPr marL="216000" indent="-216000">
              <a:buNone/>
            </a:pPr>
            <a:r>
              <a:rPr lang="en-US" sz="2000" b="0" strike="noStrike" spc="-1">
                <a:solidFill>
                  <a:srgbClr val="000000"/>
                </a:solidFill>
                <a:latin typeface="Arial"/>
              </a:rPr>
              <a:t>.2.4.0 = alert subtree</a:t>
            </a:r>
          </a:p>
          <a:p>
            <a:pPr marL="216000" indent="-216000">
              <a:buNone/>
            </a:pPr>
            <a:r>
              <a:rPr lang="en-US" sz="2000" b="0" strike="noStrike" spc="-1">
                <a:solidFill>
                  <a:srgbClr val="000000"/>
                </a:solidFill>
                <a:latin typeface="Arial"/>
              </a:rPr>
              <a:t>.XX = your custom alert number (use 99+ to avoid conflicts with defaults)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EMAIL SETUP PREREQUISITE:</a:t>
            </a:r>
          </a:p>
          <a:p>
            <a:pPr marL="216000" indent="-216000">
              <a:buNone/>
            </a:pPr>
            <a:r>
              <a:rPr lang="en-US" sz="2000" b="0" strike="noStrike" spc="-1">
                <a:solidFill>
                  <a:srgbClr val="000000"/>
                </a:solidFill>
                <a:latin typeface="Arial"/>
              </a:rPr>
              <a:t>Before email alerts work, you must configure SMTP:</a:t>
            </a:r>
          </a:p>
          <a:p>
            <a:pPr marL="216000" indent="-216000">
              <a:buNone/>
            </a:pPr>
            <a:r>
              <a:rPr lang="en-US" sz="2000" b="0" strike="noStrike" spc="-1">
                <a:solidFill>
                  <a:srgbClr val="000000"/>
                </a:solidFill>
                <a:latin typeface="Arial"/>
              </a:rPr>
              <a:t>System &gt; Configuration &gt; Device &gt; SMTP</a:t>
            </a:r>
          </a:p>
          <a:p>
            <a:pPr marL="216000" indent="-216000">
              <a:buNone/>
            </a:pPr>
            <a:r>
              <a:rPr lang="en-US" sz="2000" b="0" strike="noStrike" spc="-1">
                <a:solidFill>
                  <a:srgbClr val="000000"/>
                </a:solidFill>
                <a:latin typeface="Arial"/>
              </a:rPr>
              <a:t>Or TMSH: modify sys smtp server smtp.company.com from-address bigip@company.com</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SNMP TRAP DESTINATION:</a:t>
            </a:r>
          </a:p>
          <a:p>
            <a:pPr marL="216000" indent="-216000">
              <a:buNone/>
            </a:pPr>
            <a:r>
              <a:rPr lang="en-US" sz="2000" b="0" strike="noStrike" spc="-1">
                <a:solidFill>
                  <a:srgbClr val="000000"/>
                </a:solidFill>
                <a:latin typeface="Arial"/>
              </a:rPr>
              <a:t>System &gt; SNMP &gt; Traps &gt; Destination</a:t>
            </a:r>
          </a:p>
          <a:p>
            <a:pPr marL="216000" indent="-216000">
              <a:buNone/>
            </a:pPr>
            <a:r>
              <a:rPr lang="en-US" sz="2000" b="0" strike="noStrike" spc="-1">
                <a:solidFill>
                  <a:srgbClr val="000000"/>
                </a:solidFill>
                <a:latin typeface="Arial"/>
              </a:rPr>
              <a:t>Add the NMS server IP, port 162, community string.</a:t>
            </a:r>
          </a:p>
          <a:p>
            <a:pPr marL="216000" indent="-216000">
              <a:buNone/>
            </a:pPr>
            <a:r>
              <a:rPr lang="en-US" sz="2000" b="0" strike="noStrike" spc="-1">
                <a:solidFill>
                  <a:srgbClr val="000000"/>
                </a:solidFill>
                <a:latin typeface="Arial"/>
              </a:rPr>
              <a:t>TMSH: modify sys snmp traps add { my_trap { host 10.1.1.100 community public } }</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TESTING WORKFLOW:</a:t>
            </a:r>
          </a:p>
          <a:p>
            <a:pPr marL="216000" indent="-216000">
              <a:buNone/>
            </a:pPr>
            <a:r>
              <a:rPr lang="en-US" sz="2000" b="0" strike="noStrike" spc="-1">
                <a:solidFill>
                  <a:srgbClr val="000000"/>
                </a:solidFill>
                <a:latin typeface="Arial"/>
              </a:rPr>
              <a:t>1. Edit /config/user_alert.conf and add your alert definition</a:t>
            </a:r>
          </a:p>
          <a:p>
            <a:pPr marL="216000" indent="-216000">
              <a:buNone/>
            </a:pPr>
            <a:r>
              <a:rPr lang="en-US" sz="2000" b="0" strike="noStrike" spc="-1">
                <a:solidFill>
                  <a:srgbClr val="000000"/>
                </a:solidFill>
                <a:latin typeface="Arial"/>
              </a:rPr>
              <a:t>2. Restart alertd so it reads the new config: bigstart restart alertd</a:t>
            </a:r>
          </a:p>
          <a:p>
            <a:pPr marL="216000" indent="-216000">
              <a:buNone/>
            </a:pPr>
            <a:r>
              <a:rPr lang="en-US" sz="2000" b="0" strike="noStrike" spc="-1">
                <a:solidFill>
                  <a:srgbClr val="000000"/>
                </a:solidFill>
                <a:latin typeface="Arial"/>
              </a:rPr>
              <a:t>3. Generate a test log message that matches your pattern: logger -p local0.notice "Pool my_pool now has no available members"</a:t>
            </a:r>
          </a:p>
          <a:p>
            <a:pPr marL="216000" indent="-216000">
              <a:buNone/>
            </a:pPr>
            <a:r>
              <a:rPr lang="en-US" sz="2000" b="0" strike="noStrike" spc="-1">
                <a:solidFill>
                  <a:srgbClr val="000000"/>
                </a:solidFill>
                <a:latin typeface="Arial"/>
              </a:rPr>
              <a:t>4. Verify the alert fired by checking your NMS (SNMP trap), email inbox, or syslog server</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COMMON STUDENT MISTAKES</a:t>
            </a:r>
          </a:p>
          <a:p>
            <a:pPr marL="216000" indent="-216000">
              <a:buNone/>
            </a:pPr>
            <a:r>
              <a:rPr lang="en-US" sz="2000" b="0" strike="noStrike" spc="-1">
                <a:solidFill>
                  <a:srgbClr val="000000"/>
                </a:solidFill>
                <a:latin typeface="Arial"/>
              </a:rPr>
              <a:t>- Editing /etc/alertd/alert.conf instead of /config/user_alert.conf → changes lost on upgrade</a:t>
            </a:r>
          </a:p>
          <a:p>
            <a:pPr marL="216000" indent="-216000">
              <a:buNone/>
            </a:pPr>
            <a:r>
              <a:rPr lang="en-US" sz="2000" b="0" strike="noStrike" spc="-1">
                <a:solidFill>
                  <a:srgbClr val="000000"/>
                </a:solidFill>
                <a:latin typeface="Arial"/>
              </a:rPr>
              <a:t>- Forgetting to restart alertd after editing user_alert.conf</a:t>
            </a:r>
          </a:p>
          <a:p>
            <a:pPr marL="216000" indent="-216000">
              <a:buNone/>
            </a:pPr>
            <a:r>
              <a:rPr lang="en-US" sz="2000" b="0" strike="noStrike" spc="-1">
                <a:solidFill>
                  <a:srgbClr val="000000"/>
                </a:solidFill>
                <a:latin typeface="Arial"/>
              </a:rPr>
              <a:t>- Using OIDs that conflict with built-in F5 alerts</a:t>
            </a:r>
          </a:p>
          <a:p>
            <a:pPr marL="216000" indent="-216000">
              <a:buNone/>
            </a:pPr>
            <a:r>
              <a:rPr lang="en-US" sz="2000" b="0" strike="noStrike" spc="-1">
                <a:solidFill>
                  <a:srgbClr val="000000"/>
                </a:solidFill>
                <a:latin typeface="Arial"/>
              </a:rPr>
              <a:t>- Not configuring SMTP before trying email alerts</a:t>
            </a:r>
          </a:p>
          <a:p>
            <a:pPr marL="216000" indent="-216000">
              <a:buNone/>
            </a:pPr>
            <a:endParaRPr lang="en-US"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F5 DOCUMENTATION: K3667, K6305, K13383</a:t>
            </a:r>
          </a:p>
        </p:txBody>
      </p:sp>
      <p:sp>
        <p:nvSpPr>
          <p:cNvPr id="2775" name="PlaceHolder 3"/>
          <p:cNvSpPr>
            <a:spLocks noGrp="1"/>
          </p:cNvSpPr>
          <p:nvPr>
            <p:ph type="sldNum" idx="104"/>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D602C0F1-3BBB-47A2-A99C-BF8E1905C92E}" type="slidenum">
              <a:rPr lang="en-US" sz="1800" b="0" strike="noStrike" spc="-1">
                <a:solidFill>
                  <a:schemeClr val="dk1"/>
                </a:solidFill>
                <a:latin typeface="+mn-lt"/>
                <a:ea typeface="+mn-ea"/>
              </a:rPr>
              <a:t>101</a:t>
            </a:fld>
            <a:endParaRPr lang="en-US" sz="1800" b="0" strike="noStrike" spc="-1">
              <a:solidFill>
                <a:srgbClr val="000000"/>
              </a:solidFill>
              <a:latin typeface="Times New Roman"/>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6" name="PlaceHolder 1"/>
          <p:cNvSpPr>
            <a:spLocks noGrp="1" noRot="1" noChangeAspect="1"/>
          </p:cNvSpPr>
          <p:nvPr>
            <p:ph type="sldImg"/>
          </p:nvPr>
        </p:nvSpPr>
        <p:spPr>
          <a:xfrm>
            <a:off x="0" y="0"/>
            <a:ext cx="0" cy="0"/>
          </a:xfrm>
          <a:prstGeom prst="rect">
            <a:avLst/>
          </a:prstGeom>
          <a:ln w="0">
            <a:noFill/>
          </a:ln>
        </p:spPr>
      </p:sp>
      <p:sp>
        <p:nvSpPr>
          <p:cNvPr id="2777"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Practice slide for F5CTSLTM1.06: "Interpret log file messages to identify LTM device issues" and F5CTSLTM4.09: "Identify platform problems based on log file messages and statistics."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FULL TECHNICAL EXPLANATION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LOG FORMAT BREAKDOWN:</a:t>
            </a:r>
          </a:p>
          <a:p>
            <a:pPr marL="216000" indent="-216000">
              <a:buNone/>
            </a:pPr>
            <a:r>
              <a:rPr lang="en-US" sz="2000" b="0" strike="noStrike" spc="-1">
                <a:solidFill>
                  <a:srgbClr val="000000"/>
                </a:solidFill>
                <a:latin typeface="Arial"/>
              </a:rPr>
              <a:t>Jan 15 09:23:41 bigip01 mcpd[6543]: 01070638:5: Pool /Common/www_pool member...</a:t>
            </a:r>
          </a:p>
          <a:p>
            <a:pPr marL="216000" indent="-216000">
              <a:buNone/>
            </a:pPr>
            <a:r>
              <a:rPr lang="en-US" sz="2000" b="0" strike="noStrike" spc="-1">
                <a:solidFill>
                  <a:srgbClr val="000000"/>
                </a:solidFill>
                <a:latin typeface="Arial"/>
              </a:rPr>
              <a:t>|  timestamp  | hostname | daemon[pid] | error_code:severity | message</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 timestamp: When the event occurred</a:t>
            </a:r>
          </a:p>
          <a:p>
            <a:pPr marL="216000" indent="-216000">
              <a:buNone/>
            </a:pPr>
            <a:r>
              <a:rPr lang="en-US" sz="2000" b="0" strike="noStrike" spc="-1">
                <a:solidFill>
                  <a:srgbClr val="000000"/>
                </a:solidFill>
                <a:latin typeface="Arial"/>
              </a:rPr>
              <a:t>- hostname: Which BIG-IP generated the message</a:t>
            </a:r>
          </a:p>
          <a:p>
            <a:pPr marL="216000" indent="-216000">
              <a:buNone/>
            </a:pPr>
            <a:r>
              <a:rPr lang="en-US" sz="2000" b="0" strike="noStrike" spc="-1">
                <a:solidFill>
                  <a:srgbClr val="000000"/>
                </a:solidFill>
                <a:latin typeface="Arial"/>
              </a:rPr>
              <a:t>- daemon: Which process logged it (mcpd, tmm, sod, etc.)</a:t>
            </a:r>
          </a:p>
          <a:p>
            <a:pPr marL="216000" indent="-216000">
              <a:buNone/>
            </a:pPr>
            <a:r>
              <a:rPr lang="en-US" sz="2000" b="0" strike="noStrike" spc="-1">
                <a:solidFill>
                  <a:srgbClr val="000000"/>
                </a:solidFill>
                <a:latin typeface="Arial"/>
              </a:rPr>
              <a:t>- error_code: F5-specific error identifier (searchable on my.f5.com)</a:t>
            </a:r>
          </a:p>
          <a:p>
            <a:pPr marL="216000" indent="-216000">
              <a:buNone/>
            </a:pPr>
            <a:r>
              <a:rPr lang="en-US" sz="2000" b="0" strike="noStrike" spc="-1">
                <a:solidFill>
                  <a:srgbClr val="000000"/>
                </a:solidFill>
                <a:latin typeface="Arial"/>
              </a:rPr>
              <a:t>- severity: Syslog level (0-7). :5: = Notice, :4: = Warning, :3: = Error</a:t>
            </a:r>
          </a:p>
          <a:p>
            <a:pPr marL="216000" indent="-216000">
              <a:buNone/>
            </a:pPr>
            <a:r>
              <a:rPr lang="en-US" sz="2000" b="0" strike="noStrike" spc="-1">
                <a:solidFill>
                  <a:srgbClr val="000000"/>
                </a:solidFill>
                <a:latin typeface="Arial"/>
              </a:rPr>
              <a:t>- message: Human-readable description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SAMPLE 1: POOL MEMBER DOWN (01070638:5)</a:t>
            </a:r>
          </a:p>
          <a:p>
            <a:pPr marL="216000" indent="-216000">
              <a:buNone/>
            </a:pPr>
            <a:r>
              <a:rPr lang="en-US" sz="2000" b="0" strike="noStrike" spc="-1">
                <a:solidFill>
                  <a:srgbClr val="000000"/>
                </a:solidFill>
                <a:latin typeface="Arial"/>
              </a:rPr>
              <a:t>- mcpd detected that the health monitor for 10.1.20.11:80 failed</a:t>
            </a:r>
          </a:p>
          <a:p>
            <a:pPr marL="216000" indent="-216000">
              <a:buNone/>
            </a:pPr>
            <a:r>
              <a:rPr lang="en-US" sz="2000" b="0" strike="noStrike" spc="-1">
                <a:solidFill>
                  <a:srgbClr val="000000"/>
                </a:solidFill>
                <a:latin typeface="Arial"/>
              </a:rPr>
              <a:t>- The member is marked DOWN and removed from LB rotation</a:t>
            </a:r>
          </a:p>
          <a:p>
            <a:pPr marL="216000" indent="-216000">
              <a:buNone/>
            </a:pPr>
            <a:r>
              <a:rPr lang="en-US" sz="2000" b="0" strike="noStrike" spc="-1">
                <a:solidFill>
                  <a:srgbClr val="000000"/>
                </a:solidFill>
                <a:latin typeface="Arial"/>
              </a:rPr>
              <a:t>- Error code 01070638 is searchable: https://my.f5.com/manage/s/article/K01070638</a:t>
            </a:r>
          </a:p>
          <a:p>
            <a:pPr marL="216000" indent="-216000">
              <a:buNone/>
            </a:pPr>
            <a:r>
              <a:rPr lang="en-US" sz="2000" b="0" strike="noStrike" spc="-1">
                <a:solidFill>
                  <a:srgbClr val="000000"/>
                </a:solidFill>
                <a:latin typeface="Arial"/>
              </a:rPr>
              <a:t>- Action: Check if the server is actually down, check monitor settings, test manually</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SAMPLE 2: SSL HANDSHAKE FAILURE (01260009:3)</a:t>
            </a:r>
          </a:p>
          <a:p>
            <a:pPr marL="216000" indent="-216000">
              <a:buNone/>
            </a:pPr>
            <a:r>
              <a:rPr lang="en-US" sz="2000" b="0" strike="noStrike" spc="-1">
                <a:solidFill>
                  <a:srgbClr val="000000"/>
                </a:solidFill>
                <a:latin typeface="Arial"/>
              </a:rPr>
              <a:t>- TMM received a ClientHello with TLS version 0x0301 (TLS 1.0)</a:t>
            </a:r>
          </a:p>
          <a:p>
            <a:pPr marL="216000" indent="-216000">
              <a:buNone/>
            </a:pPr>
            <a:r>
              <a:rPr lang="en-US" sz="2000" b="0" strike="noStrike" spc="-1">
                <a:solidFill>
                  <a:srgbClr val="000000"/>
                </a:solidFill>
                <a:latin typeface="Arial"/>
              </a:rPr>
              <a:t>- The Client-SSL profile has TLS 1.0 disabled (security hardening)</a:t>
            </a:r>
          </a:p>
          <a:p>
            <a:pPr marL="216000" indent="-216000">
              <a:buNone/>
            </a:pPr>
            <a:r>
              <a:rPr lang="en-US" sz="2000" b="0" strike="noStrike" spc="-1">
                <a:solidFill>
                  <a:srgbClr val="000000"/>
                </a:solidFill>
                <a:latin typeface="Arial"/>
              </a:rPr>
              <a:t>- Severity :3: = Error</a:t>
            </a:r>
          </a:p>
          <a:p>
            <a:pPr marL="216000" indent="-216000">
              <a:buNone/>
            </a:pPr>
            <a:r>
              <a:rPr lang="en-US" sz="2000" b="0" strike="noStrike" spc="-1">
                <a:solidFill>
                  <a:srgbClr val="000000"/>
                </a:solidFill>
                <a:latin typeface="Arial"/>
              </a:rPr>
              <a:t>- Action: Update client to TLS 1.2+, or (not recommended) enable TLS 1.0</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SAMPLE 3: VIRTUAL SERVER NO LISTENERS (01010251:7)</a:t>
            </a:r>
          </a:p>
          <a:p>
            <a:pPr marL="216000" indent="-216000">
              <a:buNone/>
            </a:pPr>
            <a:r>
              <a:rPr lang="en-US" sz="2000" b="0" strike="noStrike" spc="-1">
                <a:solidFill>
                  <a:srgbClr val="000000"/>
                </a:solidFill>
                <a:latin typeface="Arial"/>
              </a:rPr>
              <a:t>- The VS has no usable pool members — could be all members down, no pool assigned, or VS misconfigured</a:t>
            </a:r>
          </a:p>
          <a:p>
            <a:pPr marL="216000" indent="-216000">
              <a:buNone/>
            </a:pPr>
            <a:r>
              <a:rPr lang="en-US" sz="2000" b="0" strike="noStrike" spc="-1">
                <a:solidFill>
                  <a:srgbClr val="000000"/>
                </a:solidFill>
                <a:latin typeface="Arial"/>
              </a:rPr>
              <a:t>- Severity :7: = Debug (this is an informational debug message)</a:t>
            </a:r>
          </a:p>
          <a:p>
            <a:pPr marL="216000" indent="-216000">
              <a:buNone/>
            </a:pPr>
            <a:r>
              <a:rPr lang="en-US" sz="2000" b="0" strike="noStrike" spc="-1">
                <a:solidFill>
                  <a:srgbClr val="000000"/>
                </a:solidFill>
                <a:latin typeface="Arial"/>
              </a:rPr>
              <a:t>- Action: Check pool health, verify VS configuration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SAMPLE 4: HA HEARTBEAT LOST (01140029:5)</a:t>
            </a:r>
          </a:p>
          <a:p>
            <a:pPr marL="216000" indent="-216000">
              <a:buNone/>
            </a:pPr>
            <a:r>
              <a:rPr lang="en-US" sz="2000" b="0" strike="noStrike" spc="-1">
                <a:solidFill>
                  <a:srgbClr val="000000"/>
                </a:solidFill>
                <a:latin typeface="Arial"/>
              </a:rPr>
              <a:t>- The SOD (Service Oversight Daemon) has lost the network failover heartbeat from bigip02</a:t>
            </a:r>
          </a:p>
          <a:p>
            <a:pPr marL="216000" indent="-216000">
              <a:buNone/>
            </a:pPr>
            <a:r>
              <a:rPr lang="en-US" sz="2000" b="0" strike="noStrike" spc="-1">
                <a:solidFill>
                  <a:srgbClr val="000000"/>
                </a:solidFill>
                <a:latin typeface="Arial"/>
              </a:rPr>
              <a:t>- This will trigger failover if the heartbeat isn't restored</a:t>
            </a:r>
          </a:p>
          <a:p>
            <a:pPr marL="216000" indent="-216000">
              <a:buNone/>
            </a:pPr>
            <a:r>
              <a:rPr lang="en-US" sz="2000" b="0" strike="noStrike" spc="-1">
                <a:solidFill>
                  <a:srgbClr val="000000"/>
                </a:solidFill>
                <a:latin typeface="Arial"/>
              </a:rPr>
              <a:t>- Action: Check HA VLAN, port lockdown, cables, peer status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SAMPLE 5: CONFIG OUT OF SYNC (01071431:4)</a:t>
            </a:r>
          </a:p>
          <a:p>
            <a:pPr marL="216000" indent="-216000">
              <a:buNone/>
            </a:pPr>
            <a:r>
              <a:rPr lang="en-US" sz="2000" b="0" strike="noStrike" spc="-1">
                <a:solidFill>
                  <a:srgbClr val="000000"/>
                </a:solidFill>
                <a:latin typeface="Arial"/>
              </a:rPr>
              <a:t>- Configuration has been changed on one device but not synced to the group</a:t>
            </a:r>
          </a:p>
          <a:p>
            <a:pPr marL="216000" indent="-216000">
              <a:buNone/>
            </a:pPr>
            <a:r>
              <a:rPr lang="en-US" sz="2000" b="0" strike="noStrike" spc="-1">
                <a:solidFill>
                  <a:srgbClr val="000000"/>
                </a:solidFill>
                <a:latin typeface="Arial"/>
              </a:rPr>
              <a:t>- Severity :4: = Warning</a:t>
            </a:r>
          </a:p>
          <a:p>
            <a:pPr marL="216000" indent="-216000">
              <a:buNone/>
            </a:pPr>
            <a:r>
              <a:rPr lang="en-US" sz="2000" b="0" strike="noStrike" spc="-1">
                <a:solidFill>
                  <a:srgbClr val="000000"/>
                </a:solidFill>
                <a:latin typeface="Arial"/>
              </a:rPr>
              <a:t>- Action: Initiate config sync from the correct device</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TEACHING APPROACH:</a:t>
            </a:r>
          </a:p>
          <a:p>
            <a:pPr marL="216000" indent="-216000">
              <a:buNone/>
            </a:pPr>
            <a:r>
              <a:rPr lang="en-US" sz="2000" b="0" strike="noStrike" spc="-1">
                <a:solidFill>
                  <a:srgbClr val="000000"/>
                </a:solidFill>
                <a:latin typeface="Arial"/>
              </a:rPr>
              <a:t>Show these log messages one at a time and ask students:</a:t>
            </a:r>
          </a:p>
          <a:p>
            <a:pPr marL="216000" indent="-216000">
              <a:buNone/>
            </a:pPr>
            <a:r>
              <a:rPr lang="en-US" sz="2000" b="0" strike="noStrike" spc="-1">
                <a:solidFill>
                  <a:srgbClr val="000000"/>
                </a:solidFill>
                <a:latin typeface="Arial"/>
              </a:rPr>
              <a:t>1. Which daemon generated this? (mcpd, tmm, sod)</a:t>
            </a:r>
          </a:p>
          <a:p>
            <a:pPr marL="216000" indent="-216000">
              <a:buNone/>
            </a:pPr>
            <a:r>
              <a:rPr lang="en-US" sz="2000" b="0" strike="noStrike" spc="-1">
                <a:solidFill>
                  <a:srgbClr val="000000"/>
                </a:solidFill>
                <a:latin typeface="Arial"/>
              </a:rPr>
              <a:t>2. What is the severity level? (notice, warning, error, debug)</a:t>
            </a:r>
          </a:p>
          <a:p>
            <a:pPr marL="216000" indent="-216000">
              <a:buNone/>
            </a:pPr>
            <a:r>
              <a:rPr lang="en-US" sz="2000" b="0" strike="noStrike" spc="-1">
                <a:solidFill>
                  <a:srgbClr val="000000"/>
                </a:solidFill>
                <a:latin typeface="Arial"/>
              </a:rPr>
              <a:t>3. What is the issue?</a:t>
            </a:r>
          </a:p>
          <a:p>
            <a:pPr marL="216000" indent="-216000">
              <a:buNone/>
            </a:pPr>
            <a:r>
              <a:rPr lang="en-US" sz="2000" b="0" strike="noStrike" spc="-1">
                <a:solidFill>
                  <a:srgbClr val="000000"/>
                </a:solidFill>
                <a:latin typeface="Arial"/>
              </a:rPr>
              <a:t>4. What is the fix?</a:t>
            </a:r>
          </a:p>
          <a:p>
            <a:pPr marL="216000" indent="-216000">
              <a:buNone/>
            </a:pPr>
            <a:endParaRPr lang="en-US"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F5 DOCUMENTATION: K15106 (log files), K16197 (logging overview)</a:t>
            </a:r>
          </a:p>
        </p:txBody>
      </p:sp>
      <p:sp>
        <p:nvSpPr>
          <p:cNvPr id="2778" name="PlaceHolder 3"/>
          <p:cNvSpPr>
            <a:spLocks noGrp="1"/>
          </p:cNvSpPr>
          <p:nvPr>
            <p:ph type="sldNum" idx="105"/>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7C97B242-1554-4654-BAED-481BCD0C2E7F}" type="slidenum">
              <a:rPr lang="en-US" sz="1800" b="0" strike="noStrike" spc="-1">
                <a:solidFill>
                  <a:schemeClr val="dk1"/>
                </a:solidFill>
                <a:latin typeface="+mn-lt"/>
                <a:ea typeface="+mn-ea"/>
              </a:rPr>
              <a:t>102</a:t>
            </a:fld>
            <a:endParaRPr lang="en-US" sz="1800" b="0" strike="noStrike" spc="-1">
              <a:solidFill>
                <a:srgbClr val="000000"/>
              </a:solidFill>
              <a:latin typeface="Times New Roman"/>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9" name="PlaceHolder 1"/>
          <p:cNvSpPr>
            <a:spLocks noGrp="1" noRot="1" noChangeAspect="1"/>
          </p:cNvSpPr>
          <p:nvPr>
            <p:ph type="sldImg"/>
          </p:nvPr>
        </p:nvSpPr>
        <p:spPr>
          <a:xfrm>
            <a:off x="0" y="0"/>
            <a:ext cx="0" cy="0"/>
          </a:xfrm>
          <a:prstGeom prst="rect">
            <a:avLst/>
          </a:prstGeom>
          <a:ln w="0">
            <a:noFill/>
          </a:ln>
        </p:spPr>
      </p:sp>
      <p:sp>
        <p:nvSpPr>
          <p:cNvPr id="2780"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Lab launch for security and logging exercises.</a:t>
            </a:r>
          </a:p>
          <a:p>
            <a:pPr marL="216000" indent="0">
              <a:lnSpc>
                <a:spcPct val="100000"/>
              </a:lnSpc>
              <a:buNone/>
            </a:pPr>
            <a:r>
              <a:rPr lang="en-US" sz="2000" b="0" strike="noStrike" spc="-1">
                <a:solidFill>
                  <a:srgbClr val="000000"/>
                </a:solidFill>
                <a:latin typeface="Arial"/>
              </a:rPr>
              <a:t>F5 DOCUMENTATION: K16197, K13080, K13092</a:t>
            </a:r>
          </a:p>
        </p:txBody>
      </p:sp>
      <p:sp>
        <p:nvSpPr>
          <p:cNvPr id="2781" name="PlaceHolder 3"/>
          <p:cNvSpPr>
            <a:spLocks noGrp="1"/>
          </p:cNvSpPr>
          <p:nvPr>
            <p:ph type="sldNum" idx="106"/>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2B758807-8CEF-4664-B954-FBB5BE0A5364}" type="slidenum">
              <a:rPr lang="en-US" sz="1800" b="0" strike="noStrike" spc="-1">
                <a:solidFill>
                  <a:schemeClr val="dk1"/>
                </a:solidFill>
                <a:latin typeface="+mn-lt"/>
                <a:ea typeface="+mn-ea"/>
              </a:rPr>
              <a:t>103</a:t>
            </a:fld>
            <a:endParaRPr lang="en-US" sz="1800" b="0" strike="noStrike" spc="-1">
              <a:solidFill>
                <a:srgbClr val="000000"/>
              </a:solidFill>
              <a:latin typeface="Times New Roman"/>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2" name="PlaceHolder 1"/>
          <p:cNvSpPr>
            <a:spLocks noGrp="1" noRot="1" noChangeAspect="1"/>
          </p:cNvSpPr>
          <p:nvPr>
            <p:ph type="sldImg"/>
          </p:nvPr>
        </p:nvSpPr>
        <p:spPr>
          <a:xfrm>
            <a:off x="0" y="0"/>
            <a:ext cx="0" cy="0"/>
          </a:xfrm>
          <a:prstGeom prst="rect">
            <a:avLst/>
          </a:prstGeom>
          <a:ln w="0">
            <a:noFill/>
          </a:ln>
        </p:spPr>
      </p:sp>
      <p:sp>
        <p:nvSpPr>
          <p:cNvPr id="2783"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Q1: /var/log/ltm. Command: grep -i "pool_name" /var/log/ltm or tail -f /var/log/ltm | grep pool. This log contains all LTM events including monitor failures, member status changes, and SSL errors.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Q2: Edit /config/user_alert.conf — this file is included in UCS archives and survives upgrades. DO NOT edit /etc/alertd/alert.conf — it's overwritten during upgrades. If you need to customize a default alert, copy the definition to user_alert.conf and modify it there.</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Q3: Add a custom alert to /config/user_alert.conf that matches the "no available members" log pattern and triggers an SNMP trap with a custom OID. Example in slide 5.</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Q4: Two destinations are required: (1) HSL destination — specifies the pool of syslog servers and the transport protocol (TCP/UDP). (2) Formatted destination — wraps the HSL destination with a message format (Syslog, Splunk, etc.). The reason for two is separation of concerns: the pool/protocol definition is separate from the formatting definition. Both feed into a publisher.</a:t>
            </a:r>
          </a:p>
          <a:p>
            <a:pPr marL="216000" indent="-216000">
              <a:buNone/>
            </a:pPr>
            <a:endParaRPr lang="en-US"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F5 DOCUMENTATION: K15106, K3667, K13080</a:t>
            </a:r>
          </a:p>
        </p:txBody>
      </p:sp>
      <p:sp>
        <p:nvSpPr>
          <p:cNvPr id="2784" name="PlaceHolder 3"/>
          <p:cNvSpPr>
            <a:spLocks noGrp="1"/>
          </p:cNvSpPr>
          <p:nvPr>
            <p:ph type="sldNum" idx="107"/>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3FA382A9-29A6-4BB4-A806-9F4E5CFCDA7A}" type="slidenum">
              <a:rPr lang="en-US" sz="1800" b="0" strike="noStrike" spc="-1">
                <a:solidFill>
                  <a:schemeClr val="dk1"/>
                </a:solidFill>
                <a:latin typeface="+mn-lt"/>
                <a:ea typeface="+mn-ea"/>
              </a:rPr>
              <a:t>104</a:t>
            </a:fld>
            <a:endParaRPr lang="en-US" sz="1800" b="0" strike="noStrike" spc="-1">
              <a:solidFill>
                <a:srgbClr val="000000"/>
              </a:solidFill>
              <a:latin typeface="Times New Roman"/>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 name="PlaceHolder 1"/>
          <p:cNvSpPr>
            <a:spLocks noGrp="1" noRot="1" noChangeAspect="1"/>
          </p:cNvSpPr>
          <p:nvPr>
            <p:ph type="sldImg"/>
          </p:nvPr>
        </p:nvSpPr>
        <p:spPr>
          <a:xfrm>
            <a:off x="0" y="0"/>
            <a:ext cx="0" cy="0"/>
          </a:xfrm>
          <a:prstGeom prst="rect">
            <a:avLst/>
          </a:prstGeom>
          <a:ln w="0">
            <a:noFill/>
          </a:ln>
        </p:spPr>
      </p:sp>
      <p:sp>
        <p:nvSpPr>
          <p:cNvPr id="2786"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Complete reference for logging, alerting, and security commands.</a:t>
            </a:r>
          </a:p>
          <a:p>
            <a:pPr marL="216000" indent="0">
              <a:lnSpc>
                <a:spcPct val="100000"/>
              </a:lnSpc>
              <a:buNone/>
            </a:pPr>
            <a:r>
              <a:rPr lang="en-US" sz="2000" b="0" strike="noStrike" spc="-1">
                <a:solidFill>
                  <a:srgbClr val="000000"/>
                </a:solidFill>
                <a:latin typeface="Arial"/>
              </a:rPr>
              <a:t>F5 DOCUMENTATION: K15106, K16197, K13080, K3667, K13092</a:t>
            </a:r>
          </a:p>
        </p:txBody>
      </p:sp>
      <p:sp>
        <p:nvSpPr>
          <p:cNvPr id="2787" name="PlaceHolder 3"/>
          <p:cNvSpPr>
            <a:spLocks noGrp="1"/>
          </p:cNvSpPr>
          <p:nvPr>
            <p:ph type="sldNum" idx="108"/>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3581784C-71F4-4F8B-9789-2FDCC99808E4}" type="slidenum">
              <a:rPr lang="en-US" sz="1800" b="0" strike="noStrike" spc="-1">
                <a:solidFill>
                  <a:schemeClr val="dk1"/>
                </a:solidFill>
                <a:latin typeface="+mn-lt"/>
                <a:ea typeface="+mn-ea"/>
              </a:rPr>
              <a:t>105</a:t>
            </a:fld>
            <a:endParaRPr lang="en-US" sz="1800" b="0" strike="noStrike" spc="-1">
              <a:solidFill>
                <a:srgbClr val="000000"/>
              </a:solidFill>
              <a:latin typeface="Times New Roman"/>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WHAT THIS SLIDE TEACHES
Opener for the gap-fill slide block. Lists all 9 objectives not covered by Labs 1–11.
These objectives were identified by a full gap analysis against the Beta blueprint. They span Exams 1-B (topologies), 2-B (simplify config, statistics), 3-B (templates), 4-B (upgrades, backup, performance), and 5-B (HTTP analysis).
DELIVERY NOTE: This section is slides-only (no lab exercises). Instructor should present each slide and use the speaker notes for discussion. Exam checkpoint questions are embedded in the speaker notes.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7488" y="812800"/>
            <a:ext cx="7124700" cy="4008438"/>
          </a:xfrm>
        </p:spPr>
      </p:sp>
      <p:sp>
        <p:nvSpPr>
          <p:cNvPr id="3" name="Notes Placeholder 2"/>
          <p:cNvSpPr>
            <a:spLocks noGrp="1"/>
          </p:cNvSpPr>
          <p:nvPr>
            <p:ph type="body" idx="1"/>
          </p:nvPr>
        </p:nvSpPr>
        <p:spPr/>
        <p:txBody>
          <a:bodyPr/>
          <a:lstStyle/>
          <a:p>
            <a:r>
              <a:rPr lang="en-US"/>
              <a:t>WHAT THIS SLIDE TEACHES
F5CTSLTM1.02: Deployment topologies. nPath/DSR: server loopback VIP, no L7, max throughput. One-arm: SNAT always required. Auto last-hop: MAC-based return path. Default enabled.
F5 DOCUMENTATION: K4707, K7820, K13167</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7488" y="812800"/>
            <a:ext cx="7124700" cy="4008438"/>
          </a:xfrm>
        </p:spPr>
      </p:sp>
      <p:sp>
        <p:nvSpPr>
          <p:cNvPr id="3" name="Notes Placeholder 2"/>
          <p:cNvSpPr>
            <a:spLocks noGrp="1"/>
          </p:cNvSpPr>
          <p:nvPr>
            <p:ph type="body" idx="1"/>
          </p:nvPr>
        </p:nvSpPr>
        <p:spPr/>
        <p:txBody>
          <a:bodyPr/>
          <a:lstStyle/>
          <a:p>
            <a:r>
              <a:rPr lang="en-US"/>
              <a:t>WHAT THIS SLIDE TEACHES
F5CTSLTM5.01: HTTP response codes. Students must map codes to BIG-IP investigation steps.
KEY PATTERNS:
- 4xx = client-side problem (bad request, auth, not found)
- 5xx = server-side problem (500/502/503)
- 502 = BIG-IP acting as gateway got bad response FROM server
- 503 = often means all pool members down on BIG-IP
F5 DOCUMENTATION: K57474155</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7488" y="812800"/>
            <a:ext cx="7124700" cy="4008438"/>
          </a:xfrm>
        </p:spPr>
      </p:sp>
      <p:sp>
        <p:nvSpPr>
          <p:cNvPr id="3" name="Notes Placeholder 2"/>
          <p:cNvSpPr>
            <a:spLocks noGrp="1"/>
          </p:cNvSpPr>
          <p:nvPr>
            <p:ph type="body" idx="1"/>
          </p:nvPr>
        </p:nvSpPr>
        <p:spPr/>
        <p:txBody>
          <a:bodyPr/>
          <a:lstStyle/>
          <a:p>
            <a:r>
              <a:rPr lang="en-US"/>
              <a:t>WHAT THIS SLIDE TEACHES
F5CTSLTM5.01-5.04: HTTP headers and their role on BIG-IP, plus tcpdump for HTTP analysis.
KEY EXAM POINTS:
- SNAT + OneConnect in pcap: server-side source = BIG-IP self IP. Multiple client requests may share one server connection.
- XFF: only inserted if HTTP profile has Insert XFF enabled. Without it, server sees BIG-IP IP.
- Cookie persistence cookie name: BIGipServer&lt;pool_name&gt;. Encoded with member IP and port.
F5 DOCUMENTATION: K4707, K411</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7488" y="812800"/>
            <a:ext cx="7124700" cy="4008438"/>
          </a:xfrm>
        </p:spPr>
      </p:sp>
      <p:sp>
        <p:nvSpPr>
          <p:cNvPr id="3" name="Notes Placeholder 2"/>
          <p:cNvSpPr>
            <a:spLocks noGrp="1"/>
          </p:cNvSpPr>
          <p:nvPr>
            <p:ph type="body" idx="1"/>
          </p:nvPr>
        </p:nvSpPr>
        <p:spPr/>
        <p:txBody>
          <a:bodyPr/>
          <a:lstStyle/>
          <a:p>
            <a:r>
              <a:rPr lang="en-US"/>
              <a:t>WHAT THIS SLIDE TEACHES
F5CTSLTM4.01/4.06: Software upgrades. HA rolling upgrade = zero downtime. Boot locations for rollback.
F5 DOCUMENTATION: K13845, K34745165</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7488" y="812800"/>
            <a:ext cx="7124700" cy="4008438"/>
          </a:xfrm>
        </p:spPr>
      </p:sp>
      <p:sp>
        <p:nvSpPr>
          <p:cNvPr id="3" name="Notes Placeholder 2"/>
          <p:cNvSpPr>
            <a:spLocks noGrp="1"/>
          </p:cNvSpPr>
          <p:nvPr>
            <p:ph type="body" idx="1"/>
          </p:nvPr>
        </p:nvSpPr>
        <p:spPr/>
        <p:txBody>
          <a:bodyPr/>
          <a:lstStyle/>
          <a:p>
            <a:r>
              <a:rPr lang="en-US" dirty="0"/>
              <a:t>WHAT THIS SLIDE TEACHES
F5CTSLTM4.04/4.05: UCS vs SCF, GUI archive interface.
GUI: System &gt; Archives shows existing UCS files. Create: enter name, optional passphrase, click Finished. Download: select archive, click Download. Upload: allows restoring from downloaded file. Restore: select archive, click Restore.
KEY: UCS stored at /var/local/ucs/. Passphrase encrypts SSL keys in the archive. Always store a copy off-box.
F5 DOCUMENTATION: K13132, K13408</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7488" y="812800"/>
            <a:ext cx="7124700" cy="4008438"/>
          </a:xfrm>
        </p:spPr>
      </p:sp>
      <p:sp>
        <p:nvSpPr>
          <p:cNvPr id="3" name="Notes Placeholder 2"/>
          <p:cNvSpPr>
            <a:spLocks noGrp="1"/>
          </p:cNvSpPr>
          <p:nvPr>
            <p:ph type="body" idx="1"/>
          </p:nvPr>
        </p:nvSpPr>
        <p:spPr/>
        <p:txBody>
          <a:bodyPr/>
          <a:lstStyle/>
          <a:p>
            <a:r>
              <a:rPr lang="en-US"/>
              <a:t>WHAT THIS SLIDE TEACHES
F5CTSLTM4.10: Performance analysis. Host OS vs TMM separation. GUI performance reports.
GUI LOCATIONS:
- Statistics &gt; Performance Reports: graphical CPU, memory, throughput over time
- System &gt; Resource Provisioning: shows allocated vs used resources per module
- Statistics &gt; Module Statistics &gt; Local Traffic: VS/pool/member stats
KEY EXAM POINTS:
- TMM CPU 100% = traffic overload. Host CPU 100% = management overload. Different pools.
- Connection count spike + high TMM CPU = possible DDoS
- show sys performance all-stats is the single best starting command
F5 DOCUMENTATION: K15468, K16419, K14813</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WHAT THIS SLIDE TEACHES
F5CTSLTM2.11: Simplify config. A/E level.
F5 DOCUMENTATION: K14912, K14163</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7488" y="812800"/>
            <a:ext cx="7124700" cy="4008438"/>
          </a:xfrm>
        </p:spPr>
      </p:sp>
      <p:sp>
        <p:nvSpPr>
          <p:cNvPr id="3" name="Notes Placeholder 2"/>
          <p:cNvSpPr>
            <a:spLocks noGrp="1"/>
          </p:cNvSpPr>
          <p:nvPr>
            <p:ph type="body" idx="1"/>
          </p:nvPr>
        </p:nvSpPr>
        <p:spPr/>
        <p:txBody>
          <a:bodyPr/>
          <a:lstStyle/>
          <a:p>
            <a:r>
              <a:rPr lang="en-US"/>
              <a:t>WHAT THIS SLIDE TEACHES
F5CTSLTM2.12: Config cleanup with statistics. Network Map is the primary GUI tool for identifying orphaned objects.
CLEANUP WORKFLOW: 1) Network Map identifies orphans. 2) Statistics identify unused. 3) Confirm with app team. 4) Disable first, monitor for complaints. 5) Delete after confirmation period.
Removing functions: understand the impact. Removing a profile from a VS changes traffic behavior. Removing a pool member changes LB distribution. Always disable first.
F5 DOCUMENTATION: K14163, K98133564</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WHAT THIS SLIDE TEACHES
F5CTSLTM3.02: iApp templates. R (Remember) level.
GUI LOCATION: iApps &gt; Application Services &gt; Applications (list of deployed apps)
iApps &gt; Templates (list of available templates)
KEY EXAM POINTS:
- iApp = wizard creates all objects. Grouped under .app container.
- Strict Updates = default ON. Objects locked. Must edit through wizard.
- Disable Strict Updates to allow direct object edits.
- Object naming: /Common/app_name.app/vs_name
F5 DOCUMENTATION: K15645</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7488" y="812800"/>
            <a:ext cx="7124700" cy="4008438"/>
          </a:xfrm>
        </p:spPr>
      </p:sp>
      <p:sp>
        <p:nvSpPr>
          <p:cNvPr id="3" name="Notes Placeholder 2"/>
          <p:cNvSpPr>
            <a:spLocks noGrp="1"/>
          </p:cNvSpPr>
          <p:nvPr>
            <p:ph type="body" idx="1"/>
          </p:nvPr>
        </p:nvSpPr>
        <p:spPr/>
        <p:txBody>
          <a:bodyPr/>
          <a:lstStyle/>
          <a:p>
            <a:r>
              <a:rPr lang="en-US"/>
              <a:t>WHAT THIS SLIDE TEACHES
F5CTSLTM3.02: FAST templates. R (Remember) level.
GUI LOCATION: iApps &gt; Application Services &gt; FAST
FAST vs iApp:
- FAST = JSON + AS3. Modern. API-driven. No Strict Updates issue.
- iApp = TCL. Legacy. Wizard-driven. Strict Updates locks objects.
- Both create the same LTM objects (VS, pools, profiles, monitors).
- FAST is the recommended approach for new deployments.
F5 DOCUMENTATION: FAST on GitHub, AS3 documentation</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8" name="PlaceHolder 1"/>
          <p:cNvSpPr>
            <a:spLocks noGrp="1" noRot="1" noChangeAspect="1"/>
          </p:cNvSpPr>
          <p:nvPr>
            <p:ph type="sldImg"/>
          </p:nvPr>
        </p:nvSpPr>
        <p:spPr>
          <a:xfrm>
            <a:off x="0" y="0"/>
            <a:ext cx="0" cy="0"/>
          </a:xfrm>
          <a:prstGeom prst="rect">
            <a:avLst/>
          </a:prstGeom>
          <a:ln w="0">
            <a:noFill/>
          </a:ln>
        </p:spPr>
      </p:sp>
      <p:sp>
        <p:nvSpPr>
          <p:cNvPr id="2789"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0">
              <a:lnSpc>
                <a:spcPct val="100000"/>
              </a:lnSpc>
              <a:buNone/>
            </a:pPr>
            <a:r>
              <a:rPr lang="en-US" sz="2000" b="0" strike="noStrike" spc="-1">
                <a:solidFill>
                  <a:srgbClr val="000000"/>
                </a:solidFill>
                <a:latin typeface="Arial"/>
              </a:rPr>
              <a:t>Final review section opener. Sets the stage for comprehensive exam prep across all six Beta exams.</a:t>
            </a:r>
          </a:p>
        </p:txBody>
      </p:sp>
      <p:sp>
        <p:nvSpPr>
          <p:cNvPr id="2790" name="PlaceHolder 3"/>
          <p:cNvSpPr>
            <a:spLocks noGrp="1"/>
          </p:cNvSpPr>
          <p:nvPr>
            <p:ph type="sldNum" idx="109"/>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A7E47801-7572-42A9-9020-83D5A6B368C7}" type="slidenum">
              <a:rPr lang="en-US" sz="1800" b="0" strike="noStrike" spc="-1">
                <a:solidFill>
                  <a:schemeClr val="dk1"/>
                </a:solidFill>
                <a:latin typeface="+mn-lt"/>
                <a:ea typeface="+mn-ea"/>
              </a:rPr>
              <a:t>117</a:t>
            </a:fld>
            <a:endParaRPr lang="en-US" sz="1800" b="0" strike="noStrike" spc="-1">
              <a:solidFill>
                <a:srgbClr val="000000"/>
              </a:solidFill>
              <a:latin typeface="Times New Roman"/>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1" name="PlaceHolder 1"/>
          <p:cNvSpPr>
            <a:spLocks noGrp="1" noRot="1" noChangeAspect="1"/>
          </p:cNvSpPr>
          <p:nvPr>
            <p:ph type="sldImg"/>
          </p:nvPr>
        </p:nvSpPr>
        <p:spPr>
          <a:xfrm>
            <a:off x="0" y="0"/>
            <a:ext cx="0" cy="0"/>
          </a:xfrm>
          <a:prstGeom prst="rect">
            <a:avLst/>
          </a:prstGeom>
          <a:ln w="0">
            <a:noFill/>
          </a:ln>
        </p:spPr>
      </p:sp>
      <p:sp>
        <p:nvSpPr>
          <p:cNvPr id="2792"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Full course-to-exam mapping. Students can see exactly where each exam's content is covered.</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GF = Gap-Fill slide block. GF1 = slide 1, GF2 = slide 2, etc.</a:t>
            </a:r>
          </a:p>
          <a:p>
            <a:pPr marL="216000" indent="-216000">
              <a:buNone/>
            </a:pPr>
            <a:endParaRPr lang="en-US"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A/E objectives are the hardest and require practice with real scenarios and packet captures. These are where most students fail.</a:t>
            </a:r>
          </a:p>
        </p:txBody>
      </p:sp>
      <p:sp>
        <p:nvSpPr>
          <p:cNvPr id="2793" name="PlaceHolder 3"/>
          <p:cNvSpPr>
            <a:spLocks noGrp="1"/>
          </p:cNvSpPr>
          <p:nvPr>
            <p:ph type="sldNum" idx="110"/>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35687A52-39B1-40AA-86BF-6E83AA60FC8B}" type="slidenum">
              <a:rPr lang="en-US" sz="1800" b="0" strike="noStrike" spc="-1">
                <a:solidFill>
                  <a:schemeClr val="dk1"/>
                </a:solidFill>
                <a:latin typeface="+mn-lt"/>
                <a:ea typeface="+mn-ea"/>
              </a:rPr>
              <a:t>118</a:t>
            </a:fld>
            <a:endParaRPr lang="en-US" sz="1800" b="0" strike="noStrike" spc="-1">
              <a:solidFill>
                <a:srgbClr val="000000"/>
              </a:solidFill>
              <a:latin typeface="Times New Roman"/>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4" name="PlaceHolder 1"/>
          <p:cNvSpPr>
            <a:spLocks noGrp="1" noRot="1" noChangeAspect="1"/>
          </p:cNvSpPr>
          <p:nvPr>
            <p:ph type="sldImg"/>
          </p:nvPr>
        </p:nvSpPr>
        <p:spPr>
          <a:xfrm>
            <a:off x="0" y="0"/>
            <a:ext cx="0" cy="0"/>
          </a:xfrm>
          <a:prstGeom prst="rect">
            <a:avLst/>
          </a:prstGeom>
          <a:ln w="0">
            <a:noFill/>
          </a:ln>
        </p:spPr>
      </p:sp>
      <p:sp>
        <p:nvSpPr>
          <p:cNvPr id="2795"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Exam strategy for the Beta series. Six practical tips covering reading comprehension, elimination, TMSH, packet captures, log analysis, and HA.</a:t>
            </a:r>
          </a:p>
          <a:p>
            <a:pPr marL="216000" indent="-216000">
              <a:buNone/>
            </a:pPr>
            <a:endParaRPr lang="en-US"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KEY POINT: show = runtime statistics/state. list = configuration. Students confuse these constantly.</a:t>
            </a:r>
          </a:p>
        </p:txBody>
      </p:sp>
      <p:sp>
        <p:nvSpPr>
          <p:cNvPr id="2796" name="PlaceHolder 3"/>
          <p:cNvSpPr>
            <a:spLocks noGrp="1"/>
          </p:cNvSpPr>
          <p:nvPr>
            <p:ph type="sldNum" idx="111"/>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32196C0C-4318-44FD-B593-55CD3C0E9732}" type="slidenum">
              <a:rPr lang="en-US" sz="1800" b="0" strike="noStrike" spc="-1">
                <a:solidFill>
                  <a:schemeClr val="dk1"/>
                </a:solidFill>
                <a:latin typeface="+mn-lt"/>
                <a:ea typeface="+mn-ea"/>
              </a:rPr>
              <a:t>119</a:t>
            </a:fld>
            <a:endParaRPr lang="en-US" sz="1800" b="0" strike="noStrike" spc="-1">
              <a:solidFill>
                <a:srgbClr val="000000"/>
              </a:solidFill>
              <a:latin typeface="Times New Roman"/>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7" name="PlaceHolder 1"/>
          <p:cNvSpPr>
            <a:spLocks noGrp="1" noRot="1" noChangeAspect="1"/>
          </p:cNvSpPr>
          <p:nvPr>
            <p:ph type="sldImg"/>
          </p:nvPr>
        </p:nvSpPr>
        <p:spPr>
          <a:xfrm>
            <a:off x="0" y="0"/>
            <a:ext cx="0" cy="0"/>
          </a:xfrm>
          <a:prstGeom prst="rect">
            <a:avLst/>
          </a:prstGeom>
          <a:ln w="0">
            <a:noFill/>
          </a:ln>
        </p:spPr>
      </p:sp>
      <p:sp>
        <p:nvSpPr>
          <p:cNvPr id="2798"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Five review questions covering Exams 1-3 (networking, VS/LB, iRules/AVR). Each question includes the answer below for instructor-led discussion.</a:t>
            </a:r>
          </a:p>
          <a:p>
            <a:pPr marL="216000" indent="-216000">
              <a:buNone/>
            </a:pPr>
            <a:endParaRPr lang="en-US"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TEACHING APPROACH: Show the question, give students 30 seconds to think, then reveal the answer.</a:t>
            </a:r>
          </a:p>
        </p:txBody>
      </p:sp>
      <p:sp>
        <p:nvSpPr>
          <p:cNvPr id="2799" name="PlaceHolder 3"/>
          <p:cNvSpPr>
            <a:spLocks noGrp="1"/>
          </p:cNvSpPr>
          <p:nvPr>
            <p:ph type="sldNum" idx="112"/>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B41AB718-8FB7-4020-95F8-7C67DF1D6974}" type="slidenum">
              <a:rPr lang="en-US" sz="1800" b="0" strike="noStrike" spc="-1">
                <a:solidFill>
                  <a:schemeClr val="dk1"/>
                </a:solidFill>
                <a:latin typeface="+mn-lt"/>
                <a:ea typeface="+mn-ea"/>
              </a:rPr>
              <a:t>120</a:t>
            </a:fld>
            <a:endParaRPr lang="en-US" sz="1800" b="0" strike="noStrike" spc="-1">
              <a:solidFill>
                <a:srgbClr val="000000"/>
              </a:solidFill>
              <a:latin typeface="Times New Roman"/>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0" name="PlaceHolder 1"/>
          <p:cNvSpPr>
            <a:spLocks noGrp="1" noRot="1" noChangeAspect="1"/>
          </p:cNvSpPr>
          <p:nvPr>
            <p:ph type="sldImg"/>
          </p:nvPr>
        </p:nvSpPr>
        <p:spPr>
          <a:xfrm>
            <a:off x="0" y="0"/>
            <a:ext cx="0" cy="0"/>
          </a:xfrm>
          <a:prstGeom prst="rect">
            <a:avLst/>
          </a:prstGeom>
          <a:ln w="0">
            <a:noFill/>
          </a:ln>
        </p:spPr>
      </p:sp>
      <p:sp>
        <p:nvSpPr>
          <p:cNvPr id="2801"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0">
              <a:lnSpc>
                <a:spcPct val="100000"/>
              </a:lnSpc>
              <a:buNone/>
            </a:pPr>
            <a:r>
              <a:rPr lang="en-US" sz="2000" b="0" strike="noStrike" spc="-1">
                <a:solidFill>
                  <a:srgbClr val="000000"/>
                </a:solidFill>
                <a:latin typeface="Arial"/>
              </a:rPr>
              <a:t>Five review questions covering Exams 4-6 (HA/upgrades, TCP/HTTP pcap, SSL pcap).</a:t>
            </a:r>
          </a:p>
        </p:txBody>
      </p:sp>
      <p:sp>
        <p:nvSpPr>
          <p:cNvPr id="2802" name="PlaceHolder 3"/>
          <p:cNvSpPr>
            <a:spLocks noGrp="1"/>
          </p:cNvSpPr>
          <p:nvPr>
            <p:ph type="sldNum" idx="113"/>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819B2FF0-374C-4511-A5DB-1C2B87089F92}" type="slidenum">
              <a:rPr lang="en-US" sz="1800" b="0" strike="noStrike" spc="-1">
                <a:solidFill>
                  <a:schemeClr val="dk1"/>
                </a:solidFill>
                <a:latin typeface="+mn-lt"/>
                <a:ea typeface="+mn-ea"/>
              </a:rPr>
              <a:t>121</a:t>
            </a:fld>
            <a:endParaRPr lang="en-US" sz="1800" b="0" strike="noStrike" spc="-1">
              <a:solidFill>
                <a:srgbClr val="000000"/>
              </a:solidFill>
              <a:latin typeface="Times New Roman"/>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3" name="PlaceHolder 1"/>
          <p:cNvSpPr>
            <a:spLocks noGrp="1" noRot="1" noChangeAspect="1"/>
          </p:cNvSpPr>
          <p:nvPr>
            <p:ph type="sldImg"/>
          </p:nvPr>
        </p:nvSpPr>
        <p:spPr>
          <a:xfrm>
            <a:off x="0" y="0"/>
            <a:ext cx="0" cy="0"/>
          </a:xfrm>
          <a:prstGeom prst="rect">
            <a:avLst/>
          </a:prstGeom>
          <a:ln w="0">
            <a:noFill/>
          </a:ln>
        </p:spPr>
      </p:sp>
      <p:sp>
        <p:nvSpPr>
          <p:cNvPr id="2804"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216000">
              <a:buNone/>
            </a:pPr>
            <a:r>
              <a:rPr lang="en-US" sz="2000" b="0" strike="noStrike" spc="-1">
                <a:solidFill>
                  <a:srgbClr val="000000"/>
                </a:solidFill>
                <a:latin typeface="Arial"/>
              </a:rPr>
              <a:t>TMSH command reference organized by category with show/list/action columns. Students must know show vs list.</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show = live runtime data (connections, stats, status)</a:t>
            </a:r>
          </a:p>
          <a:p>
            <a:pPr marL="216000" indent="-216000">
              <a:buNone/>
            </a:pPr>
            <a:r>
              <a:rPr lang="en-US" sz="2000" b="0" strike="noStrike" spc="-1">
                <a:solidFill>
                  <a:srgbClr val="000000"/>
                </a:solidFill>
                <a:latin typeface="Arial"/>
              </a:rPr>
              <a:t>list = saved configuration (what's in bigip.conf)</a:t>
            </a:r>
          </a:p>
          <a:p>
            <a:pPr marL="216000" indent="-216000">
              <a:buNone/>
            </a:pPr>
            <a:endParaRPr lang="en-US"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This distinction appears on every exam.</a:t>
            </a:r>
          </a:p>
        </p:txBody>
      </p:sp>
      <p:sp>
        <p:nvSpPr>
          <p:cNvPr id="2805" name="PlaceHolder 3"/>
          <p:cNvSpPr>
            <a:spLocks noGrp="1"/>
          </p:cNvSpPr>
          <p:nvPr>
            <p:ph type="sldNum" idx="114"/>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3AA60C01-7398-4A77-AE8C-4387AFFA00B7}" type="slidenum">
              <a:rPr lang="en-US" sz="1800" b="0" strike="noStrike" spc="-1">
                <a:solidFill>
                  <a:schemeClr val="dk1"/>
                </a:solidFill>
                <a:latin typeface="+mn-lt"/>
                <a:ea typeface="+mn-ea"/>
              </a:rPr>
              <a:t>122</a:t>
            </a:fld>
            <a:endParaRPr lang="en-US" sz="1800" b="0" strike="noStrike" spc="-1">
              <a:solidFill>
                <a:srgbClr val="000000"/>
              </a:solidFill>
              <a:latin typeface="Times New Roman"/>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6" name="PlaceHolder 1"/>
          <p:cNvSpPr>
            <a:spLocks noGrp="1" noRot="1" noChangeAspect="1"/>
          </p:cNvSpPr>
          <p:nvPr>
            <p:ph type="sldImg"/>
          </p:nvPr>
        </p:nvSpPr>
        <p:spPr>
          <a:xfrm>
            <a:off x="0" y="0"/>
            <a:ext cx="0" cy="0"/>
          </a:xfrm>
          <a:prstGeom prst="rect">
            <a:avLst/>
          </a:prstGeom>
          <a:ln w="0">
            <a:noFill/>
          </a:ln>
        </p:spPr>
      </p:sp>
      <p:sp>
        <p:nvSpPr>
          <p:cNvPr id="2807"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0">
              <a:lnSpc>
                <a:spcPct val="100000"/>
              </a:lnSpc>
              <a:buNone/>
            </a:pPr>
            <a:r>
              <a:rPr lang="en-US" sz="2000" b="0" strike="noStrike" spc="-1">
                <a:solidFill>
                  <a:srgbClr val="000000"/>
                </a:solidFill>
                <a:latin typeface="Arial"/>
              </a:rPr>
              <a:t>Key facts organized into four categories. Every item on this slide has appeared in exam questions. Students should review this slide the night before each exam.</a:t>
            </a:r>
          </a:p>
        </p:txBody>
      </p:sp>
      <p:sp>
        <p:nvSpPr>
          <p:cNvPr id="2808" name="PlaceHolder 3"/>
          <p:cNvSpPr>
            <a:spLocks noGrp="1"/>
          </p:cNvSpPr>
          <p:nvPr>
            <p:ph type="sldNum" idx="115"/>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6D1F014E-A1E2-4BE9-9235-F60423434663}" type="slidenum">
              <a:rPr lang="en-US" sz="1800" b="0" strike="noStrike" spc="-1">
                <a:solidFill>
                  <a:schemeClr val="dk1"/>
                </a:solidFill>
                <a:latin typeface="+mn-lt"/>
                <a:ea typeface="+mn-ea"/>
              </a:rPr>
              <a:t>123</a:t>
            </a:fld>
            <a:endParaRPr lang="en-US" sz="1800" b="0" strike="noStrike" spc="-1">
              <a:solidFill>
                <a:srgbClr val="000000"/>
              </a:solidFill>
              <a:latin typeface="Times New Roman"/>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9" name="PlaceHolder 1"/>
          <p:cNvSpPr>
            <a:spLocks noGrp="1" noRot="1" noChangeAspect="1"/>
          </p:cNvSpPr>
          <p:nvPr>
            <p:ph type="sldImg"/>
          </p:nvPr>
        </p:nvSpPr>
        <p:spPr>
          <a:xfrm>
            <a:off x="0" y="0"/>
            <a:ext cx="0" cy="0"/>
          </a:xfrm>
          <a:prstGeom prst="rect">
            <a:avLst/>
          </a:prstGeom>
          <a:ln w="0">
            <a:noFill/>
          </a:ln>
        </p:spPr>
      </p:sp>
      <p:sp>
        <p:nvSpPr>
          <p:cNvPr id="2810"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r>
              <a:rPr lang="en-US" sz="2000" b="0" strike="noStrike" spc="-1">
                <a:solidFill>
                  <a:srgbClr val="000000"/>
                </a:solidFill>
                <a:latin typeface="Arial"/>
              </a:rPr>
              <a:t>WHAT THIS SLIDE TEACHES</a:t>
            </a:r>
          </a:p>
          <a:p>
            <a:pPr marL="216000" indent="0">
              <a:lnSpc>
                <a:spcPct val="100000"/>
              </a:lnSpc>
              <a:buNone/>
            </a:pPr>
            <a:r>
              <a:rPr lang="en-US" sz="2000" b="0" strike="noStrike" spc="-1">
                <a:solidFill>
                  <a:srgbClr val="000000"/>
                </a:solidFill>
                <a:latin typeface="Arial"/>
              </a:rPr>
              <a:t>Course closing. Resource links for continued study.</a:t>
            </a:r>
          </a:p>
        </p:txBody>
      </p:sp>
      <p:sp>
        <p:nvSpPr>
          <p:cNvPr id="2811" name="PlaceHolder 3"/>
          <p:cNvSpPr>
            <a:spLocks noGrp="1"/>
          </p:cNvSpPr>
          <p:nvPr>
            <p:ph type="sldNum" idx="116"/>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A01F2DB8-9AA9-41BA-939D-BF46A7C25DD4}" type="slidenum">
              <a:rPr lang="en-US" sz="1800" b="0" strike="noStrike" spc="-1">
                <a:solidFill>
                  <a:schemeClr val="dk1"/>
                </a:solidFill>
                <a:latin typeface="+mn-lt"/>
                <a:ea typeface="+mn-ea"/>
              </a:rPr>
              <a:t>124</a:t>
            </a:fld>
            <a:endParaRPr lang="en-US" sz="1800" b="0" strike="noStrike" spc="-1">
              <a:solidFill>
                <a:srgbClr val="000000"/>
              </a:solidFill>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DEFAULT">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1_Default">
    <p:spTree>
      <p:nvGrpSpPr>
        <p:cNvPr id="1" name=""/>
        <p:cNvGrpSpPr/>
        <p:nvPr/>
      </p:nvGrpSpPr>
      <p:grpSpPr>
        <a:xfrm>
          <a:off x="0" y="0"/>
          <a:ext cx="0" cy="0"/>
          <a:chOff x="0" y="0"/>
          <a:chExt cx="0" cy="0"/>
        </a:xfrm>
      </p:grpSpPr>
      <p:sp>
        <p:nvSpPr>
          <p:cNvPr id="4"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buNone/>
            </a:pPr>
            <a:endParaRPr lang="en-US" sz="1800" b="0" strike="noStrike" spc="-1">
              <a:solidFill>
                <a:schemeClr val="dk1"/>
              </a:solidFill>
              <a:latin typeface="Calibri"/>
            </a:endParaRPr>
          </a:p>
        </p:txBody>
      </p:sp>
      <p:sp>
        <p:nvSpPr>
          <p:cNvPr id="5" name="PlaceHolder 2"/>
          <p:cNvSpPr>
            <a:spLocks noGrp="1"/>
          </p:cNvSpPr>
          <p:nvPr>
            <p:ph/>
          </p:nvPr>
        </p:nvSpPr>
        <p:spPr>
          <a:xfrm>
            <a:off x="457200" y="1203480"/>
            <a:ext cx="8229240" cy="298296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chemeClr val="dk1"/>
              </a:solidFill>
              <a:latin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3374059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buNone/>
            </a:pPr>
            <a:r>
              <a:rPr lang="en-US" sz="1800" b="0" strike="noStrike" spc="-1">
                <a:solidFill>
                  <a:schemeClr val="dk1"/>
                </a:solidFill>
                <a:latin typeface="Calibri"/>
              </a:rPr>
              <a:t>Click to edit the title text format</a:t>
            </a:r>
          </a:p>
        </p:txBody>
      </p:sp>
      <p:sp>
        <p:nvSpPr>
          <p:cNvPr id="3"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solidFill>
                  <a:schemeClr val="dk1"/>
                </a:solidFill>
                <a:latin typeface="Calibri"/>
              </a:rPr>
              <a:t>Click to edit the outline text format</a:t>
            </a:r>
          </a:p>
          <a:p>
            <a:pPr marL="864000" lvl="1" indent="-324000">
              <a:spcBef>
                <a:spcPts val="1134"/>
              </a:spcBef>
              <a:buClr>
                <a:srgbClr val="000000"/>
              </a:buClr>
              <a:buSzPct val="75000"/>
              <a:buFont typeface="Symbol" charset="2"/>
              <a:buChar char=""/>
            </a:pPr>
            <a:r>
              <a:rPr lang="en-US" sz="2400" b="0" strike="noStrike" spc="-1">
                <a:solidFill>
                  <a:schemeClr val="dk1"/>
                </a:solidFill>
                <a:latin typeface="Calibri"/>
              </a:rPr>
              <a:t>Second Outline Level</a:t>
            </a:r>
          </a:p>
          <a:p>
            <a:pPr marL="1296000" lvl="2" indent="-288000">
              <a:spcBef>
                <a:spcPts val="850"/>
              </a:spcBef>
              <a:buClr>
                <a:srgbClr val="000000"/>
              </a:buClr>
              <a:buSzPct val="45000"/>
              <a:buFont typeface="Wingdings" charset="2"/>
              <a:buChar char=""/>
            </a:pPr>
            <a:r>
              <a:rPr lang="en-US" sz="2000" b="0" strike="noStrike" spc="-1">
                <a:solidFill>
                  <a:schemeClr val="dk1"/>
                </a:solidFill>
                <a:latin typeface="Calibri"/>
              </a:rPr>
              <a:t>Third Outline Level</a:t>
            </a:r>
          </a:p>
          <a:p>
            <a:pPr marL="1728000" lvl="3" indent="-216000">
              <a:spcBef>
                <a:spcPts val="567"/>
              </a:spcBef>
              <a:buClr>
                <a:srgbClr val="000000"/>
              </a:buClr>
              <a:buSzPct val="75000"/>
              <a:buFont typeface="Symbol" charset="2"/>
              <a:buChar char=""/>
            </a:pPr>
            <a:r>
              <a:rPr lang="en-US" sz="2000" b="0" strike="noStrike" spc="-1">
                <a:solidFill>
                  <a:schemeClr val="dk1"/>
                </a:solidFill>
                <a:latin typeface="Calibri"/>
              </a:rPr>
              <a:t>Fourth Outline Level</a:t>
            </a:r>
          </a:p>
          <a:p>
            <a:pPr marL="2160000" lvl="4" indent="-216000">
              <a:spcBef>
                <a:spcPts val="283"/>
              </a:spcBef>
              <a:buClr>
                <a:srgbClr val="000000"/>
              </a:buClr>
              <a:buSzPct val="45000"/>
              <a:buFont typeface="Wingdings" charset="2"/>
              <a:buChar char=""/>
            </a:pPr>
            <a:r>
              <a:rPr lang="en-US" sz="2000" b="0" strike="noStrike" spc="-1">
                <a:solidFill>
                  <a:schemeClr val="dk1"/>
                </a:solidFill>
                <a:latin typeface="Calibri"/>
              </a:rPr>
              <a:t>Fifth Outline Level</a:t>
            </a:r>
          </a:p>
          <a:p>
            <a:pPr marL="2592000" lvl="5" indent="-216000">
              <a:spcBef>
                <a:spcPts val="283"/>
              </a:spcBef>
              <a:buClr>
                <a:srgbClr val="000000"/>
              </a:buClr>
              <a:buSzPct val="45000"/>
              <a:buFont typeface="Wingdings" charset="2"/>
              <a:buChar char=""/>
            </a:pPr>
            <a:r>
              <a:rPr lang="en-US" sz="2000" b="0" strike="noStrike" spc="-1">
                <a:solidFill>
                  <a:schemeClr val="dk1"/>
                </a:solidFill>
                <a:latin typeface="Calibri"/>
              </a:rPr>
              <a:t>Sixth Outline Level</a:t>
            </a:r>
          </a:p>
          <a:p>
            <a:pPr marL="3024000" lvl="6" indent="-216000">
              <a:spcBef>
                <a:spcPts val="283"/>
              </a:spcBef>
              <a:buClr>
                <a:srgbClr val="000000"/>
              </a:buClr>
              <a:buSzPct val="45000"/>
              <a:buFont typeface="Wingdings" charset="2"/>
              <a:buChar char=""/>
            </a:pPr>
            <a:r>
              <a:rPr lang="en-US" sz="2000" b="0" strike="noStrike" spc="-1">
                <a:solidFill>
                  <a:schemeClr val="dk1"/>
                </a:solid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1"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9881461"/>
      </p:ext>
    </p:extLst>
  </p:cSld>
  <p:clrMap bg1="lt1" tx1="dk1" bg2="lt2" tx2="dk2" accent1="accent1" accent2="accent2" accent3="accent3" accent4="accent4" accent5="accent5" accent6="accent6" hlink="hlink" folHlink="folHlink"/>
  <p:sldLayoutIdLst>
    <p:sldLayoutId id="214748367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1.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8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3.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6.xml"/><Relationship Id="rId1" Type="http://schemas.openxmlformats.org/officeDocument/2006/relationships/slideLayout" Target="../slideLayouts/slideLayout3.xml"/></Relationships>
</file>

<file path=ppt/slides/_rels/slide10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7.xml"/><Relationship Id="rId1" Type="http://schemas.openxmlformats.org/officeDocument/2006/relationships/slideLayout" Target="../slideLayouts/slideLayout3.xml"/></Relationships>
</file>

<file path=ppt/slides/_rels/slide10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8.xml"/><Relationship Id="rId1" Type="http://schemas.openxmlformats.org/officeDocument/2006/relationships/slideLayout" Target="../slideLayouts/slideLayout3.xml"/></Relationships>
</file>

<file path=ppt/slides/_rels/slide10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9.xml"/><Relationship Id="rId1" Type="http://schemas.openxmlformats.org/officeDocument/2006/relationships/slideLayout" Target="../slideLayouts/slideLayout3.xml"/></Relationships>
</file>

<file path=ppt/slides/_rels/slide1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0.xml"/><Relationship Id="rId1" Type="http://schemas.openxmlformats.org/officeDocument/2006/relationships/slideLayout" Target="../slideLayouts/slideLayout3.xml"/></Relationships>
</file>

<file path=ppt/slides/_rels/slide1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1.xml"/><Relationship Id="rId1" Type="http://schemas.openxmlformats.org/officeDocument/2006/relationships/slideLayout" Target="../slideLayouts/slideLayout3.xml"/></Relationships>
</file>

<file path=ppt/slides/_rels/slide1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2.xml"/><Relationship Id="rId1" Type="http://schemas.openxmlformats.org/officeDocument/2006/relationships/slideLayout" Target="../slideLayouts/slideLayout3.xml"/></Relationships>
</file>

<file path=ppt/slides/_rels/slide1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3.xml"/><Relationship Id="rId1" Type="http://schemas.openxmlformats.org/officeDocument/2006/relationships/slideLayout" Target="../slideLayouts/slideLayout3.xml"/></Relationships>
</file>

<file path=ppt/slides/_rels/slide1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4.xml"/><Relationship Id="rId1" Type="http://schemas.openxmlformats.org/officeDocument/2006/relationships/slideLayout" Target="../slideLayouts/slideLayout3.xml"/></Relationships>
</file>

<file path=ppt/slides/_rels/slide1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5.xml"/><Relationship Id="rId1" Type="http://schemas.openxmlformats.org/officeDocument/2006/relationships/slideLayout" Target="../slideLayouts/slideLayout3.xml"/></Relationships>
</file>

<file path=ppt/slides/_rels/slide1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6.xml"/><Relationship Id="rId1" Type="http://schemas.openxmlformats.org/officeDocument/2006/relationships/slideLayout" Target="../slideLayouts/slideLayout3.xml"/></Relationships>
</file>

<file path=ppt/slides/_rels/slide1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38" name="Shape 0"/>
          <p:cNvSpPr/>
          <p:nvPr/>
        </p:nvSpPr>
        <p:spPr>
          <a:xfrm>
            <a:off x="0" y="507024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39" name="Shape 1"/>
          <p:cNvSpPr/>
          <p:nvPr/>
        </p:nvSpPr>
        <p:spPr>
          <a:xfrm>
            <a:off x="1371600" y="507024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40" name="Shape 2"/>
          <p:cNvSpPr/>
          <p:nvPr/>
        </p:nvSpPr>
        <p:spPr>
          <a:xfrm>
            <a:off x="4114800" y="507024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41" name="Shape 3"/>
          <p:cNvSpPr/>
          <p:nvPr/>
        </p:nvSpPr>
        <p:spPr>
          <a:xfrm>
            <a:off x="5486400" y="507024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42" name="Shape 4"/>
          <p:cNvSpPr/>
          <p:nvPr/>
        </p:nvSpPr>
        <p:spPr>
          <a:xfrm>
            <a:off x="7772400" y="507024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pic>
        <p:nvPicPr>
          <p:cNvPr id="43" name="Image 0" descr="preencoded.png"/>
          <p:cNvPicPr/>
          <p:nvPr/>
        </p:nvPicPr>
        <p:blipFill>
          <a:blip r:embed="rId3"/>
          <a:stretch/>
        </p:blipFill>
        <p:spPr>
          <a:xfrm>
            <a:off x="365760" y="274320"/>
            <a:ext cx="914040" cy="914040"/>
          </a:xfrm>
          <a:prstGeom prst="rect">
            <a:avLst/>
          </a:prstGeom>
          <a:ln w="0">
            <a:noFill/>
          </a:ln>
        </p:spPr>
      </p:pic>
      <p:sp>
        <p:nvSpPr>
          <p:cNvPr id="44" name="Text 5"/>
          <p:cNvSpPr/>
          <p:nvPr/>
        </p:nvSpPr>
        <p:spPr>
          <a:xfrm>
            <a:off x="365760" y="1463040"/>
            <a:ext cx="7314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0" strike="noStrike" spc="-1">
                <a:solidFill>
                  <a:srgbClr val="F29A36"/>
                </a:solidFill>
                <a:latin typeface="Calibri"/>
                <a:ea typeface="Calibri"/>
              </a:rPr>
              <a:t>F5 Certified Technology Specialist</a:t>
            </a:r>
            <a:endParaRPr lang="en-US" sz="1800" b="0" strike="noStrike" spc="-1">
              <a:solidFill>
                <a:srgbClr val="FFFFFF"/>
              </a:solidFill>
              <a:latin typeface="Arial"/>
            </a:endParaRPr>
          </a:p>
        </p:txBody>
      </p:sp>
      <p:sp>
        <p:nvSpPr>
          <p:cNvPr id="45" name="Text 6"/>
          <p:cNvSpPr/>
          <p:nvPr/>
        </p:nvSpPr>
        <p:spPr>
          <a:xfrm>
            <a:off x="365760" y="1828800"/>
            <a:ext cx="731484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4800" b="1" strike="noStrike" spc="-1">
                <a:solidFill>
                  <a:srgbClr val="FFFFFF"/>
                </a:solidFill>
                <a:latin typeface="Arial"/>
                <a:ea typeface="Arial"/>
              </a:rPr>
              <a:t>BIG-IP LTM</a:t>
            </a:r>
            <a:endParaRPr lang="en-US" sz="4800" b="0" strike="noStrike" spc="-1">
              <a:solidFill>
                <a:srgbClr val="FFFFFF"/>
              </a:solidFill>
              <a:latin typeface="Arial"/>
            </a:endParaRPr>
          </a:p>
        </p:txBody>
      </p:sp>
      <p:sp>
        <p:nvSpPr>
          <p:cNvPr id="46" name="Text 7"/>
          <p:cNvSpPr/>
          <p:nvPr/>
        </p:nvSpPr>
        <p:spPr>
          <a:xfrm>
            <a:off x="365760" y="2560320"/>
            <a:ext cx="73148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0" strike="noStrike" spc="-1">
                <a:solidFill>
                  <a:srgbClr val="666666"/>
                </a:solidFill>
                <a:latin typeface="Calibri"/>
                <a:ea typeface="Calibri"/>
              </a:rPr>
              <a:t>Scenario-Based Certification Prep Course</a:t>
            </a:r>
            <a:endParaRPr lang="en-US" sz="2000" b="0" strike="noStrike" spc="-1">
              <a:solidFill>
                <a:srgbClr val="FFFFFF"/>
              </a:solidFill>
              <a:latin typeface="Arial"/>
            </a:endParaRPr>
          </a:p>
        </p:txBody>
      </p:sp>
      <p:sp>
        <p:nvSpPr>
          <p:cNvPr id="47" name="Shape 8"/>
          <p:cNvSpPr/>
          <p:nvPr/>
        </p:nvSpPr>
        <p:spPr>
          <a:xfrm>
            <a:off x="365760" y="3200400"/>
            <a:ext cx="4571640" cy="1800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6640" rIns="90000" bIns="-26640" anchor="t">
            <a:noAutofit/>
          </a:bodyPr>
          <a:lstStyle/>
          <a:p>
            <a:pPr defTabSz="914400">
              <a:lnSpc>
                <a:spcPct val="100000"/>
              </a:lnSpc>
            </a:pPr>
            <a:endParaRPr lang="en-US" sz="1800" b="0" strike="noStrike" spc="-1">
              <a:solidFill>
                <a:schemeClr val="dk1"/>
              </a:solidFill>
              <a:latin typeface="Calibri"/>
            </a:endParaRPr>
          </a:p>
        </p:txBody>
      </p:sp>
      <p:sp>
        <p:nvSpPr>
          <p:cNvPr id="48" name="Text 9"/>
          <p:cNvSpPr/>
          <p:nvPr/>
        </p:nvSpPr>
        <p:spPr>
          <a:xfrm>
            <a:off x="365760" y="3383280"/>
            <a:ext cx="7314840" cy="1096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r>
              <a:rPr lang="en-US" sz="1300" b="0" strike="noStrike" spc="-1">
                <a:solidFill>
                  <a:srgbClr val="666666"/>
                </a:solidFill>
                <a:latin typeface="Calibri"/>
                <a:ea typeface="Calibri"/>
              </a:rPr>
              <a:t>Covering the F5-CTS BIG-IP LTM Beta Exam Series</a:t>
            </a:r>
            <a:endParaRPr lang="en-US" sz="1300" b="0" strike="noStrike" spc="-1">
              <a:solidFill>
                <a:srgbClr val="FFFFFF"/>
              </a:solidFill>
              <a:latin typeface="Arial"/>
            </a:endParaRPr>
          </a:p>
          <a:p>
            <a:r>
              <a:rPr lang="en-US" sz="1200" b="0" strike="noStrike" spc="-1">
                <a:solidFill>
                  <a:srgbClr val="666666"/>
                </a:solidFill>
                <a:latin typeface="Courier New"/>
                <a:ea typeface="Courier New"/>
              </a:rPr>
              <a:t>F5CTSLTM1-B through F5CTSLTM6-B</a:t>
            </a:r>
            <a:endParaRPr lang="en-US" sz="1200" b="0" strike="noStrike" spc="-1">
              <a:solidFill>
                <a:srgbClr val="FFFFFF"/>
              </a:solidFill>
              <a:latin typeface="Arial"/>
            </a:endParaRPr>
          </a:p>
          <a:p>
            <a:endParaRPr lang="en-US" sz="1200" b="0" strike="noStrike" spc="-1">
              <a:solidFill>
                <a:srgbClr val="FFFFFF"/>
              </a:solidFill>
              <a:latin typeface="Arial"/>
            </a:endParaRPr>
          </a:p>
          <a:p>
            <a:pPr defTabSz="914400">
              <a:lnSpc>
                <a:spcPct val="100000"/>
              </a:lnSpc>
              <a:tabLst>
                <a:tab pos="0" algn="l"/>
              </a:tabLst>
            </a:pPr>
            <a:r>
              <a:rPr lang="en-US" sz="1200" b="0" strike="noStrike" spc="-1">
                <a:solidFill>
                  <a:srgbClr val="666666"/>
                </a:solidFill>
                <a:latin typeface="Calibri"/>
                <a:ea typeface="Calibri"/>
              </a:rPr>
              <a:t>With full mapping to the legacy 301A — BIG-IP LTM Specialist:</a:t>
            </a:r>
            <a:endParaRPr lang="en-US" sz="1200" b="0" strike="noStrike" spc="-1">
              <a:solidFill>
                <a:srgbClr val="FFFFFF"/>
              </a:solidFill>
              <a:latin typeface="Arial"/>
            </a:endParaRPr>
          </a:p>
          <a:p>
            <a:pPr defTabSz="914400">
              <a:lnSpc>
                <a:spcPct val="100000"/>
              </a:lnSpc>
              <a:tabLst>
                <a:tab pos="0" algn="l"/>
              </a:tabLst>
            </a:pPr>
            <a:r>
              <a:rPr lang="en-US" sz="1200" b="0" strike="noStrike" spc="-1">
                <a:solidFill>
                  <a:srgbClr val="666666"/>
                </a:solidFill>
                <a:latin typeface="Calibri"/>
                <a:ea typeface="Calibri"/>
              </a:rPr>
              <a:t>Architect, Setup and Deploy</a:t>
            </a:r>
            <a:endParaRPr lang="en-US" sz="1200" b="0" strike="noStrike" spc="-1">
              <a:solidFill>
                <a:srgbClr val="FFFFFF"/>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9"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50"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51"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52"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53"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54"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2    © 2026 F5</a:t>
            </a:r>
            <a:endParaRPr lang="en-US" sz="800" b="0" strike="noStrike" spc="-1">
              <a:solidFill>
                <a:srgbClr val="000000"/>
              </a:solidFill>
              <a:latin typeface="Arial"/>
            </a:endParaRPr>
          </a:p>
        </p:txBody>
      </p:sp>
      <p:pic>
        <p:nvPicPr>
          <p:cNvPr id="55" name="Image 0" descr="preencoded.png"/>
          <p:cNvPicPr/>
          <p:nvPr/>
        </p:nvPicPr>
        <p:blipFill>
          <a:blip r:embed="rId3"/>
          <a:stretch/>
        </p:blipFill>
        <p:spPr>
          <a:xfrm>
            <a:off x="8458200" y="4663440"/>
            <a:ext cx="383760" cy="383760"/>
          </a:xfrm>
          <a:prstGeom prst="rect">
            <a:avLst/>
          </a:prstGeom>
          <a:ln w="0">
            <a:noFill/>
          </a:ln>
        </p:spPr>
      </p:pic>
      <p:sp>
        <p:nvSpPr>
          <p:cNvPr id="56" name="Text 6"/>
          <p:cNvSpPr/>
          <p:nvPr/>
        </p:nvSpPr>
        <p:spPr>
          <a:xfrm>
            <a:off x="457200" y="274320"/>
            <a:ext cx="82292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What this course covers</a:t>
            </a:r>
            <a:endParaRPr lang="en-US" sz="2800" b="0" strike="noStrike" spc="-1">
              <a:solidFill>
                <a:srgbClr val="000000"/>
              </a:solidFill>
              <a:latin typeface="Arial"/>
            </a:endParaRPr>
          </a:p>
        </p:txBody>
      </p:sp>
      <p:sp>
        <p:nvSpPr>
          <p:cNvPr id="57" name="Text 7"/>
          <p:cNvSpPr/>
          <p:nvPr/>
        </p:nvSpPr>
        <p:spPr>
          <a:xfrm>
            <a:off x="457200" y="658440"/>
            <a:ext cx="82292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strike="noStrike" spc="-1">
                <a:solidFill>
                  <a:srgbClr val="666666"/>
                </a:solidFill>
                <a:latin typeface="Calibri"/>
                <a:ea typeface="Calibri"/>
              </a:rPr>
              <a:t>A comprehensive, scenario-based training course for the F5-CTS BIG-IP LTM certification</a:t>
            </a:r>
            <a:endParaRPr lang="en-US" sz="1300" b="0" strike="noStrike" spc="-1">
              <a:solidFill>
                <a:srgbClr val="000000"/>
              </a:solidFill>
              <a:latin typeface="Arial"/>
            </a:endParaRPr>
          </a:p>
        </p:txBody>
      </p:sp>
      <p:sp>
        <p:nvSpPr>
          <p:cNvPr id="58" name="Shape 8"/>
          <p:cNvSpPr/>
          <p:nvPr/>
        </p:nvSpPr>
        <p:spPr>
          <a:xfrm>
            <a:off x="365760" y="1005840"/>
            <a:ext cx="2651400" cy="31968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59" name="Text 9"/>
          <p:cNvSpPr/>
          <p:nvPr/>
        </p:nvSpPr>
        <p:spPr>
          <a:xfrm>
            <a:off x="365760" y="1005840"/>
            <a:ext cx="265140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strike="noStrike" spc="-1">
                <a:solidFill>
                  <a:srgbClr val="FFFFFF"/>
                </a:solidFill>
                <a:latin typeface="Arial"/>
                <a:ea typeface="Arial"/>
              </a:rPr>
              <a:t>Who is this for</a:t>
            </a:r>
            <a:endParaRPr lang="en-US" sz="1300" b="0" strike="noStrike" spc="-1">
              <a:solidFill>
                <a:srgbClr val="000000"/>
              </a:solidFill>
              <a:latin typeface="Arial"/>
            </a:endParaRPr>
          </a:p>
        </p:txBody>
      </p:sp>
      <p:sp>
        <p:nvSpPr>
          <p:cNvPr id="60" name="Shape 10"/>
          <p:cNvSpPr/>
          <p:nvPr/>
        </p:nvSpPr>
        <p:spPr>
          <a:xfrm>
            <a:off x="365760" y="1325880"/>
            <a:ext cx="2651400" cy="246852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61" name="Text 11"/>
          <p:cNvSpPr/>
          <p:nvPr/>
        </p:nvSpPr>
        <p:spPr>
          <a:xfrm>
            <a:off x="457200" y="1371600"/>
            <a:ext cx="2468520" cy="2377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950" b="0" strike="noStrike" spc="-1">
                <a:solidFill>
                  <a:srgbClr val="333333"/>
                </a:solidFill>
                <a:latin typeface="Calibri"/>
                <a:ea typeface="Calibri"/>
              </a:rPr>
              <a:t>F5 engineers preparing for F5-CTS BIG-IP LTM certification (Beta or legacy 301A). Network engineers expanding into application delivery. Anyone managing BIG-IP LTM in production who wants deeper expertise and an industry-recognized credential.</a:t>
            </a:r>
            <a:endParaRPr lang="en-US" sz="950" b="0" strike="noStrike" spc="-1">
              <a:solidFill>
                <a:srgbClr val="000000"/>
              </a:solidFill>
              <a:latin typeface="Arial"/>
            </a:endParaRPr>
          </a:p>
        </p:txBody>
      </p:sp>
      <p:sp>
        <p:nvSpPr>
          <p:cNvPr id="62" name="Shape 12"/>
          <p:cNvSpPr/>
          <p:nvPr/>
        </p:nvSpPr>
        <p:spPr>
          <a:xfrm>
            <a:off x="3200400" y="1005840"/>
            <a:ext cx="2651400" cy="319680"/>
          </a:xfrm>
          <a:prstGeom prst="rect">
            <a:avLst/>
          </a:prstGeom>
          <a:solidFill>
            <a:srgbClr val="00963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63" name="Text 13"/>
          <p:cNvSpPr/>
          <p:nvPr/>
        </p:nvSpPr>
        <p:spPr>
          <a:xfrm>
            <a:off x="3200400" y="1005840"/>
            <a:ext cx="265140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strike="noStrike" spc="-1">
                <a:solidFill>
                  <a:srgbClr val="FFFFFF"/>
                </a:solidFill>
                <a:latin typeface="Arial"/>
                <a:ea typeface="Arial"/>
              </a:rPr>
              <a:t>What you will learn</a:t>
            </a:r>
            <a:endParaRPr lang="en-US" sz="1300" b="0" strike="noStrike" spc="-1">
              <a:solidFill>
                <a:srgbClr val="000000"/>
              </a:solidFill>
              <a:latin typeface="Arial"/>
            </a:endParaRPr>
          </a:p>
        </p:txBody>
      </p:sp>
      <p:sp>
        <p:nvSpPr>
          <p:cNvPr id="64" name="Shape 14"/>
          <p:cNvSpPr/>
          <p:nvPr/>
        </p:nvSpPr>
        <p:spPr>
          <a:xfrm>
            <a:off x="3200400" y="1325880"/>
            <a:ext cx="2651400" cy="246852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65" name="Text 15"/>
          <p:cNvSpPr/>
          <p:nvPr/>
        </p:nvSpPr>
        <p:spPr>
          <a:xfrm>
            <a:off x="3291840" y="1371600"/>
            <a:ext cx="2468520" cy="2377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950" b="0" strike="noStrike" spc="-1">
                <a:solidFill>
                  <a:srgbClr val="333333"/>
                </a:solidFill>
                <a:latin typeface="Calibri"/>
                <a:ea typeface="Calibri"/>
              </a:rPr>
              <a:t>Deploy LTM applications end-to-end. Configure profiles, persistence, SSL, iRules, and monitors. Build HA clusters with DSC, traffic groups, and failsafe. Troubleshoot using logs, tcpdump, and AVR. Secure and optimize the BIG-IP platform. Pass all six Beta exams.</a:t>
            </a:r>
            <a:endParaRPr lang="en-US" sz="950" b="0" strike="noStrike" spc="-1">
              <a:solidFill>
                <a:srgbClr val="000000"/>
              </a:solidFill>
              <a:latin typeface="Arial"/>
            </a:endParaRPr>
          </a:p>
        </p:txBody>
      </p:sp>
      <p:sp>
        <p:nvSpPr>
          <p:cNvPr id="66" name="Shape 16"/>
          <p:cNvSpPr/>
          <p:nvPr/>
        </p:nvSpPr>
        <p:spPr>
          <a:xfrm>
            <a:off x="6035040" y="1005840"/>
            <a:ext cx="2651400" cy="31968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67" name="Text 17"/>
          <p:cNvSpPr/>
          <p:nvPr/>
        </p:nvSpPr>
        <p:spPr>
          <a:xfrm>
            <a:off x="6035040" y="1005840"/>
            <a:ext cx="265140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strike="noStrike" spc="-1">
                <a:solidFill>
                  <a:srgbClr val="FFFFFF"/>
                </a:solidFill>
                <a:latin typeface="Arial"/>
                <a:ea typeface="Arial"/>
              </a:rPr>
              <a:t>How we teach it</a:t>
            </a:r>
            <a:endParaRPr lang="en-US" sz="1300" b="0" strike="noStrike" spc="-1">
              <a:solidFill>
                <a:srgbClr val="000000"/>
              </a:solidFill>
              <a:latin typeface="Arial"/>
            </a:endParaRPr>
          </a:p>
        </p:txBody>
      </p:sp>
      <p:sp>
        <p:nvSpPr>
          <p:cNvPr id="68" name="Shape 18"/>
          <p:cNvSpPr/>
          <p:nvPr/>
        </p:nvSpPr>
        <p:spPr>
          <a:xfrm>
            <a:off x="6035040" y="1325880"/>
            <a:ext cx="2651400" cy="246852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69" name="Text 19"/>
          <p:cNvSpPr/>
          <p:nvPr/>
        </p:nvSpPr>
        <p:spPr>
          <a:xfrm>
            <a:off x="6126480" y="1371600"/>
            <a:ext cx="2468520" cy="2377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950" b="0" strike="noStrike" spc="-1">
                <a:solidFill>
                  <a:srgbClr val="333333"/>
                </a:solidFill>
                <a:latin typeface="Calibri"/>
                <a:ea typeface="Calibri"/>
              </a:rPr>
              <a:t>Scenario-based slides with real-world context. GUI walkthroughs and TMSH command coverage. Hands-on labs (11 modules, 5–6 hours total). Exam checkpoint questions after every lab. Full speaker notes for self-study. Gap-fill slides for objectives not covered in labs.</a:t>
            </a:r>
            <a:endParaRPr lang="en-US" sz="950" b="0" strike="noStrike" spc="-1">
              <a:solidFill>
                <a:srgbClr val="000000"/>
              </a:solidFill>
              <a:latin typeface="Arial"/>
            </a:endParaRPr>
          </a:p>
        </p:txBody>
      </p:sp>
      <p:sp>
        <p:nvSpPr>
          <p:cNvPr id="70" name="Shape 20"/>
          <p:cNvSpPr/>
          <p:nvPr/>
        </p:nvSpPr>
        <p:spPr>
          <a:xfrm>
            <a:off x="365760" y="3931920"/>
            <a:ext cx="8412120" cy="685440"/>
          </a:xfrm>
          <a:prstGeom prst="rect">
            <a:avLst/>
          </a:prstGeom>
          <a:solidFill>
            <a:srgbClr val="E8F0F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71" name="Text 21"/>
          <p:cNvSpPr/>
          <p:nvPr/>
        </p:nvSpPr>
        <p:spPr>
          <a:xfrm>
            <a:off x="548640" y="3950280"/>
            <a:ext cx="804636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strike="noStrike" spc="-1">
                <a:solidFill>
                  <a:srgbClr val="0E41AA"/>
                </a:solidFill>
                <a:latin typeface="Calibri"/>
                <a:ea typeface="Calibri"/>
              </a:rPr>
              <a:t>Course structure: </a:t>
            </a:r>
            <a:r>
              <a:rPr lang="en-US" sz="900" b="0" strike="noStrike" spc="-1">
                <a:solidFill>
                  <a:srgbClr val="1A3A6C"/>
                </a:solidFill>
                <a:latin typeface="Calibri"/>
                <a:ea typeface="Calibri"/>
              </a:rPr>
              <a:t>11 hands-on lab modules (slides + labs) + gap-fill slide block (8 objectives not covered in labs) + final review and exam prep. Each lab has an opener mapping Beta objectives, technical slides with GUI + TMSH, a lab exercise, and exam checkpoint questions with answers in speaker notes.</a:t>
            </a:r>
            <a:endParaRPr lang="en-US" sz="900" b="0" strike="noStrike" spc="-1">
              <a:solidFill>
                <a:srgbClr val="000000"/>
              </a:solidFill>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2"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73"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74"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75"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76"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77"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3    © 2026 F5</a:t>
            </a:r>
            <a:endParaRPr lang="en-US" sz="800" b="0" strike="noStrike" spc="-1">
              <a:solidFill>
                <a:srgbClr val="000000"/>
              </a:solidFill>
              <a:latin typeface="Arial"/>
            </a:endParaRPr>
          </a:p>
        </p:txBody>
      </p:sp>
      <p:pic>
        <p:nvPicPr>
          <p:cNvPr id="78" name="Image 0" descr="preencoded.png"/>
          <p:cNvPicPr/>
          <p:nvPr/>
        </p:nvPicPr>
        <p:blipFill>
          <a:blip r:embed="rId3"/>
          <a:stretch/>
        </p:blipFill>
        <p:spPr>
          <a:xfrm>
            <a:off x="8458200" y="4663440"/>
            <a:ext cx="383760" cy="383760"/>
          </a:xfrm>
          <a:prstGeom prst="rect">
            <a:avLst/>
          </a:prstGeom>
          <a:ln w="0">
            <a:noFill/>
          </a:ln>
        </p:spPr>
      </p:pic>
      <p:sp>
        <p:nvSpPr>
          <p:cNvPr id="79" name="Text 6"/>
          <p:cNvSpPr/>
          <p:nvPr/>
        </p:nvSpPr>
        <p:spPr>
          <a:xfrm>
            <a:off x="457200" y="274320"/>
            <a:ext cx="82292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301A vs F5-CTS Beta exam series</a:t>
            </a:r>
            <a:endParaRPr lang="en-US" sz="2800" b="0" strike="noStrike" spc="-1">
              <a:solidFill>
                <a:srgbClr val="000000"/>
              </a:solidFill>
              <a:latin typeface="Arial"/>
            </a:endParaRPr>
          </a:p>
        </p:txBody>
      </p:sp>
      <p:sp>
        <p:nvSpPr>
          <p:cNvPr id="80" name="Text 7"/>
          <p:cNvSpPr/>
          <p:nvPr/>
        </p:nvSpPr>
        <p:spPr>
          <a:xfrm>
            <a:off x="457200" y="658440"/>
            <a:ext cx="82292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strike="noStrike" spc="-1">
                <a:solidFill>
                  <a:srgbClr val="666666"/>
                </a:solidFill>
                <a:latin typeface="Calibri"/>
                <a:ea typeface="Calibri"/>
              </a:rPr>
              <a:t>The legacy 301A is being replaced by six focused exams — this course covers both</a:t>
            </a:r>
            <a:endParaRPr lang="en-US" sz="1300" b="0" strike="noStrike" spc="-1">
              <a:solidFill>
                <a:srgbClr val="000000"/>
              </a:solidFill>
              <a:latin typeface="Arial"/>
            </a:endParaRPr>
          </a:p>
        </p:txBody>
      </p:sp>
      <p:graphicFrame>
        <p:nvGraphicFramePr>
          <p:cNvPr id="81" name="Table 0"/>
          <p:cNvGraphicFramePr/>
          <p:nvPr/>
        </p:nvGraphicFramePr>
        <p:xfrm>
          <a:off x="365760" y="914400"/>
          <a:ext cx="8412480" cy="2118360"/>
        </p:xfrm>
        <a:graphic>
          <a:graphicData uri="http://schemas.openxmlformats.org/drawingml/2006/table">
            <a:tbl>
              <a:tblPr/>
              <a:tblGrid>
                <a:gridCol w="91440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4297680">
                  <a:extLst>
                    <a:ext uri="{9D8B030D-6E8A-4147-A177-3AD203B41FA5}">
                      <a16:colId xmlns:a16="http://schemas.microsoft.com/office/drawing/2014/main" val="20002"/>
                    </a:ext>
                  </a:extLst>
                </a:gridCol>
              </a:tblGrid>
              <a:tr h="0">
                <a:tc>
                  <a:txBody>
                    <a:bodyPr/>
                    <a:lstStyle/>
                    <a:p>
                      <a:pPr defTabSz="914400">
                        <a:lnSpc>
                          <a:spcPct val="100000"/>
                        </a:lnSpc>
                        <a:tabLst>
                          <a:tab pos="0" algn="l"/>
                        </a:tabLst>
                      </a:pPr>
                      <a:endParaRPr lang="en-US" sz="1000" b="0" strike="noStrike" spc="-1">
                        <a:solidFill>
                          <a:schemeClr val="dk1"/>
                        </a:solidFill>
                        <a:latin typeface="Calibri"/>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E4002B"/>
                    </a:solidFill>
                  </a:tcPr>
                </a:tc>
                <a:tc>
                  <a:txBody>
                    <a:bodyPr/>
                    <a:lstStyle/>
                    <a:p>
                      <a:pPr defTabSz="914400">
                        <a:lnSpc>
                          <a:spcPct val="100000"/>
                        </a:lnSpc>
                        <a:tabLst>
                          <a:tab pos="0" algn="l"/>
                        </a:tabLst>
                      </a:pPr>
                      <a:r>
                        <a:rPr lang="en-US" sz="1000" b="1" strike="noStrike" spc="-1">
                          <a:solidFill>
                            <a:srgbClr val="FFFFFF"/>
                          </a:solidFill>
                          <a:latin typeface="Calibri"/>
                        </a:rPr>
                        <a:t>301A (Legacy)</a:t>
                      </a:r>
                      <a:endParaRPr lang="en-US" sz="10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E4002B"/>
                    </a:solidFill>
                  </a:tcPr>
                </a:tc>
                <a:tc>
                  <a:txBody>
                    <a:bodyPr/>
                    <a:lstStyle/>
                    <a:p>
                      <a:pPr defTabSz="914400">
                        <a:lnSpc>
                          <a:spcPct val="100000"/>
                        </a:lnSpc>
                        <a:tabLst>
                          <a:tab pos="0" algn="l"/>
                        </a:tabLst>
                      </a:pPr>
                      <a:r>
                        <a:rPr lang="en-US" sz="1000" b="1" strike="noStrike" spc="-1">
                          <a:solidFill>
                            <a:srgbClr val="FFFFFF"/>
                          </a:solidFill>
                          <a:latin typeface="Calibri"/>
                        </a:rPr>
                        <a:t>F5-CTS Beta Series (New)</a:t>
                      </a:r>
                      <a:endParaRPr lang="en-US" sz="10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E4002B"/>
                    </a:solidFill>
                  </a:tcPr>
                </a:tc>
                <a:extLst>
                  <a:ext uri="{0D108BD9-81ED-4DB2-BD59-A6C34878D82A}">
                    <a16:rowId xmlns:a16="http://schemas.microsoft.com/office/drawing/2014/main" val="10000"/>
                  </a:ext>
                </a:extLst>
              </a:tr>
              <a:tr h="0">
                <a:tc>
                  <a:txBody>
                    <a:bodyPr/>
                    <a:lstStyle/>
                    <a:p>
                      <a:pPr defTabSz="914400">
                        <a:lnSpc>
                          <a:spcPct val="100000"/>
                        </a:lnSpc>
                        <a:tabLst>
                          <a:tab pos="0" algn="l"/>
                        </a:tabLst>
                      </a:pPr>
                      <a:r>
                        <a:rPr lang="en-US" sz="900" b="1" strike="noStrike" spc="-1">
                          <a:solidFill>
                            <a:srgbClr val="000000"/>
                          </a:solidFill>
                          <a:latin typeface="Calibri"/>
                        </a:rPr>
                        <a:t>Structure</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ONE exam: 301A — BIG-IP LTM Specialist: Architect, Setup and Deploy</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SIX exams: F5CTSLTM1-B through F5CTSLTM6-B. Take in any order.</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1"/>
                  </a:ext>
                </a:extLst>
              </a:tr>
              <a:tr h="0">
                <a:tc>
                  <a:txBody>
                    <a:bodyPr/>
                    <a:lstStyle/>
                    <a:p>
                      <a:pPr defTabSz="914400">
                        <a:lnSpc>
                          <a:spcPct val="100000"/>
                        </a:lnSpc>
                        <a:tabLst>
                          <a:tab pos="0" algn="l"/>
                        </a:tabLst>
                      </a:pPr>
                      <a:r>
                        <a:rPr lang="en-US" sz="900" b="1" strike="noStrike" spc="-1">
                          <a:solidFill>
                            <a:srgbClr val="000000"/>
                          </a:solidFill>
                          <a:latin typeface="Calibri"/>
                        </a:rPr>
                        <a:t>Questions</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80 questions (70 scored + 10 pilot). 90 minutes.</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Per-exam question count TBD (Beta). Each exam ~60 minutes.</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2"/>
                  </a:ext>
                </a:extLst>
              </a:tr>
              <a:tr h="0">
                <a:tc>
                  <a:txBody>
                    <a:bodyPr/>
                    <a:lstStyle/>
                    <a:p>
                      <a:pPr defTabSz="914400">
                        <a:lnSpc>
                          <a:spcPct val="100000"/>
                        </a:lnSpc>
                        <a:tabLst>
                          <a:tab pos="0" algn="l"/>
                        </a:tabLst>
                      </a:pPr>
                      <a:r>
                        <a:rPr lang="en-US" sz="900" b="1" strike="noStrike" spc="-1">
                          <a:solidFill>
                            <a:srgbClr val="000000"/>
                          </a:solidFill>
                          <a:latin typeface="Calibri"/>
                        </a:rPr>
                        <a:t>Passing score</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245 out of 100–350 scaled score.</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Beta scoring TBD. Standard F5 scaled scoring expected.</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3"/>
                  </a:ext>
                </a:extLst>
              </a:tr>
              <a:tr h="0">
                <a:tc>
                  <a:txBody>
                    <a:bodyPr/>
                    <a:lstStyle/>
                    <a:p>
                      <a:pPr defTabSz="914400">
                        <a:lnSpc>
                          <a:spcPct val="100000"/>
                        </a:lnSpc>
                        <a:tabLst>
                          <a:tab pos="0" algn="l"/>
                        </a:tabLst>
                      </a:pPr>
                      <a:r>
                        <a:rPr lang="en-US" sz="900" b="1" strike="noStrike" spc="-1">
                          <a:solidFill>
                            <a:srgbClr val="000000"/>
                          </a:solidFill>
                          <a:latin typeface="Calibri"/>
                        </a:rPr>
                        <a:t>Objectives</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2 sections, ~20 objectives. Broad coverage in one sitting.</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6 exams, 47 objectives total. Deeper per-topic coverage.</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4"/>
                  </a:ext>
                </a:extLst>
              </a:tr>
              <a:tr h="0">
                <a:tc>
                  <a:txBody>
                    <a:bodyPr/>
                    <a:lstStyle/>
                    <a:p>
                      <a:pPr defTabSz="914400">
                        <a:lnSpc>
                          <a:spcPct val="100000"/>
                        </a:lnSpc>
                        <a:tabLst>
                          <a:tab pos="0" algn="l"/>
                        </a:tabLst>
                      </a:pPr>
                      <a:r>
                        <a:rPr lang="en-US" sz="900" b="1" strike="noStrike" spc="-1">
                          <a:solidFill>
                            <a:srgbClr val="000000"/>
                          </a:solidFill>
                          <a:latin typeface="Calibri"/>
                        </a:rPr>
                        <a:t>Prerequisite</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F5 Certified BIG-IP Administrator (F5-CA)</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F5-CA, BIG-IP Certification (same prerequisite)</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5"/>
                  </a:ext>
                </a:extLst>
              </a:tr>
              <a:tr h="0">
                <a:tc>
                  <a:txBody>
                    <a:bodyPr/>
                    <a:lstStyle/>
                    <a:p>
                      <a:pPr defTabSz="914400">
                        <a:lnSpc>
                          <a:spcPct val="100000"/>
                        </a:lnSpc>
                        <a:tabLst>
                          <a:tab pos="0" algn="l"/>
                        </a:tabLst>
                      </a:pPr>
                      <a:r>
                        <a:rPr lang="en-US" sz="900" b="1" strike="noStrike" spc="-1">
                          <a:solidFill>
                            <a:srgbClr val="000000"/>
                          </a:solidFill>
                          <a:latin typeface="Calibri"/>
                        </a:rPr>
                        <a:t>Credential</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None standalone. Prereq for 301B.</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1" strike="noStrike" spc="-1">
                          <a:solidFill>
                            <a:srgbClr val="009639"/>
                          </a:solidFill>
                          <a:latin typeface="Calibri"/>
                        </a:rPr>
                        <a:t>F5 Certified Technology Specialist, BIG-IP LTM (F5-CTS, LTM)</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6"/>
                  </a:ext>
                </a:extLst>
              </a:tr>
              <a:tr h="0">
                <a:tc>
                  <a:txBody>
                    <a:bodyPr/>
                    <a:lstStyle/>
                    <a:p>
                      <a:pPr defTabSz="914400">
                        <a:lnSpc>
                          <a:spcPct val="100000"/>
                        </a:lnSpc>
                        <a:tabLst>
                          <a:tab pos="0" algn="l"/>
                        </a:tabLst>
                      </a:pPr>
                      <a:r>
                        <a:rPr lang="en-US" sz="900" b="1" strike="noStrike" spc="-1">
                          <a:solidFill>
                            <a:srgbClr val="000000"/>
                          </a:solidFill>
                          <a:latin typeface="Calibri"/>
                        </a:rPr>
                        <a:t>New topics</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61228B"/>
                          </a:solidFill>
                          <a:latin typeface="Calibri"/>
                        </a:rPr>
                        <a:t>FAST templates, expanded packet capture/troubleshooting, performance analysis (A/E), config optimization (A/E)</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7"/>
                  </a:ext>
                </a:extLst>
              </a:tr>
            </a:tbl>
          </a:graphicData>
        </a:graphic>
      </p:graphicFrame>
      <p:sp>
        <p:nvSpPr>
          <p:cNvPr id="82" name="Shape 8"/>
          <p:cNvSpPr/>
          <p:nvPr/>
        </p:nvSpPr>
        <p:spPr>
          <a:xfrm>
            <a:off x="365760" y="3840480"/>
            <a:ext cx="8412120" cy="776880"/>
          </a:xfrm>
          <a:prstGeom prst="rect">
            <a:avLst/>
          </a:prstGeom>
          <a:solidFill>
            <a:srgbClr val="FFF3E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83" name="Text 9"/>
          <p:cNvSpPr/>
          <p:nvPr/>
        </p:nvSpPr>
        <p:spPr>
          <a:xfrm>
            <a:off x="548640" y="3858840"/>
            <a:ext cx="804636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r>
              <a:rPr lang="en-US" sz="1100" b="1" strike="noStrike" spc="-1">
                <a:solidFill>
                  <a:srgbClr val="F29A36"/>
                </a:solidFill>
                <a:latin typeface="Calibri"/>
                <a:ea typeface="Calibri"/>
              </a:rPr>
              <a:t>What changed from 301A to Beta?</a:t>
            </a:r>
            <a:endParaRPr lang="en-US" sz="1100" b="0" strike="noStrike" spc="-1">
              <a:solidFill>
                <a:srgbClr val="000000"/>
              </a:solidFill>
              <a:latin typeface="Arial"/>
            </a:endParaRPr>
          </a:p>
          <a:p>
            <a:pPr defTabSz="914400">
              <a:lnSpc>
                <a:spcPct val="100000"/>
              </a:lnSpc>
              <a:tabLst>
                <a:tab pos="0" algn="l"/>
              </a:tabLst>
            </a:pPr>
            <a:r>
              <a:rPr lang="en-US" sz="900" b="0" strike="noStrike" spc="-1">
                <a:solidFill>
                  <a:srgbClr val="7A4500"/>
                </a:solidFill>
                <a:latin typeface="Calibri"/>
                <a:ea typeface="Calibri"/>
              </a:rPr>
              <a:t>The 301A covered architecture and deployment in one broad exam. The Beta splits this into six focused exams, adds dedicated packet capture/troubleshooting exams (Exams 5 and 6), expands HA and monitoring coverage (Exam 4), and introduces A/E (Analyze/Evaluate) level questions for config optimization and performance analysis. Students who passed the 301A will find ~70% familiar content and ~30% new depth.</a:t>
            </a:r>
            <a:endParaRPr lang="en-US" sz="900" b="0" strike="noStrike" spc="-1">
              <a:solidFill>
                <a:srgbClr val="000000"/>
              </a:solidFill>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4"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85"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86"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87"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88"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89"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4    © 2026 F5</a:t>
            </a:r>
            <a:endParaRPr lang="en-US" sz="800" b="0" strike="noStrike" spc="-1">
              <a:solidFill>
                <a:srgbClr val="000000"/>
              </a:solidFill>
              <a:latin typeface="Arial"/>
            </a:endParaRPr>
          </a:p>
        </p:txBody>
      </p:sp>
      <p:pic>
        <p:nvPicPr>
          <p:cNvPr id="90" name="Image 0" descr="preencoded.png"/>
          <p:cNvPicPr/>
          <p:nvPr/>
        </p:nvPicPr>
        <p:blipFill>
          <a:blip r:embed="rId3"/>
          <a:stretch/>
        </p:blipFill>
        <p:spPr>
          <a:xfrm>
            <a:off x="8458200" y="4663440"/>
            <a:ext cx="383760" cy="383760"/>
          </a:xfrm>
          <a:prstGeom prst="rect">
            <a:avLst/>
          </a:prstGeom>
          <a:ln w="0">
            <a:noFill/>
          </a:ln>
        </p:spPr>
      </p:pic>
      <p:sp>
        <p:nvSpPr>
          <p:cNvPr id="91" name="Text 6"/>
          <p:cNvSpPr/>
          <p:nvPr/>
        </p:nvSpPr>
        <p:spPr>
          <a:xfrm>
            <a:off x="457200" y="274320"/>
            <a:ext cx="82292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Prerequisites and assumed knowledge</a:t>
            </a:r>
            <a:endParaRPr lang="en-US" sz="2800" b="0" strike="noStrike" spc="-1">
              <a:solidFill>
                <a:srgbClr val="000000"/>
              </a:solidFill>
              <a:latin typeface="Arial"/>
            </a:endParaRPr>
          </a:p>
        </p:txBody>
      </p:sp>
      <p:sp>
        <p:nvSpPr>
          <p:cNvPr id="92" name="Text 7"/>
          <p:cNvSpPr/>
          <p:nvPr/>
        </p:nvSpPr>
        <p:spPr>
          <a:xfrm>
            <a:off x="457200" y="658440"/>
            <a:ext cx="82292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strike="noStrike" spc="-1">
                <a:solidFill>
                  <a:srgbClr val="666666"/>
                </a:solidFill>
                <a:latin typeface="Calibri"/>
                <a:ea typeface="Calibri"/>
              </a:rPr>
              <a:t>What you should already know before taking this course</a:t>
            </a:r>
            <a:endParaRPr lang="en-US" sz="1300" b="0" strike="noStrike" spc="-1">
              <a:solidFill>
                <a:srgbClr val="000000"/>
              </a:solidFill>
              <a:latin typeface="Arial"/>
            </a:endParaRPr>
          </a:p>
        </p:txBody>
      </p:sp>
      <p:sp>
        <p:nvSpPr>
          <p:cNvPr id="93" name="Shape 8"/>
          <p:cNvSpPr/>
          <p:nvPr/>
        </p:nvSpPr>
        <p:spPr>
          <a:xfrm>
            <a:off x="365760" y="1005840"/>
            <a:ext cx="3931560" cy="31968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94" name="Text 9"/>
          <p:cNvSpPr/>
          <p:nvPr/>
        </p:nvSpPr>
        <p:spPr>
          <a:xfrm>
            <a:off x="365760" y="1005840"/>
            <a:ext cx="39315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rgbClr val="FFFFFF"/>
                </a:solidFill>
                <a:latin typeface="Arial"/>
                <a:ea typeface="Arial"/>
              </a:rPr>
              <a:t>Required: F5-CA (BIG-IP Administrator)</a:t>
            </a:r>
            <a:endParaRPr lang="en-US" sz="1100" b="0" strike="noStrike" spc="-1">
              <a:solidFill>
                <a:srgbClr val="000000"/>
              </a:solidFill>
              <a:latin typeface="Arial"/>
            </a:endParaRPr>
          </a:p>
        </p:txBody>
      </p:sp>
      <p:sp>
        <p:nvSpPr>
          <p:cNvPr id="95" name="Shape 10"/>
          <p:cNvSpPr/>
          <p:nvPr/>
        </p:nvSpPr>
        <p:spPr>
          <a:xfrm>
            <a:off x="365760" y="1325880"/>
            <a:ext cx="3931560" cy="219420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96" name="Text 11"/>
          <p:cNvSpPr/>
          <p:nvPr/>
        </p:nvSpPr>
        <p:spPr>
          <a:xfrm>
            <a:off x="457200" y="1371600"/>
            <a:ext cx="3748680" cy="2102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r>
              <a:rPr lang="en-US" sz="1000" b="1" strike="noStrike" spc="-1">
                <a:solidFill>
                  <a:srgbClr val="E4002B"/>
                </a:solidFill>
                <a:latin typeface="Calibri"/>
                <a:ea typeface="Calibri"/>
              </a:rPr>
              <a:t>The F5-CA certification validates that you can:</a:t>
            </a:r>
            <a:endParaRPr lang="en-US" sz="1000" b="0" strike="noStrike" spc="-1">
              <a:solidFill>
                <a:srgbClr val="000000"/>
              </a:solidFill>
              <a:latin typeface="Arial"/>
            </a:endParaRPr>
          </a:p>
          <a:p>
            <a:endParaRPr lang="en-US" sz="1000" b="0" strike="noStrike" spc="-1">
              <a:solidFill>
                <a:srgbClr val="000000"/>
              </a:solidFill>
              <a:latin typeface="Arial"/>
            </a:endParaRPr>
          </a:p>
          <a:p>
            <a:r>
              <a:rPr lang="en-US" sz="900" b="0" strike="noStrike" spc="-1">
                <a:solidFill>
                  <a:srgbClr val="333333"/>
                </a:solidFill>
                <a:latin typeface="Calibri"/>
                <a:ea typeface="Calibri"/>
              </a:rPr>
              <a:t>• Navigate the BIG-IP GUI and TMSH CLI</a:t>
            </a:r>
            <a:endParaRPr lang="en-US" sz="900" b="0" strike="noStrike" spc="-1">
              <a:solidFill>
                <a:srgbClr val="000000"/>
              </a:solidFill>
              <a:latin typeface="Arial"/>
            </a:endParaRPr>
          </a:p>
          <a:p>
            <a:r>
              <a:rPr lang="en-US" sz="900" b="0" strike="noStrike" spc="-1">
                <a:solidFill>
                  <a:srgbClr val="333333"/>
                </a:solidFill>
                <a:latin typeface="Calibri"/>
                <a:ea typeface="Calibri"/>
              </a:rPr>
              <a:t>• Create VLANs, self IPs, and routes</a:t>
            </a:r>
            <a:endParaRPr lang="en-US" sz="900" b="0" strike="noStrike" spc="-1">
              <a:solidFill>
                <a:srgbClr val="000000"/>
              </a:solidFill>
              <a:latin typeface="Arial"/>
            </a:endParaRPr>
          </a:p>
          <a:p>
            <a:r>
              <a:rPr lang="en-US" sz="900" b="0" strike="noStrike" spc="-1">
                <a:solidFill>
                  <a:srgbClr val="333333"/>
                </a:solidFill>
                <a:latin typeface="Calibri"/>
                <a:ea typeface="Calibri"/>
              </a:rPr>
              <a:t>• Create basic virtual servers and pools</a:t>
            </a:r>
            <a:endParaRPr lang="en-US" sz="900" b="0" strike="noStrike" spc="-1">
              <a:solidFill>
                <a:srgbClr val="000000"/>
              </a:solidFill>
              <a:latin typeface="Arial"/>
            </a:endParaRPr>
          </a:p>
          <a:p>
            <a:r>
              <a:rPr lang="en-US" sz="900" b="0" strike="noStrike" spc="-1">
                <a:solidFill>
                  <a:srgbClr val="333333"/>
                </a:solidFill>
                <a:latin typeface="Calibri"/>
                <a:ea typeface="Calibri"/>
              </a:rPr>
              <a:t>• Apply simple profiles (HTTP, TCP)</a:t>
            </a:r>
            <a:endParaRPr lang="en-US" sz="900" b="0" strike="noStrike" spc="-1">
              <a:solidFill>
                <a:srgbClr val="000000"/>
              </a:solidFill>
              <a:latin typeface="Arial"/>
            </a:endParaRPr>
          </a:p>
          <a:p>
            <a:r>
              <a:rPr lang="en-US" sz="900" b="0" strike="noStrike" spc="-1">
                <a:solidFill>
                  <a:srgbClr val="333333"/>
                </a:solidFill>
                <a:latin typeface="Calibri"/>
                <a:ea typeface="Calibri"/>
              </a:rPr>
              <a:t>• Configure basic monitors</a:t>
            </a:r>
            <a:endParaRPr lang="en-US" sz="900" b="0" strike="noStrike" spc="-1">
              <a:solidFill>
                <a:srgbClr val="000000"/>
              </a:solidFill>
              <a:latin typeface="Arial"/>
            </a:endParaRPr>
          </a:p>
          <a:p>
            <a:r>
              <a:rPr lang="en-US" sz="900" b="0" strike="noStrike" spc="-1">
                <a:solidFill>
                  <a:srgbClr val="333333"/>
                </a:solidFill>
                <a:latin typeface="Calibri"/>
                <a:ea typeface="Calibri"/>
              </a:rPr>
              <a:t>• Understand SNAT at a basic level</a:t>
            </a:r>
            <a:endParaRPr lang="en-US" sz="900" b="0" strike="noStrike" spc="-1">
              <a:solidFill>
                <a:srgbClr val="000000"/>
              </a:solidFill>
              <a:latin typeface="Arial"/>
            </a:endParaRPr>
          </a:p>
          <a:p>
            <a:r>
              <a:rPr lang="en-US" sz="900" b="0" strike="noStrike" spc="-1">
                <a:solidFill>
                  <a:srgbClr val="333333"/>
                </a:solidFill>
                <a:latin typeface="Calibri"/>
                <a:ea typeface="Calibri"/>
              </a:rPr>
              <a:t>• Perform initial BIG-IP setup (licensing, provisioning, NTP, DNS)</a:t>
            </a:r>
            <a:endParaRPr lang="en-US" sz="900" b="0" strike="noStrike" spc="-1">
              <a:solidFill>
                <a:srgbClr val="000000"/>
              </a:solidFill>
              <a:latin typeface="Arial"/>
            </a:endParaRPr>
          </a:p>
          <a:p>
            <a:r>
              <a:rPr lang="en-US" sz="900" b="0" strike="noStrike" spc="-1">
                <a:solidFill>
                  <a:srgbClr val="333333"/>
                </a:solidFill>
                <a:latin typeface="Calibri"/>
                <a:ea typeface="Calibri"/>
              </a:rPr>
              <a:t>• Save and load configurations</a:t>
            </a:r>
            <a:endParaRPr lang="en-US" sz="900" b="0" strike="noStrike" spc="-1">
              <a:solidFill>
                <a:srgbClr val="000000"/>
              </a:solidFill>
              <a:latin typeface="Arial"/>
            </a:endParaRPr>
          </a:p>
          <a:p>
            <a:endParaRPr lang="en-US" sz="900" b="0" strike="noStrike" spc="-1">
              <a:solidFill>
                <a:srgbClr val="000000"/>
              </a:solidFill>
              <a:latin typeface="Arial"/>
            </a:endParaRPr>
          </a:p>
          <a:p>
            <a:pPr defTabSz="914400">
              <a:lnSpc>
                <a:spcPct val="100000"/>
              </a:lnSpc>
              <a:tabLst>
                <a:tab pos="0" algn="l"/>
              </a:tabLst>
            </a:pPr>
            <a:r>
              <a:rPr lang="en-US" sz="900" b="1" strike="noStrike" spc="-1">
                <a:solidFill>
                  <a:srgbClr val="E4002B"/>
                </a:solidFill>
                <a:latin typeface="Calibri"/>
                <a:ea typeface="Calibri"/>
              </a:rPr>
              <a:t>If you don't have your F5-CA, you must pass it before attempting the F5-CTS exams.</a:t>
            </a:r>
            <a:endParaRPr lang="en-US" sz="900" b="0" strike="noStrike" spc="-1">
              <a:solidFill>
                <a:srgbClr val="000000"/>
              </a:solidFill>
              <a:latin typeface="Arial"/>
            </a:endParaRPr>
          </a:p>
        </p:txBody>
      </p:sp>
      <p:sp>
        <p:nvSpPr>
          <p:cNvPr id="97" name="Shape 12"/>
          <p:cNvSpPr/>
          <p:nvPr/>
        </p:nvSpPr>
        <p:spPr>
          <a:xfrm>
            <a:off x="4846320" y="1005840"/>
            <a:ext cx="3931560" cy="31968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98" name="Text 13"/>
          <p:cNvSpPr/>
          <p:nvPr/>
        </p:nvSpPr>
        <p:spPr>
          <a:xfrm>
            <a:off x="4846320" y="1005840"/>
            <a:ext cx="39315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rgbClr val="FFFFFF"/>
                </a:solidFill>
                <a:latin typeface="Arial"/>
                <a:ea typeface="Arial"/>
              </a:rPr>
              <a:t>Assumed networking knowledge</a:t>
            </a:r>
            <a:endParaRPr lang="en-US" sz="1100" b="0" strike="noStrike" spc="-1">
              <a:solidFill>
                <a:srgbClr val="000000"/>
              </a:solidFill>
              <a:latin typeface="Arial"/>
            </a:endParaRPr>
          </a:p>
        </p:txBody>
      </p:sp>
      <p:sp>
        <p:nvSpPr>
          <p:cNvPr id="99" name="Shape 14"/>
          <p:cNvSpPr/>
          <p:nvPr/>
        </p:nvSpPr>
        <p:spPr>
          <a:xfrm>
            <a:off x="4846320" y="1325880"/>
            <a:ext cx="3931560" cy="219420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00" name="Text 15"/>
          <p:cNvSpPr/>
          <p:nvPr/>
        </p:nvSpPr>
        <p:spPr>
          <a:xfrm>
            <a:off x="4937760" y="1371600"/>
            <a:ext cx="3748680" cy="2102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r>
              <a:rPr lang="en-US" sz="1000" b="1" strike="noStrike" spc="-1">
                <a:solidFill>
                  <a:srgbClr val="0E41AA"/>
                </a:solidFill>
                <a:latin typeface="Calibri"/>
                <a:ea typeface="Calibri"/>
              </a:rPr>
              <a:t>This course assumes you understand:</a:t>
            </a:r>
            <a:endParaRPr lang="en-US" sz="1000" b="0" strike="noStrike" spc="-1">
              <a:solidFill>
                <a:srgbClr val="000000"/>
              </a:solidFill>
              <a:latin typeface="Arial"/>
            </a:endParaRPr>
          </a:p>
          <a:p>
            <a:endParaRPr lang="en-US" sz="1000" b="0" strike="noStrike" spc="-1">
              <a:solidFill>
                <a:srgbClr val="000000"/>
              </a:solidFill>
              <a:latin typeface="Arial"/>
            </a:endParaRPr>
          </a:p>
          <a:p>
            <a:r>
              <a:rPr lang="en-US" sz="900" b="0" strike="noStrike" spc="-1">
                <a:solidFill>
                  <a:srgbClr val="333333"/>
                </a:solidFill>
                <a:latin typeface="Calibri"/>
                <a:ea typeface="Calibri"/>
              </a:rPr>
              <a:t>• TCP/IP fundamentals (3-way handshake, ports, IP addressing, subnetting)</a:t>
            </a:r>
            <a:endParaRPr lang="en-US" sz="900" b="0" strike="noStrike" spc="-1">
              <a:solidFill>
                <a:srgbClr val="000000"/>
              </a:solidFill>
              <a:latin typeface="Arial"/>
            </a:endParaRPr>
          </a:p>
          <a:p>
            <a:r>
              <a:rPr lang="en-US" sz="900" b="0" strike="noStrike" spc="-1">
                <a:solidFill>
                  <a:srgbClr val="333333"/>
                </a:solidFill>
                <a:latin typeface="Calibri"/>
                <a:ea typeface="Calibri"/>
              </a:rPr>
              <a:t>• DNS resolution process</a:t>
            </a:r>
            <a:endParaRPr lang="en-US" sz="900" b="0" strike="noStrike" spc="-1">
              <a:solidFill>
                <a:srgbClr val="000000"/>
              </a:solidFill>
              <a:latin typeface="Arial"/>
            </a:endParaRPr>
          </a:p>
          <a:p>
            <a:r>
              <a:rPr lang="en-US" sz="900" b="0" strike="noStrike" spc="-1">
                <a:solidFill>
                  <a:srgbClr val="333333"/>
                </a:solidFill>
                <a:latin typeface="Calibri"/>
                <a:ea typeface="Calibri"/>
              </a:rPr>
              <a:t>• HTTP request/response model</a:t>
            </a:r>
            <a:endParaRPr lang="en-US" sz="900" b="0" strike="noStrike" spc="-1">
              <a:solidFill>
                <a:srgbClr val="000000"/>
              </a:solidFill>
              <a:latin typeface="Arial"/>
            </a:endParaRPr>
          </a:p>
          <a:p>
            <a:r>
              <a:rPr lang="en-US" sz="900" b="0" strike="noStrike" spc="-1">
                <a:solidFill>
                  <a:srgbClr val="333333"/>
                </a:solidFill>
                <a:latin typeface="Calibri"/>
                <a:ea typeface="Calibri"/>
              </a:rPr>
              <a:t>• TLS/SSL handshake basics (certificates, cipher suites)</a:t>
            </a:r>
            <a:endParaRPr lang="en-US" sz="900" b="0" strike="noStrike" spc="-1">
              <a:solidFill>
                <a:srgbClr val="000000"/>
              </a:solidFill>
              <a:latin typeface="Arial"/>
            </a:endParaRPr>
          </a:p>
          <a:p>
            <a:r>
              <a:rPr lang="en-US" sz="900" b="0" strike="noStrike" spc="-1">
                <a:solidFill>
                  <a:srgbClr val="333333"/>
                </a:solidFill>
                <a:latin typeface="Calibri"/>
                <a:ea typeface="Calibri"/>
              </a:rPr>
              <a:t>• VLANs, trunks, and Layer 2/3 switching</a:t>
            </a:r>
            <a:endParaRPr lang="en-US" sz="900" b="0" strike="noStrike" spc="-1">
              <a:solidFill>
                <a:srgbClr val="000000"/>
              </a:solidFill>
              <a:latin typeface="Arial"/>
            </a:endParaRPr>
          </a:p>
          <a:p>
            <a:r>
              <a:rPr lang="en-US" sz="900" b="0" strike="noStrike" spc="-1">
                <a:solidFill>
                  <a:srgbClr val="333333"/>
                </a:solidFill>
                <a:latin typeface="Calibri"/>
                <a:ea typeface="Calibri"/>
              </a:rPr>
              <a:t>• Static and dynamic routing concepts</a:t>
            </a:r>
            <a:endParaRPr lang="en-US" sz="900" b="0" strike="noStrike" spc="-1">
              <a:solidFill>
                <a:srgbClr val="000000"/>
              </a:solidFill>
              <a:latin typeface="Arial"/>
            </a:endParaRPr>
          </a:p>
          <a:p>
            <a:r>
              <a:rPr lang="en-US" sz="900" b="0" strike="noStrike" spc="-1">
                <a:solidFill>
                  <a:srgbClr val="333333"/>
                </a:solidFill>
                <a:latin typeface="Calibri"/>
                <a:ea typeface="Calibri"/>
              </a:rPr>
              <a:t>• Basic Linux CLI (ssh, grep, tail, cat)</a:t>
            </a:r>
            <a:endParaRPr lang="en-US" sz="900" b="0" strike="noStrike" spc="-1">
              <a:solidFill>
                <a:srgbClr val="000000"/>
              </a:solidFill>
              <a:latin typeface="Arial"/>
            </a:endParaRPr>
          </a:p>
          <a:p>
            <a:r>
              <a:rPr lang="en-US" sz="900" b="0" strike="noStrike" spc="-1">
                <a:solidFill>
                  <a:srgbClr val="333333"/>
                </a:solidFill>
                <a:latin typeface="Calibri"/>
                <a:ea typeface="Calibri"/>
              </a:rPr>
              <a:t>• Syslog concepts and severity levels</a:t>
            </a:r>
            <a:endParaRPr lang="en-US" sz="900" b="0" strike="noStrike" spc="-1">
              <a:solidFill>
                <a:srgbClr val="000000"/>
              </a:solidFill>
              <a:latin typeface="Arial"/>
            </a:endParaRPr>
          </a:p>
          <a:p>
            <a:endParaRPr lang="en-US" sz="900" b="0" strike="noStrike" spc="-1">
              <a:solidFill>
                <a:srgbClr val="000000"/>
              </a:solidFill>
              <a:latin typeface="Arial"/>
            </a:endParaRPr>
          </a:p>
          <a:p>
            <a:pPr defTabSz="914400">
              <a:lnSpc>
                <a:spcPct val="100000"/>
              </a:lnSpc>
              <a:tabLst>
                <a:tab pos="0" algn="l"/>
              </a:tabLst>
            </a:pPr>
            <a:r>
              <a:rPr lang="en-US" sz="900" b="1" strike="noStrike" spc="-1">
                <a:solidFill>
                  <a:srgbClr val="0E41AA"/>
                </a:solidFill>
                <a:latin typeface="Calibri"/>
                <a:ea typeface="Calibri"/>
              </a:rPr>
              <a:t>We won't teach these topics — we'll use them to explain BIG-IP concepts.</a:t>
            </a:r>
            <a:endParaRPr lang="en-US" sz="900" b="0" strike="noStrike" spc="-1">
              <a:solidFill>
                <a:srgbClr val="000000"/>
              </a:solidFill>
              <a:latin typeface="Arial"/>
            </a:endParaRPr>
          </a:p>
        </p:txBody>
      </p:sp>
      <p:sp>
        <p:nvSpPr>
          <p:cNvPr id="101" name="Shape 16"/>
          <p:cNvSpPr/>
          <p:nvPr/>
        </p:nvSpPr>
        <p:spPr>
          <a:xfrm>
            <a:off x="365760" y="3657600"/>
            <a:ext cx="8412120" cy="959760"/>
          </a:xfrm>
          <a:prstGeom prst="rect">
            <a:avLst/>
          </a:prstGeom>
          <a:solidFill>
            <a:srgbClr val="E8F5E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02" name="Text 17"/>
          <p:cNvSpPr/>
          <p:nvPr/>
        </p:nvSpPr>
        <p:spPr>
          <a:xfrm>
            <a:off x="548640" y="3675960"/>
            <a:ext cx="804636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r>
              <a:rPr lang="en-US" sz="1100" b="1" strike="noStrike" spc="-1">
                <a:solidFill>
                  <a:srgbClr val="009639"/>
                </a:solidFill>
                <a:latin typeface="Calibri"/>
                <a:ea typeface="Calibri"/>
              </a:rPr>
              <a:t>Quick self-assessment — can you answer these?</a:t>
            </a:r>
            <a:endParaRPr lang="en-US" sz="1100" b="0" strike="noStrike" spc="-1">
              <a:solidFill>
                <a:srgbClr val="000000"/>
              </a:solidFill>
              <a:latin typeface="Arial"/>
            </a:endParaRPr>
          </a:p>
          <a:p>
            <a:pPr defTabSz="914400">
              <a:lnSpc>
                <a:spcPct val="100000"/>
              </a:lnSpc>
              <a:tabLst>
                <a:tab pos="0" algn="l"/>
              </a:tabLst>
            </a:pPr>
            <a:r>
              <a:rPr lang="en-US" sz="900" b="0" strike="noStrike" spc="-1">
                <a:solidFill>
                  <a:srgbClr val="1B5E20"/>
                </a:solidFill>
                <a:latin typeface="Calibri"/>
                <a:ea typeface="Calibri"/>
              </a:rPr>
              <a:t>1. What is the difference between a virtual server and a virtual address on the BIG-IP?</a:t>
            </a:r>
            <a:endParaRPr lang="en-US" sz="900" b="0" strike="noStrike" spc="-1">
              <a:solidFill>
                <a:srgbClr val="000000"/>
              </a:solidFill>
              <a:latin typeface="Arial"/>
            </a:endParaRPr>
          </a:p>
          <a:p>
            <a:pPr defTabSz="914400">
              <a:lnSpc>
                <a:spcPct val="100000"/>
              </a:lnSpc>
              <a:tabLst>
                <a:tab pos="0" algn="l"/>
              </a:tabLst>
            </a:pPr>
            <a:r>
              <a:rPr lang="en-US" sz="900" b="0" strike="noStrike" spc="-1">
                <a:solidFill>
                  <a:srgbClr val="1B5E20"/>
                </a:solidFill>
                <a:latin typeface="Calibri"/>
                <a:ea typeface="Calibri"/>
              </a:rPr>
              <a:t>2. If a pool member fails its health monitor, what happens to traffic destined for that member?</a:t>
            </a:r>
            <a:endParaRPr lang="en-US" sz="900" b="0" strike="noStrike" spc="-1">
              <a:solidFill>
                <a:srgbClr val="000000"/>
              </a:solidFill>
              <a:latin typeface="Arial"/>
            </a:endParaRPr>
          </a:p>
          <a:p>
            <a:pPr defTabSz="914400">
              <a:lnSpc>
                <a:spcPct val="100000"/>
              </a:lnSpc>
              <a:tabLst>
                <a:tab pos="0" algn="l"/>
              </a:tabLst>
            </a:pPr>
            <a:r>
              <a:rPr lang="en-US" sz="900" b="0" strike="noStrike" spc="-1">
                <a:solidFill>
                  <a:srgbClr val="1B5E20"/>
                </a:solidFill>
                <a:latin typeface="Calibri"/>
                <a:ea typeface="Calibri"/>
              </a:rPr>
              <a:t>3. What does SNAT do, and why might you need it?</a:t>
            </a:r>
            <a:endParaRPr lang="en-US" sz="900" b="0" strike="noStrike" spc="-1">
              <a:solidFill>
                <a:srgbClr val="000000"/>
              </a:solidFill>
              <a:latin typeface="Arial"/>
            </a:endParaRPr>
          </a:p>
          <a:p>
            <a:pPr defTabSz="914400">
              <a:lnSpc>
                <a:spcPct val="100000"/>
              </a:lnSpc>
              <a:tabLst>
                <a:tab pos="0" algn="l"/>
              </a:tabLst>
            </a:pPr>
            <a:r>
              <a:rPr lang="en-US" sz="900" b="0" strike="noStrike" spc="-1">
                <a:solidFill>
                  <a:srgbClr val="1B5E20"/>
                </a:solidFill>
                <a:latin typeface="Calibri"/>
                <a:ea typeface="Calibri"/>
              </a:rPr>
              <a:t>4. Name three profiles you might assign to a virtual server and explain why.</a:t>
            </a:r>
            <a:endParaRPr lang="en-US" sz="900" b="0" strike="noStrike" spc="-1">
              <a:solidFill>
                <a:srgbClr val="000000"/>
              </a:solidFill>
              <a:latin typeface="Arial"/>
            </a:endParaRPr>
          </a:p>
          <a:p>
            <a:pPr defTabSz="914400">
              <a:lnSpc>
                <a:spcPct val="100000"/>
              </a:lnSpc>
              <a:tabLst>
                <a:tab pos="0" algn="l"/>
              </a:tabLst>
            </a:pPr>
            <a:r>
              <a:rPr lang="en-US" sz="900" b="0" strike="noStrike" spc="-1">
                <a:solidFill>
                  <a:srgbClr val="1B5E20"/>
                </a:solidFill>
                <a:latin typeface="Calibri"/>
                <a:ea typeface="Calibri"/>
              </a:rPr>
              <a:t>If you can answer all four confidently, you're ready for this course. If not, review your F5-CA material first.</a:t>
            </a:r>
            <a:endParaRPr lang="en-US" sz="900" b="0" strike="noStrike" spc="-1">
              <a:solidFill>
                <a:srgbClr val="000000"/>
              </a:solidFill>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3"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 normalizeH="0" baseline="0" noProof="0">
              <a:ln>
                <a:noFill/>
              </a:ln>
              <a:solidFill>
                <a:srgbClr val="000000"/>
              </a:solidFill>
              <a:effectLst/>
              <a:uLnTx/>
              <a:uFillTx/>
              <a:latin typeface="Calibri"/>
              <a:ea typeface="+mn-ea"/>
              <a:cs typeface="+mn-cs"/>
            </a:endParaRPr>
          </a:p>
        </p:txBody>
      </p:sp>
      <p:sp>
        <p:nvSpPr>
          <p:cNvPr id="104"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 normalizeH="0" baseline="0" noProof="0">
              <a:ln>
                <a:noFill/>
              </a:ln>
              <a:solidFill>
                <a:srgbClr val="000000"/>
              </a:solidFill>
              <a:effectLst/>
              <a:uLnTx/>
              <a:uFillTx/>
              <a:latin typeface="Calibri"/>
              <a:ea typeface="+mn-ea"/>
              <a:cs typeface="+mn-cs"/>
            </a:endParaRPr>
          </a:p>
        </p:txBody>
      </p:sp>
      <p:sp>
        <p:nvSpPr>
          <p:cNvPr id="105"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 normalizeH="0" baseline="0" noProof="0">
              <a:ln>
                <a:noFill/>
              </a:ln>
              <a:solidFill>
                <a:srgbClr val="000000"/>
              </a:solidFill>
              <a:effectLst/>
              <a:uLnTx/>
              <a:uFillTx/>
              <a:latin typeface="Calibri"/>
              <a:ea typeface="+mn-ea"/>
              <a:cs typeface="+mn-cs"/>
            </a:endParaRPr>
          </a:p>
        </p:txBody>
      </p:sp>
      <p:sp>
        <p:nvSpPr>
          <p:cNvPr id="106"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 normalizeH="0" baseline="0" noProof="0">
              <a:ln>
                <a:noFill/>
              </a:ln>
              <a:solidFill>
                <a:srgbClr val="000000"/>
              </a:solidFill>
              <a:effectLst/>
              <a:uLnTx/>
              <a:uFillTx/>
              <a:latin typeface="Calibri"/>
              <a:ea typeface="+mn-ea"/>
              <a:cs typeface="+mn-cs"/>
            </a:endParaRPr>
          </a:p>
        </p:txBody>
      </p:sp>
      <p:sp>
        <p:nvSpPr>
          <p:cNvPr id="107"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 normalizeH="0" baseline="0" noProof="0">
              <a:ln>
                <a:noFill/>
              </a:ln>
              <a:solidFill>
                <a:srgbClr val="000000"/>
              </a:solidFill>
              <a:effectLst/>
              <a:uLnTx/>
              <a:uFillTx/>
              <a:latin typeface="Calibri"/>
              <a:ea typeface="+mn-ea"/>
              <a:cs typeface="+mn-cs"/>
            </a:endParaRPr>
          </a:p>
        </p:txBody>
      </p:sp>
      <p:sp>
        <p:nvSpPr>
          <p:cNvPr id="108"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800" b="0" i="0" u="none" strike="noStrike" kern="1200" cap="none" spc="-1" normalizeH="0" baseline="0" noProof="0">
                <a:ln>
                  <a:noFill/>
                </a:ln>
                <a:solidFill>
                  <a:srgbClr val="666666"/>
                </a:solidFill>
                <a:effectLst/>
                <a:uLnTx/>
                <a:uFillTx/>
                <a:latin typeface="Calibri"/>
                <a:ea typeface="Calibri"/>
                <a:cs typeface="+mn-cs"/>
              </a:rPr>
              <a:t>5    © 2026 F5</a:t>
            </a:r>
            <a:endParaRPr kumimoji="0" lang="en-US" sz="800" b="0" i="0" u="none" strike="noStrike" kern="1200" cap="none" spc="-1" normalizeH="0" baseline="0" noProof="0">
              <a:ln>
                <a:noFill/>
              </a:ln>
              <a:solidFill>
                <a:srgbClr val="000000"/>
              </a:solidFill>
              <a:effectLst/>
              <a:uLnTx/>
              <a:uFillTx/>
              <a:latin typeface="Arial"/>
              <a:ea typeface="+mn-ea"/>
              <a:cs typeface="+mn-cs"/>
            </a:endParaRPr>
          </a:p>
        </p:txBody>
      </p:sp>
      <p:sp>
        <p:nvSpPr>
          <p:cNvPr id="110" name="Text 6"/>
          <p:cNvSpPr/>
          <p:nvPr/>
        </p:nvSpPr>
        <p:spPr>
          <a:xfrm>
            <a:off x="457200" y="200000"/>
            <a:ext cx="8229240" cy="700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2800" b="1" i="0" u="none" strike="noStrike" kern="1200" cap="none" spc="-1" normalizeH="0" baseline="0" noProof="0">
                <a:ln>
                  <a:noFill/>
                </a:ln>
                <a:solidFill>
                  <a:srgbClr val="000000"/>
                </a:solidFill>
                <a:effectLst/>
                <a:uLnTx/>
                <a:uFillTx/>
                <a:latin typeface="Arial"/>
                <a:ea typeface="Arial"/>
                <a:cs typeface="+mn-cs"/>
              </a:rPr>
              <a:t>Course agenda</a:t>
            </a:r>
            <a:endParaRPr kumimoji="0" lang="en-US" sz="2800" b="0" i="0" u="none" strike="noStrike" kern="1200" cap="none" spc="-1" normalizeH="0" baseline="0" noProof="0">
              <a:ln>
                <a:noFill/>
              </a:ln>
              <a:solidFill>
                <a:srgbClr val="000000"/>
              </a:solidFill>
              <a:effectLst/>
              <a:uLnTx/>
              <a:uFillTx/>
              <a:latin typeface="Arial"/>
              <a:ea typeface="+mn-ea"/>
              <a:cs typeface="+mn-cs"/>
            </a:endParaRPr>
          </a:p>
        </p:txBody>
      </p:sp>
      <p:sp>
        <p:nvSpPr>
          <p:cNvPr id="111" name="Text 7"/>
          <p:cNvSpPr/>
          <p:nvPr/>
        </p:nvSpPr>
        <p:spPr>
          <a:xfrm>
            <a:off x="457200" y="-500000"/>
            <a:ext cx="8229240" cy="100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1300" b="0" i="0" u="none" strike="noStrike" kern="1200" cap="none" spc="-1" normalizeH="0" baseline="0" noProof="0">
                <a:ln>
                  <a:noFill/>
                </a:ln>
                <a:solidFill>
                  <a:srgbClr val="666666"/>
                </a:solidFill>
                <a:effectLst/>
                <a:uLnTx/>
                <a:uFillTx/>
                <a:latin typeface="Calibri"/>
                <a:ea typeface="Calibri"/>
                <a:cs typeface="+mn-cs"/>
              </a:rPr>
              <a:t>Day-by-day schedule with time slots, slides, and durations</a:t>
            </a:r>
            <a:endParaRPr kumimoji="0" lang="en-US" sz="1300" b="0" i="0" u="none" strike="noStrike" kern="1200" cap="none" spc="-1" normalizeH="0" baseline="0" noProof="0">
              <a:ln>
                <a:noFill/>
              </a:ln>
              <a:solidFill>
                <a:srgbClr val="000000"/>
              </a:solidFill>
              <a:effectLst/>
              <a:uLnTx/>
              <a:uFillTx/>
              <a:latin typeface="Arial"/>
              <a:ea typeface="+mn-ea"/>
              <a:cs typeface="+mn-cs"/>
            </a:endParaRPr>
          </a:p>
        </p:txBody>
      </p:sp>
      <p:graphicFrame>
        <p:nvGraphicFramePr>
          <p:cNvPr id="112" name="Table 0"/>
          <p:cNvGraphicFramePr/>
          <p:nvPr/>
        </p:nvGraphicFramePr>
        <p:xfrm>
          <a:off x="302040" y="792900"/>
          <a:ext cx="8412480" cy="4114800"/>
        </p:xfrm>
        <a:graphic>
          <a:graphicData uri="http://schemas.openxmlformats.org/drawingml/2006/table">
            <a:tbl>
              <a:tblPr/>
              <a:tblGrid>
                <a:gridCol w="1514246">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1177747">
                  <a:extLst>
                    <a:ext uri="{9D8B030D-6E8A-4147-A177-3AD203B41FA5}">
                      <a16:colId xmlns:a16="http://schemas.microsoft.com/office/drawing/2014/main" val="20002"/>
                    </a:ext>
                  </a:extLst>
                </a:gridCol>
                <a:gridCol w="1514247">
                  <a:extLst>
                    <a:ext uri="{9D8B030D-6E8A-4147-A177-3AD203B41FA5}">
                      <a16:colId xmlns:a16="http://schemas.microsoft.com/office/drawing/2014/main" val="20003"/>
                    </a:ext>
                  </a:extLst>
                </a:gridCol>
              </a:tblGrid>
              <a:tr h="274320">
                <a:tc>
                  <a:txBody>
                    <a:bodyPr/>
                    <a:lstStyle/>
                    <a:p>
                      <a:pPr algn="l"/>
                      <a:r>
                        <a:rPr lang="en-US" sz="1000" b="1" dirty="0">
                          <a:solidFill>
                            <a:srgbClr val="FFFFFF"/>
                          </a:solidFill>
                          <a:latin typeface="Calibri"/>
                        </a:rPr>
                        <a:t>Day</a:t>
                      </a:r>
                    </a:p>
                  </a:txBody>
                  <a:tcPr marL="45720" marR="45720" marT="0" marB="0" anchor="ctr">
                    <a:lnL w="6350">
                      <a:solidFill>
                        <a:srgbClr val="D0D0D0"/>
                      </a:solidFill>
                    </a:lnL>
                    <a:lnR w="6350">
                      <a:solidFill>
                        <a:srgbClr val="D0D0D0"/>
                      </a:solidFill>
                    </a:lnR>
                    <a:lnT w="6350">
                      <a:solidFill>
                        <a:srgbClr val="D0D0D0"/>
                      </a:solidFill>
                    </a:lnT>
                    <a:lnB w="6350">
                      <a:solidFill>
                        <a:srgbClr val="D0D0D0"/>
                      </a:solidFill>
                    </a:lnB>
                    <a:solidFill>
                      <a:srgbClr val="0E41AA"/>
                    </a:solidFill>
                  </a:tcPr>
                </a:tc>
                <a:tc>
                  <a:txBody>
                    <a:bodyPr/>
                    <a:lstStyle/>
                    <a:p>
                      <a:pPr algn="l"/>
                      <a:r>
                        <a:rPr lang="en-US" sz="1000" b="1" dirty="0">
                          <a:solidFill>
                            <a:srgbClr val="FFFFFF"/>
                          </a:solidFill>
                          <a:latin typeface="Calibri"/>
                        </a:rPr>
                        <a:t>Section</a:t>
                      </a:r>
                    </a:p>
                  </a:txBody>
                  <a:tcPr marL="45720" marR="45720" marT="0" marB="0" anchor="ctr">
                    <a:lnL w="6350">
                      <a:solidFill>
                        <a:srgbClr val="D0D0D0"/>
                      </a:solidFill>
                    </a:lnL>
                    <a:lnR w="6350">
                      <a:solidFill>
                        <a:srgbClr val="D0D0D0"/>
                      </a:solidFill>
                    </a:lnR>
                    <a:lnT w="6350">
                      <a:solidFill>
                        <a:srgbClr val="D0D0D0"/>
                      </a:solidFill>
                    </a:lnT>
                    <a:lnB w="6350">
                      <a:solidFill>
                        <a:srgbClr val="D0D0D0"/>
                      </a:solidFill>
                    </a:lnB>
                    <a:solidFill>
                      <a:srgbClr val="0E41AA"/>
                    </a:solidFill>
                  </a:tcPr>
                </a:tc>
                <a:tc>
                  <a:txBody>
                    <a:bodyPr/>
                    <a:lstStyle/>
                    <a:p>
                      <a:pPr algn="l"/>
                      <a:r>
                        <a:rPr lang="en-US" sz="1000" b="1" dirty="0">
                          <a:solidFill>
                            <a:srgbClr val="FFFFFF"/>
                          </a:solidFill>
                          <a:latin typeface="Calibri"/>
                        </a:rPr>
                        <a:t>Slides</a:t>
                      </a:r>
                    </a:p>
                  </a:txBody>
                  <a:tcPr marL="45720" marR="45720" marT="0" marB="0" anchor="ctr">
                    <a:lnL w="6350">
                      <a:solidFill>
                        <a:srgbClr val="D0D0D0"/>
                      </a:solidFill>
                    </a:lnL>
                    <a:lnR w="6350">
                      <a:solidFill>
                        <a:srgbClr val="D0D0D0"/>
                      </a:solidFill>
                    </a:lnR>
                    <a:lnT w="6350">
                      <a:solidFill>
                        <a:srgbClr val="D0D0D0"/>
                      </a:solidFill>
                    </a:lnT>
                    <a:lnB w="6350">
                      <a:solidFill>
                        <a:srgbClr val="D0D0D0"/>
                      </a:solidFill>
                    </a:lnB>
                    <a:solidFill>
                      <a:srgbClr val="0E41AA"/>
                    </a:solidFill>
                  </a:tcPr>
                </a:tc>
                <a:tc>
                  <a:txBody>
                    <a:bodyPr/>
                    <a:lstStyle/>
                    <a:p>
                      <a:pPr algn="r"/>
                      <a:r>
                        <a:rPr lang="en-US" sz="1000" b="1" dirty="0">
                          <a:solidFill>
                            <a:srgbClr val="FFFFFF"/>
                          </a:solidFill>
                          <a:latin typeface="Calibri"/>
                        </a:rPr>
                        <a:t>Duration</a:t>
                      </a:r>
                    </a:p>
                  </a:txBody>
                  <a:tcPr marL="45720" marR="45720" marT="0" marB="0" anchor="ctr">
                    <a:lnL w="6350">
                      <a:solidFill>
                        <a:srgbClr val="D0D0D0"/>
                      </a:solidFill>
                    </a:lnL>
                    <a:lnR w="6350">
                      <a:solidFill>
                        <a:srgbClr val="D0D0D0"/>
                      </a:solidFill>
                    </a:lnR>
                    <a:lnT w="6350">
                      <a:solidFill>
                        <a:srgbClr val="D0D0D0"/>
                      </a:solidFill>
                    </a:lnT>
                    <a:lnB w="6350">
                      <a:solidFill>
                        <a:srgbClr val="D0D0D0"/>
                      </a:solidFill>
                    </a:lnB>
                    <a:solidFill>
                      <a:srgbClr val="0E41AA"/>
                    </a:solidFill>
                  </a:tcPr>
                </a:tc>
                <a:extLst>
                  <a:ext uri="{0D108BD9-81ED-4DB2-BD59-A6C34878D82A}">
                    <a16:rowId xmlns:a16="http://schemas.microsoft.com/office/drawing/2014/main" val="10000"/>
                  </a:ext>
                </a:extLst>
              </a:tr>
              <a:tr h="274320">
                <a:tc>
                  <a:txBody>
                    <a:bodyPr/>
                    <a:lstStyle/>
                    <a:p>
                      <a:pPr algn="l"/>
                      <a:r>
                        <a:rPr lang="en-US" sz="1000" b="1" dirty="0">
                          <a:solidFill>
                            <a:srgbClr val="FFFFFF"/>
                          </a:solidFill>
                          <a:latin typeface="Calibri"/>
                        </a:rPr>
                        <a:t>Day 1 — Wednesday</a:t>
                      </a:r>
                    </a:p>
                  </a:txBody>
                  <a:tcPr marL="45720" marR="45720" marT="0" marB="0" anchor="ctr">
                    <a:lnL w="6350">
                      <a:solidFill>
                        <a:srgbClr val="D0D0D0"/>
                      </a:solidFill>
                    </a:lnL>
                    <a:lnR w="6350">
                      <a:solidFill>
                        <a:srgbClr val="D0D0D0"/>
                      </a:solidFill>
                    </a:lnR>
                    <a:lnT w="6350">
                      <a:solidFill>
                        <a:srgbClr val="D0D0D0"/>
                      </a:solidFill>
                    </a:lnT>
                    <a:lnB w="6350">
                      <a:solidFill>
                        <a:srgbClr val="D0D0D0"/>
                      </a:solidFill>
                    </a:lnB>
                    <a:solidFill>
                      <a:srgbClr val="1A1A2E"/>
                    </a:solidFill>
                  </a:tcPr>
                </a:tc>
                <a:tc>
                  <a:txBody>
                    <a:bodyPr/>
                    <a:lstStyle/>
                    <a:p>
                      <a:pPr algn="l"/>
                      <a:r>
                        <a:rPr lang="en-US" sz="900" dirty="0">
                          <a:solidFill>
                            <a:srgbClr val="CCCCDD"/>
                          </a:solidFill>
                          <a:latin typeface="Calibri"/>
                        </a:rPr>
                        <a:t>Old Dominion Room</a:t>
                      </a:r>
                    </a:p>
                  </a:txBody>
                  <a:tcPr marL="45720" marR="45720" marT="0" marB="0" anchor="ctr">
                    <a:lnL w="6350">
                      <a:solidFill>
                        <a:srgbClr val="D0D0D0"/>
                      </a:solidFill>
                    </a:lnL>
                    <a:lnR w="6350">
                      <a:solidFill>
                        <a:srgbClr val="D0D0D0"/>
                      </a:solidFill>
                    </a:lnR>
                    <a:lnT w="6350">
                      <a:solidFill>
                        <a:srgbClr val="D0D0D0"/>
                      </a:solidFill>
                    </a:lnT>
                    <a:lnB w="6350">
                      <a:solidFill>
                        <a:srgbClr val="D0D0D0"/>
                      </a:solidFill>
                    </a:lnB>
                    <a:solidFill>
                      <a:srgbClr val="1A1A2E"/>
                    </a:solidFill>
                  </a:tcPr>
                </a:tc>
                <a:tc>
                  <a:txBody>
                    <a:bodyPr/>
                    <a:lstStyle/>
                    <a:p>
                      <a:pPr algn="l"/>
                      <a:endParaRPr/>
                    </a:p>
                  </a:txBody>
                  <a:tcPr marL="45720" marR="45720" marT="0" marB="0" anchor="ctr">
                    <a:lnL w="6350">
                      <a:solidFill>
                        <a:srgbClr val="D0D0D0"/>
                      </a:solidFill>
                    </a:lnL>
                    <a:lnR w="6350">
                      <a:solidFill>
                        <a:srgbClr val="D0D0D0"/>
                      </a:solidFill>
                    </a:lnR>
                    <a:lnT w="6350">
                      <a:solidFill>
                        <a:srgbClr val="D0D0D0"/>
                      </a:solidFill>
                    </a:lnT>
                    <a:lnB w="6350">
                      <a:solidFill>
                        <a:srgbClr val="D0D0D0"/>
                      </a:solidFill>
                    </a:lnB>
                    <a:solidFill>
                      <a:srgbClr val="1A1A2E"/>
                    </a:solidFill>
                  </a:tcPr>
                </a:tc>
                <a:tc>
                  <a:txBody>
                    <a:bodyPr/>
                    <a:lstStyle/>
                    <a:p>
                      <a:pPr algn="r"/>
                      <a:r>
                        <a:rPr lang="en-US" sz="1000" b="1" dirty="0">
                          <a:solidFill>
                            <a:srgbClr val="FFFFFF"/>
                          </a:solidFill>
                          <a:latin typeface="Calibri"/>
                        </a:rPr>
                        <a:t>4 hrs</a:t>
                      </a:r>
                    </a:p>
                  </a:txBody>
                  <a:tcPr marL="45720" marR="45720" marT="0" marB="0" anchor="ctr">
                    <a:lnL w="6350">
                      <a:solidFill>
                        <a:srgbClr val="D0D0D0"/>
                      </a:solidFill>
                    </a:lnL>
                    <a:lnR w="6350">
                      <a:solidFill>
                        <a:srgbClr val="D0D0D0"/>
                      </a:solidFill>
                    </a:lnR>
                    <a:lnT w="6350">
                      <a:solidFill>
                        <a:srgbClr val="D0D0D0"/>
                      </a:solidFill>
                    </a:lnT>
                    <a:lnB w="6350">
                      <a:solidFill>
                        <a:srgbClr val="D0D0D0"/>
                      </a:solidFill>
                    </a:lnB>
                    <a:solidFill>
                      <a:srgbClr val="1A1A2E"/>
                    </a:solidFill>
                  </a:tcPr>
                </a:tc>
                <a:extLst>
                  <a:ext uri="{0D108BD9-81ED-4DB2-BD59-A6C34878D82A}">
                    <a16:rowId xmlns:a16="http://schemas.microsoft.com/office/drawing/2014/main" val="10001"/>
                  </a:ext>
                </a:extLst>
              </a:tr>
              <a:tr h="274320">
                <a:tc>
                  <a:txBody>
                    <a:bodyPr/>
                    <a:lstStyle/>
                    <a:p>
                      <a:pPr algn="l"/>
                      <a:endParaRPr/>
                    </a:p>
                  </a:txBody>
                  <a:tcPr marL="45720" marR="45720" marT="0" marB="0" anchor="ctr">
                    <a:lnL w="6350">
                      <a:solidFill>
                        <a:srgbClr val="D0D0D0"/>
                      </a:solidFill>
                    </a:lnL>
                    <a:lnR w="6350">
                      <a:solidFill>
                        <a:srgbClr val="D0D0D0"/>
                      </a:solidFill>
                    </a:lnR>
                    <a:lnT w="6350">
                      <a:solidFill>
                        <a:srgbClr val="D0D0D0"/>
                      </a:solidFill>
                    </a:lnT>
                    <a:lnB w="6350">
                      <a:solidFill>
                        <a:srgbClr val="D0D0D0"/>
                      </a:solidFill>
                    </a:lnB>
                    <a:noFill/>
                  </a:tcPr>
                </a:tc>
                <a:tc>
                  <a:txBody>
                    <a:bodyPr/>
                    <a:lstStyle/>
                    <a:p>
                      <a:pPr algn="l"/>
                      <a:r>
                        <a:rPr lang="en-US" sz="900" b="1" dirty="0">
                          <a:solidFill>
                            <a:srgbClr val="333333"/>
                          </a:solidFill>
                          <a:latin typeface="Calibri"/>
                        </a:rPr>
                        <a:t>Course Housekeeping</a:t>
                      </a:r>
                    </a:p>
                  </a:txBody>
                  <a:tcPr marL="45720" marR="45720" marT="0" marB="0" anchor="ctr">
                    <a:lnL w="6350">
                      <a:solidFill>
                        <a:srgbClr val="D0D0D0"/>
                      </a:solidFill>
                    </a:lnL>
                    <a:lnR w="6350">
                      <a:solidFill>
                        <a:srgbClr val="D0D0D0"/>
                      </a:solidFill>
                    </a:lnR>
                    <a:lnT w="6350">
                      <a:solidFill>
                        <a:srgbClr val="D0D0D0"/>
                      </a:solidFill>
                    </a:lnT>
                    <a:lnB w="6350">
                      <a:solidFill>
                        <a:srgbClr val="D0D0D0"/>
                      </a:solidFill>
                    </a:lnB>
                    <a:noFill/>
                  </a:tcPr>
                </a:tc>
                <a:tc>
                  <a:txBody>
                    <a:bodyPr/>
                    <a:lstStyle/>
                    <a:p>
                      <a:pPr algn="l"/>
                      <a:r>
                        <a:rPr lang="en-US" sz="800" dirty="0">
                          <a:solidFill>
                            <a:srgbClr val="666666"/>
                          </a:solidFill>
                          <a:latin typeface="Calibri"/>
                        </a:rPr>
                        <a:t>1–7</a:t>
                      </a:r>
                    </a:p>
                  </a:txBody>
                  <a:tcPr marL="45720" marR="45720" marT="0" marB="0" anchor="ctr">
                    <a:lnL w="6350">
                      <a:solidFill>
                        <a:srgbClr val="D0D0D0"/>
                      </a:solidFill>
                    </a:lnL>
                    <a:lnR w="6350">
                      <a:solidFill>
                        <a:srgbClr val="D0D0D0"/>
                      </a:solidFill>
                    </a:lnR>
                    <a:lnT w="6350">
                      <a:solidFill>
                        <a:srgbClr val="D0D0D0"/>
                      </a:solidFill>
                    </a:lnT>
                    <a:lnB w="6350">
                      <a:solidFill>
                        <a:srgbClr val="D0D0D0"/>
                      </a:solidFill>
                    </a:lnB>
                    <a:noFill/>
                  </a:tcPr>
                </a:tc>
                <a:tc>
                  <a:txBody>
                    <a:bodyPr/>
                    <a:lstStyle/>
                    <a:p>
                      <a:pPr algn="r"/>
                      <a:r>
                        <a:rPr lang="en-US" sz="900" dirty="0">
                          <a:solidFill>
                            <a:srgbClr val="333333"/>
                          </a:solidFill>
                          <a:latin typeface="Calibri"/>
                        </a:rPr>
                        <a:t>10m</a:t>
                      </a:r>
                    </a:p>
                  </a:txBody>
                  <a:tcPr marL="45720" marR="45720" marT="0" marB="0" anchor="ctr">
                    <a:lnL w="6350">
                      <a:solidFill>
                        <a:srgbClr val="D0D0D0"/>
                      </a:solidFill>
                    </a:lnL>
                    <a:lnR w="6350">
                      <a:solidFill>
                        <a:srgbClr val="D0D0D0"/>
                      </a:solidFill>
                    </a:lnR>
                    <a:lnT w="6350">
                      <a:solidFill>
                        <a:srgbClr val="D0D0D0"/>
                      </a:solidFill>
                    </a:lnT>
                    <a:lnB w="6350">
                      <a:solidFill>
                        <a:srgbClr val="D0D0D0"/>
                      </a:solidFill>
                    </a:lnB>
                    <a:noFill/>
                  </a:tcPr>
                </a:tc>
                <a:extLst>
                  <a:ext uri="{0D108BD9-81ED-4DB2-BD59-A6C34878D82A}">
                    <a16:rowId xmlns:a16="http://schemas.microsoft.com/office/drawing/2014/main" val="10002"/>
                  </a:ext>
                </a:extLst>
              </a:tr>
              <a:tr h="274320">
                <a:tc>
                  <a:txBody>
                    <a:bodyPr/>
                    <a:lstStyle/>
                    <a:p>
                      <a:pPr algn="l"/>
                      <a:endParaRPr/>
                    </a:p>
                  </a:txBody>
                  <a:tcPr marL="45720" marR="45720" marT="0" marB="0" anchor="ctr">
                    <a:lnL w="6350">
                      <a:solidFill>
                        <a:srgbClr val="D0D0D0"/>
                      </a:solidFill>
                    </a:lnL>
                    <a:lnR w="6350">
                      <a:solidFill>
                        <a:srgbClr val="D0D0D0"/>
                      </a:solidFill>
                    </a:lnR>
                    <a:lnT w="6350">
                      <a:solidFill>
                        <a:srgbClr val="D0D0D0"/>
                      </a:solidFill>
                    </a:lnT>
                    <a:lnB w="6350">
                      <a:solidFill>
                        <a:srgbClr val="D0D0D0"/>
                      </a:solidFill>
                    </a:lnB>
                    <a:noFill/>
                  </a:tcPr>
                </a:tc>
                <a:tc>
                  <a:txBody>
                    <a:bodyPr/>
                    <a:lstStyle/>
                    <a:p>
                      <a:pPr algn="l"/>
                      <a:r>
                        <a:rPr lang="en-US" sz="900" b="1" dirty="0">
                          <a:solidFill>
                            <a:srgbClr val="333333"/>
                          </a:solidFill>
                          <a:latin typeface="Calibri"/>
                        </a:rPr>
                        <a:t>Lab 1: Basic Setup, TMSH, SNATs</a:t>
                      </a:r>
                    </a:p>
                  </a:txBody>
                  <a:tcPr marL="45720" marR="45720" marT="0" marB="0" anchor="ctr">
                    <a:lnL w="6350">
                      <a:solidFill>
                        <a:srgbClr val="D0D0D0"/>
                      </a:solidFill>
                    </a:lnL>
                    <a:lnR w="6350">
                      <a:solidFill>
                        <a:srgbClr val="D0D0D0"/>
                      </a:solidFill>
                    </a:lnR>
                    <a:lnT w="6350">
                      <a:solidFill>
                        <a:srgbClr val="D0D0D0"/>
                      </a:solidFill>
                    </a:lnT>
                    <a:lnB w="6350">
                      <a:solidFill>
                        <a:srgbClr val="D0D0D0"/>
                      </a:solidFill>
                    </a:lnB>
                    <a:noFill/>
                  </a:tcPr>
                </a:tc>
                <a:tc>
                  <a:txBody>
                    <a:bodyPr/>
                    <a:lstStyle/>
                    <a:p>
                      <a:pPr algn="l"/>
                      <a:r>
                        <a:rPr lang="en-US" sz="800" dirty="0">
                          <a:solidFill>
                            <a:srgbClr val="666666"/>
                          </a:solidFill>
                          <a:latin typeface="Calibri"/>
                        </a:rPr>
                        <a:t>8–18</a:t>
                      </a:r>
                    </a:p>
                  </a:txBody>
                  <a:tcPr marL="45720" marR="45720" marT="0" marB="0" anchor="ctr">
                    <a:lnL w="6350">
                      <a:solidFill>
                        <a:srgbClr val="D0D0D0"/>
                      </a:solidFill>
                    </a:lnL>
                    <a:lnR w="6350">
                      <a:solidFill>
                        <a:srgbClr val="D0D0D0"/>
                      </a:solidFill>
                    </a:lnR>
                    <a:lnT w="6350">
                      <a:solidFill>
                        <a:srgbClr val="D0D0D0"/>
                      </a:solidFill>
                    </a:lnT>
                    <a:lnB w="6350">
                      <a:solidFill>
                        <a:srgbClr val="D0D0D0"/>
                      </a:solidFill>
                    </a:lnB>
                    <a:noFill/>
                  </a:tcPr>
                </a:tc>
                <a:tc>
                  <a:txBody>
                    <a:bodyPr/>
                    <a:lstStyle/>
                    <a:p>
                      <a:pPr algn="r"/>
                      <a:r>
                        <a:rPr lang="en-US" sz="900" dirty="0">
                          <a:solidFill>
                            <a:srgbClr val="333333"/>
                          </a:solidFill>
                          <a:latin typeface="Calibri"/>
                        </a:rPr>
                        <a:t>70m</a:t>
                      </a:r>
                    </a:p>
                  </a:txBody>
                  <a:tcPr marL="45720" marR="45720" marT="0" marB="0" anchor="ctr">
                    <a:lnL w="6350">
                      <a:solidFill>
                        <a:srgbClr val="D0D0D0"/>
                      </a:solidFill>
                    </a:lnL>
                    <a:lnR w="6350">
                      <a:solidFill>
                        <a:srgbClr val="D0D0D0"/>
                      </a:solidFill>
                    </a:lnR>
                    <a:lnT w="6350">
                      <a:solidFill>
                        <a:srgbClr val="D0D0D0"/>
                      </a:solidFill>
                    </a:lnT>
                    <a:lnB w="6350">
                      <a:solidFill>
                        <a:srgbClr val="D0D0D0"/>
                      </a:solidFill>
                    </a:lnB>
                    <a:noFill/>
                  </a:tcPr>
                </a:tc>
                <a:extLst>
                  <a:ext uri="{0D108BD9-81ED-4DB2-BD59-A6C34878D82A}">
                    <a16:rowId xmlns:a16="http://schemas.microsoft.com/office/drawing/2014/main" val="10003"/>
                  </a:ext>
                </a:extLst>
              </a:tr>
              <a:tr h="274320">
                <a:tc>
                  <a:txBody>
                    <a:bodyPr/>
                    <a:lstStyle/>
                    <a:p>
                      <a:pPr algn="l"/>
                      <a:endParaRPr/>
                    </a:p>
                  </a:txBody>
                  <a:tcPr marL="45720" marR="45720" marT="0" marB="0" anchor="ctr">
                    <a:lnL w="6350">
                      <a:solidFill>
                        <a:srgbClr val="D0D0D0"/>
                      </a:solidFill>
                    </a:lnL>
                    <a:lnR w="6350">
                      <a:solidFill>
                        <a:srgbClr val="D0D0D0"/>
                      </a:solidFill>
                    </a:lnR>
                    <a:lnT w="6350">
                      <a:solidFill>
                        <a:srgbClr val="D0D0D0"/>
                      </a:solidFill>
                    </a:lnT>
                    <a:lnB w="6350">
                      <a:solidFill>
                        <a:srgbClr val="D0D0D0"/>
                      </a:solidFill>
                    </a:lnB>
                    <a:noFill/>
                  </a:tcPr>
                </a:tc>
                <a:tc>
                  <a:txBody>
                    <a:bodyPr/>
                    <a:lstStyle/>
                    <a:p>
                      <a:pPr algn="l"/>
                      <a:r>
                        <a:rPr lang="en-US" sz="900" b="1" dirty="0">
                          <a:solidFill>
                            <a:srgbClr val="333333"/>
                          </a:solidFill>
                          <a:latin typeface="Calibri"/>
                        </a:rPr>
                        <a:t>Lab 2: Profiles, iRules, Multi-tier</a:t>
                      </a:r>
                    </a:p>
                  </a:txBody>
                  <a:tcPr marL="45720" marR="45720" marT="0" marB="0" anchor="ctr">
                    <a:lnL w="6350">
                      <a:solidFill>
                        <a:srgbClr val="D0D0D0"/>
                      </a:solidFill>
                    </a:lnL>
                    <a:lnR w="6350">
                      <a:solidFill>
                        <a:srgbClr val="D0D0D0"/>
                      </a:solidFill>
                    </a:lnR>
                    <a:lnT w="6350">
                      <a:solidFill>
                        <a:srgbClr val="D0D0D0"/>
                      </a:solidFill>
                    </a:lnT>
                    <a:lnB w="6350">
                      <a:solidFill>
                        <a:srgbClr val="D0D0D0"/>
                      </a:solidFill>
                    </a:lnB>
                    <a:noFill/>
                  </a:tcPr>
                </a:tc>
                <a:tc>
                  <a:txBody>
                    <a:bodyPr/>
                    <a:lstStyle/>
                    <a:p>
                      <a:pPr algn="l"/>
                      <a:r>
                        <a:rPr lang="en-US" sz="800" dirty="0">
                          <a:solidFill>
                            <a:srgbClr val="666666"/>
                          </a:solidFill>
                          <a:latin typeface="Calibri"/>
                        </a:rPr>
                        <a:t>19–30</a:t>
                      </a:r>
                    </a:p>
                  </a:txBody>
                  <a:tcPr marL="45720" marR="45720" marT="0" marB="0" anchor="ctr">
                    <a:lnL w="6350">
                      <a:solidFill>
                        <a:srgbClr val="D0D0D0"/>
                      </a:solidFill>
                    </a:lnL>
                    <a:lnR w="6350">
                      <a:solidFill>
                        <a:srgbClr val="D0D0D0"/>
                      </a:solidFill>
                    </a:lnR>
                    <a:lnT w="6350">
                      <a:solidFill>
                        <a:srgbClr val="D0D0D0"/>
                      </a:solidFill>
                    </a:lnT>
                    <a:lnB w="6350">
                      <a:solidFill>
                        <a:srgbClr val="D0D0D0"/>
                      </a:solidFill>
                    </a:lnB>
                    <a:noFill/>
                  </a:tcPr>
                </a:tc>
                <a:tc>
                  <a:txBody>
                    <a:bodyPr/>
                    <a:lstStyle/>
                    <a:p>
                      <a:pPr algn="r"/>
                      <a:r>
                        <a:rPr lang="en-US" sz="900" dirty="0">
                          <a:solidFill>
                            <a:srgbClr val="333333"/>
                          </a:solidFill>
                          <a:latin typeface="Calibri"/>
                        </a:rPr>
                        <a:t>70m</a:t>
                      </a:r>
                    </a:p>
                  </a:txBody>
                  <a:tcPr marL="45720" marR="45720" marT="0" marB="0" anchor="ctr">
                    <a:lnL w="6350">
                      <a:solidFill>
                        <a:srgbClr val="D0D0D0"/>
                      </a:solidFill>
                    </a:lnL>
                    <a:lnR w="6350">
                      <a:solidFill>
                        <a:srgbClr val="D0D0D0"/>
                      </a:solidFill>
                    </a:lnR>
                    <a:lnT w="6350">
                      <a:solidFill>
                        <a:srgbClr val="D0D0D0"/>
                      </a:solidFill>
                    </a:lnT>
                    <a:lnB w="6350">
                      <a:solidFill>
                        <a:srgbClr val="D0D0D0"/>
                      </a:solidFill>
                    </a:lnB>
                    <a:noFill/>
                  </a:tcPr>
                </a:tc>
                <a:extLst>
                  <a:ext uri="{0D108BD9-81ED-4DB2-BD59-A6C34878D82A}">
                    <a16:rowId xmlns:a16="http://schemas.microsoft.com/office/drawing/2014/main" val="10004"/>
                  </a:ext>
                </a:extLst>
              </a:tr>
              <a:tr h="274320">
                <a:tc>
                  <a:txBody>
                    <a:bodyPr/>
                    <a:lstStyle/>
                    <a:p>
                      <a:pPr algn="l"/>
                      <a:endParaRPr/>
                    </a:p>
                  </a:txBody>
                  <a:tcPr marL="45720" marR="45720" marT="0" marB="0" anchor="ctr">
                    <a:lnL w="6350">
                      <a:solidFill>
                        <a:srgbClr val="D0D0D0"/>
                      </a:solidFill>
                    </a:lnL>
                    <a:lnR w="6350">
                      <a:solidFill>
                        <a:srgbClr val="D0D0D0"/>
                      </a:solidFill>
                    </a:lnR>
                    <a:lnT w="6350">
                      <a:solidFill>
                        <a:srgbClr val="D0D0D0"/>
                      </a:solidFill>
                    </a:lnT>
                    <a:lnB w="6350">
                      <a:solidFill>
                        <a:srgbClr val="D0D0D0"/>
                      </a:solidFill>
                    </a:lnB>
                    <a:noFill/>
                  </a:tcPr>
                </a:tc>
                <a:tc>
                  <a:txBody>
                    <a:bodyPr/>
                    <a:lstStyle/>
                    <a:p>
                      <a:pPr algn="l"/>
                      <a:r>
                        <a:rPr lang="en-US" sz="900" b="1" dirty="0">
                          <a:solidFill>
                            <a:srgbClr val="333333"/>
                          </a:solidFill>
                          <a:latin typeface="Calibri"/>
                        </a:rPr>
                        <a:t>Lab 3: AVR and Analytics</a:t>
                      </a:r>
                    </a:p>
                  </a:txBody>
                  <a:tcPr marL="45720" marR="45720" marT="0" marB="0" anchor="ctr">
                    <a:lnL w="6350">
                      <a:solidFill>
                        <a:srgbClr val="D0D0D0"/>
                      </a:solidFill>
                    </a:lnL>
                    <a:lnR w="6350">
                      <a:solidFill>
                        <a:srgbClr val="D0D0D0"/>
                      </a:solidFill>
                    </a:lnR>
                    <a:lnT w="6350">
                      <a:solidFill>
                        <a:srgbClr val="D0D0D0"/>
                      </a:solidFill>
                    </a:lnT>
                    <a:lnB w="6350">
                      <a:solidFill>
                        <a:srgbClr val="D0D0D0"/>
                      </a:solidFill>
                    </a:lnB>
                    <a:noFill/>
                  </a:tcPr>
                </a:tc>
                <a:tc>
                  <a:txBody>
                    <a:bodyPr/>
                    <a:lstStyle/>
                    <a:p>
                      <a:pPr algn="l"/>
                      <a:r>
                        <a:rPr lang="en-US" sz="800" dirty="0">
                          <a:solidFill>
                            <a:srgbClr val="666666"/>
                          </a:solidFill>
                          <a:latin typeface="Calibri"/>
                        </a:rPr>
                        <a:t>31–38</a:t>
                      </a:r>
                    </a:p>
                  </a:txBody>
                  <a:tcPr marL="45720" marR="45720" marT="0" marB="0" anchor="ctr">
                    <a:lnL w="6350">
                      <a:solidFill>
                        <a:srgbClr val="D0D0D0"/>
                      </a:solidFill>
                    </a:lnL>
                    <a:lnR w="6350">
                      <a:solidFill>
                        <a:srgbClr val="D0D0D0"/>
                      </a:solidFill>
                    </a:lnR>
                    <a:lnT w="6350">
                      <a:solidFill>
                        <a:srgbClr val="D0D0D0"/>
                      </a:solidFill>
                    </a:lnT>
                    <a:lnB w="6350">
                      <a:solidFill>
                        <a:srgbClr val="D0D0D0"/>
                      </a:solidFill>
                    </a:lnB>
                    <a:noFill/>
                  </a:tcPr>
                </a:tc>
                <a:tc>
                  <a:txBody>
                    <a:bodyPr/>
                    <a:lstStyle/>
                    <a:p>
                      <a:pPr algn="r"/>
                      <a:r>
                        <a:rPr lang="en-US" sz="900" dirty="0">
                          <a:solidFill>
                            <a:srgbClr val="333333"/>
                          </a:solidFill>
                          <a:latin typeface="Calibri"/>
                        </a:rPr>
                        <a:t>55m</a:t>
                      </a:r>
                    </a:p>
                  </a:txBody>
                  <a:tcPr marL="45720" marR="45720" marT="0" marB="0" anchor="ctr">
                    <a:lnL w="6350">
                      <a:solidFill>
                        <a:srgbClr val="D0D0D0"/>
                      </a:solidFill>
                    </a:lnL>
                    <a:lnR w="6350">
                      <a:solidFill>
                        <a:srgbClr val="D0D0D0"/>
                      </a:solidFill>
                    </a:lnR>
                    <a:lnT w="6350">
                      <a:solidFill>
                        <a:srgbClr val="D0D0D0"/>
                      </a:solidFill>
                    </a:lnT>
                    <a:lnB w="6350">
                      <a:solidFill>
                        <a:srgbClr val="D0D0D0"/>
                      </a:solidFill>
                    </a:lnB>
                    <a:noFill/>
                  </a:tcPr>
                </a:tc>
                <a:extLst>
                  <a:ext uri="{0D108BD9-81ED-4DB2-BD59-A6C34878D82A}">
                    <a16:rowId xmlns:a16="http://schemas.microsoft.com/office/drawing/2014/main" val="10005"/>
                  </a:ext>
                </a:extLst>
              </a:tr>
              <a:tr h="274320">
                <a:tc>
                  <a:txBody>
                    <a:bodyPr/>
                    <a:lstStyle/>
                    <a:p>
                      <a:pPr algn="l"/>
                      <a:endParaRPr/>
                    </a:p>
                  </a:txBody>
                  <a:tcPr marL="45720" marR="45720" marT="0" marB="0" anchor="ctr">
                    <a:lnL w="6350">
                      <a:solidFill>
                        <a:srgbClr val="D0D0D0"/>
                      </a:solidFill>
                    </a:lnL>
                    <a:lnR w="6350">
                      <a:solidFill>
                        <a:srgbClr val="D0D0D0"/>
                      </a:solidFill>
                    </a:lnR>
                    <a:lnT w="6350">
                      <a:solidFill>
                        <a:srgbClr val="D0D0D0"/>
                      </a:solidFill>
                    </a:lnT>
                    <a:lnB w="6350">
                      <a:solidFill>
                        <a:srgbClr val="D0D0D0"/>
                      </a:solidFill>
                    </a:lnB>
                    <a:noFill/>
                  </a:tcPr>
                </a:tc>
                <a:tc>
                  <a:txBody>
                    <a:bodyPr/>
                    <a:lstStyle/>
                    <a:p>
                      <a:pPr algn="l"/>
                      <a:r>
                        <a:rPr lang="en-US" sz="900" b="1" dirty="0">
                          <a:solidFill>
                            <a:srgbClr val="333333"/>
                          </a:solidFill>
                          <a:latin typeface="Calibri"/>
                        </a:rPr>
                        <a:t>Lab 4: Monitors — Concept Slides</a:t>
                      </a:r>
                    </a:p>
                  </a:txBody>
                  <a:tcPr marL="45720" marR="45720" marT="0" marB="0" anchor="ctr">
                    <a:lnL w="6350">
                      <a:solidFill>
                        <a:srgbClr val="D0D0D0"/>
                      </a:solidFill>
                    </a:lnL>
                    <a:lnR w="6350">
                      <a:solidFill>
                        <a:srgbClr val="D0D0D0"/>
                      </a:solidFill>
                    </a:lnR>
                    <a:lnT w="6350">
                      <a:solidFill>
                        <a:srgbClr val="D0D0D0"/>
                      </a:solidFill>
                    </a:lnT>
                    <a:lnB w="6350">
                      <a:solidFill>
                        <a:srgbClr val="D0D0D0"/>
                      </a:solidFill>
                    </a:lnB>
                    <a:noFill/>
                  </a:tcPr>
                </a:tc>
                <a:tc>
                  <a:txBody>
                    <a:bodyPr/>
                    <a:lstStyle/>
                    <a:p>
                      <a:pPr algn="l"/>
                      <a:r>
                        <a:rPr lang="en-US" sz="800" dirty="0">
                          <a:solidFill>
                            <a:srgbClr val="666666"/>
                          </a:solidFill>
                          <a:latin typeface="Calibri"/>
                        </a:rPr>
                        <a:t>39–43</a:t>
                      </a:r>
                    </a:p>
                  </a:txBody>
                  <a:tcPr marL="45720" marR="45720" marT="0" marB="0" anchor="ctr">
                    <a:lnL w="6350">
                      <a:solidFill>
                        <a:srgbClr val="D0D0D0"/>
                      </a:solidFill>
                    </a:lnL>
                    <a:lnR w="6350">
                      <a:solidFill>
                        <a:srgbClr val="D0D0D0"/>
                      </a:solidFill>
                    </a:lnR>
                    <a:lnT w="6350">
                      <a:solidFill>
                        <a:srgbClr val="D0D0D0"/>
                      </a:solidFill>
                    </a:lnT>
                    <a:lnB w="6350">
                      <a:solidFill>
                        <a:srgbClr val="D0D0D0"/>
                      </a:solidFill>
                    </a:lnB>
                    <a:noFill/>
                  </a:tcPr>
                </a:tc>
                <a:tc>
                  <a:txBody>
                    <a:bodyPr/>
                    <a:lstStyle/>
                    <a:p>
                      <a:pPr algn="r"/>
                      <a:r>
                        <a:rPr lang="en-US" sz="900" dirty="0">
                          <a:solidFill>
                            <a:srgbClr val="333333"/>
                          </a:solidFill>
                          <a:latin typeface="Calibri"/>
                        </a:rPr>
                        <a:t>40m</a:t>
                      </a:r>
                    </a:p>
                  </a:txBody>
                  <a:tcPr marL="45720" marR="45720" marT="0" marB="0" anchor="ctr">
                    <a:lnL w="6350">
                      <a:solidFill>
                        <a:srgbClr val="D0D0D0"/>
                      </a:solidFill>
                    </a:lnL>
                    <a:lnR w="6350">
                      <a:solidFill>
                        <a:srgbClr val="D0D0D0"/>
                      </a:solidFill>
                    </a:lnR>
                    <a:lnT w="6350">
                      <a:solidFill>
                        <a:srgbClr val="D0D0D0"/>
                      </a:solidFill>
                    </a:lnT>
                    <a:lnB w="6350">
                      <a:solidFill>
                        <a:srgbClr val="D0D0D0"/>
                      </a:solidFill>
                    </a:lnB>
                    <a:noFill/>
                  </a:tcPr>
                </a:tc>
                <a:extLst>
                  <a:ext uri="{0D108BD9-81ED-4DB2-BD59-A6C34878D82A}">
                    <a16:rowId xmlns:a16="http://schemas.microsoft.com/office/drawing/2014/main" val="10006"/>
                  </a:ext>
                </a:extLst>
              </a:tr>
              <a:tr h="274320">
                <a:tc>
                  <a:txBody>
                    <a:bodyPr/>
                    <a:lstStyle/>
                    <a:p>
                      <a:pPr algn="l"/>
                      <a:r>
                        <a:rPr lang="en-US" sz="1000" b="1" dirty="0">
                          <a:solidFill>
                            <a:srgbClr val="FFFFFF"/>
                          </a:solidFill>
                          <a:latin typeface="Calibri"/>
                        </a:rPr>
                        <a:t>Day 2 — Thursday</a:t>
                      </a:r>
                    </a:p>
                  </a:txBody>
                  <a:tcPr marL="45720" marR="45720" marT="0" marB="0" anchor="ctr">
                    <a:lnL w="6350">
                      <a:solidFill>
                        <a:srgbClr val="D0D0D0"/>
                      </a:solidFill>
                    </a:lnL>
                    <a:lnR w="6350">
                      <a:solidFill>
                        <a:srgbClr val="D0D0D0"/>
                      </a:solidFill>
                    </a:lnR>
                    <a:lnT w="6350">
                      <a:solidFill>
                        <a:srgbClr val="D0D0D0"/>
                      </a:solidFill>
                    </a:lnT>
                    <a:lnB w="6350">
                      <a:solidFill>
                        <a:srgbClr val="D0D0D0"/>
                      </a:solidFill>
                    </a:lnB>
                    <a:solidFill>
                      <a:srgbClr val="1A1A2E"/>
                    </a:solidFill>
                  </a:tcPr>
                </a:tc>
                <a:tc>
                  <a:txBody>
                    <a:bodyPr/>
                    <a:lstStyle/>
                    <a:p>
                      <a:pPr algn="l"/>
                      <a:r>
                        <a:rPr lang="en-US" sz="900" dirty="0">
                          <a:solidFill>
                            <a:srgbClr val="CCCCDD"/>
                          </a:solidFill>
                          <a:latin typeface="Calibri"/>
                        </a:rPr>
                        <a:t>Old Dominion Room</a:t>
                      </a:r>
                    </a:p>
                  </a:txBody>
                  <a:tcPr marL="45720" marR="45720" marT="0" marB="0" anchor="ctr">
                    <a:lnL w="6350">
                      <a:solidFill>
                        <a:srgbClr val="D0D0D0"/>
                      </a:solidFill>
                    </a:lnL>
                    <a:lnR w="6350">
                      <a:solidFill>
                        <a:srgbClr val="D0D0D0"/>
                      </a:solidFill>
                    </a:lnR>
                    <a:lnT w="6350">
                      <a:solidFill>
                        <a:srgbClr val="D0D0D0"/>
                      </a:solidFill>
                    </a:lnT>
                    <a:lnB w="6350">
                      <a:solidFill>
                        <a:srgbClr val="D0D0D0"/>
                      </a:solidFill>
                    </a:lnB>
                    <a:solidFill>
                      <a:srgbClr val="1A1A2E"/>
                    </a:solidFill>
                  </a:tcPr>
                </a:tc>
                <a:tc>
                  <a:txBody>
                    <a:bodyPr/>
                    <a:lstStyle/>
                    <a:p>
                      <a:pPr algn="l"/>
                      <a:endParaRPr/>
                    </a:p>
                  </a:txBody>
                  <a:tcPr marL="45720" marR="45720" marT="0" marB="0" anchor="ctr">
                    <a:lnL w="6350">
                      <a:solidFill>
                        <a:srgbClr val="D0D0D0"/>
                      </a:solidFill>
                    </a:lnL>
                    <a:lnR w="6350">
                      <a:solidFill>
                        <a:srgbClr val="D0D0D0"/>
                      </a:solidFill>
                    </a:lnR>
                    <a:lnT w="6350">
                      <a:solidFill>
                        <a:srgbClr val="D0D0D0"/>
                      </a:solidFill>
                    </a:lnT>
                    <a:lnB w="6350">
                      <a:solidFill>
                        <a:srgbClr val="D0D0D0"/>
                      </a:solidFill>
                    </a:lnB>
                    <a:solidFill>
                      <a:srgbClr val="1A1A2E"/>
                    </a:solidFill>
                  </a:tcPr>
                </a:tc>
                <a:tc>
                  <a:txBody>
                    <a:bodyPr/>
                    <a:lstStyle/>
                    <a:p>
                      <a:pPr algn="r"/>
                      <a:r>
                        <a:rPr lang="en-US" sz="1000" b="1" dirty="0">
                          <a:solidFill>
                            <a:srgbClr val="FFFFFF"/>
                          </a:solidFill>
                          <a:latin typeface="Calibri"/>
                        </a:rPr>
                        <a:t>5.5 hrs</a:t>
                      </a:r>
                    </a:p>
                  </a:txBody>
                  <a:tcPr marL="45720" marR="45720" marT="0" marB="0" anchor="ctr">
                    <a:lnL w="6350">
                      <a:solidFill>
                        <a:srgbClr val="D0D0D0"/>
                      </a:solidFill>
                    </a:lnL>
                    <a:lnR w="6350">
                      <a:solidFill>
                        <a:srgbClr val="D0D0D0"/>
                      </a:solidFill>
                    </a:lnR>
                    <a:lnT w="6350">
                      <a:solidFill>
                        <a:srgbClr val="D0D0D0"/>
                      </a:solidFill>
                    </a:lnT>
                    <a:lnB w="6350">
                      <a:solidFill>
                        <a:srgbClr val="D0D0D0"/>
                      </a:solidFill>
                    </a:lnB>
                    <a:solidFill>
                      <a:srgbClr val="1A1A2E"/>
                    </a:solidFill>
                  </a:tcPr>
                </a:tc>
                <a:extLst>
                  <a:ext uri="{0D108BD9-81ED-4DB2-BD59-A6C34878D82A}">
                    <a16:rowId xmlns:a16="http://schemas.microsoft.com/office/drawing/2014/main" val="10007"/>
                  </a:ext>
                </a:extLst>
              </a:tr>
              <a:tr h="274320">
                <a:tc>
                  <a:txBody>
                    <a:bodyPr/>
                    <a:lstStyle/>
                    <a:p>
                      <a:pPr algn="l"/>
                      <a:endParaRPr/>
                    </a:p>
                  </a:txBody>
                  <a:tcPr marL="45720" marR="45720" marT="0" marB="0" anchor="ctr">
                    <a:lnL w="6350">
                      <a:solidFill>
                        <a:srgbClr val="D0D0D0"/>
                      </a:solidFill>
                    </a:lnL>
                    <a:lnR w="6350">
                      <a:solidFill>
                        <a:srgbClr val="D0D0D0"/>
                      </a:solidFill>
                    </a:lnR>
                    <a:lnT w="6350">
                      <a:solidFill>
                        <a:srgbClr val="D0D0D0"/>
                      </a:solidFill>
                    </a:lnT>
                    <a:lnB w="6350">
                      <a:solidFill>
                        <a:srgbClr val="D0D0D0"/>
                      </a:solidFill>
                    </a:lnB>
                    <a:noFill/>
                  </a:tcPr>
                </a:tc>
                <a:tc>
                  <a:txBody>
                    <a:bodyPr/>
                    <a:lstStyle/>
                    <a:p>
                      <a:pPr algn="l"/>
                      <a:r>
                        <a:rPr lang="en-US" sz="900" b="1" dirty="0">
                          <a:solidFill>
                            <a:srgbClr val="333333"/>
                          </a:solidFill>
                          <a:latin typeface="Calibri"/>
                        </a:rPr>
                        <a:t>Lab 4: Hands-On + Checkpoints</a:t>
                      </a:r>
                    </a:p>
                  </a:txBody>
                  <a:tcPr marL="45720" marR="45720" marT="0" marB="0" anchor="ctr">
                    <a:lnL w="6350">
                      <a:solidFill>
                        <a:srgbClr val="D0D0D0"/>
                      </a:solidFill>
                    </a:lnL>
                    <a:lnR w="6350">
                      <a:solidFill>
                        <a:srgbClr val="D0D0D0"/>
                      </a:solidFill>
                    </a:lnR>
                    <a:lnT w="6350">
                      <a:solidFill>
                        <a:srgbClr val="D0D0D0"/>
                      </a:solidFill>
                    </a:lnT>
                    <a:lnB w="6350">
                      <a:solidFill>
                        <a:srgbClr val="D0D0D0"/>
                      </a:solidFill>
                    </a:lnB>
                    <a:noFill/>
                  </a:tcPr>
                </a:tc>
                <a:tc>
                  <a:txBody>
                    <a:bodyPr/>
                    <a:lstStyle/>
                    <a:p>
                      <a:pPr algn="l"/>
                      <a:r>
                        <a:rPr lang="en-US" sz="800" dirty="0">
                          <a:solidFill>
                            <a:srgbClr val="666666"/>
                          </a:solidFill>
                          <a:latin typeface="Calibri"/>
                        </a:rPr>
                        <a:t>44–46</a:t>
                      </a:r>
                    </a:p>
                  </a:txBody>
                  <a:tcPr marL="45720" marR="45720" marT="0" marB="0" anchor="ctr">
                    <a:lnL w="6350">
                      <a:solidFill>
                        <a:srgbClr val="D0D0D0"/>
                      </a:solidFill>
                    </a:lnL>
                    <a:lnR w="6350">
                      <a:solidFill>
                        <a:srgbClr val="D0D0D0"/>
                      </a:solidFill>
                    </a:lnR>
                    <a:lnT w="6350">
                      <a:solidFill>
                        <a:srgbClr val="D0D0D0"/>
                      </a:solidFill>
                    </a:lnT>
                    <a:lnB w="6350">
                      <a:solidFill>
                        <a:srgbClr val="D0D0D0"/>
                      </a:solidFill>
                    </a:lnB>
                    <a:noFill/>
                  </a:tcPr>
                </a:tc>
                <a:tc>
                  <a:txBody>
                    <a:bodyPr/>
                    <a:lstStyle/>
                    <a:p>
                      <a:pPr algn="r"/>
                      <a:r>
                        <a:rPr lang="en-US" sz="900" dirty="0">
                          <a:solidFill>
                            <a:srgbClr val="333333"/>
                          </a:solidFill>
                          <a:latin typeface="Calibri"/>
                        </a:rPr>
                        <a:t>25m</a:t>
                      </a:r>
                    </a:p>
                  </a:txBody>
                  <a:tcPr marL="45720" marR="45720" marT="0" marB="0" anchor="ctr">
                    <a:lnL w="6350">
                      <a:solidFill>
                        <a:srgbClr val="D0D0D0"/>
                      </a:solidFill>
                    </a:lnL>
                    <a:lnR w="6350">
                      <a:solidFill>
                        <a:srgbClr val="D0D0D0"/>
                      </a:solidFill>
                    </a:lnR>
                    <a:lnT w="6350">
                      <a:solidFill>
                        <a:srgbClr val="D0D0D0"/>
                      </a:solidFill>
                    </a:lnT>
                    <a:lnB w="6350">
                      <a:solidFill>
                        <a:srgbClr val="D0D0D0"/>
                      </a:solidFill>
                    </a:lnB>
                    <a:noFill/>
                  </a:tcPr>
                </a:tc>
                <a:extLst>
                  <a:ext uri="{0D108BD9-81ED-4DB2-BD59-A6C34878D82A}">
                    <a16:rowId xmlns:a16="http://schemas.microsoft.com/office/drawing/2014/main" val="10008"/>
                  </a:ext>
                </a:extLst>
              </a:tr>
              <a:tr h="274320">
                <a:tc>
                  <a:txBody>
                    <a:bodyPr/>
                    <a:lstStyle/>
                    <a:p>
                      <a:pPr algn="l"/>
                      <a:endParaRPr/>
                    </a:p>
                  </a:txBody>
                  <a:tcPr marL="45720" marR="45720" marT="0" marB="0" anchor="ctr">
                    <a:lnL w="6350">
                      <a:solidFill>
                        <a:srgbClr val="D0D0D0"/>
                      </a:solidFill>
                    </a:lnL>
                    <a:lnR w="6350">
                      <a:solidFill>
                        <a:srgbClr val="D0D0D0"/>
                      </a:solidFill>
                    </a:lnR>
                    <a:lnT w="6350">
                      <a:solidFill>
                        <a:srgbClr val="D0D0D0"/>
                      </a:solidFill>
                    </a:lnT>
                    <a:lnB w="6350">
                      <a:solidFill>
                        <a:srgbClr val="D0D0D0"/>
                      </a:solidFill>
                    </a:lnB>
                    <a:noFill/>
                  </a:tcPr>
                </a:tc>
                <a:tc>
                  <a:txBody>
                    <a:bodyPr/>
                    <a:lstStyle/>
                    <a:p>
                      <a:pPr algn="l"/>
                      <a:r>
                        <a:rPr lang="en-US" sz="900" b="1" dirty="0">
                          <a:solidFill>
                            <a:srgbClr val="333333"/>
                          </a:solidFill>
                          <a:latin typeface="Calibri"/>
                        </a:rPr>
                        <a:t>Lab 5: SSL / TLS</a:t>
                      </a:r>
                    </a:p>
                  </a:txBody>
                  <a:tcPr marL="45720" marR="45720" marT="0" marB="0" anchor="ctr">
                    <a:lnL w="6350">
                      <a:solidFill>
                        <a:srgbClr val="D0D0D0"/>
                      </a:solidFill>
                    </a:lnL>
                    <a:lnR w="6350">
                      <a:solidFill>
                        <a:srgbClr val="D0D0D0"/>
                      </a:solidFill>
                    </a:lnR>
                    <a:lnT w="6350">
                      <a:solidFill>
                        <a:srgbClr val="D0D0D0"/>
                      </a:solidFill>
                    </a:lnT>
                    <a:lnB w="6350">
                      <a:solidFill>
                        <a:srgbClr val="D0D0D0"/>
                      </a:solidFill>
                    </a:lnB>
                    <a:noFill/>
                  </a:tcPr>
                </a:tc>
                <a:tc>
                  <a:txBody>
                    <a:bodyPr/>
                    <a:lstStyle/>
                    <a:p>
                      <a:pPr algn="l"/>
                      <a:r>
                        <a:rPr lang="en-US" sz="800" dirty="0">
                          <a:solidFill>
                            <a:srgbClr val="666666"/>
                          </a:solidFill>
                          <a:latin typeface="Calibri"/>
                        </a:rPr>
                        <a:t>47–54</a:t>
                      </a:r>
                    </a:p>
                  </a:txBody>
                  <a:tcPr marL="45720" marR="45720" marT="0" marB="0" anchor="ctr">
                    <a:lnL w="6350">
                      <a:solidFill>
                        <a:srgbClr val="D0D0D0"/>
                      </a:solidFill>
                    </a:lnL>
                    <a:lnR w="6350">
                      <a:solidFill>
                        <a:srgbClr val="D0D0D0"/>
                      </a:solidFill>
                    </a:lnR>
                    <a:lnT w="6350">
                      <a:solidFill>
                        <a:srgbClr val="D0D0D0"/>
                      </a:solidFill>
                    </a:lnT>
                    <a:lnB w="6350">
                      <a:solidFill>
                        <a:srgbClr val="D0D0D0"/>
                      </a:solidFill>
                    </a:lnB>
                    <a:noFill/>
                  </a:tcPr>
                </a:tc>
                <a:tc>
                  <a:txBody>
                    <a:bodyPr/>
                    <a:lstStyle/>
                    <a:p>
                      <a:pPr algn="r"/>
                      <a:r>
                        <a:rPr lang="en-US" sz="900" dirty="0">
                          <a:solidFill>
                            <a:srgbClr val="333333"/>
                          </a:solidFill>
                          <a:latin typeface="Calibri"/>
                        </a:rPr>
                        <a:t>45m</a:t>
                      </a:r>
                    </a:p>
                  </a:txBody>
                  <a:tcPr marL="45720" marR="45720" marT="0" marB="0" anchor="ctr">
                    <a:lnL w="6350">
                      <a:solidFill>
                        <a:srgbClr val="D0D0D0"/>
                      </a:solidFill>
                    </a:lnL>
                    <a:lnR w="6350">
                      <a:solidFill>
                        <a:srgbClr val="D0D0D0"/>
                      </a:solidFill>
                    </a:lnR>
                    <a:lnT w="6350">
                      <a:solidFill>
                        <a:srgbClr val="D0D0D0"/>
                      </a:solidFill>
                    </a:lnT>
                    <a:lnB w="6350">
                      <a:solidFill>
                        <a:srgbClr val="D0D0D0"/>
                      </a:solidFill>
                    </a:lnB>
                    <a:noFill/>
                  </a:tcPr>
                </a:tc>
                <a:extLst>
                  <a:ext uri="{0D108BD9-81ED-4DB2-BD59-A6C34878D82A}">
                    <a16:rowId xmlns:a16="http://schemas.microsoft.com/office/drawing/2014/main" val="10009"/>
                  </a:ext>
                </a:extLst>
              </a:tr>
              <a:tr h="274320">
                <a:tc>
                  <a:txBody>
                    <a:bodyPr/>
                    <a:lstStyle/>
                    <a:p>
                      <a:pPr algn="l"/>
                      <a:endParaRPr/>
                    </a:p>
                  </a:txBody>
                  <a:tcPr marL="45720" marR="45720" marT="0" marB="0" anchor="ctr">
                    <a:lnL w="6350">
                      <a:solidFill>
                        <a:srgbClr val="D0D0D0"/>
                      </a:solidFill>
                    </a:lnL>
                    <a:lnR w="6350">
                      <a:solidFill>
                        <a:srgbClr val="D0D0D0"/>
                      </a:solidFill>
                    </a:lnR>
                    <a:lnT w="6350">
                      <a:solidFill>
                        <a:srgbClr val="D0D0D0"/>
                      </a:solidFill>
                    </a:lnT>
                    <a:lnB w="6350">
                      <a:solidFill>
                        <a:srgbClr val="D0D0D0"/>
                      </a:solidFill>
                    </a:lnB>
                    <a:noFill/>
                  </a:tcPr>
                </a:tc>
                <a:tc>
                  <a:txBody>
                    <a:bodyPr/>
                    <a:lstStyle/>
                    <a:p>
                      <a:pPr algn="l"/>
                      <a:r>
                        <a:rPr lang="en-US" sz="900" b="1" dirty="0">
                          <a:solidFill>
                            <a:srgbClr val="333333"/>
                          </a:solidFill>
                          <a:latin typeface="Calibri"/>
                        </a:rPr>
                        <a:t>Lab 6: VS + Packet Processing</a:t>
                      </a:r>
                    </a:p>
                  </a:txBody>
                  <a:tcPr marL="45720" marR="45720" marT="0" marB="0" anchor="ctr">
                    <a:lnL w="6350">
                      <a:solidFill>
                        <a:srgbClr val="D0D0D0"/>
                      </a:solidFill>
                    </a:lnL>
                    <a:lnR w="6350">
                      <a:solidFill>
                        <a:srgbClr val="D0D0D0"/>
                      </a:solidFill>
                    </a:lnR>
                    <a:lnT w="6350">
                      <a:solidFill>
                        <a:srgbClr val="D0D0D0"/>
                      </a:solidFill>
                    </a:lnT>
                    <a:lnB w="6350">
                      <a:solidFill>
                        <a:srgbClr val="D0D0D0"/>
                      </a:solidFill>
                    </a:lnB>
                    <a:noFill/>
                  </a:tcPr>
                </a:tc>
                <a:tc>
                  <a:txBody>
                    <a:bodyPr/>
                    <a:lstStyle/>
                    <a:p>
                      <a:pPr algn="l"/>
                      <a:r>
                        <a:rPr lang="en-US" sz="800" dirty="0">
                          <a:solidFill>
                            <a:srgbClr val="666666"/>
                          </a:solidFill>
                          <a:latin typeface="Calibri"/>
                        </a:rPr>
                        <a:t>55–62</a:t>
                      </a:r>
                    </a:p>
                  </a:txBody>
                  <a:tcPr marL="45720" marR="45720" marT="0" marB="0" anchor="ctr">
                    <a:lnL w="6350">
                      <a:solidFill>
                        <a:srgbClr val="D0D0D0"/>
                      </a:solidFill>
                    </a:lnL>
                    <a:lnR w="6350">
                      <a:solidFill>
                        <a:srgbClr val="D0D0D0"/>
                      </a:solidFill>
                    </a:lnR>
                    <a:lnT w="6350">
                      <a:solidFill>
                        <a:srgbClr val="D0D0D0"/>
                      </a:solidFill>
                    </a:lnT>
                    <a:lnB w="6350">
                      <a:solidFill>
                        <a:srgbClr val="D0D0D0"/>
                      </a:solidFill>
                    </a:lnB>
                    <a:noFill/>
                  </a:tcPr>
                </a:tc>
                <a:tc>
                  <a:txBody>
                    <a:bodyPr/>
                    <a:lstStyle/>
                    <a:p>
                      <a:pPr algn="r"/>
                      <a:r>
                        <a:rPr lang="en-US" sz="900" dirty="0">
                          <a:solidFill>
                            <a:srgbClr val="333333"/>
                          </a:solidFill>
                          <a:latin typeface="Calibri"/>
                        </a:rPr>
                        <a:t>50m</a:t>
                      </a:r>
                    </a:p>
                  </a:txBody>
                  <a:tcPr marL="45720" marR="45720" marT="0" marB="0" anchor="ctr">
                    <a:lnL w="6350">
                      <a:solidFill>
                        <a:srgbClr val="D0D0D0"/>
                      </a:solidFill>
                    </a:lnL>
                    <a:lnR w="6350">
                      <a:solidFill>
                        <a:srgbClr val="D0D0D0"/>
                      </a:solidFill>
                    </a:lnR>
                    <a:lnT w="6350">
                      <a:solidFill>
                        <a:srgbClr val="D0D0D0"/>
                      </a:solidFill>
                    </a:lnT>
                    <a:lnB w="6350">
                      <a:solidFill>
                        <a:srgbClr val="D0D0D0"/>
                      </a:solidFill>
                    </a:lnB>
                    <a:noFill/>
                  </a:tcPr>
                </a:tc>
                <a:extLst>
                  <a:ext uri="{0D108BD9-81ED-4DB2-BD59-A6C34878D82A}">
                    <a16:rowId xmlns:a16="http://schemas.microsoft.com/office/drawing/2014/main" val="10010"/>
                  </a:ext>
                </a:extLst>
              </a:tr>
              <a:tr h="274320">
                <a:tc>
                  <a:txBody>
                    <a:bodyPr/>
                    <a:lstStyle/>
                    <a:p>
                      <a:pPr algn="l"/>
                      <a:endParaRPr/>
                    </a:p>
                  </a:txBody>
                  <a:tcPr marL="45720" marR="45720" marT="0" marB="0" anchor="ctr">
                    <a:lnL w="6350">
                      <a:solidFill>
                        <a:srgbClr val="D0D0D0"/>
                      </a:solidFill>
                    </a:lnL>
                    <a:lnR w="6350">
                      <a:solidFill>
                        <a:srgbClr val="D0D0D0"/>
                      </a:solidFill>
                    </a:lnR>
                    <a:lnT w="6350">
                      <a:solidFill>
                        <a:srgbClr val="D0D0D0"/>
                      </a:solidFill>
                    </a:lnT>
                    <a:lnB w="6350">
                      <a:solidFill>
                        <a:srgbClr val="D0D0D0"/>
                      </a:solidFill>
                    </a:lnB>
                    <a:noFill/>
                  </a:tcPr>
                </a:tc>
                <a:tc>
                  <a:txBody>
                    <a:bodyPr/>
                    <a:lstStyle/>
                    <a:p>
                      <a:pPr algn="l"/>
                      <a:r>
                        <a:rPr lang="en-US" sz="900" b="1" dirty="0">
                          <a:solidFill>
                            <a:srgbClr val="333333"/>
                          </a:solidFill>
                          <a:latin typeface="Calibri"/>
                        </a:rPr>
                        <a:t>Lab 7: Load Balancing / Lab 8: Networking</a:t>
                      </a:r>
                    </a:p>
                  </a:txBody>
                  <a:tcPr marL="45720" marR="45720" marT="0" marB="0" anchor="ctr">
                    <a:lnL w="6350">
                      <a:solidFill>
                        <a:srgbClr val="D0D0D0"/>
                      </a:solidFill>
                    </a:lnL>
                    <a:lnR w="6350">
                      <a:solidFill>
                        <a:srgbClr val="D0D0D0"/>
                      </a:solidFill>
                    </a:lnR>
                    <a:lnT w="6350">
                      <a:solidFill>
                        <a:srgbClr val="D0D0D0"/>
                      </a:solidFill>
                    </a:lnT>
                    <a:lnB w="6350">
                      <a:solidFill>
                        <a:srgbClr val="D0D0D0"/>
                      </a:solidFill>
                    </a:lnB>
                    <a:noFill/>
                  </a:tcPr>
                </a:tc>
                <a:tc>
                  <a:txBody>
                    <a:bodyPr/>
                    <a:lstStyle/>
                    <a:p>
                      <a:pPr algn="l"/>
                      <a:r>
                        <a:rPr lang="en-US" sz="800" dirty="0">
                          <a:solidFill>
                            <a:srgbClr val="666666"/>
                          </a:solidFill>
                          <a:latin typeface="Calibri"/>
                        </a:rPr>
                        <a:t>63–77</a:t>
                      </a:r>
                    </a:p>
                  </a:txBody>
                  <a:tcPr marL="45720" marR="45720" marT="0" marB="0" anchor="ctr">
                    <a:lnL w="6350">
                      <a:solidFill>
                        <a:srgbClr val="D0D0D0"/>
                      </a:solidFill>
                    </a:lnL>
                    <a:lnR w="6350">
                      <a:solidFill>
                        <a:srgbClr val="D0D0D0"/>
                      </a:solidFill>
                    </a:lnR>
                    <a:lnT w="6350">
                      <a:solidFill>
                        <a:srgbClr val="D0D0D0"/>
                      </a:solidFill>
                    </a:lnT>
                    <a:lnB w="6350">
                      <a:solidFill>
                        <a:srgbClr val="D0D0D0"/>
                      </a:solidFill>
                    </a:lnB>
                    <a:noFill/>
                  </a:tcPr>
                </a:tc>
                <a:tc>
                  <a:txBody>
                    <a:bodyPr/>
                    <a:lstStyle/>
                    <a:p>
                      <a:pPr algn="r"/>
                      <a:r>
                        <a:rPr lang="en-US" sz="900" dirty="0">
                          <a:solidFill>
                            <a:srgbClr val="333333"/>
                          </a:solidFill>
                          <a:latin typeface="Calibri"/>
                        </a:rPr>
                        <a:t>60m</a:t>
                      </a:r>
                    </a:p>
                  </a:txBody>
                  <a:tcPr marL="45720" marR="45720" marT="0" marB="0" anchor="ctr">
                    <a:lnL w="6350">
                      <a:solidFill>
                        <a:srgbClr val="D0D0D0"/>
                      </a:solidFill>
                    </a:lnL>
                    <a:lnR w="6350">
                      <a:solidFill>
                        <a:srgbClr val="D0D0D0"/>
                      </a:solidFill>
                    </a:lnR>
                    <a:lnT w="6350">
                      <a:solidFill>
                        <a:srgbClr val="D0D0D0"/>
                      </a:solidFill>
                    </a:lnT>
                    <a:lnB w="6350">
                      <a:solidFill>
                        <a:srgbClr val="D0D0D0"/>
                      </a:solidFill>
                    </a:lnB>
                    <a:noFill/>
                  </a:tcPr>
                </a:tc>
                <a:extLst>
                  <a:ext uri="{0D108BD9-81ED-4DB2-BD59-A6C34878D82A}">
                    <a16:rowId xmlns:a16="http://schemas.microsoft.com/office/drawing/2014/main" val="10011"/>
                  </a:ext>
                </a:extLst>
              </a:tr>
              <a:tr h="274320">
                <a:tc>
                  <a:txBody>
                    <a:bodyPr/>
                    <a:lstStyle/>
                    <a:p>
                      <a:pPr algn="l"/>
                      <a:endParaRPr/>
                    </a:p>
                  </a:txBody>
                  <a:tcPr marL="45720" marR="45720" marT="0" marB="0" anchor="ctr">
                    <a:lnL w="6350">
                      <a:solidFill>
                        <a:srgbClr val="D0D0D0"/>
                      </a:solidFill>
                    </a:lnL>
                    <a:lnR w="6350">
                      <a:solidFill>
                        <a:srgbClr val="D0D0D0"/>
                      </a:solidFill>
                    </a:lnR>
                    <a:lnT w="6350">
                      <a:solidFill>
                        <a:srgbClr val="D0D0D0"/>
                      </a:solidFill>
                    </a:lnT>
                    <a:lnB w="6350">
                      <a:solidFill>
                        <a:srgbClr val="D0D0D0"/>
                      </a:solidFill>
                    </a:lnB>
                    <a:noFill/>
                  </a:tcPr>
                </a:tc>
                <a:tc>
                  <a:txBody>
                    <a:bodyPr/>
                    <a:lstStyle/>
                    <a:p>
                      <a:pPr algn="l"/>
                      <a:r>
                        <a:rPr lang="en-US" sz="900" b="1" dirty="0">
                          <a:solidFill>
                            <a:srgbClr val="333333"/>
                          </a:solidFill>
                          <a:latin typeface="Calibri"/>
                        </a:rPr>
                        <a:t>Lab 9: Roles and Partitions</a:t>
                      </a:r>
                    </a:p>
                  </a:txBody>
                  <a:tcPr marL="45720" marR="45720" marT="0" marB="0" anchor="ctr">
                    <a:lnL w="6350">
                      <a:solidFill>
                        <a:srgbClr val="D0D0D0"/>
                      </a:solidFill>
                    </a:lnL>
                    <a:lnR w="6350">
                      <a:solidFill>
                        <a:srgbClr val="D0D0D0"/>
                      </a:solidFill>
                    </a:lnR>
                    <a:lnT w="6350">
                      <a:solidFill>
                        <a:srgbClr val="D0D0D0"/>
                      </a:solidFill>
                    </a:lnT>
                    <a:lnB w="6350">
                      <a:solidFill>
                        <a:srgbClr val="D0D0D0"/>
                      </a:solidFill>
                    </a:lnB>
                    <a:noFill/>
                  </a:tcPr>
                </a:tc>
                <a:tc>
                  <a:txBody>
                    <a:bodyPr/>
                    <a:lstStyle/>
                    <a:p>
                      <a:pPr algn="l"/>
                      <a:r>
                        <a:rPr lang="en-US" sz="800" dirty="0">
                          <a:solidFill>
                            <a:srgbClr val="666666"/>
                          </a:solidFill>
                          <a:latin typeface="Calibri"/>
                        </a:rPr>
                        <a:t>78–86</a:t>
                      </a:r>
                    </a:p>
                  </a:txBody>
                  <a:tcPr marL="45720" marR="45720" marT="0" marB="0" anchor="ctr">
                    <a:lnL w="6350">
                      <a:solidFill>
                        <a:srgbClr val="D0D0D0"/>
                      </a:solidFill>
                    </a:lnL>
                    <a:lnR w="6350">
                      <a:solidFill>
                        <a:srgbClr val="D0D0D0"/>
                      </a:solidFill>
                    </a:lnR>
                    <a:lnT w="6350">
                      <a:solidFill>
                        <a:srgbClr val="D0D0D0"/>
                      </a:solidFill>
                    </a:lnT>
                    <a:lnB w="6350">
                      <a:solidFill>
                        <a:srgbClr val="D0D0D0"/>
                      </a:solidFill>
                    </a:lnB>
                    <a:noFill/>
                  </a:tcPr>
                </a:tc>
                <a:tc>
                  <a:txBody>
                    <a:bodyPr/>
                    <a:lstStyle/>
                    <a:p>
                      <a:pPr algn="r"/>
                      <a:r>
                        <a:rPr lang="en-US" sz="900" dirty="0">
                          <a:solidFill>
                            <a:srgbClr val="333333"/>
                          </a:solidFill>
                          <a:latin typeface="Calibri"/>
                        </a:rPr>
                        <a:t>35m</a:t>
                      </a:r>
                    </a:p>
                  </a:txBody>
                  <a:tcPr marL="45720" marR="45720" marT="0" marB="0" anchor="ctr">
                    <a:lnL w="6350">
                      <a:solidFill>
                        <a:srgbClr val="D0D0D0"/>
                      </a:solidFill>
                    </a:lnL>
                    <a:lnR w="6350">
                      <a:solidFill>
                        <a:srgbClr val="D0D0D0"/>
                      </a:solidFill>
                    </a:lnR>
                    <a:lnT w="6350">
                      <a:solidFill>
                        <a:srgbClr val="D0D0D0"/>
                      </a:solidFill>
                    </a:lnT>
                    <a:lnB w="6350">
                      <a:solidFill>
                        <a:srgbClr val="D0D0D0"/>
                      </a:solidFill>
                    </a:lnB>
                    <a:noFill/>
                  </a:tcPr>
                </a:tc>
                <a:extLst>
                  <a:ext uri="{0D108BD9-81ED-4DB2-BD59-A6C34878D82A}">
                    <a16:rowId xmlns:a16="http://schemas.microsoft.com/office/drawing/2014/main" val="10012"/>
                  </a:ext>
                </a:extLst>
              </a:tr>
              <a:tr h="274320">
                <a:tc>
                  <a:txBody>
                    <a:bodyPr/>
                    <a:lstStyle/>
                    <a:p>
                      <a:pPr algn="l"/>
                      <a:endParaRPr/>
                    </a:p>
                  </a:txBody>
                  <a:tcPr marL="45720" marR="45720" marT="0" marB="0" anchor="ctr">
                    <a:lnL w="6350">
                      <a:solidFill>
                        <a:srgbClr val="D0D0D0"/>
                      </a:solidFill>
                    </a:lnL>
                    <a:lnR w="6350">
                      <a:solidFill>
                        <a:srgbClr val="D0D0D0"/>
                      </a:solidFill>
                    </a:lnR>
                    <a:lnT w="6350">
                      <a:solidFill>
                        <a:srgbClr val="D0D0D0"/>
                      </a:solidFill>
                    </a:lnT>
                    <a:lnB w="6350">
                      <a:solidFill>
                        <a:srgbClr val="D0D0D0"/>
                      </a:solidFill>
                    </a:lnB>
                    <a:noFill/>
                  </a:tcPr>
                </a:tc>
                <a:tc>
                  <a:txBody>
                    <a:bodyPr/>
                    <a:lstStyle/>
                    <a:p>
                      <a:pPr algn="l"/>
                      <a:r>
                        <a:rPr lang="en-US" sz="900" b="1" dirty="0">
                          <a:solidFill>
                            <a:srgbClr val="333333"/>
                          </a:solidFill>
                          <a:latin typeface="Calibri"/>
                        </a:rPr>
                        <a:t>Lab 10: DSC and HA</a:t>
                      </a:r>
                    </a:p>
                  </a:txBody>
                  <a:tcPr marL="45720" marR="45720" marT="0" marB="0" anchor="ctr">
                    <a:lnL w="6350">
                      <a:solidFill>
                        <a:srgbClr val="D0D0D0"/>
                      </a:solidFill>
                    </a:lnL>
                    <a:lnR w="6350">
                      <a:solidFill>
                        <a:srgbClr val="D0D0D0"/>
                      </a:solidFill>
                    </a:lnR>
                    <a:lnT w="6350">
                      <a:solidFill>
                        <a:srgbClr val="D0D0D0"/>
                      </a:solidFill>
                    </a:lnT>
                    <a:lnB w="6350">
                      <a:solidFill>
                        <a:srgbClr val="D0D0D0"/>
                      </a:solidFill>
                    </a:lnB>
                    <a:noFill/>
                  </a:tcPr>
                </a:tc>
                <a:tc>
                  <a:txBody>
                    <a:bodyPr/>
                    <a:lstStyle/>
                    <a:p>
                      <a:pPr algn="l"/>
                      <a:r>
                        <a:rPr lang="en-US" sz="800" dirty="0">
                          <a:solidFill>
                            <a:srgbClr val="666666"/>
                          </a:solidFill>
                          <a:latin typeface="Calibri"/>
                        </a:rPr>
                        <a:t>87–96</a:t>
                      </a:r>
                    </a:p>
                  </a:txBody>
                  <a:tcPr marL="45720" marR="45720" marT="0" marB="0" anchor="ctr">
                    <a:lnL w="6350">
                      <a:solidFill>
                        <a:srgbClr val="D0D0D0"/>
                      </a:solidFill>
                    </a:lnL>
                    <a:lnR w="6350">
                      <a:solidFill>
                        <a:srgbClr val="D0D0D0"/>
                      </a:solidFill>
                    </a:lnR>
                    <a:lnT w="6350">
                      <a:solidFill>
                        <a:srgbClr val="D0D0D0"/>
                      </a:solidFill>
                    </a:lnT>
                    <a:lnB w="6350">
                      <a:solidFill>
                        <a:srgbClr val="D0D0D0"/>
                      </a:solidFill>
                    </a:lnB>
                    <a:noFill/>
                  </a:tcPr>
                </a:tc>
                <a:tc>
                  <a:txBody>
                    <a:bodyPr/>
                    <a:lstStyle/>
                    <a:p>
                      <a:pPr algn="r"/>
                      <a:r>
                        <a:rPr lang="en-US" sz="900" dirty="0">
                          <a:solidFill>
                            <a:srgbClr val="333333"/>
                          </a:solidFill>
                          <a:latin typeface="Calibri"/>
                        </a:rPr>
                        <a:t>55m</a:t>
                      </a:r>
                    </a:p>
                  </a:txBody>
                  <a:tcPr marL="45720" marR="45720" marT="0" marB="0" anchor="ctr">
                    <a:lnL w="6350">
                      <a:solidFill>
                        <a:srgbClr val="D0D0D0"/>
                      </a:solidFill>
                    </a:lnL>
                    <a:lnR w="6350">
                      <a:solidFill>
                        <a:srgbClr val="D0D0D0"/>
                      </a:solidFill>
                    </a:lnR>
                    <a:lnT w="6350">
                      <a:solidFill>
                        <a:srgbClr val="D0D0D0"/>
                      </a:solidFill>
                    </a:lnT>
                    <a:lnB w="6350">
                      <a:solidFill>
                        <a:srgbClr val="D0D0D0"/>
                      </a:solidFill>
                    </a:lnB>
                    <a:noFill/>
                  </a:tcPr>
                </a:tc>
                <a:extLst>
                  <a:ext uri="{0D108BD9-81ED-4DB2-BD59-A6C34878D82A}">
                    <a16:rowId xmlns:a16="http://schemas.microsoft.com/office/drawing/2014/main" val="10013"/>
                  </a:ext>
                </a:extLst>
              </a:tr>
              <a:tr h="274320">
                <a:tc>
                  <a:txBody>
                    <a:bodyPr/>
                    <a:lstStyle/>
                    <a:p>
                      <a:pPr algn="l"/>
                      <a:endParaRPr/>
                    </a:p>
                  </a:txBody>
                  <a:tcPr marL="45720" marR="45720" marT="0" marB="0" anchor="ctr">
                    <a:lnL w="6350">
                      <a:solidFill>
                        <a:srgbClr val="D0D0D0"/>
                      </a:solidFill>
                    </a:lnL>
                    <a:lnR w="6350">
                      <a:solidFill>
                        <a:srgbClr val="D0D0D0"/>
                      </a:solidFill>
                    </a:lnR>
                    <a:lnT w="6350">
                      <a:solidFill>
                        <a:srgbClr val="D0D0D0"/>
                      </a:solidFill>
                    </a:lnT>
                    <a:lnB w="6350">
                      <a:solidFill>
                        <a:srgbClr val="D0D0D0"/>
                      </a:solidFill>
                    </a:lnB>
                    <a:noFill/>
                  </a:tcPr>
                </a:tc>
                <a:tc>
                  <a:txBody>
                    <a:bodyPr/>
                    <a:lstStyle/>
                    <a:p>
                      <a:pPr algn="l"/>
                      <a:r>
                        <a:rPr lang="en-US" sz="900" b="1" dirty="0">
                          <a:solidFill>
                            <a:srgbClr val="F29A36"/>
                          </a:solidFill>
                          <a:latin typeface="Calibri"/>
                        </a:rPr>
                        <a:t>Lab 11 / Gap-Fill / Final Review</a:t>
                      </a:r>
                    </a:p>
                  </a:txBody>
                  <a:tcPr marL="45720" marR="45720" marT="0" marB="0" anchor="ctr">
                    <a:lnL w="6350">
                      <a:solidFill>
                        <a:srgbClr val="D0D0D0"/>
                      </a:solidFill>
                    </a:lnL>
                    <a:lnR w="6350">
                      <a:solidFill>
                        <a:srgbClr val="D0D0D0"/>
                      </a:solidFill>
                    </a:lnR>
                    <a:lnT w="6350">
                      <a:solidFill>
                        <a:srgbClr val="D0D0D0"/>
                      </a:solidFill>
                    </a:lnT>
                    <a:lnB w="6350">
                      <a:solidFill>
                        <a:srgbClr val="D0D0D0"/>
                      </a:solidFill>
                    </a:lnB>
                    <a:noFill/>
                  </a:tcPr>
                </a:tc>
                <a:tc>
                  <a:txBody>
                    <a:bodyPr/>
                    <a:lstStyle/>
                    <a:p>
                      <a:pPr algn="l"/>
                      <a:r>
                        <a:rPr lang="en-US" sz="800" dirty="0">
                          <a:solidFill>
                            <a:srgbClr val="666666"/>
                          </a:solidFill>
                          <a:latin typeface="Calibri"/>
                        </a:rPr>
                        <a:t>97–124</a:t>
                      </a:r>
                    </a:p>
                  </a:txBody>
                  <a:tcPr marL="45720" marR="45720" marT="0" marB="0" anchor="ctr">
                    <a:lnL w="6350">
                      <a:solidFill>
                        <a:srgbClr val="D0D0D0"/>
                      </a:solidFill>
                    </a:lnL>
                    <a:lnR w="6350">
                      <a:solidFill>
                        <a:srgbClr val="D0D0D0"/>
                      </a:solidFill>
                    </a:lnR>
                    <a:lnT w="6350">
                      <a:solidFill>
                        <a:srgbClr val="D0D0D0"/>
                      </a:solidFill>
                    </a:lnT>
                    <a:lnB w="6350">
                      <a:solidFill>
                        <a:srgbClr val="D0D0D0"/>
                      </a:solidFill>
                    </a:lnB>
                    <a:noFill/>
                  </a:tcPr>
                </a:tc>
                <a:tc>
                  <a:txBody>
                    <a:bodyPr/>
                    <a:lstStyle/>
                    <a:p>
                      <a:pPr algn="r"/>
                      <a:r>
                        <a:rPr lang="en-US" sz="900" dirty="0">
                          <a:solidFill>
                            <a:srgbClr val="333333"/>
                          </a:solidFill>
                          <a:latin typeface="Calibri"/>
                        </a:rPr>
                        <a:t>60m</a:t>
                      </a:r>
                    </a:p>
                  </a:txBody>
                  <a:tcPr marL="45720" marR="45720" marT="0" marB="0" anchor="ctr">
                    <a:lnL w="6350">
                      <a:solidFill>
                        <a:srgbClr val="D0D0D0"/>
                      </a:solidFill>
                    </a:lnL>
                    <a:lnR w="6350">
                      <a:solidFill>
                        <a:srgbClr val="D0D0D0"/>
                      </a:solidFill>
                    </a:lnR>
                    <a:lnT w="6350">
                      <a:solidFill>
                        <a:srgbClr val="D0D0D0"/>
                      </a:solidFill>
                    </a:lnT>
                    <a:lnB w="6350">
                      <a:solidFill>
                        <a:srgbClr val="D0D0D0"/>
                      </a:solidFill>
                    </a:lnB>
                    <a:noFill/>
                  </a:tcPr>
                </a:tc>
                <a:extLst>
                  <a:ext uri="{0D108BD9-81ED-4DB2-BD59-A6C34878D82A}">
                    <a16:rowId xmlns:a16="http://schemas.microsoft.com/office/drawing/2014/main" val="10014"/>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3"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14"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15"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16"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17"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18"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6    © 2026 F5</a:t>
            </a:r>
            <a:endParaRPr lang="en-US" sz="800" b="0" strike="noStrike" spc="-1">
              <a:solidFill>
                <a:srgbClr val="000000"/>
              </a:solidFill>
              <a:latin typeface="Arial"/>
            </a:endParaRPr>
          </a:p>
        </p:txBody>
      </p:sp>
      <p:pic>
        <p:nvPicPr>
          <p:cNvPr id="119" name="Image 0" descr="preencoded.png"/>
          <p:cNvPicPr/>
          <p:nvPr/>
        </p:nvPicPr>
        <p:blipFill>
          <a:blip r:embed="rId3"/>
          <a:stretch/>
        </p:blipFill>
        <p:spPr>
          <a:xfrm>
            <a:off x="8458200" y="4663440"/>
            <a:ext cx="383760" cy="383760"/>
          </a:xfrm>
          <a:prstGeom prst="rect">
            <a:avLst/>
          </a:prstGeom>
          <a:ln w="0">
            <a:noFill/>
          </a:ln>
        </p:spPr>
      </p:pic>
      <p:sp>
        <p:nvSpPr>
          <p:cNvPr id="120" name="Text 6"/>
          <p:cNvSpPr/>
          <p:nvPr/>
        </p:nvSpPr>
        <p:spPr>
          <a:xfrm>
            <a:off x="457200" y="274320"/>
            <a:ext cx="82292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Lab environment</a:t>
            </a:r>
            <a:endParaRPr lang="en-US" sz="2800" b="0" strike="noStrike" spc="-1">
              <a:solidFill>
                <a:srgbClr val="000000"/>
              </a:solidFill>
              <a:latin typeface="Arial"/>
            </a:endParaRPr>
          </a:p>
        </p:txBody>
      </p:sp>
      <p:sp>
        <p:nvSpPr>
          <p:cNvPr id="121" name="Text 7"/>
          <p:cNvSpPr/>
          <p:nvPr/>
        </p:nvSpPr>
        <p:spPr>
          <a:xfrm>
            <a:off x="457200" y="658440"/>
            <a:ext cx="82292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strike="noStrike" spc="-1">
                <a:solidFill>
                  <a:srgbClr val="666666"/>
                </a:solidFill>
                <a:latin typeface="Calibri"/>
                <a:ea typeface="Calibri"/>
              </a:rPr>
              <a:t>Two BIG-IP devices, one LAMP server, and a jumpbox</a:t>
            </a:r>
            <a:endParaRPr lang="en-US" sz="1300" b="0" strike="noStrike" spc="-1">
              <a:solidFill>
                <a:srgbClr val="000000"/>
              </a:solidFill>
              <a:latin typeface="Arial"/>
            </a:endParaRPr>
          </a:p>
        </p:txBody>
      </p:sp>
      <p:graphicFrame>
        <p:nvGraphicFramePr>
          <p:cNvPr id="122" name="Table 0"/>
          <p:cNvGraphicFramePr/>
          <p:nvPr/>
        </p:nvGraphicFramePr>
        <p:xfrm>
          <a:off x="365760" y="914400"/>
          <a:ext cx="8412480" cy="1158240"/>
        </p:xfrm>
        <a:graphic>
          <a:graphicData uri="http://schemas.openxmlformats.org/drawingml/2006/table">
            <a:tbl>
              <a:tblPr/>
              <a:tblGrid>
                <a:gridCol w="82296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2651760">
                  <a:extLst>
                    <a:ext uri="{9D8B030D-6E8A-4147-A177-3AD203B41FA5}">
                      <a16:colId xmlns:a16="http://schemas.microsoft.com/office/drawing/2014/main" val="20005"/>
                    </a:ext>
                  </a:extLst>
                </a:gridCol>
              </a:tblGrid>
              <a:tr h="0">
                <a:tc>
                  <a:txBody>
                    <a:bodyPr/>
                    <a:lstStyle/>
                    <a:p>
                      <a:pPr defTabSz="914400">
                        <a:lnSpc>
                          <a:spcPct val="100000"/>
                        </a:lnSpc>
                        <a:tabLst>
                          <a:tab pos="0" algn="l"/>
                        </a:tabLst>
                      </a:pPr>
                      <a:r>
                        <a:rPr lang="en-US" sz="1000" b="1" strike="noStrike" spc="-1">
                          <a:solidFill>
                            <a:srgbClr val="FFFFFF"/>
                          </a:solidFill>
                          <a:latin typeface="Calibri"/>
                        </a:rPr>
                        <a:t>Device</a:t>
                      </a:r>
                      <a:endParaRPr lang="en-US" sz="10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E41AA"/>
                    </a:solidFill>
                  </a:tcPr>
                </a:tc>
                <a:tc>
                  <a:txBody>
                    <a:bodyPr/>
                    <a:lstStyle/>
                    <a:p>
                      <a:pPr defTabSz="914400">
                        <a:lnSpc>
                          <a:spcPct val="100000"/>
                        </a:lnSpc>
                        <a:tabLst>
                          <a:tab pos="0" algn="l"/>
                        </a:tabLst>
                      </a:pPr>
                      <a:r>
                        <a:rPr lang="en-US" sz="1000" b="1" strike="noStrike" spc="-1">
                          <a:solidFill>
                            <a:srgbClr val="FFFFFF"/>
                          </a:solidFill>
                          <a:latin typeface="Calibri"/>
                        </a:rPr>
                        <a:t>Hostname</a:t>
                      </a:r>
                      <a:endParaRPr lang="en-US" sz="10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E41AA"/>
                    </a:solidFill>
                  </a:tcPr>
                </a:tc>
                <a:tc>
                  <a:txBody>
                    <a:bodyPr/>
                    <a:lstStyle/>
                    <a:p>
                      <a:pPr defTabSz="914400">
                        <a:lnSpc>
                          <a:spcPct val="100000"/>
                        </a:lnSpc>
                        <a:tabLst>
                          <a:tab pos="0" algn="l"/>
                        </a:tabLst>
                      </a:pPr>
                      <a:r>
                        <a:rPr lang="en-US" sz="1000" b="1" strike="noStrike" spc="-1">
                          <a:solidFill>
                            <a:srgbClr val="FFFFFF"/>
                          </a:solidFill>
                          <a:latin typeface="Calibri"/>
                        </a:rPr>
                        <a:t>Management IP</a:t>
                      </a:r>
                      <a:endParaRPr lang="en-US" sz="10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E41AA"/>
                    </a:solidFill>
                  </a:tcPr>
                </a:tc>
                <a:tc>
                  <a:txBody>
                    <a:bodyPr/>
                    <a:lstStyle/>
                    <a:p>
                      <a:pPr defTabSz="914400">
                        <a:lnSpc>
                          <a:spcPct val="100000"/>
                        </a:lnSpc>
                        <a:tabLst>
                          <a:tab pos="0" algn="l"/>
                        </a:tabLst>
                      </a:pPr>
                      <a:r>
                        <a:rPr lang="en-US" sz="1000" b="1" strike="noStrike" spc="-1">
                          <a:solidFill>
                            <a:srgbClr val="FFFFFF"/>
                          </a:solidFill>
                          <a:latin typeface="Calibri"/>
                        </a:rPr>
                        <a:t>Client VLAN</a:t>
                      </a:r>
                      <a:endParaRPr lang="en-US" sz="10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E41AA"/>
                    </a:solidFill>
                  </a:tcPr>
                </a:tc>
                <a:tc>
                  <a:txBody>
                    <a:bodyPr/>
                    <a:lstStyle/>
                    <a:p>
                      <a:pPr defTabSz="914400">
                        <a:lnSpc>
                          <a:spcPct val="100000"/>
                        </a:lnSpc>
                        <a:tabLst>
                          <a:tab pos="0" algn="l"/>
                        </a:tabLst>
                      </a:pPr>
                      <a:r>
                        <a:rPr lang="en-US" sz="1000" b="1" strike="noStrike" spc="-1">
                          <a:solidFill>
                            <a:srgbClr val="FFFFFF"/>
                          </a:solidFill>
                          <a:latin typeface="Calibri"/>
                        </a:rPr>
                        <a:t>Server VLAN</a:t>
                      </a:r>
                      <a:endParaRPr lang="en-US" sz="10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E41AA"/>
                    </a:solidFill>
                  </a:tcPr>
                </a:tc>
                <a:tc>
                  <a:txBody>
                    <a:bodyPr/>
                    <a:lstStyle/>
                    <a:p>
                      <a:pPr defTabSz="914400">
                        <a:lnSpc>
                          <a:spcPct val="100000"/>
                        </a:lnSpc>
                        <a:tabLst>
                          <a:tab pos="0" algn="l"/>
                        </a:tabLst>
                      </a:pPr>
                      <a:r>
                        <a:rPr lang="en-US" sz="1000" b="1" strike="noStrike" spc="-1">
                          <a:solidFill>
                            <a:srgbClr val="FFFFFF"/>
                          </a:solidFill>
                          <a:latin typeface="Calibri"/>
                        </a:rPr>
                        <a:t>Credentials</a:t>
                      </a:r>
                      <a:endParaRPr lang="en-US" sz="10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E41AA"/>
                    </a:solidFill>
                  </a:tcPr>
                </a:tc>
                <a:extLst>
                  <a:ext uri="{0D108BD9-81ED-4DB2-BD59-A6C34878D82A}">
                    <a16:rowId xmlns:a16="http://schemas.microsoft.com/office/drawing/2014/main" val="10000"/>
                  </a:ext>
                </a:extLst>
              </a:tr>
              <a:tr h="0">
                <a:tc>
                  <a:txBody>
                    <a:bodyPr/>
                    <a:lstStyle/>
                    <a:p>
                      <a:pPr defTabSz="914400">
                        <a:lnSpc>
                          <a:spcPct val="100000"/>
                        </a:lnSpc>
                        <a:tabLst>
                          <a:tab pos="0" algn="l"/>
                        </a:tabLst>
                      </a:pPr>
                      <a:r>
                        <a:rPr lang="en-US" sz="900" b="1" strike="noStrike" spc="-1">
                          <a:solidFill>
                            <a:srgbClr val="000000"/>
                          </a:solidFill>
                          <a:latin typeface="Calibri"/>
                        </a:rPr>
                        <a:t>BIG-IP 1</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850" b="0" strike="noStrike" spc="-1">
                          <a:solidFill>
                            <a:srgbClr val="000000"/>
                          </a:solidFill>
                          <a:latin typeface="Courier New"/>
                          <a:ea typeface="Courier New"/>
                        </a:rPr>
                        <a:t>bigip01.f5demo.com</a:t>
                      </a:r>
                      <a:endParaRPr lang="en-US" sz="85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ourier New"/>
                          <a:ea typeface="Courier New"/>
                        </a:rPr>
                        <a:t>10.1.1.245</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ourier New"/>
                          <a:ea typeface="Courier New"/>
                        </a:rPr>
                        <a:t>10.1.10.245</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ourier New"/>
                          <a:ea typeface="Courier New"/>
                        </a:rPr>
                        <a:t>10.1.20.245</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800" b="0" strike="noStrike" spc="-1">
                          <a:solidFill>
                            <a:srgbClr val="000000"/>
                          </a:solidFill>
                          <a:latin typeface="Courier New"/>
                          <a:ea typeface="Courier New"/>
                        </a:rPr>
                        <a:t>admin / admin.F5demo.com</a:t>
                      </a:r>
                      <a:endParaRPr lang="en-US" sz="8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1"/>
                  </a:ext>
                </a:extLst>
              </a:tr>
              <a:tr h="0">
                <a:tc>
                  <a:txBody>
                    <a:bodyPr/>
                    <a:lstStyle/>
                    <a:p>
                      <a:pPr defTabSz="914400">
                        <a:lnSpc>
                          <a:spcPct val="100000"/>
                        </a:lnSpc>
                        <a:tabLst>
                          <a:tab pos="0" algn="l"/>
                        </a:tabLst>
                      </a:pPr>
                      <a:r>
                        <a:rPr lang="en-US" sz="900" b="1" strike="noStrike" spc="-1">
                          <a:solidFill>
                            <a:srgbClr val="000000"/>
                          </a:solidFill>
                          <a:latin typeface="Calibri"/>
                        </a:rPr>
                        <a:t>BIG-IP 2</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850" b="0" strike="noStrike" spc="-1">
                          <a:solidFill>
                            <a:srgbClr val="000000"/>
                          </a:solidFill>
                          <a:latin typeface="Courier New"/>
                          <a:ea typeface="Courier New"/>
                        </a:rPr>
                        <a:t>bigip02.f5demo.com</a:t>
                      </a:r>
                      <a:endParaRPr lang="en-US" sz="85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ourier New"/>
                          <a:ea typeface="Courier New"/>
                        </a:rPr>
                        <a:t>10.1.1.246</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ourier New"/>
                          <a:ea typeface="Courier New"/>
                        </a:rPr>
                        <a:t>10.1.10.246</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ourier New"/>
                          <a:ea typeface="Courier New"/>
                        </a:rPr>
                        <a:t>10.1.20.246</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800" b="0" strike="noStrike" spc="-1">
                          <a:solidFill>
                            <a:srgbClr val="000000"/>
                          </a:solidFill>
                          <a:latin typeface="Courier New"/>
                          <a:ea typeface="Courier New"/>
                        </a:rPr>
                        <a:t>admin / admin.F5demo.com</a:t>
                      </a:r>
                      <a:endParaRPr lang="en-US" sz="8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2"/>
                  </a:ext>
                </a:extLst>
              </a:tr>
              <a:tr h="0">
                <a:tc>
                  <a:txBody>
                    <a:bodyPr/>
                    <a:lstStyle/>
                    <a:p>
                      <a:pPr defTabSz="914400">
                        <a:lnSpc>
                          <a:spcPct val="100000"/>
                        </a:lnSpc>
                        <a:tabLst>
                          <a:tab pos="0" algn="l"/>
                        </a:tabLst>
                      </a:pPr>
                      <a:r>
                        <a:rPr lang="en-US" sz="900" b="1" strike="noStrike" spc="-1">
                          <a:solidFill>
                            <a:srgbClr val="000000"/>
                          </a:solidFill>
                          <a:latin typeface="Calibri"/>
                        </a:rPr>
                        <a:t>LAMP Server</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850" b="0" strike="noStrike" spc="-1">
                          <a:solidFill>
                            <a:srgbClr val="000000"/>
                          </a:solidFill>
                          <a:latin typeface="Courier New"/>
                          <a:ea typeface="Courier New"/>
                        </a:rPr>
                        <a:t>lamp1</a:t>
                      </a:r>
                      <a:endParaRPr lang="en-US" sz="85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ourier New"/>
                          <a:ea typeface="Courier New"/>
                        </a:rPr>
                        <a:t>10.1.1.252</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ourier New"/>
                          <a:ea typeface="Courier New"/>
                        </a:rPr>
                        <a:t>10.1.20.11–15</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800" b="0" strike="noStrike" spc="-1">
                          <a:solidFill>
                            <a:srgbClr val="000000"/>
                          </a:solidFill>
                          <a:latin typeface="Courier New"/>
                          <a:ea typeface="Courier New"/>
                        </a:rPr>
                        <a:t>root / default</a:t>
                      </a:r>
                      <a:endParaRPr lang="en-US" sz="8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3"/>
                  </a:ext>
                </a:extLst>
              </a:tr>
              <a:tr h="0">
                <a:tc>
                  <a:txBody>
                    <a:bodyPr/>
                    <a:lstStyle/>
                    <a:p>
                      <a:pPr defTabSz="914400">
                        <a:lnSpc>
                          <a:spcPct val="100000"/>
                        </a:lnSpc>
                        <a:tabLst>
                          <a:tab pos="0" algn="l"/>
                        </a:tabLst>
                      </a:pPr>
                      <a:r>
                        <a:rPr lang="en-US" sz="900" b="1" strike="noStrike" spc="-1">
                          <a:solidFill>
                            <a:srgbClr val="000000"/>
                          </a:solidFill>
                          <a:latin typeface="Calibri"/>
                        </a:rPr>
                        <a:t>Jumpbox</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850" b="0" strike="noStrike" spc="-1">
                          <a:solidFill>
                            <a:srgbClr val="000000"/>
                          </a:solidFill>
                          <a:latin typeface="Courier New"/>
                          <a:ea typeface="Courier New"/>
                        </a:rPr>
                        <a:t>jumpbox</a:t>
                      </a:r>
                      <a:endParaRPr lang="en-US" sz="85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ourier New"/>
                          <a:ea typeface="Courier New"/>
                        </a:rPr>
                        <a:t>10.1.1.6</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ourier New"/>
                          <a:ea typeface="Courier New"/>
                        </a:rPr>
                        <a:t>10.1.10.199</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800" b="0" strike="noStrike" spc="-1">
                          <a:solidFill>
                            <a:srgbClr val="000000"/>
                          </a:solidFill>
                          <a:latin typeface="Calibri"/>
                        </a:rPr>
                        <a:t>(browser access)</a:t>
                      </a:r>
                      <a:endParaRPr lang="en-US" sz="8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4"/>
                  </a:ext>
                </a:extLst>
              </a:tr>
            </a:tbl>
          </a:graphicData>
        </a:graphic>
      </p:graphicFrame>
      <p:sp>
        <p:nvSpPr>
          <p:cNvPr id="123" name="Text 8"/>
          <p:cNvSpPr/>
          <p:nvPr/>
        </p:nvSpPr>
        <p:spPr>
          <a:xfrm>
            <a:off x="457200" y="2743200"/>
            <a:ext cx="45716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61228B"/>
                </a:solidFill>
                <a:latin typeface="Arial"/>
                <a:ea typeface="Arial"/>
              </a:rPr>
              <a:t>Network layout</a:t>
            </a:r>
            <a:endParaRPr lang="en-US" sz="1400" b="0" strike="noStrike" spc="-1">
              <a:solidFill>
                <a:srgbClr val="000000"/>
              </a:solidFill>
              <a:latin typeface="Arial"/>
            </a:endParaRPr>
          </a:p>
        </p:txBody>
      </p:sp>
      <p:graphicFrame>
        <p:nvGraphicFramePr>
          <p:cNvPr id="124" name="Table 1"/>
          <p:cNvGraphicFramePr/>
          <p:nvPr/>
        </p:nvGraphicFramePr>
        <p:xfrm>
          <a:off x="365760" y="2971800"/>
          <a:ext cx="8412480" cy="1143000"/>
        </p:xfrm>
        <a:graphic>
          <a:graphicData uri="http://schemas.openxmlformats.org/drawingml/2006/table">
            <a:tbl>
              <a:tblPr/>
              <a:tblGrid>
                <a:gridCol w="11887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5212080">
                  <a:extLst>
                    <a:ext uri="{9D8B030D-6E8A-4147-A177-3AD203B41FA5}">
                      <a16:colId xmlns:a16="http://schemas.microsoft.com/office/drawing/2014/main" val="20003"/>
                    </a:ext>
                  </a:extLst>
                </a:gridCol>
              </a:tblGrid>
              <a:tr h="0">
                <a:tc>
                  <a:txBody>
                    <a:bodyPr/>
                    <a:lstStyle/>
                    <a:p>
                      <a:pPr defTabSz="914400">
                        <a:lnSpc>
                          <a:spcPct val="100000"/>
                        </a:lnSpc>
                        <a:tabLst>
                          <a:tab pos="0" algn="l"/>
                        </a:tabLst>
                      </a:pPr>
                      <a:r>
                        <a:rPr lang="en-US" sz="900" b="1" strike="noStrike" spc="-1">
                          <a:solidFill>
                            <a:srgbClr val="FFFFFF"/>
                          </a:solidFill>
                          <a:latin typeface="Calibri"/>
                        </a:rPr>
                        <a:t>VLAN</a:t>
                      </a:r>
                      <a:endParaRPr lang="en-US" sz="9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61228B"/>
                    </a:solidFill>
                  </a:tcPr>
                </a:tc>
                <a:tc>
                  <a:txBody>
                    <a:bodyPr/>
                    <a:lstStyle/>
                    <a:p>
                      <a:pPr defTabSz="914400">
                        <a:lnSpc>
                          <a:spcPct val="100000"/>
                        </a:lnSpc>
                        <a:tabLst>
                          <a:tab pos="0" algn="l"/>
                        </a:tabLst>
                      </a:pPr>
                      <a:r>
                        <a:rPr lang="en-US" sz="900" b="1" strike="noStrike" spc="-1">
                          <a:solidFill>
                            <a:srgbClr val="FFFFFF"/>
                          </a:solidFill>
                          <a:latin typeface="Calibri"/>
                        </a:rPr>
                        <a:t>Subnet</a:t>
                      </a:r>
                      <a:endParaRPr lang="en-US" sz="9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61228B"/>
                    </a:solidFill>
                  </a:tcPr>
                </a:tc>
                <a:tc>
                  <a:txBody>
                    <a:bodyPr/>
                    <a:lstStyle/>
                    <a:p>
                      <a:pPr defTabSz="914400">
                        <a:lnSpc>
                          <a:spcPct val="100000"/>
                        </a:lnSpc>
                        <a:tabLst>
                          <a:tab pos="0" algn="l"/>
                        </a:tabLst>
                      </a:pPr>
                      <a:r>
                        <a:rPr lang="en-US" sz="900" b="1" strike="noStrike" spc="-1">
                          <a:solidFill>
                            <a:srgbClr val="FFFFFF"/>
                          </a:solidFill>
                          <a:latin typeface="Calibri"/>
                        </a:rPr>
                        <a:t>Interface</a:t>
                      </a:r>
                      <a:endParaRPr lang="en-US" sz="9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61228B"/>
                    </a:solidFill>
                  </a:tcPr>
                </a:tc>
                <a:tc>
                  <a:txBody>
                    <a:bodyPr/>
                    <a:lstStyle/>
                    <a:p>
                      <a:pPr defTabSz="914400">
                        <a:lnSpc>
                          <a:spcPct val="100000"/>
                        </a:lnSpc>
                        <a:tabLst>
                          <a:tab pos="0" algn="l"/>
                        </a:tabLst>
                      </a:pPr>
                      <a:r>
                        <a:rPr lang="en-US" sz="900" b="1" strike="noStrike" spc="-1">
                          <a:solidFill>
                            <a:srgbClr val="FFFFFF"/>
                          </a:solidFill>
                          <a:latin typeface="Calibri"/>
                        </a:rPr>
                        <a:t>Purpose</a:t>
                      </a:r>
                      <a:endParaRPr lang="en-US" sz="9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61228B"/>
                    </a:solidFill>
                  </a:tcPr>
                </a:tc>
                <a:extLst>
                  <a:ext uri="{0D108BD9-81ED-4DB2-BD59-A6C34878D82A}">
                    <a16:rowId xmlns:a16="http://schemas.microsoft.com/office/drawing/2014/main" val="10000"/>
                  </a:ext>
                </a:extLst>
              </a:tr>
              <a:tr h="0">
                <a:tc>
                  <a:txBody>
                    <a:bodyPr/>
                    <a:lstStyle/>
                    <a:p>
                      <a:pPr defTabSz="914400">
                        <a:lnSpc>
                          <a:spcPct val="100000"/>
                        </a:lnSpc>
                        <a:tabLst>
                          <a:tab pos="0" algn="l"/>
                        </a:tabLst>
                      </a:pPr>
                      <a:r>
                        <a:rPr lang="en-US" sz="900" b="1" strike="noStrike" spc="-1">
                          <a:solidFill>
                            <a:srgbClr val="000000"/>
                          </a:solidFill>
                          <a:latin typeface="Courier New"/>
                          <a:ea typeface="Courier New"/>
                        </a:rPr>
                        <a:t>client_vlan</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ourier New"/>
                          <a:ea typeface="Courier New"/>
                        </a:rPr>
                        <a:t>10.1.10.0/24</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1.1</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Client-facing. VIPs: 10.1.10.100, .115</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1"/>
                  </a:ext>
                </a:extLst>
              </a:tr>
              <a:tr h="0">
                <a:tc>
                  <a:txBody>
                    <a:bodyPr/>
                    <a:lstStyle/>
                    <a:p>
                      <a:pPr defTabSz="914400">
                        <a:lnSpc>
                          <a:spcPct val="100000"/>
                        </a:lnSpc>
                        <a:tabLst>
                          <a:tab pos="0" algn="l"/>
                        </a:tabLst>
                      </a:pPr>
                      <a:r>
                        <a:rPr lang="en-US" sz="900" b="1" strike="noStrike" spc="-1">
                          <a:solidFill>
                            <a:srgbClr val="000000"/>
                          </a:solidFill>
                          <a:latin typeface="Courier New"/>
                          <a:ea typeface="Courier New"/>
                        </a:rPr>
                        <a:t>server_vlan</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ourier New"/>
                          <a:ea typeface="Courier New"/>
                        </a:rPr>
                        <a:t>10.1.20.0/24</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1.2</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Server-facing. Pool members: .11–.15</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2"/>
                  </a:ext>
                </a:extLst>
              </a:tr>
              <a:tr h="0">
                <a:tc>
                  <a:txBody>
                    <a:bodyPr/>
                    <a:lstStyle/>
                    <a:p>
                      <a:pPr defTabSz="914400">
                        <a:lnSpc>
                          <a:spcPct val="100000"/>
                        </a:lnSpc>
                        <a:tabLst>
                          <a:tab pos="0" algn="l"/>
                        </a:tabLst>
                      </a:pPr>
                      <a:r>
                        <a:rPr lang="en-US" sz="900" b="1" strike="noStrike" spc="-1">
                          <a:solidFill>
                            <a:srgbClr val="000000"/>
                          </a:solidFill>
                          <a:latin typeface="Courier New"/>
                          <a:ea typeface="Courier New"/>
                        </a:rPr>
                        <a:t>vlan-30 (HA)</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ourier New"/>
                          <a:ea typeface="Courier New"/>
                        </a:rPr>
                        <a:t>10.1.30.0/24</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1.3</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HA: ConfigSync, failover, mirroring</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3"/>
                  </a:ext>
                </a:extLst>
              </a:tr>
              <a:tr h="0">
                <a:tc>
                  <a:txBody>
                    <a:bodyPr/>
                    <a:lstStyle/>
                    <a:p>
                      <a:pPr defTabSz="914400">
                        <a:lnSpc>
                          <a:spcPct val="100000"/>
                        </a:lnSpc>
                        <a:tabLst>
                          <a:tab pos="0" algn="l"/>
                        </a:tabLst>
                      </a:pPr>
                      <a:r>
                        <a:rPr lang="en-US" sz="900" b="1" strike="noStrike" spc="-1">
                          <a:solidFill>
                            <a:srgbClr val="000000"/>
                          </a:solidFill>
                          <a:latin typeface="Courier New"/>
                          <a:ea typeface="Courier New"/>
                        </a:rPr>
                        <a:t>management</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ourier New"/>
                          <a:ea typeface="Courier New"/>
                        </a:rPr>
                        <a:t>10.1.1.0/24</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mgmt</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Out-of-band management, SSH, GUI</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4"/>
                  </a:ext>
                </a:extLst>
              </a:tr>
            </a:tbl>
          </a:graphicData>
        </a:graphic>
      </p:graphicFrame>
      <p:sp>
        <p:nvSpPr>
          <p:cNvPr id="125" name="Shape 9"/>
          <p:cNvSpPr/>
          <p:nvPr/>
        </p:nvSpPr>
        <p:spPr>
          <a:xfrm>
            <a:off x="365760" y="4343400"/>
            <a:ext cx="8412120" cy="273960"/>
          </a:xfrm>
          <a:prstGeom prst="rect">
            <a:avLst/>
          </a:prstGeom>
          <a:solidFill>
            <a:srgbClr val="E8F0F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26" name="Text 10"/>
          <p:cNvSpPr/>
          <p:nvPr/>
        </p:nvSpPr>
        <p:spPr>
          <a:xfrm>
            <a:off x="548640" y="4361760"/>
            <a:ext cx="804636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strike="noStrike" spc="-1">
                <a:solidFill>
                  <a:srgbClr val="0E41AA"/>
                </a:solidFill>
                <a:latin typeface="Calibri"/>
                <a:ea typeface="Calibri"/>
              </a:rPr>
              <a:t>First step in Lab 1: </a:t>
            </a:r>
            <a:r>
              <a:rPr lang="en-US" sz="900" b="0" strike="noStrike" spc="-1">
                <a:solidFill>
                  <a:srgbClr val="1A3A6C"/>
                </a:solidFill>
                <a:latin typeface="Calibri"/>
                <a:ea typeface="Calibri"/>
              </a:rPr>
              <a:t>Access bigip01 at https://10.1.1.245 (admin/admin.F5demo.com). Verify you can SSH to 10.1.1.245 (root/default). Build base networking using TMSH.</a:t>
            </a:r>
            <a:endParaRPr lang="en-US" sz="900" b="0" strike="noStrike" spc="-1">
              <a:solidFill>
                <a:srgbClr val="000000"/>
              </a:solidFill>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7"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28"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29"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30"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31"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32"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7    © 2026 F5</a:t>
            </a:r>
            <a:endParaRPr lang="en-US" sz="800" b="0" strike="noStrike" spc="-1">
              <a:solidFill>
                <a:srgbClr val="000000"/>
              </a:solidFill>
              <a:latin typeface="Arial"/>
            </a:endParaRPr>
          </a:p>
        </p:txBody>
      </p:sp>
      <p:pic>
        <p:nvPicPr>
          <p:cNvPr id="133" name="Image 0" descr="preencoded.png"/>
          <p:cNvPicPr/>
          <p:nvPr/>
        </p:nvPicPr>
        <p:blipFill>
          <a:blip r:embed="rId3"/>
          <a:stretch/>
        </p:blipFill>
        <p:spPr>
          <a:xfrm>
            <a:off x="8458200" y="4663440"/>
            <a:ext cx="383760" cy="383760"/>
          </a:xfrm>
          <a:prstGeom prst="rect">
            <a:avLst/>
          </a:prstGeom>
          <a:ln w="0">
            <a:noFill/>
          </a:ln>
        </p:spPr>
      </p:pic>
      <p:sp>
        <p:nvSpPr>
          <p:cNvPr id="134" name="Text 6"/>
          <p:cNvSpPr/>
          <p:nvPr/>
        </p:nvSpPr>
        <p:spPr>
          <a:xfrm>
            <a:off x="457200" y="274320"/>
            <a:ext cx="82292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Before we begin</a:t>
            </a:r>
            <a:endParaRPr lang="en-US" sz="2800" b="0" strike="noStrike" spc="-1">
              <a:solidFill>
                <a:srgbClr val="000000"/>
              </a:solidFill>
              <a:latin typeface="Arial"/>
            </a:endParaRPr>
          </a:p>
        </p:txBody>
      </p:sp>
      <p:sp>
        <p:nvSpPr>
          <p:cNvPr id="135" name="Text 7"/>
          <p:cNvSpPr/>
          <p:nvPr/>
        </p:nvSpPr>
        <p:spPr>
          <a:xfrm>
            <a:off x="457200" y="658440"/>
            <a:ext cx="82292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strike="noStrike" spc="-1">
                <a:solidFill>
                  <a:srgbClr val="666666"/>
                </a:solidFill>
                <a:latin typeface="Calibri"/>
                <a:ea typeface="Calibri"/>
              </a:rPr>
              <a:t>Housekeeping, expectations, and how to get the most from this course</a:t>
            </a:r>
            <a:endParaRPr lang="en-US" sz="1300" b="0" strike="noStrike" spc="-1">
              <a:solidFill>
                <a:srgbClr val="000000"/>
              </a:solidFill>
              <a:latin typeface="Arial"/>
            </a:endParaRPr>
          </a:p>
        </p:txBody>
      </p:sp>
      <p:sp>
        <p:nvSpPr>
          <p:cNvPr id="136" name="Shape 8"/>
          <p:cNvSpPr/>
          <p:nvPr/>
        </p:nvSpPr>
        <p:spPr>
          <a:xfrm>
            <a:off x="365760" y="1005840"/>
            <a:ext cx="4114440" cy="91404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37" name="Text 9"/>
          <p:cNvSpPr/>
          <p:nvPr/>
        </p:nvSpPr>
        <p:spPr>
          <a:xfrm>
            <a:off x="457200" y="1005840"/>
            <a:ext cx="39315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
                <a:solidFill>
                  <a:srgbClr val="0E41AA"/>
                </a:solidFill>
                <a:latin typeface="Arial"/>
                <a:ea typeface="Arial"/>
              </a:rPr>
              <a:t>Lab access</a:t>
            </a:r>
            <a:endParaRPr lang="en-US" sz="1200" b="0" strike="noStrike" spc="-1">
              <a:solidFill>
                <a:srgbClr val="000000"/>
              </a:solidFill>
              <a:latin typeface="Arial"/>
            </a:endParaRPr>
          </a:p>
        </p:txBody>
      </p:sp>
      <p:sp>
        <p:nvSpPr>
          <p:cNvPr id="138" name="Text 10"/>
          <p:cNvSpPr/>
          <p:nvPr/>
        </p:nvSpPr>
        <p:spPr>
          <a:xfrm>
            <a:off x="457200" y="1325880"/>
            <a:ext cx="393156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tabLst>
                <a:tab pos="0" algn="l"/>
              </a:tabLst>
            </a:pPr>
            <a:r>
              <a:rPr lang="en-US" sz="900" b="0" strike="noStrike" spc="-1">
                <a:solidFill>
                  <a:srgbClr val="333333"/>
                </a:solidFill>
                <a:latin typeface="Calibri"/>
                <a:ea typeface="Calibri"/>
              </a:rPr>
              <a:t>Verify you can reach bigip01 (https://10.1.1.245) and </a:t>
            </a:r>
            <a:r>
              <a:rPr lang="en-US" sz="900" spc="-1">
                <a:solidFill>
                  <a:srgbClr val="333333"/>
                </a:solidFill>
                <a:latin typeface="Calibri"/>
                <a:ea typeface="Calibri"/>
              </a:rPr>
              <a:t>SSH to</a:t>
            </a:r>
            <a:r>
              <a:rPr lang="en-US" sz="900" b="0" strike="noStrike" spc="-1">
                <a:solidFill>
                  <a:srgbClr val="333333"/>
                </a:solidFill>
                <a:latin typeface="Calibri"/>
                <a:ea typeface="Calibri"/>
              </a:rPr>
              <a:t> it. If not, troubleshoot now — we start building in Lab 1.</a:t>
            </a:r>
            <a:endParaRPr lang="en-US" sz="900" b="0" strike="noStrike" spc="-1">
              <a:solidFill>
                <a:srgbClr val="000000"/>
              </a:solidFill>
              <a:latin typeface="Arial"/>
            </a:endParaRPr>
          </a:p>
        </p:txBody>
      </p:sp>
      <p:sp>
        <p:nvSpPr>
          <p:cNvPr id="139" name="Shape 11"/>
          <p:cNvSpPr/>
          <p:nvPr/>
        </p:nvSpPr>
        <p:spPr>
          <a:xfrm>
            <a:off x="4663440" y="1005840"/>
            <a:ext cx="4114440" cy="91404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40" name="Text 12"/>
          <p:cNvSpPr/>
          <p:nvPr/>
        </p:nvSpPr>
        <p:spPr>
          <a:xfrm>
            <a:off x="4754880" y="1005840"/>
            <a:ext cx="39315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
                <a:solidFill>
                  <a:srgbClr val="61228B"/>
                </a:solidFill>
                <a:latin typeface="Arial"/>
                <a:ea typeface="Arial"/>
              </a:rPr>
              <a:t>Slides + speaker notes</a:t>
            </a:r>
            <a:endParaRPr lang="en-US" sz="1200" b="0" strike="noStrike" spc="-1">
              <a:solidFill>
                <a:srgbClr val="000000"/>
              </a:solidFill>
              <a:latin typeface="Arial"/>
            </a:endParaRPr>
          </a:p>
        </p:txBody>
      </p:sp>
      <p:sp>
        <p:nvSpPr>
          <p:cNvPr id="141" name="Text 13"/>
          <p:cNvSpPr/>
          <p:nvPr/>
        </p:nvSpPr>
        <p:spPr>
          <a:xfrm>
            <a:off x="4754880" y="1325880"/>
            <a:ext cx="393156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900" b="0" strike="noStrike" spc="-1">
                <a:solidFill>
                  <a:srgbClr val="333333"/>
                </a:solidFill>
                <a:latin typeface="Calibri"/>
                <a:ea typeface="Calibri"/>
              </a:rPr>
              <a:t>Every slide has detailed speaker notes with full technical explanations, pivot questions, exam patterns, and F5 doc references. Use them for self-study.</a:t>
            </a:r>
            <a:endParaRPr lang="en-US" sz="900" b="0" strike="noStrike" spc="-1">
              <a:solidFill>
                <a:srgbClr val="000000"/>
              </a:solidFill>
              <a:latin typeface="Arial"/>
            </a:endParaRPr>
          </a:p>
        </p:txBody>
      </p:sp>
      <p:sp>
        <p:nvSpPr>
          <p:cNvPr id="142" name="Shape 14"/>
          <p:cNvSpPr/>
          <p:nvPr/>
        </p:nvSpPr>
        <p:spPr>
          <a:xfrm>
            <a:off x="365760" y="2057400"/>
            <a:ext cx="4114440" cy="91404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43" name="Text 15"/>
          <p:cNvSpPr/>
          <p:nvPr/>
        </p:nvSpPr>
        <p:spPr>
          <a:xfrm>
            <a:off x="457200" y="2057400"/>
            <a:ext cx="39315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
                <a:solidFill>
                  <a:srgbClr val="009639"/>
                </a:solidFill>
                <a:latin typeface="Arial"/>
                <a:ea typeface="Arial"/>
              </a:rPr>
              <a:t>Exam checkpoints</a:t>
            </a:r>
            <a:endParaRPr lang="en-US" sz="1200" b="0" strike="noStrike" spc="-1">
              <a:solidFill>
                <a:srgbClr val="000000"/>
              </a:solidFill>
              <a:latin typeface="Arial"/>
            </a:endParaRPr>
          </a:p>
        </p:txBody>
      </p:sp>
      <p:sp>
        <p:nvSpPr>
          <p:cNvPr id="144" name="Text 16"/>
          <p:cNvSpPr/>
          <p:nvPr/>
        </p:nvSpPr>
        <p:spPr>
          <a:xfrm>
            <a:off x="457200" y="2377440"/>
            <a:ext cx="393156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900" b="0" strike="noStrike" spc="-1">
                <a:solidFill>
                  <a:srgbClr val="333333"/>
                </a:solidFill>
                <a:latin typeface="Calibri"/>
                <a:ea typeface="Calibri"/>
              </a:rPr>
              <a:t>After each lab, we pause for exam-style questions. Try to answer BEFORE looking at the speaker notes. This is where the real learning happens.</a:t>
            </a:r>
            <a:endParaRPr lang="en-US" sz="900" b="0" strike="noStrike" spc="-1">
              <a:solidFill>
                <a:srgbClr val="000000"/>
              </a:solidFill>
              <a:latin typeface="Arial"/>
            </a:endParaRPr>
          </a:p>
        </p:txBody>
      </p:sp>
      <p:sp>
        <p:nvSpPr>
          <p:cNvPr id="145" name="Shape 17"/>
          <p:cNvSpPr/>
          <p:nvPr/>
        </p:nvSpPr>
        <p:spPr>
          <a:xfrm>
            <a:off x="4663440" y="2057400"/>
            <a:ext cx="4114440" cy="91404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46" name="Text 18"/>
          <p:cNvSpPr/>
          <p:nvPr/>
        </p:nvSpPr>
        <p:spPr>
          <a:xfrm>
            <a:off x="4754880" y="2057400"/>
            <a:ext cx="39315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
                <a:solidFill>
                  <a:srgbClr val="F29A36"/>
                </a:solidFill>
                <a:latin typeface="Arial"/>
                <a:ea typeface="Arial"/>
              </a:rPr>
              <a:t>TMSH first, GUI second</a:t>
            </a:r>
            <a:endParaRPr lang="en-US" sz="1200" b="0" strike="noStrike" spc="-1">
              <a:solidFill>
                <a:srgbClr val="000000"/>
              </a:solidFill>
              <a:latin typeface="Arial"/>
            </a:endParaRPr>
          </a:p>
        </p:txBody>
      </p:sp>
      <p:sp>
        <p:nvSpPr>
          <p:cNvPr id="147" name="Text 19"/>
          <p:cNvSpPr/>
          <p:nvPr/>
        </p:nvSpPr>
        <p:spPr>
          <a:xfrm>
            <a:off x="4754880" y="2377440"/>
            <a:ext cx="393156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900" b="0" strike="noStrike" spc="-1">
                <a:solidFill>
                  <a:srgbClr val="333333"/>
                </a:solidFill>
                <a:latin typeface="Calibri"/>
                <a:ea typeface="Calibri"/>
              </a:rPr>
              <a:t>We show both GUI paths and TMSH commands. The exam tests TMSH syntax heavily. Practice typing commands, not just clicking buttons.</a:t>
            </a:r>
            <a:endParaRPr lang="en-US" sz="900" b="0" strike="noStrike" spc="-1">
              <a:solidFill>
                <a:srgbClr val="000000"/>
              </a:solidFill>
              <a:latin typeface="Arial"/>
            </a:endParaRPr>
          </a:p>
        </p:txBody>
      </p:sp>
      <p:sp>
        <p:nvSpPr>
          <p:cNvPr id="148" name="Shape 20"/>
          <p:cNvSpPr/>
          <p:nvPr/>
        </p:nvSpPr>
        <p:spPr>
          <a:xfrm>
            <a:off x="365760" y="3108960"/>
            <a:ext cx="4114440" cy="91404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49" name="Text 21"/>
          <p:cNvSpPr/>
          <p:nvPr/>
        </p:nvSpPr>
        <p:spPr>
          <a:xfrm>
            <a:off x="457200" y="3108960"/>
            <a:ext cx="39315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
                <a:solidFill>
                  <a:srgbClr val="E4002B"/>
                </a:solidFill>
                <a:latin typeface="Arial"/>
                <a:ea typeface="Arial"/>
              </a:rPr>
              <a:t>Save your work</a:t>
            </a:r>
            <a:endParaRPr lang="en-US" sz="1200" b="0" strike="noStrike" spc="-1">
              <a:solidFill>
                <a:srgbClr val="000000"/>
              </a:solidFill>
              <a:latin typeface="Arial"/>
            </a:endParaRPr>
          </a:p>
        </p:txBody>
      </p:sp>
      <p:sp>
        <p:nvSpPr>
          <p:cNvPr id="150" name="Text 22"/>
          <p:cNvSpPr/>
          <p:nvPr/>
        </p:nvSpPr>
        <p:spPr>
          <a:xfrm>
            <a:off x="457200" y="3429000"/>
            <a:ext cx="393156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900" b="0" strike="noStrike" spc="-1">
                <a:solidFill>
                  <a:srgbClr val="333333"/>
                </a:solidFill>
                <a:latin typeface="Calibri"/>
                <a:ea typeface="Calibri"/>
              </a:rPr>
              <a:t>At key points we'll archive configs with UCS. If something breaks, you can restore and continue. Don't skip the archive steps.</a:t>
            </a:r>
            <a:endParaRPr lang="en-US" sz="900" b="0" strike="noStrike" spc="-1">
              <a:solidFill>
                <a:srgbClr val="000000"/>
              </a:solidFill>
              <a:latin typeface="Arial"/>
            </a:endParaRPr>
          </a:p>
        </p:txBody>
      </p:sp>
      <p:sp>
        <p:nvSpPr>
          <p:cNvPr id="151" name="Shape 23"/>
          <p:cNvSpPr/>
          <p:nvPr/>
        </p:nvSpPr>
        <p:spPr>
          <a:xfrm>
            <a:off x="4663440" y="3108960"/>
            <a:ext cx="4114440" cy="91404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52" name="Text 24"/>
          <p:cNvSpPr/>
          <p:nvPr/>
        </p:nvSpPr>
        <p:spPr>
          <a:xfrm>
            <a:off x="4754880" y="3108960"/>
            <a:ext cx="39315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
                <a:solidFill>
                  <a:srgbClr val="AB2782"/>
                </a:solidFill>
                <a:latin typeface="Arial"/>
                <a:ea typeface="Arial"/>
              </a:rPr>
              <a:t>Focus on scenarios</a:t>
            </a:r>
            <a:endParaRPr lang="en-US" sz="1200" b="0" strike="noStrike" spc="-1">
              <a:solidFill>
                <a:srgbClr val="000000"/>
              </a:solidFill>
              <a:latin typeface="Arial"/>
            </a:endParaRPr>
          </a:p>
        </p:txBody>
      </p:sp>
      <p:sp>
        <p:nvSpPr>
          <p:cNvPr id="153" name="Text 25"/>
          <p:cNvSpPr/>
          <p:nvPr/>
        </p:nvSpPr>
        <p:spPr>
          <a:xfrm>
            <a:off x="4754880" y="3429000"/>
            <a:ext cx="393156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900" b="0" strike="noStrike" spc="-1">
                <a:solidFill>
                  <a:srgbClr val="333333"/>
                </a:solidFill>
                <a:latin typeface="Calibri"/>
                <a:ea typeface="Calibri"/>
              </a:rPr>
              <a:t>Beta exam questions are scenario-based. We teach with scenarios. Read the full scenario before answering — the setup is more important than the question.</a:t>
            </a:r>
            <a:endParaRPr lang="en-US" sz="900" b="0" strike="noStrike" spc="-1">
              <a:solidFill>
                <a:srgbClr val="000000"/>
              </a:solidFill>
              <a:latin typeface="Arial"/>
            </a:endParaRPr>
          </a:p>
        </p:txBody>
      </p:sp>
      <p:sp>
        <p:nvSpPr>
          <p:cNvPr id="154" name="Shape 26"/>
          <p:cNvSpPr/>
          <p:nvPr/>
        </p:nvSpPr>
        <p:spPr>
          <a:xfrm>
            <a:off x="365760" y="4206240"/>
            <a:ext cx="8412120" cy="411120"/>
          </a:xfrm>
          <a:prstGeom prst="rect">
            <a:avLst/>
          </a:prstGeom>
          <a:solidFill>
            <a:srgbClr val="E8F5E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55" name="Text 27"/>
          <p:cNvSpPr/>
          <p:nvPr/>
        </p:nvSpPr>
        <p:spPr>
          <a:xfrm>
            <a:off x="548640" y="4224600"/>
            <a:ext cx="80463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009639"/>
                </a:solidFill>
                <a:latin typeface="Arial"/>
                <a:ea typeface="Arial"/>
              </a:rPr>
              <a:t>Ready? Let's start with Lab 1 — Basic Setup, TMSH, and SNATs.</a:t>
            </a:r>
            <a:endParaRPr lang="en-US" sz="1400" b="0" strike="noStrike" spc="-1">
              <a:solidFill>
                <a:srgbClr val="000000"/>
              </a:solidFill>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56" name="Shape 0"/>
          <p:cNvSpPr/>
          <p:nvPr/>
        </p:nvSpPr>
        <p:spPr>
          <a:xfrm>
            <a:off x="0" y="507024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57" name="Shape 1"/>
          <p:cNvSpPr/>
          <p:nvPr/>
        </p:nvSpPr>
        <p:spPr>
          <a:xfrm>
            <a:off x="1371600" y="507024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58" name="Shape 2"/>
          <p:cNvSpPr/>
          <p:nvPr/>
        </p:nvSpPr>
        <p:spPr>
          <a:xfrm>
            <a:off x="4114800" y="507024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59" name="Shape 3"/>
          <p:cNvSpPr/>
          <p:nvPr/>
        </p:nvSpPr>
        <p:spPr>
          <a:xfrm>
            <a:off x="5486400" y="507024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60" name="Shape 4"/>
          <p:cNvSpPr/>
          <p:nvPr/>
        </p:nvSpPr>
        <p:spPr>
          <a:xfrm>
            <a:off x="7772400" y="507024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pic>
        <p:nvPicPr>
          <p:cNvPr id="161" name="Image 0" descr="preencoded.png"/>
          <p:cNvPicPr/>
          <p:nvPr/>
        </p:nvPicPr>
        <p:blipFill>
          <a:blip r:embed="rId3"/>
          <a:stretch/>
        </p:blipFill>
        <p:spPr>
          <a:xfrm>
            <a:off x="365760" y="274320"/>
            <a:ext cx="639720" cy="639720"/>
          </a:xfrm>
          <a:prstGeom prst="rect">
            <a:avLst/>
          </a:prstGeom>
          <a:ln w="0">
            <a:noFill/>
          </a:ln>
        </p:spPr>
      </p:pic>
      <p:sp>
        <p:nvSpPr>
          <p:cNvPr id="162" name="Text 5"/>
          <p:cNvSpPr/>
          <p:nvPr/>
        </p:nvSpPr>
        <p:spPr>
          <a:xfrm>
            <a:off x="365760" y="2011680"/>
            <a:ext cx="7314840" cy="13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strike="noStrike" spc="-1">
                <a:solidFill>
                  <a:srgbClr val="666666"/>
                </a:solidFill>
                <a:latin typeface="Calibri"/>
                <a:ea typeface="Calibri"/>
              </a:rPr>
              <a:t>LAB 1</a:t>
            </a:r>
            <a:endParaRPr lang="en-US" sz="1400" b="0" strike="noStrike" spc="-1">
              <a:solidFill>
                <a:srgbClr val="FFFFFF"/>
              </a:solidFill>
              <a:latin typeface="Arial"/>
            </a:endParaRPr>
          </a:p>
          <a:p>
            <a:pPr defTabSz="914400">
              <a:lnSpc>
                <a:spcPct val="100000"/>
              </a:lnSpc>
              <a:tabLst>
                <a:tab pos="0" algn="l"/>
              </a:tabLst>
            </a:pPr>
            <a:r>
              <a:rPr lang="en-US" sz="3600" b="1" strike="noStrike" spc="-1">
                <a:solidFill>
                  <a:srgbClr val="FFFFFF"/>
                </a:solidFill>
                <a:latin typeface="Arial"/>
                <a:ea typeface="Arial"/>
              </a:rPr>
              <a:t>Basic setup, TMSH &amp; SNATs</a:t>
            </a:r>
            <a:endParaRPr lang="en-US" sz="3600" b="0" strike="noStrike" spc="-1">
              <a:solidFill>
                <a:srgbClr val="FFFFFF"/>
              </a:solidFill>
              <a:latin typeface="Arial"/>
            </a:endParaRPr>
          </a:p>
        </p:txBody>
      </p:sp>
      <p:sp>
        <p:nvSpPr>
          <p:cNvPr id="163" name="Text 6"/>
          <p:cNvSpPr/>
          <p:nvPr/>
        </p:nvSpPr>
        <p:spPr>
          <a:xfrm>
            <a:off x="365760" y="3474720"/>
            <a:ext cx="54860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strike="noStrike" spc="-1">
                <a:solidFill>
                  <a:srgbClr val="666666"/>
                </a:solidFill>
                <a:latin typeface="Calibri"/>
                <a:ea typeface="Calibri"/>
              </a:rPr>
              <a:t>Build a working LTM application from scratch using TMSH, then explore</a:t>
            </a:r>
            <a:endParaRPr lang="en-US" sz="1400" b="0" strike="noStrike" spc="-1">
              <a:solidFill>
                <a:srgbClr val="FFFFFF"/>
              </a:solidFill>
              <a:latin typeface="Arial"/>
            </a:endParaRPr>
          </a:p>
          <a:p>
            <a:pPr defTabSz="914400">
              <a:lnSpc>
                <a:spcPct val="100000"/>
              </a:lnSpc>
              <a:tabLst>
                <a:tab pos="0" algn="l"/>
              </a:tabLst>
            </a:pPr>
            <a:r>
              <a:rPr lang="en-US" sz="1400" b="0" strike="noStrike" spc="-1">
                <a:solidFill>
                  <a:srgbClr val="666666"/>
                </a:solidFill>
                <a:latin typeface="Calibri"/>
                <a:ea typeface="Calibri"/>
              </a:rPr>
              <a:t>SNAT behavior with tcpdump and connection tables.</a:t>
            </a:r>
            <a:endParaRPr lang="en-US" sz="1400" b="0" strike="noStrike" spc="-1">
              <a:solidFill>
                <a:srgbClr val="FFFFFF"/>
              </a:solidFill>
              <a:latin typeface="Arial"/>
            </a:endParaRPr>
          </a:p>
        </p:txBody>
      </p:sp>
      <p:sp>
        <p:nvSpPr>
          <p:cNvPr id="164" name="Text 7"/>
          <p:cNvSpPr/>
          <p:nvPr/>
        </p:nvSpPr>
        <p:spPr>
          <a:xfrm>
            <a:off x="365760" y="4297680"/>
            <a:ext cx="45716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strike="noStrike" spc="-1">
                <a:solidFill>
                  <a:srgbClr val="F29A36"/>
                </a:solidFill>
                <a:latin typeface="Calibri"/>
                <a:ea typeface="Calibri"/>
              </a:rPr>
              <a:t>50 min  |  20 min slides + 30 min lab</a:t>
            </a:r>
            <a:endParaRPr lang="en-US" sz="1100" b="0" strike="noStrike" spc="-1">
              <a:solidFill>
                <a:srgbClr val="FFFFFF"/>
              </a:solidFill>
              <a:latin typeface="Arial"/>
            </a:endParaRPr>
          </a:p>
        </p:txBody>
      </p:sp>
      <p:graphicFrame>
        <p:nvGraphicFramePr>
          <p:cNvPr id="165" name="Table 0"/>
          <p:cNvGraphicFramePr/>
          <p:nvPr/>
        </p:nvGraphicFramePr>
        <p:xfrm>
          <a:off x="365760" y="1097280"/>
          <a:ext cx="6492240" cy="731520"/>
        </p:xfrm>
        <a:graphic>
          <a:graphicData uri="http://schemas.openxmlformats.org/drawingml/2006/table">
            <a:tbl>
              <a:tblPr/>
              <a:tblGrid>
                <a:gridCol w="146304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0">
                <a:tc>
                  <a:txBody>
                    <a:bodyPr/>
                    <a:lstStyle/>
                    <a:p>
                      <a:pPr defTabSz="914400">
                        <a:lnSpc>
                          <a:spcPct val="100000"/>
                        </a:lnSpc>
                        <a:tabLst>
                          <a:tab pos="0" algn="l"/>
                        </a:tabLst>
                      </a:pPr>
                      <a:r>
                        <a:rPr lang="en-US" sz="1000" b="0" strike="noStrike" spc="-1">
                          <a:solidFill>
                            <a:srgbClr val="FFFFFF"/>
                          </a:solidFill>
                          <a:latin typeface="Courier New"/>
                          <a:ea typeface="Courier New"/>
                        </a:rPr>
                        <a:t>F5CTSLTM1.01</a:t>
                      </a:r>
                      <a:endParaRPr lang="en-US" sz="1000" b="0" strike="noStrike" spc="-1">
                        <a:solidFill>
                          <a:srgbClr val="FFFFFF"/>
                        </a:solidFill>
                        <a:latin typeface="Arial"/>
                      </a:endParaRPr>
                    </a:p>
                  </a:txBody>
                  <a:tcPr marL="75960" marR="75960">
                    <a:lnL>
                      <a:noFill/>
                    </a:lnL>
                    <a:lnR>
                      <a:noFill/>
                    </a:lnR>
                    <a:lnT>
                      <a:noFill/>
                    </a:lnT>
                    <a:lnB>
                      <a:noFill/>
                    </a:lnB>
                    <a:solidFill>
                      <a:srgbClr val="1A1A1A"/>
                    </a:solidFill>
                  </a:tcPr>
                </a:tc>
                <a:tc>
                  <a:txBody>
                    <a:bodyPr/>
                    <a:lstStyle/>
                    <a:p>
                      <a:pPr algn="ctr" defTabSz="914400">
                        <a:lnSpc>
                          <a:spcPct val="100000"/>
                        </a:lnSpc>
                        <a:tabLst>
                          <a:tab pos="0" algn="l"/>
                        </a:tabLst>
                      </a:pPr>
                      <a:r>
                        <a:rPr lang="en-US" sz="1000" b="1" strike="noStrike" spc="-1">
                          <a:solidFill>
                            <a:srgbClr val="009639"/>
                          </a:solidFill>
                          <a:latin typeface="Calibri"/>
                          <a:ea typeface="Calibri"/>
                        </a:rPr>
                        <a:t>U/A</a:t>
                      </a:r>
                      <a:endParaRPr lang="en-US" sz="1000" b="0" strike="noStrike" spc="-1">
                        <a:solidFill>
                          <a:srgbClr val="FFFFFF"/>
                        </a:solidFill>
                        <a:latin typeface="Arial"/>
                      </a:endParaRPr>
                    </a:p>
                  </a:txBody>
                  <a:tcPr marL="75960" marR="75960">
                    <a:lnL>
                      <a:noFill/>
                    </a:lnL>
                    <a:lnR>
                      <a:noFill/>
                    </a:lnR>
                    <a:lnT>
                      <a:noFill/>
                    </a:lnT>
                    <a:lnB>
                      <a:noFill/>
                    </a:lnB>
                    <a:solidFill>
                      <a:srgbClr val="1A1A1A"/>
                    </a:solidFill>
                  </a:tcPr>
                </a:tc>
                <a:tc>
                  <a:txBody>
                    <a:bodyPr/>
                    <a:lstStyle/>
                    <a:p>
                      <a:pPr defTabSz="914400">
                        <a:lnSpc>
                          <a:spcPct val="100000"/>
                        </a:lnSpc>
                        <a:tabLst>
                          <a:tab pos="0" algn="l"/>
                        </a:tabLst>
                      </a:pPr>
                      <a:r>
                        <a:rPr lang="en-US" sz="1000" b="0" strike="noStrike" spc="-1">
                          <a:solidFill>
                            <a:srgbClr val="666666"/>
                          </a:solidFill>
                          <a:latin typeface="Calibri"/>
                          <a:ea typeface="Calibri"/>
                        </a:rPr>
                        <a:t>Determine if app can deploy with LTM only</a:t>
                      </a:r>
                      <a:endParaRPr lang="en-US" sz="1000" b="0" strike="noStrike" spc="-1">
                        <a:solidFill>
                          <a:srgbClr val="FFFFFF"/>
                        </a:solidFill>
                        <a:latin typeface="Arial"/>
                      </a:endParaRPr>
                    </a:p>
                  </a:txBody>
                  <a:tcPr marL="75960" marR="75960">
                    <a:lnL>
                      <a:noFill/>
                    </a:lnL>
                    <a:lnR>
                      <a:noFill/>
                    </a:lnR>
                    <a:lnT>
                      <a:noFill/>
                    </a:lnT>
                    <a:lnB>
                      <a:noFill/>
                    </a:lnB>
                    <a:solidFill>
                      <a:srgbClr val="1A1A1A"/>
                    </a:solidFill>
                  </a:tcPr>
                </a:tc>
                <a:extLst>
                  <a:ext uri="{0D108BD9-81ED-4DB2-BD59-A6C34878D82A}">
                    <a16:rowId xmlns:a16="http://schemas.microsoft.com/office/drawing/2014/main" val="10000"/>
                  </a:ext>
                </a:extLst>
              </a:tr>
              <a:tr h="0">
                <a:tc>
                  <a:txBody>
                    <a:bodyPr/>
                    <a:lstStyle/>
                    <a:p>
                      <a:pPr defTabSz="914400">
                        <a:lnSpc>
                          <a:spcPct val="100000"/>
                        </a:lnSpc>
                        <a:tabLst>
                          <a:tab pos="0" algn="l"/>
                        </a:tabLst>
                      </a:pPr>
                      <a:r>
                        <a:rPr lang="en-US" sz="1000" b="0" strike="noStrike" spc="-1">
                          <a:solidFill>
                            <a:srgbClr val="FFFFFF"/>
                          </a:solidFill>
                          <a:latin typeface="Courier New"/>
                          <a:ea typeface="Courier New"/>
                        </a:rPr>
                        <a:t>F5CTSLTM1.04</a:t>
                      </a:r>
                      <a:endParaRPr lang="en-US" sz="1000" b="0" strike="noStrike" spc="-1">
                        <a:solidFill>
                          <a:srgbClr val="FFFFFF"/>
                        </a:solidFill>
                        <a:latin typeface="Arial"/>
                      </a:endParaRPr>
                    </a:p>
                  </a:txBody>
                  <a:tcPr marL="75960" marR="75960">
                    <a:lnL>
                      <a:noFill/>
                    </a:lnL>
                    <a:lnR>
                      <a:noFill/>
                    </a:lnR>
                    <a:lnT>
                      <a:noFill/>
                    </a:lnT>
                    <a:lnB>
                      <a:noFill/>
                    </a:lnB>
                    <a:solidFill>
                      <a:srgbClr val="111111"/>
                    </a:solidFill>
                  </a:tcPr>
                </a:tc>
                <a:tc>
                  <a:txBody>
                    <a:bodyPr/>
                    <a:lstStyle/>
                    <a:p>
                      <a:pPr algn="ctr" defTabSz="914400">
                        <a:lnSpc>
                          <a:spcPct val="100000"/>
                        </a:lnSpc>
                        <a:tabLst>
                          <a:tab pos="0" algn="l"/>
                        </a:tabLst>
                      </a:pPr>
                      <a:r>
                        <a:rPr lang="en-US" sz="1000" b="1" strike="noStrike" spc="-1">
                          <a:solidFill>
                            <a:srgbClr val="009639"/>
                          </a:solidFill>
                          <a:latin typeface="Calibri"/>
                          <a:ea typeface="Calibri"/>
                        </a:rPr>
                        <a:t>U/A</a:t>
                      </a:r>
                      <a:endParaRPr lang="en-US" sz="1000" b="0" strike="noStrike" spc="-1">
                        <a:solidFill>
                          <a:srgbClr val="FFFFFF"/>
                        </a:solidFill>
                        <a:latin typeface="Arial"/>
                      </a:endParaRPr>
                    </a:p>
                  </a:txBody>
                  <a:tcPr marL="75960" marR="75960">
                    <a:lnL>
                      <a:noFill/>
                    </a:lnL>
                    <a:lnR>
                      <a:noFill/>
                    </a:lnR>
                    <a:lnT>
                      <a:noFill/>
                    </a:lnT>
                    <a:lnB>
                      <a:noFill/>
                    </a:lnB>
                    <a:solidFill>
                      <a:srgbClr val="111111"/>
                    </a:solidFill>
                  </a:tcPr>
                </a:tc>
                <a:tc>
                  <a:txBody>
                    <a:bodyPr/>
                    <a:lstStyle/>
                    <a:p>
                      <a:pPr defTabSz="914400">
                        <a:lnSpc>
                          <a:spcPct val="100000"/>
                        </a:lnSpc>
                        <a:tabLst>
                          <a:tab pos="0" algn="l"/>
                        </a:tabLst>
                      </a:pPr>
                      <a:r>
                        <a:rPr lang="en-US" sz="1000" b="0" strike="noStrike" spc="-1">
                          <a:solidFill>
                            <a:srgbClr val="666666"/>
                          </a:solidFill>
                          <a:latin typeface="Calibri"/>
                          <a:ea typeface="Calibri"/>
                        </a:rPr>
                        <a:t>Basic device configuration (GUI/CLI)</a:t>
                      </a:r>
                      <a:endParaRPr lang="en-US" sz="1000" b="0" strike="noStrike" spc="-1">
                        <a:solidFill>
                          <a:srgbClr val="FFFFFF"/>
                        </a:solidFill>
                        <a:latin typeface="Arial"/>
                      </a:endParaRPr>
                    </a:p>
                  </a:txBody>
                  <a:tcPr marL="75960" marR="75960">
                    <a:lnL>
                      <a:noFill/>
                    </a:lnL>
                    <a:lnR>
                      <a:noFill/>
                    </a:lnR>
                    <a:lnT>
                      <a:noFill/>
                    </a:lnT>
                    <a:lnB>
                      <a:noFill/>
                    </a:lnB>
                    <a:solidFill>
                      <a:srgbClr val="111111"/>
                    </a:solidFill>
                  </a:tcPr>
                </a:tc>
                <a:extLst>
                  <a:ext uri="{0D108BD9-81ED-4DB2-BD59-A6C34878D82A}">
                    <a16:rowId xmlns:a16="http://schemas.microsoft.com/office/drawing/2014/main" val="10001"/>
                  </a:ext>
                </a:extLst>
              </a:tr>
              <a:tr h="0">
                <a:tc>
                  <a:txBody>
                    <a:bodyPr/>
                    <a:lstStyle/>
                    <a:p>
                      <a:pPr defTabSz="914400">
                        <a:lnSpc>
                          <a:spcPct val="100000"/>
                        </a:lnSpc>
                        <a:tabLst>
                          <a:tab pos="0" algn="l"/>
                        </a:tabLst>
                      </a:pPr>
                      <a:r>
                        <a:rPr lang="en-US" sz="1000" b="0" strike="noStrike" spc="-1">
                          <a:solidFill>
                            <a:srgbClr val="FFFFFF"/>
                          </a:solidFill>
                          <a:latin typeface="Courier New"/>
                          <a:ea typeface="Courier New"/>
                        </a:rPr>
                        <a:t>F5CTSLTM2.06</a:t>
                      </a:r>
                      <a:endParaRPr lang="en-US" sz="1000" b="0" strike="noStrike" spc="-1">
                        <a:solidFill>
                          <a:srgbClr val="FFFFFF"/>
                        </a:solidFill>
                        <a:latin typeface="Arial"/>
                      </a:endParaRPr>
                    </a:p>
                  </a:txBody>
                  <a:tcPr marL="75960" marR="75960">
                    <a:lnL>
                      <a:noFill/>
                    </a:lnL>
                    <a:lnR>
                      <a:noFill/>
                    </a:lnR>
                    <a:lnT>
                      <a:noFill/>
                    </a:lnT>
                    <a:lnB>
                      <a:noFill/>
                    </a:lnB>
                    <a:solidFill>
                      <a:srgbClr val="1A1A1A"/>
                    </a:solidFill>
                  </a:tcPr>
                </a:tc>
                <a:tc>
                  <a:txBody>
                    <a:bodyPr/>
                    <a:lstStyle/>
                    <a:p>
                      <a:pPr algn="ctr" defTabSz="914400">
                        <a:lnSpc>
                          <a:spcPct val="100000"/>
                        </a:lnSpc>
                        <a:tabLst>
                          <a:tab pos="0" algn="l"/>
                        </a:tabLst>
                      </a:pPr>
                      <a:r>
                        <a:rPr lang="en-US" sz="1000" b="1" strike="noStrike" spc="-1">
                          <a:solidFill>
                            <a:srgbClr val="60A5FA"/>
                          </a:solidFill>
                          <a:latin typeface="Calibri"/>
                          <a:ea typeface="Calibri"/>
                        </a:rPr>
                        <a:t>R</a:t>
                      </a:r>
                      <a:endParaRPr lang="en-US" sz="1000" b="0" strike="noStrike" spc="-1">
                        <a:solidFill>
                          <a:srgbClr val="FFFFFF"/>
                        </a:solidFill>
                        <a:latin typeface="Arial"/>
                      </a:endParaRPr>
                    </a:p>
                  </a:txBody>
                  <a:tcPr marL="75960" marR="75960">
                    <a:lnL>
                      <a:noFill/>
                    </a:lnL>
                    <a:lnR>
                      <a:noFill/>
                    </a:lnR>
                    <a:lnT>
                      <a:noFill/>
                    </a:lnT>
                    <a:lnB>
                      <a:noFill/>
                    </a:lnB>
                    <a:solidFill>
                      <a:srgbClr val="1A1A1A"/>
                    </a:solidFill>
                  </a:tcPr>
                </a:tc>
                <a:tc>
                  <a:txBody>
                    <a:bodyPr/>
                    <a:lstStyle/>
                    <a:p>
                      <a:pPr defTabSz="914400">
                        <a:lnSpc>
                          <a:spcPct val="100000"/>
                        </a:lnSpc>
                        <a:tabLst>
                          <a:tab pos="0" algn="l"/>
                        </a:tabLst>
                      </a:pPr>
                      <a:r>
                        <a:rPr lang="en-US" sz="1000" b="0" strike="noStrike" spc="-1">
                          <a:solidFill>
                            <a:srgbClr val="666666"/>
                          </a:solidFill>
                          <a:latin typeface="Calibri"/>
                          <a:ea typeface="Calibri"/>
                        </a:rPr>
                        <a:t>Original client IP / SNAT / X-Forwarded-For</a:t>
                      </a:r>
                      <a:endParaRPr lang="en-US" sz="1000" b="0" strike="noStrike" spc="-1">
                        <a:solidFill>
                          <a:srgbClr val="FFFFFF"/>
                        </a:solidFill>
                        <a:latin typeface="Arial"/>
                      </a:endParaRPr>
                    </a:p>
                  </a:txBody>
                  <a:tcPr marL="75960" marR="75960">
                    <a:lnL>
                      <a:noFill/>
                    </a:lnL>
                    <a:lnR>
                      <a:noFill/>
                    </a:lnR>
                    <a:lnT>
                      <a:noFill/>
                    </a:lnT>
                    <a:lnB>
                      <a:noFill/>
                    </a:lnB>
                    <a:solidFill>
                      <a:srgbClr val="1A1A1A"/>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6"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67"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68"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69"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70"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71"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9    © 2026 F5</a:t>
            </a:r>
            <a:endParaRPr lang="en-US" sz="800" b="0" strike="noStrike" spc="-1">
              <a:solidFill>
                <a:srgbClr val="000000"/>
              </a:solidFill>
              <a:latin typeface="Arial"/>
            </a:endParaRPr>
          </a:p>
        </p:txBody>
      </p:sp>
      <p:pic>
        <p:nvPicPr>
          <p:cNvPr id="172" name="Image 0" descr="preencoded.png"/>
          <p:cNvPicPr/>
          <p:nvPr/>
        </p:nvPicPr>
        <p:blipFill>
          <a:blip r:embed="rId3"/>
          <a:stretch/>
        </p:blipFill>
        <p:spPr>
          <a:xfrm>
            <a:off x="8458200" y="4663440"/>
            <a:ext cx="383760" cy="383760"/>
          </a:xfrm>
          <a:prstGeom prst="rect">
            <a:avLst/>
          </a:prstGeom>
          <a:ln w="0">
            <a:noFill/>
          </a:ln>
        </p:spPr>
      </p:pic>
      <p:sp>
        <p:nvSpPr>
          <p:cNvPr id="173" name="Text 6"/>
          <p:cNvSpPr/>
          <p:nvPr/>
        </p:nvSpPr>
        <p:spPr>
          <a:xfrm>
            <a:off x="457200" y="274320"/>
            <a:ext cx="822924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LTM configuration object hierarchy</a:t>
            </a:r>
            <a:endParaRPr lang="en-US" sz="2800" b="0" strike="noStrike" spc="-1">
              <a:solidFill>
                <a:srgbClr val="000000"/>
              </a:solidFill>
              <a:latin typeface="Arial"/>
            </a:endParaRPr>
          </a:p>
        </p:txBody>
      </p:sp>
      <p:sp>
        <p:nvSpPr>
          <p:cNvPr id="174" name="Text 7"/>
          <p:cNvSpPr/>
          <p:nvPr/>
        </p:nvSpPr>
        <p:spPr>
          <a:xfrm>
            <a:off x="457200" y="77724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strike="noStrike" spc="-1">
                <a:solidFill>
                  <a:srgbClr val="666666"/>
                </a:solidFill>
                <a:latin typeface="Calibri"/>
                <a:ea typeface="Calibri"/>
              </a:rPr>
              <a:t>Every application deployment follows this dependency chain</a:t>
            </a:r>
            <a:endParaRPr lang="en-US" sz="1400" b="0" strike="noStrike" spc="-1">
              <a:solidFill>
                <a:srgbClr val="000000"/>
              </a:solidFill>
              <a:latin typeface="Arial"/>
            </a:endParaRPr>
          </a:p>
        </p:txBody>
      </p:sp>
      <p:sp>
        <p:nvSpPr>
          <p:cNvPr id="175" name="Shape 8"/>
          <p:cNvSpPr/>
          <p:nvPr/>
        </p:nvSpPr>
        <p:spPr>
          <a:xfrm>
            <a:off x="1097280" y="1325880"/>
            <a:ext cx="3474360" cy="54828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76" name="Text 9"/>
          <p:cNvSpPr/>
          <p:nvPr/>
        </p:nvSpPr>
        <p:spPr>
          <a:xfrm>
            <a:off x="1280160" y="1344240"/>
            <a:ext cx="31086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strike="noStrike" spc="-1">
                <a:solidFill>
                  <a:srgbClr val="FFFFFF"/>
                </a:solidFill>
                <a:latin typeface="Arial"/>
                <a:ea typeface="Arial"/>
              </a:rPr>
              <a:t>Virtual server</a:t>
            </a:r>
            <a:endParaRPr lang="en-US" sz="1500" b="0" strike="noStrike" spc="-1">
              <a:solidFill>
                <a:srgbClr val="000000"/>
              </a:solidFill>
              <a:latin typeface="Arial"/>
            </a:endParaRPr>
          </a:p>
        </p:txBody>
      </p:sp>
      <p:sp>
        <p:nvSpPr>
          <p:cNvPr id="177" name="Text 10"/>
          <p:cNvSpPr/>
          <p:nvPr/>
        </p:nvSpPr>
        <p:spPr>
          <a:xfrm>
            <a:off x="1280160" y="1618560"/>
            <a:ext cx="310860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CBD5E1"/>
                </a:solidFill>
                <a:latin typeface="Calibri"/>
                <a:ea typeface="Calibri"/>
              </a:rPr>
              <a:t>Listener - receives client traffic</a:t>
            </a:r>
            <a:endParaRPr lang="en-US" sz="1000" b="0" strike="noStrike" spc="-1">
              <a:solidFill>
                <a:srgbClr val="000000"/>
              </a:solidFill>
              <a:latin typeface="Arial"/>
            </a:endParaRPr>
          </a:p>
        </p:txBody>
      </p:sp>
      <p:sp>
        <p:nvSpPr>
          <p:cNvPr id="178" name="Text 11"/>
          <p:cNvSpPr/>
          <p:nvPr/>
        </p:nvSpPr>
        <p:spPr>
          <a:xfrm>
            <a:off x="2606040" y="1874520"/>
            <a:ext cx="45684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0" strike="noStrike" spc="-1">
                <a:solidFill>
                  <a:srgbClr val="D9D9D9"/>
                </a:solidFill>
                <a:latin typeface="Calibri"/>
              </a:rPr>
              <a:t>▼</a:t>
            </a:r>
            <a:endParaRPr lang="en-US" sz="1000" b="0" strike="noStrike" spc="-1">
              <a:solidFill>
                <a:srgbClr val="000000"/>
              </a:solidFill>
              <a:latin typeface="Arial"/>
            </a:endParaRPr>
          </a:p>
        </p:txBody>
      </p:sp>
      <p:sp>
        <p:nvSpPr>
          <p:cNvPr id="179" name="Shape 12"/>
          <p:cNvSpPr/>
          <p:nvPr/>
        </p:nvSpPr>
        <p:spPr>
          <a:xfrm>
            <a:off x="1097280" y="2011680"/>
            <a:ext cx="3474360" cy="54828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80" name="Text 13"/>
          <p:cNvSpPr/>
          <p:nvPr/>
        </p:nvSpPr>
        <p:spPr>
          <a:xfrm>
            <a:off x="1280160" y="2030040"/>
            <a:ext cx="31086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strike="noStrike" spc="-1">
                <a:solidFill>
                  <a:srgbClr val="FFFFFF"/>
                </a:solidFill>
                <a:latin typeface="Arial"/>
                <a:ea typeface="Arial"/>
              </a:rPr>
              <a:t>Profiles</a:t>
            </a:r>
            <a:endParaRPr lang="en-US" sz="1500" b="0" strike="noStrike" spc="-1">
              <a:solidFill>
                <a:srgbClr val="000000"/>
              </a:solidFill>
              <a:latin typeface="Arial"/>
            </a:endParaRPr>
          </a:p>
        </p:txBody>
      </p:sp>
      <p:sp>
        <p:nvSpPr>
          <p:cNvPr id="181" name="Text 14"/>
          <p:cNvSpPr/>
          <p:nvPr/>
        </p:nvSpPr>
        <p:spPr>
          <a:xfrm>
            <a:off x="1280160" y="2304360"/>
            <a:ext cx="310860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CBD5E1"/>
                </a:solidFill>
                <a:latin typeface="Calibri"/>
                <a:ea typeface="Calibri"/>
              </a:rPr>
              <a:t>TCP, HTTP, SSL, persistence, etc.</a:t>
            </a:r>
            <a:endParaRPr lang="en-US" sz="1000" b="0" strike="noStrike" spc="-1">
              <a:solidFill>
                <a:srgbClr val="000000"/>
              </a:solidFill>
              <a:latin typeface="Arial"/>
            </a:endParaRPr>
          </a:p>
        </p:txBody>
      </p:sp>
      <p:sp>
        <p:nvSpPr>
          <p:cNvPr id="182" name="Text 15"/>
          <p:cNvSpPr/>
          <p:nvPr/>
        </p:nvSpPr>
        <p:spPr>
          <a:xfrm>
            <a:off x="2606040" y="2560320"/>
            <a:ext cx="45684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0" strike="noStrike" spc="-1">
                <a:solidFill>
                  <a:srgbClr val="D9D9D9"/>
                </a:solidFill>
                <a:latin typeface="Calibri"/>
              </a:rPr>
              <a:t>▼</a:t>
            </a:r>
            <a:endParaRPr lang="en-US" sz="1000" b="0" strike="noStrike" spc="-1">
              <a:solidFill>
                <a:srgbClr val="000000"/>
              </a:solidFill>
              <a:latin typeface="Arial"/>
            </a:endParaRPr>
          </a:p>
        </p:txBody>
      </p:sp>
      <p:sp>
        <p:nvSpPr>
          <p:cNvPr id="183" name="Shape 16"/>
          <p:cNvSpPr/>
          <p:nvPr/>
        </p:nvSpPr>
        <p:spPr>
          <a:xfrm>
            <a:off x="1097280" y="2697480"/>
            <a:ext cx="3474360" cy="548280"/>
          </a:xfrm>
          <a:prstGeom prst="rect">
            <a:avLst/>
          </a:prstGeom>
          <a:solidFill>
            <a:srgbClr val="00963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84" name="Text 17"/>
          <p:cNvSpPr/>
          <p:nvPr/>
        </p:nvSpPr>
        <p:spPr>
          <a:xfrm>
            <a:off x="1280160" y="2715840"/>
            <a:ext cx="31086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strike="noStrike" spc="-1">
                <a:solidFill>
                  <a:srgbClr val="FFFFFF"/>
                </a:solidFill>
                <a:latin typeface="Arial"/>
                <a:ea typeface="Arial"/>
              </a:rPr>
              <a:t>Pool</a:t>
            </a:r>
            <a:endParaRPr lang="en-US" sz="1500" b="0" strike="noStrike" spc="-1">
              <a:solidFill>
                <a:srgbClr val="000000"/>
              </a:solidFill>
              <a:latin typeface="Arial"/>
            </a:endParaRPr>
          </a:p>
        </p:txBody>
      </p:sp>
      <p:sp>
        <p:nvSpPr>
          <p:cNvPr id="185" name="Text 18"/>
          <p:cNvSpPr/>
          <p:nvPr/>
        </p:nvSpPr>
        <p:spPr>
          <a:xfrm>
            <a:off x="1280160" y="2990160"/>
            <a:ext cx="310860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CBD5E1"/>
                </a:solidFill>
                <a:latin typeface="Calibri"/>
                <a:ea typeface="Calibri"/>
              </a:rPr>
              <a:t>Group of backend servers + health monitor</a:t>
            </a:r>
            <a:endParaRPr lang="en-US" sz="1000" b="0" strike="noStrike" spc="-1">
              <a:solidFill>
                <a:srgbClr val="000000"/>
              </a:solidFill>
              <a:latin typeface="Arial"/>
            </a:endParaRPr>
          </a:p>
        </p:txBody>
      </p:sp>
      <p:sp>
        <p:nvSpPr>
          <p:cNvPr id="186" name="Text 19"/>
          <p:cNvSpPr/>
          <p:nvPr/>
        </p:nvSpPr>
        <p:spPr>
          <a:xfrm>
            <a:off x="2606040" y="3246120"/>
            <a:ext cx="45684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0" strike="noStrike" spc="-1">
                <a:solidFill>
                  <a:srgbClr val="D9D9D9"/>
                </a:solidFill>
                <a:latin typeface="Calibri"/>
              </a:rPr>
              <a:t>▼</a:t>
            </a:r>
            <a:endParaRPr lang="en-US" sz="1000" b="0" strike="noStrike" spc="-1">
              <a:solidFill>
                <a:srgbClr val="000000"/>
              </a:solidFill>
              <a:latin typeface="Arial"/>
            </a:endParaRPr>
          </a:p>
        </p:txBody>
      </p:sp>
      <p:sp>
        <p:nvSpPr>
          <p:cNvPr id="187" name="Shape 20"/>
          <p:cNvSpPr/>
          <p:nvPr/>
        </p:nvSpPr>
        <p:spPr>
          <a:xfrm>
            <a:off x="1097280" y="3383280"/>
            <a:ext cx="3474360" cy="548280"/>
          </a:xfrm>
          <a:prstGeom prst="rect">
            <a:avLst/>
          </a:prstGeom>
          <a:solidFill>
            <a:srgbClr val="33333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88" name="Text 21"/>
          <p:cNvSpPr/>
          <p:nvPr/>
        </p:nvSpPr>
        <p:spPr>
          <a:xfrm>
            <a:off x="1280160" y="3401640"/>
            <a:ext cx="31086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strike="noStrike" spc="-1">
                <a:solidFill>
                  <a:srgbClr val="FFFFFF"/>
                </a:solidFill>
                <a:latin typeface="Arial"/>
                <a:ea typeface="Arial"/>
              </a:rPr>
              <a:t>Nodes</a:t>
            </a:r>
            <a:endParaRPr lang="en-US" sz="1500" b="0" strike="noStrike" spc="-1">
              <a:solidFill>
                <a:srgbClr val="000000"/>
              </a:solidFill>
              <a:latin typeface="Arial"/>
            </a:endParaRPr>
          </a:p>
        </p:txBody>
      </p:sp>
      <p:sp>
        <p:nvSpPr>
          <p:cNvPr id="189" name="Text 22"/>
          <p:cNvSpPr/>
          <p:nvPr/>
        </p:nvSpPr>
        <p:spPr>
          <a:xfrm>
            <a:off x="1280160" y="3675960"/>
            <a:ext cx="310860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CBD5E1"/>
                </a:solidFill>
                <a:latin typeface="Calibri"/>
                <a:ea typeface="Calibri"/>
              </a:rPr>
              <a:t>Individual server IP addresses</a:t>
            </a:r>
            <a:endParaRPr lang="en-US" sz="1000" b="0" strike="noStrike" spc="-1">
              <a:solidFill>
                <a:srgbClr val="000000"/>
              </a:solidFill>
              <a:latin typeface="Arial"/>
            </a:endParaRPr>
          </a:p>
        </p:txBody>
      </p:sp>
      <p:sp>
        <p:nvSpPr>
          <p:cNvPr id="190" name="Text 23"/>
          <p:cNvSpPr/>
          <p:nvPr/>
        </p:nvSpPr>
        <p:spPr>
          <a:xfrm>
            <a:off x="5029200" y="1325880"/>
            <a:ext cx="36572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strike="noStrike" spc="-1">
                <a:solidFill>
                  <a:srgbClr val="0E41AA"/>
                </a:solidFill>
                <a:latin typeface="Arial"/>
                <a:ea typeface="Arial"/>
              </a:rPr>
              <a:t>Key dependencies</a:t>
            </a:r>
            <a:endParaRPr lang="en-US" sz="1600" b="0" strike="noStrike" spc="-1">
              <a:solidFill>
                <a:srgbClr val="000000"/>
              </a:solidFill>
              <a:latin typeface="Arial"/>
            </a:endParaRPr>
          </a:p>
        </p:txBody>
      </p:sp>
      <p:sp>
        <p:nvSpPr>
          <p:cNvPr id="191" name="Text 24"/>
          <p:cNvSpPr/>
          <p:nvPr/>
        </p:nvSpPr>
        <p:spPr>
          <a:xfrm>
            <a:off x="5029200" y="1691640"/>
            <a:ext cx="3840120" cy="2742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3080" indent="-343080" defTabSz="914400">
              <a:lnSpc>
                <a:spcPct val="100000"/>
              </a:lnSpc>
              <a:buClr>
                <a:srgbClr val="333333"/>
              </a:buClr>
              <a:buFont typeface="Symbol" charset="2"/>
              <a:buChar char=""/>
            </a:pPr>
            <a:r>
              <a:rPr lang="en-US" sz="1100" b="0" strike="noStrike" spc="-1">
                <a:solidFill>
                  <a:srgbClr val="333333"/>
                </a:solidFill>
                <a:latin typeface="Calibri"/>
                <a:ea typeface="Calibri"/>
              </a:rPr>
              <a:t>A virtual server requires at least one protocol profile (TCP or UDP) to function. Without it, the VS cannot process traffic.</a:t>
            </a:r>
            <a:endParaRPr lang="en-US" sz="1100" b="0" strike="noStrike" spc="-1">
              <a:solidFill>
                <a:srgbClr val="000000"/>
              </a:solidFill>
              <a:latin typeface="Arial"/>
            </a:endParaRPr>
          </a:p>
          <a:p>
            <a:pPr defTabSz="914400">
              <a:lnSpc>
                <a:spcPct val="100000"/>
              </a:lnSpc>
              <a:tabLst>
                <a:tab pos="0" algn="l"/>
              </a:tabLst>
            </a:pPr>
            <a:endParaRPr lang="en-US" sz="1100" b="0" strike="noStrike" spc="-1">
              <a:solidFill>
                <a:srgbClr val="000000"/>
              </a:solidFill>
              <a:latin typeface="Arial"/>
            </a:endParaRPr>
          </a:p>
          <a:p>
            <a:pPr marL="343080" indent="-343080" defTabSz="914400">
              <a:lnSpc>
                <a:spcPct val="100000"/>
              </a:lnSpc>
              <a:buClr>
                <a:srgbClr val="333333"/>
              </a:buClr>
              <a:buFont typeface="Symbol" charset="2"/>
              <a:buChar char=""/>
              <a:tabLst>
                <a:tab pos="0" algn="l"/>
              </a:tabLst>
            </a:pPr>
            <a:r>
              <a:rPr lang="en-US" sz="1100" b="0" strike="noStrike" spc="-1">
                <a:solidFill>
                  <a:srgbClr val="333333"/>
                </a:solidFill>
                <a:latin typeface="Calibri"/>
                <a:ea typeface="Calibri"/>
              </a:rPr>
              <a:t>Pools reference nodes. Deleting a node IP removes it from every pool that contains it as a member.</a:t>
            </a:r>
            <a:endParaRPr lang="en-US" sz="1100" b="0" strike="noStrike" spc="-1">
              <a:solidFill>
                <a:srgbClr val="000000"/>
              </a:solidFill>
              <a:latin typeface="Arial"/>
            </a:endParaRPr>
          </a:p>
          <a:p>
            <a:pPr defTabSz="914400">
              <a:lnSpc>
                <a:spcPct val="100000"/>
              </a:lnSpc>
              <a:tabLst>
                <a:tab pos="0" algn="l"/>
              </a:tabLst>
            </a:pPr>
            <a:endParaRPr lang="en-US" sz="1100" b="0" strike="noStrike" spc="-1">
              <a:solidFill>
                <a:srgbClr val="000000"/>
              </a:solidFill>
              <a:latin typeface="Arial"/>
            </a:endParaRPr>
          </a:p>
          <a:p>
            <a:pPr marL="343080" indent="-343080" defTabSz="914400">
              <a:lnSpc>
                <a:spcPct val="100000"/>
              </a:lnSpc>
              <a:buClr>
                <a:srgbClr val="333333"/>
              </a:buClr>
              <a:buFont typeface="Symbol" charset="2"/>
              <a:buChar char=""/>
              <a:tabLst>
                <a:tab pos="0" algn="l"/>
              </a:tabLst>
            </a:pPr>
            <a:r>
              <a:rPr lang="en-US" sz="1100" b="0" strike="noStrike" spc="-1">
                <a:solidFill>
                  <a:srgbClr val="333333"/>
                </a:solidFill>
                <a:latin typeface="Calibri"/>
                <a:ea typeface="Calibri"/>
              </a:rPr>
              <a:t>Health monitors attach to pools or individual pool members, never directly to virtual servers.</a:t>
            </a:r>
            <a:endParaRPr lang="en-US" sz="1100" b="0" strike="noStrike" spc="-1">
              <a:solidFill>
                <a:srgbClr val="000000"/>
              </a:solidFill>
              <a:latin typeface="Arial"/>
            </a:endParaRPr>
          </a:p>
          <a:p>
            <a:pPr defTabSz="914400">
              <a:lnSpc>
                <a:spcPct val="100000"/>
              </a:lnSpc>
              <a:tabLst>
                <a:tab pos="0" algn="l"/>
              </a:tabLst>
            </a:pPr>
            <a:endParaRPr lang="en-US" sz="1100" b="0" strike="noStrike" spc="-1">
              <a:solidFill>
                <a:srgbClr val="000000"/>
              </a:solidFill>
              <a:latin typeface="Arial"/>
            </a:endParaRPr>
          </a:p>
          <a:p>
            <a:pPr marL="343080" indent="-343080" defTabSz="914400">
              <a:lnSpc>
                <a:spcPct val="100000"/>
              </a:lnSpc>
              <a:buClr>
                <a:srgbClr val="333333"/>
              </a:buClr>
              <a:buFont typeface="Symbol" charset="2"/>
              <a:buChar char=""/>
              <a:tabLst>
                <a:tab pos="0" algn="l"/>
              </a:tabLst>
            </a:pPr>
            <a:r>
              <a:rPr lang="en-US" sz="1100" b="0" strike="noStrike" spc="-1">
                <a:solidFill>
                  <a:srgbClr val="333333"/>
                </a:solidFill>
                <a:latin typeface="Calibri"/>
                <a:ea typeface="Calibri"/>
              </a:rPr>
              <a:t>A virtual address object is auto-created when you create a virtual server. It controls ARP, ICMP, and route advertisement for the VS IP.</a:t>
            </a:r>
            <a:endParaRPr lang="en-US" sz="1100" b="0" strike="noStrike" spc="-1">
              <a:solidFill>
                <a:srgbClr val="000000"/>
              </a:solidFill>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2"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93"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94"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95"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96"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97"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10    © 2026 F5</a:t>
            </a:r>
            <a:endParaRPr lang="en-US" sz="800" b="0" strike="noStrike" spc="-1">
              <a:solidFill>
                <a:srgbClr val="000000"/>
              </a:solidFill>
              <a:latin typeface="Arial"/>
            </a:endParaRPr>
          </a:p>
        </p:txBody>
      </p:sp>
      <p:pic>
        <p:nvPicPr>
          <p:cNvPr id="198" name="Image 0" descr="preencoded.png"/>
          <p:cNvPicPr/>
          <p:nvPr/>
        </p:nvPicPr>
        <p:blipFill>
          <a:blip r:embed="rId3"/>
          <a:stretch/>
        </p:blipFill>
        <p:spPr>
          <a:xfrm>
            <a:off x="8458200" y="4663440"/>
            <a:ext cx="383760" cy="383760"/>
          </a:xfrm>
          <a:prstGeom prst="rect">
            <a:avLst/>
          </a:prstGeom>
          <a:ln w="0">
            <a:noFill/>
          </a:ln>
        </p:spPr>
      </p:pic>
      <p:sp>
        <p:nvSpPr>
          <p:cNvPr id="199" name="Text 6"/>
          <p:cNvSpPr/>
          <p:nvPr/>
        </p:nvSpPr>
        <p:spPr>
          <a:xfrm>
            <a:off x="457200" y="274320"/>
            <a:ext cx="822924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Deployment types</a:t>
            </a:r>
            <a:endParaRPr lang="en-US" sz="2800" b="0" strike="noStrike" spc="-1">
              <a:solidFill>
                <a:srgbClr val="000000"/>
              </a:solidFill>
              <a:latin typeface="Arial"/>
            </a:endParaRPr>
          </a:p>
        </p:txBody>
      </p:sp>
      <p:sp>
        <p:nvSpPr>
          <p:cNvPr id="200" name="Text 7"/>
          <p:cNvSpPr/>
          <p:nvPr/>
        </p:nvSpPr>
        <p:spPr>
          <a:xfrm>
            <a:off x="457200" y="77724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strike="noStrike" spc="-1">
                <a:solidFill>
                  <a:srgbClr val="666666"/>
                </a:solidFill>
                <a:latin typeface="Calibri"/>
                <a:ea typeface="Calibri"/>
              </a:rPr>
              <a:t>How the BIG-IP sits in the network determines traffic processing and IP address behavior</a:t>
            </a:r>
            <a:endParaRPr lang="en-US" sz="1400" b="0" strike="noStrike" spc="-1">
              <a:solidFill>
                <a:srgbClr val="000000"/>
              </a:solidFill>
              <a:latin typeface="Arial"/>
            </a:endParaRPr>
          </a:p>
        </p:txBody>
      </p:sp>
      <p:sp>
        <p:nvSpPr>
          <p:cNvPr id="201" name="Shape 8"/>
          <p:cNvSpPr/>
          <p:nvPr/>
        </p:nvSpPr>
        <p:spPr>
          <a:xfrm>
            <a:off x="365760" y="1280160"/>
            <a:ext cx="2697120" cy="45684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02" name="Text 9"/>
          <p:cNvSpPr/>
          <p:nvPr/>
        </p:nvSpPr>
        <p:spPr>
          <a:xfrm>
            <a:off x="365760" y="1280160"/>
            <a:ext cx="26971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strike="noStrike" spc="-1">
                <a:solidFill>
                  <a:srgbClr val="FFFFFF"/>
                </a:solidFill>
                <a:latin typeface="Arial"/>
                <a:ea typeface="Arial"/>
              </a:rPr>
              <a:t>One-arm</a:t>
            </a:r>
            <a:endParaRPr lang="en-US" sz="1800" b="0" strike="noStrike" spc="-1">
              <a:solidFill>
                <a:srgbClr val="000000"/>
              </a:solidFill>
              <a:latin typeface="Arial"/>
            </a:endParaRPr>
          </a:p>
        </p:txBody>
      </p:sp>
      <p:sp>
        <p:nvSpPr>
          <p:cNvPr id="203" name="Shape 10"/>
          <p:cNvSpPr/>
          <p:nvPr/>
        </p:nvSpPr>
        <p:spPr>
          <a:xfrm>
            <a:off x="365760" y="1737360"/>
            <a:ext cx="2697120" cy="191988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04" name="Text 11"/>
          <p:cNvSpPr/>
          <p:nvPr/>
        </p:nvSpPr>
        <p:spPr>
          <a:xfrm>
            <a:off x="502920" y="1783080"/>
            <a:ext cx="2422800" cy="1279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100" b="0" strike="noStrike" spc="-1">
                <a:solidFill>
                  <a:srgbClr val="333333"/>
                </a:solidFill>
                <a:latin typeface="Calibri"/>
                <a:ea typeface="Calibri"/>
              </a:rPr>
              <a:t>BIG-IP connects to a single network segment shared by clients and servers. All traffic enters and exits through the same interface.</a:t>
            </a:r>
            <a:endParaRPr lang="en-US" sz="1100" b="0" strike="noStrike" spc="-1">
              <a:solidFill>
                <a:srgbClr val="000000"/>
              </a:solidFill>
              <a:latin typeface="Arial"/>
            </a:endParaRPr>
          </a:p>
        </p:txBody>
      </p:sp>
      <p:sp>
        <p:nvSpPr>
          <p:cNvPr id="205" name="Text 12"/>
          <p:cNvSpPr/>
          <p:nvPr/>
        </p:nvSpPr>
        <p:spPr>
          <a:xfrm>
            <a:off x="502920" y="3108960"/>
            <a:ext cx="24228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
                <a:solidFill>
                  <a:srgbClr val="0E41AA"/>
                </a:solidFill>
                <a:latin typeface="Calibri"/>
                <a:ea typeface="Calibri"/>
              </a:rPr>
              <a:t>SNAT required</a:t>
            </a:r>
            <a:endParaRPr lang="en-US" sz="1200" b="0" strike="noStrike" spc="-1">
              <a:solidFill>
                <a:srgbClr val="000000"/>
              </a:solidFill>
              <a:latin typeface="Arial"/>
            </a:endParaRPr>
          </a:p>
        </p:txBody>
      </p:sp>
      <p:sp>
        <p:nvSpPr>
          <p:cNvPr id="206" name="Shape 13"/>
          <p:cNvSpPr/>
          <p:nvPr/>
        </p:nvSpPr>
        <p:spPr>
          <a:xfrm>
            <a:off x="3200400" y="1280160"/>
            <a:ext cx="2697120" cy="45684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07" name="Text 14"/>
          <p:cNvSpPr/>
          <p:nvPr/>
        </p:nvSpPr>
        <p:spPr>
          <a:xfrm>
            <a:off x="3200400" y="1280160"/>
            <a:ext cx="26971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strike="noStrike" spc="-1">
                <a:solidFill>
                  <a:srgbClr val="FFFFFF"/>
                </a:solidFill>
                <a:latin typeface="Arial"/>
                <a:ea typeface="Arial"/>
              </a:rPr>
              <a:t>Two-arm</a:t>
            </a:r>
            <a:endParaRPr lang="en-US" sz="1800" b="0" strike="noStrike" spc="-1">
              <a:solidFill>
                <a:srgbClr val="000000"/>
              </a:solidFill>
              <a:latin typeface="Arial"/>
            </a:endParaRPr>
          </a:p>
        </p:txBody>
      </p:sp>
      <p:sp>
        <p:nvSpPr>
          <p:cNvPr id="208" name="Shape 15"/>
          <p:cNvSpPr/>
          <p:nvPr/>
        </p:nvSpPr>
        <p:spPr>
          <a:xfrm>
            <a:off x="3200400" y="1737360"/>
            <a:ext cx="2697120" cy="191988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09" name="Text 16"/>
          <p:cNvSpPr/>
          <p:nvPr/>
        </p:nvSpPr>
        <p:spPr>
          <a:xfrm>
            <a:off x="3337560" y="1783080"/>
            <a:ext cx="2422800" cy="1279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100" b="0" strike="noStrike" spc="-1">
                <a:solidFill>
                  <a:srgbClr val="333333"/>
                </a:solidFill>
                <a:latin typeface="Calibri"/>
                <a:ea typeface="Calibri"/>
              </a:rPr>
              <a:t>BIG-IP sits between separate client and server networks, routing traffic between VLANs. Most common enterprise deployment.</a:t>
            </a:r>
            <a:endParaRPr lang="en-US" sz="1100" b="0" strike="noStrike" spc="-1">
              <a:solidFill>
                <a:srgbClr val="000000"/>
              </a:solidFill>
              <a:latin typeface="Arial"/>
            </a:endParaRPr>
          </a:p>
        </p:txBody>
      </p:sp>
      <p:sp>
        <p:nvSpPr>
          <p:cNvPr id="210" name="Text 17"/>
          <p:cNvSpPr/>
          <p:nvPr/>
        </p:nvSpPr>
        <p:spPr>
          <a:xfrm>
            <a:off x="3337560" y="3108960"/>
            <a:ext cx="24228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
                <a:solidFill>
                  <a:srgbClr val="61228B"/>
                </a:solidFill>
                <a:latin typeface="Calibri"/>
                <a:ea typeface="Calibri"/>
              </a:rPr>
              <a:t>SNAT or routing</a:t>
            </a:r>
            <a:endParaRPr lang="en-US" sz="1200" b="0" strike="noStrike" spc="-1">
              <a:solidFill>
                <a:srgbClr val="000000"/>
              </a:solidFill>
              <a:latin typeface="Arial"/>
            </a:endParaRPr>
          </a:p>
        </p:txBody>
      </p:sp>
      <p:sp>
        <p:nvSpPr>
          <p:cNvPr id="211" name="Shape 18"/>
          <p:cNvSpPr/>
          <p:nvPr/>
        </p:nvSpPr>
        <p:spPr>
          <a:xfrm>
            <a:off x="6035040" y="1280160"/>
            <a:ext cx="2697120" cy="456840"/>
          </a:xfrm>
          <a:prstGeom prst="rect">
            <a:avLst/>
          </a:prstGeom>
          <a:solidFill>
            <a:srgbClr val="00963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12" name="Text 19"/>
          <p:cNvSpPr/>
          <p:nvPr/>
        </p:nvSpPr>
        <p:spPr>
          <a:xfrm>
            <a:off x="6035040" y="1280160"/>
            <a:ext cx="26971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strike="noStrike" spc="-1">
                <a:solidFill>
                  <a:srgbClr val="FFFFFF"/>
                </a:solidFill>
                <a:latin typeface="Arial"/>
                <a:ea typeface="Arial"/>
              </a:rPr>
              <a:t>nPath / DSR</a:t>
            </a:r>
            <a:endParaRPr lang="en-US" sz="1800" b="0" strike="noStrike" spc="-1">
              <a:solidFill>
                <a:srgbClr val="000000"/>
              </a:solidFill>
              <a:latin typeface="Arial"/>
            </a:endParaRPr>
          </a:p>
        </p:txBody>
      </p:sp>
      <p:sp>
        <p:nvSpPr>
          <p:cNvPr id="213" name="Shape 20"/>
          <p:cNvSpPr/>
          <p:nvPr/>
        </p:nvSpPr>
        <p:spPr>
          <a:xfrm>
            <a:off x="6035040" y="1737360"/>
            <a:ext cx="2697120" cy="191988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14" name="Text 21"/>
          <p:cNvSpPr/>
          <p:nvPr/>
        </p:nvSpPr>
        <p:spPr>
          <a:xfrm>
            <a:off x="6172200" y="1783080"/>
            <a:ext cx="2422800" cy="1279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100" b="0" strike="noStrike" spc="-1">
                <a:solidFill>
                  <a:srgbClr val="333333"/>
                </a:solidFill>
                <a:latin typeface="Calibri"/>
                <a:ea typeface="Calibri"/>
              </a:rPr>
              <a:t>BIG-IP only handles inbound traffic. Servers respond directly to clients, bypassing the BIG-IP on the return path.</a:t>
            </a:r>
            <a:endParaRPr lang="en-US" sz="1100" b="0" strike="noStrike" spc="-1">
              <a:solidFill>
                <a:srgbClr val="000000"/>
              </a:solidFill>
              <a:latin typeface="Arial"/>
            </a:endParaRPr>
          </a:p>
        </p:txBody>
      </p:sp>
      <p:sp>
        <p:nvSpPr>
          <p:cNvPr id="215" name="Text 22"/>
          <p:cNvSpPr/>
          <p:nvPr/>
        </p:nvSpPr>
        <p:spPr>
          <a:xfrm>
            <a:off x="6172200" y="3108960"/>
            <a:ext cx="24228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
                <a:solidFill>
                  <a:srgbClr val="009639"/>
                </a:solidFill>
                <a:latin typeface="Calibri"/>
                <a:ea typeface="Calibri"/>
              </a:rPr>
              <a:t>No SNAT</a:t>
            </a:r>
            <a:endParaRPr lang="en-US" sz="1200" b="0" strike="noStrike" spc="-1">
              <a:solidFill>
                <a:srgbClr val="000000"/>
              </a:solidFill>
              <a:latin typeface="Arial"/>
            </a:endParaRPr>
          </a:p>
        </p:txBody>
      </p:sp>
      <p:sp>
        <p:nvSpPr>
          <p:cNvPr id="216" name="Shape 23"/>
          <p:cNvSpPr/>
          <p:nvPr/>
        </p:nvSpPr>
        <p:spPr>
          <a:xfrm>
            <a:off x="365760" y="3840480"/>
            <a:ext cx="8412120" cy="548280"/>
          </a:xfrm>
          <a:prstGeom prst="rect">
            <a:avLst/>
          </a:prstGeom>
          <a:solidFill>
            <a:srgbClr val="FFF3E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17" name="Text 24"/>
          <p:cNvSpPr/>
          <p:nvPr/>
        </p:nvSpPr>
        <p:spPr>
          <a:xfrm>
            <a:off x="548640" y="3840480"/>
            <a:ext cx="804636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
                <a:solidFill>
                  <a:srgbClr val="F29A36"/>
                </a:solidFill>
                <a:latin typeface="Calibri"/>
                <a:ea typeface="Calibri"/>
              </a:rPr>
              <a:t>Auto last-hop: </a:t>
            </a:r>
            <a:r>
              <a:rPr lang="en-US" sz="1100" b="0" strike="noStrike" spc="-1">
                <a:solidFill>
                  <a:srgbClr val="7A4500"/>
                </a:solidFill>
                <a:latin typeface="Calibri"/>
                <a:ea typeface="Calibri"/>
              </a:rPr>
              <a:t>Ensures return traffic uses the same path it arrived on. Enabled by default. Critical in two-arm and multi-router deployments to prevent asymmetric routing, which causes the BIG-IP to drop return packets it cannot match to a connection.</a:t>
            </a:r>
            <a:endParaRPr lang="en-US" sz="1100" b="0" strike="noStrike" spc="-1">
              <a:solidFill>
                <a:srgbClr val="000000"/>
              </a:solidFill>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8"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19"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20"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21"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22"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23"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11    © 2026 F5</a:t>
            </a:r>
            <a:endParaRPr lang="en-US" sz="800" b="0" strike="noStrike" spc="-1">
              <a:solidFill>
                <a:srgbClr val="000000"/>
              </a:solidFill>
              <a:latin typeface="Arial"/>
            </a:endParaRPr>
          </a:p>
        </p:txBody>
      </p:sp>
      <p:pic>
        <p:nvPicPr>
          <p:cNvPr id="224" name="Image 0" descr="preencoded.png"/>
          <p:cNvPicPr/>
          <p:nvPr/>
        </p:nvPicPr>
        <p:blipFill>
          <a:blip r:embed="rId3"/>
          <a:stretch/>
        </p:blipFill>
        <p:spPr>
          <a:xfrm>
            <a:off x="8458200" y="4663440"/>
            <a:ext cx="383760" cy="383760"/>
          </a:xfrm>
          <a:prstGeom prst="rect">
            <a:avLst/>
          </a:prstGeom>
          <a:ln w="0">
            <a:noFill/>
          </a:ln>
        </p:spPr>
      </p:pic>
      <p:sp>
        <p:nvSpPr>
          <p:cNvPr id="225" name="Text 6"/>
          <p:cNvSpPr/>
          <p:nvPr/>
        </p:nvSpPr>
        <p:spPr>
          <a:xfrm>
            <a:off x="457200" y="274320"/>
            <a:ext cx="64004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One-arm deployment</a:t>
            </a:r>
            <a:endParaRPr lang="en-US" sz="2800" b="0" strike="noStrike" spc="-1">
              <a:solidFill>
                <a:srgbClr val="000000"/>
              </a:solidFill>
              <a:latin typeface="Arial"/>
            </a:endParaRPr>
          </a:p>
        </p:txBody>
      </p:sp>
      <p:sp>
        <p:nvSpPr>
          <p:cNvPr id="226" name="Text 7"/>
          <p:cNvSpPr/>
          <p:nvPr/>
        </p:nvSpPr>
        <p:spPr>
          <a:xfrm>
            <a:off x="457200" y="68580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
                <a:solidFill>
                  <a:srgbClr val="0E41AA"/>
                </a:solidFill>
                <a:latin typeface="Calibri"/>
                <a:ea typeface="Calibri"/>
              </a:rPr>
              <a:t>Single VLAN  |  SNAT required  |  Simplest topology</a:t>
            </a:r>
            <a:endParaRPr lang="en-US" sz="1300" b="0" strike="noStrike" spc="-1">
              <a:solidFill>
                <a:srgbClr val="000000"/>
              </a:solidFill>
              <a:latin typeface="Arial"/>
            </a:endParaRPr>
          </a:p>
        </p:txBody>
      </p:sp>
      <p:sp>
        <p:nvSpPr>
          <p:cNvPr id="227" name="Shape 8"/>
          <p:cNvSpPr/>
          <p:nvPr/>
        </p:nvSpPr>
        <p:spPr>
          <a:xfrm>
            <a:off x="365760" y="1097280"/>
            <a:ext cx="8412120" cy="2559960"/>
          </a:xfrm>
          <a:prstGeom prst="rect">
            <a:avLst/>
          </a:prstGeom>
          <a:solidFill>
            <a:srgbClr val="FAFAFA"/>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28" name="Text 9"/>
          <p:cNvSpPr/>
          <p:nvPr/>
        </p:nvSpPr>
        <p:spPr>
          <a:xfrm>
            <a:off x="548640" y="1143000"/>
            <a:ext cx="36572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strike="noStrike" spc="-1">
                <a:solidFill>
                  <a:srgbClr val="666666"/>
                </a:solidFill>
                <a:latin typeface="Courier New"/>
                <a:ea typeface="Courier New"/>
              </a:rPr>
              <a:t>10.1.10.0/24  (Single VLAN)</a:t>
            </a:r>
            <a:endParaRPr lang="en-US" sz="900" b="0" strike="noStrike" spc="-1">
              <a:solidFill>
                <a:srgbClr val="000000"/>
              </a:solidFill>
              <a:latin typeface="Arial"/>
            </a:endParaRPr>
          </a:p>
        </p:txBody>
      </p:sp>
      <p:sp>
        <p:nvSpPr>
          <p:cNvPr id="229" name="Shape 10"/>
          <p:cNvSpPr/>
          <p:nvPr/>
        </p:nvSpPr>
        <p:spPr>
          <a:xfrm>
            <a:off x="640080" y="1828800"/>
            <a:ext cx="1279800" cy="639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30" name="Text 11"/>
          <p:cNvSpPr/>
          <p:nvPr/>
        </p:nvSpPr>
        <p:spPr>
          <a:xfrm>
            <a:off x="640080" y="1828800"/>
            <a:ext cx="127980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strike="noStrike" spc="-1">
                <a:solidFill>
                  <a:srgbClr val="FFFFFF"/>
                </a:solidFill>
                <a:latin typeface="Arial"/>
                <a:ea typeface="Arial"/>
              </a:rPr>
              <a:t>Client</a:t>
            </a:r>
            <a:endParaRPr lang="en-US" sz="1300" b="0" strike="noStrike" spc="-1">
              <a:solidFill>
                <a:srgbClr val="000000"/>
              </a:solidFill>
              <a:latin typeface="Arial"/>
            </a:endParaRPr>
          </a:p>
        </p:txBody>
      </p:sp>
      <p:sp>
        <p:nvSpPr>
          <p:cNvPr id="231" name="Text 12"/>
          <p:cNvSpPr/>
          <p:nvPr/>
        </p:nvSpPr>
        <p:spPr>
          <a:xfrm>
            <a:off x="640080" y="2487240"/>
            <a:ext cx="127980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0" strike="noStrike" spc="-1">
                <a:solidFill>
                  <a:srgbClr val="0E41AA"/>
                </a:solidFill>
                <a:latin typeface="Courier New"/>
                <a:ea typeface="Courier New"/>
              </a:rPr>
              <a:t>10.1.10.50</a:t>
            </a:r>
            <a:endParaRPr lang="en-US" sz="900" b="0" strike="noStrike" spc="-1">
              <a:solidFill>
                <a:srgbClr val="000000"/>
              </a:solidFill>
              <a:latin typeface="Arial"/>
            </a:endParaRPr>
          </a:p>
        </p:txBody>
      </p:sp>
      <p:sp>
        <p:nvSpPr>
          <p:cNvPr id="232" name="Shape 13"/>
          <p:cNvSpPr/>
          <p:nvPr/>
        </p:nvSpPr>
        <p:spPr>
          <a:xfrm>
            <a:off x="3017520" y="1554480"/>
            <a:ext cx="1645560" cy="91404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33" name="Text 14"/>
          <p:cNvSpPr/>
          <p:nvPr/>
        </p:nvSpPr>
        <p:spPr>
          <a:xfrm>
            <a:off x="3017520" y="1554480"/>
            <a:ext cx="164556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strike="noStrike" spc="-1">
                <a:solidFill>
                  <a:srgbClr val="FFFFFF"/>
                </a:solidFill>
                <a:latin typeface="Arial"/>
                <a:ea typeface="Arial"/>
              </a:rPr>
              <a:t>BIG-IP LTM</a:t>
            </a:r>
            <a:endParaRPr lang="en-US" sz="1300" b="0" strike="noStrike" spc="-1">
              <a:solidFill>
                <a:srgbClr val="000000"/>
              </a:solidFill>
              <a:latin typeface="Arial"/>
            </a:endParaRPr>
          </a:p>
        </p:txBody>
      </p:sp>
      <p:sp>
        <p:nvSpPr>
          <p:cNvPr id="234" name="Text 15"/>
          <p:cNvSpPr/>
          <p:nvPr/>
        </p:nvSpPr>
        <p:spPr>
          <a:xfrm>
            <a:off x="2834640" y="2487240"/>
            <a:ext cx="201132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00" b="0" strike="noStrike" spc="-1">
                <a:solidFill>
                  <a:srgbClr val="E4002B"/>
                </a:solidFill>
                <a:latin typeface="Courier New"/>
                <a:ea typeface="Courier New"/>
              </a:rPr>
              <a:t>VS: 10.1.10.100:80</a:t>
            </a:r>
            <a:endParaRPr lang="en-US" sz="800" b="0" strike="noStrike" spc="-1">
              <a:solidFill>
                <a:srgbClr val="000000"/>
              </a:solidFill>
              <a:latin typeface="Arial"/>
            </a:endParaRPr>
          </a:p>
        </p:txBody>
      </p:sp>
      <p:sp>
        <p:nvSpPr>
          <p:cNvPr id="235" name="Text 16"/>
          <p:cNvSpPr/>
          <p:nvPr/>
        </p:nvSpPr>
        <p:spPr>
          <a:xfrm>
            <a:off x="2834640" y="2651760"/>
            <a:ext cx="201132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00" b="0" strike="noStrike" spc="-1">
                <a:solidFill>
                  <a:srgbClr val="E4002B"/>
                </a:solidFill>
                <a:latin typeface="Courier New"/>
                <a:ea typeface="Courier New"/>
              </a:rPr>
              <a:t>Self: 10.1.10.245</a:t>
            </a:r>
            <a:endParaRPr lang="en-US" sz="800" b="0" strike="noStrike" spc="-1">
              <a:solidFill>
                <a:srgbClr val="000000"/>
              </a:solidFill>
              <a:latin typeface="Arial"/>
            </a:endParaRPr>
          </a:p>
        </p:txBody>
      </p:sp>
      <p:sp>
        <p:nvSpPr>
          <p:cNvPr id="236" name="Shape 17"/>
          <p:cNvSpPr/>
          <p:nvPr/>
        </p:nvSpPr>
        <p:spPr>
          <a:xfrm>
            <a:off x="5943600" y="1463040"/>
            <a:ext cx="1096920" cy="502560"/>
          </a:xfrm>
          <a:prstGeom prst="rect">
            <a:avLst/>
          </a:prstGeom>
          <a:solidFill>
            <a:srgbClr val="33333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37" name="Text 18"/>
          <p:cNvSpPr/>
          <p:nvPr/>
        </p:nvSpPr>
        <p:spPr>
          <a:xfrm>
            <a:off x="5943600" y="1463040"/>
            <a:ext cx="109692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strike="noStrike" spc="-1">
                <a:solidFill>
                  <a:srgbClr val="FFFFFF"/>
                </a:solidFill>
                <a:latin typeface="Arial"/>
                <a:ea typeface="Arial"/>
              </a:rPr>
              <a:t>Server 1</a:t>
            </a:r>
            <a:endParaRPr lang="en-US" sz="1000" b="0" strike="noStrike" spc="-1">
              <a:solidFill>
                <a:srgbClr val="000000"/>
              </a:solidFill>
              <a:latin typeface="Arial"/>
            </a:endParaRPr>
          </a:p>
        </p:txBody>
      </p:sp>
      <p:sp>
        <p:nvSpPr>
          <p:cNvPr id="238" name="Text 19"/>
          <p:cNvSpPr/>
          <p:nvPr/>
        </p:nvSpPr>
        <p:spPr>
          <a:xfrm>
            <a:off x="5943600" y="1984320"/>
            <a:ext cx="109692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00" b="0" strike="noStrike" spc="-1">
                <a:solidFill>
                  <a:srgbClr val="333333"/>
                </a:solidFill>
                <a:latin typeface="Courier New"/>
                <a:ea typeface="Courier New"/>
              </a:rPr>
              <a:t>10.1.10.11</a:t>
            </a:r>
            <a:endParaRPr lang="en-US" sz="800" b="0" strike="noStrike" spc="-1">
              <a:solidFill>
                <a:srgbClr val="000000"/>
              </a:solidFill>
              <a:latin typeface="Arial"/>
            </a:endParaRPr>
          </a:p>
        </p:txBody>
      </p:sp>
      <p:sp>
        <p:nvSpPr>
          <p:cNvPr id="239" name="Shape 20"/>
          <p:cNvSpPr/>
          <p:nvPr/>
        </p:nvSpPr>
        <p:spPr>
          <a:xfrm>
            <a:off x="5943600" y="2286000"/>
            <a:ext cx="1096920" cy="502560"/>
          </a:xfrm>
          <a:prstGeom prst="rect">
            <a:avLst/>
          </a:prstGeom>
          <a:solidFill>
            <a:srgbClr val="33333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40" name="Text 21"/>
          <p:cNvSpPr/>
          <p:nvPr/>
        </p:nvSpPr>
        <p:spPr>
          <a:xfrm>
            <a:off x="5943600" y="2286000"/>
            <a:ext cx="109692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strike="noStrike" spc="-1">
                <a:solidFill>
                  <a:srgbClr val="FFFFFF"/>
                </a:solidFill>
                <a:latin typeface="Arial"/>
                <a:ea typeface="Arial"/>
              </a:rPr>
              <a:t>Server 2</a:t>
            </a:r>
            <a:endParaRPr lang="en-US" sz="1000" b="0" strike="noStrike" spc="-1">
              <a:solidFill>
                <a:srgbClr val="000000"/>
              </a:solidFill>
              <a:latin typeface="Arial"/>
            </a:endParaRPr>
          </a:p>
        </p:txBody>
      </p:sp>
      <p:sp>
        <p:nvSpPr>
          <p:cNvPr id="241" name="Text 22"/>
          <p:cNvSpPr/>
          <p:nvPr/>
        </p:nvSpPr>
        <p:spPr>
          <a:xfrm>
            <a:off x="5943600" y="2807280"/>
            <a:ext cx="109692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00" b="0" strike="noStrike" spc="-1">
                <a:solidFill>
                  <a:srgbClr val="333333"/>
                </a:solidFill>
                <a:latin typeface="Courier New"/>
                <a:ea typeface="Courier New"/>
              </a:rPr>
              <a:t>10.1.10.12</a:t>
            </a:r>
            <a:endParaRPr lang="en-US" sz="800" b="0" strike="noStrike" spc="-1">
              <a:solidFill>
                <a:srgbClr val="000000"/>
              </a:solidFill>
              <a:latin typeface="Arial"/>
            </a:endParaRPr>
          </a:p>
        </p:txBody>
      </p:sp>
      <p:sp>
        <p:nvSpPr>
          <p:cNvPr id="242" name="Shape 23"/>
          <p:cNvSpPr/>
          <p:nvPr/>
        </p:nvSpPr>
        <p:spPr>
          <a:xfrm>
            <a:off x="7315200" y="1874520"/>
            <a:ext cx="1096920" cy="502560"/>
          </a:xfrm>
          <a:prstGeom prst="rect">
            <a:avLst/>
          </a:prstGeom>
          <a:solidFill>
            <a:srgbClr val="33333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43" name="Text 24"/>
          <p:cNvSpPr/>
          <p:nvPr/>
        </p:nvSpPr>
        <p:spPr>
          <a:xfrm>
            <a:off x="7315200" y="1874520"/>
            <a:ext cx="109692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strike="noStrike" spc="-1">
                <a:solidFill>
                  <a:srgbClr val="FFFFFF"/>
                </a:solidFill>
                <a:latin typeface="Arial"/>
                <a:ea typeface="Arial"/>
              </a:rPr>
              <a:t>Server 3</a:t>
            </a:r>
            <a:endParaRPr lang="en-US" sz="1000" b="0" strike="noStrike" spc="-1">
              <a:solidFill>
                <a:srgbClr val="000000"/>
              </a:solidFill>
              <a:latin typeface="Arial"/>
            </a:endParaRPr>
          </a:p>
        </p:txBody>
      </p:sp>
      <p:sp>
        <p:nvSpPr>
          <p:cNvPr id="244" name="Text 25"/>
          <p:cNvSpPr/>
          <p:nvPr/>
        </p:nvSpPr>
        <p:spPr>
          <a:xfrm>
            <a:off x="7315200" y="2395800"/>
            <a:ext cx="109692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00" b="0" strike="noStrike" spc="-1">
                <a:solidFill>
                  <a:srgbClr val="333333"/>
                </a:solidFill>
                <a:latin typeface="Courier New"/>
                <a:ea typeface="Courier New"/>
              </a:rPr>
              <a:t>10.1.10.13</a:t>
            </a:r>
            <a:endParaRPr lang="en-US" sz="800" b="0" strike="noStrike" spc="-1">
              <a:solidFill>
                <a:srgbClr val="000000"/>
              </a:solidFill>
              <a:latin typeface="Arial"/>
            </a:endParaRPr>
          </a:p>
        </p:txBody>
      </p:sp>
      <p:sp>
        <p:nvSpPr>
          <p:cNvPr id="245" name="Shape 26"/>
          <p:cNvSpPr/>
          <p:nvPr/>
        </p:nvSpPr>
        <p:spPr>
          <a:xfrm>
            <a:off x="1965960" y="2084760"/>
            <a:ext cx="1005480" cy="3636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8280" rIns="90000" bIns="-8280" anchor="t">
            <a:noAutofit/>
          </a:bodyPr>
          <a:lstStyle/>
          <a:p>
            <a:pPr defTabSz="914400">
              <a:lnSpc>
                <a:spcPct val="100000"/>
              </a:lnSpc>
            </a:pPr>
            <a:endParaRPr lang="en-US" sz="1800" b="0" strike="noStrike" spc="-1">
              <a:solidFill>
                <a:schemeClr val="dk1"/>
              </a:solidFill>
              <a:latin typeface="Calibri"/>
            </a:endParaRPr>
          </a:p>
        </p:txBody>
      </p:sp>
      <p:sp>
        <p:nvSpPr>
          <p:cNvPr id="246" name="Text 27"/>
          <p:cNvSpPr/>
          <p:nvPr/>
        </p:nvSpPr>
        <p:spPr>
          <a:xfrm>
            <a:off x="2834640" y="1993320"/>
            <a:ext cx="27396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0" strike="noStrike" spc="-1">
                <a:solidFill>
                  <a:srgbClr val="0E41AA"/>
                </a:solidFill>
                <a:latin typeface="Calibri"/>
              </a:rPr>
              <a:t>▶</a:t>
            </a:r>
            <a:endParaRPr lang="en-US" sz="1000" b="0" strike="noStrike" spc="-1">
              <a:solidFill>
                <a:srgbClr val="000000"/>
              </a:solidFill>
              <a:latin typeface="Arial"/>
            </a:endParaRPr>
          </a:p>
        </p:txBody>
      </p:sp>
      <p:sp>
        <p:nvSpPr>
          <p:cNvPr id="247" name="Shape 28"/>
          <p:cNvSpPr/>
          <p:nvPr/>
        </p:nvSpPr>
        <p:spPr>
          <a:xfrm>
            <a:off x="4709160" y="1947600"/>
            <a:ext cx="1188360" cy="3636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8280" rIns="90000" bIns="-8280" anchor="t">
            <a:noAutofit/>
          </a:bodyPr>
          <a:lstStyle/>
          <a:p>
            <a:pPr defTabSz="914400">
              <a:lnSpc>
                <a:spcPct val="100000"/>
              </a:lnSpc>
            </a:pPr>
            <a:endParaRPr lang="en-US" sz="1800" b="0" strike="noStrike" spc="-1">
              <a:solidFill>
                <a:schemeClr val="dk1"/>
              </a:solidFill>
              <a:latin typeface="Calibri"/>
            </a:endParaRPr>
          </a:p>
        </p:txBody>
      </p:sp>
      <p:sp>
        <p:nvSpPr>
          <p:cNvPr id="248" name="Text 29"/>
          <p:cNvSpPr/>
          <p:nvPr/>
        </p:nvSpPr>
        <p:spPr>
          <a:xfrm>
            <a:off x="5760720" y="1856160"/>
            <a:ext cx="27396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0" strike="noStrike" spc="-1">
                <a:solidFill>
                  <a:srgbClr val="E4002B"/>
                </a:solidFill>
                <a:latin typeface="Calibri"/>
              </a:rPr>
              <a:t>▶</a:t>
            </a:r>
            <a:endParaRPr lang="en-US" sz="1000" b="0" strike="noStrike" spc="-1">
              <a:solidFill>
                <a:srgbClr val="000000"/>
              </a:solidFill>
              <a:latin typeface="Arial"/>
            </a:endParaRPr>
          </a:p>
        </p:txBody>
      </p:sp>
      <p:sp>
        <p:nvSpPr>
          <p:cNvPr id="249" name="Shape 30"/>
          <p:cNvSpPr/>
          <p:nvPr/>
        </p:nvSpPr>
        <p:spPr>
          <a:xfrm>
            <a:off x="1965960" y="1417320"/>
            <a:ext cx="1005480" cy="502560"/>
          </a:xfrm>
          <a:prstGeom prst="rect">
            <a:avLst/>
          </a:prstGeom>
          <a:solidFill>
            <a:srgbClr val="E8F0F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50" name="Text 31"/>
          <p:cNvSpPr/>
          <p:nvPr/>
        </p:nvSpPr>
        <p:spPr>
          <a:xfrm>
            <a:off x="1993320" y="1417320"/>
            <a:ext cx="95976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1" strike="noStrike" spc="-1">
                <a:solidFill>
                  <a:srgbClr val="0E41AA"/>
                </a:solidFill>
                <a:latin typeface="Calibri"/>
              </a:rPr>
              <a:t>Request</a:t>
            </a:r>
            <a:endParaRPr lang="en-US" sz="800" b="0" strike="noStrike" spc="-1">
              <a:solidFill>
                <a:srgbClr val="000000"/>
              </a:solidFill>
              <a:latin typeface="Arial"/>
            </a:endParaRPr>
          </a:p>
          <a:p>
            <a:pPr defTabSz="914400">
              <a:lnSpc>
                <a:spcPct val="100000"/>
              </a:lnSpc>
              <a:tabLst>
                <a:tab pos="0" algn="l"/>
              </a:tabLst>
            </a:pPr>
            <a:r>
              <a:rPr lang="en-US" sz="700" b="0" strike="noStrike" spc="-1">
                <a:solidFill>
                  <a:srgbClr val="333333"/>
                </a:solidFill>
                <a:latin typeface="Courier New"/>
                <a:ea typeface="Courier New"/>
              </a:rPr>
              <a:t>Src: 10.1.10.50</a:t>
            </a:r>
            <a:endParaRPr lang="en-US" sz="700" b="0" strike="noStrike" spc="-1">
              <a:solidFill>
                <a:srgbClr val="000000"/>
              </a:solidFill>
              <a:latin typeface="Arial"/>
            </a:endParaRPr>
          </a:p>
          <a:p>
            <a:pPr defTabSz="914400">
              <a:lnSpc>
                <a:spcPct val="100000"/>
              </a:lnSpc>
              <a:tabLst>
                <a:tab pos="0" algn="l"/>
              </a:tabLst>
            </a:pPr>
            <a:r>
              <a:rPr lang="en-US" sz="700" b="0" strike="noStrike" spc="-1">
                <a:solidFill>
                  <a:srgbClr val="333333"/>
                </a:solidFill>
                <a:latin typeface="Courier New"/>
                <a:ea typeface="Courier New"/>
              </a:rPr>
              <a:t>Dst: 10.1.10.100</a:t>
            </a:r>
            <a:endParaRPr lang="en-US" sz="700" b="0" strike="noStrike" spc="-1">
              <a:solidFill>
                <a:srgbClr val="000000"/>
              </a:solidFill>
              <a:latin typeface="Arial"/>
            </a:endParaRPr>
          </a:p>
        </p:txBody>
      </p:sp>
      <p:sp>
        <p:nvSpPr>
          <p:cNvPr id="251" name="Shape 32"/>
          <p:cNvSpPr/>
          <p:nvPr/>
        </p:nvSpPr>
        <p:spPr>
          <a:xfrm>
            <a:off x="4754880" y="1143000"/>
            <a:ext cx="1096920" cy="502560"/>
          </a:xfrm>
          <a:prstGeom prst="rect">
            <a:avLst/>
          </a:prstGeom>
          <a:solidFill>
            <a:srgbClr val="FDE8E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52" name="Text 33"/>
          <p:cNvSpPr/>
          <p:nvPr/>
        </p:nvSpPr>
        <p:spPr>
          <a:xfrm>
            <a:off x="4782240" y="1143000"/>
            <a:ext cx="105120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1" strike="noStrike" spc="-1">
                <a:solidFill>
                  <a:srgbClr val="E4002B"/>
                </a:solidFill>
                <a:latin typeface="Calibri"/>
              </a:rPr>
              <a:t>After SNAT</a:t>
            </a:r>
            <a:endParaRPr lang="en-US" sz="800" b="0" strike="noStrike" spc="-1">
              <a:solidFill>
                <a:srgbClr val="000000"/>
              </a:solidFill>
              <a:latin typeface="Arial"/>
            </a:endParaRPr>
          </a:p>
          <a:p>
            <a:pPr defTabSz="914400">
              <a:lnSpc>
                <a:spcPct val="100000"/>
              </a:lnSpc>
              <a:tabLst>
                <a:tab pos="0" algn="l"/>
              </a:tabLst>
            </a:pPr>
            <a:r>
              <a:rPr lang="en-US" sz="700" b="0" strike="noStrike" spc="-1">
                <a:solidFill>
                  <a:srgbClr val="333333"/>
                </a:solidFill>
                <a:latin typeface="Courier New"/>
                <a:ea typeface="Courier New"/>
              </a:rPr>
              <a:t>Src: 10.1.10.245</a:t>
            </a:r>
            <a:endParaRPr lang="en-US" sz="700" b="0" strike="noStrike" spc="-1">
              <a:solidFill>
                <a:srgbClr val="000000"/>
              </a:solidFill>
              <a:latin typeface="Arial"/>
            </a:endParaRPr>
          </a:p>
          <a:p>
            <a:pPr defTabSz="914400">
              <a:lnSpc>
                <a:spcPct val="100000"/>
              </a:lnSpc>
              <a:tabLst>
                <a:tab pos="0" algn="l"/>
              </a:tabLst>
            </a:pPr>
            <a:r>
              <a:rPr lang="en-US" sz="700" b="0" strike="noStrike" spc="-1">
                <a:solidFill>
                  <a:srgbClr val="333333"/>
                </a:solidFill>
                <a:latin typeface="Courier New"/>
                <a:ea typeface="Courier New"/>
              </a:rPr>
              <a:t>Dst: 10.1.10.11</a:t>
            </a:r>
            <a:endParaRPr lang="en-US" sz="700" b="0" strike="noStrike" spc="-1">
              <a:solidFill>
                <a:srgbClr val="000000"/>
              </a:solidFill>
              <a:latin typeface="Arial"/>
            </a:endParaRPr>
          </a:p>
        </p:txBody>
      </p:sp>
      <p:sp>
        <p:nvSpPr>
          <p:cNvPr id="253" name="Text 34"/>
          <p:cNvSpPr/>
          <p:nvPr/>
        </p:nvSpPr>
        <p:spPr>
          <a:xfrm>
            <a:off x="457200" y="3794760"/>
            <a:ext cx="3657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0E41AA"/>
                </a:solidFill>
                <a:latin typeface="Arial"/>
                <a:ea typeface="Arial"/>
              </a:rPr>
              <a:t>Why SNAT is mandatory</a:t>
            </a:r>
            <a:endParaRPr lang="en-US" sz="1400" b="0" strike="noStrike" spc="-1">
              <a:solidFill>
                <a:srgbClr val="000000"/>
              </a:solidFill>
              <a:latin typeface="Arial"/>
            </a:endParaRPr>
          </a:p>
        </p:txBody>
      </p:sp>
      <p:sp>
        <p:nvSpPr>
          <p:cNvPr id="254" name="Text 35"/>
          <p:cNvSpPr/>
          <p:nvPr/>
        </p:nvSpPr>
        <p:spPr>
          <a:xfrm>
            <a:off x="457200" y="4069080"/>
            <a:ext cx="4114440" cy="77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333333"/>
                </a:solidFill>
                <a:latin typeface="Calibri"/>
                <a:ea typeface="Calibri"/>
              </a:rPr>
              <a:t>Without SNAT, the server receives a request from 10.1.10.50 (the client). Since the client is on the same subnet, the server responds directly to the client, bypassing the BIG-IP entirely. The BIG-IP never sees the response, cannot track the connection, and the client receives traffic from an unexpected source IP (the server, not the VIP).</a:t>
            </a:r>
            <a:endParaRPr lang="en-US" sz="1000" b="0" strike="noStrike" spc="-1">
              <a:solidFill>
                <a:srgbClr val="000000"/>
              </a:solidFill>
              <a:latin typeface="Arial"/>
            </a:endParaRPr>
          </a:p>
        </p:txBody>
      </p:sp>
      <p:sp>
        <p:nvSpPr>
          <p:cNvPr id="255" name="Text 36"/>
          <p:cNvSpPr/>
          <p:nvPr/>
        </p:nvSpPr>
        <p:spPr>
          <a:xfrm>
            <a:off x="5029200" y="3794760"/>
            <a:ext cx="3657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0E41AA"/>
                </a:solidFill>
                <a:latin typeface="Arial"/>
                <a:ea typeface="Arial"/>
              </a:rPr>
              <a:t>Use cases</a:t>
            </a:r>
            <a:endParaRPr lang="en-US" sz="1400" b="0" strike="noStrike" spc="-1">
              <a:solidFill>
                <a:srgbClr val="000000"/>
              </a:solidFill>
              <a:latin typeface="Arial"/>
            </a:endParaRPr>
          </a:p>
        </p:txBody>
      </p:sp>
      <p:sp>
        <p:nvSpPr>
          <p:cNvPr id="256" name="Text 37"/>
          <p:cNvSpPr/>
          <p:nvPr/>
        </p:nvSpPr>
        <p:spPr>
          <a:xfrm>
            <a:off x="5029200" y="4069080"/>
            <a:ext cx="3840120" cy="77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marL="343080" indent="-343080" defTabSz="914400">
              <a:lnSpc>
                <a:spcPct val="100000"/>
              </a:lnSpc>
              <a:buClr>
                <a:srgbClr val="333333"/>
              </a:buClr>
              <a:buFont typeface="Symbol" charset="2"/>
              <a:buChar char=""/>
            </a:pPr>
            <a:r>
              <a:rPr lang="en-US" sz="1000" b="0" strike="noStrike" spc="-1">
                <a:solidFill>
                  <a:srgbClr val="333333"/>
                </a:solidFill>
                <a:latin typeface="Calibri"/>
                <a:ea typeface="Calibri"/>
              </a:rPr>
              <a:t>Proof-of-concept and lab environments</a:t>
            </a:r>
            <a:endParaRPr lang="en-US" sz="1000" b="0" strike="noStrike" spc="-1">
              <a:solidFill>
                <a:srgbClr val="000000"/>
              </a:solidFill>
              <a:latin typeface="Arial"/>
            </a:endParaRPr>
          </a:p>
          <a:p>
            <a:pPr marL="343080" indent="-343080" defTabSz="914400">
              <a:lnSpc>
                <a:spcPct val="100000"/>
              </a:lnSpc>
              <a:buClr>
                <a:srgbClr val="333333"/>
              </a:buClr>
              <a:buFont typeface="Symbol" charset="2"/>
              <a:buChar char=""/>
            </a:pPr>
            <a:r>
              <a:rPr lang="en-US" sz="1000" b="0" strike="noStrike" spc="-1">
                <a:solidFill>
                  <a:srgbClr val="333333"/>
                </a:solidFill>
                <a:latin typeface="Calibri"/>
                <a:ea typeface="Calibri"/>
              </a:rPr>
              <a:t>Small deployments with limited network changes</a:t>
            </a:r>
            <a:endParaRPr lang="en-US" sz="1000" b="0" strike="noStrike" spc="-1">
              <a:solidFill>
                <a:srgbClr val="000000"/>
              </a:solidFill>
              <a:latin typeface="Arial"/>
            </a:endParaRPr>
          </a:p>
          <a:p>
            <a:pPr marL="343080" indent="-343080" defTabSz="914400">
              <a:lnSpc>
                <a:spcPct val="100000"/>
              </a:lnSpc>
              <a:buClr>
                <a:srgbClr val="333333"/>
              </a:buClr>
              <a:buFont typeface="Symbol" charset="2"/>
              <a:buChar char=""/>
            </a:pPr>
            <a:r>
              <a:rPr lang="en-US" sz="1000" b="0" strike="noStrike" spc="-1">
                <a:solidFill>
                  <a:srgbClr val="333333"/>
                </a:solidFill>
                <a:latin typeface="Calibri"/>
                <a:ea typeface="Calibri"/>
              </a:rPr>
              <a:t>Adding LTM to an existing flat network</a:t>
            </a:r>
            <a:endParaRPr lang="en-US" sz="1000" b="0" strike="noStrike" spc="-1">
              <a:solidFill>
                <a:srgbClr val="000000"/>
              </a:solidFill>
              <a:latin typeface="Arial"/>
            </a:endParaRPr>
          </a:p>
          <a:p>
            <a:pPr marL="343080" indent="-343080" defTabSz="914400">
              <a:lnSpc>
                <a:spcPct val="100000"/>
              </a:lnSpc>
              <a:buClr>
                <a:srgbClr val="333333"/>
              </a:buClr>
              <a:buFont typeface="Symbol" charset="2"/>
              <a:buChar char=""/>
            </a:pPr>
            <a:r>
              <a:rPr lang="en-US" sz="1000" b="0" strike="noStrike" spc="-1">
                <a:solidFill>
                  <a:srgbClr val="333333"/>
                </a:solidFill>
                <a:latin typeface="Calibri"/>
                <a:ea typeface="Calibri"/>
              </a:rPr>
              <a:t>Environments where server default gateway cannot change</a:t>
            </a:r>
            <a:endParaRPr lang="en-US" sz="1000" b="0" strike="noStrike" spc="-1">
              <a:solidFill>
                <a:srgbClr val="000000"/>
              </a:solidFill>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7"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58"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59"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60"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61"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62"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12    © 2026 F5</a:t>
            </a:r>
            <a:endParaRPr lang="en-US" sz="800" b="0" strike="noStrike" spc="-1">
              <a:solidFill>
                <a:srgbClr val="000000"/>
              </a:solidFill>
              <a:latin typeface="Arial"/>
            </a:endParaRPr>
          </a:p>
        </p:txBody>
      </p:sp>
      <p:pic>
        <p:nvPicPr>
          <p:cNvPr id="263" name="Image 0" descr="preencoded.png"/>
          <p:cNvPicPr/>
          <p:nvPr/>
        </p:nvPicPr>
        <p:blipFill>
          <a:blip r:embed="rId3"/>
          <a:stretch/>
        </p:blipFill>
        <p:spPr>
          <a:xfrm>
            <a:off x="8458200" y="4663440"/>
            <a:ext cx="383760" cy="383760"/>
          </a:xfrm>
          <a:prstGeom prst="rect">
            <a:avLst/>
          </a:prstGeom>
          <a:ln w="0">
            <a:noFill/>
          </a:ln>
        </p:spPr>
      </p:pic>
      <p:sp>
        <p:nvSpPr>
          <p:cNvPr id="264" name="Text 6"/>
          <p:cNvSpPr/>
          <p:nvPr/>
        </p:nvSpPr>
        <p:spPr>
          <a:xfrm>
            <a:off x="457200" y="274320"/>
            <a:ext cx="64004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Two-arm deployment</a:t>
            </a:r>
            <a:endParaRPr lang="en-US" sz="2800" b="0" strike="noStrike" spc="-1">
              <a:solidFill>
                <a:srgbClr val="000000"/>
              </a:solidFill>
              <a:latin typeface="Arial"/>
            </a:endParaRPr>
          </a:p>
        </p:txBody>
      </p:sp>
      <p:sp>
        <p:nvSpPr>
          <p:cNvPr id="265" name="Text 7"/>
          <p:cNvSpPr/>
          <p:nvPr/>
        </p:nvSpPr>
        <p:spPr>
          <a:xfrm>
            <a:off x="457200" y="68580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
                <a:solidFill>
                  <a:srgbClr val="61228B"/>
                </a:solidFill>
                <a:latin typeface="Calibri"/>
                <a:ea typeface="Calibri"/>
              </a:rPr>
              <a:t>Separate VLANs  |  SNAT optional  |  Most common enterprise topology</a:t>
            </a:r>
            <a:endParaRPr lang="en-US" sz="1300" b="0" strike="noStrike" spc="-1">
              <a:solidFill>
                <a:srgbClr val="000000"/>
              </a:solidFill>
              <a:latin typeface="Arial"/>
            </a:endParaRPr>
          </a:p>
        </p:txBody>
      </p:sp>
      <p:sp>
        <p:nvSpPr>
          <p:cNvPr id="266" name="Shape 8"/>
          <p:cNvSpPr/>
          <p:nvPr/>
        </p:nvSpPr>
        <p:spPr>
          <a:xfrm>
            <a:off x="365760" y="1051560"/>
            <a:ext cx="8412120" cy="2651400"/>
          </a:xfrm>
          <a:prstGeom prst="rect">
            <a:avLst/>
          </a:prstGeom>
          <a:solidFill>
            <a:srgbClr val="FAFAFA"/>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67" name="Shape 9"/>
          <p:cNvSpPr/>
          <p:nvPr/>
        </p:nvSpPr>
        <p:spPr>
          <a:xfrm>
            <a:off x="457200" y="1097280"/>
            <a:ext cx="2742840" cy="2559960"/>
          </a:xfrm>
          <a:prstGeom prst="rect">
            <a:avLst/>
          </a:prstGeom>
          <a:solidFill>
            <a:srgbClr val="E8F0FE"/>
          </a:solidFill>
          <a:ln w="12700">
            <a:solidFill>
              <a:srgbClr val="B8D4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68" name="Text 10"/>
          <p:cNvSpPr/>
          <p:nvPr/>
        </p:nvSpPr>
        <p:spPr>
          <a:xfrm>
            <a:off x="548640" y="1143000"/>
            <a:ext cx="255996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0E41AA"/>
                </a:solidFill>
                <a:latin typeface="Courier New"/>
                <a:ea typeface="Courier New"/>
              </a:rPr>
              <a:t>Client VLAN - 10.1.10.0/24</a:t>
            </a:r>
            <a:endParaRPr lang="en-US" sz="800" b="0" strike="noStrike" spc="-1">
              <a:solidFill>
                <a:srgbClr val="000000"/>
              </a:solidFill>
              <a:latin typeface="Arial"/>
            </a:endParaRPr>
          </a:p>
        </p:txBody>
      </p:sp>
      <p:sp>
        <p:nvSpPr>
          <p:cNvPr id="269" name="Shape 11"/>
          <p:cNvSpPr/>
          <p:nvPr/>
        </p:nvSpPr>
        <p:spPr>
          <a:xfrm>
            <a:off x="5943600" y="1103586"/>
            <a:ext cx="2742840" cy="2559960"/>
          </a:xfrm>
          <a:prstGeom prst="rect">
            <a:avLst/>
          </a:prstGeom>
          <a:solidFill>
            <a:srgbClr val="F0E8FE"/>
          </a:solidFill>
          <a:ln w="12700">
            <a:solidFill>
              <a:srgbClr val="D0B8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70" name="Text 12"/>
          <p:cNvSpPr/>
          <p:nvPr/>
        </p:nvSpPr>
        <p:spPr>
          <a:xfrm>
            <a:off x="6035040" y="1143000"/>
            <a:ext cx="255996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1228B"/>
                </a:solidFill>
                <a:latin typeface="Courier New"/>
                <a:ea typeface="Courier New"/>
              </a:rPr>
              <a:t>Server VLAN - 10.1.20.0/24</a:t>
            </a:r>
            <a:endParaRPr lang="en-US" sz="800" b="0" strike="noStrike" spc="-1">
              <a:solidFill>
                <a:srgbClr val="000000"/>
              </a:solidFill>
              <a:latin typeface="Arial"/>
            </a:endParaRPr>
          </a:p>
        </p:txBody>
      </p:sp>
      <p:sp>
        <p:nvSpPr>
          <p:cNvPr id="271" name="Shape 13"/>
          <p:cNvSpPr/>
          <p:nvPr/>
        </p:nvSpPr>
        <p:spPr>
          <a:xfrm>
            <a:off x="914400" y="2011680"/>
            <a:ext cx="1279800" cy="639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72" name="Text 14"/>
          <p:cNvSpPr/>
          <p:nvPr/>
        </p:nvSpPr>
        <p:spPr>
          <a:xfrm>
            <a:off x="914400" y="2011680"/>
            <a:ext cx="127980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strike="noStrike" spc="-1">
                <a:solidFill>
                  <a:srgbClr val="FFFFFF"/>
                </a:solidFill>
                <a:latin typeface="Arial"/>
                <a:ea typeface="Arial"/>
              </a:rPr>
              <a:t>Client</a:t>
            </a:r>
            <a:endParaRPr lang="en-US" sz="1300" b="0" strike="noStrike" spc="-1">
              <a:solidFill>
                <a:srgbClr val="000000"/>
              </a:solidFill>
              <a:latin typeface="Arial"/>
            </a:endParaRPr>
          </a:p>
        </p:txBody>
      </p:sp>
      <p:sp>
        <p:nvSpPr>
          <p:cNvPr id="273" name="Text 15"/>
          <p:cNvSpPr/>
          <p:nvPr/>
        </p:nvSpPr>
        <p:spPr>
          <a:xfrm>
            <a:off x="914400" y="2670120"/>
            <a:ext cx="127980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0" strike="noStrike" spc="-1">
                <a:solidFill>
                  <a:srgbClr val="0E41AA"/>
                </a:solidFill>
                <a:latin typeface="Courier New"/>
                <a:ea typeface="Courier New"/>
              </a:rPr>
              <a:t>10.1.10.50</a:t>
            </a:r>
            <a:endParaRPr lang="en-US" sz="900" b="0" strike="noStrike" spc="-1">
              <a:solidFill>
                <a:srgbClr val="000000"/>
              </a:solidFill>
              <a:latin typeface="Arial"/>
            </a:endParaRPr>
          </a:p>
        </p:txBody>
      </p:sp>
      <p:sp>
        <p:nvSpPr>
          <p:cNvPr id="274" name="Shape 16"/>
          <p:cNvSpPr/>
          <p:nvPr/>
        </p:nvSpPr>
        <p:spPr>
          <a:xfrm>
            <a:off x="3474720" y="1737360"/>
            <a:ext cx="2194200" cy="10969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75" name="Text 17"/>
          <p:cNvSpPr/>
          <p:nvPr/>
        </p:nvSpPr>
        <p:spPr>
          <a:xfrm>
            <a:off x="3474720" y="1737360"/>
            <a:ext cx="2194200" cy="1096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FFFFFF"/>
                </a:solidFill>
                <a:latin typeface="Arial"/>
                <a:ea typeface="Arial"/>
              </a:rPr>
              <a:t>BIG-IP LTM</a:t>
            </a:r>
            <a:endParaRPr lang="en-US" sz="1400" b="0" strike="noStrike" spc="-1">
              <a:solidFill>
                <a:srgbClr val="000000"/>
              </a:solidFill>
              <a:latin typeface="Arial"/>
            </a:endParaRPr>
          </a:p>
        </p:txBody>
      </p:sp>
      <p:sp>
        <p:nvSpPr>
          <p:cNvPr id="276" name="Text 18"/>
          <p:cNvSpPr/>
          <p:nvPr/>
        </p:nvSpPr>
        <p:spPr>
          <a:xfrm>
            <a:off x="3291840" y="2880360"/>
            <a:ext cx="12798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700" b="0" strike="noStrike" spc="-1">
                <a:solidFill>
                  <a:srgbClr val="0E41AA"/>
                </a:solidFill>
                <a:latin typeface="Courier New"/>
                <a:ea typeface="Courier New"/>
              </a:rPr>
              <a:t>Client Self: 10.1.10.245</a:t>
            </a:r>
            <a:endParaRPr lang="en-US" sz="700" b="0" strike="noStrike" spc="-1">
              <a:solidFill>
                <a:srgbClr val="000000"/>
              </a:solidFill>
              <a:latin typeface="Arial"/>
            </a:endParaRPr>
          </a:p>
        </p:txBody>
      </p:sp>
      <p:sp>
        <p:nvSpPr>
          <p:cNvPr id="277" name="Text 19"/>
          <p:cNvSpPr/>
          <p:nvPr/>
        </p:nvSpPr>
        <p:spPr>
          <a:xfrm>
            <a:off x="4572000" y="2880360"/>
            <a:ext cx="137124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700" b="0" strike="noStrike" spc="-1">
                <a:solidFill>
                  <a:srgbClr val="61228B"/>
                </a:solidFill>
                <a:latin typeface="Courier New"/>
                <a:ea typeface="Courier New"/>
              </a:rPr>
              <a:t>Server Self: 10.1.20.245</a:t>
            </a:r>
            <a:endParaRPr lang="en-US" sz="700" b="0" strike="noStrike" spc="-1">
              <a:solidFill>
                <a:srgbClr val="000000"/>
              </a:solidFill>
              <a:latin typeface="Arial"/>
            </a:endParaRPr>
          </a:p>
        </p:txBody>
      </p:sp>
      <p:sp>
        <p:nvSpPr>
          <p:cNvPr id="278" name="Shape 20"/>
          <p:cNvSpPr/>
          <p:nvPr/>
        </p:nvSpPr>
        <p:spPr>
          <a:xfrm>
            <a:off x="6400800" y="1463040"/>
            <a:ext cx="1005480" cy="456840"/>
          </a:xfrm>
          <a:prstGeom prst="rect">
            <a:avLst/>
          </a:prstGeom>
          <a:solidFill>
            <a:srgbClr val="33333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79" name="Text 21"/>
          <p:cNvSpPr/>
          <p:nvPr/>
        </p:nvSpPr>
        <p:spPr>
          <a:xfrm>
            <a:off x="6400800" y="1463040"/>
            <a:ext cx="100548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1" strike="noStrike" spc="-1">
                <a:solidFill>
                  <a:srgbClr val="FFFFFF"/>
                </a:solidFill>
                <a:latin typeface="Arial"/>
                <a:ea typeface="Arial"/>
              </a:rPr>
              <a:t>Server 1</a:t>
            </a:r>
            <a:endParaRPr lang="en-US" sz="900" b="0" strike="noStrike" spc="-1">
              <a:solidFill>
                <a:srgbClr val="000000"/>
              </a:solidFill>
              <a:latin typeface="Arial"/>
            </a:endParaRPr>
          </a:p>
        </p:txBody>
      </p:sp>
      <p:sp>
        <p:nvSpPr>
          <p:cNvPr id="280" name="Text 22"/>
          <p:cNvSpPr/>
          <p:nvPr/>
        </p:nvSpPr>
        <p:spPr>
          <a:xfrm>
            <a:off x="6400800" y="1938600"/>
            <a:ext cx="100548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700" b="0" strike="noStrike" spc="-1">
                <a:solidFill>
                  <a:srgbClr val="333333"/>
                </a:solidFill>
                <a:latin typeface="Courier New"/>
                <a:ea typeface="Courier New"/>
              </a:rPr>
              <a:t>10.1.20.11</a:t>
            </a:r>
            <a:endParaRPr lang="en-US" sz="700" b="0" strike="noStrike" spc="-1">
              <a:solidFill>
                <a:srgbClr val="000000"/>
              </a:solidFill>
              <a:latin typeface="Arial"/>
            </a:endParaRPr>
          </a:p>
        </p:txBody>
      </p:sp>
      <p:sp>
        <p:nvSpPr>
          <p:cNvPr id="281" name="Shape 23"/>
          <p:cNvSpPr/>
          <p:nvPr/>
        </p:nvSpPr>
        <p:spPr>
          <a:xfrm>
            <a:off x="6400800" y="2286000"/>
            <a:ext cx="1005480" cy="456840"/>
          </a:xfrm>
          <a:prstGeom prst="rect">
            <a:avLst/>
          </a:prstGeom>
          <a:solidFill>
            <a:srgbClr val="33333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82" name="Text 24"/>
          <p:cNvSpPr/>
          <p:nvPr/>
        </p:nvSpPr>
        <p:spPr>
          <a:xfrm>
            <a:off x="6400800" y="2286000"/>
            <a:ext cx="100548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1" strike="noStrike" spc="-1">
                <a:solidFill>
                  <a:srgbClr val="FFFFFF"/>
                </a:solidFill>
                <a:latin typeface="Arial"/>
                <a:ea typeface="Arial"/>
              </a:rPr>
              <a:t>Server 2</a:t>
            </a:r>
            <a:endParaRPr lang="en-US" sz="900" b="0" strike="noStrike" spc="-1">
              <a:solidFill>
                <a:srgbClr val="000000"/>
              </a:solidFill>
              <a:latin typeface="Arial"/>
            </a:endParaRPr>
          </a:p>
        </p:txBody>
      </p:sp>
      <p:sp>
        <p:nvSpPr>
          <p:cNvPr id="283" name="Text 25"/>
          <p:cNvSpPr/>
          <p:nvPr/>
        </p:nvSpPr>
        <p:spPr>
          <a:xfrm>
            <a:off x="6400800" y="2761560"/>
            <a:ext cx="100548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700" b="0" strike="noStrike" spc="-1">
                <a:solidFill>
                  <a:srgbClr val="333333"/>
                </a:solidFill>
                <a:latin typeface="Courier New"/>
                <a:ea typeface="Courier New"/>
              </a:rPr>
              <a:t>10.1.20.12</a:t>
            </a:r>
            <a:endParaRPr lang="en-US" sz="700" b="0" strike="noStrike" spc="-1">
              <a:solidFill>
                <a:srgbClr val="000000"/>
              </a:solidFill>
              <a:latin typeface="Arial"/>
            </a:endParaRPr>
          </a:p>
        </p:txBody>
      </p:sp>
      <p:sp>
        <p:nvSpPr>
          <p:cNvPr id="284" name="Shape 26"/>
          <p:cNvSpPr/>
          <p:nvPr/>
        </p:nvSpPr>
        <p:spPr>
          <a:xfrm>
            <a:off x="7589520" y="1874520"/>
            <a:ext cx="1005480" cy="456840"/>
          </a:xfrm>
          <a:prstGeom prst="rect">
            <a:avLst/>
          </a:prstGeom>
          <a:solidFill>
            <a:srgbClr val="33333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85" name="Text 27"/>
          <p:cNvSpPr/>
          <p:nvPr/>
        </p:nvSpPr>
        <p:spPr>
          <a:xfrm>
            <a:off x="7589520" y="1874520"/>
            <a:ext cx="100548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1" strike="noStrike" spc="-1">
                <a:solidFill>
                  <a:srgbClr val="FFFFFF"/>
                </a:solidFill>
                <a:latin typeface="Arial"/>
                <a:ea typeface="Arial"/>
              </a:rPr>
              <a:t>Server 3</a:t>
            </a:r>
            <a:endParaRPr lang="en-US" sz="900" b="0" strike="noStrike" spc="-1">
              <a:solidFill>
                <a:srgbClr val="000000"/>
              </a:solidFill>
              <a:latin typeface="Arial"/>
            </a:endParaRPr>
          </a:p>
        </p:txBody>
      </p:sp>
      <p:sp>
        <p:nvSpPr>
          <p:cNvPr id="286" name="Text 28"/>
          <p:cNvSpPr/>
          <p:nvPr/>
        </p:nvSpPr>
        <p:spPr>
          <a:xfrm>
            <a:off x="7589520" y="2350080"/>
            <a:ext cx="100548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700" b="0" strike="noStrike" spc="-1">
                <a:solidFill>
                  <a:srgbClr val="333333"/>
                </a:solidFill>
                <a:latin typeface="Courier New"/>
                <a:ea typeface="Courier New"/>
              </a:rPr>
              <a:t>10.1.20.13</a:t>
            </a:r>
            <a:endParaRPr lang="en-US" sz="700" b="0" strike="noStrike" spc="-1">
              <a:solidFill>
                <a:srgbClr val="000000"/>
              </a:solidFill>
              <a:latin typeface="Arial"/>
            </a:endParaRPr>
          </a:p>
        </p:txBody>
      </p:sp>
      <p:sp>
        <p:nvSpPr>
          <p:cNvPr id="287" name="Shape 29"/>
          <p:cNvSpPr/>
          <p:nvPr/>
        </p:nvSpPr>
        <p:spPr>
          <a:xfrm>
            <a:off x="2240280" y="2267640"/>
            <a:ext cx="1188360" cy="3636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8280" rIns="90000" bIns="-8280" anchor="t">
            <a:noAutofit/>
          </a:bodyPr>
          <a:lstStyle/>
          <a:p>
            <a:pPr defTabSz="914400">
              <a:lnSpc>
                <a:spcPct val="100000"/>
              </a:lnSpc>
            </a:pPr>
            <a:endParaRPr lang="en-US" sz="1800" b="0" strike="noStrike" spc="-1">
              <a:solidFill>
                <a:schemeClr val="dk1"/>
              </a:solidFill>
              <a:latin typeface="Calibri"/>
            </a:endParaRPr>
          </a:p>
        </p:txBody>
      </p:sp>
      <p:sp>
        <p:nvSpPr>
          <p:cNvPr id="288" name="Text 30"/>
          <p:cNvSpPr/>
          <p:nvPr/>
        </p:nvSpPr>
        <p:spPr>
          <a:xfrm>
            <a:off x="3291840" y="2176200"/>
            <a:ext cx="27396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0" strike="noStrike" spc="-1">
                <a:solidFill>
                  <a:srgbClr val="0E41AA"/>
                </a:solidFill>
                <a:latin typeface="Calibri"/>
              </a:rPr>
              <a:t>▶</a:t>
            </a:r>
            <a:endParaRPr lang="en-US" sz="1000" b="0" strike="noStrike" spc="-1">
              <a:solidFill>
                <a:srgbClr val="000000"/>
              </a:solidFill>
              <a:latin typeface="Arial"/>
            </a:endParaRPr>
          </a:p>
        </p:txBody>
      </p:sp>
      <p:sp>
        <p:nvSpPr>
          <p:cNvPr id="289" name="Shape 31"/>
          <p:cNvSpPr/>
          <p:nvPr/>
        </p:nvSpPr>
        <p:spPr>
          <a:xfrm>
            <a:off x="5715000" y="2221920"/>
            <a:ext cx="639720" cy="3636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8280" rIns="90000" bIns="-8280" anchor="t">
            <a:noAutofit/>
          </a:bodyPr>
          <a:lstStyle/>
          <a:p>
            <a:pPr defTabSz="914400">
              <a:lnSpc>
                <a:spcPct val="100000"/>
              </a:lnSpc>
            </a:pPr>
            <a:endParaRPr lang="en-US" sz="1800" b="0" strike="noStrike" spc="-1">
              <a:solidFill>
                <a:schemeClr val="dk1"/>
              </a:solidFill>
              <a:latin typeface="Calibri"/>
            </a:endParaRPr>
          </a:p>
        </p:txBody>
      </p:sp>
      <p:sp>
        <p:nvSpPr>
          <p:cNvPr id="290" name="Text 32"/>
          <p:cNvSpPr/>
          <p:nvPr/>
        </p:nvSpPr>
        <p:spPr>
          <a:xfrm>
            <a:off x="6217920" y="2130480"/>
            <a:ext cx="27396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0" strike="noStrike" spc="-1">
                <a:solidFill>
                  <a:srgbClr val="61228B"/>
                </a:solidFill>
                <a:latin typeface="Calibri"/>
              </a:rPr>
              <a:t>▶</a:t>
            </a:r>
            <a:endParaRPr lang="en-US" sz="1000" b="0" strike="noStrike" spc="-1">
              <a:solidFill>
                <a:srgbClr val="000000"/>
              </a:solidFill>
              <a:latin typeface="Arial"/>
            </a:endParaRPr>
          </a:p>
        </p:txBody>
      </p:sp>
      <p:sp>
        <p:nvSpPr>
          <p:cNvPr id="291" name="Text 33"/>
          <p:cNvSpPr/>
          <p:nvPr/>
        </p:nvSpPr>
        <p:spPr>
          <a:xfrm>
            <a:off x="457200" y="3840480"/>
            <a:ext cx="3657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61228B"/>
                </a:solidFill>
                <a:latin typeface="Arial"/>
                <a:ea typeface="Arial"/>
              </a:rPr>
              <a:t>SNAT decision matrix</a:t>
            </a:r>
            <a:endParaRPr lang="en-US" sz="1400" b="0" strike="noStrike" spc="-1">
              <a:solidFill>
                <a:srgbClr val="000000"/>
              </a:solidFill>
              <a:latin typeface="Arial"/>
            </a:endParaRPr>
          </a:p>
        </p:txBody>
      </p:sp>
      <p:graphicFrame>
        <p:nvGraphicFramePr>
          <p:cNvPr id="292" name="Table 0"/>
          <p:cNvGraphicFramePr/>
          <p:nvPr/>
        </p:nvGraphicFramePr>
        <p:xfrm>
          <a:off x="365760" y="4114800"/>
          <a:ext cx="4572000" cy="853440"/>
        </p:xfrm>
        <a:graphic>
          <a:graphicData uri="http://schemas.openxmlformats.org/drawingml/2006/table">
            <a:tbl>
              <a:tblPr/>
              <a:tblGrid>
                <a:gridCol w="13716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tblGrid>
              <a:tr h="0">
                <a:tc>
                  <a:txBody>
                    <a:bodyPr/>
                    <a:lstStyle/>
                    <a:p>
                      <a:pPr defTabSz="914400">
                        <a:lnSpc>
                          <a:spcPct val="100000"/>
                        </a:lnSpc>
                        <a:tabLst>
                          <a:tab pos="0" algn="l"/>
                        </a:tabLst>
                      </a:pPr>
                      <a:r>
                        <a:rPr lang="en-US" sz="1000" b="1" strike="noStrike" spc="-1">
                          <a:solidFill>
                            <a:srgbClr val="FFFFFF"/>
                          </a:solidFill>
                          <a:latin typeface="Calibri"/>
                        </a:rPr>
                        <a:t>Server default GW</a:t>
                      </a:r>
                      <a:endParaRPr lang="en-US" sz="10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61228B"/>
                    </a:solidFill>
                  </a:tcPr>
                </a:tc>
                <a:tc>
                  <a:txBody>
                    <a:bodyPr/>
                    <a:lstStyle/>
                    <a:p>
                      <a:pPr defTabSz="914400">
                        <a:lnSpc>
                          <a:spcPct val="100000"/>
                        </a:lnSpc>
                        <a:tabLst>
                          <a:tab pos="0" algn="l"/>
                        </a:tabLst>
                      </a:pPr>
                      <a:r>
                        <a:rPr lang="en-US" sz="1000" b="1" strike="noStrike" spc="-1">
                          <a:solidFill>
                            <a:srgbClr val="FFFFFF"/>
                          </a:solidFill>
                          <a:latin typeface="Calibri"/>
                        </a:rPr>
                        <a:t>SNAT needed?</a:t>
                      </a:r>
                      <a:endParaRPr lang="en-US" sz="10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61228B"/>
                    </a:solidFill>
                  </a:tcPr>
                </a:tc>
                <a:tc>
                  <a:txBody>
                    <a:bodyPr/>
                    <a:lstStyle/>
                    <a:p>
                      <a:pPr defTabSz="914400">
                        <a:lnSpc>
                          <a:spcPct val="100000"/>
                        </a:lnSpc>
                        <a:tabLst>
                          <a:tab pos="0" algn="l"/>
                        </a:tabLst>
                      </a:pPr>
                      <a:r>
                        <a:rPr lang="en-US" sz="1000" b="1" strike="noStrike" spc="-1">
                          <a:solidFill>
                            <a:srgbClr val="FFFFFF"/>
                          </a:solidFill>
                          <a:latin typeface="Calibri"/>
                        </a:rPr>
                        <a:t>Why</a:t>
                      </a:r>
                      <a:endParaRPr lang="en-US" sz="10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61228B"/>
                    </a:solidFill>
                  </a:tcPr>
                </a:tc>
                <a:extLst>
                  <a:ext uri="{0D108BD9-81ED-4DB2-BD59-A6C34878D82A}">
                    <a16:rowId xmlns:a16="http://schemas.microsoft.com/office/drawing/2014/main" val="10000"/>
                  </a:ext>
                </a:extLst>
              </a:tr>
              <a:tr h="0">
                <a:tc>
                  <a:txBody>
                    <a:bodyPr/>
                    <a:lstStyle/>
                    <a:p>
                      <a:pPr defTabSz="914400">
                        <a:lnSpc>
                          <a:spcPct val="100000"/>
                        </a:lnSpc>
                        <a:tabLst>
                          <a:tab pos="0" algn="l"/>
                        </a:tabLst>
                      </a:pPr>
                      <a:r>
                        <a:rPr lang="en-US" sz="1000" b="0" strike="noStrike" spc="-1">
                          <a:solidFill>
                            <a:srgbClr val="000000"/>
                          </a:solidFill>
                          <a:latin typeface="Calibri"/>
                        </a:rPr>
                        <a:t>Points to BIG-IP</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1000" b="1" strike="noStrike" spc="-1">
                          <a:solidFill>
                            <a:srgbClr val="009639"/>
                          </a:solidFill>
                          <a:latin typeface="Calibri"/>
                        </a:rPr>
                        <a:t>No</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333333"/>
                          </a:solidFill>
                          <a:latin typeface="Calibri"/>
                        </a:rPr>
                        <a:t>Return traffic routes through BIG-IP naturally</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1"/>
                  </a:ext>
                </a:extLst>
              </a:tr>
              <a:tr h="0">
                <a:tc>
                  <a:txBody>
                    <a:bodyPr/>
                    <a:lstStyle/>
                    <a:p>
                      <a:pPr defTabSz="914400">
                        <a:lnSpc>
                          <a:spcPct val="100000"/>
                        </a:lnSpc>
                        <a:tabLst>
                          <a:tab pos="0" algn="l"/>
                        </a:tabLst>
                      </a:pPr>
                      <a:r>
                        <a:rPr lang="en-US" sz="1000" b="0" strike="noStrike" spc="-1">
                          <a:solidFill>
                            <a:srgbClr val="000000"/>
                          </a:solidFill>
                          <a:latin typeface="Calibri"/>
                        </a:rPr>
                        <a:t>Points elsewhere</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1000" b="1" strike="noStrike" spc="-1">
                          <a:solidFill>
                            <a:srgbClr val="E4002B"/>
                          </a:solidFill>
                          <a:latin typeface="Calibri"/>
                        </a:rPr>
                        <a:t>Yes</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333333"/>
                          </a:solidFill>
                          <a:latin typeface="Calibri"/>
                        </a:rPr>
                        <a:t>Must SNAT so server responds to BIG-IP, not client</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2"/>
                  </a:ext>
                </a:extLst>
              </a:tr>
            </a:tbl>
          </a:graphicData>
        </a:graphic>
      </p:graphicFrame>
      <p:sp>
        <p:nvSpPr>
          <p:cNvPr id="293" name="Text 34"/>
          <p:cNvSpPr/>
          <p:nvPr/>
        </p:nvSpPr>
        <p:spPr>
          <a:xfrm>
            <a:off x="5303520" y="3840480"/>
            <a:ext cx="3657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61228B"/>
                </a:solidFill>
                <a:latin typeface="Arial"/>
                <a:ea typeface="Arial"/>
              </a:rPr>
              <a:t>Advantages</a:t>
            </a:r>
            <a:endParaRPr lang="en-US" sz="1400" b="0" strike="noStrike" spc="-1">
              <a:solidFill>
                <a:srgbClr val="000000"/>
              </a:solidFill>
              <a:latin typeface="Arial"/>
            </a:endParaRPr>
          </a:p>
        </p:txBody>
      </p:sp>
      <p:sp>
        <p:nvSpPr>
          <p:cNvPr id="294" name="Text 35"/>
          <p:cNvSpPr/>
          <p:nvPr/>
        </p:nvSpPr>
        <p:spPr>
          <a:xfrm>
            <a:off x="5303520" y="4114800"/>
            <a:ext cx="347436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marL="343080" indent="-343080" defTabSz="914400">
              <a:lnSpc>
                <a:spcPct val="100000"/>
              </a:lnSpc>
              <a:buClr>
                <a:srgbClr val="333333"/>
              </a:buClr>
              <a:buFont typeface="Symbol" charset="2"/>
              <a:buChar char=""/>
            </a:pPr>
            <a:r>
              <a:rPr lang="en-US" sz="1000" b="0" strike="noStrike" spc="-1">
                <a:solidFill>
                  <a:srgbClr val="333333"/>
                </a:solidFill>
                <a:latin typeface="Calibri"/>
                <a:ea typeface="Calibri"/>
              </a:rPr>
              <a:t>Full visibility of both client and server traffic</a:t>
            </a:r>
            <a:endParaRPr lang="en-US" sz="1000" b="0" strike="noStrike" spc="-1">
              <a:solidFill>
                <a:srgbClr val="000000"/>
              </a:solidFill>
              <a:latin typeface="Arial"/>
            </a:endParaRPr>
          </a:p>
          <a:p>
            <a:pPr marL="343080" indent="-343080" defTabSz="914400">
              <a:lnSpc>
                <a:spcPct val="100000"/>
              </a:lnSpc>
              <a:buClr>
                <a:srgbClr val="333333"/>
              </a:buClr>
              <a:buFont typeface="Symbol" charset="2"/>
              <a:buChar char=""/>
            </a:pPr>
            <a:r>
              <a:rPr lang="en-US" sz="1000" b="0" strike="noStrike" spc="-1">
                <a:solidFill>
                  <a:srgbClr val="333333"/>
                </a:solidFill>
                <a:latin typeface="Calibri"/>
                <a:ea typeface="Calibri"/>
              </a:rPr>
              <a:t>Can apply different security policies per VLAN</a:t>
            </a:r>
            <a:endParaRPr lang="en-US" sz="1000" b="0" strike="noStrike" spc="-1">
              <a:solidFill>
                <a:srgbClr val="000000"/>
              </a:solidFill>
              <a:latin typeface="Arial"/>
            </a:endParaRPr>
          </a:p>
          <a:p>
            <a:pPr marL="343080" indent="-343080" defTabSz="914400">
              <a:lnSpc>
                <a:spcPct val="100000"/>
              </a:lnSpc>
              <a:buClr>
                <a:srgbClr val="333333"/>
              </a:buClr>
              <a:buFont typeface="Symbol" charset="2"/>
              <a:buChar char=""/>
            </a:pPr>
            <a:r>
              <a:rPr lang="en-US" sz="1000" b="0" strike="noStrike" spc="-1">
                <a:solidFill>
                  <a:srgbClr val="333333"/>
                </a:solidFill>
                <a:latin typeface="Calibri"/>
                <a:ea typeface="Calibri"/>
              </a:rPr>
              <a:t>Server sees real client IP (if no SNAT)</a:t>
            </a:r>
            <a:endParaRPr lang="en-US" sz="1000" b="0" strike="noStrike" spc="-1">
              <a:solidFill>
                <a:srgbClr val="000000"/>
              </a:solidFill>
              <a:latin typeface="Arial"/>
            </a:endParaRPr>
          </a:p>
          <a:p>
            <a:pPr marL="343080" indent="-343080" defTabSz="914400">
              <a:lnSpc>
                <a:spcPct val="100000"/>
              </a:lnSpc>
              <a:buClr>
                <a:srgbClr val="333333"/>
              </a:buClr>
              <a:buFont typeface="Symbol" charset="2"/>
              <a:buChar char=""/>
            </a:pPr>
            <a:r>
              <a:rPr lang="en-US" sz="1000" b="0" strike="noStrike" spc="-1">
                <a:solidFill>
                  <a:srgbClr val="333333"/>
                </a:solidFill>
                <a:latin typeface="Calibri"/>
                <a:ea typeface="Calibri"/>
              </a:rPr>
              <a:t>Supports all LTM features (SSL, compression, etc.)</a:t>
            </a:r>
            <a:endParaRPr lang="en-US" sz="1000" b="0" strike="noStrike" spc="-1">
              <a:solidFill>
                <a:srgbClr val="000000"/>
              </a:solidFill>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5"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96"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97"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98"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99"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300"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13    © 2026 F5</a:t>
            </a:r>
            <a:endParaRPr lang="en-US" sz="800" b="0" strike="noStrike" spc="-1">
              <a:solidFill>
                <a:srgbClr val="000000"/>
              </a:solidFill>
              <a:latin typeface="Arial"/>
            </a:endParaRPr>
          </a:p>
        </p:txBody>
      </p:sp>
      <p:pic>
        <p:nvPicPr>
          <p:cNvPr id="301" name="Image 0" descr="preencoded.png"/>
          <p:cNvPicPr/>
          <p:nvPr/>
        </p:nvPicPr>
        <p:blipFill>
          <a:blip r:embed="rId3"/>
          <a:stretch/>
        </p:blipFill>
        <p:spPr>
          <a:xfrm>
            <a:off x="8458200" y="4663440"/>
            <a:ext cx="383760" cy="383760"/>
          </a:xfrm>
          <a:prstGeom prst="rect">
            <a:avLst/>
          </a:prstGeom>
          <a:ln w="0">
            <a:noFill/>
          </a:ln>
        </p:spPr>
      </p:pic>
      <p:sp>
        <p:nvSpPr>
          <p:cNvPr id="302" name="Text 6"/>
          <p:cNvSpPr/>
          <p:nvPr/>
        </p:nvSpPr>
        <p:spPr>
          <a:xfrm>
            <a:off x="457200" y="274320"/>
            <a:ext cx="82292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nPath / Direct Server Return (DSR)</a:t>
            </a:r>
            <a:endParaRPr lang="en-US" sz="2800" b="0" strike="noStrike" spc="-1">
              <a:solidFill>
                <a:srgbClr val="000000"/>
              </a:solidFill>
              <a:latin typeface="Arial"/>
            </a:endParaRPr>
          </a:p>
        </p:txBody>
      </p:sp>
      <p:sp>
        <p:nvSpPr>
          <p:cNvPr id="303" name="Text 7"/>
          <p:cNvSpPr/>
          <p:nvPr/>
        </p:nvSpPr>
        <p:spPr>
          <a:xfrm>
            <a:off x="457200" y="68580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
                <a:solidFill>
                  <a:srgbClr val="009639"/>
                </a:solidFill>
                <a:latin typeface="Calibri"/>
                <a:ea typeface="Calibri"/>
              </a:rPr>
              <a:t>Inbound only  |  No SNAT  |  Highest throughput  |  Limited feature set</a:t>
            </a:r>
            <a:endParaRPr lang="en-US" sz="1300" b="0" strike="noStrike" spc="-1">
              <a:solidFill>
                <a:srgbClr val="000000"/>
              </a:solidFill>
              <a:latin typeface="Arial"/>
            </a:endParaRPr>
          </a:p>
        </p:txBody>
      </p:sp>
      <p:sp>
        <p:nvSpPr>
          <p:cNvPr id="304" name="Shape 8"/>
          <p:cNvSpPr/>
          <p:nvPr/>
        </p:nvSpPr>
        <p:spPr>
          <a:xfrm>
            <a:off x="365760" y="1051560"/>
            <a:ext cx="8412120" cy="2422800"/>
          </a:xfrm>
          <a:prstGeom prst="rect">
            <a:avLst/>
          </a:prstGeom>
          <a:solidFill>
            <a:srgbClr val="FAFAFA"/>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305" name="Shape 9"/>
          <p:cNvSpPr/>
          <p:nvPr/>
        </p:nvSpPr>
        <p:spPr>
          <a:xfrm>
            <a:off x="731520" y="1828800"/>
            <a:ext cx="1188360" cy="59400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306" name="Text 10"/>
          <p:cNvSpPr/>
          <p:nvPr/>
        </p:nvSpPr>
        <p:spPr>
          <a:xfrm>
            <a:off x="731520" y="1828800"/>
            <a:ext cx="1188360" cy="594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strike="noStrike" spc="-1">
                <a:solidFill>
                  <a:srgbClr val="FFFFFF"/>
                </a:solidFill>
                <a:latin typeface="Arial"/>
                <a:ea typeface="Arial"/>
              </a:rPr>
              <a:t>Client</a:t>
            </a:r>
            <a:endParaRPr lang="en-US" sz="1300" b="0" strike="noStrike" spc="-1">
              <a:solidFill>
                <a:srgbClr val="000000"/>
              </a:solidFill>
              <a:latin typeface="Arial"/>
            </a:endParaRPr>
          </a:p>
        </p:txBody>
      </p:sp>
      <p:sp>
        <p:nvSpPr>
          <p:cNvPr id="307" name="Text 11"/>
          <p:cNvSpPr/>
          <p:nvPr/>
        </p:nvSpPr>
        <p:spPr>
          <a:xfrm>
            <a:off x="731520" y="2441520"/>
            <a:ext cx="118836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0" strike="noStrike" spc="-1">
                <a:solidFill>
                  <a:srgbClr val="0E41AA"/>
                </a:solidFill>
                <a:latin typeface="Courier New"/>
                <a:ea typeface="Courier New"/>
              </a:rPr>
              <a:t>192.168.1.50</a:t>
            </a:r>
            <a:endParaRPr lang="en-US" sz="900" b="0" strike="noStrike" spc="-1">
              <a:solidFill>
                <a:srgbClr val="000000"/>
              </a:solidFill>
              <a:latin typeface="Arial"/>
            </a:endParaRPr>
          </a:p>
        </p:txBody>
      </p:sp>
      <p:sp>
        <p:nvSpPr>
          <p:cNvPr id="308" name="Shape 12"/>
          <p:cNvSpPr/>
          <p:nvPr/>
        </p:nvSpPr>
        <p:spPr>
          <a:xfrm>
            <a:off x="3200400" y="1645920"/>
            <a:ext cx="1828440" cy="91404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309" name="Text 13"/>
          <p:cNvSpPr/>
          <p:nvPr/>
        </p:nvSpPr>
        <p:spPr>
          <a:xfrm>
            <a:off x="3200400" y="1645920"/>
            <a:ext cx="182844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strike="noStrike" spc="-1">
                <a:solidFill>
                  <a:srgbClr val="FFFFFF"/>
                </a:solidFill>
                <a:latin typeface="Arial"/>
                <a:ea typeface="Arial"/>
              </a:rPr>
              <a:t>BIG-IP LTM</a:t>
            </a:r>
            <a:endParaRPr lang="en-US" sz="1300" b="0" strike="noStrike" spc="-1">
              <a:solidFill>
                <a:srgbClr val="000000"/>
              </a:solidFill>
              <a:latin typeface="Arial"/>
            </a:endParaRPr>
          </a:p>
        </p:txBody>
      </p:sp>
      <p:sp>
        <p:nvSpPr>
          <p:cNvPr id="310" name="Text 14"/>
          <p:cNvSpPr/>
          <p:nvPr/>
        </p:nvSpPr>
        <p:spPr>
          <a:xfrm>
            <a:off x="3200400" y="2578680"/>
            <a:ext cx="182844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00" b="0" strike="noStrike" spc="-1">
                <a:solidFill>
                  <a:srgbClr val="E4002B"/>
                </a:solidFill>
                <a:latin typeface="Courier New"/>
                <a:ea typeface="Courier New"/>
              </a:rPr>
              <a:t>VIP: 10.1.10.100</a:t>
            </a:r>
            <a:endParaRPr lang="en-US" sz="800" b="0" strike="noStrike" spc="-1">
              <a:solidFill>
                <a:srgbClr val="000000"/>
              </a:solidFill>
              <a:latin typeface="Arial"/>
            </a:endParaRPr>
          </a:p>
        </p:txBody>
      </p:sp>
      <p:sp>
        <p:nvSpPr>
          <p:cNvPr id="311" name="Shape 15"/>
          <p:cNvSpPr/>
          <p:nvPr/>
        </p:nvSpPr>
        <p:spPr>
          <a:xfrm>
            <a:off x="6400800" y="1371600"/>
            <a:ext cx="1188360" cy="502560"/>
          </a:xfrm>
          <a:prstGeom prst="rect">
            <a:avLst/>
          </a:prstGeom>
          <a:solidFill>
            <a:srgbClr val="33333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312" name="Text 16"/>
          <p:cNvSpPr/>
          <p:nvPr/>
        </p:nvSpPr>
        <p:spPr>
          <a:xfrm>
            <a:off x="6400800" y="1371600"/>
            <a:ext cx="118836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strike="noStrike" spc="-1">
                <a:solidFill>
                  <a:srgbClr val="FFFFFF"/>
                </a:solidFill>
                <a:latin typeface="Arial"/>
                <a:ea typeface="Arial"/>
              </a:rPr>
              <a:t>Server 1</a:t>
            </a:r>
            <a:endParaRPr lang="en-US" sz="1000" b="0" strike="noStrike" spc="-1">
              <a:solidFill>
                <a:srgbClr val="000000"/>
              </a:solidFill>
              <a:latin typeface="Arial"/>
            </a:endParaRPr>
          </a:p>
        </p:txBody>
      </p:sp>
      <p:sp>
        <p:nvSpPr>
          <p:cNvPr id="313" name="Text 17"/>
          <p:cNvSpPr/>
          <p:nvPr/>
        </p:nvSpPr>
        <p:spPr>
          <a:xfrm>
            <a:off x="6400800" y="1892880"/>
            <a:ext cx="118836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700" b="0" strike="noStrike" spc="-1">
                <a:solidFill>
                  <a:srgbClr val="009639"/>
                </a:solidFill>
                <a:latin typeface="Courier New"/>
                <a:ea typeface="Courier New"/>
              </a:rPr>
              <a:t>lo0: 10.1.10.100</a:t>
            </a:r>
            <a:endParaRPr lang="en-US" sz="700" b="0" strike="noStrike" spc="-1">
              <a:solidFill>
                <a:srgbClr val="000000"/>
              </a:solidFill>
              <a:latin typeface="Arial"/>
            </a:endParaRPr>
          </a:p>
        </p:txBody>
      </p:sp>
      <p:sp>
        <p:nvSpPr>
          <p:cNvPr id="314" name="Shape 18"/>
          <p:cNvSpPr/>
          <p:nvPr/>
        </p:nvSpPr>
        <p:spPr>
          <a:xfrm>
            <a:off x="6400800" y="2286000"/>
            <a:ext cx="1188360" cy="502560"/>
          </a:xfrm>
          <a:prstGeom prst="rect">
            <a:avLst/>
          </a:prstGeom>
          <a:solidFill>
            <a:srgbClr val="33333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315" name="Text 19"/>
          <p:cNvSpPr/>
          <p:nvPr/>
        </p:nvSpPr>
        <p:spPr>
          <a:xfrm>
            <a:off x="6400800" y="2286000"/>
            <a:ext cx="118836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strike="noStrike" spc="-1">
                <a:solidFill>
                  <a:srgbClr val="FFFFFF"/>
                </a:solidFill>
                <a:latin typeface="Arial"/>
                <a:ea typeface="Arial"/>
              </a:rPr>
              <a:t>Server 2</a:t>
            </a:r>
            <a:endParaRPr lang="en-US" sz="1000" b="0" strike="noStrike" spc="-1">
              <a:solidFill>
                <a:srgbClr val="000000"/>
              </a:solidFill>
              <a:latin typeface="Arial"/>
            </a:endParaRPr>
          </a:p>
        </p:txBody>
      </p:sp>
      <p:sp>
        <p:nvSpPr>
          <p:cNvPr id="316" name="Text 20"/>
          <p:cNvSpPr/>
          <p:nvPr/>
        </p:nvSpPr>
        <p:spPr>
          <a:xfrm>
            <a:off x="6400800" y="2807280"/>
            <a:ext cx="118836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700" b="0" strike="noStrike" spc="-1">
                <a:solidFill>
                  <a:srgbClr val="009639"/>
                </a:solidFill>
                <a:latin typeface="Courier New"/>
                <a:ea typeface="Courier New"/>
              </a:rPr>
              <a:t>lo0: 10.1.10.100</a:t>
            </a:r>
            <a:endParaRPr lang="en-US" sz="700" b="0" strike="noStrike" spc="-1">
              <a:solidFill>
                <a:srgbClr val="000000"/>
              </a:solidFill>
              <a:latin typeface="Arial"/>
            </a:endParaRPr>
          </a:p>
        </p:txBody>
      </p:sp>
      <p:sp>
        <p:nvSpPr>
          <p:cNvPr id="317" name="Shape 21"/>
          <p:cNvSpPr/>
          <p:nvPr/>
        </p:nvSpPr>
        <p:spPr>
          <a:xfrm>
            <a:off x="1965960" y="2039040"/>
            <a:ext cx="1188360" cy="3636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8280" rIns="90000" bIns="-8280" anchor="t">
            <a:noAutofit/>
          </a:bodyPr>
          <a:lstStyle/>
          <a:p>
            <a:pPr defTabSz="914400">
              <a:lnSpc>
                <a:spcPct val="100000"/>
              </a:lnSpc>
            </a:pPr>
            <a:endParaRPr lang="en-US" sz="1800" b="0" strike="noStrike" spc="-1">
              <a:solidFill>
                <a:schemeClr val="dk1"/>
              </a:solidFill>
              <a:latin typeface="Calibri"/>
            </a:endParaRPr>
          </a:p>
        </p:txBody>
      </p:sp>
      <p:sp>
        <p:nvSpPr>
          <p:cNvPr id="318" name="Text 22"/>
          <p:cNvSpPr/>
          <p:nvPr/>
        </p:nvSpPr>
        <p:spPr>
          <a:xfrm>
            <a:off x="3017520" y="1947600"/>
            <a:ext cx="27396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0" strike="noStrike" spc="-1">
                <a:solidFill>
                  <a:srgbClr val="0E41AA"/>
                </a:solidFill>
                <a:latin typeface="Calibri"/>
              </a:rPr>
              <a:t>▶</a:t>
            </a:r>
            <a:endParaRPr lang="en-US" sz="1000" b="0" strike="noStrike" spc="-1">
              <a:solidFill>
                <a:srgbClr val="000000"/>
              </a:solidFill>
              <a:latin typeface="Arial"/>
            </a:endParaRPr>
          </a:p>
        </p:txBody>
      </p:sp>
      <p:sp>
        <p:nvSpPr>
          <p:cNvPr id="319" name="Shape 23"/>
          <p:cNvSpPr/>
          <p:nvPr/>
        </p:nvSpPr>
        <p:spPr>
          <a:xfrm>
            <a:off x="5074920" y="2039040"/>
            <a:ext cx="1279800" cy="3636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8280" rIns="90000" bIns="-8280" anchor="t">
            <a:noAutofit/>
          </a:bodyPr>
          <a:lstStyle/>
          <a:p>
            <a:pPr defTabSz="914400">
              <a:lnSpc>
                <a:spcPct val="100000"/>
              </a:lnSpc>
            </a:pPr>
            <a:endParaRPr lang="en-US" sz="1800" b="0" strike="noStrike" spc="-1">
              <a:solidFill>
                <a:schemeClr val="dk1"/>
              </a:solidFill>
              <a:latin typeface="Calibri"/>
            </a:endParaRPr>
          </a:p>
        </p:txBody>
      </p:sp>
      <p:sp>
        <p:nvSpPr>
          <p:cNvPr id="320" name="Text 24"/>
          <p:cNvSpPr/>
          <p:nvPr/>
        </p:nvSpPr>
        <p:spPr>
          <a:xfrm>
            <a:off x="6217920" y="1947600"/>
            <a:ext cx="27396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0" strike="noStrike" spc="-1">
                <a:solidFill>
                  <a:srgbClr val="E4002B"/>
                </a:solidFill>
                <a:latin typeface="Calibri"/>
              </a:rPr>
              <a:t>▶</a:t>
            </a:r>
            <a:endParaRPr lang="en-US" sz="1000" b="0" strike="noStrike" spc="-1">
              <a:solidFill>
                <a:srgbClr val="000000"/>
              </a:solidFill>
              <a:latin typeface="Arial"/>
            </a:endParaRPr>
          </a:p>
        </p:txBody>
      </p:sp>
      <p:sp>
        <p:nvSpPr>
          <p:cNvPr id="321" name="Shape 25"/>
          <p:cNvSpPr/>
          <p:nvPr/>
        </p:nvSpPr>
        <p:spPr>
          <a:xfrm>
            <a:off x="1965960" y="3108960"/>
            <a:ext cx="4388760" cy="27000"/>
          </a:xfrm>
          <a:prstGeom prst="rect">
            <a:avLst/>
          </a:prstGeom>
          <a:solidFill>
            <a:srgbClr val="009639"/>
          </a:solidFill>
          <a:ln w="0">
            <a:noFill/>
          </a:ln>
        </p:spPr>
        <p:style>
          <a:lnRef idx="0">
            <a:scrgbClr r="0" g="0" b="0"/>
          </a:lnRef>
          <a:fillRef idx="0">
            <a:scrgbClr r="0" g="0" b="0"/>
          </a:fillRef>
          <a:effectRef idx="0">
            <a:scrgbClr r="0" g="0" b="0"/>
          </a:effectRef>
          <a:fontRef idx="minor"/>
        </p:style>
        <p:txBody>
          <a:bodyPr lIns="90000" tIns="-17640" rIns="90000" bIns="-17640" anchor="t">
            <a:noAutofit/>
          </a:bodyPr>
          <a:lstStyle/>
          <a:p>
            <a:pPr defTabSz="914400">
              <a:lnSpc>
                <a:spcPct val="100000"/>
              </a:lnSpc>
            </a:pPr>
            <a:endParaRPr lang="en-US" sz="1800" b="0" strike="noStrike" spc="-1">
              <a:solidFill>
                <a:schemeClr val="dk1"/>
              </a:solidFill>
              <a:latin typeface="Calibri"/>
            </a:endParaRPr>
          </a:p>
        </p:txBody>
      </p:sp>
      <p:sp>
        <p:nvSpPr>
          <p:cNvPr id="322" name="Shape 26"/>
          <p:cNvSpPr/>
          <p:nvPr/>
        </p:nvSpPr>
        <p:spPr>
          <a:xfrm>
            <a:off x="1965960" y="2816280"/>
            <a:ext cx="27000" cy="319680"/>
          </a:xfrm>
          <a:prstGeom prst="rect">
            <a:avLst/>
          </a:prstGeom>
          <a:solidFill>
            <a:srgbClr val="00963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323" name="Shape 27"/>
          <p:cNvSpPr/>
          <p:nvPr/>
        </p:nvSpPr>
        <p:spPr>
          <a:xfrm>
            <a:off x="6327720" y="2816280"/>
            <a:ext cx="27000" cy="319680"/>
          </a:xfrm>
          <a:prstGeom prst="rect">
            <a:avLst/>
          </a:prstGeom>
          <a:solidFill>
            <a:srgbClr val="00963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324" name="Text 28"/>
          <p:cNvSpPr/>
          <p:nvPr/>
        </p:nvSpPr>
        <p:spPr>
          <a:xfrm>
            <a:off x="2286000" y="3154680"/>
            <a:ext cx="384012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strike="noStrike" spc="-1">
                <a:solidFill>
                  <a:srgbClr val="009639"/>
                </a:solidFill>
                <a:latin typeface="Calibri"/>
                <a:ea typeface="Calibri"/>
              </a:rPr>
              <a:t>◀  Direct return (bypasses BIG-IP)</a:t>
            </a:r>
            <a:endParaRPr lang="en-US" sz="900" b="0" strike="noStrike" spc="-1">
              <a:solidFill>
                <a:srgbClr val="000000"/>
              </a:solidFill>
              <a:latin typeface="Arial"/>
            </a:endParaRPr>
          </a:p>
        </p:txBody>
      </p:sp>
      <p:sp>
        <p:nvSpPr>
          <p:cNvPr id="325" name="Shape 29"/>
          <p:cNvSpPr/>
          <p:nvPr/>
        </p:nvSpPr>
        <p:spPr>
          <a:xfrm>
            <a:off x="5074920" y="1188720"/>
            <a:ext cx="1188360" cy="411120"/>
          </a:xfrm>
          <a:prstGeom prst="rect">
            <a:avLst/>
          </a:prstGeom>
          <a:solidFill>
            <a:srgbClr val="FDE8E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326" name="Text 30"/>
          <p:cNvSpPr/>
          <p:nvPr/>
        </p:nvSpPr>
        <p:spPr>
          <a:xfrm>
            <a:off x="5102280" y="1188720"/>
            <a:ext cx="11426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1" strike="noStrike" spc="-1">
                <a:solidFill>
                  <a:srgbClr val="E4002B"/>
                </a:solidFill>
                <a:latin typeface="Calibri"/>
              </a:rPr>
              <a:t>MAC rewrite only</a:t>
            </a:r>
            <a:endParaRPr lang="en-US" sz="800" b="0" strike="noStrike" spc="-1">
              <a:solidFill>
                <a:srgbClr val="000000"/>
              </a:solidFill>
              <a:latin typeface="Arial"/>
            </a:endParaRPr>
          </a:p>
          <a:p>
            <a:pPr defTabSz="914400">
              <a:lnSpc>
                <a:spcPct val="100000"/>
              </a:lnSpc>
              <a:tabLst>
                <a:tab pos="0" algn="l"/>
              </a:tabLst>
            </a:pPr>
            <a:r>
              <a:rPr lang="en-US" sz="700" b="0" strike="noStrike" spc="-1">
                <a:solidFill>
                  <a:srgbClr val="333333"/>
                </a:solidFill>
                <a:latin typeface="Courier New"/>
                <a:ea typeface="Courier New"/>
              </a:rPr>
              <a:t>Src: 192.168.1.50</a:t>
            </a:r>
            <a:endParaRPr lang="en-US" sz="700" b="0" strike="noStrike" spc="-1">
              <a:solidFill>
                <a:srgbClr val="000000"/>
              </a:solidFill>
              <a:latin typeface="Arial"/>
            </a:endParaRPr>
          </a:p>
          <a:p>
            <a:pPr defTabSz="914400">
              <a:lnSpc>
                <a:spcPct val="100000"/>
              </a:lnSpc>
              <a:tabLst>
                <a:tab pos="0" algn="l"/>
              </a:tabLst>
            </a:pPr>
            <a:r>
              <a:rPr lang="en-US" sz="700" b="0" strike="noStrike" spc="-1">
                <a:solidFill>
                  <a:srgbClr val="333333"/>
                </a:solidFill>
                <a:latin typeface="Courier New"/>
                <a:ea typeface="Courier New"/>
              </a:rPr>
              <a:t>Dst: 10.1.10.100</a:t>
            </a:r>
            <a:endParaRPr lang="en-US" sz="700" b="0" strike="noStrike" spc="-1">
              <a:solidFill>
                <a:srgbClr val="000000"/>
              </a:solidFill>
              <a:latin typeface="Arial"/>
            </a:endParaRPr>
          </a:p>
        </p:txBody>
      </p:sp>
      <p:sp>
        <p:nvSpPr>
          <p:cNvPr id="327" name="Text 31"/>
          <p:cNvSpPr/>
          <p:nvPr/>
        </p:nvSpPr>
        <p:spPr>
          <a:xfrm>
            <a:off x="457200" y="3657600"/>
            <a:ext cx="3657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009639"/>
                </a:solidFill>
                <a:latin typeface="Arial"/>
                <a:ea typeface="Arial"/>
              </a:rPr>
              <a:t>How nPath works</a:t>
            </a:r>
            <a:endParaRPr lang="en-US" sz="1400" b="0" strike="noStrike" spc="-1">
              <a:solidFill>
                <a:srgbClr val="000000"/>
              </a:solidFill>
              <a:latin typeface="Arial"/>
            </a:endParaRPr>
          </a:p>
        </p:txBody>
      </p:sp>
      <p:sp>
        <p:nvSpPr>
          <p:cNvPr id="328" name="Text 32"/>
          <p:cNvSpPr/>
          <p:nvPr/>
        </p:nvSpPr>
        <p:spPr>
          <a:xfrm>
            <a:off x="457200" y="3931920"/>
            <a:ext cx="4114440" cy="86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333333"/>
                </a:solidFill>
                <a:latin typeface="Calibri"/>
                <a:ea typeface="Calibri"/>
              </a:rPr>
              <a:t>The BIG-IP rewrites only the destination MAC address (Layer 2) to direct the packet to the selected server. The IP addresses are unchanged. Each server must have the VIP address configured on a loopback interface (non-ARP) so it can accept and respond to traffic destined for that IP. The server responds directly to the client using its own routing table.</a:t>
            </a:r>
            <a:endParaRPr lang="en-US" sz="1000" b="0" strike="noStrike" spc="-1">
              <a:solidFill>
                <a:srgbClr val="000000"/>
              </a:solidFill>
              <a:latin typeface="Arial"/>
            </a:endParaRPr>
          </a:p>
        </p:txBody>
      </p:sp>
      <p:sp>
        <p:nvSpPr>
          <p:cNvPr id="329" name="Text 33"/>
          <p:cNvSpPr/>
          <p:nvPr/>
        </p:nvSpPr>
        <p:spPr>
          <a:xfrm>
            <a:off x="5029200" y="3657600"/>
            <a:ext cx="3657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E4002B"/>
                </a:solidFill>
                <a:latin typeface="Arial"/>
                <a:ea typeface="Arial"/>
              </a:rPr>
              <a:t>Features NOT available</a:t>
            </a:r>
            <a:endParaRPr lang="en-US" sz="1400" b="0" strike="noStrike" spc="-1">
              <a:solidFill>
                <a:srgbClr val="000000"/>
              </a:solidFill>
              <a:latin typeface="Arial"/>
            </a:endParaRPr>
          </a:p>
        </p:txBody>
      </p:sp>
      <p:sp>
        <p:nvSpPr>
          <p:cNvPr id="330" name="Text 34"/>
          <p:cNvSpPr/>
          <p:nvPr/>
        </p:nvSpPr>
        <p:spPr>
          <a:xfrm>
            <a:off x="5029200" y="3931920"/>
            <a:ext cx="3657240" cy="86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marL="343080" indent="-343080" defTabSz="914400">
              <a:lnSpc>
                <a:spcPct val="100000"/>
              </a:lnSpc>
              <a:buClr>
                <a:srgbClr val="333333"/>
              </a:buClr>
              <a:buFont typeface="Symbol" charset="2"/>
              <a:buChar char=""/>
            </a:pPr>
            <a:r>
              <a:rPr lang="en-US" sz="1000" b="0" strike="noStrike" spc="-1">
                <a:solidFill>
                  <a:srgbClr val="333333"/>
                </a:solidFill>
                <a:latin typeface="Calibri"/>
                <a:ea typeface="Calibri"/>
              </a:rPr>
              <a:t>No server-side connection tracking</a:t>
            </a:r>
            <a:endParaRPr lang="en-US" sz="1000" b="0" strike="noStrike" spc="-1">
              <a:solidFill>
                <a:srgbClr val="000000"/>
              </a:solidFill>
              <a:latin typeface="Arial"/>
            </a:endParaRPr>
          </a:p>
          <a:p>
            <a:pPr marL="343080" indent="-343080" defTabSz="914400">
              <a:lnSpc>
                <a:spcPct val="100000"/>
              </a:lnSpc>
              <a:buClr>
                <a:srgbClr val="333333"/>
              </a:buClr>
              <a:buFont typeface="Symbol" charset="2"/>
              <a:buChar char=""/>
            </a:pPr>
            <a:r>
              <a:rPr lang="en-US" sz="1000" b="0" strike="noStrike" spc="-1">
                <a:solidFill>
                  <a:srgbClr val="333333"/>
                </a:solidFill>
                <a:latin typeface="Calibri"/>
                <a:ea typeface="Calibri"/>
              </a:rPr>
              <a:t>No cookie persistence (no return traffic to read)</a:t>
            </a:r>
            <a:endParaRPr lang="en-US" sz="1000" b="0" strike="noStrike" spc="-1">
              <a:solidFill>
                <a:srgbClr val="000000"/>
              </a:solidFill>
              <a:latin typeface="Arial"/>
            </a:endParaRPr>
          </a:p>
          <a:p>
            <a:pPr marL="343080" indent="-343080" defTabSz="914400">
              <a:lnSpc>
                <a:spcPct val="100000"/>
              </a:lnSpc>
              <a:buClr>
                <a:srgbClr val="333333"/>
              </a:buClr>
              <a:buFont typeface="Symbol" charset="2"/>
              <a:buChar char=""/>
            </a:pPr>
            <a:r>
              <a:rPr lang="en-US" sz="1000" b="0" strike="noStrike" spc="-1">
                <a:solidFill>
                  <a:srgbClr val="333333"/>
                </a:solidFill>
                <a:latin typeface="Calibri"/>
                <a:ea typeface="Calibri"/>
              </a:rPr>
              <a:t>No HTTP response modification</a:t>
            </a:r>
            <a:endParaRPr lang="en-US" sz="1000" b="0" strike="noStrike" spc="-1">
              <a:solidFill>
                <a:srgbClr val="000000"/>
              </a:solidFill>
              <a:latin typeface="Arial"/>
            </a:endParaRPr>
          </a:p>
          <a:p>
            <a:pPr marL="343080" indent="-343080" defTabSz="914400">
              <a:lnSpc>
                <a:spcPct val="100000"/>
              </a:lnSpc>
              <a:buClr>
                <a:srgbClr val="333333"/>
              </a:buClr>
              <a:buFont typeface="Symbol" charset="2"/>
              <a:buChar char=""/>
            </a:pPr>
            <a:r>
              <a:rPr lang="en-US" sz="1000" b="0" strike="noStrike" spc="-1">
                <a:solidFill>
                  <a:srgbClr val="333333"/>
                </a:solidFill>
                <a:latin typeface="Calibri"/>
                <a:ea typeface="Calibri"/>
              </a:rPr>
              <a:t>No server-SSL (re-encryption)</a:t>
            </a:r>
            <a:endParaRPr lang="en-US" sz="1000" b="0" strike="noStrike" spc="-1">
              <a:solidFill>
                <a:srgbClr val="000000"/>
              </a:solidFill>
              <a:latin typeface="Arial"/>
            </a:endParaRPr>
          </a:p>
          <a:p>
            <a:pPr marL="343080" indent="-343080" defTabSz="914400">
              <a:lnSpc>
                <a:spcPct val="100000"/>
              </a:lnSpc>
              <a:buClr>
                <a:srgbClr val="333333"/>
              </a:buClr>
              <a:buFont typeface="Symbol" charset="2"/>
              <a:buChar char=""/>
            </a:pPr>
            <a:r>
              <a:rPr lang="en-US" sz="1000" b="0" strike="noStrike" spc="-1">
                <a:solidFill>
                  <a:srgbClr val="333333"/>
                </a:solidFill>
                <a:latin typeface="Calibri"/>
                <a:ea typeface="Calibri"/>
              </a:rPr>
              <a:t>No compression of server responses</a:t>
            </a:r>
            <a:endParaRPr lang="en-US" sz="1000" b="0" strike="noStrike" spc="-1">
              <a:solidFill>
                <a:srgbClr val="000000"/>
              </a:solidFill>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1"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332"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333"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334"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335"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336"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14    © 2026 F5</a:t>
            </a:r>
            <a:endParaRPr lang="en-US" sz="800" b="0" strike="noStrike" spc="-1">
              <a:solidFill>
                <a:srgbClr val="000000"/>
              </a:solidFill>
              <a:latin typeface="Arial"/>
            </a:endParaRPr>
          </a:p>
        </p:txBody>
      </p:sp>
      <p:pic>
        <p:nvPicPr>
          <p:cNvPr id="337" name="Image 0" descr="preencoded.png"/>
          <p:cNvPicPr/>
          <p:nvPr/>
        </p:nvPicPr>
        <p:blipFill>
          <a:blip r:embed="rId3"/>
          <a:stretch/>
        </p:blipFill>
        <p:spPr>
          <a:xfrm>
            <a:off x="8458200" y="4663440"/>
            <a:ext cx="383760" cy="383760"/>
          </a:xfrm>
          <a:prstGeom prst="rect">
            <a:avLst/>
          </a:prstGeom>
          <a:ln w="0">
            <a:noFill/>
          </a:ln>
        </p:spPr>
      </p:pic>
      <p:sp>
        <p:nvSpPr>
          <p:cNvPr id="338" name="Text 6"/>
          <p:cNvSpPr/>
          <p:nvPr/>
        </p:nvSpPr>
        <p:spPr>
          <a:xfrm>
            <a:off x="457200" y="274320"/>
            <a:ext cx="82292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SNAT types</a:t>
            </a:r>
            <a:endParaRPr lang="en-US" sz="2800" b="0" strike="noStrike" spc="-1">
              <a:solidFill>
                <a:srgbClr val="000000"/>
              </a:solidFill>
              <a:latin typeface="Arial"/>
            </a:endParaRPr>
          </a:p>
        </p:txBody>
      </p:sp>
      <p:sp>
        <p:nvSpPr>
          <p:cNvPr id="339" name="Text 7"/>
          <p:cNvSpPr/>
          <p:nvPr/>
        </p:nvSpPr>
        <p:spPr>
          <a:xfrm>
            <a:off x="457200" y="68580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strike="noStrike" spc="-1">
                <a:solidFill>
                  <a:srgbClr val="666666"/>
                </a:solidFill>
                <a:latin typeface="Calibri"/>
                <a:ea typeface="Calibri"/>
              </a:rPr>
              <a:t>Reference table - when to use each source address translation type</a:t>
            </a:r>
            <a:endParaRPr lang="en-US" sz="1400" b="0" strike="noStrike" spc="-1">
              <a:solidFill>
                <a:srgbClr val="000000"/>
              </a:solidFill>
              <a:latin typeface="Arial"/>
            </a:endParaRPr>
          </a:p>
        </p:txBody>
      </p:sp>
      <p:graphicFrame>
        <p:nvGraphicFramePr>
          <p:cNvPr id="340" name="Table 0"/>
          <p:cNvGraphicFramePr/>
          <p:nvPr/>
        </p:nvGraphicFramePr>
        <p:xfrm>
          <a:off x="365760" y="1097280"/>
          <a:ext cx="8412480" cy="1539240"/>
        </p:xfrm>
        <a:graphic>
          <a:graphicData uri="http://schemas.openxmlformats.org/drawingml/2006/table">
            <a:tbl>
              <a:tblPr/>
              <a:tblGrid>
                <a:gridCol w="109728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468880">
                  <a:extLst>
                    <a:ext uri="{9D8B030D-6E8A-4147-A177-3AD203B41FA5}">
                      <a16:colId xmlns:a16="http://schemas.microsoft.com/office/drawing/2014/main" val="20003"/>
                    </a:ext>
                  </a:extLst>
                </a:gridCol>
              </a:tblGrid>
              <a:tr h="0">
                <a:tc>
                  <a:txBody>
                    <a:bodyPr/>
                    <a:lstStyle/>
                    <a:p>
                      <a:pPr defTabSz="914400">
                        <a:lnSpc>
                          <a:spcPct val="100000"/>
                        </a:lnSpc>
                        <a:tabLst>
                          <a:tab pos="0" algn="l"/>
                        </a:tabLst>
                      </a:pPr>
                      <a:r>
                        <a:rPr lang="en-US" sz="1100" b="1" strike="noStrike" spc="-1">
                          <a:solidFill>
                            <a:srgbClr val="FFFFFF"/>
                          </a:solidFill>
                          <a:latin typeface="Calibri"/>
                        </a:rPr>
                        <a:t>Type</a:t>
                      </a:r>
                      <a:endParaRPr lang="en-US" sz="1100" b="0" strike="noStrike" spc="-1">
                        <a:solidFill>
                          <a:srgbClr val="FFFFFF"/>
                        </a:solidFill>
                        <a:latin typeface="Arial"/>
                      </a:endParaRPr>
                    </a:p>
                  </a:txBody>
                  <a:tcPr marL="101520" marR="10152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E41AA"/>
                    </a:solidFill>
                  </a:tcPr>
                </a:tc>
                <a:tc>
                  <a:txBody>
                    <a:bodyPr/>
                    <a:lstStyle/>
                    <a:p>
                      <a:pPr defTabSz="914400">
                        <a:lnSpc>
                          <a:spcPct val="100000"/>
                        </a:lnSpc>
                        <a:tabLst>
                          <a:tab pos="0" algn="l"/>
                        </a:tabLst>
                      </a:pPr>
                      <a:r>
                        <a:rPr lang="en-US" sz="1100" b="1" strike="noStrike" spc="-1">
                          <a:solidFill>
                            <a:srgbClr val="FFFFFF"/>
                          </a:solidFill>
                          <a:latin typeface="Calibri"/>
                        </a:rPr>
                        <a:t>Source IP becomes</a:t>
                      </a:r>
                      <a:endParaRPr lang="en-US" sz="1100" b="0" strike="noStrike" spc="-1">
                        <a:solidFill>
                          <a:srgbClr val="FFFFFF"/>
                        </a:solidFill>
                        <a:latin typeface="Arial"/>
                      </a:endParaRPr>
                    </a:p>
                  </a:txBody>
                  <a:tcPr marL="101520" marR="10152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E41AA"/>
                    </a:solidFill>
                  </a:tcPr>
                </a:tc>
                <a:tc>
                  <a:txBody>
                    <a:bodyPr/>
                    <a:lstStyle/>
                    <a:p>
                      <a:pPr defTabSz="914400">
                        <a:lnSpc>
                          <a:spcPct val="100000"/>
                        </a:lnSpc>
                        <a:tabLst>
                          <a:tab pos="0" algn="l"/>
                        </a:tabLst>
                      </a:pPr>
                      <a:r>
                        <a:rPr lang="en-US" sz="1100" b="1" strike="noStrike" spc="-1">
                          <a:solidFill>
                            <a:srgbClr val="FFFFFF"/>
                          </a:solidFill>
                          <a:latin typeface="Calibri"/>
                        </a:rPr>
                        <a:t>Use when</a:t>
                      </a:r>
                      <a:endParaRPr lang="en-US" sz="1100" b="0" strike="noStrike" spc="-1">
                        <a:solidFill>
                          <a:srgbClr val="FFFFFF"/>
                        </a:solidFill>
                        <a:latin typeface="Arial"/>
                      </a:endParaRPr>
                    </a:p>
                  </a:txBody>
                  <a:tcPr marL="101520" marR="10152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E41AA"/>
                    </a:solidFill>
                  </a:tcPr>
                </a:tc>
                <a:tc>
                  <a:txBody>
                    <a:bodyPr/>
                    <a:lstStyle/>
                    <a:p>
                      <a:pPr defTabSz="914400">
                        <a:lnSpc>
                          <a:spcPct val="100000"/>
                        </a:lnSpc>
                        <a:tabLst>
                          <a:tab pos="0" algn="l"/>
                        </a:tabLst>
                      </a:pPr>
                      <a:r>
                        <a:rPr lang="en-US" sz="1100" b="1" strike="noStrike" spc="-1">
                          <a:solidFill>
                            <a:srgbClr val="FFFFFF"/>
                          </a:solidFill>
                          <a:latin typeface="Calibri"/>
                        </a:rPr>
                        <a:t>Limitation</a:t>
                      </a:r>
                      <a:endParaRPr lang="en-US" sz="1100" b="0" strike="noStrike" spc="-1">
                        <a:solidFill>
                          <a:srgbClr val="FFFFFF"/>
                        </a:solidFill>
                        <a:latin typeface="Arial"/>
                      </a:endParaRPr>
                    </a:p>
                  </a:txBody>
                  <a:tcPr marL="101520" marR="10152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E41AA"/>
                    </a:solidFill>
                  </a:tcPr>
                </a:tc>
                <a:extLst>
                  <a:ext uri="{0D108BD9-81ED-4DB2-BD59-A6C34878D82A}">
                    <a16:rowId xmlns:a16="http://schemas.microsoft.com/office/drawing/2014/main" val="10000"/>
                  </a:ext>
                </a:extLst>
              </a:tr>
              <a:tr h="0">
                <a:tc>
                  <a:txBody>
                    <a:bodyPr/>
                    <a:lstStyle/>
                    <a:p>
                      <a:pPr defTabSz="914400">
                        <a:lnSpc>
                          <a:spcPct val="100000"/>
                        </a:lnSpc>
                        <a:tabLst>
                          <a:tab pos="0" algn="l"/>
                        </a:tabLst>
                      </a:pPr>
                      <a:r>
                        <a:rPr lang="en-US" sz="1100" b="1" strike="noStrike" spc="-1">
                          <a:solidFill>
                            <a:srgbClr val="000000"/>
                          </a:solidFill>
                          <a:latin typeface="Calibri"/>
                        </a:rPr>
                        <a:t>None</a:t>
                      </a:r>
                      <a:endParaRPr lang="en-US" sz="1100" b="0" strike="noStrike" spc="-1">
                        <a:solidFill>
                          <a:srgbClr val="000000"/>
                        </a:solidFill>
                        <a:latin typeface="Arial"/>
                      </a:endParaRPr>
                    </a:p>
                  </a:txBody>
                  <a:tcPr marL="101520" marR="10152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1100" b="0" strike="noStrike" spc="-1">
                          <a:solidFill>
                            <a:srgbClr val="333333"/>
                          </a:solidFill>
                          <a:latin typeface="Calibri"/>
                        </a:rPr>
                        <a:t>Unchanged</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rgbClr val="333333"/>
                          </a:solidFill>
                          <a:latin typeface="Calibri"/>
                        </a:rPr>
                        <a:t>(original client IP)</a:t>
                      </a:r>
                      <a:endParaRPr lang="en-US" sz="1100" b="0" strike="noStrike" spc="-1">
                        <a:solidFill>
                          <a:srgbClr val="000000"/>
                        </a:solidFill>
                        <a:latin typeface="Arial"/>
                      </a:endParaRPr>
                    </a:p>
                  </a:txBody>
                  <a:tcPr marL="101520" marR="10152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1100" b="0" strike="noStrike" spc="-1">
                          <a:solidFill>
                            <a:srgbClr val="333333"/>
                          </a:solidFill>
                          <a:latin typeface="Calibri"/>
                        </a:rPr>
                        <a:t>Server default gateway is the BIG-IP, or using nPath/DSR</a:t>
                      </a:r>
                      <a:endParaRPr lang="en-US" sz="1100" b="0" strike="noStrike" spc="-1">
                        <a:solidFill>
                          <a:srgbClr val="000000"/>
                        </a:solidFill>
                        <a:latin typeface="Arial"/>
                      </a:endParaRPr>
                    </a:p>
                  </a:txBody>
                  <a:tcPr marL="101520" marR="10152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1100" b="0" strike="noStrike" spc="-1">
                          <a:solidFill>
                            <a:srgbClr val="333333"/>
                          </a:solidFill>
                          <a:latin typeface="Calibri"/>
                        </a:rPr>
                        <a:t>Servers must route return traffic through BIG-IP</a:t>
                      </a:r>
                      <a:endParaRPr lang="en-US" sz="1100" b="0" strike="noStrike" spc="-1">
                        <a:solidFill>
                          <a:srgbClr val="000000"/>
                        </a:solidFill>
                        <a:latin typeface="Arial"/>
                      </a:endParaRPr>
                    </a:p>
                  </a:txBody>
                  <a:tcPr marL="101520" marR="10152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1"/>
                  </a:ext>
                </a:extLst>
              </a:tr>
              <a:tr h="0">
                <a:tc>
                  <a:txBody>
                    <a:bodyPr/>
                    <a:lstStyle/>
                    <a:p>
                      <a:pPr defTabSz="914400">
                        <a:lnSpc>
                          <a:spcPct val="100000"/>
                        </a:lnSpc>
                        <a:tabLst>
                          <a:tab pos="0" algn="l"/>
                        </a:tabLst>
                      </a:pPr>
                      <a:r>
                        <a:rPr lang="en-US" sz="1100" b="1" strike="noStrike" spc="-1">
                          <a:solidFill>
                            <a:srgbClr val="000000"/>
                          </a:solidFill>
                          <a:latin typeface="Calibri"/>
                        </a:rPr>
                        <a:t>Automap</a:t>
                      </a:r>
                      <a:endParaRPr lang="en-US" sz="1100" b="0" strike="noStrike" spc="-1">
                        <a:solidFill>
                          <a:srgbClr val="000000"/>
                        </a:solidFill>
                        <a:latin typeface="Arial"/>
                      </a:endParaRPr>
                    </a:p>
                  </a:txBody>
                  <a:tcPr marL="101520" marR="10152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1100" b="0" strike="noStrike" spc="-1">
                          <a:solidFill>
                            <a:srgbClr val="333333"/>
                          </a:solidFill>
                          <a:latin typeface="Calibri"/>
                        </a:rPr>
                        <a:t>Floating self IP of the</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rgbClr val="333333"/>
                          </a:solidFill>
                          <a:latin typeface="Calibri"/>
                        </a:rPr>
                        <a:t>egress VLAN</a:t>
                      </a:r>
                      <a:endParaRPr lang="en-US" sz="1100" b="0" strike="noStrike" spc="-1">
                        <a:solidFill>
                          <a:srgbClr val="000000"/>
                        </a:solidFill>
                        <a:latin typeface="Arial"/>
                      </a:endParaRPr>
                    </a:p>
                  </a:txBody>
                  <a:tcPr marL="101520" marR="10152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1100" b="0" strike="noStrike" spc="-1">
                          <a:solidFill>
                            <a:srgbClr val="333333"/>
                          </a:solidFill>
                          <a:latin typeface="Calibri"/>
                        </a:rPr>
                        <a:t>Simple deployments where server doesn't need client IP in L3 header</a:t>
                      </a:r>
                      <a:endParaRPr lang="en-US" sz="1100" b="0" strike="noStrike" spc="-1">
                        <a:solidFill>
                          <a:srgbClr val="000000"/>
                        </a:solidFill>
                        <a:latin typeface="Arial"/>
                      </a:endParaRPr>
                    </a:p>
                  </a:txBody>
                  <a:tcPr marL="101520" marR="10152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1100" b="1" strike="noStrike" spc="-1">
                          <a:solidFill>
                            <a:srgbClr val="E4002B"/>
                          </a:solidFill>
                          <a:latin typeface="Calibri"/>
                        </a:rPr>
                        <a:t>~65,535 connections per self IP (ephemeral port limit)</a:t>
                      </a:r>
                      <a:endParaRPr lang="en-US" sz="1100" b="0" strike="noStrike" spc="-1">
                        <a:solidFill>
                          <a:srgbClr val="000000"/>
                        </a:solidFill>
                        <a:latin typeface="Arial"/>
                      </a:endParaRPr>
                    </a:p>
                  </a:txBody>
                  <a:tcPr marL="101520" marR="10152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2"/>
                  </a:ext>
                </a:extLst>
              </a:tr>
              <a:tr h="0">
                <a:tc>
                  <a:txBody>
                    <a:bodyPr/>
                    <a:lstStyle/>
                    <a:p>
                      <a:pPr defTabSz="914400">
                        <a:lnSpc>
                          <a:spcPct val="100000"/>
                        </a:lnSpc>
                        <a:tabLst>
                          <a:tab pos="0" algn="l"/>
                        </a:tabLst>
                      </a:pPr>
                      <a:r>
                        <a:rPr lang="en-US" sz="1100" b="1" strike="noStrike" spc="-1">
                          <a:solidFill>
                            <a:srgbClr val="000000"/>
                          </a:solidFill>
                          <a:latin typeface="Calibri"/>
                        </a:rPr>
                        <a:t>SNAT pool</a:t>
                      </a:r>
                      <a:endParaRPr lang="en-US" sz="1100" b="0" strike="noStrike" spc="-1">
                        <a:solidFill>
                          <a:srgbClr val="000000"/>
                        </a:solidFill>
                        <a:latin typeface="Arial"/>
                      </a:endParaRPr>
                    </a:p>
                  </a:txBody>
                  <a:tcPr marL="101520" marR="10152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1100" b="0" strike="noStrike" spc="-1">
                          <a:solidFill>
                            <a:srgbClr val="333333"/>
                          </a:solidFill>
                          <a:latin typeface="Calibri"/>
                        </a:rPr>
                        <a:t>Rotates through pool of</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rgbClr val="333333"/>
                          </a:solidFill>
                          <a:latin typeface="Calibri"/>
                        </a:rPr>
                        <a:t>dedicated SNAT addresses</a:t>
                      </a:r>
                      <a:endParaRPr lang="en-US" sz="1100" b="0" strike="noStrike" spc="-1">
                        <a:solidFill>
                          <a:srgbClr val="000000"/>
                        </a:solidFill>
                        <a:latin typeface="Arial"/>
                      </a:endParaRPr>
                    </a:p>
                  </a:txBody>
                  <a:tcPr marL="101520" marR="10152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1100" b="0" strike="noStrike" spc="-1">
                          <a:solidFill>
                            <a:srgbClr val="333333"/>
                          </a:solidFill>
                          <a:latin typeface="Calibri"/>
                        </a:rPr>
                        <a:t>High connection volume exceeds single-IP ephemeral port limit</a:t>
                      </a:r>
                      <a:endParaRPr lang="en-US" sz="1100" b="0" strike="noStrike" spc="-1">
                        <a:solidFill>
                          <a:srgbClr val="000000"/>
                        </a:solidFill>
                        <a:latin typeface="Arial"/>
                      </a:endParaRPr>
                    </a:p>
                  </a:txBody>
                  <a:tcPr marL="101520" marR="10152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1100" b="0" strike="noStrike" spc="-1">
                          <a:solidFill>
                            <a:srgbClr val="333333"/>
                          </a:solidFill>
                          <a:latin typeface="Calibri"/>
                        </a:rPr>
                        <a:t>Requires additional IP addresses on server VLAN</a:t>
                      </a:r>
                      <a:endParaRPr lang="en-US" sz="1100" b="0" strike="noStrike" spc="-1">
                        <a:solidFill>
                          <a:srgbClr val="000000"/>
                        </a:solidFill>
                        <a:latin typeface="Arial"/>
                      </a:endParaRPr>
                    </a:p>
                  </a:txBody>
                  <a:tcPr marL="101520" marR="10152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341" name="Shape 8"/>
          <p:cNvSpPr/>
          <p:nvPr/>
        </p:nvSpPr>
        <p:spPr>
          <a:xfrm>
            <a:off x="365760" y="3200400"/>
            <a:ext cx="8412120" cy="776880"/>
          </a:xfrm>
          <a:prstGeom prst="rect">
            <a:avLst/>
          </a:prstGeom>
          <a:solidFill>
            <a:srgbClr val="E8F5E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342" name="Text 9"/>
          <p:cNvSpPr/>
          <p:nvPr/>
        </p:nvSpPr>
        <p:spPr>
          <a:xfrm>
            <a:off x="548640" y="3246120"/>
            <a:ext cx="804636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1" strike="noStrike" spc="-1">
                <a:solidFill>
                  <a:srgbClr val="009639"/>
                </a:solidFill>
                <a:latin typeface="Calibri"/>
                <a:ea typeface="Calibri"/>
              </a:rPr>
              <a:t>X-Forwarded-For header</a:t>
            </a:r>
            <a:endParaRPr lang="en-US" sz="1300" b="0" strike="noStrike" spc="-1">
              <a:solidFill>
                <a:srgbClr val="000000"/>
              </a:solidFill>
              <a:latin typeface="Arial"/>
            </a:endParaRPr>
          </a:p>
          <a:p>
            <a:pPr defTabSz="914400">
              <a:lnSpc>
                <a:spcPct val="100000"/>
              </a:lnSpc>
              <a:tabLst>
                <a:tab pos="0" algn="l"/>
              </a:tabLst>
            </a:pPr>
            <a:r>
              <a:rPr lang="en-US" sz="1100" b="0" strike="noStrike" spc="-1">
                <a:solidFill>
                  <a:srgbClr val="1B5E20"/>
                </a:solidFill>
                <a:latin typeface="Calibri"/>
                <a:ea typeface="Calibri"/>
              </a:rPr>
              <a:t>When SNAT replaces the client IP, the server loses visibility of the original source. Enable the X-Forwarded-For (XFF) option in the HTTP profile to insert the original client IP as an HTTP header. The server application can then read this header for logging, access control, or geolocation. XFF only works for HTTP/HTTPS traffic - non-HTTP protocols (FTP, SMTP, DNS) lose client IP visibility entirely when SNAT is used.</a:t>
            </a:r>
            <a:endParaRPr lang="en-US" sz="1100" b="0" strike="noStrike" spc="-1">
              <a:solidFill>
                <a:srgbClr val="000000"/>
              </a:solidFill>
              <a:latin typeface="Arial"/>
            </a:endParaRPr>
          </a:p>
        </p:txBody>
      </p:sp>
      <p:sp>
        <p:nvSpPr>
          <p:cNvPr id="343" name="Text 10"/>
          <p:cNvSpPr/>
          <p:nvPr/>
        </p:nvSpPr>
        <p:spPr>
          <a:xfrm>
            <a:off x="457200" y="4114800"/>
            <a:ext cx="822924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strike="noStrike" spc="-1">
                <a:solidFill>
                  <a:srgbClr val="0E41AA"/>
                </a:solidFill>
                <a:latin typeface="Calibri"/>
                <a:ea typeface="Calibri"/>
              </a:rPr>
              <a:t>SNAT object vs virtual server SNAT: </a:t>
            </a:r>
            <a:r>
              <a:rPr lang="en-US" sz="1000" b="0" strike="noStrike" spc="-1">
                <a:solidFill>
                  <a:srgbClr val="333333"/>
                </a:solidFill>
                <a:latin typeface="Calibri"/>
                <a:ea typeface="Calibri"/>
              </a:rPr>
              <a:t>A standalone SNAT object (created under Local Traffic &gt; Address Translation &gt; SNAT) translates outbound server-initiated traffic without a virtual server. The virtual server's Source Address Translation setting (None/Automap/SNAT Pool) translates traffic processed by that VS. They serve different purposes.</a:t>
            </a:r>
            <a:endParaRPr lang="en-US" sz="1000" b="0" strike="noStrike" spc="-1">
              <a:solidFill>
                <a:srgbClr val="000000"/>
              </a:solidFill>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4"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345"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346"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347"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348"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349"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15    © 2026 F5</a:t>
            </a:r>
            <a:endParaRPr lang="en-US" sz="800" b="0" strike="noStrike" spc="-1">
              <a:solidFill>
                <a:srgbClr val="000000"/>
              </a:solidFill>
              <a:latin typeface="Arial"/>
            </a:endParaRPr>
          </a:p>
        </p:txBody>
      </p:sp>
      <p:pic>
        <p:nvPicPr>
          <p:cNvPr id="350" name="Image 0" descr="preencoded.png"/>
          <p:cNvPicPr/>
          <p:nvPr/>
        </p:nvPicPr>
        <p:blipFill>
          <a:blip r:embed="rId3"/>
          <a:stretch/>
        </p:blipFill>
        <p:spPr>
          <a:xfrm>
            <a:off x="8458200" y="4663440"/>
            <a:ext cx="383760" cy="383760"/>
          </a:xfrm>
          <a:prstGeom prst="rect">
            <a:avLst/>
          </a:prstGeom>
          <a:ln w="0">
            <a:noFill/>
          </a:ln>
        </p:spPr>
      </p:pic>
      <p:sp>
        <p:nvSpPr>
          <p:cNvPr id="351" name="Text 6"/>
          <p:cNvSpPr/>
          <p:nvPr/>
        </p:nvSpPr>
        <p:spPr>
          <a:xfrm>
            <a:off x="457200" y="274320"/>
            <a:ext cx="82292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TMSH syntax orientation</a:t>
            </a:r>
            <a:endParaRPr lang="en-US" sz="2800" b="0" strike="noStrike" spc="-1">
              <a:solidFill>
                <a:srgbClr val="000000"/>
              </a:solidFill>
              <a:latin typeface="Arial"/>
            </a:endParaRPr>
          </a:p>
        </p:txBody>
      </p:sp>
      <p:sp>
        <p:nvSpPr>
          <p:cNvPr id="352" name="Text 7"/>
          <p:cNvSpPr/>
          <p:nvPr/>
        </p:nvSpPr>
        <p:spPr>
          <a:xfrm>
            <a:off x="457200" y="68580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strike="noStrike" spc="-1">
                <a:solidFill>
                  <a:srgbClr val="666666"/>
                </a:solidFill>
                <a:latin typeface="Calibri"/>
                <a:ea typeface="Calibri"/>
              </a:rPr>
              <a:t>Five verbs cover most operations. The module and component follow the verb.</a:t>
            </a:r>
            <a:endParaRPr lang="en-US" sz="1400" b="0" strike="noStrike" spc="-1">
              <a:solidFill>
                <a:srgbClr val="000000"/>
              </a:solidFill>
              <a:latin typeface="Arial"/>
            </a:endParaRPr>
          </a:p>
        </p:txBody>
      </p:sp>
      <p:sp>
        <p:nvSpPr>
          <p:cNvPr id="353" name="Shape 8"/>
          <p:cNvSpPr/>
          <p:nvPr/>
        </p:nvSpPr>
        <p:spPr>
          <a:xfrm>
            <a:off x="457200" y="1143000"/>
            <a:ext cx="1096920" cy="475200"/>
          </a:xfrm>
          <a:prstGeom prst="rect">
            <a:avLst/>
          </a:prstGeom>
          <a:solidFill>
            <a:srgbClr val="00963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354" name="Text 9"/>
          <p:cNvSpPr/>
          <p:nvPr/>
        </p:nvSpPr>
        <p:spPr>
          <a:xfrm>
            <a:off x="457200" y="1143000"/>
            <a:ext cx="1096920"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FFFFFF"/>
                </a:solidFill>
                <a:latin typeface="Courier New"/>
                <a:ea typeface="Courier New"/>
              </a:rPr>
              <a:t>create</a:t>
            </a:r>
            <a:endParaRPr lang="en-US" sz="1400" b="0" strike="noStrike" spc="-1">
              <a:solidFill>
                <a:srgbClr val="000000"/>
              </a:solidFill>
              <a:latin typeface="Arial"/>
            </a:endParaRPr>
          </a:p>
        </p:txBody>
      </p:sp>
      <p:sp>
        <p:nvSpPr>
          <p:cNvPr id="355" name="Text 10"/>
          <p:cNvSpPr/>
          <p:nvPr/>
        </p:nvSpPr>
        <p:spPr>
          <a:xfrm>
            <a:off x="1691640" y="1143000"/>
            <a:ext cx="1554120"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strike="noStrike" spc="-1">
                <a:solidFill>
                  <a:srgbClr val="333333"/>
                </a:solidFill>
                <a:latin typeface="Calibri"/>
                <a:ea typeface="Calibri"/>
              </a:rPr>
              <a:t>Build a new object</a:t>
            </a:r>
            <a:endParaRPr lang="en-US" sz="1200" b="0" strike="noStrike" spc="-1">
              <a:solidFill>
                <a:srgbClr val="000000"/>
              </a:solidFill>
              <a:latin typeface="Arial"/>
            </a:endParaRPr>
          </a:p>
        </p:txBody>
      </p:sp>
      <p:sp>
        <p:nvSpPr>
          <p:cNvPr id="356" name="Shape 11"/>
          <p:cNvSpPr/>
          <p:nvPr/>
        </p:nvSpPr>
        <p:spPr>
          <a:xfrm>
            <a:off x="3291840" y="1143000"/>
            <a:ext cx="5394600" cy="475200"/>
          </a:xfrm>
          <a:prstGeom prst="rect">
            <a:avLst/>
          </a:prstGeom>
          <a:solidFill>
            <a:srgbClr val="1E293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357" name="Text 12"/>
          <p:cNvSpPr/>
          <p:nvPr/>
        </p:nvSpPr>
        <p:spPr>
          <a:xfrm>
            <a:off x="3429000" y="1143000"/>
            <a:ext cx="5120280"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A5F3FC"/>
                </a:solidFill>
                <a:latin typeface="Courier New"/>
                <a:ea typeface="Courier New"/>
              </a:rPr>
              <a:t>create ltm pool www_pool members add { 10.1.20.11:80 }</a:t>
            </a:r>
            <a:endParaRPr lang="en-US" sz="1000" b="0" strike="noStrike" spc="-1">
              <a:solidFill>
                <a:srgbClr val="000000"/>
              </a:solidFill>
              <a:latin typeface="Arial"/>
            </a:endParaRPr>
          </a:p>
        </p:txBody>
      </p:sp>
      <p:sp>
        <p:nvSpPr>
          <p:cNvPr id="358" name="Shape 13"/>
          <p:cNvSpPr/>
          <p:nvPr/>
        </p:nvSpPr>
        <p:spPr>
          <a:xfrm>
            <a:off x="457200" y="1764720"/>
            <a:ext cx="1096920" cy="47520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359" name="Text 14"/>
          <p:cNvSpPr/>
          <p:nvPr/>
        </p:nvSpPr>
        <p:spPr>
          <a:xfrm>
            <a:off x="457200" y="1764720"/>
            <a:ext cx="1096920"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FFFFFF"/>
                </a:solidFill>
                <a:latin typeface="Courier New"/>
                <a:ea typeface="Courier New"/>
              </a:rPr>
              <a:t>modify</a:t>
            </a:r>
            <a:endParaRPr lang="en-US" sz="1400" b="0" strike="noStrike" spc="-1">
              <a:solidFill>
                <a:srgbClr val="000000"/>
              </a:solidFill>
              <a:latin typeface="Arial"/>
            </a:endParaRPr>
          </a:p>
        </p:txBody>
      </p:sp>
      <p:sp>
        <p:nvSpPr>
          <p:cNvPr id="360" name="Text 15"/>
          <p:cNvSpPr/>
          <p:nvPr/>
        </p:nvSpPr>
        <p:spPr>
          <a:xfrm>
            <a:off x="1691640" y="1764720"/>
            <a:ext cx="1554120"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strike="noStrike" spc="-1">
                <a:solidFill>
                  <a:srgbClr val="333333"/>
                </a:solidFill>
                <a:latin typeface="Calibri"/>
                <a:ea typeface="Calibri"/>
              </a:rPr>
              <a:t>Change existing object</a:t>
            </a:r>
            <a:endParaRPr lang="en-US" sz="1200" b="0" strike="noStrike" spc="-1">
              <a:solidFill>
                <a:srgbClr val="000000"/>
              </a:solidFill>
              <a:latin typeface="Arial"/>
            </a:endParaRPr>
          </a:p>
        </p:txBody>
      </p:sp>
      <p:sp>
        <p:nvSpPr>
          <p:cNvPr id="361" name="Shape 16"/>
          <p:cNvSpPr/>
          <p:nvPr/>
        </p:nvSpPr>
        <p:spPr>
          <a:xfrm>
            <a:off x="3291840" y="1764720"/>
            <a:ext cx="5394600" cy="475200"/>
          </a:xfrm>
          <a:prstGeom prst="rect">
            <a:avLst/>
          </a:prstGeom>
          <a:solidFill>
            <a:srgbClr val="1E293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362" name="Text 17"/>
          <p:cNvSpPr/>
          <p:nvPr/>
        </p:nvSpPr>
        <p:spPr>
          <a:xfrm>
            <a:off x="3429000" y="1764720"/>
            <a:ext cx="5120280"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A5F3FC"/>
                </a:solidFill>
                <a:latin typeface="Courier New"/>
                <a:ea typeface="Courier New"/>
              </a:rPr>
              <a:t>modify ltm virtual www_vs source-address-translation { type automap }</a:t>
            </a:r>
            <a:endParaRPr lang="en-US" sz="1000" b="0" strike="noStrike" spc="-1">
              <a:solidFill>
                <a:srgbClr val="000000"/>
              </a:solidFill>
              <a:latin typeface="Arial"/>
            </a:endParaRPr>
          </a:p>
        </p:txBody>
      </p:sp>
      <p:sp>
        <p:nvSpPr>
          <p:cNvPr id="363" name="Shape 18"/>
          <p:cNvSpPr/>
          <p:nvPr/>
        </p:nvSpPr>
        <p:spPr>
          <a:xfrm>
            <a:off x="457200" y="2386440"/>
            <a:ext cx="1096920" cy="47520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364" name="Text 19"/>
          <p:cNvSpPr/>
          <p:nvPr/>
        </p:nvSpPr>
        <p:spPr>
          <a:xfrm>
            <a:off x="457200" y="2386440"/>
            <a:ext cx="1096920"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FFFFFF"/>
                </a:solidFill>
                <a:latin typeface="Courier New"/>
                <a:ea typeface="Courier New"/>
              </a:rPr>
              <a:t>list</a:t>
            </a:r>
            <a:endParaRPr lang="en-US" sz="1400" b="0" strike="noStrike" spc="-1">
              <a:solidFill>
                <a:srgbClr val="000000"/>
              </a:solidFill>
              <a:latin typeface="Arial"/>
            </a:endParaRPr>
          </a:p>
        </p:txBody>
      </p:sp>
      <p:sp>
        <p:nvSpPr>
          <p:cNvPr id="365" name="Text 20"/>
          <p:cNvSpPr/>
          <p:nvPr/>
        </p:nvSpPr>
        <p:spPr>
          <a:xfrm>
            <a:off x="1691640" y="2386440"/>
            <a:ext cx="1554120"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strike="noStrike" spc="-1">
                <a:solidFill>
                  <a:srgbClr val="333333"/>
                </a:solidFill>
                <a:latin typeface="Calibri"/>
                <a:ea typeface="Calibri"/>
              </a:rPr>
              <a:t>Show running config</a:t>
            </a:r>
            <a:endParaRPr lang="en-US" sz="1200" b="0" strike="noStrike" spc="-1">
              <a:solidFill>
                <a:srgbClr val="000000"/>
              </a:solidFill>
              <a:latin typeface="Arial"/>
            </a:endParaRPr>
          </a:p>
        </p:txBody>
      </p:sp>
      <p:sp>
        <p:nvSpPr>
          <p:cNvPr id="366" name="Shape 21"/>
          <p:cNvSpPr/>
          <p:nvPr/>
        </p:nvSpPr>
        <p:spPr>
          <a:xfrm>
            <a:off x="3291840" y="2386440"/>
            <a:ext cx="5394600" cy="475200"/>
          </a:xfrm>
          <a:prstGeom prst="rect">
            <a:avLst/>
          </a:prstGeom>
          <a:solidFill>
            <a:srgbClr val="1E293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367" name="Text 22"/>
          <p:cNvSpPr/>
          <p:nvPr/>
        </p:nvSpPr>
        <p:spPr>
          <a:xfrm>
            <a:off x="3429000" y="2386440"/>
            <a:ext cx="5120280"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A5F3FC"/>
                </a:solidFill>
                <a:latin typeface="Courier New"/>
                <a:ea typeface="Courier New"/>
              </a:rPr>
              <a:t>list ltm virtual www_vs</a:t>
            </a:r>
            <a:endParaRPr lang="en-US" sz="1000" b="0" strike="noStrike" spc="-1">
              <a:solidFill>
                <a:srgbClr val="000000"/>
              </a:solidFill>
              <a:latin typeface="Arial"/>
            </a:endParaRPr>
          </a:p>
        </p:txBody>
      </p:sp>
      <p:sp>
        <p:nvSpPr>
          <p:cNvPr id="368" name="Shape 23"/>
          <p:cNvSpPr/>
          <p:nvPr/>
        </p:nvSpPr>
        <p:spPr>
          <a:xfrm>
            <a:off x="457200" y="3008520"/>
            <a:ext cx="1096920" cy="47520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369" name="Text 24"/>
          <p:cNvSpPr/>
          <p:nvPr/>
        </p:nvSpPr>
        <p:spPr>
          <a:xfrm>
            <a:off x="457200" y="3008520"/>
            <a:ext cx="1096920"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FFFFFF"/>
                </a:solidFill>
                <a:latin typeface="Courier New"/>
                <a:ea typeface="Courier New"/>
              </a:rPr>
              <a:t>show</a:t>
            </a:r>
            <a:endParaRPr lang="en-US" sz="1400" b="0" strike="noStrike" spc="-1">
              <a:solidFill>
                <a:srgbClr val="000000"/>
              </a:solidFill>
              <a:latin typeface="Arial"/>
            </a:endParaRPr>
          </a:p>
        </p:txBody>
      </p:sp>
      <p:sp>
        <p:nvSpPr>
          <p:cNvPr id="370" name="Text 25"/>
          <p:cNvSpPr/>
          <p:nvPr/>
        </p:nvSpPr>
        <p:spPr>
          <a:xfrm>
            <a:off x="1691640" y="3008520"/>
            <a:ext cx="1554120"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strike="noStrike" spc="-1">
                <a:solidFill>
                  <a:srgbClr val="333333"/>
                </a:solidFill>
                <a:latin typeface="Calibri"/>
                <a:ea typeface="Calibri"/>
              </a:rPr>
              <a:t>Show live status/stats</a:t>
            </a:r>
            <a:endParaRPr lang="en-US" sz="1200" b="0" strike="noStrike" spc="-1">
              <a:solidFill>
                <a:srgbClr val="000000"/>
              </a:solidFill>
              <a:latin typeface="Arial"/>
            </a:endParaRPr>
          </a:p>
        </p:txBody>
      </p:sp>
      <p:sp>
        <p:nvSpPr>
          <p:cNvPr id="371" name="Shape 26"/>
          <p:cNvSpPr/>
          <p:nvPr/>
        </p:nvSpPr>
        <p:spPr>
          <a:xfrm>
            <a:off x="3291840" y="3008520"/>
            <a:ext cx="5394600" cy="475200"/>
          </a:xfrm>
          <a:prstGeom prst="rect">
            <a:avLst/>
          </a:prstGeom>
          <a:solidFill>
            <a:srgbClr val="1E293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372" name="Text 27"/>
          <p:cNvSpPr/>
          <p:nvPr/>
        </p:nvSpPr>
        <p:spPr>
          <a:xfrm>
            <a:off x="3429000" y="3008520"/>
            <a:ext cx="5120280"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A5F3FC"/>
                </a:solidFill>
                <a:latin typeface="Courier New"/>
                <a:ea typeface="Courier New"/>
              </a:rPr>
              <a:t>show ltm pool www_pool members</a:t>
            </a:r>
            <a:endParaRPr lang="en-US" sz="1000" b="0" strike="noStrike" spc="-1">
              <a:solidFill>
                <a:srgbClr val="000000"/>
              </a:solidFill>
              <a:latin typeface="Arial"/>
            </a:endParaRPr>
          </a:p>
        </p:txBody>
      </p:sp>
      <p:sp>
        <p:nvSpPr>
          <p:cNvPr id="373" name="Shape 28"/>
          <p:cNvSpPr/>
          <p:nvPr/>
        </p:nvSpPr>
        <p:spPr>
          <a:xfrm>
            <a:off x="457200" y="3630240"/>
            <a:ext cx="1096920" cy="47520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374" name="Text 29"/>
          <p:cNvSpPr/>
          <p:nvPr/>
        </p:nvSpPr>
        <p:spPr>
          <a:xfrm>
            <a:off x="457200" y="3630240"/>
            <a:ext cx="1096920"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FFFFFF"/>
                </a:solidFill>
                <a:latin typeface="Courier New"/>
                <a:ea typeface="Courier New"/>
              </a:rPr>
              <a:t>delete</a:t>
            </a:r>
            <a:endParaRPr lang="en-US" sz="1400" b="0" strike="noStrike" spc="-1">
              <a:solidFill>
                <a:srgbClr val="000000"/>
              </a:solidFill>
              <a:latin typeface="Arial"/>
            </a:endParaRPr>
          </a:p>
        </p:txBody>
      </p:sp>
      <p:sp>
        <p:nvSpPr>
          <p:cNvPr id="375" name="Text 30"/>
          <p:cNvSpPr/>
          <p:nvPr/>
        </p:nvSpPr>
        <p:spPr>
          <a:xfrm>
            <a:off x="1691640" y="3630240"/>
            <a:ext cx="1554120"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strike="noStrike" spc="-1">
                <a:solidFill>
                  <a:srgbClr val="333333"/>
                </a:solidFill>
                <a:latin typeface="Calibri"/>
                <a:ea typeface="Calibri"/>
              </a:rPr>
              <a:t>Remove an object</a:t>
            </a:r>
            <a:endParaRPr lang="en-US" sz="1200" b="0" strike="noStrike" spc="-1">
              <a:solidFill>
                <a:srgbClr val="000000"/>
              </a:solidFill>
              <a:latin typeface="Arial"/>
            </a:endParaRPr>
          </a:p>
        </p:txBody>
      </p:sp>
      <p:sp>
        <p:nvSpPr>
          <p:cNvPr id="376" name="Shape 31"/>
          <p:cNvSpPr/>
          <p:nvPr/>
        </p:nvSpPr>
        <p:spPr>
          <a:xfrm>
            <a:off x="3291840" y="3630240"/>
            <a:ext cx="5394600" cy="475200"/>
          </a:xfrm>
          <a:prstGeom prst="rect">
            <a:avLst/>
          </a:prstGeom>
          <a:solidFill>
            <a:srgbClr val="1E293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377" name="Text 32"/>
          <p:cNvSpPr/>
          <p:nvPr/>
        </p:nvSpPr>
        <p:spPr>
          <a:xfrm>
            <a:off x="3429000" y="3630240"/>
            <a:ext cx="5120280"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A5F3FC"/>
                </a:solidFill>
                <a:latin typeface="Courier New"/>
                <a:ea typeface="Courier New"/>
              </a:rPr>
              <a:t>delete ltm virtual www_vs</a:t>
            </a:r>
            <a:endParaRPr lang="en-US" sz="1000" b="0" strike="noStrike" spc="-1">
              <a:solidFill>
                <a:srgbClr val="000000"/>
              </a:solidFill>
              <a:latin typeface="Arial"/>
            </a:endParaRPr>
          </a:p>
        </p:txBody>
      </p:sp>
      <p:sp>
        <p:nvSpPr>
          <p:cNvPr id="378" name="Shape 33"/>
          <p:cNvSpPr/>
          <p:nvPr/>
        </p:nvSpPr>
        <p:spPr>
          <a:xfrm>
            <a:off x="365760" y="4297680"/>
            <a:ext cx="8412120" cy="319680"/>
          </a:xfrm>
          <a:prstGeom prst="rect">
            <a:avLst/>
          </a:prstGeom>
          <a:solidFill>
            <a:srgbClr val="E8F0F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379" name="Text 34"/>
          <p:cNvSpPr/>
          <p:nvPr/>
        </p:nvSpPr>
        <p:spPr>
          <a:xfrm>
            <a:off x="548640" y="4297680"/>
            <a:ext cx="80463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strike="noStrike" spc="-1">
                <a:solidFill>
                  <a:srgbClr val="0E41AA"/>
                </a:solidFill>
                <a:latin typeface="Calibri"/>
                <a:ea typeface="Calibri"/>
              </a:rPr>
              <a:t>Tip: </a:t>
            </a:r>
            <a:r>
              <a:rPr lang="en-US" sz="1000" b="0" strike="noStrike" spc="-1">
                <a:solidFill>
                  <a:srgbClr val="0E41AA"/>
                </a:solidFill>
                <a:latin typeface="Calibri"/>
                <a:ea typeface="Calibri"/>
              </a:rPr>
              <a:t>Tab completion works in TMSH. Type the first characters and press Tab.  |  list shows config (what you typed). show displays live status (what's happening).</a:t>
            </a:r>
            <a:endParaRPr lang="en-US" sz="1000" b="0" strike="noStrike" spc="-1">
              <a:solidFill>
                <a:srgbClr val="000000"/>
              </a:solidFill>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0"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381"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382"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383"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384"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385"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16    © 2026 F5</a:t>
            </a:r>
            <a:endParaRPr lang="en-US" sz="800" b="0" strike="noStrike" spc="-1">
              <a:solidFill>
                <a:srgbClr val="000000"/>
              </a:solidFill>
              <a:latin typeface="Arial"/>
            </a:endParaRPr>
          </a:p>
        </p:txBody>
      </p:sp>
      <p:pic>
        <p:nvPicPr>
          <p:cNvPr id="386" name="Image 0" descr="preencoded.png"/>
          <p:cNvPicPr/>
          <p:nvPr/>
        </p:nvPicPr>
        <p:blipFill>
          <a:blip r:embed="rId3"/>
          <a:stretch/>
        </p:blipFill>
        <p:spPr>
          <a:xfrm>
            <a:off x="8458200" y="4663440"/>
            <a:ext cx="383760" cy="383760"/>
          </a:xfrm>
          <a:prstGeom prst="rect">
            <a:avLst/>
          </a:prstGeom>
          <a:ln w="0">
            <a:noFill/>
          </a:ln>
        </p:spPr>
      </p:pic>
      <p:sp>
        <p:nvSpPr>
          <p:cNvPr id="387" name="Text 6"/>
          <p:cNvSpPr/>
          <p:nvPr/>
        </p:nvSpPr>
        <p:spPr>
          <a:xfrm>
            <a:off x="457200" y="274320"/>
            <a:ext cx="7314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Lab 1 - Hands-on exercises</a:t>
            </a:r>
            <a:endParaRPr lang="en-US" sz="2800" b="0" strike="noStrike" spc="-1">
              <a:solidFill>
                <a:srgbClr val="000000"/>
              </a:solidFill>
              <a:latin typeface="Arial"/>
            </a:endParaRPr>
          </a:p>
        </p:txBody>
      </p:sp>
      <p:sp>
        <p:nvSpPr>
          <p:cNvPr id="388" name="Text 7"/>
          <p:cNvSpPr/>
          <p:nvPr/>
        </p:nvSpPr>
        <p:spPr>
          <a:xfrm>
            <a:off x="457200" y="685800"/>
            <a:ext cx="7314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009639"/>
                </a:solidFill>
                <a:latin typeface="Calibri"/>
                <a:ea typeface="Calibri"/>
              </a:rPr>
              <a:t>30 minutes  |  Lab guide: Module 1</a:t>
            </a:r>
            <a:endParaRPr lang="en-US" sz="1400" b="0" strike="noStrike" spc="-1">
              <a:solidFill>
                <a:srgbClr val="000000"/>
              </a:solidFill>
              <a:latin typeface="Arial"/>
            </a:endParaRPr>
          </a:p>
        </p:txBody>
      </p:sp>
      <p:graphicFrame>
        <p:nvGraphicFramePr>
          <p:cNvPr id="389" name="Table 0"/>
          <p:cNvGraphicFramePr/>
          <p:nvPr/>
        </p:nvGraphicFramePr>
        <p:xfrm>
          <a:off x="365760" y="1097280"/>
          <a:ext cx="7680960" cy="1463040"/>
        </p:xfrm>
        <a:graphic>
          <a:graphicData uri="http://schemas.openxmlformats.org/drawingml/2006/table">
            <a:tbl>
              <a:tblPr/>
              <a:tblGrid>
                <a:gridCol w="4572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502920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tblGrid>
              <a:tr h="320040">
                <a:tc>
                  <a:txBody>
                    <a:bodyPr/>
                    <a:lstStyle/>
                    <a:p>
                      <a:pPr algn="ctr" defTabSz="914400">
                        <a:lnSpc>
                          <a:spcPct val="100000"/>
                        </a:lnSpc>
                        <a:tabLst>
                          <a:tab pos="0" algn="l"/>
                        </a:tabLst>
                      </a:pPr>
                      <a:r>
                        <a:rPr lang="en-US" sz="1000" b="1" strike="noStrike" spc="-1">
                          <a:solidFill>
                            <a:srgbClr val="FFFFFF"/>
                          </a:solidFill>
                          <a:latin typeface="Calibri"/>
                        </a:rPr>
                        <a:t>#</a:t>
                      </a:r>
                      <a:endParaRPr lang="en-US" sz="1000" b="0" strike="noStrike" spc="-1">
                        <a:solidFill>
                          <a:srgbClr val="FFFFFF"/>
                        </a:solidFill>
                        <a:latin typeface="Arial"/>
                      </a:endParaRPr>
                    </a:p>
                  </a:txBody>
                  <a:tcPr marL="101520" marR="10152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09639"/>
                    </a:solidFill>
                  </a:tcPr>
                </a:tc>
                <a:tc>
                  <a:txBody>
                    <a:bodyPr/>
                    <a:lstStyle/>
                    <a:p>
                      <a:pPr defTabSz="914400">
                        <a:lnSpc>
                          <a:spcPct val="100000"/>
                        </a:lnSpc>
                        <a:tabLst>
                          <a:tab pos="0" algn="l"/>
                        </a:tabLst>
                      </a:pPr>
                      <a:r>
                        <a:rPr lang="en-US" sz="1100" b="1" strike="noStrike" spc="-1">
                          <a:solidFill>
                            <a:srgbClr val="FFFFFF"/>
                          </a:solidFill>
                          <a:latin typeface="Calibri"/>
                        </a:rPr>
                        <a:t>Activity</a:t>
                      </a:r>
                      <a:endParaRPr lang="en-US" sz="1100" b="0" strike="noStrike" spc="-1">
                        <a:solidFill>
                          <a:srgbClr val="FFFFFF"/>
                        </a:solidFill>
                        <a:latin typeface="Arial"/>
                      </a:endParaRPr>
                    </a:p>
                  </a:txBody>
                  <a:tcPr marL="101520" marR="10152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09639"/>
                    </a:solidFill>
                  </a:tcPr>
                </a:tc>
                <a:tc>
                  <a:txBody>
                    <a:bodyPr/>
                    <a:lstStyle/>
                    <a:p>
                      <a:pPr defTabSz="914400">
                        <a:lnSpc>
                          <a:spcPct val="100000"/>
                        </a:lnSpc>
                        <a:tabLst>
                          <a:tab pos="0" algn="l"/>
                        </a:tabLst>
                      </a:pPr>
                      <a:r>
                        <a:rPr lang="en-US" sz="1100" b="1" strike="noStrike" spc="-1">
                          <a:solidFill>
                            <a:srgbClr val="FFFFFF"/>
                          </a:solidFill>
                          <a:latin typeface="Calibri"/>
                        </a:rPr>
                        <a:t>Key tasks</a:t>
                      </a:r>
                      <a:endParaRPr lang="en-US" sz="1100" b="0" strike="noStrike" spc="-1">
                        <a:solidFill>
                          <a:srgbClr val="FFFFFF"/>
                        </a:solidFill>
                        <a:latin typeface="Arial"/>
                      </a:endParaRPr>
                    </a:p>
                  </a:txBody>
                  <a:tcPr marL="101520" marR="10152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09639"/>
                    </a:solidFill>
                  </a:tcPr>
                </a:tc>
                <a:tc>
                  <a:txBody>
                    <a:bodyPr/>
                    <a:lstStyle/>
                    <a:p>
                      <a:pPr algn="ctr" defTabSz="914400">
                        <a:lnSpc>
                          <a:spcPct val="100000"/>
                        </a:lnSpc>
                        <a:tabLst>
                          <a:tab pos="0" algn="l"/>
                        </a:tabLst>
                      </a:pPr>
                      <a:r>
                        <a:rPr lang="en-US" sz="1000" b="1" strike="noStrike" spc="-1">
                          <a:solidFill>
                            <a:srgbClr val="FFFFFF"/>
                          </a:solidFill>
                          <a:latin typeface="Calibri"/>
                        </a:rPr>
                        <a:t>Time</a:t>
                      </a:r>
                      <a:endParaRPr lang="en-US" sz="1000" b="0" strike="noStrike" spc="-1">
                        <a:solidFill>
                          <a:srgbClr val="FFFFFF"/>
                        </a:solidFill>
                        <a:latin typeface="Arial"/>
                      </a:endParaRPr>
                    </a:p>
                  </a:txBody>
                  <a:tcPr marL="101520" marR="10152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09639"/>
                    </a:solidFill>
                  </a:tcPr>
                </a:tc>
                <a:extLst>
                  <a:ext uri="{0D108BD9-81ED-4DB2-BD59-A6C34878D82A}">
                    <a16:rowId xmlns:a16="http://schemas.microsoft.com/office/drawing/2014/main" val="10000"/>
                  </a:ext>
                </a:extLst>
              </a:tr>
              <a:tr h="502920">
                <a:tc>
                  <a:txBody>
                    <a:bodyPr/>
                    <a:lstStyle/>
                    <a:p>
                      <a:pPr algn="ctr" defTabSz="914400">
                        <a:lnSpc>
                          <a:spcPct val="100000"/>
                        </a:lnSpc>
                        <a:tabLst>
                          <a:tab pos="0" algn="l"/>
                        </a:tabLst>
                      </a:pPr>
                      <a:r>
                        <a:rPr lang="en-US" sz="1200" b="0" strike="noStrike" spc="-1">
                          <a:solidFill>
                            <a:srgbClr val="000000"/>
                          </a:solidFill>
                          <a:latin typeface="Calibri"/>
                        </a:rPr>
                        <a:t>1</a:t>
                      </a:r>
                      <a:endParaRPr lang="en-US" sz="1200" b="0" strike="noStrike" spc="-1">
                        <a:solidFill>
                          <a:srgbClr val="000000"/>
                        </a:solidFill>
                        <a:latin typeface="Arial"/>
                      </a:endParaRPr>
                    </a:p>
                  </a:txBody>
                  <a:tcPr marL="101520" marR="10152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1200" b="1" strike="noStrike" spc="-1">
                          <a:solidFill>
                            <a:srgbClr val="000000"/>
                          </a:solidFill>
                          <a:latin typeface="Calibri"/>
                        </a:rPr>
                        <a:t>TMSH challenge</a:t>
                      </a:r>
                      <a:endParaRPr lang="en-US" sz="1200" b="0" strike="noStrike" spc="-1">
                        <a:solidFill>
                          <a:srgbClr val="000000"/>
                        </a:solidFill>
                        <a:latin typeface="Arial"/>
                      </a:endParaRPr>
                    </a:p>
                  </a:txBody>
                  <a:tcPr marL="101520" marR="10152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1100" b="0" strike="noStrike" spc="-1">
                          <a:solidFill>
                            <a:srgbClr val="333333"/>
                          </a:solidFill>
                          <a:latin typeface="Calibri"/>
                        </a:rPr>
                        <a:t>Build VLANs, Self IPs, pool, virtual server entirely via TMSH. Verify in GUI.</a:t>
                      </a:r>
                      <a:endParaRPr lang="en-US" sz="1100" b="0" strike="noStrike" spc="-1">
                        <a:solidFill>
                          <a:srgbClr val="000000"/>
                        </a:solidFill>
                        <a:latin typeface="Arial"/>
                      </a:endParaRPr>
                    </a:p>
                  </a:txBody>
                  <a:tcPr marL="101520" marR="10152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algn="ctr" defTabSz="914400">
                        <a:lnSpc>
                          <a:spcPct val="100000"/>
                        </a:lnSpc>
                        <a:tabLst>
                          <a:tab pos="0" algn="l"/>
                        </a:tabLst>
                      </a:pPr>
                      <a:r>
                        <a:rPr lang="en-US" sz="1000" b="0" strike="noStrike" spc="-1">
                          <a:solidFill>
                            <a:srgbClr val="666666"/>
                          </a:solidFill>
                          <a:latin typeface="Calibri"/>
                        </a:rPr>
                        <a:t>15 min</a:t>
                      </a:r>
                      <a:endParaRPr lang="en-US" sz="1000" b="0" strike="noStrike" spc="-1">
                        <a:solidFill>
                          <a:srgbClr val="000000"/>
                        </a:solidFill>
                        <a:latin typeface="Arial"/>
                      </a:endParaRPr>
                    </a:p>
                  </a:txBody>
                  <a:tcPr marL="101520" marR="10152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1"/>
                  </a:ext>
                </a:extLst>
              </a:tr>
              <a:tr h="640080">
                <a:tc>
                  <a:txBody>
                    <a:bodyPr/>
                    <a:lstStyle/>
                    <a:p>
                      <a:pPr algn="ctr" defTabSz="914400">
                        <a:lnSpc>
                          <a:spcPct val="100000"/>
                        </a:lnSpc>
                        <a:tabLst>
                          <a:tab pos="0" algn="l"/>
                        </a:tabLst>
                      </a:pPr>
                      <a:r>
                        <a:rPr lang="en-US" sz="1200" b="0" strike="noStrike" spc="-1">
                          <a:solidFill>
                            <a:srgbClr val="000000"/>
                          </a:solidFill>
                          <a:latin typeface="Calibri"/>
                        </a:rPr>
                        <a:t>2</a:t>
                      </a:r>
                      <a:endParaRPr lang="en-US" sz="1200" b="0" strike="noStrike" spc="-1">
                        <a:solidFill>
                          <a:srgbClr val="000000"/>
                        </a:solidFill>
                        <a:latin typeface="Arial"/>
                      </a:endParaRPr>
                    </a:p>
                  </a:txBody>
                  <a:tcPr marL="101520" marR="10152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1200" b="1" strike="noStrike" spc="-1">
                          <a:solidFill>
                            <a:srgbClr val="000000"/>
                          </a:solidFill>
                          <a:latin typeface="Calibri"/>
                        </a:rPr>
                        <a:t>SNATs and NATs</a:t>
                      </a:r>
                      <a:endParaRPr lang="en-US" sz="1200" b="0" strike="noStrike" spc="-1">
                        <a:solidFill>
                          <a:srgbClr val="000000"/>
                        </a:solidFill>
                        <a:latin typeface="Arial"/>
                      </a:endParaRPr>
                    </a:p>
                  </a:txBody>
                  <a:tcPr marL="101520" marR="10152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1100" b="0" strike="noStrike" spc="-1">
                          <a:solidFill>
                            <a:srgbClr val="333333"/>
                          </a:solidFill>
                          <a:latin typeface="Calibri"/>
                        </a:rPr>
                        <a:t>Build FTP VS with SNAT automap, create SNAT pool, use tcpdump to compare source IPs, examine connection table.</a:t>
                      </a:r>
                      <a:endParaRPr lang="en-US" sz="1100" b="0" strike="noStrike" spc="-1">
                        <a:solidFill>
                          <a:srgbClr val="000000"/>
                        </a:solidFill>
                        <a:latin typeface="Arial"/>
                      </a:endParaRPr>
                    </a:p>
                  </a:txBody>
                  <a:tcPr marL="101520" marR="10152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algn="ctr" defTabSz="914400">
                        <a:lnSpc>
                          <a:spcPct val="100000"/>
                        </a:lnSpc>
                        <a:tabLst>
                          <a:tab pos="0" algn="l"/>
                        </a:tabLst>
                      </a:pPr>
                      <a:r>
                        <a:rPr lang="en-US" sz="1000" b="0" strike="noStrike" spc="-1">
                          <a:solidFill>
                            <a:srgbClr val="666666"/>
                          </a:solidFill>
                          <a:latin typeface="Calibri"/>
                        </a:rPr>
                        <a:t>15 min</a:t>
                      </a:r>
                      <a:endParaRPr lang="en-US" sz="1000" b="0" strike="noStrike" spc="-1">
                        <a:solidFill>
                          <a:srgbClr val="000000"/>
                        </a:solidFill>
                        <a:latin typeface="Arial"/>
                      </a:endParaRPr>
                    </a:p>
                  </a:txBody>
                  <a:tcPr marL="101520" marR="10152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2"/>
                  </a:ext>
                </a:extLst>
              </a:tr>
            </a:tbl>
          </a:graphicData>
        </a:graphic>
      </p:graphicFrame>
      <p:sp>
        <p:nvSpPr>
          <p:cNvPr id="390" name="Text 8"/>
          <p:cNvSpPr/>
          <p:nvPr/>
        </p:nvSpPr>
        <p:spPr>
          <a:xfrm>
            <a:off x="457200" y="2743200"/>
            <a:ext cx="82292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strike="noStrike" spc="-1">
                <a:solidFill>
                  <a:srgbClr val="0E41AA"/>
                </a:solidFill>
                <a:latin typeface="Arial"/>
                <a:ea typeface="Arial"/>
              </a:rPr>
              <a:t>Access credentials</a:t>
            </a:r>
            <a:endParaRPr lang="en-US" sz="1600" b="0" strike="noStrike" spc="-1">
              <a:solidFill>
                <a:srgbClr val="000000"/>
              </a:solidFill>
              <a:latin typeface="Arial"/>
            </a:endParaRPr>
          </a:p>
        </p:txBody>
      </p:sp>
      <p:graphicFrame>
        <p:nvGraphicFramePr>
          <p:cNvPr id="391" name="Table 1"/>
          <p:cNvGraphicFramePr/>
          <p:nvPr/>
        </p:nvGraphicFramePr>
        <p:xfrm>
          <a:off x="365760" y="3108960"/>
          <a:ext cx="8412480" cy="762000"/>
        </p:xfrm>
        <a:graphic>
          <a:graphicData uri="http://schemas.openxmlformats.org/drawingml/2006/table">
            <a:tbl>
              <a:tblPr/>
              <a:tblGrid>
                <a:gridCol w="13716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2926080">
                  <a:extLst>
                    <a:ext uri="{9D8B030D-6E8A-4147-A177-3AD203B41FA5}">
                      <a16:colId xmlns:a16="http://schemas.microsoft.com/office/drawing/2014/main" val="20003"/>
                    </a:ext>
                  </a:extLst>
                </a:gridCol>
              </a:tblGrid>
              <a:tr h="0">
                <a:tc>
                  <a:txBody>
                    <a:bodyPr/>
                    <a:lstStyle/>
                    <a:p>
                      <a:pPr defTabSz="914400">
                        <a:lnSpc>
                          <a:spcPct val="100000"/>
                        </a:lnSpc>
                        <a:tabLst>
                          <a:tab pos="0" algn="l"/>
                        </a:tabLst>
                      </a:pPr>
                      <a:r>
                        <a:rPr lang="en-US" sz="1000" b="1" strike="noStrike" spc="-1">
                          <a:solidFill>
                            <a:srgbClr val="666666"/>
                          </a:solidFill>
                          <a:latin typeface="Calibri"/>
                        </a:rPr>
                        <a:t>Method</a:t>
                      </a:r>
                      <a:endParaRPr lang="en-US" sz="1000" b="0" strike="noStrike" spc="-1">
                        <a:solidFill>
                          <a:srgbClr val="000000"/>
                        </a:solidFill>
                        <a:latin typeface="Arial"/>
                      </a:endParaRPr>
                    </a:p>
                  </a:txBody>
                  <a:tcPr marL="101520" marR="10152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1000" b="1" strike="noStrike" spc="-1">
                          <a:solidFill>
                            <a:srgbClr val="666666"/>
                          </a:solidFill>
                          <a:latin typeface="Calibri"/>
                        </a:rPr>
                        <a:t>Address</a:t>
                      </a:r>
                      <a:endParaRPr lang="en-US" sz="1000" b="0" strike="noStrike" spc="-1">
                        <a:solidFill>
                          <a:srgbClr val="000000"/>
                        </a:solidFill>
                        <a:latin typeface="Arial"/>
                      </a:endParaRPr>
                    </a:p>
                  </a:txBody>
                  <a:tcPr marL="101520" marR="10152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1000" b="1" strike="noStrike" spc="-1">
                          <a:solidFill>
                            <a:srgbClr val="666666"/>
                          </a:solidFill>
                          <a:latin typeface="Calibri"/>
                        </a:rPr>
                        <a:t>Username</a:t>
                      </a:r>
                      <a:endParaRPr lang="en-US" sz="1000" b="0" strike="noStrike" spc="-1">
                        <a:solidFill>
                          <a:srgbClr val="000000"/>
                        </a:solidFill>
                        <a:latin typeface="Arial"/>
                      </a:endParaRPr>
                    </a:p>
                  </a:txBody>
                  <a:tcPr marL="101520" marR="10152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1000" b="1" strike="noStrike" spc="-1">
                          <a:solidFill>
                            <a:srgbClr val="666666"/>
                          </a:solidFill>
                          <a:latin typeface="Calibri"/>
                        </a:rPr>
                        <a:t>Password</a:t>
                      </a:r>
                      <a:endParaRPr lang="en-US" sz="1000" b="0" strike="noStrike" spc="-1">
                        <a:solidFill>
                          <a:srgbClr val="000000"/>
                        </a:solidFill>
                        <a:latin typeface="Arial"/>
                      </a:endParaRPr>
                    </a:p>
                  </a:txBody>
                  <a:tcPr marL="101520" marR="10152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0"/>
                  </a:ext>
                </a:extLst>
              </a:tr>
              <a:tr h="0">
                <a:tc>
                  <a:txBody>
                    <a:bodyPr/>
                    <a:lstStyle/>
                    <a:p>
                      <a:pPr defTabSz="914400">
                        <a:lnSpc>
                          <a:spcPct val="100000"/>
                        </a:lnSpc>
                        <a:tabLst>
                          <a:tab pos="0" algn="l"/>
                        </a:tabLst>
                      </a:pPr>
                      <a:r>
                        <a:rPr lang="en-US" sz="1100" b="0" strike="noStrike" spc="-1">
                          <a:solidFill>
                            <a:srgbClr val="000000"/>
                          </a:solidFill>
                          <a:latin typeface="Calibri"/>
                        </a:rPr>
                        <a:t>GUI (HTTPS)</a:t>
                      </a:r>
                      <a:endParaRPr lang="en-US" sz="1100" b="0" strike="noStrike" spc="-1">
                        <a:solidFill>
                          <a:srgbClr val="000000"/>
                        </a:solidFill>
                        <a:latin typeface="Arial"/>
                      </a:endParaRPr>
                    </a:p>
                  </a:txBody>
                  <a:tcPr marL="101520" marR="10152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1100" b="0" strike="noStrike" spc="-1">
                          <a:solidFill>
                            <a:srgbClr val="0E41AA"/>
                          </a:solidFill>
                          <a:latin typeface="Courier New"/>
                          <a:ea typeface="Courier New"/>
                        </a:rPr>
                        <a:t>https://10.1.1.4</a:t>
                      </a:r>
                      <a:endParaRPr lang="en-US" sz="1100" b="0" strike="noStrike" spc="-1">
                        <a:solidFill>
                          <a:srgbClr val="000000"/>
                        </a:solidFill>
                        <a:latin typeface="Arial"/>
                      </a:endParaRPr>
                    </a:p>
                  </a:txBody>
                  <a:tcPr marL="101520" marR="10152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1100" b="0" strike="noStrike" spc="-1">
                          <a:solidFill>
                            <a:srgbClr val="000000"/>
                          </a:solidFill>
                          <a:latin typeface="Courier New"/>
                          <a:ea typeface="Courier New"/>
                        </a:rPr>
                        <a:t>admin</a:t>
                      </a:r>
                      <a:endParaRPr lang="en-US" sz="1100" b="0" strike="noStrike" spc="-1">
                        <a:solidFill>
                          <a:srgbClr val="000000"/>
                        </a:solidFill>
                        <a:latin typeface="Arial"/>
                      </a:endParaRPr>
                    </a:p>
                  </a:txBody>
                  <a:tcPr marL="101520" marR="10152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1100" b="0" strike="noStrike" spc="-1">
                          <a:solidFill>
                            <a:srgbClr val="000000"/>
                          </a:solidFill>
                          <a:latin typeface="Courier New"/>
                          <a:ea typeface="Courier New"/>
                        </a:rPr>
                        <a:t>admin.F5demo.com</a:t>
                      </a:r>
                      <a:endParaRPr lang="en-US" sz="1100" b="0" strike="noStrike" spc="-1">
                        <a:solidFill>
                          <a:srgbClr val="000000"/>
                        </a:solidFill>
                        <a:latin typeface="Arial"/>
                      </a:endParaRPr>
                    </a:p>
                  </a:txBody>
                  <a:tcPr marL="101520" marR="10152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1"/>
                  </a:ext>
                </a:extLst>
              </a:tr>
              <a:tr h="0">
                <a:tc>
                  <a:txBody>
                    <a:bodyPr/>
                    <a:lstStyle/>
                    <a:p>
                      <a:pPr defTabSz="914400">
                        <a:lnSpc>
                          <a:spcPct val="100000"/>
                        </a:lnSpc>
                        <a:tabLst>
                          <a:tab pos="0" algn="l"/>
                        </a:tabLst>
                      </a:pPr>
                      <a:r>
                        <a:rPr lang="en-US" sz="1100" b="0" strike="noStrike" spc="-1">
                          <a:solidFill>
                            <a:srgbClr val="000000"/>
                          </a:solidFill>
                          <a:latin typeface="Calibri"/>
                        </a:rPr>
                        <a:t>SSH (CLI)</a:t>
                      </a:r>
                      <a:endParaRPr lang="en-US" sz="1100" b="0" strike="noStrike" spc="-1">
                        <a:solidFill>
                          <a:srgbClr val="000000"/>
                        </a:solidFill>
                        <a:latin typeface="Arial"/>
                      </a:endParaRPr>
                    </a:p>
                  </a:txBody>
                  <a:tcPr marL="101520" marR="10152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1100" b="0" strike="noStrike" spc="-1">
                          <a:solidFill>
                            <a:srgbClr val="0E41AA"/>
                          </a:solidFill>
                          <a:latin typeface="Courier New"/>
                          <a:ea typeface="Courier New"/>
                        </a:rPr>
                        <a:t>ssh root@10.1.1.4</a:t>
                      </a:r>
                      <a:endParaRPr lang="en-US" sz="1100" b="0" strike="noStrike" spc="-1">
                        <a:solidFill>
                          <a:srgbClr val="000000"/>
                        </a:solidFill>
                        <a:latin typeface="Arial"/>
                      </a:endParaRPr>
                    </a:p>
                  </a:txBody>
                  <a:tcPr marL="101520" marR="10152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1100" b="0" strike="noStrike" spc="-1">
                          <a:solidFill>
                            <a:srgbClr val="000000"/>
                          </a:solidFill>
                          <a:latin typeface="Courier New"/>
                          <a:ea typeface="Courier New"/>
                        </a:rPr>
                        <a:t>root</a:t>
                      </a:r>
                      <a:endParaRPr lang="en-US" sz="1100" b="0" strike="noStrike" spc="-1">
                        <a:solidFill>
                          <a:srgbClr val="000000"/>
                        </a:solidFill>
                        <a:latin typeface="Arial"/>
                      </a:endParaRPr>
                    </a:p>
                  </a:txBody>
                  <a:tcPr marL="101520" marR="10152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1100" b="0" strike="noStrike" spc="-1">
                          <a:solidFill>
                            <a:srgbClr val="000000"/>
                          </a:solidFill>
                          <a:latin typeface="Courier New"/>
                          <a:ea typeface="Courier New"/>
                        </a:rPr>
                        <a:t>default</a:t>
                      </a:r>
                      <a:endParaRPr lang="en-US" sz="1100" b="0" strike="noStrike" spc="-1">
                        <a:solidFill>
                          <a:srgbClr val="000000"/>
                        </a:solidFill>
                        <a:latin typeface="Arial"/>
                      </a:endParaRPr>
                    </a:p>
                  </a:txBody>
                  <a:tcPr marL="101520" marR="10152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2"/>
                  </a:ext>
                </a:extLst>
              </a:tr>
            </a:tbl>
          </a:graphicData>
        </a:graphic>
      </p:graphicFrame>
      <p:sp>
        <p:nvSpPr>
          <p:cNvPr id="392" name="Shape 9"/>
          <p:cNvSpPr/>
          <p:nvPr/>
        </p:nvSpPr>
        <p:spPr>
          <a:xfrm>
            <a:off x="365760" y="4069080"/>
            <a:ext cx="8412120" cy="548280"/>
          </a:xfrm>
          <a:prstGeom prst="rect">
            <a:avLst/>
          </a:prstGeom>
          <a:solidFill>
            <a:srgbClr val="FFF3E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393" name="Text 10"/>
          <p:cNvSpPr/>
          <p:nvPr/>
        </p:nvSpPr>
        <p:spPr>
          <a:xfrm>
            <a:off x="548640" y="4069080"/>
            <a:ext cx="804636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strike="noStrike" spc="-1">
                <a:solidFill>
                  <a:srgbClr val="F29A36"/>
                </a:solidFill>
                <a:latin typeface="Calibri"/>
              </a:rPr>
              <a:t>Reminder: </a:t>
            </a:r>
            <a:r>
              <a:rPr lang="en-US" sz="1100" b="0" strike="noStrike" spc="-1">
                <a:solidFill>
                  <a:srgbClr val="7A4500"/>
                </a:solidFill>
                <a:latin typeface="Calibri"/>
                <a:ea typeface="Calibri"/>
              </a:rPr>
              <a:t>After building, save your configuration:  save sys config  then  save sys ucs lab1-base-config. TMSH commands are in Appendix II if you get stuck.</a:t>
            </a:r>
            <a:endParaRPr lang="en-US" sz="1100" b="0" strike="noStrike" spc="-1">
              <a:solidFill>
                <a:srgbClr val="000000"/>
              </a:solidFill>
              <a:latin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4"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395"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396"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397"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398"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399"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17    © 2026 F5</a:t>
            </a:r>
            <a:endParaRPr lang="en-US" sz="800" b="0" strike="noStrike" spc="-1">
              <a:solidFill>
                <a:srgbClr val="000000"/>
              </a:solidFill>
              <a:latin typeface="Arial"/>
            </a:endParaRPr>
          </a:p>
        </p:txBody>
      </p:sp>
      <p:pic>
        <p:nvPicPr>
          <p:cNvPr id="400" name="Image 0" descr="preencoded.png"/>
          <p:cNvPicPr/>
          <p:nvPr/>
        </p:nvPicPr>
        <p:blipFill>
          <a:blip r:embed="rId3"/>
          <a:stretch/>
        </p:blipFill>
        <p:spPr>
          <a:xfrm>
            <a:off x="8458200" y="4663440"/>
            <a:ext cx="383760" cy="383760"/>
          </a:xfrm>
          <a:prstGeom prst="rect">
            <a:avLst/>
          </a:prstGeom>
          <a:ln w="0">
            <a:noFill/>
          </a:ln>
        </p:spPr>
      </p:pic>
      <p:sp>
        <p:nvSpPr>
          <p:cNvPr id="401" name="Text 6"/>
          <p:cNvSpPr/>
          <p:nvPr/>
        </p:nvSpPr>
        <p:spPr>
          <a:xfrm>
            <a:off x="457200" y="274320"/>
            <a:ext cx="82292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Exam checkpoints</a:t>
            </a:r>
            <a:endParaRPr lang="en-US" sz="2800" b="0" strike="noStrike" spc="-1">
              <a:solidFill>
                <a:srgbClr val="000000"/>
              </a:solidFill>
              <a:latin typeface="Arial"/>
            </a:endParaRPr>
          </a:p>
        </p:txBody>
      </p:sp>
      <p:sp>
        <p:nvSpPr>
          <p:cNvPr id="402" name="Text 7"/>
          <p:cNvSpPr/>
          <p:nvPr/>
        </p:nvSpPr>
        <p:spPr>
          <a:xfrm>
            <a:off x="457200" y="68580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strike="noStrike" spc="-1">
                <a:solidFill>
                  <a:srgbClr val="666666"/>
                </a:solidFill>
                <a:latin typeface="Calibri"/>
                <a:ea typeface="Calibri"/>
              </a:rPr>
              <a:t>These mirror the cognitive level and style of F5-CTS Beta exam questions</a:t>
            </a:r>
            <a:endParaRPr lang="en-US" sz="1400" b="0" strike="noStrike" spc="-1">
              <a:solidFill>
                <a:srgbClr val="000000"/>
              </a:solidFill>
              <a:latin typeface="Arial"/>
            </a:endParaRPr>
          </a:p>
        </p:txBody>
      </p:sp>
      <p:sp>
        <p:nvSpPr>
          <p:cNvPr id="403" name="Shape 8"/>
          <p:cNvSpPr/>
          <p:nvPr/>
        </p:nvSpPr>
        <p:spPr>
          <a:xfrm>
            <a:off x="457200" y="1188720"/>
            <a:ext cx="502560" cy="31968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404" name="Text 9"/>
          <p:cNvSpPr/>
          <p:nvPr/>
        </p:nvSpPr>
        <p:spPr>
          <a:xfrm>
            <a:off x="457200" y="1188720"/>
            <a:ext cx="5025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strike="noStrike" spc="-1">
                <a:solidFill>
                  <a:srgbClr val="FFFFFF"/>
                </a:solidFill>
                <a:latin typeface="Arial"/>
                <a:ea typeface="Arial"/>
              </a:rPr>
              <a:t>Q1</a:t>
            </a:r>
            <a:endParaRPr lang="en-US" sz="1300" b="0" strike="noStrike" spc="-1">
              <a:solidFill>
                <a:srgbClr val="000000"/>
              </a:solidFill>
              <a:latin typeface="Arial"/>
            </a:endParaRPr>
          </a:p>
        </p:txBody>
      </p:sp>
      <p:sp>
        <p:nvSpPr>
          <p:cNvPr id="405" name="Shape 10"/>
          <p:cNvSpPr/>
          <p:nvPr/>
        </p:nvSpPr>
        <p:spPr>
          <a:xfrm>
            <a:off x="1051560" y="1188720"/>
            <a:ext cx="456840" cy="31968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406" name="Text 11"/>
          <p:cNvSpPr/>
          <p:nvPr/>
        </p:nvSpPr>
        <p:spPr>
          <a:xfrm>
            <a:off x="1051560" y="1188720"/>
            <a:ext cx="4568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strike="noStrike" spc="-1">
                <a:solidFill>
                  <a:srgbClr val="009639"/>
                </a:solidFill>
                <a:latin typeface="Calibri"/>
                <a:ea typeface="Calibri"/>
              </a:rPr>
              <a:t>U/A</a:t>
            </a:r>
            <a:endParaRPr lang="en-US" sz="1000" b="0" strike="noStrike" spc="-1">
              <a:solidFill>
                <a:srgbClr val="000000"/>
              </a:solidFill>
              <a:latin typeface="Arial"/>
            </a:endParaRPr>
          </a:p>
        </p:txBody>
      </p:sp>
      <p:sp>
        <p:nvSpPr>
          <p:cNvPr id="407" name="Text 12"/>
          <p:cNvSpPr/>
          <p:nvPr/>
        </p:nvSpPr>
        <p:spPr>
          <a:xfrm>
            <a:off x="1600200" y="1188720"/>
            <a:ext cx="63972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strike="noStrike" spc="-1">
                <a:solidFill>
                  <a:srgbClr val="666666"/>
                </a:solidFill>
                <a:latin typeface="Courier New"/>
                <a:ea typeface="Courier New"/>
              </a:rPr>
              <a:t>1.01</a:t>
            </a:r>
            <a:endParaRPr lang="en-US" sz="900" b="0" strike="noStrike" spc="-1">
              <a:solidFill>
                <a:srgbClr val="000000"/>
              </a:solidFill>
              <a:latin typeface="Arial"/>
            </a:endParaRPr>
          </a:p>
        </p:txBody>
      </p:sp>
      <p:sp>
        <p:nvSpPr>
          <p:cNvPr id="408" name="Text 13"/>
          <p:cNvSpPr/>
          <p:nvPr/>
        </p:nvSpPr>
        <p:spPr>
          <a:xfrm>
            <a:off x="457200" y="1572840"/>
            <a:ext cx="82292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0" strike="noStrike" spc="-1">
                <a:solidFill>
                  <a:srgbClr val="333333"/>
                </a:solidFill>
                <a:latin typeface="Calibri"/>
                <a:ea typeface="Calibri"/>
              </a:rPr>
              <a:t>You built the virtual server with SNAT automap. Your application works, but you now expect 100,000 concurrent connections. What SNAT configuration change would you make and why?</a:t>
            </a:r>
            <a:endParaRPr lang="en-US" sz="1200" b="0" strike="noStrike" spc="-1">
              <a:solidFill>
                <a:srgbClr val="000000"/>
              </a:solidFill>
              <a:latin typeface="Arial"/>
            </a:endParaRPr>
          </a:p>
        </p:txBody>
      </p:sp>
      <p:sp>
        <p:nvSpPr>
          <p:cNvPr id="409" name="Shape 14"/>
          <p:cNvSpPr/>
          <p:nvPr/>
        </p:nvSpPr>
        <p:spPr>
          <a:xfrm>
            <a:off x="457200" y="2331720"/>
            <a:ext cx="502560" cy="31968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410" name="Text 15"/>
          <p:cNvSpPr/>
          <p:nvPr/>
        </p:nvSpPr>
        <p:spPr>
          <a:xfrm>
            <a:off x="457200" y="2331720"/>
            <a:ext cx="5025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strike="noStrike" spc="-1">
                <a:solidFill>
                  <a:srgbClr val="FFFFFF"/>
                </a:solidFill>
                <a:latin typeface="Arial"/>
                <a:ea typeface="Arial"/>
              </a:rPr>
              <a:t>Q2</a:t>
            </a:r>
            <a:endParaRPr lang="en-US" sz="1300" b="0" strike="noStrike" spc="-1">
              <a:solidFill>
                <a:srgbClr val="000000"/>
              </a:solidFill>
              <a:latin typeface="Arial"/>
            </a:endParaRPr>
          </a:p>
        </p:txBody>
      </p:sp>
      <p:sp>
        <p:nvSpPr>
          <p:cNvPr id="411" name="Shape 16"/>
          <p:cNvSpPr/>
          <p:nvPr/>
        </p:nvSpPr>
        <p:spPr>
          <a:xfrm>
            <a:off x="1051560" y="2331720"/>
            <a:ext cx="456840" cy="31968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412" name="Text 17"/>
          <p:cNvSpPr/>
          <p:nvPr/>
        </p:nvSpPr>
        <p:spPr>
          <a:xfrm>
            <a:off x="1051560" y="2331720"/>
            <a:ext cx="4568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strike="noStrike" spc="-1">
                <a:solidFill>
                  <a:srgbClr val="009639"/>
                </a:solidFill>
                <a:latin typeface="Calibri"/>
                <a:ea typeface="Calibri"/>
              </a:rPr>
              <a:t>U/A</a:t>
            </a:r>
            <a:endParaRPr lang="en-US" sz="1000" b="0" strike="noStrike" spc="-1">
              <a:solidFill>
                <a:srgbClr val="000000"/>
              </a:solidFill>
              <a:latin typeface="Arial"/>
            </a:endParaRPr>
          </a:p>
        </p:txBody>
      </p:sp>
      <p:sp>
        <p:nvSpPr>
          <p:cNvPr id="413" name="Text 18"/>
          <p:cNvSpPr/>
          <p:nvPr/>
        </p:nvSpPr>
        <p:spPr>
          <a:xfrm>
            <a:off x="1600200" y="2331720"/>
            <a:ext cx="63972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strike="noStrike" spc="-1">
                <a:solidFill>
                  <a:srgbClr val="666666"/>
                </a:solidFill>
                <a:latin typeface="Courier New"/>
                <a:ea typeface="Courier New"/>
              </a:rPr>
              <a:t>1.04</a:t>
            </a:r>
            <a:endParaRPr lang="en-US" sz="900" b="0" strike="noStrike" spc="-1">
              <a:solidFill>
                <a:srgbClr val="000000"/>
              </a:solidFill>
              <a:latin typeface="Arial"/>
            </a:endParaRPr>
          </a:p>
        </p:txBody>
      </p:sp>
      <p:sp>
        <p:nvSpPr>
          <p:cNvPr id="414" name="Text 19"/>
          <p:cNvSpPr/>
          <p:nvPr/>
        </p:nvSpPr>
        <p:spPr>
          <a:xfrm>
            <a:off x="457200" y="2715840"/>
            <a:ext cx="82292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0" strike="noStrike" spc="-1">
                <a:solidFill>
                  <a:srgbClr val="333333"/>
                </a:solidFill>
                <a:latin typeface="Calibri"/>
                <a:ea typeface="Calibri"/>
              </a:rPr>
              <a:t>After building the configuration in TMSH, you verify it in the GUI. The virtual server shows a red circle (Offline). What are two things you would check first?</a:t>
            </a:r>
            <a:endParaRPr lang="en-US" sz="1200" b="0" strike="noStrike" spc="-1">
              <a:solidFill>
                <a:srgbClr val="000000"/>
              </a:solidFill>
              <a:latin typeface="Arial"/>
            </a:endParaRPr>
          </a:p>
        </p:txBody>
      </p:sp>
      <p:sp>
        <p:nvSpPr>
          <p:cNvPr id="415" name="Shape 20"/>
          <p:cNvSpPr/>
          <p:nvPr/>
        </p:nvSpPr>
        <p:spPr>
          <a:xfrm>
            <a:off x="457200" y="3474720"/>
            <a:ext cx="502560" cy="31968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416" name="Text 21"/>
          <p:cNvSpPr/>
          <p:nvPr/>
        </p:nvSpPr>
        <p:spPr>
          <a:xfrm>
            <a:off x="457200" y="3474720"/>
            <a:ext cx="5025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strike="noStrike" spc="-1">
                <a:solidFill>
                  <a:srgbClr val="FFFFFF"/>
                </a:solidFill>
                <a:latin typeface="Arial"/>
                <a:ea typeface="Arial"/>
              </a:rPr>
              <a:t>Q3</a:t>
            </a:r>
            <a:endParaRPr lang="en-US" sz="1300" b="0" strike="noStrike" spc="-1">
              <a:solidFill>
                <a:srgbClr val="000000"/>
              </a:solidFill>
              <a:latin typeface="Arial"/>
            </a:endParaRPr>
          </a:p>
        </p:txBody>
      </p:sp>
      <p:sp>
        <p:nvSpPr>
          <p:cNvPr id="417" name="Shape 22"/>
          <p:cNvSpPr/>
          <p:nvPr/>
        </p:nvSpPr>
        <p:spPr>
          <a:xfrm>
            <a:off x="1051560" y="3474720"/>
            <a:ext cx="456840" cy="31968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418" name="Text 23"/>
          <p:cNvSpPr/>
          <p:nvPr/>
        </p:nvSpPr>
        <p:spPr>
          <a:xfrm>
            <a:off x="1051560" y="3474720"/>
            <a:ext cx="4568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strike="noStrike" spc="-1">
                <a:solidFill>
                  <a:srgbClr val="0E41AA"/>
                </a:solidFill>
                <a:latin typeface="Calibri"/>
                <a:ea typeface="Calibri"/>
              </a:rPr>
              <a:t>R</a:t>
            </a:r>
            <a:endParaRPr lang="en-US" sz="1000" b="0" strike="noStrike" spc="-1">
              <a:solidFill>
                <a:srgbClr val="000000"/>
              </a:solidFill>
              <a:latin typeface="Arial"/>
            </a:endParaRPr>
          </a:p>
        </p:txBody>
      </p:sp>
      <p:sp>
        <p:nvSpPr>
          <p:cNvPr id="419" name="Text 24"/>
          <p:cNvSpPr/>
          <p:nvPr/>
        </p:nvSpPr>
        <p:spPr>
          <a:xfrm>
            <a:off x="1600200" y="3474720"/>
            <a:ext cx="63972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strike="noStrike" spc="-1">
                <a:solidFill>
                  <a:srgbClr val="666666"/>
                </a:solidFill>
                <a:latin typeface="Courier New"/>
                <a:ea typeface="Courier New"/>
              </a:rPr>
              <a:t>2.06</a:t>
            </a:r>
            <a:endParaRPr lang="en-US" sz="900" b="0" strike="noStrike" spc="-1">
              <a:solidFill>
                <a:srgbClr val="000000"/>
              </a:solidFill>
              <a:latin typeface="Arial"/>
            </a:endParaRPr>
          </a:p>
        </p:txBody>
      </p:sp>
      <p:sp>
        <p:nvSpPr>
          <p:cNvPr id="420" name="Text 25"/>
          <p:cNvSpPr/>
          <p:nvPr/>
        </p:nvSpPr>
        <p:spPr>
          <a:xfrm>
            <a:off x="457200" y="3858840"/>
            <a:ext cx="82292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0" strike="noStrike" spc="-1">
                <a:solidFill>
                  <a:srgbClr val="333333"/>
                </a:solidFill>
                <a:latin typeface="Calibri"/>
                <a:ea typeface="Calibri"/>
              </a:rPr>
              <a:t>A backend server must log the original client IP for compliance. SNAT automap is required for routing. What do you configure to preserve the client IP in HTTP requests?</a:t>
            </a:r>
            <a:endParaRPr lang="en-US" sz="1200" b="0" strike="noStrike" spc="-1">
              <a:solidFill>
                <a:srgbClr val="000000"/>
              </a:solidFill>
              <a:latin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21"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422"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423"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424"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425"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426"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18    © 2026 F5</a:t>
            </a:r>
            <a:endParaRPr lang="en-US" sz="800" b="0" strike="noStrike" spc="-1">
              <a:solidFill>
                <a:srgbClr val="000000"/>
              </a:solidFill>
              <a:latin typeface="Arial"/>
            </a:endParaRPr>
          </a:p>
        </p:txBody>
      </p:sp>
      <p:pic>
        <p:nvPicPr>
          <p:cNvPr id="427" name="Image 0" descr="preencoded.png"/>
          <p:cNvPicPr/>
          <p:nvPr/>
        </p:nvPicPr>
        <p:blipFill>
          <a:blip r:embed="rId3"/>
          <a:stretch/>
        </p:blipFill>
        <p:spPr>
          <a:xfrm>
            <a:off x="8458200" y="4663440"/>
            <a:ext cx="383760" cy="383760"/>
          </a:xfrm>
          <a:prstGeom prst="rect">
            <a:avLst/>
          </a:prstGeom>
          <a:ln w="0">
            <a:noFill/>
          </a:ln>
        </p:spPr>
      </p:pic>
      <p:sp>
        <p:nvSpPr>
          <p:cNvPr id="428" name="Text 6"/>
          <p:cNvSpPr/>
          <p:nvPr/>
        </p:nvSpPr>
        <p:spPr>
          <a:xfrm>
            <a:off x="457200" y="274320"/>
            <a:ext cx="82292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TMSH quick reference - Lab 1 commands</a:t>
            </a:r>
            <a:endParaRPr lang="en-US" sz="2800" b="0" strike="noStrike" spc="-1">
              <a:solidFill>
                <a:srgbClr val="000000"/>
              </a:solidFill>
              <a:latin typeface="Arial"/>
            </a:endParaRPr>
          </a:p>
        </p:txBody>
      </p:sp>
      <p:sp>
        <p:nvSpPr>
          <p:cNvPr id="429" name="Text 7"/>
          <p:cNvSpPr/>
          <p:nvPr/>
        </p:nvSpPr>
        <p:spPr>
          <a:xfrm>
            <a:off x="457200" y="68580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strike="noStrike" spc="-1">
                <a:solidFill>
                  <a:srgbClr val="666666"/>
                </a:solidFill>
                <a:latin typeface="Calibri"/>
                <a:ea typeface="Calibri"/>
              </a:rPr>
              <a:t>Key commands used in this lab. Practice TMSH-only to build CLI fluency.</a:t>
            </a:r>
            <a:endParaRPr lang="en-US" sz="1400" b="0" strike="noStrike" spc="-1">
              <a:solidFill>
                <a:srgbClr val="000000"/>
              </a:solidFill>
              <a:latin typeface="Arial"/>
            </a:endParaRPr>
          </a:p>
        </p:txBody>
      </p:sp>
      <p:sp>
        <p:nvSpPr>
          <p:cNvPr id="430" name="Text 8"/>
          <p:cNvSpPr/>
          <p:nvPr/>
        </p:nvSpPr>
        <p:spPr>
          <a:xfrm>
            <a:off x="457200" y="1051560"/>
            <a:ext cx="822924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
                <a:solidFill>
                  <a:srgbClr val="0E41AA"/>
                </a:solidFill>
                <a:latin typeface="Arial"/>
                <a:ea typeface="Arial"/>
              </a:rPr>
              <a:t>Networking</a:t>
            </a:r>
            <a:endParaRPr lang="en-US" sz="1200" b="0" strike="noStrike" spc="-1">
              <a:solidFill>
                <a:srgbClr val="000000"/>
              </a:solidFill>
              <a:latin typeface="Arial"/>
            </a:endParaRPr>
          </a:p>
        </p:txBody>
      </p:sp>
      <p:sp>
        <p:nvSpPr>
          <p:cNvPr id="431" name="Shape 9"/>
          <p:cNvSpPr/>
          <p:nvPr/>
        </p:nvSpPr>
        <p:spPr>
          <a:xfrm>
            <a:off x="457200" y="1325880"/>
            <a:ext cx="8229240" cy="1298160"/>
          </a:xfrm>
          <a:prstGeom prst="rect">
            <a:avLst/>
          </a:prstGeom>
          <a:solidFill>
            <a:srgbClr val="1E293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432" name="Text 10"/>
          <p:cNvSpPr/>
          <p:nvPr/>
        </p:nvSpPr>
        <p:spPr>
          <a:xfrm>
            <a:off x="640080" y="1380600"/>
            <a:ext cx="786348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50" b="0" strike="noStrike" spc="-1">
                <a:solidFill>
                  <a:srgbClr val="A5F3FC"/>
                </a:solidFill>
                <a:latin typeface="Courier New"/>
                <a:ea typeface="Courier New"/>
              </a:rPr>
              <a:t>create net vlan client_vlan interfaces add { 1.1 { untagged } }</a:t>
            </a:r>
            <a:endParaRPr lang="en-US" sz="950" b="0" strike="noStrike" spc="-1">
              <a:solidFill>
                <a:srgbClr val="000000"/>
              </a:solidFill>
              <a:latin typeface="Arial"/>
            </a:endParaRPr>
          </a:p>
        </p:txBody>
      </p:sp>
      <p:sp>
        <p:nvSpPr>
          <p:cNvPr id="433" name="Text 11"/>
          <p:cNvSpPr/>
          <p:nvPr/>
        </p:nvSpPr>
        <p:spPr>
          <a:xfrm>
            <a:off x="640080" y="1618560"/>
            <a:ext cx="786348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50" b="0" strike="noStrike" spc="-1">
                <a:solidFill>
                  <a:srgbClr val="A5F3FC"/>
                </a:solidFill>
                <a:latin typeface="Courier New"/>
                <a:ea typeface="Courier New"/>
              </a:rPr>
              <a:t>create net vlan server_vlan interfaces add { 1.2 { untagged } }</a:t>
            </a:r>
            <a:endParaRPr lang="en-US" sz="950" b="0" strike="noStrike" spc="-1">
              <a:solidFill>
                <a:srgbClr val="000000"/>
              </a:solidFill>
              <a:latin typeface="Arial"/>
            </a:endParaRPr>
          </a:p>
        </p:txBody>
      </p:sp>
      <p:sp>
        <p:nvSpPr>
          <p:cNvPr id="434" name="Text 12"/>
          <p:cNvSpPr/>
          <p:nvPr/>
        </p:nvSpPr>
        <p:spPr>
          <a:xfrm>
            <a:off x="640080" y="1856160"/>
            <a:ext cx="786348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50" b="0" strike="noStrike" spc="-1">
                <a:solidFill>
                  <a:srgbClr val="A5F3FC"/>
                </a:solidFill>
                <a:latin typeface="Courier New"/>
                <a:ea typeface="Courier New"/>
              </a:rPr>
              <a:t>create net self client_ip address 10.1.10.245/24 vlan client_vlan</a:t>
            </a:r>
            <a:endParaRPr lang="en-US" sz="950" b="0" strike="noStrike" spc="-1">
              <a:solidFill>
                <a:srgbClr val="000000"/>
              </a:solidFill>
              <a:latin typeface="Arial"/>
            </a:endParaRPr>
          </a:p>
        </p:txBody>
      </p:sp>
      <p:sp>
        <p:nvSpPr>
          <p:cNvPr id="435" name="Text 13"/>
          <p:cNvSpPr/>
          <p:nvPr/>
        </p:nvSpPr>
        <p:spPr>
          <a:xfrm>
            <a:off x="640080" y="2094120"/>
            <a:ext cx="786348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50" b="0" strike="noStrike" spc="-1">
                <a:solidFill>
                  <a:srgbClr val="A5F3FC"/>
                </a:solidFill>
                <a:latin typeface="Courier New"/>
                <a:ea typeface="Courier New"/>
              </a:rPr>
              <a:t>create net self server_ip address 10.1.20.245/24 vlan server_vlan</a:t>
            </a:r>
            <a:endParaRPr lang="en-US" sz="950" b="0" strike="noStrike" spc="-1">
              <a:solidFill>
                <a:srgbClr val="000000"/>
              </a:solidFill>
              <a:latin typeface="Arial"/>
            </a:endParaRPr>
          </a:p>
        </p:txBody>
      </p:sp>
      <p:sp>
        <p:nvSpPr>
          <p:cNvPr id="436" name="Text 14"/>
          <p:cNvSpPr/>
          <p:nvPr/>
        </p:nvSpPr>
        <p:spPr>
          <a:xfrm>
            <a:off x="640080" y="2331720"/>
            <a:ext cx="786348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50" b="0" strike="noStrike" spc="-1">
                <a:solidFill>
                  <a:srgbClr val="A5F3FC"/>
                </a:solidFill>
                <a:latin typeface="Courier New"/>
                <a:ea typeface="Courier New"/>
              </a:rPr>
              <a:t>create net route def_gw network 0.0.0.0/0 gw 10.1.10.1</a:t>
            </a:r>
            <a:endParaRPr lang="en-US" sz="950" b="0" strike="noStrike" spc="-1">
              <a:solidFill>
                <a:srgbClr val="000000"/>
              </a:solidFill>
              <a:latin typeface="Arial"/>
            </a:endParaRPr>
          </a:p>
        </p:txBody>
      </p:sp>
      <p:sp>
        <p:nvSpPr>
          <p:cNvPr id="437" name="Text 15"/>
          <p:cNvSpPr/>
          <p:nvPr/>
        </p:nvSpPr>
        <p:spPr>
          <a:xfrm>
            <a:off x="457200" y="2734200"/>
            <a:ext cx="822924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
                <a:solidFill>
                  <a:srgbClr val="0E41AA"/>
                </a:solidFill>
                <a:latin typeface="Arial"/>
                <a:ea typeface="Arial"/>
              </a:rPr>
              <a:t>Pool and virtual server</a:t>
            </a:r>
            <a:endParaRPr lang="en-US" sz="1200" b="0" strike="noStrike" spc="-1">
              <a:solidFill>
                <a:srgbClr val="000000"/>
              </a:solidFill>
              <a:latin typeface="Arial"/>
            </a:endParaRPr>
          </a:p>
        </p:txBody>
      </p:sp>
      <p:sp>
        <p:nvSpPr>
          <p:cNvPr id="438" name="Shape 16"/>
          <p:cNvSpPr/>
          <p:nvPr/>
        </p:nvSpPr>
        <p:spPr>
          <a:xfrm>
            <a:off x="457200" y="3008520"/>
            <a:ext cx="8229240" cy="822600"/>
          </a:xfrm>
          <a:prstGeom prst="rect">
            <a:avLst/>
          </a:prstGeom>
          <a:solidFill>
            <a:srgbClr val="1E293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439" name="Text 17"/>
          <p:cNvSpPr/>
          <p:nvPr/>
        </p:nvSpPr>
        <p:spPr>
          <a:xfrm>
            <a:off x="640080" y="3063240"/>
            <a:ext cx="786348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50" b="0" strike="noStrike" spc="-1">
                <a:solidFill>
                  <a:srgbClr val="A5F3FC"/>
                </a:solidFill>
                <a:latin typeface="Courier New"/>
                <a:ea typeface="Courier New"/>
              </a:rPr>
              <a:t>create ltm pool www_pool members add { 10.1.20.11:80 10.1.20.12:80 10.1.20.13:80 } monitor http</a:t>
            </a:r>
            <a:endParaRPr lang="en-US" sz="950" b="0" strike="noStrike" spc="-1">
              <a:solidFill>
                <a:srgbClr val="000000"/>
              </a:solidFill>
              <a:latin typeface="Arial"/>
            </a:endParaRPr>
          </a:p>
        </p:txBody>
      </p:sp>
      <p:sp>
        <p:nvSpPr>
          <p:cNvPr id="440" name="Text 18"/>
          <p:cNvSpPr/>
          <p:nvPr/>
        </p:nvSpPr>
        <p:spPr>
          <a:xfrm>
            <a:off x="640080" y="3300840"/>
            <a:ext cx="786348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50" b="0" strike="noStrike" spc="-1">
                <a:solidFill>
                  <a:srgbClr val="A5F3FC"/>
                </a:solidFill>
                <a:latin typeface="Courier New"/>
                <a:ea typeface="Courier New"/>
              </a:rPr>
              <a:t>create ltm virtual www_vs destination 10.1.10.100:80 pool www_pool ip-protocol tcp \</a:t>
            </a:r>
            <a:endParaRPr lang="en-US" sz="950" b="0" strike="noStrike" spc="-1">
              <a:solidFill>
                <a:srgbClr val="000000"/>
              </a:solidFill>
              <a:latin typeface="Arial"/>
            </a:endParaRPr>
          </a:p>
        </p:txBody>
      </p:sp>
      <p:sp>
        <p:nvSpPr>
          <p:cNvPr id="441" name="Text 19"/>
          <p:cNvSpPr/>
          <p:nvPr/>
        </p:nvSpPr>
        <p:spPr>
          <a:xfrm>
            <a:off x="640080" y="3538800"/>
            <a:ext cx="786348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50" b="0" strike="noStrike" spc="-1">
                <a:solidFill>
                  <a:srgbClr val="A5F3FC"/>
                </a:solidFill>
                <a:latin typeface="Courier New"/>
                <a:ea typeface="Courier New"/>
              </a:rPr>
              <a:t>    source-address-translation { type automap }</a:t>
            </a:r>
            <a:endParaRPr lang="en-US" sz="950" b="0" strike="noStrike" spc="-1">
              <a:solidFill>
                <a:srgbClr val="000000"/>
              </a:solidFill>
              <a:latin typeface="Arial"/>
            </a:endParaRPr>
          </a:p>
        </p:txBody>
      </p:sp>
      <p:sp>
        <p:nvSpPr>
          <p:cNvPr id="442" name="Text 20"/>
          <p:cNvSpPr/>
          <p:nvPr/>
        </p:nvSpPr>
        <p:spPr>
          <a:xfrm>
            <a:off x="457200" y="3940920"/>
            <a:ext cx="822924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
                <a:solidFill>
                  <a:srgbClr val="0E41AA"/>
                </a:solidFill>
                <a:latin typeface="Arial"/>
                <a:ea typeface="Arial"/>
              </a:rPr>
              <a:t>Save and backup</a:t>
            </a:r>
            <a:endParaRPr lang="en-US" sz="1200" b="0" strike="noStrike" spc="-1">
              <a:solidFill>
                <a:srgbClr val="000000"/>
              </a:solidFill>
              <a:latin typeface="Arial"/>
            </a:endParaRPr>
          </a:p>
        </p:txBody>
      </p:sp>
      <p:sp>
        <p:nvSpPr>
          <p:cNvPr id="443" name="Shape 21"/>
          <p:cNvSpPr/>
          <p:nvPr/>
        </p:nvSpPr>
        <p:spPr>
          <a:xfrm>
            <a:off x="457200" y="4215240"/>
            <a:ext cx="8229240" cy="585000"/>
          </a:xfrm>
          <a:prstGeom prst="rect">
            <a:avLst/>
          </a:prstGeom>
          <a:solidFill>
            <a:srgbClr val="1E293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444" name="Text 22"/>
          <p:cNvSpPr/>
          <p:nvPr/>
        </p:nvSpPr>
        <p:spPr>
          <a:xfrm>
            <a:off x="640080" y="4270320"/>
            <a:ext cx="786348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50" b="0" strike="noStrike" spc="-1">
                <a:solidFill>
                  <a:srgbClr val="A5F3FC"/>
                </a:solidFill>
                <a:latin typeface="Courier New"/>
                <a:ea typeface="Courier New"/>
              </a:rPr>
              <a:t>save sys config</a:t>
            </a:r>
            <a:endParaRPr lang="en-US" sz="950" b="0" strike="noStrike" spc="-1">
              <a:solidFill>
                <a:srgbClr val="000000"/>
              </a:solidFill>
              <a:latin typeface="Arial"/>
            </a:endParaRPr>
          </a:p>
        </p:txBody>
      </p:sp>
      <p:sp>
        <p:nvSpPr>
          <p:cNvPr id="445" name="Text 23"/>
          <p:cNvSpPr/>
          <p:nvPr/>
        </p:nvSpPr>
        <p:spPr>
          <a:xfrm>
            <a:off x="640080" y="4507920"/>
            <a:ext cx="786348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50" b="0" strike="noStrike" spc="-1">
                <a:solidFill>
                  <a:srgbClr val="A5F3FC"/>
                </a:solidFill>
                <a:latin typeface="Courier New"/>
                <a:ea typeface="Courier New"/>
              </a:rPr>
              <a:t>save sys ucs lab1-base-config</a:t>
            </a:r>
            <a:endParaRPr lang="en-US" sz="950" b="0" strike="noStrike" spc="-1">
              <a:solidFill>
                <a:srgbClr val="000000"/>
              </a:solidFill>
              <a:latin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446" name="Shape 0"/>
          <p:cNvSpPr/>
          <p:nvPr/>
        </p:nvSpPr>
        <p:spPr>
          <a:xfrm>
            <a:off x="0" y="507024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447" name="Shape 1"/>
          <p:cNvSpPr/>
          <p:nvPr/>
        </p:nvSpPr>
        <p:spPr>
          <a:xfrm>
            <a:off x="1371600" y="507024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448" name="Shape 2"/>
          <p:cNvSpPr/>
          <p:nvPr/>
        </p:nvSpPr>
        <p:spPr>
          <a:xfrm>
            <a:off x="4114800" y="507024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449" name="Shape 3"/>
          <p:cNvSpPr/>
          <p:nvPr/>
        </p:nvSpPr>
        <p:spPr>
          <a:xfrm>
            <a:off x="5486400" y="507024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450" name="Shape 4"/>
          <p:cNvSpPr/>
          <p:nvPr/>
        </p:nvSpPr>
        <p:spPr>
          <a:xfrm>
            <a:off x="7772400" y="507024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pic>
        <p:nvPicPr>
          <p:cNvPr id="451" name="Image 0" descr="preencoded.png"/>
          <p:cNvPicPr/>
          <p:nvPr/>
        </p:nvPicPr>
        <p:blipFill>
          <a:blip r:embed="rId3"/>
          <a:stretch/>
        </p:blipFill>
        <p:spPr>
          <a:xfrm>
            <a:off x="365760" y="274320"/>
            <a:ext cx="639720" cy="639720"/>
          </a:xfrm>
          <a:prstGeom prst="rect">
            <a:avLst/>
          </a:prstGeom>
          <a:ln w="0">
            <a:noFill/>
          </a:ln>
        </p:spPr>
      </p:pic>
      <p:graphicFrame>
        <p:nvGraphicFramePr>
          <p:cNvPr id="452" name="Table 0"/>
          <p:cNvGraphicFramePr/>
          <p:nvPr/>
        </p:nvGraphicFramePr>
        <p:xfrm>
          <a:off x="365760" y="1051560"/>
          <a:ext cx="6675120" cy="1463040"/>
        </p:xfrm>
        <a:graphic>
          <a:graphicData uri="http://schemas.openxmlformats.org/drawingml/2006/table">
            <a:tbl>
              <a:tblPr/>
              <a:tblGrid>
                <a:gridCol w="146304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gridCol w="4754880">
                  <a:extLst>
                    <a:ext uri="{9D8B030D-6E8A-4147-A177-3AD203B41FA5}">
                      <a16:colId xmlns:a16="http://schemas.microsoft.com/office/drawing/2014/main" val="20002"/>
                    </a:ext>
                  </a:extLst>
                </a:gridCol>
              </a:tblGrid>
              <a:tr h="0">
                <a:tc>
                  <a:txBody>
                    <a:bodyPr/>
                    <a:lstStyle/>
                    <a:p>
                      <a:pPr defTabSz="914400">
                        <a:lnSpc>
                          <a:spcPct val="100000"/>
                        </a:lnSpc>
                        <a:tabLst>
                          <a:tab pos="0" algn="l"/>
                        </a:tabLst>
                      </a:pPr>
                      <a:r>
                        <a:rPr lang="en-US" sz="1000" b="0" strike="noStrike" spc="-1">
                          <a:solidFill>
                            <a:srgbClr val="FFFFFF"/>
                          </a:solidFill>
                          <a:latin typeface="Courier New"/>
                          <a:ea typeface="Courier New"/>
                        </a:rPr>
                        <a:t>F5CTSLTM2.01</a:t>
                      </a:r>
                      <a:endParaRPr lang="en-US" sz="1000" b="0" strike="noStrike" spc="-1">
                        <a:solidFill>
                          <a:srgbClr val="FFFFFF"/>
                        </a:solidFill>
                        <a:latin typeface="Arial"/>
                      </a:endParaRPr>
                    </a:p>
                  </a:txBody>
                  <a:tcPr marL="75960" marR="75960">
                    <a:lnL>
                      <a:noFill/>
                    </a:lnL>
                    <a:lnR>
                      <a:noFill/>
                    </a:lnR>
                    <a:lnT>
                      <a:noFill/>
                    </a:lnT>
                    <a:lnB>
                      <a:noFill/>
                    </a:lnB>
                    <a:solidFill>
                      <a:srgbClr val="1A1A1A"/>
                    </a:solidFill>
                  </a:tcPr>
                </a:tc>
                <a:tc>
                  <a:txBody>
                    <a:bodyPr/>
                    <a:lstStyle/>
                    <a:p>
                      <a:pPr algn="ctr" defTabSz="914400">
                        <a:lnSpc>
                          <a:spcPct val="100000"/>
                        </a:lnSpc>
                        <a:tabLst>
                          <a:tab pos="0" algn="l"/>
                        </a:tabLst>
                      </a:pPr>
                      <a:r>
                        <a:rPr lang="en-US" sz="1000" b="1" strike="noStrike" spc="-1">
                          <a:solidFill>
                            <a:srgbClr val="009639"/>
                          </a:solidFill>
                          <a:latin typeface="Calibri"/>
                        </a:rPr>
                        <a:t>U/A</a:t>
                      </a:r>
                      <a:endParaRPr lang="en-US" sz="1000" b="0" strike="noStrike" spc="-1">
                        <a:solidFill>
                          <a:srgbClr val="FFFFFF"/>
                        </a:solidFill>
                        <a:latin typeface="Arial"/>
                      </a:endParaRPr>
                    </a:p>
                  </a:txBody>
                  <a:tcPr marL="75960" marR="75960">
                    <a:lnL>
                      <a:noFill/>
                    </a:lnL>
                    <a:lnR>
                      <a:noFill/>
                    </a:lnR>
                    <a:lnT>
                      <a:noFill/>
                    </a:lnT>
                    <a:lnB>
                      <a:noFill/>
                    </a:lnB>
                    <a:solidFill>
                      <a:srgbClr val="1A1A1A"/>
                    </a:solidFill>
                  </a:tcPr>
                </a:tc>
                <a:tc>
                  <a:txBody>
                    <a:bodyPr/>
                    <a:lstStyle/>
                    <a:p>
                      <a:pPr defTabSz="914400">
                        <a:lnSpc>
                          <a:spcPct val="100000"/>
                        </a:lnSpc>
                        <a:tabLst>
                          <a:tab pos="0" algn="l"/>
                        </a:tabLst>
                      </a:pPr>
                      <a:r>
                        <a:rPr lang="en-US" sz="1000" b="0" strike="noStrike" spc="-1">
                          <a:solidFill>
                            <a:srgbClr val="666666"/>
                          </a:solidFill>
                          <a:latin typeface="Calibri"/>
                        </a:rPr>
                        <a:t>Determine config objects to deploy an application</a:t>
                      </a:r>
                      <a:endParaRPr lang="en-US" sz="1000" b="0" strike="noStrike" spc="-1">
                        <a:solidFill>
                          <a:srgbClr val="FFFFFF"/>
                        </a:solidFill>
                        <a:latin typeface="Arial"/>
                      </a:endParaRPr>
                    </a:p>
                  </a:txBody>
                  <a:tcPr marL="75960" marR="75960">
                    <a:lnL>
                      <a:noFill/>
                    </a:lnL>
                    <a:lnR>
                      <a:noFill/>
                    </a:lnR>
                    <a:lnT>
                      <a:noFill/>
                    </a:lnT>
                    <a:lnB>
                      <a:noFill/>
                    </a:lnB>
                    <a:solidFill>
                      <a:srgbClr val="1A1A1A"/>
                    </a:solidFill>
                  </a:tcPr>
                </a:tc>
                <a:extLst>
                  <a:ext uri="{0D108BD9-81ED-4DB2-BD59-A6C34878D82A}">
                    <a16:rowId xmlns:a16="http://schemas.microsoft.com/office/drawing/2014/main" val="10000"/>
                  </a:ext>
                </a:extLst>
              </a:tr>
              <a:tr h="0">
                <a:tc>
                  <a:txBody>
                    <a:bodyPr/>
                    <a:lstStyle/>
                    <a:p>
                      <a:pPr defTabSz="914400">
                        <a:lnSpc>
                          <a:spcPct val="100000"/>
                        </a:lnSpc>
                        <a:tabLst>
                          <a:tab pos="0" algn="l"/>
                        </a:tabLst>
                      </a:pPr>
                      <a:r>
                        <a:rPr lang="en-US" sz="1000" b="0" strike="noStrike" spc="-1">
                          <a:solidFill>
                            <a:srgbClr val="FFFFFF"/>
                          </a:solidFill>
                          <a:latin typeface="Courier New"/>
                          <a:ea typeface="Courier New"/>
                        </a:rPr>
                        <a:t>F5CTSLTM2.02</a:t>
                      </a:r>
                      <a:endParaRPr lang="en-US" sz="1000" b="0" strike="noStrike" spc="-1">
                        <a:solidFill>
                          <a:srgbClr val="FFFFFF"/>
                        </a:solidFill>
                        <a:latin typeface="Arial"/>
                      </a:endParaRPr>
                    </a:p>
                  </a:txBody>
                  <a:tcPr marL="75960" marR="75960">
                    <a:lnL>
                      <a:noFill/>
                    </a:lnL>
                    <a:lnR>
                      <a:noFill/>
                    </a:lnR>
                    <a:lnT>
                      <a:noFill/>
                    </a:lnT>
                    <a:lnB>
                      <a:noFill/>
                    </a:lnB>
                    <a:solidFill>
                      <a:srgbClr val="111111"/>
                    </a:solidFill>
                  </a:tcPr>
                </a:tc>
                <a:tc>
                  <a:txBody>
                    <a:bodyPr/>
                    <a:lstStyle/>
                    <a:p>
                      <a:pPr algn="ctr" defTabSz="914400">
                        <a:lnSpc>
                          <a:spcPct val="100000"/>
                        </a:lnSpc>
                        <a:tabLst>
                          <a:tab pos="0" algn="l"/>
                        </a:tabLst>
                      </a:pPr>
                      <a:r>
                        <a:rPr lang="en-US" sz="1000" b="1" strike="noStrike" spc="-1">
                          <a:solidFill>
                            <a:srgbClr val="009639"/>
                          </a:solidFill>
                          <a:latin typeface="Calibri"/>
                        </a:rPr>
                        <a:t>U/A</a:t>
                      </a:r>
                      <a:endParaRPr lang="en-US" sz="1000" b="0" strike="noStrike" spc="-1">
                        <a:solidFill>
                          <a:srgbClr val="FFFFFF"/>
                        </a:solidFill>
                        <a:latin typeface="Arial"/>
                      </a:endParaRPr>
                    </a:p>
                  </a:txBody>
                  <a:tcPr marL="75960" marR="75960">
                    <a:lnL>
                      <a:noFill/>
                    </a:lnL>
                    <a:lnR>
                      <a:noFill/>
                    </a:lnR>
                    <a:lnT>
                      <a:noFill/>
                    </a:lnT>
                    <a:lnB>
                      <a:noFill/>
                    </a:lnB>
                    <a:solidFill>
                      <a:srgbClr val="111111"/>
                    </a:solidFill>
                  </a:tcPr>
                </a:tc>
                <a:tc>
                  <a:txBody>
                    <a:bodyPr/>
                    <a:lstStyle/>
                    <a:p>
                      <a:pPr defTabSz="914400">
                        <a:lnSpc>
                          <a:spcPct val="100000"/>
                        </a:lnSpc>
                        <a:tabLst>
                          <a:tab pos="0" algn="l"/>
                        </a:tabLst>
                      </a:pPr>
                      <a:r>
                        <a:rPr lang="en-US" sz="1000" b="0" strike="noStrike" spc="-1">
                          <a:solidFill>
                            <a:srgbClr val="666666"/>
                          </a:solidFill>
                          <a:latin typeface="Calibri"/>
                        </a:rPr>
                        <a:t>Choose correct profiles and settings for requirements</a:t>
                      </a:r>
                      <a:endParaRPr lang="en-US" sz="1000" b="0" strike="noStrike" spc="-1">
                        <a:solidFill>
                          <a:srgbClr val="FFFFFF"/>
                        </a:solidFill>
                        <a:latin typeface="Arial"/>
                      </a:endParaRPr>
                    </a:p>
                  </a:txBody>
                  <a:tcPr marL="75960" marR="75960">
                    <a:lnL>
                      <a:noFill/>
                    </a:lnL>
                    <a:lnR>
                      <a:noFill/>
                    </a:lnR>
                    <a:lnT>
                      <a:noFill/>
                    </a:lnT>
                    <a:lnB>
                      <a:noFill/>
                    </a:lnB>
                    <a:solidFill>
                      <a:srgbClr val="111111"/>
                    </a:solidFill>
                  </a:tcPr>
                </a:tc>
                <a:extLst>
                  <a:ext uri="{0D108BD9-81ED-4DB2-BD59-A6C34878D82A}">
                    <a16:rowId xmlns:a16="http://schemas.microsoft.com/office/drawing/2014/main" val="10001"/>
                  </a:ext>
                </a:extLst>
              </a:tr>
              <a:tr h="0">
                <a:tc>
                  <a:txBody>
                    <a:bodyPr/>
                    <a:lstStyle/>
                    <a:p>
                      <a:pPr defTabSz="914400">
                        <a:lnSpc>
                          <a:spcPct val="100000"/>
                        </a:lnSpc>
                        <a:tabLst>
                          <a:tab pos="0" algn="l"/>
                        </a:tabLst>
                      </a:pPr>
                      <a:r>
                        <a:rPr lang="en-US" sz="1000" b="0" strike="noStrike" spc="-1">
                          <a:solidFill>
                            <a:srgbClr val="FFFFFF"/>
                          </a:solidFill>
                          <a:latin typeface="Courier New"/>
                          <a:ea typeface="Courier New"/>
                        </a:rPr>
                        <a:t>F5CTSLTM2.04</a:t>
                      </a:r>
                      <a:endParaRPr lang="en-US" sz="1000" b="0" strike="noStrike" spc="-1">
                        <a:solidFill>
                          <a:srgbClr val="FFFFFF"/>
                        </a:solidFill>
                        <a:latin typeface="Arial"/>
                      </a:endParaRPr>
                    </a:p>
                  </a:txBody>
                  <a:tcPr marL="75960" marR="75960">
                    <a:lnL>
                      <a:noFill/>
                    </a:lnL>
                    <a:lnR>
                      <a:noFill/>
                    </a:lnR>
                    <a:lnT>
                      <a:noFill/>
                    </a:lnT>
                    <a:lnB>
                      <a:noFill/>
                    </a:lnB>
                    <a:solidFill>
                      <a:srgbClr val="1A1A1A"/>
                    </a:solidFill>
                  </a:tcPr>
                </a:tc>
                <a:tc>
                  <a:txBody>
                    <a:bodyPr/>
                    <a:lstStyle/>
                    <a:p>
                      <a:pPr algn="ctr" defTabSz="914400">
                        <a:lnSpc>
                          <a:spcPct val="100000"/>
                        </a:lnSpc>
                        <a:tabLst>
                          <a:tab pos="0" algn="l"/>
                        </a:tabLst>
                      </a:pPr>
                      <a:r>
                        <a:rPr lang="en-US" sz="1000" b="1" strike="noStrike" spc="-1">
                          <a:solidFill>
                            <a:srgbClr val="009639"/>
                          </a:solidFill>
                          <a:latin typeface="Calibri"/>
                        </a:rPr>
                        <a:t>U/A</a:t>
                      </a:r>
                      <a:endParaRPr lang="en-US" sz="1000" b="0" strike="noStrike" spc="-1">
                        <a:solidFill>
                          <a:srgbClr val="FFFFFF"/>
                        </a:solidFill>
                        <a:latin typeface="Arial"/>
                      </a:endParaRPr>
                    </a:p>
                  </a:txBody>
                  <a:tcPr marL="75960" marR="75960">
                    <a:lnL>
                      <a:noFill/>
                    </a:lnL>
                    <a:lnR>
                      <a:noFill/>
                    </a:lnR>
                    <a:lnT>
                      <a:noFill/>
                    </a:lnT>
                    <a:lnB>
                      <a:noFill/>
                    </a:lnB>
                    <a:solidFill>
                      <a:srgbClr val="1A1A1A"/>
                    </a:solidFill>
                  </a:tcPr>
                </a:tc>
                <a:tc>
                  <a:txBody>
                    <a:bodyPr/>
                    <a:lstStyle/>
                    <a:p>
                      <a:pPr defTabSz="914400">
                        <a:lnSpc>
                          <a:spcPct val="100000"/>
                        </a:lnSpc>
                        <a:tabLst>
                          <a:tab pos="0" algn="l"/>
                        </a:tabLst>
                      </a:pPr>
                      <a:r>
                        <a:rPr lang="en-US" sz="1000" b="0" strike="noStrike" spc="-1">
                          <a:solidFill>
                            <a:srgbClr val="666666"/>
                          </a:solidFill>
                          <a:latin typeface="Calibri"/>
                        </a:rPr>
                        <a:t>Architect multi-tier applications using LTM</a:t>
                      </a:r>
                      <a:endParaRPr lang="en-US" sz="1000" b="0" strike="noStrike" spc="-1">
                        <a:solidFill>
                          <a:srgbClr val="FFFFFF"/>
                        </a:solidFill>
                        <a:latin typeface="Arial"/>
                      </a:endParaRPr>
                    </a:p>
                  </a:txBody>
                  <a:tcPr marL="75960" marR="75960">
                    <a:lnL>
                      <a:noFill/>
                    </a:lnL>
                    <a:lnR>
                      <a:noFill/>
                    </a:lnR>
                    <a:lnT>
                      <a:noFill/>
                    </a:lnT>
                    <a:lnB>
                      <a:noFill/>
                    </a:lnB>
                    <a:solidFill>
                      <a:srgbClr val="1A1A1A"/>
                    </a:solidFill>
                  </a:tcPr>
                </a:tc>
                <a:extLst>
                  <a:ext uri="{0D108BD9-81ED-4DB2-BD59-A6C34878D82A}">
                    <a16:rowId xmlns:a16="http://schemas.microsoft.com/office/drawing/2014/main" val="10002"/>
                  </a:ext>
                </a:extLst>
              </a:tr>
              <a:tr h="0">
                <a:tc>
                  <a:txBody>
                    <a:bodyPr/>
                    <a:lstStyle/>
                    <a:p>
                      <a:pPr defTabSz="914400">
                        <a:lnSpc>
                          <a:spcPct val="100000"/>
                        </a:lnSpc>
                        <a:tabLst>
                          <a:tab pos="0" algn="l"/>
                        </a:tabLst>
                      </a:pPr>
                      <a:r>
                        <a:rPr lang="en-US" sz="1000" b="0" strike="noStrike" spc="-1">
                          <a:solidFill>
                            <a:srgbClr val="FFFFFF"/>
                          </a:solidFill>
                          <a:latin typeface="Courier New"/>
                          <a:ea typeface="Courier New"/>
                        </a:rPr>
                        <a:t>F5CTSLTM2.10</a:t>
                      </a:r>
                      <a:endParaRPr lang="en-US" sz="1000" b="0" strike="noStrike" spc="-1">
                        <a:solidFill>
                          <a:srgbClr val="FFFFFF"/>
                        </a:solidFill>
                        <a:latin typeface="Arial"/>
                      </a:endParaRPr>
                    </a:p>
                  </a:txBody>
                  <a:tcPr marL="75960" marR="75960">
                    <a:lnL>
                      <a:noFill/>
                    </a:lnL>
                    <a:lnR>
                      <a:noFill/>
                    </a:lnR>
                    <a:lnT>
                      <a:noFill/>
                    </a:lnT>
                    <a:lnB>
                      <a:noFill/>
                    </a:lnB>
                    <a:solidFill>
                      <a:srgbClr val="111111"/>
                    </a:solidFill>
                  </a:tcPr>
                </a:tc>
                <a:tc>
                  <a:txBody>
                    <a:bodyPr/>
                    <a:lstStyle/>
                    <a:p>
                      <a:pPr algn="ctr" defTabSz="914400">
                        <a:lnSpc>
                          <a:spcPct val="100000"/>
                        </a:lnSpc>
                        <a:tabLst>
                          <a:tab pos="0" algn="l"/>
                        </a:tabLst>
                      </a:pPr>
                      <a:r>
                        <a:rPr lang="en-US" sz="1000" b="1" strike="noStrike" spc="-1">
                          <a:solidFill>
                            <a:srgbClr val="F29A36"/>
                          </a:solidFill>
                          <a:latin typeface="Calibri"/>
                        </a:rPr>
                        <a:t>A/E</a:t>
                      </a:r>
                      <a:endParaRPr lang="en-US" sz="1000" b="0" strike="noStrike" spc="-1">
                        <a:solidFill>
                          <a:srgbClr val="FFFFFF"/>
                        </a:solidFill>
                        <a:latin typeface="Arial"/>
                      </a:endParaRPr>
                    </a:p>
                  </a:txBody>
                  <a:tcPr marL="75960" marR="75960">
                    <a:lnL>
                      <a:noFill/>
                    </a:lnL>
                    <a:lnR>
                      <a:noFill/>
                    </a:lnR>
                    <a:lnT>
                      <a:noFill/>
                    </a:lnT>
                    <a:lnB>
                      <a:noFill/>
                    </a:lnB>
                    <a:solidFill>
                      <a:srgbClr val="111111"/>
                    </a:solidFill>
                  </a:tcPr>
                </a:tc>
                <a:tc>
                  <a:txBody>
                    <a:bodyPr/>
                    <a:lstStyle/>
                    <a:p>
                      <a:pPr defTabSz="914400">
                        <a:lnSpc>
                          <a:spcPct val="100000"/>
                        </a:lnSpc>
                        <a:tabLst>
                          <a:tab pos="0" algn="l"/>
                        </a:tabLst>
                      </a:pPr>
                      <a:r>
                        <a:rPr lang="en-US" sz="1000" b="0" strike="noStrike" spc="-1">
                          <a:solidFill>
                            <a:srgbClr val="666666"/>
                          </a:solidFill>
                          <a:latin typeface="Calibri"/>
                        </a:rPr>
                        <a:t>Determine appropriate profile setting modifications</a:t>
                      </a:r>
                      <a:endParaRPr lang="en-US" sz="1000" b="0" strike="noStrike" spc="-1">
                        <a:solidFill>
                          <a:srgbClr val="FFFFFF"/>
                        </a:solidFill>
                        <a:latin typeface="Arial"/>
                      </a:endParaRPr>
                    </a:p>
                  </a:txBody>
                  <a:tcPr marL="75960" marR="75960">
                    <a:lnL>
                      <a:noFill/>
                    </a:lnL>
                    <a:lnR>
                      <a:noFill/>
                    </a:lnR>
                    <a:lnT>
                      <a:noFill/>
                    </a:lnT>
                    <a:lnB>
                      <a:noFill/>
                    </a:lnB>
                    <a:solidFill>
                      <a:srgbClr val="111111"/>
                    </a:solidFill>
                  </a:tcPr>
                </a:tc>
                <a:extLst>
                  <a:ext uri="{0D108BD9-81ED-4DB2-BD59-A6C34878D82A}">
                    <a16:rowId xmlns:a16="http://schemas.microsoft.com/office/drawing/2014/main" val="10003"/>
                  </a:ext>
                </a:extLst>
              </a:tr>
              <a:tr h="0">
                <a:tc>
                  <a:txBody>
                    <a:bodyPr/>
                    <a:lstStyle/>
                    <a:p>
                      <a:pPr defTabSz="914400">
                        <a:lnSpc>
                          <a:spcPct val="100000"/>
                        </a:lnSpc>
                        <a:tabLst>
                          <a:tab pos="0" algn="l"/>
                        </a:tabLst>
                      </a:pPr>
                      <a:r>
                        <a:rPr lang="en-US" sz="1000" b="0" strike="noStrike" spc="-1">
                          <a:solidFill>
                            <a:srgbClr val="FFFFFF"/>
                          </a:solidFill>
                          <a:latin typeface="Courier New"/>
                          <a:ea typeface="Courier New"/>
                        </a:rPr>
                        <a:t>F5CTSLTM3.01</a:t>
                      </a:r>
                      <a:endParaRPr lang="en-US" sz="1000" b="0" strike="noStrike" spc="-1">
                        <a:solidFill>
                          <a:srgbClr val="FFFFFF"/>
                        </a:solidFill>
                        <a:latin typeface="Arial"/>
                      </a:endParaRPr>
                    </a:p>
                  </a:txBody>
                  <a:tcPr marL="75960" marR="75960">
                    <a:lnL>
                      <a:noFill/>
                    </a:lnL>
                    <a:lnR>
                      <a:noFill/>
                    </a:lnR>
                    <a:lnT>
                      <a:noFill/>
                    </a:lnT>
                    <a:lnB>
                      <a:noFill/>
                    </a:lnB>
                    <a:solidFill>
                      <a:srgbClr val="1A1A1A"/>
                    </a:solidFill>
                  </a:tcPr>
                </a:tc>
                <a:tc>
                  <a:txBody>
                    <a:bodyPr/>
                    <a:lstStyle/>
                    <a:p>
                      <a:pPr algn="ctr" defTabSz="914400">
                        <a:lnSpc>
                          <a:spcPct val="100000"/>
                        </a:lnSpc>
                        <a:tabLst>
                          <a:tab pos="0" algn="l"/>
                        </a:tabLst>
                      </a:pPr>
                      <a:r>
                        <a:rPr lang="en-US" sz="1000" b="1" strike="noStrike" spc="-1">
                          <a:solidFill>
                            <a:srgbClr val="009639"/>
                          </a:solidFill>
                          <a:latin typeface="Calibri"/>
                        </a:rPr>
                        <a:t>U/A</a:t>
                      </a:r>
                      <a:endParaRPr lang="en-US" sz="1000" b="0" strike="noStrike" spc="-1">
                        <a:solidFill>
                          <a:srgbClr val="FFFFFF"/>
                        </a:solidFill>
                        <a:latin typeface="Arial"/>
                      </a:endParaRPr>
                    </a:p>
                  </a:txBody>
                  <a:tcPr marL="75960" marR="75960">
                    <a:lnL>
                      <a:noFill/>
                    </a:lnL>
                    <a:lnR>
                      <a:noFill/>
                    </a:lnR>
                    <a:lnT>
                      <a:noFill/>
                    </a:lnT>
                    <a:lnB>
                      <a:noFill/>
                    </a:lnB>
                    <a:solidFill>
                      <a:srgbClr val="1A1A1A"/>
                    </a:solidFill>
                  </a:tcPr>
                </a:tc>
                <a:tc>
                  <a:txBody>
                    <a:bodyPr/>
                    <a:lstStyle/>
                    <a:p>
                      <a:pPr defTabSz="914400">
                        <a:lnSpc>
                          <a:spcPct val="100000"/>
                        </a:lnSpc>
                        <a:tabLst>
                          <a:tab pos="0" algn="l"/>
                        </a:tabLst>
                      </a:pPr>
                      <a:r>
                        <a:rPr lang="en-US" sz="1000" b="0" strike="noStrike" spc="-1">
                          <a:solidFill>
                            <a:srgbClr val="666666"/>
                          </a:solidFill>
                          <a:latin typeface="Calibri"/>
                        </a:rPr>
                        <a:t>Given iRule functionality, determine profiles needed</a:t>
                      </a:r>
                      <a:endParaRPr lang="en-US" sz="1000" b="0" strike="noStrike" spc="-1">
                        <a:solidFill>
                          <a:srgbClr val="FFFFFF"/>
                        </a:solidFill>
                        <a:latin typeface="Arial"/>
                      </a:endParaRPr>
                    </a:p>
                  </a:txBody>
                  <a:tcPr marL="75960" marR="75960">
                    <a:lnL>
                      <a:noFill/>
                    </a:lnL>
                    <a:lnR>
                      <a:noFill/>
                    </a:lnR>
                    <a:lnT>
                      <a:noFill/>
                    </a:lnT>
                    <a:lnB>
                      <a:noFill/>
                    </a:lnB>
                    <a:solidFill>
                      <a:srgbClr val="1A1A1A"/>
                    </a:solidFill>
                  </a:tcPr>
                </a:tc>
                <a:extLst>
                  <a:ext uri="{0D108BD9-81ED-4DB2-BD59-A6C34878D82A}">
                    <a16:rowId xmlns:a16="http://schemas.microsoft.com/office/drawing/2014/main" val="10004"/>
                  </a:ext>
                </a:extLst>
              </a:tr>
              <a:tr h="0">
                <a:tc>
                  <a:txBody>
                    <a:bodyPr/>
                    <a:lstStyle/>
                    <a:p>
                      <a:pPr defTabSz="914400">
                        <a:lnSpc>
                          <a:spcPct val="100000"/>
                        </a:lnSpc>
                        <a:tabLst>
                          <a:tab pos="0" algn="l"/>
                        </a:tabLst>
                      </a:pPr>
                      <a:r>
                        <a:rPr lang="en-US" sz="1000" b="0" strike="noStrike" spc="-1">
                          <a:solidFill>
                            <a:srgbClr val="FFFFFF"/>
                          </a:solidFill>
                          <a:latin typeface="Courier New"/>
                          <a:ea typeface="Courier New"/>
                        </a:rPr>
                        <a:t>F5CTSLTM3.05</a:t>
                      </a:r>
                      <a:endParaRPr lang="en-US" sz="1000" b="0" strike="noStrike" spc="-1">
                        <a:solidFill>
                          <a:srgbClr val="FFFFFF"/>
                        </a:solidFill>
                        <a:latin typeface="Arial"/>
                      </a:endParaRPr>
                    </a:p>
                  </a:txBody>
                  <a:tcPr marL="75960" marR="75960">
                    <a:lnL>
                      <a:noFill/>
                    </a:lnL>
                    <a:lnR>
                      <a:noFill/>
                    </a:lnR>
                    <a:lnT>
                      <a:noFill/>
                    </a:lnT>
                    <a:lnB>
                      <a:noFill/>
                    </a:lnB>
                    <a:solidFill>
                      <a:srgbClr val="111111"/>
                    </a:solidFill>
                  </a:tcPr>
                </a:tc>
                <a:tc>
                  <a:txBody>
                    <a:bodyPr/>
                    <a:lstStyle/>
                    <a:p>
                      <a:pPr algn="ctr" defTabSz="914400">
                        <a:lnSpc>
                          <a:spcPct val="100000"/>
                        </a:lnSpc>
                        <a:tabLst>
                          <a:tab pos="0" algn="l"/>
                        </a:tabLst>
                      </a:pPr>
                      <a:r>
                        <a:rPr lang="en-US" sz="1000" b="1" strike="noStrike" spc="-1">
                          <a:solidFill>
                            <a:srgbClr val="F29A36"/>
                          </a:solidFill>
                          <a:latin typeface="Calibri"/>
                        </a:rPr>
                        <a:t>A/E</a:t>
                      </a:r>
                      <a:endParaRPr lang="en-US" sz="1000" b="0" strike="noStrike" spc="-1">
                        <a:solidFill>
                          <a:srgbClr val="FFFFFF"/>
                        </a:solidFill>
                        <a:latin typeface="Arial"/>
                      </a:endParaRPr>
                    </a:p>
                  </a:txBody>
                  <a:tcPr marL="75960" marR="75960">
                    <a:lnL>
                      <a:noFill/>
                    </a:lnL>
                    <a:lnR>
                      <a:noFill/>
                    </a:lnR>
                    <a:lnT>
                      <a:noFill/>
                    </a:lnT>
                    <a:lnB>
                      <a:noFill/>
                    </a:lnB>
                    <a:solidFill>
                      <a:srgbClr val="111111"/>
                    </a:solidFill>
                  </a:tcPr>
                </a:tc>
                <a:tc>
                  <a:txBody>
                    <a:bodyPr/>
                    <a:lstStyle/>
                    <a:p>
                      <a:pPr defTabSz="914400">
                        <a:lnSpc>
                          <a:spcPct val="100000"/>
                        </a:lnSpc>
                        <a:tabLst>
                          <a:tab pos="0" algn="l"/>
                        </a:tabLst>
                      </a:pPr>
                      <a:r>
                        <a:rPr lang="en-US" sz="1000" b="0" strike="noStrike" spc="-1">
                          <a:solidFill>
                            <a:srgbClr val="666666"/>
                          </a:solidFill>
                          <a:latin typeface="Calibri"/>
                        </a:rPr>
                        <a:t>Given traffic + iRule, predict the result</a:t>
                      </a:r>
                      <a:endParaRPr lang="en-US" sz="1000" b="0" strike="noStrike" spc="-1">
                        <a:solidFill>
                          <a:srgbClr val="FFFFFF"/>
                        </a:solidFill>
                        <a:latin typeface="Arial"/>
                      </a:endParaRPr>
                    </a:p>
                  </a:txBody>
                  <a:tcPr marL="75960" marR="75960">
                    <a:lnL>
                      <a:noFill/>
                    </a:lnL>
                    <a:lnR>
                      <a:noFill/>
                    </a:lnR>
                    <a:lnT>
                      <a:noFill/>
                    </a:lnT>
                    <a:lnB>
                      <a:noFill/>
                    </a:lnB>
                    <a:solidFill>
                      <a:srgbClr val="111111"/>
                    </a:solidFill>
                  </a:tcPr>
                </a:tc>
                <a:extLst>
                  <a:ext uri="{0D108BD9-81ED-4DB2-BD59-A6C34878D82A}">
                    <a16:rowId xmlns:a16="http://schemas.microsoft.com/office/drawing/2014/main" val="10005"/>
                  </a:ext>
                </a:extLst>
              </a:tr>
            </a:tbl>
          </a:graphicData>
        </a:graphic>
      </p:graphicFrame>
      <p:sp>
        <p:nvSpPr>
          <p:cNvPr id="453" name="Text 5"/>
          <p:cNvSpPr/>
          <p:nvPr/>
        </p:nvSpPr>
        <p:spPr>
          <a:xfrm>
            <a:off x="365760" y="2834640"/>
            <a:ext cx="7314840" cy="1096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strike="noStrike" spc="-1">
                <a:solidFill>
                  <a:srgbClr val="666666"/>
                </a:solidFill>
                <a:latin typeface="Calibri"/>
                <a:ea typeface="Calibri"/>
              </a:rPr>
              <a:t>LAB 2</a:t>
            </a:r>
            <a:endParaRPr lang="en-US" sz="1400" b="0" strike="noStrike" spc="-1">
              <a:solidFill>
                <a:srgbClr val="FFFFFF"/>
              </a:solidFill>
              <a:latin typeface="Arial"/>
            </a:endParaRPr>
          </a:p>
          <a:p>
            <a:pPr defTabSz="914400">
              <a:lnSpc>
                <a:spcPct val="100000"/>
              </a:lnSpc>
              <a:tabLst>
                <a:tab pos="0" algn="l"/>
              </a:tabLst>
            </a:pPr>
            <a:r>
              <a:rPr lang="en-US" sz="3600" b="1" strike="noStrike" spc="-1">
                <a:solidFill>
                  <a:srgbClr val="FFFFFF"/>
                </a:solidFill>
                <a:latin typeface="Arial"/>
                <a:ea typeface="Arial"/>
              </a:rPr>
              <a:t>Profiles</a:t>
            </a:r>
            <a:endParaRPr lang="en-US" sz="3600" b="0" strike="noStrike" spc="-1">
              <a:solidFill>
                <a:srgbClr val="FFFFFF"/>
              </a:solidFill>
              <a:latin typeface="Arial"/>
            </a:endParaRPr>
          </a:p>
        </p:txBody>
      </p:sp>
      <p:sp>
        <p:nvSpPr>
          <p:cNvPr id="454" name="Text 6"/>
          <p:cNvSpPr/>
          <p:nvPr/>
        </p:nvSpPr>
        <p:spPr>
          <a:xfrm>
            <a:off x="365760" y="3931920"/>
            <a:ext cx="640044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strike="noStrike" spc="-1">
                <a:solidFill>
                  <a:srgbClr val="666666"/>
                </a:solidFill>
                <a:latin typeface="Calibri"/>
                <a:ea typeface="Calibri"/>
              </a:rPr>
              <a:t>Profile types, inheritance, protocol/service/persistence/SSL profiles,</a:t>
            </a:r>
            <a:endParaRPr lang="en-US" sz="1400" b="0" strike="noStrike" spc="-1">
              <a:solidFill>
                <a:srgbClr val="FFFFFF"/>
              </a:solidFill>
              <a:latin typeface="Arial"/>
            </a:endParaRPr>
          </a:p>
          <a:p>
            <a:pPr defTabSz="914400">
              <a:lnSpc>
                <a:spcPct val="100000"/>
              </a:lnSpc>
              <a:tabLst>
                <a:tab pos="0" algn="l"/>
              </a:tabLst>
            </a:pPr>
            <a:r>
              <a:rPr lang="en-US" sz="1400" b="0" strike="noStrike" spc="-1">
                <a:solidFill>
                  <a:srgbClr val="666666"/>
                </a:solidFill>
                <a:latin typeface="Calibri"/>
                <a:ea typeface="Calibri"/>
              </a:rPr>
              <a:t>multi-tier placement, HTTP optimization, and iRule dependencies.</a:t>
            </a:r>
            <a:endParaRPr lang="en-US" sz="1400" b="0" strike="noStrike" spc="-1">
              <a:solidFill>
                <a:srgbClr val="FFFFFF"/>
              </a:solidFill>
              <a:latin typeface="Arial"/>
            </a:endParaRPr>
          </a:p>
        </p:txBody>
      </p:sp>
      <p:sp>
        <p:nvSpPr>
          <p:cNvPr id="455" name="Text 7"/>
          <p:cNvSpPr/>
          <p:nvPr/>
        </p:nvSpPr>
        <p:spPr>
          <a:xfrm>
            <a:off x="365760" y="4480560"/>
            <a:ext cx="45716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strike="noStrike" spc="-1">
                <a:solidFill>
                  <a:srgbClr val="F29A36"/>
                </a:solidFill>
                <a:latin typeface="Calibri"/>
                <a:ea typeface="Calibri"/>
              </a:rPr>
              <a:t>75 min  |  30 min slides + 45 min lab</a:t>
            </a:r>
            <a:endParaRPr lang="en-US" sz="1100" b="0" strike="noStrike" spc="-1">
              <a:solidFill>
                <a:srgbClr val="FFFFFF"/>
              </a:solidFill>
              <a:latin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6"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457"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458"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459"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460"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461"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20    © 2026 F5</a:t>
            </a:r>
            <a:endParaRPr lang="en-US" sz="800" b="0" strike="noStrike" spc="-1">
              <a:solidFill>
                <a:srgbClr val="000000"/>
              </a:solidFill>
              <a:latin typeface="Arial"/>
            </a:endParaRPr>
          </a:p>
        </p:txBody>
      </p:sp>
      <p:pic>
        <p:nvPicPr>
          <p:cNvPr id="462" name="Image 0" descr="preencoded.png"/>
          <p:cNvPicPr/>
          <p:nvPr/>
        </p:nvPicPr>
        <p:blipFill>
          <a:blip r:embed="rId3"/>
          <a:stretch/>
        </p:blipFill>
        <p:spPr>
          <a:xfrm>
            <a:off x="8458200" y="4663440"/>
            <a:ext cx="383760" cy="383760"/>
          </a:xfrm>
          <a:prstGeom prst="rect">
            <a:avLst/>
          </a:prstGeom>
          <a:ln w="0">
            <a:noFill/>
          </a:ln>
        </p:spPr>
      </p:pic>
      <p:sp>
        <p:nvSpPr>
          <p:cNvPr id="463" name="Text 6"/>
          <p:cNvSpPr/>
          <p:nvPr/>
        </p:nvSpPr>
        <p:spPr>
          <a:xfrm>
            <a:off x="457200" y="274320"/>
            <a:ext cx="82292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Profile types and inheritance</a:t>
            </a:r>
            <a:endParaRPr lang="en-US" sz="2800" b="0" strike="noStrike" spc="-1">
              <a:solidFill>
                <a:srgbClr val="000000"/>
              </a:solidFill>
              <a:latin typeface="Arial"/>
            </a:endParaRPr>
          </a:p>
        </p:txBody>
      </p:sp>
      <p:sp>
        <p:nvSpPr>
          <p:cNvPr id="464" name="Text 7"/>
          <p:cNvSpPr/>
          <p:nvPr/>
        </p:nvSpPr>
        <p:spPr>
          <a:xfrm>
            <a:off x="457200" y="68580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strike="noStrike" spc="-1">
                <a:solidFill>
                  <a:srgbClr val="666666"/>
                </a:solidFill>
                <a:latin typeface="Calibri"/>
                <a:ea typeface="Calibri"/>
              </a:rPr>
              <a:t>Profiles define how the BIG-IP processes traffic. Custom profiles inherit from parent defaults.</a:t>
            </a:r>
            <a:endParaRPr lang="en-US" sz="1400" b="0" strike="noStrike" spc="-1">
              <a:solidFill>
                <a:srgbClr val="000000"/>
              </a:solidFill>
              <a:latin typeface="Arial"/>
            </a:endParaRPr>
          </a:p>
        </p:txBody>
      </p:sp>
      <p:sp>
        <p:nvSpPr>
          <p:cNvPr id="465" name="Shape 8"/>
          <p:cNvSpPr/>
          <p:nvPr/>
        </p:nvSpPr>
        <p:spPr>
          <a:xfrm>
            <a:off x="365760" y="1143000"/>
            <a:ext cx="1325520" cy="36540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466" name="Text 9"/>
          <p:cNvSpPr/>
          <p:nvPr/>
        </p:nvSpPr>
        <p:spPr>
          <a:xfrm>
            <a:off x="365760" y="1143000"/>
            <a:ext cx="132552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strike="noStrike" spc="-1">
                <a:solidFill>
                  <a:srgbClr val="FFFFFF"/>
                </a:solidFill>
                <a:latin typeface="Arial"/>
                <a:ea typeface="Arial"/>
              </a:rPr>
              <a:t>Protocol</a:t>
            </a:r>
            <a:endParaRPr lang="en-US" sz="1200" b="0" strike="noStrike" spc="-1">
              <a:solidFill>
                <a:srgbClr val="000000"/>
              </a:solidFill>
              <a:latin typeface="Arial"/>
            </a:endParaRPr>
          </a:p>
        </p:txBody>
      </p:sp>
      <p:sp>
        <p:nvSpPr>
          <p:cNvPr id="467" name="Shape 10"/>
          <p:cNvSpPr/>
          <p:nvPr/>
        </p:nvSpPr>
        <p:spPr>
          <a:xfrm>
            <a:off x="365760" y="1508760"/>
            <a:ext cx="1325520" cy="68544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468" name="Text 11"/>
          <p:cNvSpPr/>
          <p:nvPr/>
        </p:nvSpPr>
        <p:spPr>
          <a:xfrm>
            <a:off x="438840" y="1536120"/>
            <a:ext cx="11883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strike="noStrike" spc="-1">
                <a:solidFill>
                  <a:srgbClr val="333333"/>
                </a:solidFill>
                <a:latin typeface="Calibri"/>
                <a:ea typeface="Calibri"/>
              </a:rPr>
              <a:t>TCP, UDP, FastL4</a:t>
            </a:r>
            <a:endParaRPr lang="en-US" sz="900" b="0" strike="noStrike" spc="-1">
              <a:solidFill>
                <a:srgbClr val="000000"/>
              </a:solidFill>
              <a:latin typeface="Arial"/>
            </a:endParaRPr>
          </a:p>
        </p:txBody>
      </p:sp>
      <p:sp>
        <p:nvSpPr>
          <p:cNvPr id="469" name="Text 12"/>
          <p:cNvSpPr/>
          <p:nvPr/>
        </p:nvSpPr>
        <p:spPr>
          <a:xfrm>
            <a:off x="438840" y="1828800"/>
            <a:ext cx="11883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strike="noStrike" spc="-1">
                <a:solidFill>
                  <a:srgbClr val="666666"/>
                </a:solidFill>
                <a:latin typeface="Calibri"/>
                <a:ea typeface="Calibri"/>
              </a:rPr>
              <a:t>Layer 4 transport</a:t>
            </a:r>
            <a:endParaRPr lang="en-US" sz="900" b="0" strike="noStrike" spc="-1">
              <a:solidFill>
                <a:srgbClr val="000000"/>
              </a:solidFill>
              <a:latin typeface="Arial"/>
            </a:endParaRPr>
          </a:p>
        </p:txBody>
      </p:sp>
      <p:sp>
        <p:nvSpPr>
          <p:cNvPr id="470" name="Shape 13"/>
          <p:cNvSpPr/>
          <p:nvPr/>
        </p:nvSpPr>
        <p:spPr>
          <a:xfrm>
            <a:off x="1828800" y="1143000"/>
            <a:ext cx="1325520" cy="36540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471" name="Text 14"/>
          <p:cNvSpPr/>
          <p:nvPr/>
        </p:nvSpPr>
        <p:spPr>
          <a:xfrm>
            <a:off x="1828800" y="1143000"/>
            <a:ext cx="132552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strike="noStrike" spc="-1">
                <a:solidFill>
                  <a:srgbClr val="FFFFFF"/>
                </a:solidFill>
                <a:latin typeface="Arial"/>
                <a:ea typeface="Arial"/>
              </a:rPr>
              <a:t>Service</a:t>
            </a:r>
            <a:endParaRPr lang="en-US" sz="1200" b="0" strike="noStrike" spc="-1">
              <a:solidFill>
                <a:srgbClr val="000000"/>
              </a:solidFill>
              <a:latin typeface="Arial"/>
            </a:endParaRPr>
          </a:p>
        </p:txBody>
      </p:sp>
      <p:sp>
        <p:nvSpPr>
          <p:cNvPr id="472" name="Shape 15"/>
          <p:cNvSpPr/>
          <p:nvPr/>
        </p:nvSpPr>
        <p:spPr>
          <a:xfrm>
            <a:off x="1828800" y="1508760"/>
            <a:ext cx="1325520" cy="68544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473" name="Text 16"/>
          <p:cNvSpPr/>
          <p:nvPr/>
        </p:nvSpPr>
        <p:spPr>
          <a:xfrm>
            <a:off x="1901880" y="1536120"/>
            <a:ext cx="11883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strike="noStrike" spc="-1">
                <a:solidFill>
                  <a:srgbClr val="333333"/>
                </a:solidFill>
                <a:latin typeface="Calibri"/>
                <a:ea typeface="Calibri"/>
              </a:rPr>
              <a:t>HTTP, FTP, DNS</a:t>
            </a:r>
            <a:endParaRPr lang="en-US" sz="900" b="0" strike="noStrike" spc="-1">
              <a:solidFill>
                <a:srgbClr val="000000"/>
              </a:solidFill>
              <a:latin typeface="Arial"/>
            </a:endParaRPr>
          </a:p>
        </p:txBody>
      </p:sp>
      <p:sp>
        <p:nvSpPr>
          <p:cNvPr id="474" name="Text 17"/>
          <p:cNvSpPr/>
          <p:nvPr/>
        </p:nvSpPr>
        <p:spPr>
          <a:xfrm>
            <a:off x="1901880" y="1828800"/>
            <a:ext cx="11883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strike="noStrike" spc="-1">
                <a:solidFill>
                  <a:srgbClr val="666666"/>
                </a:solidFill>
                <a:latin typeface="Calibri"/>
                <a:ea typeface="Calibri"/>
              </a:rPr>
              <a:t>Layer 7 intelligence</a:t>
            </a:r>
            <a:endParaRPr lang="en-US" sz="900" b="0" strike="noStrike" spc="-1">
              <a:solidFill>
                <a:srgbClr val="000000"/>
              </a:solidFill>
              <a:latin typeface="Arial"/>
            </a:endParaRPr>
          </a:p>
        </p:txBody>
      </p:sp>
      <p:sp>
        <p:nvSpPr>
          <p:cNvPr id="475" name="Shape 18"/>
          <p:cNvSpPr/>
          <p:nvPr/>
        </p:nvSpPr>
        <p:spPr>
          <a:xfrm>
            <a:off x="3291840" y="1143000"/>
            <a:ext cx="1325520" cy="365400"/>
          </a:xfrm>
          <a:prstGeom prst="rect">
            <a:avLst/>
          </a:prstGeom>
          <a:solidFill>
            <a:srgbClr val="00963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476" name="Text 19"/>
          <p:cNvSpPr/>
          <p:nvPr/>
        </p:nvSpPr>
        <p:spPr>
          <a:xfrm>
            <a:off x="3291840" y="1143000"/>
            <a:ext cx="132552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strike="noStrike" spc="-1">
                <a:solidFill>
                  <a:srgbClr val="FFFFFF"/>
                </a:solidFill>
                <a:latin typeface="Arial"/>
                <a:ea typeface="Arial"/>
              </a:rPr>
              <a:t>Persistence</a:t>
            </a:r>
            <a:endParaRPr lang="en-US" sz="1200" b="0" strike="noStrike" spc="-1">
              <a:solidFill>
                <a:srgbClr val="000000"/>
              </a:solidFill>
              <a:latin typeface="Arial"/>
            </a:endParaRPr>
          </a:p>
        </p:txBody>
      </p:sp>
      <p:sp>
        <p:nvSpPr>
          <p:cNvPr id="477" name="Shape 20"/>
          <p:cNvSpPr/>
          <p:nvPr/>
        </p:nvSpPr>
        <p:spPr>
          <a:xfrm>
            <a:off x="3291840" y="1508760"/>
            <a:ext cx="1325520" cy="68544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478" name="Text 21"/>
          <p:cNvSpPr/>
          <p:nvPr/>
        </p:nvSpPr>
        <p:spPr>
          <a:xfrm>
            <a:off x="3364920" y="1536120"/>
            <a:ext cx="11883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strike="noStrike" spc="-1">
                <a:solidFill>
                  <a:srgbClr val="333333"/>
                </a:solidFill>
                <a:latin typeface="Calibri"/>
                <a:ea typeface="Calibri"/>
              </a:rPr>
              <a:t>Cookie, Source, SSL</a:t>
            </a:r>
            <a:endParaRPr lang="en-US" sz="900" b="0" strike="noStrike" spc="-1">
              <a:solidFill>
                <a:srgbClr val="000000"/>
              </a:solidFill>
              <a:latin typeface="Arial"/>
            </a:endParaRPr>
          </a:p>
        </p:txBody>
      </p:sp>
      <p:sp>
        <p:nvSpPr>
          <p:cNvPr id="479" name="Text 22"/>
          <p:cNvSpPr/>
          <p:nvPr/>
        </p:nvSpPr>
        <p:spPr>
          <a:xfrm>
            <a:off x="3364920" y="1828800"/>
            <a:ext cx="11883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strike="noStrike" spc="-1">
                <a:solidFill>
                  <a:srgbClr val="666666"/>
                </a:solidFill>
                <a:latin typeface="Calibri"/>
                <a:ea typeface="Calibri"/>
              </a:rPr>
              <a:t>Session affinity</a:t>
            </a:r>
            <a:endParaRPr lang="en-US" sz="900" b="0" strike="noStrike" spc="-1">
              <a:solidFill>
                <a:srgbClr val="000000"/>
              </a:solidFill>
              <a:latin typeface="Arial"/>
            </a:endParaRPr>
          </a:p>
        </p:txBody>
      </p:sp>
      <p:sp>
        <p:nvSpPr>
          <p:cNvPr id="480" name="Shape 23"/>
          <p:cNvSpPr/>
          <p:nvPr/>
        </p:nvSpPr>
        <p:spPr>
          <a:xfrm>
            <a:off x="4754880" y="1143000"/>
            <a:ext cx="1325520" cy="36540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481" name="Text 24"/>
          <p:cNvSpPr/>
          <p:nvPr/>
        </p:nvSpPr>
        <p:spPr>
          <a:xfrm>
            <a:off x="4754880" y="1143000"/>
            <a:ext cx="132552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strike="noStrike" spc="-1">
                <a:solidFill>
                  <a:srgbClr val="FFFFFF"/>
                </a:solidFill>
                <a:latin typeface="Arial"/>
                <a:ea typeface="Arial"/>
              </a:rPr>
              <a:t>SSL</a:t>
            </a:r>
            <a:endParaRPr lang="en-US" sz="1200" b="0" strike="noStrike" spc="-1">
              <a:solidFill>
                <a:srgbClr val="000000"/>
              </a:solidFill>
              <a:latin typeface="Arial"/>
            </a:endParaRPr>
          </a:p>
        </p:txBody>
      </p:sp>
      <p:sp>
        <p:nvSpPr>
          <p:cNvPr id="482" name="Shape 25"/>
          <p:cNvSpPr/>
          <p:nvPr/>
        </p:nvSpPr>
        <p:spPr>
          <a:xfrm>
            <a:off x="4754880" y="1508760"/>
            <a:ext cx="1325520" cy="68544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483" name="Text 26"/>
          <p:cNvSpPr/>
          <p:nvPr/>
        </p:nvSpPr>
        <p:spPr>
          <a:xfrm>
            <a:off x="4827960" y="1536120"/>
            <a:ext cx="11883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strike="noStrike" spc="-1">
                <a:solidFill>
                  <a:srgbClr val="333333"/>
                </a:solidFill>
                <a:latin typeface="Calibri"/>
                <a:ea typeface="Calibri"/>
              </a:rPr>
              <a:t>Client-SSL, Server-SSL</a:t>
            </a:r>
            <a:endParaRPr lang="en-US" sz="900" b="0" strike="noStrike" spc="-1">
              <a:solidFill>
                <a:srgbClr val="000000"/>
              </a:solidFill>
              <a:latin typeface="Arial"/>
            </a:endParaRPr>
          </a:p>
        </p:txBody>
      </p:sp>
      <p:sp>
        <p:nvSpPr>
          <p:cNvPr id="484" name="Text 27"/>
          <p:cNvSpPr/>
          <p:nvPr/>
        </p:nvSpPr>
        <p:spPr>
          <a:xfrm>
            <a:off x="4827960" y="1828800"/>
            <a:ext cx="11883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strike="noStrike" spc="-1">
                <a:solidFill>
                  <a:srgbClr val="666666"/>
                </a:solidFill>
                <a:latin typeface="Calibri"/>
                <a:ea typeface="Calibri"/>
              </a:rPr>
              <a:t>Encryption handling</a:t>
            </a:r>
            <a:endParaRPr lang="en-US" sz="900" b="0" strike="noStrike" spc="-1">
              <a:solidFill>
                <a:srgbClr val="000000"/>
              </a:solidFill>
              <a:latin typeface="Arial"/>
            </a:endParaRPr>
          </a:p>
        </p:txBody>
      </p:sp>
      <p:sp>
        <p:nvSpPr>
          <p:cNvPr id="485" name="Shape 28"/>
          <p:cNvSpPr/>
          <p:nvPr/>
        </p:nvSpPr>
        <p:spPr>
          <a:xfrm>
            <a:off x="6217920" y="1143000"/>
            <a:ext cx="1325520" cy="36540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486" name="Text 29"/>
          <p:cNvSpPr/>
          <p:nvPr/>
        </p:nvSpPr>
        <p:spPr>
          <a:xfrm>
            <a:off x="6217920" y="1143000"/>
            <a:ext cx="132552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strike="noStrike" spc="-1">
                <a:solidFill>
                  <a:srgbClr val="FFFFFF"/>
                </a:solidFill>
                <a:latin typeface="Arial"/>
                <a:ea typeface="Arial"/>
              </a:rPr>
              <a:t>Other</a:t>
            </a:r>
            <a:endParaRPr lang="en-US" sz="1200" b="0" strike="noStrike" spc="-1">
              <a:solidFill>
                <a:srgbClr val="000000"/>
              </a:solidFill>
              <a:latin typeface="Arial"/>
            </a:endParaRPr>
          </a:p>
        </p:txBody>
      </p:sp>
      <p:sp>
        <p:nvSpPr>
          <p:cNvPr id="487" name="Shape 30"/>
          <p:cNvSpPr/>
          <p:nvPr/>
        </p:nvSpPr>
        <p:spPr>
          <a:xfrm>
            <a:off x="6217920" y="1508760"/>
            <a:ext cx="1325520" cy="68544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488" name="Text 31"/>
          <p:cNvSpPr/>
          <p:nvPr/>
        </p:nvSpPr>
        <p:spPr>
          <a:xfrm>
            <a:off x="6291000" y="1536120"/>
            <a:ext cx="11883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strike="noStrike" spc="-1">
                <a:solidFill>
                  <a:srgbClr val="333333"/>
                </a:solidFill>
                <a:latin typeface="Calibri"/>
                <a:ea typeface="Calibri"/>
              </a:rPr>
              <a:t>OneConnect, Stream</a:t>
            </a:r>
            <a:endParaRPr lang="en-US" sz="900" b="0" strike="noStrike" spc="-1">
              <a:solidFill>
                <a:srgbClr val="000000"/>
              </a:solidFill>
              <a:latin typeface="Arial"/>
            </a:endParaRPr>
          </a:p>
        </p:txBody>
      </p:sp>
      <p:sp>
        <p:nvSpPr>
          <p:cNvPr id="489" name="Text 32"/>
          <p:cNvSpPr/>
          <p:nvPr/>
        </p:nvSpPr>
        <p:spPr>
          <a:xfrm>
            <a:off x="6291000" y="1828800"/>
            <a:ext cx="11883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strike="noStrike" spc="-1">
                <a:solidFill>
                  <a:srgbClr val="666666"/>
                </a:solidFill>
                <a:latin typeface="Calibri"/>
                <a:ea typeface="Calibri"/>
              </a:rPr>
              <a:t>Advanced features</a:t>
            </a:r>
            <a:endParaRPr lang="en-US" sz="900" b="0" strike="noStrike" spc="-1">
              <a:solidFill>
                <a:srgbClr val="000000"/>
              </a:solidFill>
              <a:latin typeface="Arial"/>
            </a:endParaRPr>
          </a:p>
        </p:txBody>
      </p:sp>
      <p:sp>
        <p:nvSpPr>
          <p:cNvPr id="490" name="Text 33"/>
          <p:cNvSpPr/>
          <p:nvPr/>
        </p:nvSpPr>
        <p:spPr>
          <a:xfrm>
            <a:off x="457200" y="2468880"/>
            <a:ext cx="3657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strike="noStrike" spc="-1">
                <a:solidFill>
                  <a:srgbClr val="0E41AA"/>
                </a:solidFill>
                <a:latin typeface="Arial"/>
                <a:ea typeface="Arial"/>
              </a:rPr>
              <a:t>Inheritance model</a:t>
            </a:r>
            <a:endParaRPr lang="en-US" sz="1600" b="0" strike="noStrike" spc="-1">
              <a:solidFill>
                <a:srgbClr val="000000"/>
              </a:solidFill>
              <a:latin typeface="Arial"/>
            </a:endParaRPr>
          </a:p>
        </p:txBody>
      </p:sp>
      <p:sp>
        <p:nvSpPr>
          <p:cNvPr id="491" name="Shape 34"/>
          <p:cNvSpPr/>
          <p:nvPr/>
        </p:nvSpPr>
        <p:spPr>
          <a:xfrm>
            <a:off x="457200" y="2788920"/>
            <a:ext cx="2011320" cy="411120"/>
          </a:xfrm>
          <a:prstGeom prst="rect">
            <a:avLst/>
          </a:prstGeom>
          <a:solidFill>
            <a:srgbClr val="33333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492" name="Text 35"/>
          <p:cNvSpPr/>
          <p:nvPr/>
        </p:nvSpPr>
        <p:spPr>
          <a:xfrm>
            <a:off x="457200" y="2788920"/>
            <a:ext cx="201132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0" strike="noStrike" spc="-1">
                <a:solidFill>
                  <a:srgbClr val="FFFFFF"/>
                </a:solidFill>
                <a:latin typeface="Courier New"/>
                <a:ea typeface="Courier New"/>
              </a:rPr>
              <a:t>Default parent (tcp)</a:t>
            </a:r>
            <a:endParaRPr lang="en-US" sz="1100" b="0" strike="noStrike" spc="-1">
              <a:solidFill>
                <a:srgbClr val="000000"/>
              </a:solidFill>
              <a:latin typeface="Arial"/>
            </a:endParaRPr>
          </a:p>
        </p:txBody>
      </p:sp>
      <p:sp>
        <p:nvSpPr>
          <p:cNvPr id="493" name="Text 36"/>
          <p:cNvSpPr/>
          <p:nvPr/>
        </p:nvSpPr>
        <p:spPr>
          <a:xfrm>
            <a:off x="1234440" y="3200400"/>
            <a:ext cx="45684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0" strike="noStrike" spc="-1">
                <a:solidFill>
                  <a:srgbClr val="D9D9D9"/>
                </a:solidFill>
                <a:latin typeface="Calibri"/>
              </a:rPr>
              <a:t>▼</a:t>
            </a:r>
            <a:endParaRPr lang="en-US" sz="1000" b="0" strike="noStrike" spc="-1">
              <a:solidFill>
                <a:srgbClr val="000000"/>
              </a:solidFill>
              <a:latin typeface="Arial"/>
            </a:endParaRPr>
          </a:p>
        </p:txBody>
      </p:sp>
      <p:sp>
        <p:nvSpPr>
          <p:cNvPr id="494" name="Shape 37"/>
          <p:cNvSpPr/>
          <p:nvPr/>
        </p:nvSpPr>
        <p:spPr>
          <a:xfrm>
            <a:off x="457200" y="3383280"/>
            <a:ext cx="2011320" cy="4111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495" name="Text 38"/>
          <p:cNvSpPr/>
          <p:nvPr/>
        </p:nvSpPr>
        <p:spPr>
          <a:xfrm>
            <a:off x="457200" y="3383280"/>
            <a:ext cx="201132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0" strike="noStrike" spc="-1">
                <a:solidFill>
                  <a:srgbClr val="FFFFFF"/>
                </a:solidFill>
                <a:latin typeface="Courier New"/>
                <a:ea typeface="Courier New"/>
              </a:rPr>
              <a:t>Custom child (my-tcp)</a:t>
            </a:r>
            <a:endParaRPr lang="en-US" sz="1100" b="0" strike="noStrike" spc="-1">
              <a:solidFill>
                <a:srgbClr val="000000"/>
              </a:solidFill>
              <a:latin typeface="Arial"/>
            </a:endParaRPr>
          </a:p>
        </p:txBody>
      </p:sp>
      <p:sp>
        <p:nvSpPr>
          <p:cNvPr id="496" name="Text 39"/>
          <p:cNvSpPr/>
          <p:nvPr/>
        </p:nvSpPr>
        <p:spPr>
          <a:xfrm>
            <a:off x="2743200" y="2651760"/>
            <a:ext cx="5943240" cy="13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100" b="1" strike="noStrike" spc="-1">
                <a:solidFill>
                  <a:srgbClr val="333333"/>
                </a:solidFill>
                <a:latin typeface="Calibri"/>
                <a:ea typeface="Calibri"/>
              </a:rPr>
              <a:t>Never modify defaults directly</a:t>
            </a:r>
            <a:endParaRPr lang="en-US" sz="1100" b="0" strike="noStrike" spc="-1">
              <a:solidFill>
                <a:srgbClr val="000000"/>
              </a:solidFill>
              <a:latin typeface="Arial"/>
            </a:endParaRPr>
          </a:p>
          <a:p>
            <a:pPr defTabSz="914400">
              <a:lnSpc>
                <a:spcPct val="100000"/>
              </a:lnSpc>
              <a:tabLst>
                <a:tab pos="0" algn="l"/>
              </a:tabLst>
            </a:pPr>
            <a:r>
              <a:rPr lang="en-US" sz="1000" b="0" strike="noStrike" spc="-1">
                <a:solidFill>
                  <a:srgbClr val="666666"/>
                </a:solidFill>
                <a:latin typeface="Calibri"/>
                <a:ea typeface="Calibri"/>
              </a:rPr>
              <a:t>Changes lost on upgrade. Create custom child profiles and override only what you need.</a:t>
            </a:r>
            <a:endParaRPr lang="en-US" sz="1000" b="0" strike="noStrike" spc="-1">
              <a:solidFill>
                <a:srgbClr val="000000"/>
              </a:solidFill>
              <a:latin typeface="Arial"/>
            </a:endParaRPr>
          </a:p>
          <a:p>
            <a:pPr defTabSz="914400">
              <a:lnSpc>
                <a:spcPct val="100000"/>
              </a:lnSpc>
              <a:tabLst>
                <a:tab pos="0" algn="l"/>
              </a:tabLst>
            </a:pPr>
            <a:endParaRPr lang="en-US" sz="1100" b="0" strike="noStrike" spc="-1">
              <a:solidFill>
                <a:srgbClr val="000000"/>
              </a:solidFill>
              <a:latin typeface="Arial"/>
            </a:endParaRPr>
          </a:p>
          <a:p>
            <a:pPr defTabSz="914400">
              <a:lnSpc>
                <a:spcPct val="100000"/>
              </a:lnSpc>
              <a:tabLst>
                <a:tab pos="0" algn="l"/>
              </a:tabLst>
            </a:pPr>
            <a:r>
              <a:rPr lang="en-US" sz="1100" b="1" strike="noStrike" spc="-1">
                <a:solidFill>
                  <a:srgbClr val="333333"/>
                </a:solidFill>
                <a:latin typeface="Calibri"/>
                <a:ea typeface="Calibri"/>
              </a:rPr>
              <a:t>HTTP profile is the universal dependency</a:t>
            </a:r>
            <a:endParaRPr lang="en-US" sz="1100" b="0" strike="noStrike" spc="-1">
              <a:solidFill>
                <a:srgbClr val="000000"/>
              </a:solidFill>
              <a:latin typeface="Arial"/>
            </a:endParaRPr>
          </a:p>
          <a:p>
            <a:pPr defTabSz="914400">
              <a:lnSpc>
                <a:spcPct val="100000"/>
              </a:lnSpc>
              <a:tabLst>
                <a:tab pos="0" algn="l"/>
              </a:tabLst>
            </a:pPr>
            <a:r>
              <a:rPr lang="en-US" sz="1000" b="0" strike="noStrike" spc="-1">
                <a:solidFill>
                  <a:srgbClr val="666666"/>
                </a:solidFill>
                <a:latin typeface="Calibri"/>
                <a:ea typeface="Calibri"/>
              </a:rPr>
              <a:t>Required for: cookie persistence, compression, caching, OneConnect, iRules (HTTP:: commands), XFF, response header scrubbing.</a:t>
            </a:r>
            <a:endParaRPr lang="en-US" sz="1000" b="0" strike="noStrike" spc="-1">
              <a:solidFill>
                <a:srgbClr val="000000"/>
              </a:solidFill>
              <a:latin typeface="Arial"/>
            </a:endParaRPr>
          </a:p>
        </p:txBody>
      </p:sp>
      <p:sp>
        <p:nvSpPr>
          <p:cNvPr id="497" name="Shape 40"/>
          <p:cNvSpPr/>
          <p:nvPr/>
        </p:nvSpPr>
        <p:spPr>
          <a:xfrm>
            <a:off x="365760" y="4114800"/>
            <a:ext cx="8412120" cy="502560"/>
          </a:xfrm>
          <a:prstGeom prst="rect">
            <a:avLst/>
          </a:prstGeom>
          <a:solidFill>
            <a:srgbClr val="E8F0F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498" name="Text 41"/>
          <p:cNvSpPr/>
          <p:nvPr/>
        </p:nvSpPr>
        <p:spPr>
          <a:xfrm>
            <a:off x="548640" y="4114800"/>
            <a:ext cx="804636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strike="noStrike" spc="-1">
                <a:solidFill>
                  <a:srgbClr val="0E41AA"/>
                </a:solidFill>
                <a:latin typeface="Calibri"/>
                <a:ea typeface="Calibri"/>
              </a:rPr>
              <a:t>The next four slides break down each profile category. </a:t>
            </a:r>
            <a:r>
              <a:rPr lang="en-US" sz="1000" b="0" strike="noStrike" spc="-1">
                <a:solidFill>
                  <a:srgbClr val="1A3A6C"/>
                </a:solidFill>
                <a:latin typeface="Calibri"/>
                <a:ea typeface="Calibri"/>
              </a:rPr>
              <a:t>Understand what each provides and its dependencies. Every Layer 7 feature traces back to the TCP profile as the foundation.</a:t>
            </a:r>
            <a:endParaRPr lang="en-US" sz="1000" b="0" strike="noStrike" spc="-1">
              <a:solidFill>
                <a:srgbClr val="000000"/>
              </a:solidFill>
              <a:latin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99"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500"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501"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502"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503"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504"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21    © 2026 F5</a:t>
            </a:r>
            <a:endParaRPr lang="en-US" sz="800" b="0" strike="noStrike" spc="-1">
              <a:solidFill>
                <a:srgbClr val="000000"/>
              </a:solidFill>
              <a:latin typeface="Arial"/>
            </a:endParaRPr>
          </a:p>
        </p:txBody>
      </p:sp>
      <p:pic>
        <p:nvPicPr>
          <p:cNvPr id="505" name="Image 0" descr="preencoded.png"/>
          <p:cNvPicPr/>
          <p:nvPr/>
        </p:nvPicPr>
        <p:blipFill>
          <a:blip r:embed="rId3"/>
          <a:stretch/>
        </p:blipFill>
        <p:spPr>
          <a:xfrm>
            <a:off x="8458200" y="4663440"/>
            <a:ext cx="383760" cy="383760"/>
          </a:xfrm>
          <a:prstGeom prst="rect">
            <a:avLst/>
          </a:prstGeom>
          <a:ln w="0">
            <a:noFill/>
          </a:ln>
        </p:spPr>
      </p:pic>
      <p:sp>
        <p:nvSpPr>
          <p:cNvPr id="506" name="Text 6"/>
          <p:cNvSpPr/>
          <p:nvPr/>
        </p:nvSpPr>
        <p:spPr>
          <a:xfrm>
            <a:off x="457200" y="274320"/>
            <a:ext cx="82292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Protocol profiles: TCP vs UDP vs FastL4</a:t>
            </a:r>
            <a:endParaRPr lang="en-US" sz="2800" b="0" strike="noStrike" spc="-1">
              <a:solidFill>
                <a:srgbClr val="000000"/>
              </a:solidFill>
              <a:latin typeface="Arial"/>
            </a:endParaRPr>
          </a:p>
        </p:txBody>
      </p:sp>
      <p:sp>
        <p:nvSpPr>
          <p:cNvPr id="507" name="Text 7"/>
          <p:cNvSpPr/>
          <p:nvPr/>
        </p:nvSpPr>
        <p:spPr>
          <a:xfrm>
            <a:off x="457200" y="68580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strike="noStrike" spc="-1">
                <a:solidFill>
                  <a:srgbClr val="666666"/>
                </a:solidFill>
                <a:latin typeface="Calibri"/>
                <a:ea typeface="Calibri"/>
              </a:rPr>
              <a:t>The transport-layer foundation. Every virtual server requires exactly one protocol profile.</a:t>
            </a:r>
            <a:endParaRPr lang="en-US" sz="1400" b="0" strike="noStrike" spc="-1">
              <a:solidFill>
                <a:srgbClr val="000000"/>
              </a:solidFill>
              <a:latin typeface="Arial"/>
            </a:endParaRPr>
          </a:p>
        </p:txBody>
      </p:sp>
      <p:graphicFrame>
        <p:nvGraphicFramePr>
          <p:cNvPr id="508" name="Table 0"/>
          <p:cNvGraphicFramePr/>
          <p:nvPr/>
        </p:nvGraphicFramePr>
        <p:xfrm>
          <a:off x="365760" y="1051560"/>
          <a:ext cx="8412480" cy="2087880"/>
        </p:xfrm>
        <a:graphic>
          <a:graphicData uri="http://schemas.openxmlformats.org/drawingml/2006/table">
            <a:tbl>
              <a:tblPr/>
              <a:tblGrid>
                <a:gridCol w="109728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2468880">
                  <a:extLst>
                    <a:ext uri="{9D8B030D-6E8A-4147-A177-3AD203B41FA5}">
                      <a16:colId xmlns:a16="http://schemas.microsoft.com/office/drawing/2014/main" val="20003"/>
                    </a:ext>
                  </a:extLst>
                </a:gridCol>
              </a:tblGrid>
              <a:tr h="0">
                <a:tc>
                  <a:txBody>
                    <a:bodyPr/>
                    <a:lstStyle/>
                    <a:p>
                      <a:pPr defTabSz="914400">
                        <a:lnSpc>
                          <a:spcPct val="100000"/>
                        </a:lnSpc>
                        <a:tabLst>
                          <a:tab pos="0" algn="l"/>
                        </a:tabLst>
                      </a:pPr>
                      <a:endParaRPr lang="en-US" sz="1000" b="0" strike="noStrike" spc="-1">
                        <a:solidFill>
                          <a:schemeClr val="dk1"/>
                        </a:solidFill>
                        <a:latin typeface="Calibri"/>
                      </a:endParaRPr>
                    </a:p>
                  </a:txBody>
                  <a:tcPr marL="75960" marR="759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61228B"/>
                    </a:solidFill>
                  </a:tcPr>
                </a:tc>
                <a:tc>
                  <a:txBody>
                    <a:bodyPr/>
                    <a:lstStyle/>
                    <a:p>
                      <a:pPr defTabSz="914400">
                        <a:lnSpc>
                          <a:spcPct val="100000"/>
                        </a:lnSpc>
                        <a:tabLst>
                          <a:tab pos="0" algn="l"/>
                        </a:tabLst>
                      </a:pPr>
                      <a:r>
                        <a:rPr lang="en-US" sz="1100" b="1" strike="noStrike" spc="-1">
                          <a:solidFill>
                            <a:srgbClr val="FFFFFF"/>
                          </a:solidFill>
                          <a:latin typeface="Calibri"/>
                        </a:rPr>
                        <a:t>TCP (full proxy)</a:t>
                      </a:r>
                      <a:endParaRPr lang="en-US" sz="1100" b="0" strike="noStrike" spc="-1">
                        <a:solidFill>
                          <a:srgbClr val="FFFFFF"/>
                        </a:solidFill>
                        <a:latin typeface="Arial"/>
                      </a:endParaRPr>
                    </a:p>
                  </a:txBody>
                  <a:tcPr marL="75960" marR="759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E41AA"/>
                    </a:solidFill>
                  </a:tcPr>
                </a:tc>
                <a:tc>
                  <a:txBody>
                    <a:bodyPr/>
                    <a:lstStyle/>
                    <a:p>
                      <a:pPr defTabSz="914400">
                        <a:lnSpc>
                          <a:spcPct val="100000"/>
                        </a:lnSpc>
                        <a:tabLst>
                          <a:tab pos="0" algn="l"/>
                        </a:tabLst>
                      </a:pPr>
                      <a:r>
                        <a:rPr lang="en-US" sz="1100" b="1" strike="noStrike" spc="-1">
                          <a:solidFill>
                            <a:srgbClr val="FFFFFF"/>
                          </a:solidFill>
                          <a:latin typeface="Calibri"/>
                        </a:rPr>
                        <a:t>UDP</a:t>
                      </a:r>
                      <a:endParaRPr lang="en-US" sz="1100" b="0" strike="noStrike" spc="-1">
                        <a:solidFill>
                          <a:srgbClr val="FFFFFF"/>
                        </a:solidFill>
                        <a:latin typeface="Arial"/>
                      </a:endParaRPr>
                    </a:p>
                  </a:txBody>
                  <a:tcPr marL="75960" marR="759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09639"/>
                    </a:solidFill>
                  </a:tcPr>
                </a:tc>
                <a:tc>
                  <a:txBody>
                    <a:bodyPr/>
                    <a:lstStyle/>
                    <a:p>
                      <a:pPr defTabSz="914400">
                        <a:lnSpc>
                          <a:spcPct val="100000"/>
                        </a:lnSpc>
                        <a:tabLst>
                          <a:tab pos="0" algn="l"/>
                        </a:tabLst>
                      </a:pPr>
                      <a:r>
                        <a:rPr lang="en-US" sz="1100" b="1" strike="noStrike" spc="-1">
                          <a:solidFill>
                            <a:srgbClr val="FFFFFF"/>
                          </a:solidFill>
                          <a:latin typeface="Calibri"/>
                        </a:rPr>
                        <a:t>FastL4</a:t>
                      </a:r>
                      <a:endParaRPr lang="en-US" sz="1100" b="0" strike="noStrike" spc="-1">
                        <a:solidFill>
                          <a:srgbClr val="000000"/>
                        </a:solidFill>
                        <a:latin typeface="Arial"/>
                      </a:endParaRPr>
                    </a:p>
                  </a:txBody>
                  <a:tcPr marL="75960" marR="759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9A36"/>
                    </a:solidFill>
                  </a:tcPr>
                </a:tc>
                <a:extLst>
                  <a:ext uri="{0D108BD9-81ED-4DB2-BD59-A6C34878D82A}">
                    <a16:rowId xmlns:a16="http://schemas.microsoft.com/office/drawing/2014/main" val="10000"/>
                  </a:ext>
                </a:extLst>
              </a:tr>
              <a:tr h="0">
                <a:tc>
                  <a:txBody>
                    <a:bodyPr/>
                    <a:lstStyle/>
                    <a:p>
                      <a:pPr defTabSz="914400">
                        <a:lnSpc>
                          <a:spcPct val="100000"/>
                        </a:lnSpc>
                        <a:tabLst>
                          <a:tab pos="0" algn="l"/>
                        </a:tabLst>
                      </a:pPr>
                      <a:r>
                        <a:rPr lang="en-US" sz="1000" b="1" strike="noStrike" spc="-1">
                          <a:solidFill>
                            <a:srgbClr val="000000"/>
                          </a:solidFill>
                          <a:latin typeface="Calibri"/>
                        </a:rPr>
                        <a:t>Processing</a:t>
                      </a:r>
                      <a:endParaRPr lang="en-US" sz="1000" b="0" strike="noStrike" spc="-1">
                        <a:solidFill>
                          <a:srgbClr val="000000"/>
                        </a:solidFill>
                        <a:latin typeface="Arial"/>
                      </a:endParaRPr>
                    </a:p>
                  </a:txBody>
                  <a:tcPr marL="75960" marR="759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1000" b="0" strike="noStrike" spc="-1">
                          <a:solidFill>
                            <a:srgbClr val="000000"/>
                          </a:solidFill>
                          <a:latin typeface="Calibri"/>
                        </a:rPr>
                        <a:t>Terminates + re-initiates connections (two independent sessions)</a:t>
                      </a:r>
                      <a:endParaRPr lang="en-US" sz="1000" b="0" strike="noStrike" spc="-1">
                        <a:solidFill>
                          <a:srgbClr val="000000"/>
                        </a:solidFill>
                        <a:latin typeface="Arial"/>
                      </a:endParaRPr>
                    </a:p>
                  </a:txBody>
                  <a:tcPr marL="75960" marR="759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1000" b="0" strike="noStrike" spc="-1">
                          <a:solidFill>
                            <a:srgbClr val="000000"/>
                          </a:solidFill>
                          <a:latin typeface="Calibri"/>
                        </a:rPr>
                        <a:t>Datagram forwarding with session tracking</a:t>
                      </a:r>
                      <a:endParaRPr lang="en-US" sz="1000" b="0" strike="noStrike" spc="-1">
                        <a:solidFill>
                          <a:srgbClr val="000000"/>
                        </a:solidFill>
                        <a:latin typeface="Arial"/>
                      </a:endParaRPr>
                    </a:p>
                  </a:txBody>
                  <a:tcPr marL="75960" marR="759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1000" b="0" strike="noStrike" spc="-1">
                          <a:solidFill>
                            <a:srgbClr val="000000"/>
                          </a:solidFill>
                          <a:latin typeface="Calibri"/>
                        </a:rPr>
                        <a:t>Packet-by-packet pass-through, minimal state</a:t>
                      </a:r>
                      <a:endParaRPr lang="en-US" sz="1000" b="0" strike="noStrike" spc="-1">
                        <a:solidFill>
                          <a:srgbClr val="000000"/>
                        </a:solidFill>
                        <a:latin typeface="Arial"/>
                      </a:endParaRPr>
                    </a:p>
                  </a:txBody>
                  <a:tcPr marL="75960" marR="759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1"/>
                  </a:ext>
                </a:extLst>
              </a:tr>
              <a:tr h="0">
                <a:tc>
                  <a:txBody>
                    <a:bodyPr/>
                    <a:lstStyle/>
                    <a:p>
                      <a:pPr defTabSz="914400">
                        <a:lnSpc>
                          <a:spcPct val="100000"/>
                        </a:lnSpc>
                        <a:tabLst>
                          <a:tab pos="0" algn="l"/>
                        </a:tabLst>
                      </a:pPr>
                      <a:r>
                        <a:rPr lang="en-US" sz="1000" b="1" strike="noStrike" spc="-1">
                          <a:solidFill>
                            <a:srgbClr val="000000"/>
                          </a:solidFill>
                          <a:latin typeface="Calibri"/>
                        </a:rPr>
                        <a:t>L7 features</a:t>
                      </a:r>
                      <a:endParaRPr lang="en-US" sz="1000" b="0" strike="noStrike" spc="-1">
                        <a:solidFill>
                          <a:srgbClr val="000000"/>
                        </a:solidFill>
                        <a:latin typeface="Arial"/>
                      </a:endParaRPr>
                    </a:p>
                  </a:txBody>
                  <a:tcPr marL="75960" marR="759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1000" b="0" strike="noStrike" spc="-1">
                          <a:solidFill>
                            <a:srgbClr val="009639"/>
                          </a:solidFill>
                          <a:latin typeface="Calibri"/>
                        </a:rPr>
                        <a:t>All: HTTP, SSL, compression, caching, iRules, persistence</a:t>
                      </a:r>
                      <a:endParaRPr lang="en-US" sz="1000" b="0" strike="noStrike" spc="-1">
                        <a:solidFill>
                          <a:srgbClr val="000000"/>
                        </a:solidFill>
                        <a:latin typeface="Arial"/>
                      </a:endParaRPr>
                    </a:p>
                  </a:txBody>
                  <a:tcPr marL="75960" marR="759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1000" b="0" strike="noStrike" spc="-1">
                          <a:solidFill>
                            <a:srgbClr val="000000"/>
                          </a:solidFill>
                          <a:latin typeface="Calibri"/>
                        </a:rPr>
                        <a:t>Limited: DNS profile, basic iRules</a:t>
                      </a:r>
                      <a:endParaRPr lang="en-US" sz="1000" b="0" strike="noStrike" spc="-1">
                        <a:solidFill>
                          <a:srgbClr val="000000"/>
                        </a:solidFill>
                        <a:latin typeface="Arial"/>
                      </a:endParaRPr>
                    </a:p>
                  </a:txBody>
                  <a:tcPr marL="75960" marR="759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1000" b="0" strike="noStrike" spc="-1">
                          <a:solidFill>
                            <a:srgbClr val="E4002B"/>
                          </a:solidFill>
                          <a:latin typeface="Calibri"/>
                        </a:rPr>
                        <a:t>None: no L7 inspection possible</a:t>
                      </a:r>
                      <a:endParaRPr lang="en-US" sz="1000" b="0" strike="noStrike" spc="-1">
                        <a:solidFill>
                          <a:srgbClr val="000000"/>
                        </a:solidFill>
                        <a:latin typeface="Arial"/>
                      </a:endParaRPr>
                    </a:p>
                  </a:txBody>
                  <a:tcPr marL="75960" marR="759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2"/>
                  </a:ext>
                </a:extLst>
              </a:tr>
              <a:tr h="0">
                <a:tc>
                  <a:txBody>
                    <a:bodyPr/>
                    <a:lstStyle/>
                    <a:p>
                      <a:pPr defTabSz="914400">
                        <a:lnSpc>
                          <a:spcPct val="100000"/>
                        </a:lnSpc>
                        <a:tabLst>
                          <a:tab pos="0" algn="l"/>
                        </a:tabLst>
                      </a:pPr>
                      <a:r>
                        <a:rPr lang="en-US" sz="1000" b="1" strike="noStrike" spc="-1">
                          <a:solidFill>
                            <a:srgbClr val="000000"/>
                          </a:solidFill>
                          <a:latin typeface="Calibri"/>
                        </a:rPr>
                        <a:t>Optimization</a:t>
                      </a:r>
                      <a:endParaRPr lang="en-US" sz="1000" b="0" strike="noStrike" spc="-1">
                        <a:solidFill>
                          <a:srgbClr val="000000"/>
                        </a:solidFill>
                        <a:latin typeface="Arial"/>
                      </a:endParaRPr>
                    </a:p>
                  </a:txBody>
                  <a:tcPr marL="75960" marR="759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1000" b="0" strike="noStrike" spc="-1">
                          <a:solidFill>
                            <a:srgbClr val="000000"/>
                          </a:solidFill>
                          <a:latin typeface="Calibri"/>
                        </a:rPr>
                        <a:t>TCP Express: wan-optimized (client) + lan-optimized (server)</a:t>
                      </a:r>
                      <a:endParaRPr lang="en-US" sz="1000" b="0" strike="noStrike" spc="-1">
                        <a:solidFill>
                          <a:srgbClr val="000000"/>
                        </a:solidFill>
                        <a:latin typeface="Arial"/>
                      </a:endParaRPr>
                    </a:p>
                  </a:txBody>
                  <a:tcPr marL="75960" marR="759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1000" b="0" strike="noStrike" spc="-1">
                          <a:solidFill>
                            <a:srgbClr val="000000"/>
                          </a:solidFill>
                          <a:latin typeface="Calibri"/>
                        </a:rPr>
                        <a:t>Buffer tuning</a:t>
                      </a:r>
                      <a:endParaRPr lang="en-US" sz="1000" b="0" strike="noStrike" spc="-1">
                        <a:solidFill>
                          <a:srgbClr val="000000"/>
                        </a:solidFill>
                        <a:latin typeface="Arial"/>
                      </a:endParaRPr>
                    </a:p>
                  </a:txBody>
                  <a:tcPr marL="75960" marR="759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1000" b="0" strike="noStrike" spc="-1">
                          <a:solidFill>
                            <a:srgbClr val="000000"/>
                          </a:solidFill>
                          <a:latin typeface="Calibri"/>
                        </a:rPr>
                        <a:t>Idle timeout, loose initiation, PVA acceleration</a:t>
                      </a:r>
                      <a:endParaRPr lang="en-US" sz="1000" b="0" strike="noStrike" spc="-1">
                        <a:solidFill>
                          <a:srgbClr val="000000"/>
                        </a:solidFill>
                        <a:latin typeface="Arial"/>
                      </a:endParaRPr>
                    </a:p>
                  </a:txBody>
                  <a:tcPr marL="75960" marR="759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3"/>
                  </a:ext>
                </a:extLst>
              </a:tr>
              <a:tr h="0">
                <a:tc>
                  <a:txBody>
                    <a:bodyPr/>
                    <a:lstStyle/>
                    <a:p>
                      <a:pPr defTabSz="914400">
                        <a:lnSpc>
                          <a:spcPct val="100000"/>
                        </a:lnSpc>
                        <a:tabLst>
                          <a:tab pos="0" algn="l"/>
                        </a:tabLst>
                      </a:pPr>
                      <a:r>
                        <a:rPr lang="en-US" sz="1000" b="1" strike="noStrike" spc="-1">
                          <a:solidFill>
                            <a:srgbClr val="000000"/>
                          </a:solidFill>
                          <a:latin typeface="Calibri"/>
                        </a:rPr>
                        <a:t>Performance</a:t>
                      </a:r>
                      <a:endParaRPr lang="en-US" sz="1000" b="0" strike="noStrike" spc="-1">
                        <a:solidFill>
                          <a:srgbClr val="000000"/>
                        </a:solidFill>
                        <a:latin typeface="Arial"/>
                      </a:endParaRPr>
                    </a:p>
                  </a:txBody>
                  <a:tcPr marL="75960" marR="759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1000" b="0" strike="noStrike" spc="-1">
                          <a:solidFill>
                            <a:srgbClr val="000000"/>
                          </a:solidFill>
                          <a:latin typeface="Calibri"/>
                        </a:rPr>
                        <a:t>Moderate (full proxy overhead, most CPU per conn)</a:t>
                      </a:r>
                      <a:endParaRPr lang="en-US" sz="1000" b="0" strike="noStrike" spc="-1">
                        <a:solidFill>
                          <a:srgbClr val="000000"/>
                        </a:solidFill>
                        <a:latin typeface="Arial"/>
                      </a:endParaRPr>
                    </a:p>
                  </a:txBody>
                  <a:tcPr marL="75960" marR="759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1000" b="0" strike="noStrike" spc="-1">
                          <a:solidFill>
                            <a:srgbClr val="000000"/>
                          </a:solidFill>
                          <a:latin typeface="Calibri"/>
                        </a:rPr>
                        <a:t>Moderate</a:t>
                      </a:r>
                      <a:endParaRPr lang="en-US" sz="1000" b="0" strike="noStrike" spc="-1">
                        <a:solidFill>
                          <a:srgbClr val="000000"/>
                        </a:solidFill>
                        <a:latin typeface="Arial"/>
                      </a:endParaRPr>
                    </a:p>
                  </a:txBody>
                  <a:tcPr marL="75960" marR="759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1000" b="0" strike="noStrike" spc="-1">
                          <a:solidFill>
                            <a:srgbClr val="000000"/>
                          </a:solidFill>
                          <a:latin typeface="Calibri"/>
                        </a:rPr>
                        <a:t>Highest throughput, lowest CPU</a:t>
                      </a:r>
                      <a:endParaRPr lang="en-US" sz="1000" b="0" strike="noStrike" spc="-1">
                        <a:solidFill>
                          <a:srgbClr val="000000"/>
                        </a:solidFill>
                        <a:latin typeface="Arial"/>
                      </a:endParaRPr>
                    </a:p>
                  </a:txBody>
                  <a:tcPr marL="75960" marR="759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4"/>
                  </a:ext>
                </a:extLst>
              </a:tr>
              <a:tr h="0">
                <a:tc>
                  <a:txBody>
                    <a:bodyPr/>
                    <a:lstStyle/>
                    <a:p>
                      <a:pPr defTabSz="914400">
                        <a:lnSpc>
                          <a:spcPct val="100000"/>
                        </a:lnSpc>
                        <a:tabLst>
                          <a:tab pos="0" algn="l"/>
                        </a:tabLst>
                      </a:pPr>
                      <a:r>
                        <a:rPr lang="en-US" sz="1000" b="1" strike="noStrike" spc="-1">
                          <a:solidFill>
                            <a:srgbClr val="000000"/>
                          </a:solidFill>
                          <a:latin typeface="Calibri"/>
                        </a:rPr>
                        <a:t>Use case</a:t>
                      </a:r>
                      <a:endParaRPr lang="en-US" sz="1000" b="0" strike="noStrike" spc="-1">
                        <a:solidFill>
                          <a:srgbClr val="000000"/>
                        </a:solidFill>
                        <a:latin typeface="Arial"/>
                      </a:endParaRPr>
                    </a:p>
                  </a:txBody>
                  <a:tcPr marL="75960" marR="759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1000" b="0" strike="noStrike" spc="-1">
                          <a:solidFill>
                            <a:srgbClr val="000000"/>
                          </a:solidFill>
                          <a:latin typeface="Calibri"/>
                        </a:rPr>
                        <a:t>Web apps, APIs, any app needing L7 intelligence</a:t>
                      </a:r>
                      <a:endParaRPr lang="en-US" sz="1000" b="0" strike="noStrike" spc="-1">
                        <a:solidFill>
                          <a:srgbClr val="000000"/>
                        </a:solidFill>
                        <a:latin typeface="Arial"/>
                      </a:endParaRPr>
                    </a:p>
                  </a:txBody>
                  <a:tcPr marL="75960" marR="759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1000" b="0" strike="noStrike" spc="-1">
                          <a:solidFill>
                            <a:srgbClr val="000000"/>
                          </a:solidFill>
                          <a:latin typeface="Calibri"/>
                        </a:rPr>
                        <a:t>DNS, syslog, RADIUS, TFTP</a:t>
                      </a:r>
                      <a:endParaRPr lang="en-US" sz="1000" b="0" strike="noStrike" spc="-1">
                        <a:solidFill>
                          <a:srgbClr val="000000"/>
                        </a:solidFill>
                        <a:latin typeface="Arial"/>
                      </a:endParaRPr>
                    </a:p>
                  </a:txBody>
                  <a:tcPr marL="75960" marR="759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1000" b="0" strike="noStrike" spc="-1">
                          <a:solidFill>
                            <a:srgbClr val="000000"/>
                          </a:solidFill>
                          <a:latin typeface="Calibri"/>
                        </a:rPr>
                        <a:t>Non-HTTP L4 LB, high throughput, nPath</a:t>
                      </a:r>
                      <a:endParaRPr lang="en-US" sz="1000" b="0" strike="noStrike" spc="-1">
                        <a:solidFill>
                          <a:srgbClr val="000000"/>
                        </a:solidFill>
                        <a:latin typeface="Arial"/>
                      </a:endParaRPr>
                    </a:p>
                  </a:txBody>
                  <a:tcPr marL="75960" marR="759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509" name="Shape 8"/>
          <p:cNvSpPr/>
          <p:nvPr/>
        </p:nvSpPr>
        <p:spPr>
          <a:xfrm>
            <a:off x="365760" y="3794760"/>
            <a:ext cx="8412120" cy="822600"/>
          </a:xfrm>
          <a:prstGeom prst="rect">
            <a:avLst/>
          </a:prstGeom>
          <a:solidFill>
            <a:srgbClr val="E8F0F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510" name="Text 9"/>
          <p:cNvSpPr/>
          <p:nvPr/>
        </p:nvSpPr>
        <p:spPr>
          <a:xfrm>
            <a:off x="548640" y="3813120"/>
            <a:ext cx="8046360" cy="785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1" strike="noStrike" spc="-1">
                <a:solidFill>
                  <a:srgbClr val="0E41AA"/>
                </a:solidFill>
                <a:latin typeface="Calibri"/>
                <a:ea typeface="Calibri"/>
              </a:rPr>
              <a:t>TCP Express</a:t>
            </a:r>
            <a:endParaRPr lang="en-US" sz="1300" b="0" strike="noStrike" spc="-1">
              <a:solidFill>
                <a:srgbClr val="000000"/>
              </a:solidFill>
              <a:latin typeface="Arial"/>
            </a:endParaRPr>
          </a:p>
          <a:p>
            <a:pPr defTabSz="914400">
              <a:lnSpc>
                <a:spcPct val="100000"/>
              </a:lnSpc>
              <a:tabLst>
                <a:tab pos="0" algn="l"/>
              </a:tabLst>
            </a:pPr>
            <a:r>
              <a:rPr lang="en-US" sz="1000" b="0" strike="noStrike" spc="-1">
                <a:solidFill>
                  <a:srgbClr val="1A3A6C"/>
                </a:solidFill>
                <a:latin typeface="Calibri"/>
                <a:ea typeface="Calibri"/>
              </a:rPr>
              <a:t>Apply tcp-wan-optimized on client side (larger buffers, delayed ACKs, Nagle enabled) and tcp-lan-optimized on server side (smaller buffers, Nagle disabled). Exam tip: know Nagle, idle timeout, and proxy buffer differences between default, WAN, and LAN profiles.</a:t>
            </a:r>
            <a:endParaRPr lang="en-US" sz="1000" b="0" strike="noStrike" spc="-1">
              <a:solidFill>
                <a:srgbClr val="000000"/>
              </a:solidFill>
              <a:latin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1"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512"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513"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514"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515"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516"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22    © 2026 F5</a:t>
            </a:r>
            <a:endParaRPr lang="en-US" sz="800" b="0" strike="noStrike" spc="-1">
              <a:solidFill>
                <a:srgbClr val="000000"/>
              </a:solidFill>
              <a:latin typeface="Arial"/>
            </a:endParaRPr>
          </a:p>
        </p:txBody>
      </p:sp>
      <p:pic>
        <p:nvPicPr>
          <p:cNvPr id="517" name="Image 0" descr="preencoded.png"/>
          <p:cNvPicPr/>
          <p:nvPr/>
        </p:nvPicPr>
        <p:blipFill>
          <a:blip r:embed="rId3"/>
          <a:stretch/>
        </p:blipFill>
        <p:spPr>
          <a:xfrm>
            <a:off x="8458200" y="4663440"/>
            <a:ext cx="383760" cy="383760"/>
          </a:xfrm>
          <a:prstGeom prst="rect">
            <a:avLst/>
          </a:prstGeom>
          <a:ln w="0">
            <a:noFill/>
          </a:ln>
        </p:spPr>
      </p:pic>
      <p:sp>
        <p:nvSpPr>
          <p:cNvPr id="518" name="Text 6"/>
          <p:cNvSpPr/>
          <p:nvPr/>
        </p:nvSpPr>
        <p:spPr>
          <a:xfrm>
            <a:off x="457200" y="274320"/>
            <a:ext cx="82292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Service profiles</a:t>
            </a:r>
            <a:endParaRPr lang="en-US" sz="2800" b="0" strike="noStrike" spc="-1">
              <a:solidFill>
                <a:srgbClr val="000000"/>
              </a:solidFill>
              <a:latin typeface="Arial"/>
            </a:endParaRPr>
          </a:p>
        </p:txBody>
      </p:sp>
      <p:sp>
        <p:nvSpPr>
          <p:cNvPr id="519" name="Text 7"/>
          <p:cNvSpPr/>
          <p:nvPr/>
        </p:nvSpPr>
        <p:spPr>
          <a:xfrm>
            <a:off x="457200" y="68580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strike="noStrike" spc="-1">
                <a:solidFill>
                  <a:srgbClr val="666666"/>
                </a:solidFill>
                <a:latin typeface="Calibri"/>
                <a:ea typeface="Calibri"/>
              </a:rPr>
              <a:t>Layer 7 application intelligence. Each requires a TCP protocol profile underneath.</a:t>
            </a:r>
            <a:endParaRPr lang="en-US" sz="1400" b="0" strike="noStrike" spc="-1">
              <a:solidFill>
                <a:srgbClr val="000000"/>
              </a:solidFill>
              <a:latin typeface="Arial"/>
            </a:endParaRPr>
          </a:p>
        </p:txBody>
      </p:sp>
      <p:graphicFrame>
        <p:nvGraphicFramePr>
          <p:cNvPr id="520" name="Table 0"/>
          <p:cNvGraphicFramePr/>
          <p:nvPr/>
        </p:nvGraphicFramePr>
        <p:xfrm>
          <a:off x="365760" y="1051560"/>
          <a:ext cx="8412480" cy="2346960"/>
        </p:xfrm>
        <a:graphic>
          <a:graphicData uri="http://schemas.openxmlformats.org/drawingml/2006/table">
            <a:tbl>
              <a:tblPr/>
              <a:tblGrid>
                <a:gridCol w="100584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tblGrid>
              <a:tr h="0">
                <a:tc>
                  <a:txBody>
                    <a:bodyPr/>
                    <a:lstStyle/>
                    <a:p>
                      <a:pPr defTabSz="914400">
                        <a:lnSpc>
                          <a:spcPct val="100000"/>
                        </a:lnSpc>
                        <a:tabLst>
                          <a:tab pos="0" algn="l"/>
                        </a:tabLst>
                      </a:pPr>
                      <a:r>
                        <a:rPr lang="en-US" sz="1000" b="1" strike="noStrike" spc="-1">
                          <a:solidFill>
                            <a:srgbClr val="FFFFFF"/>
                          </a:solidFill>
                          <a:latin typeface="Calibri"/>
                        </a:rPr>
                        <a:t>Profile</a:t>
                      </a:r>
                      <a:endParaRPr lang="en-US" sz="10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61228B"/>
                    </a:solidFill>
                  </a:tcPr>
                </a:tc>
                <a:tc>
                  <a:txBody>
                    <a:bodyPr/>
                    <a:lstStyle/>
                    <a:p>
                      <a:pPr defTabSz="914400">
                        <a:lnSpc>
                          <a:spcPct val="100000"/>
                        </a:lnSpc>
                        <a:tabLst>
                          <a:tab pos="0" algn="l"/>
                        </a:tabLst>
                      </a:pPr>
                      <a:r>
                        <a:rPr lang="en-US" sz="1000" b="1" strike="noStrike" spc="-1">
                          <a:solidFill>
                            <a:srgbClr val="FFFFFF"/>
                          </a:solidFill>
                          <a:latin typeface="Calibri"/>
                        </a:rPr>
                        <a:t>What it does</a:t>
                      </a:r>
                      <a:endParaRPr lang="en-US" sz="10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61228B"/>
                    </a:solidFill>
                  </a:tcPr>
                </a:tc>
                <a:tc>
                  <a:txBody>
                    <a:bodyPr/>
                    <a:lstStyle/>
                    <a:p>
                      <a:pPr defTabSz="914400">
                        <a:lnSpc>
                          <a:spcPct val="100000"/>
                        </a:lnSpc>
                        <a:tabLst>
                          <a:tab pos="0" algn="l"/>
                        </a:tabLst>
                      </a:pPr>
                      <a:r>
                        <a:rPr lang="en-US" sz="1000" b="1" strike="noStrike" spc="-1">
                          <a:solidFill>
                            <a:srgbClr val="FFFFFF"/>
                          </a:solidFill>
                          <a:latin typeface="Calibri"/>
                        </a:rPr>
                        <a:t>Key features</a:t>
                      </a:r>
                      <a:endParaRPr lang="en-US" sz="10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61228B"/>
                    </a:solidFill>
                  </a:tcPr>
                </a:tc>
                <a:tc>
                  <a:txBody>
                    <a:bodyPr/>
                    <a:lstStyle/>
                    <a:p>
                      <a:pPr defTabSz="914400">
                        <a:lnSpc>
                          <a:spcPct val="100000"/>
                        </a:lnSpc>
                        <a:tabLst>
                          <a:tab pos="0" algn="l"/>
                        </a:tabLst>
                      </a:pPr>
                      <a:r>
                        <a:rPr lang="en-US" sz="1000" b="1" strike="noStrike" spc="-1">
                          <a:solidFill>
                            <a:srgbClr val="FFFFFF"/>
                          </a:solidFill>
                          <a:latin typeface="Calibri"/>
                        </a:rPr>
                        <a:t>When to use</a:t>
                      </a:r>
                      <a:endParaRPr lang="en-US" sz="10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61228B"/>
                    </a:solidFill>
                  </a:tcPr>
                </a:tc>
                <a:extLst>
                  <a:ext uri="{0D108BD9-81ED-4DB2-BD59-A6C34878D82A}">
                    <a16:rowId xmlns:a16="http://schemas.microsoft.com/office/drawing/2014/main" val="10000"/>
                  </a:ext>
                </a:extLst>
              </a:tr>
              <a:tr h="0">
                <a:tc>
                  <a:txBody>
                    <a:bodyPr/>
                    <a:lstStyle/>
                    <a:p>
                      <a:pPr defTabSz="914400">
                        <a:lnSpc>
                          <a:spcPct val="100000"/>
                        </a:lnSpc>
                        <a:tabLst>
                          <a:tab pos="0" algn="l"/>
                        </a:tabLst>
                      </a:pPr>
                      <a:r>
                        <a:rPr lang="en-US" sz="1000" b="1" strike="noStrike" spc="-1">
                          <a:solidFill>
                            <a:srgbClr val="000000"/>
                          </a:solidFill>
                          <a:latin typeface="Calibri"/>
                        </a:rPr>
                        <a:t>HTTP</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Parses HTTP requests/responses, enables header inspection and modification</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XFF, response cloaking, redirect, cookie handling, chunking, proxy modes (reverse/explicit/transparent)</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Any web application. Required dependency for compression, caching, OneConnect, cookie persistence</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1"/>
                  </a:ext>
                </a:extLst>
              </a:tr>
              <a:tr h="0">
                <a:tc>
                  <a:txBody>
                    <a:bodyPr/>
                    <a:lstStyle/>
                    <a:p>
                      <a:pPr defTabSz="914400">
                        <a:lnSpc>
                          <a:spcPct val="100000"/>
                        </a:lnSpc>
                        <a:tabLst>
                          <a:tab pos="0" algn="l"/>
                        </a:tabLst>
                      </a:pPr>
                      <a:r>
                        <a:rPr lang="en-US" sz="1000" b="1" strike="noStrike" spc="-1">
                          <a:solidFill>
                            <a:srgbClr val="000000"/>
                          </a:solidFill>
                          <a:latin typeface="Calibri"/>
                        </a:rPr>
                        <a:t>FTP</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Manages FTP control and data channel split</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Translates PORT/PASV commands, handles data channel NAT across BIG-IP</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Load balancing FTP servers. Without it, data channel connections fail through BIG-IP</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2"/>
                  </a:ext>
                </a:extLst>
              </a:tr>
              <a:tr h="0">
                <a:tc>
                  <a:txBody>
                    <a:bodyPr/>
                    <a:lstStyle/>
                    <a:p>
                      <a:pPr defTabSz="914400">
                        <a:lnSpc>
                          <a:spcPct val="100000"/>
                        </a:lnSpc>
                        <a:tabLst>
                          <a:tab pos="0" algn="l"/>
                        </a:tabLst>
                      </a:pPr>
                      <a:r>
                        <a:rPr lang="en-US" sz="1000" b="1" strike="noStrike" spc="-1">
                          <a:solidFill>
                            <a:srgbClr val="000000"/>
                          </a:solidFill>
                          <a:latin typeface="Calibri"/>
                        </a:rPr>
                        <a:t>DNS</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DNS-aware processing of queries and responses</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DNS caching, DNSSEC validation, DNS express, rapid response mode</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DNS load balancing, DNS proxy, GTM/DNS integration</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3"/>
                  </a:ext>
                </a:extLst>
              </a:tr>
              <a:tr h="0">
                <a:tc>
                  <a:txBody>
                    <a:bodyPr/>
                    <a:lstStyle/>
                    <a:p>
                      <a:pPr defTabSz="914400">
                        <a:lnSpc>
                          <a:spcPct val="100000"/>
                        </a:lnSpc>
                        <a:tabLst>
                          <a:tab pos="0" algn="l"/>
                        </a:tabLst>
                      </a:pPr>
                      <a:r>
                        <a:rPr lang="en-US" sz="1000" b="1" strike="noStrike" spc="-1">
                          <a:solidFill>
                            <a:srgbClr val="000000"/>
                          </a:solidFill>
                          <a:latin typeface="Calibri"/>
                        </a:rPr>
                        <a:t>HTTP/2</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Enables HTTP/2 on client or server side</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Multiplexed streams, header compression, server push. Can translate HTTP/2 to HTTP/1.1</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Modern web apps where clients support HTTP/2 but servers don't</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4"/>
                  </a:ext>
                </a:extLst>
              </a:tr>
              <a:tr h="0">
                <a:tc>
                  <a:txBody>
                    <a:bodyPr/>
                    <a:lstStyle/>
                    <a:p>
                      <a:pPr defTabSz="914400">
                        <a:lnSpc>
                          <a:spcPct val="100000"/>
                        </a:lnSpc>
                        <a:tabLst>
                          <a:tab pos="0" algn="l"/>
                        </a:tabLst>
                      </a:pPr>
                      <a:r>
                        <a:rPr lang="en-US" sz="1000" b="1" strike="noStrike" spc="-1">
                          <a:solidFill>
                            <a:srgbClr val="000000"/>
                          </a:solidFill>
                          <a:latin typeface="Calibri"/>
                        </a:rPr>
                        <a:t>OneConnect</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Pools idle server-side TCP connections for reuse across clients</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Source mask controls sharing granularity. Reduces server TCP socket load dramatically</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High connection-rate web apps. Requires TCP + HTTP. Not compatible with NTLM without special config</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521" name="Shape 8"/>
          <p:cNvSpPr/>
          <p:nvPr/>
        </p:nvSpPr>
        <p:spPr>
          <a:xfrm>
            <a:off x="365760" y="3977640"/>
            <a:ext cx="8412120" cy="639720"/>
          </a:xfrm>
          <a:prstGeom prst="rect">
            <a:avLst/>
          </a:prstGeom>
          <a:solidFill>
            <a:srgbClr val="FFF3E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522" name="Text 9"/>
          <p:cNvSpPr/>
          <p:nvPr/>
        </p:nvSpPr>
        <p:spPr>
          <a:xfrm>
            <a:off x="548640" y="3996000"/>
            <a:ext cx="80463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000" b="1" strike="noStrike" spc="-1">
                <a:solidFill>
                  <a:srgbClr val="F29A36"/>
                </a:solidFill>
                <a:latin typeface="Calibri"/>
                <a:ea typeface="Calibri"/>
              </a:rPr>
              <a:t>HTTP Compression and Web Acceleration </a:t>
            </a:r>
            <a:r>
              <a:rPr lang="en-US" sz="1000" b="0" strike="noStrike" spc="-1">
                <a:solidFill>
                  <a:srgbClr val="7A4500"/>
                </a:solidFill>
                <a:latin typeface="Calibri"/>
                <a:ea typeface="Calibri"/>
              </a:rPr>
              <a:t>are also service-type profiles but covered on slide </a:t>
            </a:r>
            <a:r>
              <a:rPr lang="en-US" sz="1000" spc="-1">
                <a:solidFill>
                  <a:srgbClr val="7A4500"/>
                </a:solidFill>
                <a:latin typeface="Calibri"/>
                <a:ea typeface="Calibri"/>
              </a:rPr>
              <a:t>26</a:t>
            </a:r>
            <a:r>
              <a:rPr lang="en-US" sz="1000" b="0" strike="noStrike" spc="-1">
                <a:solidFill>
                  <a:srgbClr val="7A4500"/>
                </a:solidFill>
                <a:latin typeface="Calibri"/>
                <a:ea typeface="Calibri"/>
              </a:rPr>
              <a:t>. Both require the HTTP profile. Compression reduces bytes on the wire (CPU cost). Caching serves repeat requests from BIG-IP RAM (memory cost). They can be combined.</a:t>
            </a:r>
            <a:endParaRPr lang="en-US" sz="1000" b="0" strike="noStrike" spc="-1">
              <a:solidFill>
                <a:srgbClr val="000000"/>
              </a:solidFill>
              <a:latin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23"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524"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525"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526"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527"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528"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23    © 2026 F5</a:t>
            </a:r>
            <a:endParaRPr lang="en-US" sz="800" b="0" strike="noStrike" spc="-1">
              <a:solidFill>
                <a:srgbClr val="000000"/>
              </a:solidFill>
              <a:latin typeface="Arial"/>
            </a:endParaRPr>
          </a:p>
        </p:txBody>
      </p:sp>
      <p:pic>
        <p:nvPicPr>
          <p:cNvPr id="529" name="Image 0" descr="preencoded.png"/>
          <p:cNvPicPr/>
          <p:nvPr/>
        </p:nvPicPr>
        <p:blipFill>
          <a:blip r:embed="rId3"/>
          <a:stretch/>
        </p:blipFill>
        <p:spPr>
          <a:xfrm>
            <a:off x="8458200" y="4663440"/>
            <a:ext cx="383760" cy="383760"/>
          </a:xfrm>
          <a:prstGeom prst="rect">
            <a:avLst/>
          </a:prstGeom>
          <a:ln w="0">
            <a:noFill/>
          </a:ln>
        </p:spPr>
      </p:pic>
      <p:sp>
        <p:nvSpPr>
          <p:cNvPr id="530" name="Text 6"/>
          <p:cNvSpPr/>
          <p:nvPr/>
        </p:nvSpPr>
        <p:spPr>
          <a:xfrm>
            <a:off x="457200" y="274320"/>
            <a:ext cx="82292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Persistence profiles</a:t>
            </a:r>
            <a:endParaRPr lang="en-US" sz="2800" b="0" strike="noStrike" spc="-1">
              <a:solidFill>
                <a:srgbClr val="000000"/>
              </a:solidFill>
              <a:latin typeface="Arial"/>
            </a:endParaRPr>
          </a:p>
        </p:txBody>
      </p:sp>
      <p:sp>
        <p:nvSpPr>
          <p:cNvPr id="531" name="Text 7"/>
          <p:cNvSpPr/>
          <p:nvPr/>
        </p:nvSpPr>
        <p:spPr>
          <a:xfrm>
            <a:off x="457200" y="68580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strike="noStrike" spc="-1">
                <a:solidFill>
                  <a:srgbClr val="666666"/>
                </a:solidFill>
                <a:latin typeface="Calibri"/>
                <a:ea typeface="Calibri"/>
              </a:rPr>
              <a:t>Ensure clients return to the same pool member for the duration of a session</a:t>
            </a:r>
            <a:endParaRPr lang="en-US" sz="1400" b="0" strike="noStrike" spc="-1">
              <a:solidFill>
                <a:srgbClr val="000000"/>
              </a:solidFill>
              <a:latin typeface="Arial"/>
            </a:endParaRPr>
          </a:p>
        </p:txBody>
      </p:sp>
      <p:graphicFrame>
        <p:nvGraphicFramePr>
          <p:cNvPr id="532" name="Table 0"/>
          <p:cNvGraphicFramePr/>
          <p:nvPr/>
        </p:nvGraphicFramePr>
        <p:xfrm>
          <a:off x="365760" y="1051560"/>
          <a:ext cx="8412480" cy="2072640"/>
        </p:xfrm>
        <a:graphic>
          <a:graphicData uri="http://schemas.openxmlformats.org/drawingml/2006/table">
            <a:tbl>
              <a:tblPr/>
              <a:tblGrid>
                <a:gridCol w="100584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2560320">
                  <a:extLst>
                    <a:ext uri="{9D8B030D-6E8A-4147-A177-3AD203B41FA5}">
                      <a16:colId xmlns:a16="http://schemas.microsoft.com/office/drawing/2014/main" val="20004"/>
                    </a:ext>
                  </a:extLst>
                </a:gridCol>
              </a:tblGrid>
              <a:tr h="0">
                <a:tc>
                  <a:txBody>
                    <a:bodyPr/>
                    <a:lstStyle/>
                    <a:p>
                      <a:pPr defTabSz="914400">
                        <a:lnSpc>
                          <a:spcPct val="100000"/>
                        </a:lnSpc>
                        <a:tabLst>
                          <a:tab pos="0" algn="l"/>
                        </a:tabLst>
                      </a:pPr>
                      <a:r>
                        <a:rPr lang="en-US" sz="1000" b="1" strike="noStrike" spc="-1">
                          <a:solidFill>
                            <a:srgbClr val="FFFFFF"/>
                          </a:solidFill>
                          <a:latin typeface="Calibri"/>
                        </a:rPr>
                        <a:t>Type</a:t>
                      </a:r>
                      <a:endParaRPr lang="en-US" sz="10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09639"/>
                    </a:solidFill>
                  </a:tcPr>
                </a:tc>
                <a:tc>
                  <a:txBody>
                    <a:bodyPr/>
                    <a:lstStyle/>
                    <a:p>
                      <a:pPr defTabSz="914400">
                        <a:lnSpc>
                          <a:spcPct val="100000"/>
                        </a:lnSpc>
                        <a:tabLst>
                          <a:tab pos="0" algn="l"/>
                        </a:tabLst>
                      </a:pPr>
                      <a:r>
                        <a:rPr lang="en-US" sz="1000" b="1" strike="noStrike" spc="-1">
                          <a:solidFill>
                            <a:srgbClr val="FFFFFF"/>
                          </a:solidFill>
                          <a:latin typeface="Calibri"/>
                        </a:rPr>
                        <a:t>How it works</a:t>
                      </a:r>
                      <a:endParaRPr lang="en-US" sz="10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09639"/>
                    </a:solidFill>
                  </a:tcPr>
                </a:tc>
                <a:tc>
                  <a:txBody>
                    <a:bodyPr/>
                    <a:lstStyle/>
                    <a:p>
                      <a:pPr defTabSz="914400">
                        <a:lnSpc>
                          <a:spcPct val="100000"/>
                        </a:lnSpc>
                        <a:tabLst>
                          <a:tab pos="0" algn="l"/>
                        </a:tabLst>
                      </a:pPr>
                      <a:r>
                        <a:rPr lang="en-US" sz="1000" b="1" strike="noStrike" spc="-1">
                          <a:solidFill>
                            <a:srgbClr val="FFFFFF"/>
                          </a:solidFill>
                          <a:latin typeface="Calibri"/>
                        </a:rPr>
                        <a:t>Requires</a:t>
                      </a:r>
                      <a:endParaRPr lang="en-US" sz="10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09639"/>
                    </a:solidFill>
                  </a:tcPr>
                </a:tc>
                <a:tc>
                  <a:txBody>
                    <a:bodyPr/>
                    <a:lstStyle/>
                    <a:p>
                      <a:pPr defTabSz="914400">
                        <a:lnSpc>
                          <a:spcPct val="100000"/>
                        </a:lnSpc>
                        <a:tabLst>
                          <a:tab pos="0" algn="l"/>
                        </a:tabLst>
                      </a:pPr>
                      <a:r>
                        <a:rPr lang="en-US" sz="1000" b="1" strike="noStrike" spc="-1">
                          <a:solidFill>
                            <a:srgbClr val="FFFFFF"/>
                          </a:solidFill>
                          <a:latin typeface="Calibri"/>
                        </a:rPr>
                        <a:t>Best for</a:t>
                      </a:r>
                      <a:endParaRPr lang="en-US" sz="10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09639"/>
                    </a:solidFill>
                  </a:tcPr>
                </a:tc>
                <a:tc>
                  <a:txBody>
                    <a:bodyPr/>
                    <a:lstStyle/>
                    <a:p>
                      <a:pPr defTabSz="914400">
                        <a:lnSpc>
                          <a:spcPct val="100000"/>
                        </a:lnSpc>
                        <a:tabLst>
                          <a:tab pos="0" algn="l"/>
                        </a:tabLst>
                      </a:pPr>
                      <a:r>
                        <a:rPr lang="en-US" sz="1000" b="1" strike="noStrike" spc="-1">
                          <a:solidFill>
                            <a:srgbClr val="FFFFFF"/>
                          </a:solidFill>
                          <a:latin typeface="Calibri"/>
                        </a:rPr>
                        <a:t>Limitation</a:t>
                      </a:r>
                      <a:endParaRPr lang="en-US" sz="10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09639"/>
                    </a:solidFill>
                  </a:tcPr>
                </a:tc>
                <a:extLst>
                  <a:ext uri="{0D108BD9-81ED-4DB2-BD59-A6C34878D82A}">
                    <a16:rowId xmlns:a16="http://schemas.microsoft.com/office/drawing/2014/main" val="10000"/>
                  </a:ext>
                </a:extLst>
              </a:tr>
              <a:tr h="0">
                <a:tc>
                  <a:txBody>
                    <a:bodyPr/>
                    <a:lstStyle/>
                    <a:p>
                      <a:pPr defTabSz="914400">
                        <a:lnSpc>
                          <a:spcPct val="100000"/>
                        </a:lnSpc>
                        <a:tabLst>
                          <a:tab pos="0" algn="l"/>
                        </a:tabLst>
                      </a:pPr>
                      <a:r>
                        <a:rPr lang="en-US" sz="900" b="1" strike="noStrike" spc="-1">
                          <a:solidFill>
                            <a:srgbClr val="000000"/>
                          </a:solidFill>
                          <a:latin typeface="Calibri"/>
                        </a:rPr>
                        <a:t>Cookie insert</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BIG-IP inserts cookie (BIGipServer*) in server response. Client sends it back.</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1" strike="noStrike" spc="-1">
                          <a:solidFill>
                            <a:srgbClr val="E4002B"/>
                          </a:solidFill>
                          <a:latin typeface="Calibri"/>
                        </a:rPr>
                        <a:t>TCP + HTTP</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Web apps (most common)</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HTTP only. Encrypt cookie for security (K6917).</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1"/>
                  </a:ext>
                </a:extLst>
              </a:tr>
              <a:tr h="0">
                <a:tc>
                  <a:txBody>
                    <a:bodyPr/>
                    <a:lstStyle/>
                    <a:p>
                      <a:pPr defTabSz="914400">
                        <a:lnSpc>
                          <a:spcPct val="100000"/>
                        </a:lnSpc>
                        <a:tabLst>
                          <a:tab pos="0" algn="l"/>
                        </a:tabLst>
                      </a:pPr>
                      <a:r>
                        <a:rPr lang="en-US" sz="900" b="1" strike="noStrike" spc="-1">
                          <a:solidFill>
                            <a:srgbClr val="000000"/>
                          </a:solidFill>
                          <a:latin typeface="Calibri"/>
                        </a:rPr>
                        <a:t>Source address</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Persists based on client source IP. Configurable mask.</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Any protocol</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Non-HTTP, simple deployments</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Clients behind shared NAT get same member.</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2"/>
                  </a:ext>
                </a:extLst>
              </a:tr>
              <a:tr h="0">
                <a:tc>
                  <a:txBody>
                    <a:bodyPr/>
                    <a:lstStyle/>
                    <a:p>
                      <a:pPr defTabSz="914400">
                        <a:lnSpc>
                          <a:spcPct val="100000"/>
                        </a:lnSpc>
                        <a:tabLst>
                          <a:tab pos="0" algn="l"/>
                        </a:tabLst>
                      </a:pPr>
                      <a:r>
                        <a:rPr lang="en-US" sz="900" b="1" strike="noStrike" spc="-1">
                          <a:solidFill>
                            <a:srgbClr val="000000"/>
                          </a:solidFill>
                          <a:latin typeface="Calibri"/>
                        </a:rPr>
                        <a:t>SSL session ID</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Persists based on SSL session ID, survives IP changes.</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Client-SSL</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SSL pass-through</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Unreliable with TLS 1.3 / frequent renegotiation.</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3"/>
                  </a:ext>
                </a:extLst>
              </a:tr>
              <a:tr h="0">
                <a:tc>
                  <a:txBody>
                    <a:bodyPr/>
                    <a:lstStyle/>
                    <a:p>
                      <a:pPr defTabSz="914400">
                        <a:lnSpc>
                          <a:spcPct val="100000"/>
                        </a:lnSpc>
                        <a:tabLst>
                          <a:tab pos="0" algn="l"/>
                        </a:tabLst>
                      </a:pPr>
                      <a:r>
                        <a:rPr lang="en-US" sz="900" b="1" strike="noStrike" spc="-1">
                          <a:solidFill>
                            <a:srgbClr val="000000"/>
                          </a:solidFill>
                          <a:latin typeface="Calibri"/>
                        </a:rPr>
                        <a:t>Universal</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iRule generates custom persistence key from traffic data.</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TCP + iRule</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Custom protocols, SIP</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Requires iRule development.</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4"/>
                  </a:ext>
                </a:extLst>
              </a:tr>
              <a:tr h="0">
                <a:tc>
                  <a:txBody>
                    <a:bodyPr/>
                    <a:lstStyle/>
                    <a:p>
                      <a:pPr defTabSz="914400">
                        <a:lnSpc>
                          <a:spcPct val="100000"/>
                        </a:lnSpc>
                        <a:tabLst>
                          <a:tab pos="0" algn="l"/>
                        </a:tabLst>
                      </a:pPr>
                      <a:r>
                        <a:rPr lang="en-US" sz="900" b="1" strike="noStrike" spc="-1">
                          <a:solidFill>
                            <a:srgbClr val="000000"/>
                          </a:solidFill>
                          <a:latin typeface="Calibri"/>
                        </a:rPr>
                        <a:t>Dest address</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Persists by destination IP. Routes to same member.</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Any protocol</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Outbound LB (dual WAN)</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Not for application LB.</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533" name="Shape 8"/>
          <p:cNvSpPr/>
          <p:nvPr/>
        </p:nvSpPr>
        <p:spPr>
          <a:xfrm>
            <a:off x="365760" y="3840480"/>
            <a:ext cx="8412120" cy="776880"/>
          </a:xfrm>
          <a:prstGeom prst="rect">
            <a:avLst/>
          </a:prstGeom>
          <a:solidFill>
            <a:srgbClr val="E8F5E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534" name="Text 9"/>
          <p:cNvSpPr/>
          <p:nvPr/>
        </p:nvSpPr>
        <p:spPr>
          <a:xfrm>
            <a:off x="548640" y="3858840"/>
            <a:ext cx="804636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100" b="1" strike="noStrike" spc="-1">
                <a:solidFill>
                  <a:srgbClr val="009639"/>
                </a:solidFill>
                <a:latin typeface="Calibri"/>
                <a:ea typeface="Calibri"/>
              </a:rPr>
              <a:t>Cookie insert is the recommended default for web applications. </a:t>
            </a:r>
            <a:endParaRPr lang="en-US" sz="1100" b="0" strike="noStrike" spc="-1">
              <a:solidFill>
                <a:srgbClr val="000000"/>
              </a:solidFill>
              <a:latin typeface="Arial"/>
            </a:endParaRPr>
          </a:p>
          <a:p>
            <a:pPr defTabSz="914400">
              <a:lnSpc>
                <a:spcPct val="100000"/>
              </a:lnSpc>
              <a:tabLst>
                <a:tab pos="0" algn="l"/>
              </a:tabLst>
            </a:pPr>
            <a:r>
              <a:rPr lang="en-US" sz="1000" b="0" strike="noStrike" spc="-1">
                <a:solidFill>
                  <a:srgbClr val="1B5E20"/>
                </a:solidFill>
                <a:latin typeface="Calibri"/>
                <a:ea typeface="Calibri"/>
              </a:rPr>
              <a:t>It survives client IP changes (mobile roaming, VPN failover), provides per-session granularity, and doesn't require the BIG-IP to maintain a persistence table in memory. Always encrypt the cookie (HTTP profile &gt; Encrypt Cookies) to prevent information disclosure — the default BIGipServer cookie encodes pool member IP and port (K6917).</a:t>
            </a:r>
            <a:endParaRPr lang="en-US" sz="1000" b="0" strike="noStrike" spc="-1">
              <a:solidFill>
                <a:srgbClr val="000000"/>
              </a:solidFill>
              <a:latin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35"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536"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537"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538"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539"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540"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24    © 2026 F5</a:t>
            </a:r>
            <a:endParaRPr lang="en-US" sz="800" b="0" strike="noStrike" spc="-1">
              <a:solidFill>
                <a:srgbClr val="000000"/>
              </a:solidFill>
              <a:latin typeface="Arial"/>
            </a:endParaRPr>
          </a:p>
        </p:txBody>
      </p:sp>
      <p:pic>
        <p:nvPicPr>
          <p:cNvPr id="541" name="Image 0" descr="preencoded.png"/>
          <p:cNvPicPr/>
          <p:nvPr/>
        </p:nvPicPr>
        <p:blipFill>
          <a:blip r:embed="rId3"/>
          <a:stretch/>
        </p:blipFill>
        <p:spPr>
          <a:xfrm>
            <a:off x="8458200" y="4663440"/>
            <a:ext cx="383760" cy="383760"/>
          </a:xfrm>
          <a:prstGeom prst="rect">
            <a:avLst/>
          </a:prstGeom>
          <a:ln w="0">
            <a:noFill/>
          </a:ln>
        </p:spPr>
      </p:pic>
      <p:sp>
        <p:nvSpPr>
          <p:cNvPr id="542" name="Text 6"/>
          <p:cNvSpPr/>
          <p:nvPr/>
        </p:nvSpPr>
        <p:spPr>
          <a:xfrm>
            <a:off x="457200" y="274320"/>
            <a:ext cx="82292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SSL profiles: offload vs re-encryption</a:t>
            </a:r>
            <a:endParaRPr lang="en-US" sz="2800" b="0" strike="noStrike" spc="-1">
              <a:solidFill>
                <a:srgbClr val="000000"/>
              </a:solidFill>
              <a:latin typeface="Arial"/>
            </a:endParaRPr>
          </a:p>
        </p:txBody>
      </p:sp>
      <p:sp>
        <p:nvSpPr>
          <p:cNvPr id="543" name="Text 7"/>
          <p:cNvSpPr/>
          <p:nvPr/>
        </p:nvSpPr>
        <p:spPr>
          <a:xfrm>
            <a:off x="457200" y="68580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strike="noStrike" spc="-1">
                <a:solidFill>
                  <a:srgbClr val="666666"/>
                </a:solidFill>
                <a:latin typeface="Calibri"/>
                <a:ea typeface="Calibri"/>
              </a:rPr>
              <a:t>Control how the BIG-IP handles encrypted traffic on each side of the connection</a:t>
            </a:r>
            <a:endParaRPr lang="en-US" sz="1400" b="0" strike="noStrike" spc="-1">
              <a:solidFill>
                <a:srgbClr val="000000"/>
              </a:solidFill>
              <a:latin typeface="Arial"/>
            </a:endParaRPr>
          </a:p>
        </p:txBody>
      </p:sp>
      <p:sp>
        <p:nvSpPr>
          <p:cNvPr id="544" name="Shape 8"/>
          <p:cNvSpPr/>
          <p:nvPr/>
        </p:nvSpPr>
        <p:spPr>
          <a:xfrm>
            <a:off x="365760" y="1097280"/>
            <a:ext cx="2697120" cy="4111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545" name="Text 9"/>
          <p:cNvSpPr/>
          <p:nvPr/>
        </p:nvSpPr>
        <p:spPr>
          <a:xfrm>
            <a:off x="365760" y="1097280"/>
            <a:ext cx="269712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FFFFFF"/>
                </a:solidFill>
                <a:latin typeface="Arial"/>
                <a:ea typeface="Arial"/>
              </a:rPr>
              <a:t>SSL pass-through</a:t>
            </a:r>
            <a:endParaRPr lang="en-US" sz="1400" b="0" strike="noStrike" spc="-1">
              <a:solidFill>
                <a:srgbClr val="000000"/>
              </a:solidFill>
              <a:latin typeface="Arial"/>
            </a:endParaRPr>
          </a:p>
        </p:txBody>
      </p:sp>
      <p:sp>
        <p:nvSpPr>
          <p:cNvPr id="546" name="Shape 10"/>
          <p:cNvSpPr/>
          <p:nvPr/>
        </p:nvSpPr>
        <p:spPr>
          <a:xfrm>
            <a:off x="365760" y="1508760"/>
            <a:ext cx="2697120" cy="237708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547" name="Text 11"/>
          <p:cNvSpPr/>
          <p:nvPr/>
        </p:nvSpPr>
        <p:spPr>
          <a:xfrm>
            <a:off x="457200" y="1554480"/>
            <a:ext cx="25142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strike="noStrike" spc="-1">
                <a:solidFill>
                  <a:srgbClr val="F29A36"/>
                </a:solidFill>
                <a:latin typeface="Calibri"/>
                <a:ea typeface="Calibri"/>
              </a:rPr>
              <a:t>No SSL profiles</a:t>
            </a:r>
            <a:endParaRPr lang="en-US" sz="1000" b="0" strike="noStrike" spc="-1">
              <a:solidFill>
                <a:srgbClr val="000000"/>
              </a:solidFill>
              <a:latin typeface="Arial"/>
            </a:endParaRPr>
          </a:p>
        </p:txBody>
      </p:sp>
      <p:sp>
        <p:nvSpPr>
          <p:cNvPr id="548" name="Text 12"/>
          <p:cNvSpPr/>
          <p:nvPr/>
        </p:nvSpPr>
        <p:spPr>
          <a:xfrm>
            <a:off x="457200" y="1783080"/>
            <a:ext cx="251424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333333"/>
                </a:solidFill>
                <a:latin typeface="Calibri"/>
                <a:ea typeface="Calibri"/>
              </a:rPr>
              <a:t>BIG-IP passes encrypted traffic without decryption. Cannot inspect or modify content. Use FastL4 for best performance.</a:t>
            </a:r>
            <a:endParaRPr lang="en-US" sz="1000" b="0" strike="noStrike" spc="-1">
              <a:solidFill>
                <a:srgbClr val="000000"/>
              </a:solidFill>
              <a:latin typeface="Arial"/>
            </a:endParaRPr>
          </a:p>
        </p:txBody>
      </p:sp>
      <p:sp>
        <p:nvSpPr>
          <p:cNvPr id="549" name="Shape 13"/>
          <p:cNvSpPr/>
          <p:nvPr/>
        </p:nvSpPr>
        <p:spPr>
          <a:xfrm>
            <a:off x="457200" y="2788920"/>
            <a:ext cx="2514240" cy="822600"/>
          </a:xfrm>
          <a:prstGeom prst="rect">
            <a:avLst/>
          </a:prstGeom>
          <a:solidFill>
            <a:srgbClr val="1E293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550" name="Text 14"/>
          <p:cNvSpPr/>
          <p:nvPr/>
        </p:nvSpPr>
        <p:spPr>
          <a:xfrm>
            <a:off x="548640" y="2834640"/>
            <a:ext cx="233136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40000"/>
              </a:lnSpc>
              <a:tabLst>
                <a:tab pos="0" algn="l"/>
              </a:tabLst>
            </a:pPr>
            <a:r>
              <a:rPr lang="en-US" sz="900" b="0" strike="noStrike" spc="-1">
                <a:solidFill>
                  <a:srgbClr val="A5F3FC"/>
                </a:solidFill>
                <a:latin typeface="Courier New"/>
                <a:ea typeface="Courier New"/>
              </a:rPr>
              <a:t>No L7 features</a:t>
            </a:r>
            <a:endParaRPr lang="en-US" sz="900" b="0" strike="noStrike" spc="-1">
              <a:solidFill>
                <a:srgbClr val="000000"/>
              </a:solidFill>
              <a:latin typeface="Arial"/>
            </a:endParaRPr>
          </a:p>
          <a:p>
            <a:pPr defTabSz="914400">
              <a:lnSpc>
                <a:spcPct val="140000"/>
              </a:lnSpc>
              <a:tabLst>
                <a:tab pos="0" algn="l"/>
              </a:tabLst>
            </a:pPr>
            <a:r>
              <a:rPr lang="en-US" sz="900" b="0" strike="noStrike" spc="-1">
                <a:solidFill>
                  <a:srgbClr val="A5F3FC"/>
                </a:solidFill>
                <a:latin typeface="Courier New"/>
                <a:ea typeface="Courier New"/>
              </a:rPr>
              <a:t>No HTTP inspection</a:t>
            </a:r>
            <a:endParaRPr lang="en-US" sz="900" b="0" strike="noStrike" spc="-1">
              <a:solidFill>
                <a:srgbClr val="000000"/>
              </a:solidFill>
              <a:latin typeface="Arial"/>
            </a:endParaRPr>
          </a:p>
          <a:p>
            <a:pPr defTabSz="914400">
              <a:lnSpc>
                <a:spcPct val="140000"/>
              </a:lnSpc>
              <a:tabLst>
                <a:tab pos="0" algn="l"/>
              </a:tabLst>
            </a:pPr>
            <a:r>
              <a:rPr lang="en-US" sz="900" b="0" strike="noStrike" spc="-1">
                <a:solidFill>
                  <a:srgbClr val="A5F3FC"/>
                </a:solidFill>
                <a:latin typeface="Courier New"/>
                <a:ea typeface="Courier New"/>
              </a:rPr>
              <a:t>Highest performance</a:t>
            </a:r>
            <a:endParaRPr lang="en-US" sz="900" b="0" strike="noStrike" spc="-1">
              <a:solidFill>
                <a:srgbClr val="000000"/>
              </a:solidFill>
              <a:latin typeface="Arial"/>
            </a:endParaRPr>
          </a:p>
        </p:txBody>
      </p:sp>
      <p:sp>
        <p:nvSpPr>
          <p:cNvPr id="551" name="Shape 15"/>
          <p:cNvSpPr/>
          <p:nvPr/>
        </p:nvSpPr>
        <p:spPr>
          <a:xfrm>
            <a:off x="3200400" y="1097280"/>
            <a:ext cx="2697120" cy="4111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552" name="Text 16"/>
          <p:cNvSpPr/>
          <p:nvPr/>
        </p:nvSpPr>
        <p:spPr>
          <a:xfrm>
            <a:off x="3200400" y="1097280"/>
            <a:ext cx="269712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FFFFFF"/>
                </a:solidFill>
                <a:latin typeface="Arial"/>
                <a:ea typeface="Arial"/>
              </a:rPr>
              <a:t>SSL offload</a:t>
            </a:r>
            <a:endParaRPr lang="en-US" sz="1400" b="0" strike="noStrike" spc="-1">
              <a:solidFill>
                <a:srgbClr val="000000"/>
              </a:solidFill>
              <a:latin typeface="Arial"/>
            </a:endParaRPr>
          </a:p>
        </p:txBody>
      </p:sp>
      <p:sp>
        <p:nvSpPr>
          <p:cNvPr id="553" name="Shape 17"/>
          <p:cNvSpPr/>
          <p:nvPr/>
        </p:nvSpPr>
        <p:spPr>
          <a:xfrm>
            <a:off x="3200400" y="1508760"/>
            <a:ext cx="2697120" cy="237708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554" name="Text 18"/>
          <p:cNvSpPr/>
          <p:nvPr/>
        </p:nvSpPr>
        <p:spPr>
          <a:xfrm>
            <a:off x="3291840" y="1554480"/>
            <a:ext cx="25142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strike="noStrike" spc="-1">
                <a:solidFill>
                  <a:srgbClr val="0E41AA"/>
                </a:solidFill>
                <a:latin typeface="Calibri"/>
                <a:ea typeface="Calibri"/>
              </a:rPr>
              <a:t>Client-SSL only</a:t>
            </a:r>
            <a:endParaRPr lang="en-US" sz="1000" b="0" strike="noStrike" spc="-1">
              <a:solidFill>
                <a:srgbClr val="000000"/>
              </a:solidFill>
              <a:latin typeface="Arial"/>
            </a:endParaRPr>
          </a:p>
        </p:txBody>
      </p:sp>
      <p:sp>
        <p:nvSpPr>
          <p:cNvPr id="555" name="Text 19"/>
          <p:cNvSpPr/>
          <p:nvPr/>
        </p:nvSpPr>
        <p:spPr>
          <a:xfrm>
            <a:off x="3291840" y="1783080"/>
            <a:ext cx="251424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333333"/>
                </a:solidFill>
                <a:latin typeface="Calibri"/>
                <a:ea typeface="Calibri"/>
              </a:rPr>
              <a:t>BIG-IP decrypts client traffic. Server-side is unencrypted. Offloads CPU-intensive SSL from servers.</a:t>
            </a:r>
            <a:endParaRPr lang="en-US" sz="1000" b="0" strike="noStrike" spc="-1">
              <a:solidFill>
                <a:srgbClr val="000000"/>
              </a:solidFill>
              <a:latin typeface="Arial"/>
            </a:endParaRPr>
          </a:p>
        </p:txBody>
      </p:sp>
      <p:sp>
        <p:nvSpPr>
          <p:cNvPr id="556" name="Shape 20"/>
          <p:cNvSpPr/>
          <p:nvPr/>
        </p:nvSpPr>
        <p:spPr>
          <a:xfrm>
            <a:off x="3291840" y="2788920"/>
            <a:ext cx="2514240" cy="822600"/>
          </a:xfrm>
          <a:prstGeom prst="rect">
            <a:avLst/>
          </a:prstGeom>
          <a:solidFill>
            <a:srgbClr val="1E293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557" name="Text 21"/>
          <p:cNvSpPr/>
          <p:nvPr/>
        </p:nvSpPr>
        <p:spPr>
          <a:xfrm>
            <a:off x="3383280" y="2834640"/>
            <a:ext cx="233136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40000"/>
              </a:lnSpc>
              <a:tabLst>
                <a:tab pos="0" algn="l"/>
              </a:tabLst>
            </a:pPr>
            <a:r>
              <a:rPr lang="en-US" sz="900" b="0" strike="noStrike" spc="-1">
                <a:solidFill>
                  <a:srgbClr val="A5F3FC"/>
                </a:solidFill>
                <a:latin typeface="Courier New"/>
                <a:ea typeface="Courier New"/>
              </a:rPr>
              <a:t>Full L7 features</a:t>
            </a:r>
            <a:endParaRPr lang="en-US" sz="900" b="0" strike="noStrike" spc="-1">
              <a:solidFill>
                <a:srgbClr val="000000"/>
              </a:solidFill>
              <a:latin typeface="Arial"/>
            </a:endParaRPr>
          </a:p>
          <a:p>
            <a:pPr defTabSz="914400">
              <a:lnSpc>
                <a:spcPct val="140000"/>
              </a:lnSpc>
              <a:tabLst>
                <a:tab pos="0" algn="l"/>
              </a:tabLst>
            </a:pPr>
            <a:r>
              <a:rPr lang="en-US" sz="900" b="0" strike="noStrike" spc="-1">
                <a:solidFill>
                  <a:srgbClr val="A5F3FC"/>
                </a:solidFill>
                <a:latin typeface="Courier New"/>
                <a:ea typeface="Courier New"/>
              </a:rPr>
              <a:t>Client ↔ BIG-IP: encrypted</a:t>
            </a:r>
            <a:endParaRPr lang="en-US" sz="900" b="0" strike="noStrike" spc="-1">
              <a:solidFill>
                <a:srgbClr val="000000"/>
              </a:solidFill>
              <a:latin typeface="Arial"/>
            </a:endParaRPr>
          </a:p>
          <a:p>
            <a:pPr defTabSz="914400">
              <a:lnSpc>
                <a:spcPct val="140000"/>
              </a:lnSpc>
              <a:tabLst>
                <a:tab pos="0" algn="l"/>
              </a:tabLst>
            </a:pPr>
            <a:r>
              <a:rPr lang="en-US" sz="900" b="0" strike="noStrike" spc="-1">
                <a:solidFill>
                  <a:srgbClr val="A5F3FC"/>
                </a:solidFill>
                <a:latin typeface="Courier New"/>
                <a:ea typeface="Courier New"/>
              </a:rPr>
              <a:t>BIG-IP ↔ Server: plain HTTP</a:t>
            </a:r>
            <a:endParaRPr lang="en-US" sz="900" b="0" strike="noStrike" spc="-1">
              <a:solidFill>
                <a:srgbClr val="000000"/>
              </a:solidFill>
              <a:latin typeface="Arial"/>
            </a:endParaRPr>
          </a:p>
        </p:txBody>
      </p:sp>
      <p:sp>
        <p:nvSpPr>
          <p:cNvPr id="558" name="Shape 22"/>
          <p:cNvSpPr/>
          <p:nvPr/>
        </p:nvSpPr>
        <p:spPr>
          <a:xfrm>
            <a:off x="6035040" y="1097280"/>
            <a:ext cx="2697120" cy="411120"/>
          </a:xfrm>
          <a:prstGeom prst="rect">
            <a:avLst/>
          </a:prstGeom>
          <a:solidFill>
            <a:srgbClr val="00963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559" name="Text 23"/>
          <p:cNvSpPr/>
          <p:nvPr/>
        </p:nvSpPr>
        <p:spPr>
          <a:xfrm>
            <a:off x="6035040" y="1097280"/>
            <a:ext cx="269712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FFFFFF"/>
                </a:solidFill>
                <a:latin typeface="Arial"/>
                <a:ea typeface="Arial"/>
              </a:rPr>
              <a:t>SSL re-encryption</a:t>
            </a:r>
            <a:endParaRPr lang="en-US" sz="1400" b="0" strike="noStrike" spc="-1">
              <a:solidFill>
                <a:srgbClr val="000000"/>
              </a:solidFill>
              <a:latin typeface="Arial"/>
            </a:endParaRPr>
          </a:p>
        </p:txBody>
      </p:sp>
      <p:sp>
        <p:nvSpPr>
          <p:cNvPr id="560" name="Shape 24"/>
          <p:cNvSpPr/>
          <p:nvPr/>
        </p:nvSpPr>
        <p:spPr>
          <a:xfrm>
            <a:off x="6035040" y="1508760"/>
            <a:ext cx="2697120" cy="237708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561" name="Text 25"/>
          <p:cNvSpPr/>
          <p:nvPr/>
        </p:nvSpPr>
        <p:spPr>
          <a:xfrm>
            <a:off x="6126480" y="1554480"/>
            <a:ext cx="25142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strike="noStrike" spc="-1">
                <a:solidFill>
                  <a:srgbClr val="009639"/>
                </a:solidFill>
                <a:latin typeface="Calibri"/>
                <a:ea typeface="Calibri"/>
              </a:rPr>
              <a:t>Client-SSL + Server-SSL</a:t>
            </a:r>
            <a:endParaRPr lang="en-US" sz="1000" b="0" strike="noStrike" spc="-1">
              <a:solidFill>
                <a:srgbClr val="000000"/>
              </a:solidFill>
              <a:latin typeface="Arial"/>
            </a:endParaRPr>
          </a:p>
        </p:txBody>
      </p:sp>
      <p:sp>
        <p:nvSpPr>
          <p:cNvPr id="562" name="Text 26"/>
          <p:cNvSpPr/>
          <p:nvPr/>
        </p:nvSpPr>
        <p:spPr>
          <a:xfrm>
            <a:off x="6126480" y="1783080"/>
            <a:ext cx="251424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333333"/>
                </a:solidFill>
                <a:latin typeface="Calibri"/>
                <a:ea typeface="Calibri"/>
              </a:rPr>
              <a:t>BIG-IP decrypts, inspects, then re-encrypts to server. End-to-end encryption with L7 intelligence.</a:t>
            </a:r>
            <a:endParaRPr lang="en-US" sz="1000" b="0" strike="noStrike" spc="-1">
              <a:solidFill>
                <a:srgbClr val="000000"/>
              </a:solidFill>
              <a:latin typeface="Arial"/>
            </a:endParaRPr>
          </a:p>
        </p:txBody>
      </p:sp>
      <p:sp>
        <p:nvSpPr>
          <p:cNvPr id="563" name="Shape 27"/>
          <p:cNvSpPr/>
          <p:nvPr/>
        </p:nvSpPr>
        <p:spPr>
          <a:xfrm>
            <a:off x="6126480" y="2788920"/>
            <a:ext cx="2514240" cy="822600"/>
          </a:xfrm>
          <a:prstGeom prst="rect">
            <a:avLst/>
          </a:prstGeom>
          <a:solidFill>
            <a:srgbClr val="1E293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564" name="Text 28"/>
          <p:cNvSpPr/>
          <p:nvPr/>
        </p:nvSpPr>
        <p:spPr>
          <a:xfrm>
            <a:off x="6217920" y="2834640"/>
            <a:ext cx="233136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40000"/>
              </a:lnSpc>
              <a:tabLst>
                <a:tab pos="0" algn="l"/>
              </a:tabLst>
            </a:pPr>
            <a:r>
              <a:rPr lang="en-US" sz="900" b="0" strike="noStrike" spc="-1">
                <a:solidFill>
                  <a:srgbClr val="A5F3FC"/>
                </a:solidFill>
                <a:latin typeface="Courier New"/>
                <a:ea typeface="Courier New"/>
              </a:rPr>
              <a:t>Full L7 features</a:t>
            </a:r>
            <a:endParaRPr lang="en-US" sz="900" b="0" strike="noStrike" spc="-1">
              <a:solidFill>
                <a:srgbClr val="000000"/>
              </a:solidFill>
              <a:latin typeface="Arial"/>
            </a:endParaRPr>
          </a:p>
          <a:p>
            <a:pPr defTabSz="914400">
              <a:lnSpc>
                <a:spcPct val="140000"/>
              </a:lnSpc>
              <a:tabLst>
                <a:tab pos="0" algn="l"/>
              </a:tabLst>
            </a:pPr>
            <a:r>
              <a:rPr lang="en-US" sz="900" b="0" strike="noStrike" spc="-1">
                <a:solidFill>
                  <a:srgbClr val="A5F3FC"/>
                </a:solidFill>
                <a:latin typeface="Courier New"/>
                <a:ea typeface="Courier New"/>
              </a:rPr>
              <a:t>Client ↔ BIG-IP: encrypted</a:t>
            </a:r>
            <a:endParaRPr lang="en-US" sz="900" b="0" strike="noStrike" spc="-1">
              <a:solidFill>
                <a:srgbClr val="000000"/>
              </a:solidFill>
              <a:latin typeface="Arial"/>
            </a:endParaRPr>
          </a:p>
          <a:p>
            <a:pPr defTabSz="914400">
              <a:lnSpc>
                <a:spcPct val="140000"/>
              </a:lnSpc>
              <a:tabLst>
                <a:tab pos="0" algn="l"/>
              </a:tabLst>
            </a:pPr>
            <a:r>
              <a:rPr lang="en-US" sz="900" b="0" strike="noStrike" spc="-1">
                <a:solidFill>
                  <a:srgbClr val="A5F3FC"/>
                </a:solidFill>
                <a:latin typeface="Courier New"/>
                <a:ea typeface="Courier New"/>
              </a:rPr>
              <a:t>BIG-IP ↔ Server: encrypted</a:t>
            </a:r>
            <a:endParaRPr lang="en-US" sz="900" b="0" strike="noStrike" spc="-1">
              <a:solidFill>
                <a:srgbClr val="000000"/>
              </a:solidFill>
              <a:latin typeface="Arial"/>
            </a:endParaRPr>
          </a:p>
        </p:txBody>
      </p:sp>
      <p:sp>
        <p:nvSpPr>
          <p:cNvPr id="565" name="Text 29"/>
          <p:cNvSpPr/>
          <p:nvPr/>
        </p:nvSpPr>
        <p:spPr>
          <a:xfrm>
            <a:off x="457200" y="4023360"/>
            <a:ext cx="822924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strike="noStrike" spc="-1">
                <a:solidFill>
                  <a:srgbClr val="E4002B"/>
                </a:solidFill>
                <a:latin typeface="Calibri"/>
                <a:ea typeface="Calibri"/>
              </a:rPr>
              <a:t>Key SSL profile settings: </a:t>
            </a:r>
            <a:r>
              <a:rPr lang="en-US" sz="1000" b="0" strike="noStrike" spc="-1">
                <a:solidFill>
                  <a:srgbClr val="333333"/>
                </a:solidFill>
                <a:latin typeface="Calibri"/>
                <a:ea typeface="Calibri"/>
              </a:rPr>
              <a:t>Certificate + Key (must match), Chain cert (intermediate CA), Ciphers (cipher string), Options (disable SSLv3/TLS 1.0), Client Authentication (mutual TLS). Server-SSL can include client cert for backend auth.</a:t>
            </a:r>
            <a:endParaRPr lang="en-US" sz="1000" b="0" strike="noStrike" spc="-1">
              <a:solidFill>
                <a:srgbClr val="000000"/>
              </a:solidFill>
              <a:latin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66"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567"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568"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569"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570"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571"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25    © 2026 F5</a:t>
            </a:r>
            <a:endParaRPr lang="en-US" sz="800" b="0" strike="noStrike" spc="-1">
              <a:solidFill>
                <a:srgbClr val="000000"/>
              </a:solidFill>
              <a:latin typeface="Arial"/>
            </a:endParaRPr>
          </a:p>
        </p:txBody>
      </p:sp>
      <p:pic>
        <p:nvPicPr>
          <p:cNvPr id="572" name="Image 0" descr="preencoded.png"/>
          <p:cNvPicPr/>
          <p:nvPr/>
        </p:nvPicPr>
        <p:blipFill>
          <a:blip r:embed="rId3"/>
          <a:stretch/>
        </p:blipFill>
        <p:spPr>
          <a:xfrm>
            <a:off x="8458200" y="4663440"/>
            <a:ext cx="383760" cy="383760"/>
          </a:xfrm>
          <a:prstGeom prst="rect">
            <a:avLst/>
          </a:prstGeom>
          <a:ln w="0">
            <a:noFill/>
          </a:ln>
        </p:spPr>
      </p:pic>
      <p:sp>
        <p:nvSpPr>
          <p:cNvPr id="573" name="Text 6"/>
          <p:cNvSpPr/>
          <p:nvPr/>
        </p:nvSpPr>
        <p:spPr>
          <a:xfrm>
            <a:off x="457200" y="274320"/>
            <a:ext cx="82292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600" b="1" strike="noStrike" spc="-1">
                <a:solidFill>
                  <a:srgbClr val="000000"/>
                </a:solidFill>
                <a:latin typeface="Arial"/>
                <a:ea typeface="Arial"/>
              </a:rPr>
              <a:t>Three-tier application: profile placement</a:t>
            </a:r>
            <a:endParaRPr lang="en-US" sz="2600" b="0" strike="noStrike" spc="-1">
              <a:solidFill>
                <a:srgbClr val="000000"/>
              </a:solidFill>
              <a:latin typeface="Arial"/>
            </a:endParaRPr>
          </a:p>
        </p:txBody>
      </p:sp>
      <p:sp>
        <p:nvSpPr>
          <p:cNvPr id="574" name="Text 7"/>
          <p:cNvSpPr/>
          <p:nvPr/>
        </p:nvSpPr>
        <p:spPr>
          <a:xfrm>
            <a:off x="457200" y="658440"/>
            <a:ext cx="82292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strike="noStrike" spc="-1">
                <a:solidFill>
                  <a:srgbClr val="666666"/>
                </a:solidFill>
                <a:latin typeface="Calibri"/>
                <a:ea typeface="Calibri"/>
              </a:rPr>
              <a:t>Web front-end, application logic, and database — each tier has different profile requirements</a:t>
            </a:r>
            <a:endParaRPr lang="en-US" sz="1300" b="0" strike="noStrike" spc="-1">
              <a:solidFill>
                <a:srgbClr val="000000"/>
              </a:solidFill>
              <a:latin typeface="Arial"/>
            </a:endParaRPr>
          </a:p>
        </p:txBody>
      </p:sp>
      <p:sp>
        <p:nvSpPr>
          <p:cNvPr id="575" name="Shape 8"/>
          <p:cNvSpPr/>
          <p:nvPr/>
        </p:nvSpPr>
        <p:spPr>
          <a:xfrm>
            <a:off x="274320" y="960120"/>
            <a:ext cx="8595000" cy="2239920"/>
          </a:xfrm>
          <a:prstGeom prst="rect">
            <a:avLst/>
          </a:prstGeom>
          <a:solidFill>
            <a:srgbClr val="FAFAFA"/>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576" name="Shape 9"/>
          <p:cNvSpPr/>
          <p:nvPr/>
        </p:nvSpPr>
        <p:spPr>
          <a:xfrm>
            <a:off x="411480" y="1508760"/>
            <a:ext cx="685440" cy="50256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577" name="Text 10"/>
          <p:cNvSpPr/>
          <p:nvPr/>
        </p:nvSpPr>
        <p:spPr>
          <a:xfrm>
            <a:off x="411480" y="1508760"/>
            <a:ext cx="6854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1" strike="noStrike" spc="-1">
                <a:solidFill>
                  <a:srgbClr val="FFFFFF"/>
                </a:solidFill>
                <a:latin typeface="Arial"/>
                <a:ea typeface="Arial"/>
              </a:rPr>
              <a:t>Clients</a:t>
            </a:r>
            <a:endParaRPr lang="en-US" sz="900" b="0" strike="noStrike" spc="-1">
              <a:solidFill>
                <a:srgbClr val="000000"/>
              </a:solidFill>
              <a:latin typeface="Arial"/>
            </a:endParaRPr>
          </a:p>
        </p:txBody>
      </p:sp>
      <p:sp>
        <p:nvSpPr>
          <p:cNvPr id="578" name="Text 11"/>
          <p:cNvSpPr/>
          <p:nvPr/>
        </p:nvSpPr>
        <p:spPr>
          <a:xfrm>
            <a:off x="411480" y="2030040"/>
            <a:ext cx="68544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700" b="0" strike="noStrike" spc="-1">
                <a:solidFill>
                  <a:srgbClr val="0E41AA"/>
                </a:solidFill>
                <a:latin typeface="Courier New"/>
                <a:ea typeface="Courier New"/>
              </a:rPr>
              <a:t>HTTPS</a:t>
            </a:r>
            <a:endParaRPr lang="en-US" sz="700" b="0" strike="noStrike" spc="-1">
              <a:solidFill>
                <a:srgbClr val="000000"/>
              </a:solidFill>
              <a:latin typeface="Arial"/>
            </a:endParaRPr>
          </a:p>
        </p:txBody>
      </p:sp>
      <p:sp>
        <p:nvSpPr>
          <p:cNvPr id="579" name="Shape 12"/>
          <p:cNvSpPr/>
          <p:nvPr/>
        </p:nvSpPr>
        <p:spPr>
          <a:xfrm>
            <a:off x="1143000" y="1737360"/>
            <a:ext cx="319680" cy="2268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1960" rIns="90000" bIns="-21960" anchor="t">
            <a:noAutofit/>
          </a:bodyPr>
          <a:lstStyle/>
          <a:p>
            <a:pPr defTabSz="914400">
              <a:lnSpc>
                <a:spcPct val="100000"/>
              </a:lnSpc>
            </a:pPr>
            <a:endParaRPr lang="en-US" sz="1800" b="0" strike="noStrike" spc="-1">
              <a:solidFill>
                <a:schemeClr val="dk1"/>
              </a:solidFill>
              <a:latin typeface="Calibri"/>
            </a:endParaRPr>
          </a:p>
        </p:txBody>
      </p:sp>
      <p:sp>
        <p:nvSpPr>
          <p:cNvPr id="580" name="Text 13"/>
          <p:cNvSpPr/>
          <p:nvPr/>
        </p:nvSpPr>
        <p:spPr>
          <a:xfrm>
            <a:off x="1371600" y="1664280"/>
            <a:ext cx="18252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00" b="0" strike="noStrike" spc="-1">
                <a:solidFill>
                  <a:srgbClr val="E4002B"/>
                </a:solidFill>
                <a:latin typeface="Calibri"/>
              </a:rPr>
              <a:t>▶</a:t>
            </a:r>
            <a:endParaRPr lang="en-US" sz="800" b="0" strike="noStrike" spc="-1">
              <a:solidFill>
                <a:srgbClr val="000000"/>
              </a:solidFill>
              <a:latin typeface="Arial"/>
            </a:endParaRPr>
          </a:p>
        </p:txBody>
      </p:sp>
      <p:sp>
        <p:nvSpPr>
          <p:cNvPr id="581" name="Shape 14"/>
          <p:cNvSpPr/>
          <p:nvPr/>
        </p:nvSpPr>
        <p:spPr>
          <a:xfrm>
            <a:off x="1508760" y="1051560"/>
            <a:ext cx="1965600" cy="205704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582" name="Text 15"/>
          <p:cNvSpPr/>
          <p:nvPr/>
        </p:nvSpPr>
        <p:spPr>
          <a:xfrm>
            <a:off x="1508760" y="1051560"/>
            <a:ext cx="19656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strike="noStrike" spc="-1">
                <a:solidFill>
                  <a:srgbClr val="FFFFFF"/>
                </a:solidFill>
                <a:latin typeface="Arial"/>
                <a:ea typeface="Arial"/>
              </a:rPr>
              <a:t>Web tier VS</a:t>
            </a:r>
            <a:endParaRPr lang="en-US" sz="1000" b="0" strike="noStrike" spc="-1">
              <a:solidFill>
                <a:srgbClr val="000000"/>
              </a:solidFill>
              <a:latin typeface="Arial"/>
            </a:endParaRPr>
          </a:p>
        </p:txBody>
      </p:sp>
      <p:sp>
        <p:nvSpPr>
          <p:cNvPr id="583" name="Text 16"/>
          <p:cNvSpPr/>
          <p:nvPr/>
        </p:nvSpPr>
        <p:spPr>
          <a:xfrm>
            <a:off x="1600200" y="1353240"/>
            <a:ext cx="1782720" cy="1691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750" b="0" strike="noStrike" spc="-1">
                <a:solidFill>
                  <a:srgbClr val="FFD0D0"/>
                </a:solidFill>
                <a:latin typeface="Courier New"/>
                <a:ea typeface="Courier New"/>
              </a:rPr>
              <a:t>TCP (wan/lan-optimized)</a:t>
            </a:r>
            <a:endParaRPr lang="en-US" sz="750" b="0" strike="noStrike" spc="-1">
              <a:solidFill>
                <a:srgbClr val="000000"/>
              </a:solidFill>
              <a:latin typeface="Arial"/>
            </a:endParaRPr>
          </a:p>
          <a:p>
            <a:pPr defTabSz="914400">
              <a:lnSpc>
                <a:spcPct val="100000"/>
              </a:lnSpc>
              <a:tabLst>
                <a:tab pos="0" algn="l"/>
              </a:tabLst>
            </a:pPr>
            <a:r>
              <a:rPr lang="en-US" sz="750" b="0" strike="noStrike" spc="-1">
                <a:solidFill>
                  <a:srgbClr val="FFD0D0"/>
                </a:solidFill>
                <a:latin typeface="Courier New"/>
                <a:ea typeface="Courier New"/>
              </a:rPr>
              <a:t>Client-SSL</a:t>
            </a:r>
            <a:endParaRPr lang="en-US" sz="750" b="0" strike="noStrike" spc="-1">
              <a:solidFill>
                <a:srgbClr val="000000"/>
              </a:solidFill>
              <a:latin typeface="Arial"/>
            </a:endParaRPr>
          </a:p>
          <a:p>
            <a:pPr defTabSz="914400">
              <a:lnSpc>
                <a:spcPct val="100000"/>
              </a:lnSpc>
              <a:tabLst>
                <a:tab pos="0" algn="l"/>
              </a:tabLst>
            </a:pPr>
            <a:r>
              <a:rPr lang="en-US" sz="750" b="0" strike="noStrike" spc="-1">
                <a:solidFill>
                  <a:srgbClr val="FFD0D0"/>
                </a:solidFill>
                <a:latin typeface="Courier New"/>
                <a:ea typeface="Courier New"/>
              </a:rPr>
              <a:t>HTTP</a:t>
            </a:r>
            <a:endParaRPr lang="en-US" sz="750" b="0" strike="noStrike" spc="-1">
              <a:solidFill>
                <a:srgbClr val="000000"/>
              </a:solidFill>
              <a:latin typeface="Arial"/>
            </a:endParaRPr>
          </a:p>
          <a:p>
            <a:pPr defTabSz="914400">
              <a:lnSpc>
                <a:spcPct val="100000"/>
              </a:lnSpc>
              <a:tabLst>
                <a:tab pos="0" algn="l"/>
              </a:tabLst>
            </a:pPr>
            <a:r>
              <a:rPr lang="en-US" sz="750" b="0" strike="noStrike" spc="-1">
                <a:solidFill>
                  <a:srgbClr val="FFD0D0"/>
                </a:solidFill>
                <a:latin typeface="Courier New"/>
                <a:ea typeface="Courier New"/>
              </a:rPr>
              <a:t>Cookie persistence</a:t>
            </a:r>
            <a:endParaRPr lang="en-US" sz="750" b="0" strike="noStrike" spc="-1">
              <a:solidFill>
                <a:srgbClr val="000000"/>
              </a:solidFill>
              <a:latin typeface="Arial"/>
            </a:endParaRPr>
          </a:p>
          <a:p>
            <a:pPr defTabSz="914400">
              <a:lnSpc>
                <a:spcPct val="100000"/>
              </a:lnSpc>
              <a:tabLst>
                <a:tab pos="0" algn="l"/>
              </a:tabLst>
            </a:pPr>
            <a:r>
              <a:rPr lang="en-US" sz="750" b="0" strike="noStrike" spc="-1">
                <a:solidFill>
                  <a:srgbClr val="FFD0D0"/>
                </a:solidFill>
                <a:latin typeface="Courier New"/>
                <a:ea typeface="Courier New"/>
              </a:rPr>
              <a:t>OneConnect</a:t>
            </a:r>
            <a:endParaRPr lang="en-US" sz="750" b="0" strike="noStrike" spc="-1">
              <a:solidFill>
                <a:srgbClr val="000000"/>
              </a:solidFill>
              <a:latin typeface="Arial"/>
            </a:endParaRPr>
          </a:p>
          <a:p>
            <a:pPr defTabSz="914400">
              <a:lnSpc>
                <a:spcPct val="100000"/>
              </a:lnSpc>
              <a:tabLst>
                <a:tab pos="0" algn="l"/>
              </a:tabLst>
            </a:pPr>
            <a:r>
              <a:rPr lang="en-US" sz="750" b="0" strike="noStrike" spc="-1">
                <a:solidFill>
                  <a:srgbClr val="FFD0D0"/>
                </a:solidFill>
                <a:latin typeface="Courier New"/>
                <a:ea typeface="Courier New"/>
              </a:rPr>
              <a:t>HTTP Compression</a:t>
            </a:r>
            <a:endParaRPr lang="en-US" sz="750" b="0" strike="noStrike" spc="-1">
              <a:solidFill>
                <a:srgbClr val="000000"/>
              </a:solidFill>
              <a:latin typeface="Arial"/>
            </a:endParaRPr>
          </a:p>
          <a:p>
            <a:pPr defTabSz="914400">
              <a:lnSpc>
                <a:spcPct val="100000"/>
              </a:lnSpc>
              <a:tabLst>
                <a:tab pos="0" algn="l"/>
              </a:tabLst>
            </a:pPr>
            <a:r>
              <a:rPr lang="en-US" sz="750" b="0" strike="noStrike" spc="-1">
                <a:solidFill>
                  <a:srgbClr val="FFD0D0"/>
                </a:solidFill>
                <a:latin typeface="Courier New"/>
                <a:ea typeface="Courier New"/>
              </a:rPr>
              <a:t>SNAT automap</a:t>
            </a:r>
            <a:endParaRPr lang="en-US" sz="750" b="0" strike="noStrike" spc="-1">
              <a:solidFill>
                <a:srgbClr val="000000"/>
              </a:solidFill>
              <a:latin typeface="Arial"/>
            </a:endParaRPr>
          </a:p>
        </p:txBody>
      </p:sp>
      <p:sp>
        <p:nvSpPr>
          <p:cNvPr id="584" name="Shape 17"/>
          <p:cNvSpPr/>
          <p:nvPr/>
        </p:nvSpPr>
        <p:spPr>
          <a:xfrm>
            <a:off x="3520440" y="1737360"/>
            <a:ext cx="319680" cy="2268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1960" rIns="90000" bIns="-21960" anchor="t">
            <a:noAutofit/>
          </a:bodyPr>
          <a:lstStyle/>
          <a:p>
            <a:pPr defTabSz="914400">
              <a:lnSpc>
                <a:spcPct val="100000"/>
              </a:lnSpc>
            </a:pPr>
            <a:endParaRPr lang="en-US" sz="1800" b="0" strike="noStrike" spc="-1">
              <a:solidFill>
                <a:schemeClr val="dk1"/>
              </a:solidFill>
              <a:latin typeface="Calibri"/>
            </a:endParaRPr>
          </a:p>
        </p:txBody>
      </p:sp>
      <p:sp>
        <p:nvSpPr>
          <p:cNvPr id="585" name="Text 18"/>
          <p:cNvSpPr/>
          <p:nvPr/>
        </p:nvSpPr>
        <p:spPr>
          <a:xfrm>
            <a:off x="3749040" y="1664280"/>
            <a:ext cx="18252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00" b="0" strike="noStrike" spc="-1">
                <a:solidFill>
                  <a:srgbClr val="61228B"/>
                </a:solidFill>
                <a:latin typeface="Calibri"/>
              </a:rPr>
              <a:t>▶</a:t>
            </a:r>
            <a:endParaRPr lang="en-US" sz="800" b="0" strike="noStrike" spc="-1">
              <a:solidFill>
                <a:srgbClr val="000000"/>
              </a:solidFill>
              <a:latin typeface="Arial"/>
            </a:endParaRPr>
          </a:p>
        </p:txBody>
      </p:sp>
      <p:sp>
        <p:nvSpPr>
          <p:cNvPr id="586" name="Text 19"/>
          <p:cNvSpPr/>
          <p:nvPr/>
        </p:nvSpPr>
        <p:spPr>
          <a:xfrm>
            <a:off x="3474720" y="1874520"/>
            <a:ext cx="456840" cy="118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600" b="0" strike="noStrike" spc="-1">
                <a:solidFill>
                  <a:srgbClr val="61228B"/>
                </a:solidFill>
                <a:latin typeface="Courier New"/>
                <a:ea typeface="Courier New"/>
              </a:rPr>
              <a:t>HTTP</a:t>
            </a:r>
            <a:endParaRPr lang="en-US" sz="600" b="0" strike="noStrike" spc="-1">
              <a:solidFill>
                <a:srgbClr val="000000"/>
              </a:solidFill>
              <a:latin typeface="Arial"/>
            </a:endParaRPr>
          </a:p>
        </p:txBody>
      </p:sp>
      <p:sp>
        <p:nvSpPr>
          <p:cNvPr id="587" name="Shape 20"/>
          <p:cNvSpPr/>
          <p:nvPr/>
        </p:nvSpPr>
        <p:spPr>
          <a:xfrm>
            <a:off x="3886200" y="1051560"/>
            <a:ext cx="1965600" cy="205704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588" name="Text 21"/>
          <p:cNvSpPr/>
          <p:nvPr/>
        </p:nvSpPr>
        <p:spPr>
          <a:xfrm>
            <a:off x="3886200" y="1051560"/>
            <a:ext cx="19656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strike="noStrike" spc="-1">
                <a:solidFill>
                  <a:srgbClr val="FFFFFF"/>
                </a:solidFill>
                <a:latin typeface="Arial"/>
                <a:ea typeface="Arial"/>
              </a:rPr>
              <a:t>App tier VS</a:t>
            </a:r>
            <a:endParaRPr lang="en-US" sz="1000" b="0" strike="noStrike" spc="-1">
              <a:solidFill>
                <a:srgbClr val="000000"/>
              </a:solidFill>
              <a:latin typeface="Arial"/>
            </a:endParaRPr>
          </a:p>
        </p:txBody>
      </p:sp>
      <p:sp>
        <p:nvSpPr>
          <p:cNvPr id="589" name="Text 22"/>
          <p:cNvSpPr/>
          <p:nvPr/>
        </p:nvSpPr>
        <p:spPr>
          <a:xfrm>
            <a:off x="3977640" y="1353240"/>
            <a:ext cx="1782720" cy="1691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750" b="0" strike="noStrike" spc="-1">
                <a:solidFill>
                  <a:srgbClr val="E0D0FF"/>
                </a:solidFill>
                <a:latin typeface="Courier New"/>
                <a:ea typeface="Courier New"/>
              </a:rPr>
              <a:t>TCP</a:t>
            </a:r>
            <a:endParaRPr lang="en-US" sz="750" b="0" strike="noStrike" spc="-1">
              <a:solidFill>
                <a:srgbClr val="000000"/>
              </a:solidFill>
              <a:latin typeface="Arial"/>
            </a:endParaRPr>
          </a:p>
          <a:p>
            <a:pPr defTabSz="914400">
              <a:lnSpc>
                <a:spcPct val="100000"/>
              </a:lnSpc>
              <a:tabLst>
                <a:tab pos="0" algn="l"/>
              </a:tabLst>
            </a:pPr>
            <a:r>
              <a:rPr lang="en-US" sz="750" b="0" strike="noStrike" spc="-1">
                <a:solidFill>
                  <a:srgbClr val="E0D0FF"/>
                </a:solidFill>
                <a:latin typeface="Courier New"/>
                <a:ea typeface="Courier New"/>
              </a:rPr>
              <a:t>HTTP</a:t>
            </a:r>
            <a:endParaRPr lang="en-US" sz="750" b="0" strike="noStrike" spc="-1">
              <a:solidFill>
                <a:srgbClr val="000000"/>
              </a:solidFill>
              <a:latin typeface="Arial"/>
            </a:endParaRPr>
          </a:p>
          <a:p>
            <a:pPr defTabSz="914400">
              <a:lnSpc>
                <a:spcPct val="100000"/>
              </a:lnSpc>
              <a:tabLst>
                <a:tab pos="0" algn="l"/>
              </a:tabLst>
            </a:pPr>
            <a:r>
              <a:rPr lang="en-US" sz="750" b="0" strike="noStrike" spc="-1">
                <a:solidFill>
                  <a:srgbClr val="E0D0FF"/>
                </a:solidFill>
                <a:latin typeface="Courier New"/>
                <a:ea typeface="Courier New"/>
              </a:rPr>
              <a:t>Source addr persistence</a:t>
            </a:r>
            <a:endParaRPr lang="en-US" sz="750" b="0" strike="noStrike" spc="-1">
              <a:solidFill>
                <a:srgbClr val="000000"/>
              </a:solidFill>
              <a:latin typeface="Arial"/>
            </a:endParaRPr>
          </a:p>
          <a:p>
            <a:pPr defTabSz="914400">
              <a:lnSpc>
                <a:spcPct val="100000"/>
              </a:lnSpc>
              <a:tabLst>
                <a:tab pos="0" algn="l"/>
              </a:tabLst>
            </a:pPr>
            <a:r>
              <a:rPr lang="en-US" sz="750" b="0" strike="noStrike" spc="-1">
                <a:solidFill>
                  <a:srgbClr val="E0D0FF"/>
                </a:solidFill>
                <a:latin typeface="Courier New"/>
                <a:ea typeface="Courier New"/>
              </a:rPr>
              <a:t>SNAT automap</a:t>
            </a:r>
            <a:endParaRPr lang="en-US" sz="750" b="0" strike="noStrike" spc="-1">
              <a:solidFill>
                <a:srgbClr val="000000"/>
              </a:solidFill>
              <a:latin typeface="Arial"/>
            </a:endParaRPr>
          </a:p>
          <a:p>
            <a:pPr defTabSz="914400">
              <a:lnSpc>
                <a:spcPct val="100000"/>
              </a:lnSpc>
              <a:tabLst>
                <a:tab pos="0" algn="l"/>
              </a:tabLst>
            </a:pPr>
            <a:endParaRPr lang="en-US" sz="750" b="0" strike="noStrike" spc="-1">
              <a:solidFill>
                <a:srgbClr val="000000"/>
              </a:solidFill>
              <a:latin typeface="Arial"/>
            </a:endParaRPr>
          </a:p>
          <a:p>
            <a:pPr defTabSz="914400">
              <a:lnSpc>
                <a:spcPct val="100000"/>
              </a:lnSpc>
              <a:tabLst>
                <a:tab pos="0" algn="l"/>
              </a:tabLst>
            </a:pPr>
            <a:r>
              <a:rPr lang="en-US" sz="750" b="0" strike="noStrike" spc="-1">
                <a:solidFill>
                  <a:srgbClr val="E0D0FF"/>
                </a:solidFill>
                <a:latin typeface="Courier New"/>
                <a:ea typeface="Courier New"/>
              </a:rPr>
              <a:t>(No SSL — internal</a:t>
            </a:r>
            <a:endParaRPr lang="en-US" sz="750" b="0" strike="noStrike" spc="-1">
              <a:solidFill>
                <a:srgbClr val="000000"/>
              </a:solidFill>
              <a:latin typeface="Arial"/>
            </a:endParaRPr>
          </a:p>
          <a:p>
            <a:pPr defTabSz="914400">
              <a:lnSpc>
                <a:spcPct val="100000"/>
              </a:lnSpc>
              <a:tabLst>
                <a:tab pos="0" algn="l"/>
              </a:tabLst>
            </a:pPr>
            <a:r>
              <a:rPr lang="en-US" sz="750" b="0" strike="noStrike" spc="-1">
                <a:solidFill>
                  <a:srgbClr val="E0D0FF"/>
                </a:solidFill>
                <a:latin typeface="Courier New"/>
                <a:ea typeface="Courier New"/>
              </a:rPr>
              <a:t> trusted network)</a:t>
            </a:r>
            <a:endParaRPr lang="en-US" sz="750" b="0" strike="noStrike" spc="-1">
              <a:solidFill>
                <a:srgbClr val="000000"/>
              </a:solidFill>
              <a:latin typeface="Arial"/>
            </a:endParaRPr>
          </a:p>
        </p:txBody>
      </p:sp>
      <p:sp>
        <p:nvSpPr>
          <p:cNvPr id="590" name="Shape 23"/>
          <p:cNvSpPr/>
          <p:nvPr/>
        </p:nvSpPr>
        <p:spPr>
          <a:xfrm>
            <a:off x="5897880" y="1737360"/>
            <a:ext cx="319680" cy="22680"/>
          </a:xfrm>
          <a:prstGeom prst="rect">
            <a:avLst/>
          </a:prstGeom>
          <a:solidFill>
            <a:srgbClr val="009639"/>
          </a:solidFill>
          <a:ln w="0">
            <a:noFill/>
          </a:ln>
        </p:spPr>
        <p:style>
          <a:lnRef idx="0">
            <a:scrgbClr r="0" g="0" b="0"/>
          </a:lnRef>
          <a:fillRef idx="0">
            <a:scrgbClr r="0" g="0" b="0"/>
          </a:fillRef>
          <a:effectRef idx="0">
            <a:scrgbClr r="0" g="0" b="0"/>
          </a:effectRef>
          <a:fontRef idx="minor"/>
        </p:style>
        <p:txBody>
          <a:bodyPr lIns="90000" tIns="-21960" rIns="90000" bIns="-21960" anchor="t">
            <a:noAutofit/>
          </a:bodyPr>
          <a:lstStyle/>
          <a:p>
            <a:pPr defTabSz="914400">
              <a:lnSpc>
                <a:spcPct val="100000"/>
              </a:lnSpc>
            </a:pPr>
            <a:endParaRPr lang="en-US" sz="1800" b="0" strike="noStrike" spc="-1">
              <a:solidFill>
                <a:schemeClr val="dk1"/>
              </a:solidFill>
              <a:latin typeface="Calibri"/>
            </a:endParaRPr>
          </a:p>
        </p:txBody>
      </p:sp>
      <p:sp>
        <p:nvSpPr>
          <p:cNvPr id="591" name="Text 24"/>
          <p:cNvSpPr/>
          <p:nvPr/>
        </p:nvSpPr>
        <p:spPr>
          <a:xfrm>
            <a:off x="6126480" y="1664280"/>
            <a:ext cx="18252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00" b="0" strike="noStrike" spc="-1">
                <a:solidFill>
                  <a:srgbClr val="009639"/>
                </a:solidFill>
                <a:latin typeface="Calibri"/>
              </a:rPr>
              <a:t>▶</a:t>
            </a:r>
            <a:endParaRPr lang="en-US" sz="800" b="0" strike="noStrike" spc="-1">
              <a:solidFill>
                <a:srgbClr val="000000"/>
              </a:solidFill>
              <a:latin typeface="Arial"/>
            </a:endParaRPr>
          </a:p>
        </p:txBody>
      </p:sp>
      <p:sp>
        <p:nvSpPr>
          <p:cNvPr id="592" name="Text 25"/>
          <p:cNvSpPr/>
          <p:nvPr/>
        </p:nvSpPr>
        <p:spPr>
          <a:xfrm>
            <a:off x="5852160" y="1874520"/>
            <a:ext cx="456840" cy="118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600" b="0" strike="noStrike" spc="-1">
                <a:solidFill>
                  <a:srgbClr val="009639"/>
                </a:solidFill>
                <a:latin typeface="Courier New"/>
                <a:ea typeface="Courier New"/>
              </a:rPr>
              <a:t>TCP</a:t>
            </a:r>
            <a:endParaRPr lang="en-US" sz="600" b="0" strike="noStrike" spc="-1">
              <a:solidFill>
                <a:srgbClr val="000000"/>
              </a:solidFill>
              <a:latin typeface="Arial"/>
            </a:endParaRPr>
          </a:p>
        </p:txBody>
      </p:sp>
      <p:sp>
        <p:nvSpPr>
          <p:cNvPr id="593" name="Shape 26"/>
          <p:cNvSpPr/>
          <p:nvPr/>
        </p:nvSpPr>
        <p:spPr>
          <a:xfrm>
            <a:off x="6263640" y="1051560"/>
            <a:ext cx="1645560" cy="2057040"/>
          </a:xfrm>
          <a:prstGeom prst="rect">
            <a:avLst/>
          </a:prstGeom>
          <a:solidFill>
            <a:srgbClr val="00963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594" name="Text 27"/>
          <p:cNvSpPr/>
          <p:nvPr/>
        </p:nvSpPr>
        <p:spPr>
          <a:xfrm>
            <a:off x="6263640" y="1051560"/>
            <a:ext cx="1645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strike="noStrike" spc="-1">
                <a:solidFill>
                  <a:srgbClr val="FFFFFF"/>
                </a:solidFill>
                <a:latin typeface="Arial"/>
                <a:ea typeface="Arial"/>
              </a:rPr>
              <a:t>DB tier VS</a:t>
            </a:r>
            <a:endParaRPr lang="en-US" sz="1000" b="0" strike="noStrike" spc="-1">
              <a:solidFill>
                <a:srgbClr val="000000"/>
              </a:solidFill>
              <a:latin typeface="Arial"/>
            </a:endParaRPr>
          </a:p>
        </p:txBody>
      </p:sp>
      <p:sp>
        <p:nvSpPr>
          <p:cNvPr id="595" name="Text 28"/>
          <p:cNvSpPr/>
          <p:nvPr/>
        </p:nvSpPr>
        <p:spPr>
          <a:xfrm>
            <a:off x="6355080" y="1353240"/>
            <a:ext cx="1462680" cy="1691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750" b="0" strike="noStrike" spc="-1">
                <a:solidFill>
                  <a:srgbClr val="C0F0C0"/>
                </a:solidFill>
                <a:latin typeface="Courier New"/>
                <a:ea typeface="Courier New"/>
              </a:rPr>
              <a:t>FastL4 or TCP</a:t>
            </a:r>
            <a:endParaRPr lang="en-US" sz="750" b="0" strike="noStrike" spc="-1">
              <a:solidFill>
                <a:srgbClr val="000000"/>
              </a:solidFill>
              <a:latin typeface="Arial"/>
            </a:endParaRPr>
          </a:p>
          <a:p>
            <a:pPr defTabSz="914400">
              <a:lnSpc>
                <a:spcPct val="100000"/>
              </a:lnSpc>
              <a:tabLst>
                <a:tab pos="0" algn="l"/>
              </a:tabLst>
            </a:pPr>
            <a:r>
              <a:rPr lang="en-US" sz="750" b="0" strike="noStrike" spc="-1">
                <a:solidFill>
                  <a:srgbClr val="C0F0C0"/>
                </a:solidFill>
                <a:latin typeface="Courier New"/>
                <a:ea typeface="Courier New"/>
              </a:rPr>
              <a:t>Source addr persistence</a:t>
            </a:r>
            <a:endParaRPr lang="en-US" sz="750" b="0" strike="noStrike" spc="-1">
              <a:solidFill>
                <a:srgbClr val="000000"/>
              </a:solidFill>
              <a:latin typeface="Arial"/>
            </a:endParaRPr>
          </a:p>
          <a:p>
            <a:pPr defTabSz="914400">
              <a:lnSpc>
                <a:spcPct val="100000"/>
              </a:lnSpc>
              <a:tabLst>
                <a:tab pos="0" algn="l"/>
              </a:tabLst>
            </a:pPr>
            <a:r>
              <a:rPr lang="en-US" sz="750" b="0" strike="noStrike" spc="-1">
                <a:solidFill>
                  <a:srgbClr val="C0F0C0"/>
                </a:solidFill>
                <a:latin typeface="Courier New"/>
                <a:ea typeface="Courier New"/>
              </a:rPr>
              <a:t>SNAT automap</a:t>
            </a:r>
            <a:endParaRPr lang="en-US" sz="750" b="0" strike="noStrike" spc="-1">
              <a:solidFill>
                <a:srgbClr val="000000"/>
              </a:solidFill>
              <a:latin typeface="Arial"/>
            </a:endParaRPr>
          </a:p>
          <a:p>
            <a:pPr defTabSz="914400">
              <a:lnSpc>
                <a:spcPct val="100000"/>
              </a:lnSpc>
              <a:tabLst>
                <a:tab pos="0" algn="l"/>
              </a:tabLst>
            </a:pPr>
            <a:endParaRPr lang="en-US" sz="750" b="0" strike="noStrike" spc="-1">
              <a:solidFill>
                <a:srgbClr val="000000"/>
              </a:solidFill>
              <a:latin typeface="Arial"/>
            </a:endParaRPr>
          </a:p>
          <a:p>
            <a:pPr defTabSz="914400">
              <a:lnSpc>
                <a:spcPct val="100000"/>
              </a:lnSpc>
              <a:tabLst>
                <a:tab pos="0" algn="l"/>
              </a:tabLst>
            </a:pPr>
            <a:r>
              <a:rPr lang="en-US" sz="750" b="0" strike="noStrike" spc="-1">
                <a:solidFill>
                  <a:srgbClr val="C0F0C0"/>
                </a:solidFill>
                <a:latin typeface="Courier New"/>
                <a:ea typeface="Courier New"/>
              </a:rPr>
              <a:t>(No HTTP, no SSL</a:t>
            </a:r>
            <a:endParaRPr lang="en-US" sz="750" b="0" strike="noStrike" spc="-1">
              <a:solidFill>
                <a:srgbClr val="000000"/>
              </a:solidFill>
              <a:latin typeface="Arial"/>
            </a:endParaRPr>
          </a:p>
          <a:p>
            <a:pPr defTabSz="914400">
              <a:lnSpc>
                <a:spcPct val="100000"/>
              </a:lnSpc>
              <a:tabLst>
                <a:tab pos="0" algn="l"/>
              </a:tabLst>
            </a:pPr>
            <a:r>
              <a:rPr lang="en-US" sz="750" b="0" strike="noStrike" spc="-1">
                <a:solidFill>
                  <a:srgbClr val="C0F0C0"/>
                </a:solidFill>
                <a:latin typeface="Courier New"/>
                <a:ea typeface="Courier New"/>
              </a:rPr>
              <a:t> No compression</a:t>
            </a:r>
            <a:endParaRPr lang="en-US" sz="750" b="0" strike="noStrike" spc="-1">
              <a:solidFill>
                <a:srgbClr val="000000"/>
              </a:solidFill>
              <a:latin typeface="Arial"/>
            </a:endParaRPr>
          </a:p>
          <a:p>
            <a:pPr defTabSz="914400">
              <a:lnSpc>
                <a:spcPct val="100000"/>
              </a:lnSpc>
              <a:tabLst>
                <a:tab pos="0" algn="l"/>
              </a:tabLst>
            </a:pPr>
            <a:r>
              <a:rPr lang="en-US" sz="750" b="0" strike="noStrike" spc="-1">
                <a:solidFill>
                  <a:srgbClr val="C0F0C0"/>
                </a:solidFill>
                <a:latin typeface="Courier New"/>
                <a:ea typeface="Courier New"/>
              </a:rPr>
              <a:t> Long-lived connections)</a:t>
            </a:r>
            <a:endParaRPr lang="en-US" sz="750" b="0" strike="noStrike" spc="-1">
              <a:solidFill>
                <a:srgbClr val="000000"/>
              </a:solidFill>
              <a:latin typeface="Arial"/>
            </a:endParaRPr>
          </a:p>
        </p:txBody>
      </p:sp>
      <p:sp>
        <p:nvSpPr>
          <p:cNvPr id="596" name="Shape 29"/>
          <p:cNvSpPr/>
          <p:nvPr/>
        </p:nvSpPr>
        <p:spPr>
          <a:xfrm>
            <a:off x="7955280" y="1737360"/>
            <a:ext cx="273960" cy="22680"/>
          </a:xfrm>
          <a:prstGeom prst="rect">
            <a:avLst/>
          </a:prstGeom>
          <a:solidFill>
            <a:srgbClr val="333333"/>
          </a:solidFill>
          <a:ln w="0">
            <a:noFill/>
          </a:ln>
        </p:spPr>
        <p:style>
          <a:lnRef idx="0">
            <a:scrgbClr r="0" g="0" b="0"/>
          </a:lnRef>
          <a:fillRef idx="0">
            <a:scrgbClr r="0" g="0" b="0"/>
          </a:fillRef>
          <a:effectRef idx="0">
            <a:scrgbClr r="0" g="0" b="0"/>
          </a:effectRef>
          <a:fontRef idx="minor"/>
        </p:style>
        <p:txBody>
          <a:bodyPr lIns="90000" tIns="-21960" rIns="90000" bIns="-21960" anchor="t">
            <a:noAutofit/>
          </a:bodyPr>
          <a:lstStyle/>
          <a:p>
            <a:pPr defTabSz="914400">
              <a:lnSpc>
                <a:spcPct val="100000"/>
              </a:lnSpc>
            </a:pPr>
            <a:endParaRPr lang="en-US" sz="1800" b="0" strike="noStrike" spc="-1">
              <a:solidFill>
                <a:schemeClr val="dk1"/>
              </a:solidFill>
              <a:latin typeface="Calibri"/>
            </a:endParaRPr>
          </a:p>
        </p:txBody>
      </p:sp>
      <p:sp>
        <p:nvSpPr>
          <p:cNvPr id="597" name="Text 30"/>
          <p:cNvSpPr/>
          <p:nvPr/>
        </p:nvSpPr>
        <p:spPr>
          <a:xfrm>
            <a:off x="8138160" y="1664280"/>
            <a:ext cx="18252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00" b="0" strike="noStrike" spc="-1">
                <a:solidFill>
                  <a:srgbClr val="333333"/>
                </a:solidFill>
                <a:latin typeface="Calibri"/>
              </a:rPr>
              <a:t>▶</a:t>
            </a:r>
            <a:endParaRPr lang="en-US" sz="800" b="0" strike="noStrike" spc="-1">
              <a:solidFill>
                <a:srgbClr val="000000"/>
              </a:solidFill>
              <a:latin typeface="Arial"/>
            </a:endParaRPr>
          </a:p>
        </p:txBody>
      </p:sp>
      <p:sp>
        <p:nvSpPr>
          <p:cNvPr id="598" name="Shape 31"/>
          <p:cNvSpPr/>
          <p:nvPr/>
        </p:nvSpPr>
        <p:spPr>
          <a:xfrm>
            <a:off x="8275320" y="1417320"/>
            <a:ext cx="502560" cy="319680"/>
          </a:xfrm>
          <a:prstGeom prst="rect">
            <a:avLst/>
          </a:prstGeom>
          <a:solidFill>
            <a:srgbClr val="33333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599" name="Text 32"/>
          <p:cNvSpPr/>
          <p:nvPr/>
        </p:nvSpPr>
        <p:spPr>
          <a:xfrm>
            <a:off x="8275320" y="1417320"/>
            <a:ext cx="5025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700" b="1" strike="noStrike" spc="-1">
                <a:solidFill>
                  <a:srgbClr val="FFFFFF"/>
                </a:solidFill>
                <a:latin typeface="Arial"/>
                <a:ea typeface="Arial"/>
              </a:rPr>
              <a:t>DB 1</a:t>
            </a:r>
            <a:endParaRPr lang="en-US" sz="700" b="0" strike="noStrike" spc="-1">
              <a:solidFill>
                <a:srgbClr val="000000"/>
              </a:solidFill>
              <a:latin typeface="Arial"/>
            </a:endParaRPr>
          </a:p>
        </p:txBody>
      </p:sp>
      <p:sp>
        <p:nvSpPr>
          <p:cNvPr id="600" name="Shape 33"/>
          <p:cNvSpPr/>
          <p:nvPr/>
        </p:nvSpPr>
        <p:spPr>
          <a:xfrm>
            <a:off x="8275320" y="1828800"/>
            <a:ext cx="502560" cy="319680"/>
          </a:xfrm>
          <a:prstGeom prst="rect">
            <a:avLst/>
          </a:prstGeom>
          <a:solidFill>
            <a:srgbClr val="33333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601" name="Text 34"/>
          <p:cNvSpPr/>
          <p:nvPr/>
        </p:nvSpPr>
        <p:spPr>
          <a:xfrm>
            <a:off x="8275320" y="1828800"/>
            <a:ext cx="5025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700" b="1" strike="noStrike" spc="-1">
                <a:solidFill>
                  <a:srgbClr val="FFFFFF"/>
                </a:solidFill>
                <a:latin typeface="Arial"/>
                <a:ea typeface="Arial"/>
              </a:rPr>
              <a:t>DB 2</a:t>
            </a:r>
            <a:endParaRPr lang="en-US" sz="700" b="0" strike="noStrike" spc="-1">
              <a:solidFill>
                <a:srgbClr val="000000"/>
              </a:solidFill>
              <a:latin typeface="Arial"/>
            </a:endParaRPr>
          </a:p>
        </p:txBody>
      </p:sp>
      <p:sp>
        <p:nvSpPr>
          <p:cNvPr id="602" name="Text 35"/>
          <p:cNvSpPr/>
          <p:nvPr/>
        </p:nvSpPr>
        <p:spPr>
          <a:xfrm>
            <a:off x="365760" y="3273480"/>
            <a:ext cx="45716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0E41AA"/>
                </a:solidFill>
                <a:latin typeface="Arial"/>
                <a:ea typeface="Arial"/>
              </a:rPr>
              <a:t>Profile placement by tier</a:t>
            </a:r>
            <a:endParaRPr lang="en-US" sz="1400" b="0" strike="noStrike" spc="-1">
              <a:solidFill>
                <a:srgbClr val="000000"/>
              </a:solidFill>
              <a:latin typeface="Arial"/>
            </a:endParaRPr>
          </a:p>
        </p:txBody>
      </p:sp>
      <p:graphicFrame>
        <p:nvGraphicFramePr>
          <p:cNvPr id="603" name="Table 0"/>
          <p:cNvGraphicFramePr/>
          <p:nvPr/>
        </p:nvGraphicFramePr>
        <p:xfrm>
          <a:off x="274320" y="3520440"/>
          <a:ext cx="8686800" cy="1295400"/>
        </p:xfrm>
        <a:graphic>
          <a:graphicData uri="http://schemas.openxmlformats.org/drawingml/2006/table">
            <a:tbl>
              <a:tblPr/>
              <a:tblGrid>
                <a:gridCol w="82296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3931920">
                  <a:extLst>
                    <a:ext uri="{9D8B030D-6E8A-4147-A177-3AD203B41FA5}">
                      <a16:colId xmlns:a16="http://schemas.microsoft.com/office/drawing/2014/main" val="20004"/>
                    </a:ext>
                  </a:extLst>
                </a:gridCol>
              </a:tblGrid>
              <a:tr h="0">
                <a:tc>
                  <a:txBody>
                    <a:bodyPr/>
                    <a:lstStyle/>
                    <a:p>
                      <a:pPr defTabSz="914400">
                        <a:lnSpc>
                          <a:spcPct val="100000"/>
                        </a:lnSpc>
                        <a:tabLst>
                          <a:tab pos="0" algn="l"/>
                        </a:tabLst>
                      </a:pPr>
                      <a:r>
                        <a:rPr lang="en-US" sz="900" b="1" strike="noStrike" spc="-1">
                          <a:solidFill>
                            <a:srgbClr val="FFFFFF"/>
                          </a:solidFill>
                          <a:latin typeface="Calibri"/>
                        </a:rPr>
                        <a:t>Decision</a:t>
                      </a:r>
                      <a:endParaRPr lang="en-US" sz="900" b="0" strike="noStrike" spc="-1">
                        <a:solidFill>
                          <a:srgbClr val="FFFFFF"/>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E41AA"/>
                    </a:solidFill>
                  </a:tcPr>
                </a:tc>
                <a:tc>
                  <a:txBody>
                    <a:bodyPr/>
                    <a:lstStyle/>
                    <a:p>
                      <a:pPr defTabSz="914400">
                        <a:lnSpc>
                          <a:spcPct val="100000"/>
                        </a:lnSpc>
                        <a:tabLst>
                          <a:tab pos="0" algn="l"/>
                        </a:tabLst>
                      </a:pPr>
                      <a:r>
                        <a:rPr lang="en-US" sz="900" b="1" strike="noStrike" spc="-1">
                          <a:solidFill>
                            <a:srgbClr val="FFFFFF"/>
                          </a:solidFill>
                          <a:latin typeface="Calibri"/>
                        </a:rPr>
                        <a:t>Web tier</a:t>
                      </a:r>
                      <a:endParaRPr lang="en-US" sz="900" b="0" strike="noStrike" spc="-1">
                        <a:solidFill>
                          <a:srgbClr val="FFFFFF"/>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E41AA"/>
                    </a:solidFill>
                  </a:tcPr>
                </a:tc>
                <a:tc>
                  <a:txBody>
                    <a:bodyPr/>
                    <a:lstStyle/>
                    <a:p>
                      <a:pPr defTabSz="914400">
                        <a:lnSpc>
                          <a:spcPct val="100000"/>
                        </a:lnSpc>
                        <a:tabLst>
                          <a:tab pos="0" algn="l"/>
                        </a:tabLst>
                      </a:pPr>
                      <a:r>
                        <a:rPr lang="en-US" sz="900" b="1" strike="noStrike" spc="-1">
                          <a:solidFill>
                            <a:srgbClr val="FFFFFF"/>
                          </a:solidFill>
                          <a:latin typeface="Calibri"/>
                        </a:rPr>
                        <a:t>App tier</a:t>
                      </a:r>
                      <a:endParaRPr lang="en-US" sz="900" b="0" strike="noStrike" spc="-1">
                        <a:solidFill>
                          <a:srgbClr val="FFFFFF"/>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E41AA"/>
                    </a:solidFill>
                  </a:tcPr>
                </a:tc>
                <a:tc>
                  <a:txBody>
                    <a:bodyPr/>
                    <a:lstStyle/>
                    <a:p>
                      <a:pPr defTabSz="914400">
                        <a:lnSpc>
                          <a:spcPct val="100000"/>
                        </a:lnSpc>
                        <a:tabLst>
                          <a:tab pos="0" algn="l"/>
                        </a:tabLst>
                      </a:pPr>
                      <a:r>
                        <a:rPr lang="en-US" sz="900" b="1" strike="noStrike" spc="-1">
                          <a:solidFill>
                            <a:srgbClr val="FFFFFF"/>
                          </a:solidFill>
                          <a:latin typeface="Calibri"/>
                        </a:rPr>
                        <a:t>DB tier</a:t>
                      </a:r>
                      <a:endParaRPr lang="en-US" sz="900" b="0" strike="noStrike" spc="-1">
                        <a:solidFill>
                          <a:srgbClr val="FFFFFF"/>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E41AA"/>
                    </a:solidFill>
                  </a:tcPr>
                </a:tc>
                <a:tc>
                  <a:txBody>
                    <a:bodyPr/>
                    <a:lstStyle/>
                    <a:p>
                      <a:pPr defTabSz="914400">
                        <a:lnSpc>
                          <a:spcPct val="100000"/>
                        </a:lnSpc>
                        <a:tabLst>
                          <a:tab pos="0" algn="l"/>
                        </a:tabLst>
                      </a:pPr>
                      <a:r>
                        <a:rPr lang="en-US" sz="900" b="1" strike="noStrike" spc="-1">
                          <a:solidFill>
                            <a:srgbClr val="FFFFFF"/>
                          </a:solidFill>
                          <a:latin typeface="Calibri"/>
                        </a:rPr>
                        <a:t>Why</a:t>
                      </a:r>
                      <a:endParaRPr lang="en-US" sz="900" b="0" strike="noStrike" spc="-1">
                        <a:solidFill>
                          <a:srgbClr val="FFFFFF"/>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E41AA"/>
                    </a:solidFill>
                  </a:tcPr>
                </a:tc>
                <a:extLst>
                  <a:ext uri="{0D108BD9-81ED-4DB2-BD59-A6C34878D82A}">
                    <a16:rowId xmlns:a16="http://schemas.microsoft.com/office/drawing/2014/main" val="10000"/>
                  </a:ext>
                </a:extLst>
              </a:tr>
              <a:tr h="0">
                <a:tc>
                  <a:txBody>
                    <a:bodyPr/>
                    <a:lstStyle/>
                    <a:p>
                      <a:pPr defTabSz="914400">
                        <a:lnSpc>
                          <a:spcPct val="100000"/>
                        </a:lnSpc>
                        <a:tabLst>
                          <a:tab pos="0" algn="l"/>
                        </a:tabLst>
                      </a:pPr>
                      <a:r>
                        <a:rPr lang="en-US" sz="800" b="1" strike="noStrike" spc="-1">
                          <a:solidFill>
                            <a:srgbClr val="000000"/>
                          </a:solidFill>
                          <a:latin typeface="Calibri"/>
                        </a:rPr>
                        <a:t>Protocol</a:t>
                      </a:r>
                      <a:endParaRPr lang="en-US" sz="8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800" b="0" strike="noStrike" spc="-1">
                          <a:solidFill>
                            <a:srgbClr val="000000"/>
                          </a:solidFill>
                          <a:latin typeface="Calibri"/>
                        </a:rPr>
                        <a:t>TCP (wan/lan)</a:t>
                      </a:r>
                      <a:endParaRPr lang="en-US" sz="8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800" b="0" strike="noStrike" spc="-1">
                          <a:solidFill>
                            <a:srgbClr val="000000"/>
                          </a:solidFill>
                          <a:latin typeface="Calibri"/>
                        </a:rPr>
                        <a:t>TCP</a:t>
                      </a:r>
                      <a:endParaRPr lang="en-US" sz="8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800" b="0" strike="noStrike" spc="-1">
                          <a:solidFill>
                            <a:srgbClr val="000000"/>
                          </a:solidFill>
                          <a:latin typeface="Calibri"/>
                        </a:rPr>
                        <a:t>FastL4 or TCP</a:t>
                      </a:r>
                      <a:endParaRPr lang="en-US" sz="8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800" b="0" strike="noStrike" spc="-1">
                          <a:solidFill>
                            <a:srgbClr val="000000"/>
                          </a:solidFill>
                          <a:latin typeface="Calibri"/>
                        </a:rPr>
                        <a:t>DB: high throughput, no L7 needed</a:t>
                      </a:r>
                      <a:endParaRPr lang="en-US" sz="8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1"/>
                  </a:ext>
                </a:extLst>
              </a:tr>
              <a:tr h="0">
                <a:tc>
                  <a:txBody>
                    <a:bodyPr/>
                    <a:lstStyle/>
                    <a:p>
                      <a:pPr defTabSz="914400">
                        <a:lnSpc>
                          <a:spcPct val="100000"/>
                        </a:lnSpc>
                        <a:tabLst>
                          <a:tab pos="0" algn="l"/>
                        </a:tabLst>
                      </a:pPr>
                      <a:r>
                        <a:rPr lang="en-US" sz="800" b="1" strike="noStrike" spc="-1">
                          <a:solidFill>
                            <a:srgbClr val="000000"/>
                          </a:solidFill>
                          <a:latin typeface="Calibri"/>
                        </a:rPr>
                        <a:t>SSL</a:t>
                      </a:r>
                      <a:endParaRPr lang="en-US" sz="8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800" b="0" strike="noStrike" spc="-1">
                          <a:solidFill>
                            <a:srgbClr val="000000"/>
                          </a:solidFill>
                          <a:latin typeface="Calibri"/>
                        </a:rPr>
                        <a:t>Client-SSL</a:t>
                      </a:r>
                      <a:endParaRPr lang="en-US" sz="8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800" b="0" strike="noStrike" spc="-1">
                          <a:solidFill>
                            <a:srgbClr val="000000"/>
                          </a:solidFill>
                          <a:latin typeface="Calibri"/>
                        </a:rPr>
                        <a:t>None</a:t>
                      </a:r>
                      <a:endParaRPr lang="en-US" sz="8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800" b="0" strike="noStrike" spc="-1">
                          <a:solidFill>
                            <a:srgbClr val="000000"/>
                          </a:solidFill>
                          <a:latin typeface="Calibri"/>
                        </a:rPr>
                        <a:t>None</a:t>
                      </a:r>
                      <a:endParaRPr lang="en-US" sz="8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800" b="0" strike="noStrike" spc="-1">
                          <a:solidFill>
                            <a:srgbClr val="000000"/>
                          </a:solidFill>
                          <a:latin typeface="Calibri"/>
                        </a:rPr>
                        <a:t>Only client-facing tier needs encryption</a:t>
                      </a:r>
                      <a:endParaRPr lang="en-US" sz="8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2"/>
                  </a:ext>
                </a:extLst>
              </a:tr>
              <a:tr h="0">
                <a:tc>
                  <a:txBody>
                    <a:bodyPr/>
                    <a:lstStyle/>
                    <a:p>
                      <a:pPr defTabSz="914400">
                        <a:lnSpc>
                          <a:spcPct val="100000"/>
                        </a:lnSpc>
                        <a:tabLst>
                          <a:tab pos="0" algn="l"/>
                        </a:tabLst>
                      </a:pPr>
                      <a:r>
                        <a:rPr lang="en-US" sz="800" b="1" strike="noStrike" spc="-1">
                          <a:solidFill>
                            <a:srgbClr val="000000"/>
                          </a:solidFill>
                          <a:latin typeface="Calibri"/>
                        </a:rPr>
                        <a:t>Persistence</a:t>
                      </a:r>
                      <a:endParaRPr lang="en-US" sz="8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800" b="0" strike="noStrike" spc="-1">
                          <a:solidFill>
                            <a:srgbClr val="000000"/>
                          </a:solidFill>
                          <a:latin typeface="Calibri"/>
                        </a:rPr>
                        <a:t>Cookie insert</a:t>
                      </a:r>
                      <a:endParaRPr lang="en-US" sz="8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800" b="0" strike="noStrike" spc="-1">
                          <a:solidFill>
                            <a:srgbClr val="000000"/>
                          </a:solidFill>
                          <a:latin typeface="Calibri"/>
                        </a:rPr>
                        <a:t>Source address</a:t>
                      </a:r>
                      <a:endParaRPr lang="en-US" sz="8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800" b="0" strike="noStrike" spc="-1">
                          <a:solidFill>
                            <a:srgbClr val="000000"/>
                          </a:solidFill>
                          <a:latin typeface="Calibri"/>
                        </a:rPr>
                        <a:t>Source address</a:t>
                      </a:r>
                      <a:endParaRPr lang="en-US" sz="8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800" b="0" strike="noStrike" spc="-1">
                          <a:solidFill>
                            <a:srgbClr val="000000"/>
                          </a:solidFill>
                          <a:latin typeface="Calibri"/>
                        </a:rPr>
                        <a:t>Cookie requires HTTP; internal tiers use source IP</a:t>
                      </a:r>
                      <a:endParaRPr lang="en-US" sz="8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3"/>
                  </a:ext>
                </a:extLst>
              </a:tr>
              <a:tr h="0">
                <a:tc>
                  <a:txBody>
                    <a:bodyPr/>
                    <a:lstStyle/>
                    <a:p>
                      <a:pPr defTabSz="914400">
                        <a:lnSpc>
                          <a:spcPct val="100000"/>
                        </a:lnSpc>
                        <a:tabLst>
                          <a:tab pos="0" algn="l"/>
                        </a:tabLst>
                      </a:pPr>
                      <a:r>
                        <a:rPr lang="en-US" sz="800" b="1" strike="noStrike" spc="-1">
                          <a:solidFill>
                            <a:srgbClr val="000000"/>
                          </a:solidFill>
                          <a:latin typeface="Calibri"/>
                        </a:rPr>
                        <a:t>Service</a:t>
                      </a:r>
                      <a:endParaRPr lang="en-US" sz="8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800" b="0" strike="noStrike" spc="-1">
                          <a:solidFill>
                            <a:srgbClr val="000000"/>
                          </a:solidFill>
                          <a:latin typeface="Calibri"/>
                        </a:rPr>
                        <a:t>HTTP, Compress, Cache</a:t>
                      </a:r>
                      <a:endParaRPr lang="en-US" sz="8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800" b="0" strike="noStrike" spc="-1">
                          <a:solidFill>
                            <a:srgbClr val="000000"/>
                          </a:solidFill>
                          <a:latin typeface="Calibri"/>
                        </a:rPr>
                        <a:t>HTTP (if app uses it)</a:t>
                      </a:r>
                      <a:endParaRPr lang="en-US" sz="8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800" b="0" strike="noStrike" spc="-1">
                          <a:solidFill>
                            <a:srgbClr val="000000"/>
                          </a:solidFill>
                          <a:latin typeface="Calibri"/>
                        </a:rPr>
                        <a:t>None</a:t>
                      </a:r>
                      <a:endParaRPr lang="en-US" sz="8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800" b="0" strike="noStrike" spc="-1">
                          <a:solidFill>
                            <a:srgbClr val="000000"/>
                          </a:solidFill>
                          <a:latin typeface="Calibri"/>
                        </a:rPr>
                        <a:t>DB tier is raw TCP</a:t>
                      </a:r>
                      <a:endParaRPr lang="en-US" sz="8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4"/>
                  </a:ext>
                </a:extLst>
              </a:tr>
              <a:tr h="0">
                <a:tc>
                  <a:txBody>
                    <a:bodyPr/>
                    <a:lstStyle/>
                    <a:p>
                      <a:pPr defTabSz="914400">
                        <a:lnSpc>
                          <a:spcPct val="100000"/>
                        </a:lnSpc>
                        <a:tabLst>
                          <a:tab pos="0" algn="l"/>
                        </a:tabLst>
                      </a:pPr>
                      <a:r>
                        <a:rPr lang="en-US" sz="800" b="1" strike="noStrike" spc="-1">
                          <a:solidFill>
                            <a:srgbClr val="000000"/>
                          </a:solidFill>
                          <a:latin typeface="Calibri"/>
                        </a:rPr>
                        <a:t>SNAT</a:t>
                      </a:r>
                      <a:endParaRPr lang="en-US" sz="8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800" b="0" strike="noStrike" spc="-1">
                          <a:solidFill>
                            <a:srgbClr val="000000"/>
                          </a:solidFill>
                          <a:latin typeface="Calibri"/>
                        </a:rPr>
                        <a:t>Automap</a:t>
                      </a:r>
                      <a:endParaRPr lang="en-US" sz="8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800" b="0" strike="noStrike" spc="-1">
                          <a:solidFill>
                            <a:srgbClr val="000000"/>
                          </a:solidFill>
                          <a:latin typeface="Calibri"/>
                        </a:rPr>
                        <a:t>Automap or None</a:t>
                      </a:r>
                      <a:endParaRPr lang="en-US" sz="8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800" b="0" strike="noStrike" spc="-1">
                          <a:solidFill>
                            <a:srgbClr val="000000"/>
                          </a:solidFill>
                          <a:latin typeface="Calibri"/>
                        </a:rPr>
                        <a:t>Automap or None</a:t>
                      </a:r>
                      <a:endParaRPr lang="en-US" sz="8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800" b="0" strike="noStrike" spc="-1">
                          <a:solidFill>
                            <a:srgbClr val="000000"/>
                          </a:solidFill>
                          <a:latin typeface="Calibri"/>
                        </a:rPr>
                        <a:t>Depends on routing between tiers</a:t>
                      </a:r>
                      <a:endParaRPr lang="en-US" sz="8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04"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605"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606"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607"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608"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609"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26    © 2026 F5</a:t>
            </a:r>
            <a:endParaRPr lang="en-US" sz="800" b="0" strike="noStrike" spc="-1">
              <a:solidFill>
                <a:srgbClr val="000000"/>
              </a:solidFill>
              <a:latin typeface="Arial"/>
            </a:endParaRPr>
          </a:p>
        </p:txBody>
      </p:sp>
      <p:pic>
        <p:nvPicPr>
          <p:cNvPr id="610" name="Image 0" descr="preencoded.png"/>
          <p:cNvPicPr/>
          <p:nvPr/>
        </p:nvPicPr>
        <p:blipFill>
          <a:blip r:embed="rId3"/>
          <a:stretch/>
        </p:blipFill>
        <p:spPr>
          <a:xfrm>
            <a:off x="8458200" y="4663440"/>
            <a:ext cx="383760" cy="383760"/>
          </a:xfrm>
          <a:prstGeom prst="rect">
            <a:avLst/>
          </a:prstGeom>
          <a:ln w="0">
            <a:noFill/>
          </a:ln>
        </p:spPr>
      </p:pic>
      <p:sp>
        <p:nvSpPr>
          <p:cNvPr id="611" name="Text 6"/>
          <p:cNvSpPr/>
          <p:nvPr/>
        </p:nvSpPr>
        <p:spPr>
          <a:xfrm>
            <a:off x="457200" y="274320"/>
            <a:ext cx="82292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HTTP optimization: compression vs caching</a:t>
            </a:r>
            <a:endParaRPr lang="en-US" sz="2800" b="0" strike="noStrike" spc="-1">
              <a:solidFill>
                <a:srgbClr val="000000"/>
              </a:solidFill>
              <a:latin typeface="Arial"/>
            </a:endParaRPr>
          </a:p>
        </p:txBody>
      </p:sp>
      <p:sp>
        <p:nvSpPr>
          <p:cNvPr id="612" name="Text 7"/>
          <p:cNvSpPr/>
          <p:nvPr/>
        </p:nvSpPr>
        <p:spPr>
          <a:xfrm>
            <a:off x="457200" y="68580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strike="noStrike" spc="-1">
                <a:solidFill>
                  <a:srgbClr val="666666"/>
                </a:solidFill>
                <a:latin typeface="Calibri"/>
                <a:ea typeface="Calibri"/>
              </a:rPr>
              <a:t>Two approaches to accelerating web applications — choose based on content type and access patterns</a:t>
            </a:r>
            <a:endParaRPr lang="en-US" sz="1400" b="0" strike="noStrike" spc="-1">
              <a:solidFill>
                <a:srgbClr val="000000"/>
              </a:solidFill>
              <a:latin typeface="Arial"/>
            </a:endParaRPr>
          </a:p>
        </p:txBody>
      </p:sp>
      <p:sp>
        <p:nvSpPr>
          <p:cNvPr id="613" name="Shape 8"/>
          <p:cNvSpPr/>
          <p:nvPr/>
        </p:nvSpPr>
        <p:spPr>
          <a:xfrm>
            <a:off x="365760" y="1097280"/>
            <a:ext cx="3931560" cy="4111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614" name="Text 9"/>
          <p:cNvSpPr/>
          <p:nvPr/>
        </p:nvSpPr>
        <p:spPr>
          <a:xfrm>
            <a:off x="365760" y="1097280"/>
            <a:ext cx="39315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strike="noStrike" spc="-1">
                <a:solidFill>
                  <a:srgbClr val="FFFFFF"/>
                </a:solidFill>
                <a:latin typeface="Arial"/>
                <a:ea typeface="Arial"/>
              </a:rPr>
              <a:t>HTTP compression</a:t>
            </a:r>
            <a:endParaRPr lang="en-US" sz="1600" b="0" strike="noStrike" spc="-1">
              <a:solidFill>
                <a:srgbClr val="000000"/>
              </a:solidFill>
              <a:latin typeface="Arial"/>
            </a:endParaRPr>
          </a:p>
        </p:txBody>
      </p:sp>
      <p:sp>
        <p:nvSpPr>
          <p:cNvPr id="615" name="Shape 10"/>
          <p:cNvSpPr/>
          <p:nvPr/>
        </p:nvSpPr>
        <p:spPr>
          <a:xfrm>
            <a:off x="365760" y="1508760"/>
            <a:ext cx="3931560" cy="228564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616" name="Text 11"/>
          <p:cNvSpPr/>
          <p:nvPr/>
        </p:nvSpPr>
        <p:spPr>
          <a:xfrm>
            <a:off x="502920" y="1554480"/>
            <a:ext cx="3657240" cy="2194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000" b="1" strike="noStrike" spc="-1">
                <a:solidFill>
                  <a:srgbClr val="61228B"/>
                </a:solidFill>
                <a:latin typeface="Calibri"/>
                <a:ea typeface="Calibri"/>
              </a:rPr>
              <a:t>How: </a:t>
            </a:r>
            <a:r>
              <a:rPr lang="en-US" sz="1000" b="0" strike="noStrike" spc="-1">
                <a:solidFill>
                  <a:srgbClr val="333333"/>
                </a:solidFill>
                <a:latin typeface="Calibri"/>
                <a:ea typeface="Calibri"/>
              </a:rPr>
              <a:t>BIG-IP compresses each response before sending to client.</a:t>
            </a:r>
            <a:endParaRPr lang="en-US" sz="1000" b="0" strike="noStrike" spc="-1">
              <a:solidFill>
                <a:srgbClr val="000000"/>
              </a:solidFill>
              <a:latin typeface="Arial"/>
            </a:endParaRPr>
          </a:p>
          <a:p>
            <a:pPr defTabSz="914400">
              <a:lnSpc>
                <a:spcPct val="100000"/>
              </a:lnSpc>
              <a:tabLst>
                <a:tab pos="0" algn="l"/>
              </a:tabLst>
            </a:pPr>
            <a:endParaRPr lang="en-US" sz="1000" b="0" strike="noStrike" spc="-1">
              <a:solidFill>
                <a:srgbClr val="000000"/>
              </a:solidFill>
              <a:latin typeface="Arial"/>
            </a:endParaRPr>
          </a:p>
          <a:p>
            <a:pPr defTabSz="914400">
              <a:lnSpc>
                <a:spcPct val="100000"/>
              </a:lnSpc>
              <a:tabLst>
                <a:tab pos="0" algn="l"/>
              </a:tabLst>
            </a:pPr>
            <a:r>
              <a:rPr lang="en-US" sz="1000" b="1" strike="noStrike" spc="-1">
                <a:solidFill>
                  <a:srgbClr val="61228B"/>
                </a:solidFill>
                <a:latin typeface="Calibri"/>
                <a:ea typeface="Calibri"/>
              </a:rPr>
              <a:t>Best for: </a:t>
            </a:r>
            <a:r>
              <a:rPr lang="en-US" sz="1000" b="0" strike="noStrike" spc="-1">
                <a:solidFill>
                  <a:srgbClr val="333333"/>
                </a:solidFill>
                <a:latin typeface="Calibri"/>
                <a:ea typeface="Calibri"/>
              </a:rPr>
              <a:t>Dynamic content (APIs, HTML) that changes too often to cache.</a:t>
            </a:r>
            <a:endParaRPr lang="en-US" sz="1000" b="0" strike="noStrike" spc="-1">
              <a:solidFill>
                <a:srgbClr val="000000"/>
              </a:solidFill>
              <a:latin typeface="Arial"/>
            </a:endParaRPr>
          </a:p>
          <a:p>
            <a:pPr defTabSz="914400">
              <a:lnSpc>
                <a:spcPct val="100000"/>
              </a:lnSpc>
              <a:tabLst>
                <a:tab pos="0" algn="l"/>
              </a:tabLst>
            </a:pPr>
            <a:endParaRPr lang="en-US" sz="1000" b="0" strike="noStrike" spc="-1">
              <a:solidFill>
                <a:srgbClr val="000000"/>
              </a:solidFill>
              <a:latin typeface="Arial"/>
            </a:endParaRPr>
          </a:p>
          <a:p>
            <a:pPr defTabSz="914400">
              <a:lnSpc>
                <a:spcPct val="100000"/>
              </a:lnSpc>
              <a:tabLst>
                <a:tab pos="0" algn="l"/>
              </a:tabLst>
            </a:pPr>
            <a:r>
              <a:rPr lang="en-US" sz="1000" b="1" strike="noStrike" spc="-1">
                <a:solidFill>
                  <a:srgbClr val="61228B"/>
                </a:solidFill>
                <a:latin typeface="Calibri"/>
                <a:ea typeface="Calibri"/>
              </a:rPr>
              <a:t>Cost: </a:t>
            </a:r>
            <a:r>
              <a:rPr lang="en-US" sz="1000" b="0" strike="noStrike" spc="-1">
                <a:solidFill>
                  <a:srgbClr val="333333"/>
                </a:solidFill>
                <a:latin typeface="Calibri"/>
                <a:ea typeface="Calibri"/>
              </a:rPr>
              <a:t>CPU — every response compressed on the fly.</a:t>
            </a:r>
            <a:endParaRPr lang="en-US" sz="1000" b="0" strike="noStrike" spc="-1">
              <a:solidFill>
                <a:srgbClr val="000000"/>
              </a:solidFill>
              <a:latin typeface="Arial"/>
            </a:endParaRPr>
          </a:p>
          <a:p>
            <a:pPr defTabSz="914400">
              <a:lnSpc>
                <a:spcPct val="100000"/>
              </a:lnSpc>
              <a:tabLst>
                <a:tab pos="0" algn="l"/>
              </a:tabLst>
            </a:pPr>
            <a:endParaRPr lang="en-US" sz="1000" b="0" strike="noStrike" spc="-1">
              <a:solidFill>
                <a:srgbClr val="000000"/>
              </a:solidFill>
              <a:latin typeface="Arial"/>
            </a:endParaRPr>
          </a:p>
          <a:p>
            <a:pPr defTabSz="914400">
              <a:lnSpc>
                <a:spcPct val="100000"/>
              </a:lnSpc>
              <a:tabLst>
                <a:tab pos="0" algn="l"/>
              </a:tabLst>
            </a:pPr>
            <a:r>
              <a:rPr lang="en-US" sz="1000" b="1" strike="noStrike" spc="-1">
                <a:solidFill>
                  <a:srgbClr val="61228B"/>
                </a:solidFill>
                <a:latin typeface="Calibri"/>
                <a:ea typeface="Calibri"/>
              </a:rPr>
              <a:t>Profile: </a:t>
            </a:r>
            <a:r>
              <a:rPr lang="en-US" sz="1000" b="0" strike="noStrike" spc="-1">
                <a:solidFill>
                  <a:srgbClr val="333333"/>
                </a:solidFill>
                <a:latin typeface="Courier New"/>
                <a:ea typeface="Courier New"/>
              </a:rPr>
              <a:t>wan-optimized-compression</a:t>
            </a:r>
            <a:endParaRPr lang="en-US" sz="1000" b="0" strike="noStrike" spc="-1">
              <a:solidFill>
                <a:srgbClr val="000000"/>
              </a:solidFill>
              <a:latin typeface="Arial"/>
            </a:endParaRPr>
          </a:p>
        </p:txBody>
      </p:sp>
      <p:sp>
        <p:nvSpPr>
          <p:cNvPr id="617" name="Shape 12"/>
          <p:cNvSpPr/>
          <p:nvPr/>
        </p:nvSpPr>
        <p:spPr>
          <a:xfrm>
            <a:off x="4846320" y="1097280"/>
            <a:ext cx="3931560" cy="411120"/>
          </a:xfrm>
          <a:prstGeom prst="rect">
            <a:avLst/>
          </a:prstGeom>
          <a:solidFill>
            <a:srgbClr val="00963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618" name="Text 13"/>
          <p:cNvSpPr/>
          <p:nvPr/>
        </p:nvSpPr>
        <p:spPr>
          <a:xfrm>
            <a:off x="4846320" y="1097280"/>
            <a:ext cx="39315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strike="noStrike" spc="-1">
                <a:solidFill>
                  <a:srgbClr val="FFFFFF"/>
                </a:solidFill>
                <a:latin typeface="Arial"/>
                <a:ea typeface="Arial"/>
              </a:rPr>
              <a:t>Web Acceleration (RamCache)</a:t>
            </a:r>
            <a:endParaRPr lang="en-US" sz="1600" b="0" strike="noStrike" spc="-1">
              <a:solidFill>
                <a:srgbClr val="000000"/>
              </a:solidFill>
              <a:latin typeface="Arial"/>
            </a:endParaRPr>
          </a:p>
        </p:txBody>
      </p:sp>
      <p:sp>
        <p:nvSpPr>
          <p:cNvPr id="619" name="Shape 14"/>
          <p:cNvSpPr/>
          <p:nvPr/>
        </p:nvSpPr>
        <p:spPr>
          <a:xfrm>
            <a:off x="4846320" y="1508760"/>
            <a:ext cx="3931560" cy="228564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620" name="Text 15"/>
          <p:cNvSpPr/>
          <p:nvPr/>
        </p:nvSpPr>
        <p:spPr>
          <a:xfrm>
            <a:off x="4983480" y="1554480"/>
            <a:ext cx="3657240" cy="2194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000" b="1" strike="noStrike" spc="-1">
                <a:solidFill>
                  <a:srgbClr val="009639"/>
                </a:solidFill>
                <a:latin typeface="Calibri"/>
                <a:ea typeface="Calibri"/>
              </a:rPr>
              <a:t>How: </a:t>
            </a:r>
            <a:r>
              <a:rPr lang="en-US" sz="1000" b="0" strike="noStrike" spc="-1">
                <a:solidFill>
                  <a:srgbClr val="333333"/>
                </a:solidFill>
                <a:latin typeface="Calibri"/>
                <a:ea typeface="Calibri"/>
              </a:rPr>
              <a:t>BIG-IP caches responses in RAM. Subsequent requests served from cache.</a:t>
            </a:r>
            <a:endParaRPr lang="en-US" sz="1000" b="0" strike="noStrike" spc="-1">
              <a:solidFill>
                <a:srgbClr val="000000"/>
              </a:solidFill>
              <a:latin typeface="Arial"/>
            </a:endParaRPr>
          </a:p>
          <a:p>
            <a:pPr defTabSz="914400">
              <a:lnSpc>
                <a:spcPct val="100000"/>
              </a:lnSpc>
              <a:tabLst>
                <a:tab pos="0" algn="l"/>
              </a:tabLst>
            </a:pPr>
            <a:endParaRPr lang="en-US" sz="1000" b="0" strike="noStrike" spc="-1">
              <a:solidFill>
                <a:srgbClr val="000000"/>
              </a:solidFill>
              <a:latin typeface="Arial"/>
            </a:endParaRPr>
          </a:p>
          <a:p>
            <a:pPr defTabSz="914400">
              <a:lnSpc>
                <a:spcPct val="100000"/>
              </a:lnSpc>
              <a:tabLst>
                <a:tab pos="0" algn="l"/>
              </a:tabLst>
            </a:pPr>
            <a:r>
              <a:rPr lang="en-US" sz="1000" b="1" strike="noStrike" spc="-1">
                <a:solidFill>
                  <a:srgbClr val="009639"/>
                </a:solidFill>
                <a:latin typeface="Calibri"/>
                <a:ea typeface="Calibri"/>
              </a:rPr>
              <a:t>Best for: </a:t>
            </a:r>
            <a:r>
              <a:rPr lang="en-US" sz="1000" b="0" strike="noStrike" spc="-1">
                <a:solidFill>
                  <a:srgbClr val="333333"/>
                </a:solidFill>
                <a:latin typeface="Calibri"/>
                <a:ea typeface="Calibri"/>
              </a:rPr>
              <a:t>Static content (images, CSS, JS) that doesn't change frequently.</a:t>
            </a:r>
            <a:endParaRPr lang="en-US" sz="1000" b="0" strike="noStrike" spc="-1">
              <a:solidFill>
                <a:srgbClr val="000000"/>
              </a:solidFill>
              <a:latin typeface="Arial"/>
            </a:endParaRPr>
          </a:p>
          <a:p>
            <a:pPr defTabSz="914400">
              <a:lnSpc>
                <a:spcPct val="100000"/>
              </a:lnSpc>
              <a:tabLst>
                <a:tab pos="0" algn="l"/>
              </a:tabLst>
            </a:pPr>
            <a:endParaRPr lang="en-US" sz="1000" b="0" strike="noStrike" spc="-1">
              <a:solidFill>
                <a:srgbClr val="000000"/>
              </a:solidFill>
              <a:latin typeface="Arial"/>
            </a:endParaRPr>
          </a:p>
          <a:p>
            <a:pPr defTabSz="914400">
              <a:lnSpc>
                <a:spcPct val="100000"/>
              </a:lnSpc>
              <a:tabLst>
                <a:tab pos="0" algn="l"/>
              </a:tabLst>
            </a:pPr>
            <a:r>
              <a:rPr lang="en-US" sz="1000" b="1" strike="noStrike" spc="-1">
                <a:solidFill>
                  <a:srgbClr val="009639"/>
                </a:solidFill>
                <a:latin typeface="Calibri"/>
                <a:ea typeface="Calibri"/>
              </a:rPr>
              <a:t>Cost: </a:t>
            </a:r>
            <a:r>
              <a:rPr lang="en-US" sz="1000" b="0" strike="noStrike" spc="-1">
                <a:solidFill>
                  <a:srgbClr val="333333"/>
                </a:solidFill>
                <a:latin typeface="Calibri"/>
                <a:ea typeface="Calibri"/>
              </a:rPr>
              <a:t>RAM — cached content consumes BIG-IP memory.</a:t>
            </a:r>
            <a:endParaRPr lang="en-US" sz="1000" b="0" strike="noStrike" spc="-1">
              <a:solidFill>
                <a:srgbClr val="000000"/>
              </a:solidFill>
              <a:latin typeface="Arial"/>
            </a:endParaRPr>
          </a:p>
          <a:p>
            <a:pPr defTabSz="914400">
              <a:lnSpc>
                <a:spcPct val="100000"/>
              </a:lnSpc>
              <a:tabLst>
                <a:tab pos="0" algn="l"/>
              </a:tabLst>
            </a:pPr>
            <a:endParaRPr lang="en-US" sz="1000" b="0" strike="noStrike" spc="-1">
              <a:solidFill>
                <a:srgbClr val="000000"/>
              </a:solidFill>
              <a:latin typeface="Arial"/>
            </a:endParaRPr>
          </a:p>
          <a:p>
            <a:pPr defTabSz="914400">
              <a:lnSpc>
                <a:spcPct val="100000"/>
              </a:lnSpc>
              <a:tabLst>
                <a:tab pos="0" algn="l"/>
              </a:tabLst>
            </a:pPr>
            <a:r>
              <a:rPr lang="en-US" sz="1000" b="1" strike="noStrike" spc="-1">
                <a:solidFill>
                  <a:srgbClr val="009639"/>
                </a:solidFill>
                <a:latin typeface="Calibri"/>
                <a:ea typeface="Calibri"/>
              </a:rPr>
              <a:t>Profile: </a:t>
            </a:r>
            <a:r>
              <a:rPr lang="en-US" sz="1000" b="0" strike="noStrike" spc="-1">
                <a:solidFill>
                  <a:srgbClr val="333333"/>
                </a:solidFill>
                <a:latin typeface="Courier New"/>
                <a:ea typeface="Courier New"/>
              </a:rPr>
              <a:t>optimized-caching</a:t>
            </a:r>
            <a:endParaRPr lang="en-US" sz="1000" b="0" strike="noStrike" spc="-1">
              <a:solidFill>
                <a:srgbClr val="000000"/>
              </a:solidFill>
              <a:latin typeface="Arial"/>
            </a:endParaRPr>
          </a:p>
        </p:txBody>
      </p:sp>
      <p:sp>
        <p:nvSpPr>
          <p:cNvPr id="621" name="Shape 16"/>
          <p:cNvSpPr/>
          <p:nvPr/>
        </p:nvSpPr>
        <p:spPr>
          <a:xfrm>
            <a:off x="365760" y="3886200"/>
            <a:ext cx="8412120" cy="731160"/>
          </a:xfrm>
          <a:prstGeom prst="rect">
            <a:avLst/>
          </a:prstGeom>
          <a:solidFill>
            <a:srgbClr val="FFF3E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622" name="Text 17"/>
          <p:cNvSpPr/>
          <p:nvPr/>
        </p:nvSpPr>
        <p:spPr>
          <a:xfrm>
            <a:off x="548640" y="3904560"/>
            <a:ext cx="8046360" cy="694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000" b="1" strike="noStrike" spc="-1">
                <a:solidFill>
                  <a:srgbClr val="F29A36"/>
                </a:solidFill>
                <a:latin typeface="Calibri"/>
                <a:ea typeface="Calibri"/>
              </a:rPr>
              <a:t>Both require HTTP profile. Can be combined: </a:t>
            </a:r>
            <a:r>
              <a:rPr lang="en-US" sz="1000" b="0" strike="noStrike" spc="-1">
                <a:solidFill>
                  <a:srgbClr val="7A4500"/>
                </a:solidFill>
                <a:latin typeface="Calibri"/>
                <a:ea typeface="Calibri"/>
              </a:rPr>
              <a:t>BIG-IP caches the compressed response. Subsequent requests get compressed content from cache without re-compressing or contacting the server. Images (JPEG, PNG) are already compressed — compression won't help them. Use RamCache for static images instead.</a:t>
            </a:r>
            <a:endParaRPr lang="en-US" sz="1000" b="0" strike="noStrike" spc="-1">
              <a:solidFill>
                <a:srgbClr val="000000"/>
              </a:solidFill>
              <a:latin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23"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624"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625"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626"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627"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628"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27    © 2026 F5</a:t>
            </a:r>
            <a:endParaRPr lang="en-US" sz="800" b="0" strike="noStrike" spc="-1">
              <a:solidFill>
                <a:srgbClr val="000000"/>
              </a:solidFill>
              <a:latin typeface="Arial"/>
            </a:endParaRPr>
          </a:p>
        </p:txBody>
      </p:sp>
      <p:pic>
        <p:nvPicPr>
          <p:cNvPr id="629" name="Image 0" descr="preencoded.png"/>
          <p:cNvPicPr/>
          <p:nvPr/>
        </p:nvPicPr>
        <p:blipFill>
          <a:blip r:embed="rId3"/>
          <a:stretch/>
        </p:blipFill>
        <p:spPr>
          <a:xfrm>
            <a:off x="8458200" y="4663440"/>
            <a:ext cx="383760" cy="383760"/>
          </a:xfrm>
          <a:prstGeom prst="rect">
            <a:avLst/>
          </a:prstGeom>
          <a:ln w="0">
            <a:noFill/>
          </a:ln>
        </p:spPr>
      </p:pic>
      <p:sp>
        <p:nvSpPr>
          <p:cNvPr id="630" name="Text 6"/>
          <p:cNvSpPr/>
          <p:nvPr/>
        </p:nvSpPr>
        <p:spPr>
          <a:xfrm>
            <a:off x="457200" y="274320"/>
            <a:ext cx="82292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600" b="1" strike="noStrike" spc="-1">
                <a:solidFill>
                  <a:srgbClr val="000000"/>
                </a:solidFill>
                <a:latin typeface="Arial"/>
                <a:ea typeface="Arial"/>
              </a:rPr>
              <a:t>Three essential iRules patterns</a:t>
            </a:r>
            <a:endParaRPr lang="en-US" sz="2600" b="0" strike="noStrike" spc="-1">
              <a:solidFill>
                <a:srgbClr val="000000"/>
              </a:solidFill>
              <a:latin typeface="Arial"/>
            </a:endParaRPr>
          </a:p>
        </p:txBody>
      </p:sp>
      <p:sp>
        <p:nvSpPr>
          <p:cNvPr id="631" name="Text 7"/>
          <p:cNvSpPr/>
          <p:nvPr/>
        </p:nvSpPr>
        <p:spPr>
          <a:xfrm>
            <a:off x="457200" y="658440"/>
            <a:ext cx="82292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strike="noStrike" spc="-1">
                <a:solidFill>
                  <a:srgbClr val="666666"/>
                </a:solidFill>
                <a:latin typeface="Calibri"/>
                <a:ea typeface="Calibri"/>
              </a:rPr>
              <a:t>These three patterns solve the most common application delivery problems. All require TCP + HTTP profiles.</a:t>
            </a:r>
            <a:endParaRPr lang="en-US" sz="1300" b="0" strike="noStrike" spc="-1">
              <a:solidFill>
                <a:srgbClr val="000000"/>
              </a:solidFill>
              <a:latin typeface="Arial"/>
            </a:endParaRPr>
          </a:p>
        </p:txBody>
      </p:sp>
      <p:sp>
        <p:nvSpPr>
          <p:cNvPr id="632" name="Shape 8"/>
          <p:cNvSpPr/>
          <p:nvPr/>
        </p:nvSpPr>
        <p:spPr>
          <a:xfrm>
            <a:off x="365760" y="1005840"/>
            <a:ext cx="72720" cy="105120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633" name="Shape 9"/>
          <p:cNvSpPr/>
          <p:nvPr/>
        </p:nvSpPr>
        <p:spPr>
          <a:xfrm>
            <a:off x="502920" y="1005840"/>
            <a:ext cx="228240" cy="22824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634" name="Text 10"/>
          <p:cNvSpPr/>
          <p:nvPr/>
        </p:nvSpPr>
        <p:spPr>
          <a:xfrm>
            <a:off x="502920" y="1005840"/>
            <a:ext cx="2282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rgbClr val="FFFFFF"/>
                </a:solidFill>
                <a:latin typeface="Arial"/>
                <a:ea typeface="Arial"/>
              </a:rPr>
              <a:t>1</a:t>
            </a:r>
            <a:endParaRPr lang="en-US" sz="1100" b="0" strike="noStrike" spc="-1">
              <a:solidFill>
                <a:srgbClr val="000000"/>
              </a:solidFill>
              <a:latin typeface="Arial"/>
            </a:endParaRPr>
          </a:p>
        </p:txBody>
      </p:sp>
      <p:sp>
        <p:nvSpPr>
          <p:cNvPr id="635" name="Text 11"/>
          <p:cNvSpPr/>
          <p:nvPr/>
        </p:nvSpPr>
        <p:spPr>
          <a:xfrm>
            <a:off x="822960" y="1005840"/>
            <a:ext cx="27428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
                <a:solidFill>
                  <a:srgbClr val="E4002B"/>
                </a:solidFill>
                <a:latin typeface="Arial"/>
                <a:ea typeface="Arial"/>
              </a:rPr>
              <a:t>HTTP-to-HTTPS redirect</a:t>
            </a:r>
            <a:endParaRPr lang="en-US" sz="1300" b="0" strike="noStrike" spc="-1">
              <a:solidFill>
                <a:srgbClr val="000000"/>
              </a:solidFill>
              <a:latin typeface="Arial"/>
            </a:endParaRPr>
          </a:p>
        </p:txBody>
      </p:sp>
      <p:sp>
        <p:nvSpPr>
          <p:cNvPr id="636" name="Shape 12"/>
          <p:cNvSpPr/>
          <p:nvPr/>
        </p:nvSpPr>
        <p:spPr>
          <a:xfrm>
            <a:off x="502920" y="1280160"/>
            <a:ext cx="3840120" cy="685440"/>
          </a:xfrm>
          <a:prstGeom prst="rect">
            <a:avLst/>
          </a:prstGeom>
          <a:solidFill>
            <a:srgbClr val="1E293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637" name="Text 13"/>
          <p:cNvSpPr/>
          <p:nvPr/>
        </p:nvSpPr>
        <p:spPr>
          <a:xfrm>
            <a:off x="640080" y="1298520"/>
            <a:ext cx="356580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50" b="0" strike="noStrike" spc="-1">
                <a:solidFill>
                  <a:srgbClr val="A5F3FC"/>
                </a:solidFill>
                <a:latin typeface="Courier New"/>
                <a:ea typeface="Courier New"/>
              </a:rPr>
              <a:t>when HTTP_REQUEST {</a:t>
            </a:r>
            <a:endParaRPr lang="en-US" sz="950" b="0" strike="noStrike" spc="-1">
              <a:solidFill>
                <a:srgbClr val="000000"/>
              </a:solidFill>
              <a:latin typeface="Arial"/>
            </a:endParaRPr>
          </a:p>
          <a:p>
            <a:pPr defTabSz="914400">
              <a:lnSpc>
                <a:spcPct val="100000"/>
              </a:lnSpc>
              <a:tabLst>
                <a:tab pos="0" algn="l"/>
              </a:tabLst>
            </a:pPr>
            <a:r>
              <a:rPr lang="en-US" sz="950" b="0" strike="noStrike" spc="-1">
                <a:solidFill>
                  <a:srgbClr val="A5F3FC"/>
                </a:solidFill>
                <a:latin typeface="Courier New"/>
                <a:ea typeface="Courier New"/>
              </a:rPr>
              <a:t>  HTTP::redirect \</a:t>
            </a:r>
            <a:endParaRPr lang="en-US" sz="950" b="0" strike="noStrike" spc="-1">
              <a:solidFill>
                <a:srgbClr val="000000"/>
              </a:solidFill>
              <a:latin typeface="Arial"/>
            </a:endParaRPr>
          </a:p>
          <a:p>
            <a:pPr defTabSz="914400">
              <a:lnSpc>
                <a:spcPct val="100000"/>
              </a:lnSpc>
              <a:tabLst>
                <a:tab pos="0" algn="l"/>
              </a:tabLst>
            </a:pPr>
            <a:r>
              <a:rPr lang="en-US" sz="950" b="0" strike="noStrike" spc="-1">
                <a:solidFill>
                  <a:srgbClr val="A5F3FC"/>
                </a:solidFill>
                <a:latin typeface="Courier New"/>
                <a:ea typeface="Courier New"/>
              </a:rPr>
              <a:t>    https://[HTTP::host][HTTP::uri]</a:t>
            </a:r>
            <a:endParaRPr lang="en-US" sz="950" b="0" strike="noStrike" spc="-1">
              <a:solidFill>
                <a:srgbClr val="000000"/>
              </a:solidFill>
              <a:latin typeface="Arial"/>
            </a:endParaRPr>
          </a:p>
          <a:p>
            <a:pPr defTabSz="914400">
              <a:lnSpc>
                <a:spcPct val="100000"/>
              </a:lnSpc>
              <a:tabLst>
                <a:tab pos="0" algn="l"/>
              </a:tabLst>
            </a:pPr>
            <a:r>
              <a:rPr lang="en-US" sz="950" b="0" strike="noStrike" spc="-1">
                <a:solidFill>
                  <a:srgbClr val="A5F3FC"/>
                </a:solidFill>
                <a:latin typeface="Courier New"/>
                <a:ea typeface="Courier New"/>
              </a:rPr>
              <a:t>}</a:t>
            </a:r>
            <a:endParaRPr lang="en-US" sz="950" b="0" strike="noStrike" spc="-1">
              <a:solidFill>
                <a:srgbClr val="000000"/>
              </a:solidFill>
              <a:latin typeface="Arial"/>
            </a:endParaRPr>
          </a:p>
        </p:txBody>
      </p:sp>
      <p:sp>
        <p:nvSpPr>
          <p:cNvPr id="638" name="Text 14"/>
          <p:cNvSpPr/>
          <p:nvPr/>
        </p:nvSpPr>
        <p:spPr>
          <a:xfrm>
            <a:off x="4572000" y="1051560"/>
            <a:ext cx="4205880" cy="86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900" b="0" strike="noStrike" spc="-1">
                <a:solidFill>
                  <a:srgbClr val="333333"/>
                </a:solidFill>
                <a:latin typeface="Calibri"/>
                <a:ea typeface="Calibri"/>
              </a:rPr>
              <a:t>Redirects all HTTP traffic to HTTPS. Apply to a separate port-80 VS with no pool — traffic goes nowhere except back to the client as a 302 redirect.</a:t>
            </a:r>
            <a:endParaRPr lang="en-US" sz="900" b="0" strike="noStrike" spc="-1">
              <a:solidFill>
                <a:srgbClr val="000000"/>
              </a:solidFill>
              <a:latin typeface="Arial"/>
            </a:endParaRPr>
          </a:p>
        </p:txBody>
      </p:sp>
      <p:sp>
        <p:nvSpPr>
          <p:cNvPr id="639" name="Shape 15"/>
          <p:cNvSpPr/>
          <p:nvPr/>
        </p:nvSpPr>
        <p:spPr>
          <a:xfrm>
            <a:off x="365760" y="2240280"/>
            <a:ext cx="72720" cy="13255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640" name="Shape 16"/>
          <p:cNvSpPr/>
          <p:nvPr/>
        </p:nvSpPr>
        <p:spPr>
          <a:xfrm>
            <a:off x="502920" y="2240280"/>
            <a:ext cx="228240" cy="22824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641" name="Text 17"/>
          <p:cNvSpPr/>
          <p:nvPr/>
        </p:nvSpPr>
        <p:spPr>
          <a:xfrm>
            <a:off x="502920" y="2240280"/>
            <a:ext cx="2282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rgbClr val="FFFFFF"/>
                </a:solidFill>
                <a:latin typeface="Arial"/>
                <a:ea typeface="Arial"/>
              </a:rPr>
              <a:t>2</a:t>
            </a:r>
            <a:endParaRPr lang="en-US" sz="1100" b="0" strike="noStrike" spc="-1">
              <a:solidFill>
                <a:srgbClr val="000000"/>
              </a:solidFill>
              <a:latin typeface="Arial"/>
            </a:endParaRPr>
          </a:p>
        </p:txBody>
      </p:sp>
      <p:sp>
        <p:nvSpPr>
          <p:cNvPr id="642" name="Text 18"/>
          <p:cNvSpPr/>
          <p:nvPr/>
        </p:nvSpPr>
        <p:spPr>
          <a:xfrm>
            <a:off x="822960" y="2240280"/>
            <a:ext cx="27428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
                <a:solidFill>
                  <a:srgbClr val="0E41AA"/>
                </a:solidFill>
                <a:latin typeface="Arial"/>
                <a:ea typeface="Arial"/>
              </a:rPr>
              <a:t>URI-based content switching</a:t>
            </a:r>
            <a:endParaRPr lang="en-US" sz="1300" b="0" strike="noStrike" spc="-1">
              <a:solidFill>
                <a:srgbClr val="000000"/>
              </a:solidFill>
              <a:latin typeface="Arial"/>
            </a:endParaRPr>
          </a:p>
        </p:txBody>
      </p:sp>
      <p:sp>
        <p:nvSpPr>
          <p:cNvPr id="643" name="Shape 19"/>
          <p:cNvSpPr/>
          <p:nvPr/>
        </p:nvSpPr>
        <p:spPr>
          <a:xfrm>
            <a:off x="502920" y="2468520"/>
            <a:ext cx="3840120" cy="1051560"/>
          </a:xfrm>
          <a:prstGeom prst="rect">
            <a:avLst/>
          </a:prstGeom>
          <a:solidFill>
            <a:srgbClr val="1E293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644" name="Text 20"/>
          <p:cNvSpPr/>
          <p:nvPr/>
        </p:nvSpPr>
        <p:spPr>
          <a:xfrm>
            <a:off x="640080" y="2532960"/>
            <a:ext cx="356580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50" b="0" strike="noStrike" spc="-1">
                <a:solidFill>
                  <a:srgbClr val="A5F3FC"/>
                </a:solidFill>
                <a:latin typeface="Courier New"/>
                <a:ea typeface="Courier New"/>
              </a:rPr>
              <a:t>when HTTP_REQUEST {</a:t>
            </a:r>
            <a:endParaRPr lang="en-US" sz="950" b="0" strike="noStrike" spc="-1">
              <a:solidFill>
                <a:srgbClr val="000000"/>
              </a:solidFill>
              <a:latin typeface="Arial"/>
            </a:endParaRPr>
          </a:p>
          <a:p>
            <a:pPr defTabSz="914400">
              <a:lnSpc>
                <a:spcPct val="100000"/>
              </a:lnSpc>
              <a:tabLst>
                <a:tab pos="0" algn="l"/>
              </a:tabLst>
            </a:pPr>
            <a:r>
              <a:rPr lang="en-US" sz="950" b="0" strike="noStrike" spc="-1">
                <a:solidFill>
                  <a:srgbClr val="A5F3FC"/>
                </a:solidFill>
                <a:latin typeface="Courier New"/>
                <a:ea typeface="Courier New"/>
              </a:rPr>
              <a:t>  switch -glob [HTTP::uri] {</a:t>
            </a:r>
            <a:endParaRPr lang="en-US" sz="950" b="0" strike="noStrike" spc="-1">
              <a:solidFill>
                <a:srgbClr val="000000"/>
              </a:solidFill>
              <a:latin typeface="Arial"/>
            </a:endParaRPr>
          </a:p>
          <a:p>
            <a:pPr defTabSz="914400">
              <a:lnSpc>
                <a:spcPct val="100000"/>
              </a:lnSpc>
              <a:tabLst>
                <a:tab pos="0" algn="l"/>
              </a:tabLst>
            </a:pPr>
            <a:r>
              <a:rPr lang="en-US" sz="950" b="0" strike="noStrike" spc="-1">
                <a:solidFill>
                  <a:srgbClr val="A5F3FC"/>
                </a:solidFill>
                <a:latin typeface="Courier New"/>
                <a:ea typeface="Courier New"/>
              </a:rPr>
              <a:t>    "/api/*"    { pool api_pool }</a:t>
            </a:r>
            <a:endParaRPr lang="en-US" sz="950" b="0" strike="noStrike" spc="-1">
              <a:solidFill>
                <a:srgbClr val="000000"/>
              </a:solidFill>
              <a:latin typeface="Arial"/>
            </a:endParaRPr>
          </a:p>
          <a:p>
            <a:pPr defTabSz="914400">
              <a:lnSpc>
                <a:spcPct val="100000"/>
              </a:lnSpc>
              <a:tabLst>
                <a:tab pos="0" algn="l"/>
              </a:tabLst>
            </a:pPr>
            <a:r>
              <a:rPr lang="en-US" sz="950" b="0" strike="noStrike" spc="-1">
                <a:solidFill>
                  <a:srgbClr val="A5F3FC"/>
                </a:solidFill>
                <a:latin typeface="Courier New"/>
                <a:ea typeface="Courier New"/>
              </a:rPr>
              <a:t>    "/images/*" { pool static_pool }</a:t>
            </a:r>
            <a:endParaRPr lang="en-US" sz="950" b="0" strike="noStrike" spc="-1">
              <a:solidFill>
                <a:srgbClr val="000000"/>
              </a:solidFill>
              <a:latin typeface="Arial"/>
            </a:endParaRPr>
          </a:p>
          <a:p>
            <a:pPr defTabSz="914400">
              <a:lnSpc>
                <a:spcPct val="100000"/>
              </a:lnSpc>
              <a:tabLst>
                <a:tab pos="0" algn="l"/>
              </a:tabLst>
            </a:pPr>
            <a:r>
              <a:rPr lang="en-US" sz="950" b="0" strike="noStrike" spc="-1">
                <a:solidFill>
                  <a:srgbClr val="A5F3FC"/>
                </a:solidFill>
                <a:latin typeface="Courier New"/>
                <a:ea typeface="Courier New"/>
              </a:rPr>
              <a:t>    default     { pool web_pool }</a:t>
            </a:r>
            <a:endParaRPr lang="en-US" sz="950" b="0" strike="noStrike" spc="-1">
              <a:solidFill>
                <a:srgbClr val="000000"/>
              </a:solidFill>
              <a:latin typeface="Arial"/>
            </a:endParaRPr>
          </a:p>
          <a:p>
            <a:pPr defTabSz="914400">
              <a:lnSpc>
                <a:spcPct val="100000"/>
              </a:lnSpc>
              <a:tabLst>
                <a:tab pos="0" algn="l"/>
              </a:tabLst>
            </a:pPr>
            <a:r>
              <a:rPr lang="en-US" sz="950" b="0" strike="noStrike" spc="-1">
                <a:solidFill>
                  <a:srgbClr val="A5F3FC"/>
                </a:solidFill>
                <a:latin typeface="Courier New"/>
                <a:ea typeface="Courier New"/>
              </a:rPr>
              <a:t>  }</a:t>
            </a:r>
            <a:endParaRPr lang="en-US" sz="950" b="0" strike="noStrike" spc="-1">
              <a:solidFill>
                <a:srgbClr val="000000"/>
              </a:solidFill>
              <a:latin typeface="Arial"/>
            </a:endParaRPr>
          </a:p>
          <a:p>
            <a:pPr defTabSz="914400">
              <a:lnSpc>
                <a:spcPct val="100000"/>
              </a:lnSpc>
              <a:tabLst>
                <a:tab pos="0" algn="l"/>
              </a:tabLst>
            </a:pPr>
            <a:r>
              <a:rPr lang="en-US" sz="950" b="0" strike="noStrike" spc="-1">
                <a:solidFill>
                  <a:srgbClr val="A5F3FC"/>
                </a:solidFill>
                <a:latin typeface="Courier New"/>
                <a:ea typeface="Courier New"/>
              </a:rPr>
              <a:t>}</a:t>
            </a:r>
            <a:endParaRPr lang="en-US" sz="950" b="0" strike="noStrike" spc="-1">
              <a:solidFill>
                <a:srgbClr val="000000"/>
              </a:solidFill>
              <a:latin typeface="Arial"/>
            </a:endParaRPr>
          </a:p>
        </p:txBody>
      </p:sp>
      <p:sp>
        <p:nvSpPr>
          <p:cNvPr id="645" name="Text 21"/>
          <p:cNvSpPr/>
          <p:nvPr/>
        </p:nvSpPr>
        <p:spPr>
          <a:xfrm>
            <a:off x="4572000" y="2286000"/>
            <a:ext cx="4205880" cy="1234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900" b="1" strike="noStrike" spc="-1">
                <a:solidFill>
                  <a:srgbClr val="0E41AA"/>
                </a:solidFill>
                <a:latin typeface="Calibri"/>
                <a:ea typeface="Calibri"/>
              </a:rPr>
              <a:t>Routes requests to different pools based on URI path. </a:t>
            </a:r>
            <a:r>
              <a:rPr lang="en-US" sz="900" b="0" strike="noStrike" spc="-1">
                <a:solidFill>
                  <a:srgbClr val="333333"/>
                </a:solidFill>
                <a:latin typeface="Calibri"/>
                <a:ea typeface="Calibri"/>
              </a:rPr>
              <a:t>API calls go to api_pool, static assets to static_pool, everything else to web_pool. The switch -glob enables wildcard matching. This is one of the most common production iRules.</a:t>
            </a:r>
            <a:endParaRPr lang="en-US" sz="900" b="0" strike="noStrike" spc="-1">
              <a:solidFill>
                <a:srgbClr val="000000"/>
              </a:solidFill>
              <a:latin typeface="Arial"/>
            </a:endParaRPr>
          </a:p>
        </p:txBody>
      </p:sp>
      <p:sp>
        <p:nvSpPr>
          <p:cNvPr id="646" name="Shape 22"/>
          <p:cNvSpPr/>
          <p:nvPr/>
        </p:nvSpPr>
        <p:spPr>
          <a:xfrm>
            <a:off x="365760" y="3749040"/>
            <a:ext cx="72720" cy="914040"/>
          </a:xfrm>
          <a:prstGeom prst="rect">
            <a:avLst/>
          </a:prstGeom>
          <a:solidFill>
            <a:srgbClr val="00963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647" name="Shape 23"/>
          <p:cNvSpPr/>
          <p:nvPr/>
        </p:nvSpPr>
        <p:spPr>
          <a:xfrm>
            <a:off x="502920" y="3749040"/>
            <a:ext cx="228240" cy="228240"/>
          </a:xfrm>
          <a:prstGeom prst="rect">
            <a:avLst/>
          </a:prstGeom>
          <a:solidFill>
            <a:srgbClr val="00963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648" name="Text 24"/>
          <p:cNvSpPr/>
          <p:nvPr/>
        </p:nvSpPr>
        <p:spPr>
          <a:xfrm>
            <a:off x="502920" y="3749040"/>
            <a:ext cx="2282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rgbClr val="FFFFFF"/>
                </a:solidFill>
                <a:latin typeface="Arial"/>
                <a:ea typeface="Arial"/>
              </a:rPr>
              <a:t>3</a:t>
            </a:r>
            <a:endParaRPr lang="en-US" sz="1100" b="0" strike="noStrike" spc="-1">
              <a:solidFill>
                <a:srgbClr val="000000"/>
              </a:solidFill>
              <a:latin typeface="Arial"/>
            </a:endParaRPr>
          </a:p>
        </p:txBody>
      </p:sp>
      <p:sp>
        <p:nvSpPr>
          <p:cNvPr id="649" name="Text 25"/>
          <p:cNvSpPr/>
          <p:nvPr/>
        </p:nvSpPr>
        <p:spPr>
          <a:xfrm>
            <a:off x="822960" y="3749040"/>
            <a:ext cx="27428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
                <a:solidFill>
                  <a:srgbClr val="009639"/>
                </a:solidFill>
                <a:latin typeface="Arial"/>
                <a:ea typeface="Arial"/>
              </a:rPr>
              <a:t>HTTP header insertion</a:t>
            </a:r>
            <a:endParaRPr lang="en-US" sz="1300" b="0" strike="noStrike" spc="-1">
              <a:solidFill>
                <a:srgbClr val="000000"/>
              </a:solidFill>
              <a:latin typeface="Arial"/>
            </a:endParaRPr>
          </a:p>
        </p:txBody>
      </p:sp>
      <p:sp>
        <p:nvSpPr>
          <p:cNvPr id="650" name="Shape 26"/>
          <p:cNvSpPr/>
          <p:nvPr/>
        </p:nvSpPr>
        <p:spPr>
          <a:xfrm>
            <a:off x="502920" y="4023360"/>
            <a:ext cx="3840120" cy="594000"/>
          </a:xfrm>
          <a:prstGeom prst="rect">
            <a:avLst/>
          </a:prstGeom>
          <a:solidFill>
            <a:srgbClr val="1E293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651" name="Text 27"/>
          <p:cNvSpPr/>
          <p:nvPr/>
        </p:nvSpPr>
        <p:spPr>
          <a:xfrm>
            <a:off x="640080" y="4041720"/>
            <a:ext cx="356580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50" b="0" strike="noStrike" spc="-1">
                <a:solidFill>
                  <a:srgbClr val="A5F3FC"/>
                </a:solidFill>
                <a:latin typeface="Courier New"/>
                <a:ea typeface="Courier New"/>
              </a:rPr>
              <a:t>when HTTP_REQUEST {</a:t>
            </a:r>
            <a:endParaRPr lang="en-US" sz="950" b="0" strike="noStrike" spc="-1">
              <a:solidFill>
                <a:srgbClr val="000000"/>
              </a:solidFill>
              <a:latin typeface="Arial"/>
            </a:endParaRPr>
          </a:p>
          <a:p>
            <a:pPr defTabSz="914400">
              <a:lnSpc>
                <a:spcPct val="100000"/>
              </a:lnSpc>
              <a:tabLst>
                <a:tab pos="0" algn="l"/>
              </a:tabLst>
            </a:pPr>
            <a:r>
              <a:rPr lang="en-US" sz="950" b="0" strike="noStrike" spc="-1">
                <a:solidFill>
                  <a:srgbClr val="A5F3FC"/>
                </a:solidFill>
                <a:latin typeface="Courier New"/>
                <a:ea typeface="Courier New"/>
              </a:rPr>
              <a:t>  HTTP::header insert "X-Client-IP" \</a:t>
            </a:r>
            <a:endParaRPr lang="en-US" sz="950" b="0" strike="noStrike" spc="-1">
              <a:solidFill>
                <a:srgbClr val="000000"/>
              </a:solidFill>
              <a:latin typeface="Arial"/>
            </a:endParaRPr>
          </a:p>
          <a:p>
            <a:pPr defTabSz="914400">
              <a:lnSpc>
                <a:spcPct val="100000"/>
              </a:lnSpc>
              <a:tabLst>
                <a:tab pos="0" algn="l"/>
              </a:tabLst>
            </a:pPr>
            <a:r>
              <a:rPr lang="en-US" sz="950" b="0" strike="noStrike" spc="-1">
                <a:solidFill>
                  <a:srgbClr val="A5F3FC"/>
                </a:solidFill>
                <a:latin typeface="Courier New"/>
                <a:ea typeface="Courier New"/>
              </a:rPr>
              <a:t>    [IP::client_addr]</a:t>
            </a:r>
            <a:endParaRPr lang="en-US" sz="950" b="0" strike="noStrike" spc="-1">
              <a:solidFill>
                <a:srgbClr val="000000"/>
              </a:solidFill>
              <a:latin typeface="Arial"/>
            </a:endParaRPr>
          </a:p>
          <a:p>
            <a:pPr defTabSz="914400">
              <a:lnSpc>
                <a:spcPct val="100000"/>
              </a:lnSpc>
              <a:tabLst>
                <a:tab pos="0" algn="l"/>
              </a:tabLst>
            </a:pPr>
            <a:r>
              <a:rPr lang="en-US" sz="950" b="0" strike="noStrike" spc="-1">
                <a:solidFill>
                  <a:srgbClr val="A5F3FC"/>
                </a:solidFill>
                <a:latin typeface="Courier New"/>
                <a:ea typeface="Courier New"/>
              </a:rPr>
              <a:t>}</a:t>
            </a:r>
            <a:endParaRPr lang="en-US" sz="950" b="0" strike="noStrike" spc="-1">
              <a:solidFill>
                <a:srgbClr val="000000"/>
              </a:solidFill>
              <a:latin typeface="Arial"/>
            </a:endParaRPr>
          </a:p>
        </p:txBody>
      </p:sp>
      <p:sp>
        <p:nvSpPr>
          <p:cNvPr id="652" name="Text 28"/>
          <p:cNvSpPr/>
          <p:nvPr/>
        </p:nvSpPr>
        <p:spPr>
          <a:xfrm>
            <a:off x="4572000" y="3749040"/>
            <a:ext cx="4205880" cy="86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900" b="1" strike="noStrike" spc="-1">
                <a:solidFill>
                  <a:srgbClr val="009639"/>
                </a:solidFill>
                <a:latin typeface="Calibri"/>
                <a:ea typeface="Calibri"/>
              </a:rPr>
              <a:t>Inserts a custom header with original client IP. </a:t>
            </a:r>
            <a:r>
              <a:rPr lang="en-US" sz="900" b="0" strike="noStrike" spc="-1">
                <a:solidFill>
                  <a:srgbClr val="333333"/>
                </a:solidFill>
                <a:latin typeface="Calibri"/>
                <a:ea typeface="Calibri"/>
              </a:rPr>
              <a:t>Useful when XFF isn't sufficient or for passing client metadata to the server. Can also insert X-Request-ID for tracing, or remove headers on responses using HTTP_RESPONSE.</a:t>
            </a:r>
            <a:endParaRPr lang="en-US" sz="900" b="0" strike="noStrike" spc="-1">
              <a:solidFill>
                <a:srgbClr val="000000"/>
              </a:solidFill>
              <a:latin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53"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654"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655"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656"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657"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658"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28    © 2026 F5</a:t>
            </a:r>
            <a:endParaRPr lang="en-US" sz="800" b="0" strike="noStrike" spc="-1">
              <a:solidFill>
                <a:srgbClr val="000000"/>
              </a:solidFill>
              <a:latin typeface="Arial"/>
            </a:endParaRPr>
          </a:p>
        </p:txBody>
      </p:sp>
      <p:pic>
        <p:nvPicPr>
          <p:cNvPr id="659" name="Image 0" descr="preencoded.png"/>
          <p:cNvPicPr/>
          <p:nvPr/>
        </p:nvPicPr>
        <p:blipFill>
          <a:blip r:embed="rId3"/>
          <a:stretch/>
        </p:blipFill>
        <p:spPr>
          <a:xfrm>
            <a:off x="8458200" y="4663440"/>
            <a:ext cx="383760" cy="383760"/>
          </a:xfrm>
          <a:prstGeom prst="rect">
            <a:avLst/>
          </a:prstGeom>
          <a:ln w="0">
            <a:noFill/>
          </a:ln>
        </p:spPr>
      </p:pic>
      <p:sp>
        <p:nvSpPr>
          <p:cNvPr id="660" name="Text 6"/>
          <p:cNvSpPr/>
          <p:nvPr/>
        </p:nvSpPr>
        <p:spPr>
          <a:xfrm>
            <a:off x="457200" y="274320"/>
            <a:ext cx="7314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Lab 2 - Hands-on exercises</a:t>
            </a:r>
            <a:endParaRPr lang="en-US" sz="2800" b="0" strike="noStrike" spc="-1">
              <a:solidFill>
                <a:srgbClr val="000000"/>
              </a:solidFill>
              <a:latin typeface="Arial"/>
            </a:endParaRPr>
          </a:p>
        </p:txBody>
      </p:sp>
      <p:sp>
        <p:nvSpPr>
          <p:cNvPr id="661" name="Text 7"/>
          <p:cNvSpPr/>
          <p:nvPr/>
        </p:nvSpPr>
        <p:spPr>
          <a:xfrm>
            <a:off x="457200" y="685800"/>
            <a:ext cx="7314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009639"/>
                </a:solidFill>
                <a:latin typeface="Calibri"/>
                <a:ea typeface="Calibri"/>
              </a:rPr>
              <a:t>45 minutes  |  Lab guide: Module 2</a:t>
            </a:r>
            <a:endParaRPr lang="en-US" sz="1400" b="0" strike="noStrike" spc="-1">
              <a:solidFill>
                <a:srgbClr val="000000"/>
              </a:solidFill>
              <a:latin typeface="Arial"/>
            </a:endParaRPr>
          </a:p>
        </p:txBody>
      </p:sp>
      <p:graphicFrame>
        <p:nvGraphicFramePr>
          <p:cNvPr id="662" name="Table 0"/>
          <p:cNvGraphicFramePr/>
          <p:nvPr/>
        </p:nvGraphicFramePr>
        <p:xfrm>
          <a:off x="365760" y="1005840"/>
          <a:ext cx="7772400" cy="2148840"/>
        </p:xfrm>
        <a:graphic>
          <a:graphicData uri="http://schemas.openxmlformats.org/drawingml/2006/table">
            <a:tbl>
              <a:tblPr/>
              <a:tblGrid>
                <a:gridCol w="36576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5349240">
                  <a:extLst>
                    <a:ext uri="{9D8B030D-6E8A-4147-A177-3AD203B41FA5}">
                      <a16:colId xmlns:a16="http://schemas.microsoft.com/office/drawing/2014/main" val="20002"/>
                    </a:ext>
                  </a:extLst>
                </a:gridCol>
                <a:gridCol w="594360">
                  <a:extLst>
                    <a:ext uri="{9D8B030D-6E8A-4147-A177-3AD203B41FA5}">
                      <a16:colId xmlns:a16="http://schemas.microsoft.com/office/drawing/2014/main" val="20003"/>
                    </a:ext>
                  </a:extLst>
                </a:gridCol>
              </a:tblGrid>
              <a:tr h="274320">
                <a:tc>
                  <a:txBody>
                    <a:bodyPr/>
                    <a:lstStyle/>
                    <a:p>
                      <a:pPr algn="ctr" defTabSz="914400">
                        <a:lnSpc>
                          <a:spcPct val="100000"/>
                        </a:lnSpc>
                        <a:tabLst>
                          <a:tab pos="0" algn="l"/>
                        </a:tabLst>
                      </a:pPr>
                      <a:r>
                        <a:rPr lang="en-US" sz="1000" b="1" strike="noStrike" spc="-1">
                          <a:solidFill>
                            <a:srgbClr val="FFFFFF"/>
                          </a:solidFill>
                          <a:latin typeface="Calibri"/>
                        </a:rPr>
                        <a:t>#</a:t>
                      </a:r>
                      <a:endParaRPr lang="en-US" sz="1000" b="0" strike="noStrike" spc="-1">
                        <a:solidFill>
                          <a:srgbClr val="FFFFFF"/>
                        </a:solidFill>
                        <a:latin typeface="Arial"/>
                      </a:endParaRPr>
                    </a:p>
                  </a:txBody>
                  <a:tcPr marL="75960" marR="759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09639"/>
                    </a:solidFill>
                  </a:tcPr>
                </a:tc>
                <a:tc>
                  <a:txBody>
                    <a:bodyPr/>
                    <a:lstStyle/>
                    <a:p>
                      <a:pPr defTabSz="914400">
                        <a:lnSpc>
                          <a:spcPct val="100000"/>
                        </a:lnSpc>
                        <a:tabLst>
                          <a:tab pos="0" algn="l"/>
                        </a:tabLst>
                      </a:pPr>
                      <a:r>
                        <a:rPr lang="en-US" sz="1100" b="1" strike="noStrike" spc="-1">
                          <a:solidFill>
                            <a:srgbClr val="FFFFFF"/>
                          </a:solidFill>
                          <a:latin typeface="Calibri"/>
                        </a:rPr>
                        <a:t>Activity</a:t>
                      </a:r>
                      <a:endParaRPr lang="en-US" sz="1100" b="0" strike="noStrike" spc="-1">
                        <a:solidFill>
                          <a:srgbClr val="FFFFFF"/>
                        </a:solidFill>
                        <a:latin typeface="Arial"/>
                      </a:endParaRPr>
                    </a:p>
                  </a:txBody>
                  <a:tcPr marL="75960" marR="759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09639"/>
                    </a:solidFill>
                  </a:tcPr>
                </a:tc>
                <a:tc>
                  <a:txBody>
                    <a:bodyPr/>
                    <a:lstStyle/>
                    <a:p>
                      <a:pPr defTabSz="914400">
                        <a:lnSpc>
                          <a:spcPct val="100000"/>
                        </a:lnSpc>
                        <a:tabLst>
                          <a:tab pos="0" algn="l"/>
                        </a:tabLst>
                      </a:pPr>
                      <a:r>
                        <a:rPr lang="en-US" sz="1100" b="1" strike="noStrike" spc="-1">
                          <a:solidFill>
                            <a:srgbClr val="FFFFFF"/>
                          </a:solidFill>
                          <a:latin typeface="Calibri"/>
                        </a:rPr>
                        <a:t>Key tasks</a:t>
                      </a:r>
                      <a:endParaRPr lang="en-US" sz="1100" b="0" strike="noStrike" spc="-1">
                        <a:solidFill>
                          <a:srgbClr val="FFFFFF"/>
                        </a:solidFill>
                        <a:latin typeface="Arial"/>
                      </a:endParaRPr>
                    </a:p>
                  </a:txBody>
                  <a:tcPr marL="75960" marR="759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09639"/>
                    </a:solidFill>
                  </a:tcPr>
                </a:tc>
                <a:tc>
                  <a:txBody>
                    <a:bodyPr/>
                    <a:lstStyle/>
                    <a:p>
                      <a:pPr algn="ctr" defTabSz="914400">
                        <a:lnSpc>
                          <a:spcPct val="100000"/>
                        </a:lnSpc>
                        <a:tabLst>
                          <a:tab pos="0" algn="l"/>
                        </a:tabLst>
                      </a:pPr>
                      <a:r>
                        <a:rPr lang="en-US" sz="1000" b="1" strike="noStrike" spc="-1">
                          <a:solidFill>
                            <a:srgbClr val="FFFFFF"/>
                          </a:solidFill>
                          <a:latin typeface="Calibri"/>
                        </a:rPr>
                        <a:t>Time</a:t>
                      </a:r>
                      <a:endParaRPr lang="en-US" sz="1000" b="0" strike="noStrike" spc="-1">
                        <a:solidFill>
                          <a:srgbClr val="FFFFFF"/>
                        </a:solidFill>
                        <a:latin typeface="Arial"/>
                      </a:endParaRPr>
                    </a:p>
                  </a:txBody>
                  <a:tcPr marL="75960" marR="759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09639"/>
                    </a:solidFill>
                  </a:tcPr>
                </a:tc>
                <a:extLst>
                  <a:ext uri="{0D108BD9-81ED-4DB2-BD59-A6C34878D82A}">
                    <a16:rowId xmlns:a16="http://schemas.microsoft.com/office/drawing/2014/main" val="10000"/>
                  </a:ext>
                </a:extLst>
              </a:tr>
              <a:tr h="457200">
                <a:tc>
                  <a:txBody>
                    <a:bodyPr/>
                    <a:lstStyle/>
                    <a:p>
                      <a:pPr algn="ctr" defTabSz="914400">
                        <a:lnSpc>
                          <a:spcPct val="100000"/>
                        </a:lnSpc>
                        <a:tabLst>
                          <a:tab pos="0" algn="l"/>
                        </a:tabLst>
                      </a:pPr>
                      <a:r>
                        <a:rPr lang="en-US" sz="1100" b="0" strike="noStrike" spc="-1">
                          <a:solidFill>
                            <a:srgbClr val="000000"/>
                          </a:solidFill>
                          <a:latin typeface="Calibri"/>
                        </a:rPr>
                        <a:t>1</a:t>
                      </a:r>
                      <a:endParaRPr lang="en-US" sz="1100" b="0" strike="noStrike" spc="-1">
                        <a:solidFill>
                          <a:srgbClr val="000000"/>
                        </a:solidFill>
                        <a:latin typeface="Arial"/>
                      </a:endParaRPr>
                    </a:p>
                  </a:txBody>
                  <a:tcPr marL="75960" marR="759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1100" b="1" strike="noStrike" spc="-1">
                          <a:solidFill>
                            <a:srgbClr val="000000"/>
                          </a:solidFill>
                          <a:latin typeface="Calibri"/>
                        </a:rPr>
                        <a:t>Working with Profiles</a:t>
                      </a:r>
                      <a:endParaRPr lang="en-US" sz="1100" b="0" strike="noStrike" spc="-1">
                        <a:solidFill>
                          <a:srgbClr val="000000"/>
                        </a:solidFill>
                        <a:latin typeface="Arial"/>
                      </a:endParaRPr>
                    </a:p>
                  </a:txBody>
                  <a:tcPr marL="75960" marR="759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1000" b="0" strike="noStrike" spc="-1">
                          <a:solidFill>
                            <a:srgbClr val="333333"/>
                          </a:solidFill>
                          <a:latin typeface="Calibri"/>
                        </a:rPr>
                        <a:t>Build secure_vs, discover profile dependencies through deliberate failures (SSL, HTTP, cookie persistence).</a:t>
                      </a:r>
                      <a:endParaRPr lang="en-US" sz="1000" b="0" strike="noStrike" spc="-1">
                        <a:solidFill>
                          <a:srgbClr val="000000"/>
                        </a:solidFill>
                        <a:latin typeface="Arial"/>
                      </a:endParaRPr>
                    </a:p>
                  </a:txBody>
                  <a:tcPr marL="75960" marR="759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algn="ctr" defTabSz="914400">
                        <a:lnSpc>
                          <a:spcPct val="100000"/>
                        </a:lnSpc>
                        <a:tabLst>
                          <a:tab pos="0" algn="l"/>
                        </a:tabLst>
                      </a:pPr>
                      <a:r>
                        <a:rPr lang="en-US" sz="1000" b="0" strike="noStrike" spc="-1">
                          <a:solidFill>
                            <a:srgbClr val="666666"/>
                          </a:solidFill>
                          <a:latin typeface="Calibri"/>
                        </a:rPr>
                        <a:t>10m</a:t>
                      </a:r>
                      <a:endParaRPr lang="en-US" sz="1000" b="0" strike="noStrike" spc="-1">
                        <a:solidFill>
                          <a:srgbClr val="000000"/>
                        </a:solidFill>
                        <a:latin typeface="Arial"/>
                      </a:endParaRPr>
                    </a:p>
                  </a:txBody>
                  <a:tcPr marL="75960" marR="759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1"/>
                  </a:ext>
                </a:extLst>
              </a:tr>
              <a:tr h="502920">
                <a:tc>
                  <a:txBody>
                    <a:bodyPr/>
                    <a:lstStyle/>
                    <a:p>
                      <a:pPr algn="ctr" defTabSz="914400">
                        <a:lnSpc>
                          <a:spcPct val="100000"/>
                        </a:lnSpc>
                        <a:tabLst>
                          <a:tab pos="0" algn="l"/>
                        </a:tabLst>
                      </a:pPr>
                      <a:r>
                        <a:rPr lang="en-US" sz="1100" b="0" strike="noStrike" spc="-1">
                          <a:solidFill>
                            <a:srgbClr val="000000"/>
                          </a:solidFill>
                          <a:latin typeface="Calibri"/>
                        </a:rPr>
                        <a:t>2</a:t>
                      </a:r>
                      <a:endParaRPr lang="en-US" sz="1100" b="0" strike="noStrike" spc="-1">
                        <a:solidFill>
                          <a:srgbClr val="000000"/>
                        </a:solidFill>
                        <a:latin typeface="Arial"/>
                      </a:endParaRPr>
                    </a:p>
                  </a:txBody>
                  <a:tcPr marL="75960" marR="759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1100" b="1" strike="noStrike" spc="-1">
                          <a:solidFill>
                            <a:srgbClr val="000000"/>
                          </a:solidFill>
                          <a:latin typeface="Calibri"/>
                        </a:rPr>
                        <a:t>Application Acceleration</a:t>
                      </a:r>
                      <a:endParaRPr lang="en-US" sz="1100" b="0" strike="noStrike" spc="-1">
                        <a:solidFill>
                          <a:srgbClr val="000000"/>
                        </a:solidFill>
                        <a:latin typeface="Arial"/>
                      </a:endParaRPr>
                    </a:p>
                  </a:txBody>
                  <a:tcPr marL="75960" marR="759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1000" b="0" strike="noStrike" spc="-1">
                          <a:solidFill>
                            <a:srgbClr val="333333"/>
                          </a:solidFill>
                          <a:latin typeface="Calibri"/>
                        </a:rPr>
                        <a:t>TCP Express (wan/lan profiles), RamCache, HTTP Compression. Compare statistics.</a:t>
                      </a:r>
                      <a:endParaRPr lang="en-US" sz="1000" b="0" strike="noStrike" spc="-1">
                        <a:solidFill>
                          <a:srgbClr val="000000"/>
                        </a:solidFill>
                        <a:latin typeface="Arial"/>
                      </a:endParaRPr>
                    </a:p>
                  </a:txBody>
                  <a:tcPr marL="75960" marR="759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algn="ctr" defTabSz="914400">
                        <a:lnSpc>
                          <a:spcPct val="100000"/>
                        </a:lnSpc>
                        <a:tabLst>
                          <a:tab pos="0" algn="l"/>
                        </a:tabLst>
                      </a:pPr>
                      <a:r>
                        <a:rPr lang="en-US" sz="1000" b="0" strike="noStrike" spc="-1">
                          <a:solidFill>
                            <a:srgbClr val="666666"/>
                          </a:solidFill>
                          <a:latin typeface="Calibri"/>
                        </a:rPr>
                        <a:t>15m</a:t>
                      </a:r>
                      <a:endParaRPr lang="en-US" sz="1000" b="0" strike="noStrike" spc="-1">
                        <a:solidFill>
                          <a:srgbClr val="000000"/>
                        </a:solidFill>
                        <a:latin typeface="Arial"/>
                      </a:endParaRPr>
                    </a:p>
                  </a:txBody>
                  <a:tcPr marL="75960" marR="759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2"/>
                  </a:ext>
                </a:extLst>
              </a:tr>
              <a:tr h="457200">
                <a:tc>
                  <a:txBody>
                    <a:bodyPr/>
                    <a:lstStyle/>
                    <a:p>
                      <a:pPr algn="ctr" defTabSz="914400">
                        <a:lnSpc>
                          <a:spcPct val="100000"/>
                        </a:lnSpc>
                        <a:tabLst>
                          <a:tab pos="0" algn="l"/>
                        </a:tabLst>
                      </a:pPr>
                      <a:r>
                        <a:rPr lang="en-US" sz="1100" b="0" strike="noStrike" spc="-1">
                          <a:solidFill>
                            <a:srgbClr val="000000"/>
                          </a:solidFill>
                          <a:latin typeface="Calibri"/>
                        </a:rPr>
                        <a:t>3</a:t>
                      </a:r>
                      <a:endParaRPr lang="en-US" sz="1100" b="0" strike="noStrike" spc="-1">
                        <a:solidFill>
                          <a:srgbClr val="000000"/>
                        </a:solidFill>
                        <a:latin typeface="Arial"/>
                      </a:endParaRPr>
                    </a:p>
                  </a:txBody>
                  <a:tcPr marL="75960" marR="759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1100" b="1" strike="noStrike" spc="-1">
                          <a:solidFill>
                            <a:srgbClr val="000000"/>
                          </a:solidFill>
                          <a:latin typeface="Calibri"/>
                        </a:rPr>
                        <a:t>Securing Web Apps</a:t>
                      </a:r>
                      <a:endParaRPr lang="en-US" sz="1100" b="0" strike="noStrike" spc="-1">
                        <a:solidFill>
                          <a:srgbClr val="000000"/>
                        </a:solidFill>
                        <a:latin typeface="Arial"/>
                      </a:endParaRPr>
                    </a:p>
                  </a:txBody>
                  <a:tcPr marL="75960" marR="759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1000" b="0" strike="noStrike" spc="-1">
                          <a:solidFill>
                            <a:srgbClr val="333333"/>
                          </a:solidFill>
                          <a:latin typeface="Calibri"/>
                        </a:rPr>
                        <a:t>Custom HTTP profile: fallback host, error cloaking, header scrubbing, cookie encryption, XFF.</a:t>
                      </a:r>
                      <a:endParaRPr lang="en-US" sz="1000" b="0" strike="noStrike" spc="-1">
                        <a:solidFill>
                          <a:srgbClr val="000000"/>
                        </a:solidFill>
                        <a:latin typeface="Arial"/>
                      </a:endParaRPr>
                    </a:p>
                  </a:txBody>
                  <a:tcPr marL="75960" marR="759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algn="ctr" defTabSz="914400">
                        <a:lnSpc>
                          <a:spcPct val="100000"/>
                        </a:lnSpc>
                        <a:tabLst>
                          <a:tab pos="0" algn="l"/>
                        </a:tabLst>
                      </a:pPr>
                      <a:r>
                        <a:rPr lang="en-US" sz="1000" b="0" strike="noStrike" spc="-1">
                          <a:solidFill>
                            <a:srgbClr val="666666"/>
                          </a:solidFill>
                          <a:latin typeface="Calibri"/>
                        </a:rPr>
                        <a:t>10m</a:t>
                      </a:r>
                      <a:endParaRPr lang="en-US" sz="1000" b="0" strike="noStrike" spc="-1">
                        <a:solidFill>
                          <a:srgbClr val="000000"/>
                        </a:solidFill>
                        <a:latin typeface="Arial"/>
                      </a:endParaRPr>
                    </a:p>
                  </a:txBody>
                  <a:tcPr marL="75960" marR="759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3"/>
                  </a:ext>
                </a:extLst>
              </a:tr>
              <a:tr h="457200">
                <a:tc>
                  <a:txBody>
                    <a:bodyPr/>
                    <a:lstStyle/>
                    <a:p>
                      <a:pPr algn="ctr" defTabSz="914400">
                        <a:lnSpc>
                          <a:spcPct val="100000"/>
                        </a:lnSpc>
                        <a:tabLst>
                          <a:tab pos="0" algn="l"/>
                        </a:tabLst>
                      </a:pPr>
                      <a:r>
                        <a:rPr lang="en-US" sz="1100" b="0" strike="noStrike" spc="-1">
                          <a:solidFill>
                            <a:srgbClr val="000000"/>
                          </a:solidFill>
                          <a:latin typeface="Calibri"/>
                        </a:rPr>
                        <a:t>4</a:t>
                      </a:r>
                      <a:endParaRPr lang="en-US" sz="1100" b="0" strike="noStrike" spc="-1">
                        <a:solidFill>
                          <a:srgbClr val="000000"/>
                        </a:solidFill>
                        <a:latin typeface="Arial"/>
                      </a:endParaRPr>
                    </a:p>
                  </a:txBody>
                  <a:tcPr marL="75960" marR="759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1100" b="1" strike="noStrike" spc="-1">
                          <a:solidFill>
                            <a:srgbClr val="000000"/>
                          </a:solidFill>
                          <a:latin typeface="Calibri"/>
                        </a:rPr>
                        <a:t>Using iRules</a:t>
                      </a:r>
                      <a:endParaRPr lang="en-US" sz="1100" b="0" strike="noStrike" spc="-1">
                        <a:solidFill>
                          <a:srgbClr val="000000"/>
                        </a:solidFill>
                        <a:latin typeface="Arial"/>
                      </a:endParaRPr>
                    </a:p>
                  </a:txBody>
                  <a:tcPr marL="75960" marR="759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1000" b="0" strike="noStrike" spc="-1">
                          <a:solidFill>
                            <a:srgbClr val="333333"/>
                          </a:solidFill>
                          <a:latin typeface="Calibri"/>
                        </a:rPr>
                        <a:t>HTTP-to-HTTPS redirect. Deliberate failure without HTTP profile, then fix.</a:t>
                      </a:r>
                      <a:endParaRPr lang="en-US" sz="1000" b="0" strike="noStrike" spc="-1">
                        <a:solidFill>
                          <a:srgbClr val="000000"/>
                        </a:solidFill>
                        <a:latin typeface="Arial"/>
                      </a:endParaRPr>
                    </a:p>
                  </a:txBody>
                  <a:tcPr marL="75960" marR="759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algn="ctr" defTabSz="914400">
                        <a:lnSpc>
                          <a:spcPct val="100000"/>
                        </a:lnSpc>
                        <a:tabLst>
                          <a:tab pos="0" algn="l"/>
                        </a:tabLst>
                      </a:pPr>
                      <a:r>
                        <a:rPr lang="en-US" sz="1000" b="0" strike="noStrike" spc="-1">
                          <a:solidFill>
                            <a:srgbClr val="666666"/>
                          </a:solidFill>
                          <a:latin typeface="Calibri"/>
                        </a:rPr>
                        <a:t>10m</a:t>
                      </a:r>
                      <a:endParaRPr lang="en-US" sz="1000" b="0" strike="noStrike" spc="-1">
                        <a:solidFill>
                          <a:srgbClr val="000000"/>
                        </a:solidFill>
                        <a:latin typeface="Arial"/>
                      </a:endParaRPr>
                    </a:p>
                  </a:txBody>
                  <a:tcPr marL="75960" marR="759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4"/>
                  </a:ext>
                </a:extLst>
              </a:tr>
            </a:tbl>
          </a:graphicData>
        </a:graphic>
      </p:graphicFrame>
      <p:sp>
        <p:nvSpPr>
          <p:cNvPr id="663" name="Shape 8"/>
          <p:cNvSpPr/>
          <p:nvPr/>
        </p:nvSpPr>
        <p:spPr>
          <a:xfrm>
            <a:off x="365760" y="3474720"/>
            <a:ext cx="8412120" cy="548280"/>
          </a:xfrm>
          <a:prstGeom prst="rect">
            <a:avLst/>
          </a:prstGeom>
          <a:solidFill>
            <a:srgbClr val="FFF3E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664" name="Text 9"/>
          <p:cNvSpPr/>
          <p:nvPr/>
        </p:nvSpPr>
        <p:spPr>
          <a:xfrm>
            <a:off x="548640" y="3474720"/>
            <a:ext cx="804636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strike="noStrike" spc="-1">
                <a:solidFill>
                  <a:srgbClr val="F29A36"/>
                </a:solidFill>
                <a:latin typeface="Calibri"/>
                <a:ea typeface="Calibri"/>
              </a:rPr>
              <a:t>Sequence matters: </a:t>
            </a:r>
            <a:r>
              <a:rPr lang="en-US" sz="1000" b="0" strike="noStrike" spc="-1">
                <a:solidFill>
                  <a:srgbClr val="7A4500"/>
                </a:solidFill>
                <a:latin typeface="Calibri"/>
                <a:ea typeface="Calibri"/>
              </a:rPr>
              <a:t>Activity 1 first (introduces dependencies through failures). Activity 4 last (reinforces HTTP profile dependency with iRules). Do not skip troubleshooting steps.</a:t>
            </a:r>
            <a:endParaRPr lang="en-US" sz="1000" b="0" strike="noStrike" spc="-1">
              <a:solidFill>
                <a:srgbClr val="000000"/>
              </a:solidFill>
              <a:latin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65"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666"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667"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668"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669"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670"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29    © 2026 F5</a:t>
            </a:r>
            <a:endParaRPr lang="en-US" sz="800" b="0" strike="noStrike" spc="-1">
              <a:solidFill>
                <a:srgbClr val="000000"/>
              </a:solidFill>
              <a:latin typeface="Arial"/>
            </a:endParaRPr>
          </a:p>
        </p:txBody>
      </p:sp>
      <p:pic>
        <p:nvPicPr>
          <p:cNvPr id="671" name="Image 0" descr="preencoded.png"/>
          <p:cNvPicPr/>
          <p:nvPr/>
        </p:nvPicPr>
        <p:blipFill>
          <a:blip r:embed="rId3"/>
          <a:stretch/>
        </p:blipFill>
        <p:spPr>
          <a:xfrm>
            <a:off x="8458200" y="4663440"/>
            <a:ext cx="383760" cy="383760"/>
          </a:xfrm>
          <a:prstGeom prst="rect">
            <a:avLst/>
          </a:prstGeom>
          <a:ln w="0">
            <a:noFill/>
          </a:ln>
        </p:spPr>
      </p:pic>
      <p:sp>
        <p:nvSpPr>
          <p:cNvPr id="672" name="Text 6"/>
          <p:cNvSpPr/>
          <p:nvPr/>
        </p:nvSpPr>
        <p:spPr>
          <a:xfrm>
            <a:off x="457200" y="274320"/>
            <a:ext cx="82292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Exam checkpoints</a:t>
            </a:r>
            <a:endParaRPr lang="en-US" sz="2800" b="0" strike="noStrike" spc="-1">
              <a:solidFill>
                <a:srgbClr val="000000"/>
              </a:solidFill>
              <a:latin typeface="Arial"/>
            </a:endParaRPr>
          </a:p>
        </p:txBody>
      </p:sp>
      <p:sp>
        <p:nvSpPr>
          <p:cNvPr id="673" name="Shape 7"/>
          <p:cNvSpPr/>
          <p:nvPr/>
        </p:nvSpPr>
        <p:spPr>
          <a:xfrm>
            <a:off x="457200" y="914400"/>
            <a:ext cx="456840" cy="27396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674" name="Text 8"/>
          <p:cNvSpPr/>
          <p:nvPr/>
        </p:nvSpPr>
        <p:spPr>
          <a:xfrm>
            <a:off x="457200" y="914400"/>
            <a:ext cx="456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strike="noStrike" spc="-1">
                <a:solidFill>
                  <a:srgbClr val="FFFFFF"/>
                </a:solidFill>
                <a:latin typeface="Arial"/>
                <a:ea typeface="Arial"/>
              </a:rPr>
              <a:t>Q1</a:t>
            </a:r>
            <a:endParaRPr lang="en-US" sz="1200" b="0" strike="noStrike" spc="-1">
              <a:solidFill>
                <a:srgbClr val="000000"/>
              </a:solidFill>
              <a:latin typeface="Arial"/>
            </a:endParaRPr>
          </a:p>
        </p:txBody>
      </p:sp>
      <p:sp>
        <p:nvSpPr>
          <p:cNvPr id="675" name="Shape 9"/>
          <p:cNvSpPr/>
          <p:nvPr/>
        </p:nvSpPr>
        <p:spPr>
          <a:xfrm>
            <a:off x="1005840" y="914400"/>
            <a:ext cx="411120" cy="27396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676" name="Text 10"/>
          <p:cNvSpPr/>
          <p:nvPr/>
        </p:nvSpPr>
        <p:spPr>
          <a:xfrm>
            <a:off x="1005840" y="914400"/>
            <a:ext cx="4111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1" strike="noStrike" spc="-1">
                <a:solidFill>
                  <a:srgbClr val="F29A36"/>
                </a:solidFill>
                <a:latin typeface="Calibri"/>
              </a:rPr>
              <a:t>A/E</a:t>
            </a:r>
            <a:endParaRPr lang="en-US" sz="900" b="0" strike="noStrike" spc="-1">
              <a:solidFill>
                <a:srgbClr val="000000"/>
              </a:solidFill>
              <a:latin typeface="Arial"/>
            </a:endParaRPr>
          </a:p>
        </p:txBody>
      </p:sp>
      <p:sp>
        <p:nvSpPr>
          <p:cNvPr id="677" name="Text 11"/>
          <p:cNvSpPr/>
          <p:nvPr/>
        </p:nvSpPr>
        <p:spPr>
          <a:xfrm>
            <a:off x="1508760" y="914400"/>
            <a:ext cx="54828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ourier New"/>
                <a:ea typeface="Courier New"/>
              </a:rPr>
              <a:t>2.10</a:t>
            </a:r>
            <a:endParaRPr lang="en-US" sz="800" b="0" strike="noStrike" spc="-1">
              <a:solidFill>
                <a:srgbClr val="000000"/>
              </a:solidFill>
              <a:latin typeface="Arial"/>
            </a:endParaRPr>
          </a:p>
        </p:txBody>
      </p:sp>
      <p:sp>
        <p:nvSpPr>
          <p:cNvPr id="678" name="Text 12"/>
          <p:cNvSpPr/>
          <p:nvPr/>
        </p:nvSpPr>
        <p:spPr>
          <a:xfrm>
            <a:off x="457200" y="1234440"/>
            <a:ext cx="841212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strike="noStrike" spc="-1">
                <a:solidFill>
                  <a:srgbClr val="333333"/>
                </a:solidFill>
                <a:latin typeface="Calibri"/>
                <a:ea typeface="Calibri"/>
              </a:rPr>
              <a:t>Client reports images load slowly but HTML renders quickly. VS has TCP + HTTP + wan-optimized-compression. What do you evaluate first and what profile change do you recommend?</a:t>
            </a:r>
            <a:endParaRPr lang="en-US" sz="1100" b="0" strike="noStrike" spc="-1">
              <a:solidFill>
                <a:srgbClr val="000000"/>
              </a:solidFill>
              <a:latin typeface="Arial"/>
            </a:endParaRPr>
          </a:p>
        </p:txBody>
      </p:sp>
      <p:sp>
        <p:nvSpPr>
          <p:cNvPr id="679" name="Shape 13"/>
          <p:cNvSpPr/>
          <p:nvPr/>
        </p:nvSpPr>
        <p:spPr>
          <a:xfrm>
            <a:off x="457200" y="2011680"/>
            <a:ext cx="456840" cy="27396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680" name="Text 14"/>
          <p:cNvSpPr/>
          <p:nvPr/>
        </p:nvSpPr>
        <p:spPr>
          <a:xfrm>
            <a:off x="457200" y="2011680"/>
            <a:ext cx="456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strike="noStrike" spc="-1">
                <a:solidFill>
                  <a:srgbClr val="FFFFFF"/>
                </a:solidFill>
                <a:latin typeface="Arial"/>
                <a:ea typeface="Arial"/>
              </a:rPr>
              <a:t>Q2</a:t>
            </a:r>
            <a:endParaRPr lang="en-US" sz="1200" b="0" strike="noStrike" spc="-1">
              <a:solidFill>
                <a:srgbClr val="000000"/>
              </a:solidFill>
              <a:latin typeface="Arial"/>
            </a:endParaRPr>
          </a:p>
        </p:txBody>
      </p:sp>
      <p:sp>
        <p:nvSpPr>
          <p:cNvPr id="681" name="Shape 15"/>
          <p:cNvSpPr/>
          <p:nvPr/>
        </p:nvSpPr>
        <p:spPr>
          <a:xfrm>
            <a:off x="1005840" y="2011680"/>
            <a:ext cx="411120" cy="27396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682" name="Text 16"/>
          <p:cNvSpPr/>
          <p:nvPr/>
        </p:nvSpPr>
        <p:spPr>
          <a:xfrm>
            <a:off x="1005840" y="2011680"/>
            <a:ext cx="4111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1" strike="noStrike" spc="-1">
                <a:solidFill>
                  <a:srgbClr val="009639"/>
                </a:solidFill>
                <a:latin typeface="Calibri"/>
              </a:rPr>
              <a:t>U/A</a:t>
            </a:r>
            <a:endParaRPr lang="en-US" sz="900" b="0" strike="noStrike" spc="-1">
              <a:solidFill>
                <a:srgbClr val="000000"/>
              </a:solidFill>
              <a:latin typeface="Arial"/>
            </a:endParaRPr>
          </a:p>
        </p:txBody>
      </p:sp>
      <p:sp>
        <p:nvSpPr>
          <p:cNvPr id="683" name="Text 17"/>
          <p:cNvSpPr/>
          <p:nvPr/>
        </p:nvSpPr>
        <p:spPr>
          <a:xfrm>
            <a:off x="1508760" y="2011680"/>
            <a:ext cx="54828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ourier New"/>
                <a:ea typeface="Courier New"/>
              </a:rPr>
              <a:t>3.01</a:t>
            </a:r>
            <a:endParaRPr lang="en-US" sz="800" b="0" strike="noStrike" spc="-1">
              <a:solidFill>
                <a:srgbClr val="000000"/>
              </a:solidFill>
              <a:latin typeface="Arial"/>
            </a:endParaRPr>
          </a:p>
        </p:txBody>
      </p:sp>
      <p:sp>
        <p:nvSpPr>
          <p:cNvPr id="684" name="Text 18"/>
          <p:cNvSpPr/>
          <p:nvPr/>
        </p:nvSpPr>
        <p:spPr>
          <a:xfrm>
            <a:off x="457200" y="2331720"/>
            <a:ext cx="841212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strike="noStrike" spc="-1">
                <a:solidFill>
                  <a:srgbClr val="333333"/>
                </a:solidFill>
                <a:latin typeface="Calibri"/>
                <a:ea typeface="Calibri"/>
              </a:rPr>
              <a:t>An iRule with HTTP_REQUEST is attached to a VS with only a TCP profile. Traffic flows but the iRule never executes. Why, and what do you fix?</a:t>
            </a:r>
            <a:endParaRPr lang="en-US" sz="1100" b="0" strike="noStrike" spc="-1">
              <a:solidFill>
                <a:srgbClr val="000000"/>
              </a:solidFill>
              <a:latin typeface="Arial"/>
            </a:endParaRPr>
          </a:p>
        </p:txBody>
      </p:sp>
      <p:sp>
        <p:nvSpPr>
          <p:cNvPr id="685" name="Shape 19"/>
          <p:cNvSpPr/>
          <p:nvPr/>
        </p:nvSpPr>
        <p:spPr>
          <a:xfrm>
            <a:off x="457200" y="3108960"/>
            <a:ext cx="456840" cy="27396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686" name="Text 20"/>
          <p:cNvSpPr/>
          <p:nvPr/>
        </p:nvSpPr>
        <p:spPr>
          <a:xfrm>
            <a:off x="457200" y="3108960"/>
            <a:ext cx="456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strike="noStrike" spc="-1">
                <a:solidFill>
                  <a:srgbClr val="FFFFFF"/>
                </a:solidFill>
                <a:latin typeface="Arial"/>
                <a:ea typeface="Arial"/>
              </a:rPr>
              <a:t>Q3</a:t>
            </a:r>
            <a:endParaRPr lang="en-US" sz="1200" b="0" strike="noStrike" spc="-1">
              <a:solidFill>
                <a:srgbClr val="000000"/>
              </a:solidFill>
              <a:latin typeface="Arial"/>
            </a:endParaRPr>
          </a:p>
        </p:txBody>
      </p:sp>
      <p:sp>
        <p:nvSpPr>
          <p:cNvPr id="687" name="Shape 21"/>
          <p:cNvSpPr/>
          <p:nvPr/>
        </p:nvSpPr>
        <p:spPr>
          <a:xfrm>
            <a:off x="1005840" y="3108960"/>
            <a:ext cx="411120" cy="27396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688" name="Text 22"/>
          <p:cNvSpPr/>
          <p:nvPr/>
        </p:nvSpPr>
        <p:spPr>
          <a:xfrm>
            <a:off x="1005840" y="3108960"/>
            <a:ext cx="4111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1" strike="noStrike" spc="-1">
                <a:solidFill>
                  <a:srgbClr val="009639"/>
                </a:solidFill>
                <a:latin typeface="Calibri"/>
              </a:rPr>
              <a:t>U/A</a:t>
            </a:r>
            <a:endParaRPr lang="en-US" sz="900" b="0" strike="noStrike" spc="-1">
              <a:solidFill>
                <a:srgbClr val="000000"/>
              </a:solidFill>
              <a:latin typeface="Arial"/>
            </a:endParaRPr>
          </a:p>
        </p:txBody>
      </p:sp>
      <p:sp>
        <p:nvSpPr>
          <p:cNvPr id="689" name="Text 23"/>
          <p:cNvSpPr/>
          <p:nvPr/>
        </p:nvSpPr>
        <p:spPr>
          <a:xfrm>
            <a:off x="1508760" y="3108960"/>
            <a:ext cx="54828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ourier New"/>
                <a:ea typeface="Courier New"/>
              </a:rPr>
              <a:t>2.04</a:t>
            </a:r>
            <a:endParaRPr lang="en-US" sz="800" b="0" strike="noStrike" spc="-1">
              <a:solidFill>
                <a:srgbClr val="000000"/>
              </a:solidFill>
              <a:latin typeface="Arial"/>
            </a:endParaRPr>
          </a:p>
        </p:txBody>
      </p:sp>
      <p:sp>
        <p:nvSpPr>
          <p:cNvPr id="690" name="Text 24"/>
          <p:cNvSpPr/>
          <p:nvPr/>
        </p:nvSpPr>
        <p:spPr>
          <a:xfrm>
            <a:off x="457200" y="3429000"/>
            <a:ext cx="841212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strike="noStrike" spc="-1">
                <a:solidFill>
                  <a:srgbClr val="333333"/>
                </a:solidFill>
                <a:latin typeface="Calibri"/>
                <a:ea typeface="Calibri"/>
              </a:rPr>
              <a:t>In a two-tier deployment, Tier 1 uses SNAT automap + cookie persistence. Tier 2 uses source address persistence. Users report getting bounced between app servers. Why?</a:t>
            </a:r>
            <a:endParaRPr lang="en-US" sz="1100" b="0" strike="noStrike" spc="-1">
              <a:solidFill>
                <a:srgbClr val="000000"/>
              </a:solidFill>
              <a:latin typeface="Arial"/>
            </a:endParaRPr>
          </a:p>
        </p:txBody>
      </p:sp>
      <p:sp>
        <p:nvSpPr>
          <p:cNvPr id="691" name="Shape 25"/>
          <p:cNvSpPr/>
          <p:nvPr/>
        </p:nvSpPr>
        <p:spPr>
          <a:xfrm>
            <a:off x="365760" y="4206240"/>
            <a:ext cx="8412120" cy="411120"/>
          </a:xfrm>
          <a:prstGeom prst="rect">
            <a:avLst/>
          </a:prstGeom>
          <a:solidFill>
            <a:srgbClr val="E8F0F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692" name="Text 26"/>
          <p:cNvSpPr/>
          <p:nvPr/>
        </p:nvSpPr>
        <p:spPr>
          <a:xfrm>
            <a:off x="548640" y="4206240"/>
            <a:ext cx="80463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strike="noStrike" spc="-1">
                <a:solidFill>
                  <a:srgbClr val="0E41AA"/>
                </a:solidFill>
                <a:latin typeface="Calibri"/>
                <a:ea typeface="Calibri"/>
              </a:rPr>
              <a:t>Dependency chain: </a:t>
            </a:r>
            <a:r>
              <a:rPr lang="en-US" sz="1000" b="0" strike="noStrike" spc="-1">
                <a:solidFill>
                  <a:srgbClr val="1A3A6C"/>
                </a:solidFill>
                <a:latin typeface="Calibri"/>
                <a:ea typeface="Calibri"/>
              </a:rPr>
              <a:t>Cookie persist → HTTP → TCP. OneConnect → HTTP → TCP. iRule (HTTP::) → HTTP → TCP. Client-SSL → TCP. Every L7 feature traces back to TCP.</a:t>
            </a:r>
            <a:endParaRPr lang="en-US" sz="1000" b="0" strike="noStrike" spc="-1">
              <a:solidFill>
                <a:srgbClr val="000000"/>
              </a:solidFill>
              <a:latin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93"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694"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695"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696"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697"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698"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30    © 2026 F5</a:t>
            </a:r>
            <a:endParaRPr lang="en-US" sz="800" b="0" strike="noStrike" spc="-1">
              <a:solidFill>
                <a:srgbClr val="000000"/>
              </a:solidFill>
              <a:latin typeface="Arial"/>
            </a:endParaRPr>
          </a:p>
        </p:txBody>
      </p:sp>
      <p:pic>
        <p:nvPicPr>
          <p:cNvPr id="699" name="Image 0" descr="preencoded.png"/>
          <p:cNvPicPr/>
          <p:nvPr/>
        </p:nvPicPr>
        <p:blipFill>
          <a:blip r:embed="rId3"/>
          <a:stretch/>
        </p:blipFill>
        <p:spPr>
          <a:xfrm>
            <a:off x="8458200" y="4663440"/>
            <a:ext cx="383760" cy="383760"/>
          </a:xfrm>
          <a:prstGeom prst="rect">
            <a:avLst/>
          </a:prstGeom>
          <a:ln w="0">
            <a:noFill/>
          </a:ln>
        </p:spPr>
      </p:pic>
      <p:sp>
        <p:nvSpPr>
          <p:cNvPr id="700" name="Text 6"/>
          <p:cNvSpPr/>
          <p:nvPr/>
        </p:nvSpPr>
        <p:spPr>
          <a:xfrm>
            <a:off x="457200" y="274320"/>
            <a:ext cx="82292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Exam checkpoints (continued)</a:t>
            </a:r>
            <a:endParaRPr lang="en-US" sz="2800" b="0" strike="noStrike" spc="-1">
              <a:solidFill>
                <a:srgbClr val="000000"/>
              </a:solidFill>
              <a:latin typeface="Arial"/>
            </a:endParaRPr>
          </a:p>
        </p:txBody>
      </p:sp>
      <p:sp>
        <p:nvSpPr>
          <p:cNvPr id="701" name="Shape 7"/>
          <p:cNvSpPr/>
          <p:nvPr/>
        </p:nvSpPr>
        <p:spPr>
          <a:xfrm>
            <a:off x="457200" y="914400"/>
            <a:ext cx="456840" cy="27396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702" name="Text 8"/>
          <p:cNvSpPr/>
          <p:nvPr/>
        </p:nvSpPr>
        <p:spPr>
          <a:xfrm>
            <a:off x="457200" y="914400"/>
            <a:ext cx="456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strike="noStrike" spc="-1">
                <a:solidFill>
                  <a:srgbClr val="FFFFFF"/>
                </a:solidFill>
                <a:latin typeface="Arial"/>
                <a:ea typeface="Arial"/>
              </a:rPr>
              <a:t>Q4</a:t>
            </a:r>
            <a:endParaRPr lang="en-US" sz="1200" b="0" strike="noStrike" spc="-1">
              <a:solidFill>
                <a:srgbClr val="000000"/>
              </a:solidFill>
              <a:latin typeface="Arial"/>
            </a:endParaRPr>
          </a:p>
        </p:txBody>
      </p:sp>
      <p:sp>
        <p:nvSpPr>
          <p:cNvPr id="703" name="Shape 9"/>
          <p:cNvSpPr/>
          <p:nvPr/>
        </p:nvSpPr>
        <p:spPr>
          <a:xfrm>
            <a:off x="1005840" y="914400"/>
            <a:ext cx="411120" cy="27396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704" name="Text 10"/>
          <p:cNvSpPr/>
          <p:nvPr/>
        </p:nvSpPr>
        <p:spPr>
          <a:xfrm>
            <a:off x="1005840" y="914400"/>
            <a:ext cx="4111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1" strike="noStrike" spc="-1">
                <a:solidFill>
                  <a:srgbClr val="009639"/>
                </a:solidFill>
                <a:latin typeface="Calibri"/>
              </a:rPr>
              <a:t>U/A</a:t>
            </a:r>
            <a:endParaRPr lang="en-US" sz="900" b="0" strike="noStrike" spc="-1">
              <a:solidFill>
                <a:srgbClr val="000000"/>
              </a:solidFill>
              <a:latin typeface="Arial"/>
            </a:endParaRPr>
          </a:p>
        </p:txBody>
      </p:sp>
      <p:sp>
        <p:nvSpPr>
          <p:cNvPr id="705" name="Text 11"/>
          <p:cNvSpPr/>
          <p:nvPr/>
        </p:nvSpPr>
        <p:spPr>
          <a:xfrm>
            <a:off x="1508760" y="914400"/>
            <a:ext cx="54828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ourier New"/>
                <a:ea typeface="Courier New"/>
              </a:rPr>
              <a:t>2.01</a:t>
            </a:r>
            <a:endParaRPr lang="en-US" sz="800" b="0" strike="noStrike" spc="-1">
              <a:solidFill>
                <a:srgbClr val="000000"/>
              </a:solidFill>
              <a:latin typeface="Arial"/>
            </a:endParaRPr>
          </a:p>
        </p:txBody>
      </p:sp>
      <p:sp>
        <p:nvSpPr>
          <p:cNvPr id="706" name="Text 12"/>
          <p:cNvSpPr/>
          <p:nvPr/>
        </p:nvSpPr>
        <p:spPr>
          <a:xfrm>
            <a:off x="457200" y="1234440"/>
            <a:ext cx="841212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strike="noStrike" spc="-1">
                <a:solidFill>
                  <a:srgbClr val="333333"/>
                </a:solidFill>
                <a:latin typeface="Calibri"/>
                <a:ea typeface="Calibri"/>
              </a:rPr>
              <a:t>You need cookie persistence on an HTTPS virtual server. What is the minimum set of profiles required for cookie persistence to function?</a:t>
            </a:r>
            <a:endParaRPr lang="en-US" sz="1100" b="0" strike="noStrike" spc="-1">
              <a:solidFill>
                <a:srgbClr val="000000"/>
              </a:solidFill>
              <a:latin typeface="Arial"/>
            </a:endParaRPr>
          </a:p>
        </p:txBody>
      </p:sp>
      <p:sp>
        <p:nvSpPr>
          <p:cNvPr id="707" name="Shape 13"/>
          <p:cNvSpPr/>
          <p:nvPr/>
        </p:nvSpPr>
        <p:spPr>
          <a:xfrm>
            <a:off x="457200" y="2286000"/>
            <a:ext cx="456840" cy="27396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708" name="Text 14"/>
          <p:cNvSpPr/>
          <p:nvPr/>
        </p:nvSpPr>
        <p:spPr>
          <a:xfrm>
            <a:off x="457200" y="2286000"/>
            <a:ext cx="456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strike="noStrike" spc="-1">
                <a:solidFill>
                  <a:srgbClr val="FFFFFF"/>
                </a:solidFill>
                <a:latin typeface="Arial"/>
                <a:ea typeface="Arial"/>
              </a:rPr>
              <a:t>Q5</a:t>
            </a:r>
            <a:endParaRPr lang="en-US" sz="1200" b="0" strike="noStrike" spc="-1">
              <a:solidFill>
                <a:srgbClr val="000000"/>
              </a:solidFill>
              <a:latin typeface="Arial"/>
            </a:endParaRPr>
          </a:p>
        </p:txBody>
      </p:sp>
      <p:sp>
        <p:nvSpPr>
          <p:cNvPr id="709" name="Shape 15"/>
          <p:cNvSpPr/>
          <p:nvPr/>
        </p:nvSpPr>
        <p:spPr>
          <a:xfrm>
            <a:off x="1005840" y="2286000"/>
            <a:ext cx="411120" cy="27396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710" name="Text 16"/>
          <p:cNvSpPr/>
          <p:nvPr/>
        </p:nvSpPr>
        <p:spPr>
          <a:xfrm>
            <a:off x="1005840" y="2286000"/>
            <a:ext cx="4111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1" strike="noStrike" spc="-1">
                <a:solidFill>
                  <a:srgbClr val="009639"/>
                </a:solidFill>
                <a:latin typeface="Calibri"/>
              </a:rPr>
              <a:t>U/A</a:t>
            </a:r>
            <a:endParaRPr lang="en-US" sz="900" b="0" strike="noStrike" spc="-1">
              <a:solidFill>
                <a:srgbClr val="000000"/>
              </a:solidFill>
              <a:latin typeface="Arial"/>
            </a:endParaRPr>
          </a:p>
        </p:txBody>
      </p:sp>
      <p:sp>
        <p:nvSpPr>
          <p:cNvPr id="711" name="Text 17"/>
          <p:cNvSpPr/>
          <p:nvPr/>
        </p:nvSpPr>
        <p:spPr>
          <a:xfrm>
            <a:off x="1508760" y="2286000"/>
            <a:ext cx="54828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ourier New"/>
                <a:ea typeface="Courier New"/>
              </a:rPr>
              <a:t>2.02</a:t>
            </a:r>
            <a:endParaRPr lang="en-US" sz="800" b="0" strike="noStrike" spc="-1">
              <a:solidFill>
                <a:srgbClr val="000000"/>
              </a:solidFill>
              <a:latin typeface="Arial"/>
            </a:endParaRPr>
          </a:p>
        </p:txBody>
      </p:sp>
      <p:sp>
        <p:nvSpPr>
          <p:cNvPr id="712" name="Text 18"/>
          <p:cNvSpPr/>
          <p:nvPr/>
        </p:nvSpPr>
        <p:spPr>
          <a:xfrm>
            <a:off x="457200" y="2606040"/>
            <a:ext cx="841212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strike="noStrike" spc="-1">
                <a:solidFill>
                  <a:srgbClr val="333333"/>
                </a:solidFill>
                <a:latin typeface="Calibri"/>
                <a:ea typeface="Calibri"/>
              </a:rPr>
              <a:t>A web application has 50,000 short-lived HTTP connections per second. Servers are running out of TCP sockets. What profile reduces server connection load, and what does it require?</a:t>
            </a:r>
            <a:endParaRPr lang="en-US" sz="1100" b="0" strike="noStrike" spc="-1">
              <a:solidFill>
                <a:srgbClr val="000000"/>
              </a:solidFill>
              <a:latin typeface="Arial"/>
            </a:endParaRPr>
          </a:p>
        </p:txBody>
      </p:sp>
      <p:sp>
        <p:nvSpPr>
          <p:cNvPr id="713" name="Shape 19"/>
          <p:cNvSpPr/>
          <p:nvPr/>
        </p:nvSpPr>
        <p:spPr>
          <a:xfrm>
            <a:off x="365760" y="3657600"/>
            <a:ext cx="8412120" cy="1034218"/>
          </a:xfrm>
          <a:prstGeom prst="rect">
            <a:avLst/>
          </a:prstGeom>
          <a:solidFill>
            <a:srgbClr val="E8F5E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714" name="Text 20"/>
          <p:cNvSpPr/>
          <p:nvPr/>
        </p:nvSpPr>
        <p:spPr>
          <a:xfrm>
            <a:off x="548640" y="3675960"/>
            <a:ext cx="8046360" cy="877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1" strike="noStrike" spc="-1">
                <a:solidFill>
                  <a:srgbClr val="009639"/>
                </a:solidFill>
                <a:latin typeface="Calibri"/>
              </a:rPr>
              <a:t>Persistence method selection guide</a:t>
            </a:r>
            <a:endParaRPr lang="en-US" sz="1200" b="0" strike="noStrike" spc="-1">
              <a:solidFill>
                <a:srgbClr val="000000"/>
              </a:solidFill>
              <a:latin typeface="Arial"/>
            </a:endParaRPr>
          </a:p>
          <a:p>
            <a:pPr defTabSz="914400">
              <a:lnSpc>
                <a:spcPct val="100000"/>
              </a:lnSpc>
              <a:tabLst>
                <a:tab pos="0" algn="l"/>
              </a:tabLst>
            </a:pPr>
            <a:r>
              <a:rPr lang="en-US" sz="1000" b="0" strike="noStrike" spc="-1">
                <a:solidFill>
                  <a:srgbClr val="1B5E20"/>
                </a:solidFill>
                <a:latin typeface="Calibri"/>
                <a:ea typeface="Calibri"/>
              </a:rPr>
              <a:t>HTTP web app → cookie insert (most granular, survives IP changes)</a:t>
            </a:r>
            <a:endParaRPr lang="en-US" sz="1000" b="0" strike="noStrike" spc="-1">
              <a:solidFill>
                <a:srgbClr val="000000"/>
              </a:solidFill>
              <a:latin typeface="Arial"/>
            </a:endParaRPr>
          </a:p>
          <a:p>
            <a:pPr defTabSz="914400">
              <a:lnSpc>
                <a:spcPct val="100000"/>
              </a:lnSpc>
              <a:tabLst>
                <a:tab pos="0" algn="l"/>
              </a:tabLst>
            </a:pPr>
            <a:r>
              <a:rPr lang="en-US" sz="1000" b="0" strike="noStrike" spc="-1">
                <a:solidFill>
                  <a:srgbClr val="1B5E20"/>
                </a:solidFill>
                <a:latin typeface="Calibri"/>
                <a:ea typeface="Calibri"/>
              </a:rPr>
              <a:t>Non-HTTP / FastL4 → source address (only universal option)</a:t>
            </a:r>
            <a:endParaRPr lang="en-US" sz="1000" b="0" strike="noStrike" spc="-1">
              <a:solidFill>
                <a:srgbClr val="000000"/>
              </a:solidFill>
              <a:latin typeface="Arial"/>
            </a:endParaRPr>
          </a:p>
          <a:p>
            <a:pPr defTabSz="914400">
              <a:lnSpc>
                <a:spcPct val="100000"/>
              </a:lnSpc>
              <a:tabLst>
                <a:tab pos="0" algn="l"/>
              </a:tabLst>
            </a:pPr>
            <a:r>
              <a:rPr lang="en-US" sz="1000" b="0" strike="noStrike" spc="-1">
                <a:solidFill>
                  <a:srgbClr val="1B5E20"/>
                </a:solidFill>
                <a:latin typeface="Calibri"/>
                <a:ea typeface="Calibri"/>
              </a:rPr>
              <a:t>SSL pass-through → SSL session ID</a:t>
            </a:r>
            <a:endParaRPr lang="en-US" sz="1000" b="0" strike="noStrike" spc="-1">
              <a:solidFill>
                <a:srgbClr val="000000"/>
              </a:solidFill>
              <a:latin typeface="Arial"/>
            </a:endParaRPr>
          </a:p>
          <a:p>
            <a:pPr defTabSz="914400">
              <a:lnSpc>
                <a:spcPct val="100000"/>
              </a:lnSpc>
              <a:tabLst>
                <a:tab pos="0" algn="l"/>
              </a:tabLst>
            </a:pPr>
            <a:r>
              <a:rPr lang="en-US" sz="1000" b="0" strike="noStrike" spc="-1">
                <a:solidFill>
                  <a:srgbClr val="1B5E20"/>
                </a:solidFill>
                <a:latin typeface="Calibri"/>
                <a:ea typeface="Calibri"/>
              </a:rPr>
              <a:t>Custom protocol → universal persistence (iRule-based)</a:t>
            </a:r>
            <a:endParaRPr lang="en-US" sz="1000" b="0" strike="noStrike" spc="-1">
              <a:solidFill>
                <a:srgbClr val="000000"/>
              </a:solidFill>
              <a:latin typeface="Arial"/>
            </a:endParaRPr>
          </a:p>
          <a:p>
            <a:pPr defTabSz="914400">
              <a:lnSpc>
                <a:spcPct val="100000"/>
              </a:lnSpc>
              <a:tabLst>
                <a:tab pos="0" algn="l"/>
              </a:tabLst>
            </a:pPr>
            <a:r>
              <a:rPr lang="en-US" sz="1000" b="0" strike="noStrike" spc="-1">
                <a:solidFill>
                  <a:srgbClr val="1B5E20"/>
                </a:solidFill>
                <a:latin typeface="Calibri"/>
                <a:ea typeface="Calibri"/>
              </a:rPr>
              <a:t>Mobile users who change IPs → cookie insert (not source address)</a:t>
            </a:r>
            <a:endParaRPr lang="en-US" sz="1000" b="0" strike="noStrike" spc="-1">
              <a:solidFill>
                <a:srgbClr val="000000"/>
              </a:solidFill>
              <a:latin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715" name="Shape 0"/>
          <p:cNvSpPr/>
          <p:nvPr/>
        </p:nvSpPr>
        <p:spPr>
          <a:xfrm>
            <a:off x="0" y="507024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716" name="Shape 1"/>
          <p:cNvSpPr/>
          <p:nvPr/>
        </p:nvSpPr>
        <p:spPr>
          <a:xfrm>
            <a:off x="1371600" y="507024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717" name="Shape 2"/>
          <p:cNvSpPr/>
          <p:nvPr/>
        </p:nvSpPr>
        <p:spPr>
          <a:xfrm>
            <a:off x="4114800" y="507024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718" name="Shape 3"/>
          <p:cNvSpPr/>
          <p:nvPr/>
        </p:nvSpPr>
        <p:spPr>
          <a:xfrm>
            <a:off x="5486400" y="507024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719" name="Shape 4"/>
          <p:cNvSpPr/>
          <p:nvPr/>
        </p:nvSpPr>
        <p:spPr>
          <a:xfrm>
            <a:off x="7772400" y="507024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pic>
        <p:nvPicPr>
          <p:cNvPr id="720" name="Image 0" descr="preencoded.png"/>
          <p:cNvPicPr/>
          <p:nvPr/>
        </p:nvPicPr>
        <p:blipFill>
          <a:blip r:embed="rId3"/>
          <a:stretch/>
        </p:blipFill>
        <p:spPr>
          <a:xfrm>
            <a:off x="365760" y="274320"/>
            <a:ext cx="639720" cy="639720"/>
          </a:xfrm>
          <a:prstGeom prst="rect">
            <a:avLst/>
          </a:prstGeom>
          <a:ln w="0">
            <a:noFill/>
          </a:ln>
        </p:spPr>
      </p:pic>
      <p:graphicFrame>
        <p:nvGraphicFramePr>
          <p:cNvPr id="721" name="Table 0"/>
          <p:cNvGraphicFramePr/>
          <p:nvPr/>
        </p:nvGraphicFramePr>
        <p:xfrm>
          <a:off x="365760" y="1097280"/>
          <a:ext cx="6675120" cy="487680"/>
        </p:xfrm>
        <a:graphic>
          <a:graphicData uri="http://schemas.openxmlformats.org/drawingml/2006/table">
            <a:tbl>
              <a:tblPr/>
              <a:tblGrid>
                <a:gridCol w="146304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gridCol w="4754880">
                  <a:extLst>
                    <a:ext uri="{9D8B030D-6E8A-4147-A177-3AD203B41FA5}">
                      <a16:colId xmlns:a16="http://schemas.microsoft.com/office/drawing/2014/main" val="20002"/>
                    </a:ext>
                  </a:extLst>
                </a:gridCol>
              </a:tblGrid>
              <a:tr h="0">
                <a:tc>
                  <a:txBody>
                    <a:bodyPr/>
                    <a:lstStyle/>
                    <a:p>
                      <a:pPr defTabSz="914400">
                        <a:lnSpc>
                          <a:spcPct val="100000"/>
                        </a:lnSpc>
                        <a:tabLst>
                          <a:tab pos="0" algn="l"/>
                        </a:tabLst>
                      </a:pPr>
                      <a:r>
                        <a:rPr lang="en-US" sz="1000" b="0" strike="noStrike" spc="-1">
                          <a:solidFill>
                            <a:srgbClr val="FFFFFF"/>
                          </a:solidFill>
                          <a:latin typeface="Courier New"/>
                          <a:ea typeface="Courier New"/>
                        </a:rPr>
                        <a:t>F5CTSLTM3.06</a:t>
                      </a:r>
                      <a:endParaRPr lang="en-US" sz="1000" b="0" strike="noStrike" spc="-1">
                        <a:solidFill>
                          <a:srgbClr val="FFFFFF"/>
                        </a:solidFill>
                        <a:latin typeface="Arial"/>
                      </a:endParaRPr>
                    </a:p>
                  </a:txBody>
                  <a:tcPr marL="75960" marR="75960">
                    <a:lnL>
                      <a:noFill/>
                    </a:lnL>
                    <a:lnR>
                      <a:noFill/>
                    </a:lnR>
                    <a:lnT>
                      <a:noFill/>
                    </a:lnT>
                    <a:lnB>
                      <a:noFill/>
                    </a:lnB>
                    <a:solidFill>
                      <a:srgbClr val="1A1A1A"/>
                    </a:solidFill>
                  </a:tcPr>
                </a:tc>
                <a:tc>
                  <a:txBody>
                    <a:bodyPr/>
                    <a:lstStyle/>
                    <a:p>
                      <a:pPr algn="ctr" defTabSz="914400">
                        <a:lnSpc>
                          <a:spcPct val="100000"/>
                        </a:lnSpc>
                        <a:tabLst>
                          <a:tab pos="0" algn="l"/>
                        </a:tabLst>
                      </a:pPr>
                      <a:r>
                        <a:rPr lang="en-US" sz="1000" b="1" strike="noStrike" spc="-1">
                          <a:solidFill>
                            <a:srgbClr val="009639"/>
                          </a:solidFill>
                          <a:latin typeface="Calibri"/>
                        </a:rPr>
                        <a:t>U/A</a:t>
                      </a:r>
                      <a:endParaRPr lang="en-US" sz="1000" b="0" strike="noStrike" spc="-1">
                        <a:solidFill>
                          <a:srgbClr val="FFFFFF"/>
                        </a:solidFill>
                        <a:latin typeface="Arial"/>
                      </a:endParaRPr>
                    </a:p>
                  </a:txBody>
                  <a:tcPr marL="75960" marR="75960">
                    <a:lnL>
                      <a:noFill/>
                    </a:lnL>
                    <a:lnR>
                      <a:noFill/>
                    </a:lnR>
                    <a:lnT>
                      <a:noFill/>
                    </a:lnT>
                    <a:lnB>
                      <a:noFill/>
                    </a:lnB>
                    <a:solidFill>
                      <a:srgbClr val="1A1A1A"/>
                    </a:solidFill>
                  </a:tcPr>
                </a:tc>
                <a:tc>
                  <a:txBody>
                    <a:bodyPr/>
                    <a:lstStyle/>
                    <a:p>
                      <a:pPr defTabSz="914400">
                        <a:lnSpc>
                          <a:spcPct val="100000"/>
                        </a:lnSpc>
                        <a:tabLst>
                          <a:tab pos="0" algn="l"/>
                        </a:tabLst>
                      </a:pPr>
                      <a:r>
                        <a:rPr lang="en-US" sz="1000" b="0" strike="noStrike" spc="-1">
                          <a:solidFill>
                            <a:srgbClr val="666666"/>
                          </a:solidFill>
                          <a:latin typeface="Calibri"/>
                        </a:rPr>
                        <a:t>Interpret AVR/Telemetry to identify performance issues or attacks</a:t>
                      </a:r>
                      <a:endParaRPr lang="en-US" sz="1000" b="0" strike="noStrike" spc="-1">
                        <a:solidFill>
                          <a:srgbClr val="FFFFFF"/>
                        </a:solidFill>
                        <a:latin typeface="Arial"/>
                      </a:endParaRPr>
                    </a:p>
                  </a:txBody>
                  <a:tcPr marL="75960" marR="75960">
                    <a:lnL>
                      <a:noFill/>
                    </a:lnL>
                    <a:lnR>
                      <a:noFill/>
                    </a:lnR>
                    <a:lnT>
                      <a:noFill/>
                    </a:lnT>
                    <a:lnB>
                      <a:noFill/>
                    </a:lnB>
                    <a:solidFill>
                      <a:srgbClr val="1A1A1A"/>
                    </a:solidFill>
                  </a:tcPr>
                </a:tc>
                <a:extLst>
                  <a:ext uri="{0D108BD9-81ED-4DB2-BD59-A6C34878D82A}">
                    <a16:rowId xmlns:a16="http://schemas.microsoft.com/office/drawing/2014/main" val="10000"/>
                  </a:ext>
                </a:extLst>
              </a:tr>
              <a:tr h="0">
                <a:tc>
                  <a:txBody>
                    <a:bodyPr/>
                    <a:lstStyle/>
                    <a:p>
                      <a:pPr defTabSz="914400">
                        <a:lnSpc>
                          <a:spcPct val="100000"/>
                        </a:lnSpc>
                        <a:tabLst>
                          <a:tab pos="0" algn="l"/>
                        </a:tabLst>
                      </a:pPr>
                      <a:r>
                        <a:rPr lang="en-US" sz="1000" b="0" strike="noStrike" spc="-1">
                          <a:solidFill>
                            <a:srgbClr val="FFFFFF"/>
                          </a:solidFill>
                          <a:latin typeface="Courier New"/>
                          <a:ea typeface="Courier New"/>
                        </a:rPr>
                        <a:t>F5CTSLTM3.07</a:t>
                      </a:r>
                      <a:endParaRPr lang="en-US" sz="1000" b="0" strike="noStrike" spc="-1">
                        <a:solidFill>
                          <a:srgbClr val="FFFFFF"/>
                        </a:solidFill>
                        <a:latin typeface="Arial"/>
                      </a:endParaRPr>
                    </a:p>
                  </a:txBody>
                  <a:tcPr marL="75960" marR="75960">
                    <a:lnL>
                      <a:noFill/>
                    </a:lnL>
                    <a:lnR>
                      <a:noFill/>
                    </a:lnR>
                    <a:lnT>
                      <a:noFill/>
                    </a:lnT>
                    <a:lnB>
                      <a:noFill/>
                    </a:lnB>
                    <a:solidFill>
                      <a:srgbClr val="111111"/>
                    </a:solidFill>
                  </a:tcPr>
                </a:tc>
                <a:tc>
                  <a:txBody>
                    <a:bodyPr/>
                    <a:lstStyle/>
                    <a:p>
                      <a:pPr algn="ctr" defTabSz="914400">
                        <a:lnSpc>
                          <a:spcPct val="100000"/>
                        </a:lnSpc>
                        <a:tabLst>
                          <a:tab pos="0" algn="l"/>
                        </a:tabLst>
                      </a:pPr>
                      <a:r>
                        <a:rPr lang="en-US" sz="1000" b="1" strike="noStrike" spc="-1">
                          <a:solidFill>
                            <a:srgbClr val="009639"/>
                          </a:solidFill>
                          <a:latin typeface="Calibri"/>
                        </a:rPr>
                        <a:t>U/A</a:t>
                      </a:r>
                      <a:endParaRPr lang="en-US" sz="1000" b="0" strike="noStrike" spc="-1">
                        <a:solidFill>
                          <a:srgbClr val="FFFFFF"/>
                        </a:solidFill>
                        <a:latin typeface="Arial"/>
                      </a:endParaRPr>
                    </a:p>
                  </a:txBody>
                  <a:tcPr marL="75960" marR="75960">
                    <a:lnL>
                      <a:noFill/>
                    </a:lnL>
                    <a:lnR>
                      <a:noFill/>
                    </a:lnR>
                    <a:lnT>
                      <a:noFill/>
                    </a:lnT>
                    <a:lnB>
                      <a:noFill/>
                    </a:lnB>
                    <a:solidFill>
                      <a:srgbClr val="111111"/>
                    </a:solidFill>
                  </a:tcPr>
                </a:tc>
                <a:tc>
                  <a:txBody>
                    <a:bodyPr/>
                    <a:lstStyle/>
                    <a:p>
                      <a:pPr defTabSz="914400">
                        <a:lnSpc>
                          <a:spcPct val="100000"/>
                        </a:lnSpc>
                        <a:tabLst>
                          <a:tab pos="0" algn="l"/>
                        </a:tabLst>
                      </a:pPr>
                      <a:r>
                        <a:rPr lang="en-US" sz="1000" b="0" strike="noStrike" spc="-1">
                          <a:solidFill>
                            <a:srgbClr val="666666"/>
                          </a:solidFill>
                          <a:latin typeface="Calibri"/>
                        </a:rPr>
                        <a:t>Interpret AVR information to identify LTM device misconfiguration</a:t>
                      </a:r>
                      <a:endParaRPr lang="en-US" sz="1000" b="0" strike="noStrike" spc="-1">
                        <a:solidFill>
                          <a:srgbClr val="FFFFFF"/>
                        </a:solidFill>
                        <a:latin typeface="Arial"/>
                      </a:endParaRPr>
                    </a:p>
                  </a:txBody>
                  <a:tcPr marL="75960" marR="75960">
                    <a:lnL>
                      <a:noFill/>
                    </a:lnL>
                    <a:lnR>
                      <a:noFill/>
                    </a:lnR>
                    <a:lnT>
                      <a:noFill/>
                    </a:lnT>
                    <a:lnB>
                      <a:noFill/>
                    </a:lnB>
                    <a:solidFill>
                      <a:srgbClr val="111111"/>
                    </a:solidFill>
                  </a:tcPr>
                </a:tc>
                <a:extLst>
                  <a:ext uri="{0D108BD9-81ED-4DB2-BD59-A6C34878D82A}">
                    <a16:rowId xmlns:a16="http://schemas.microsoft.com/office/drawing/2014/main" val="10001"/>
                  </a:ext>
                </a:extLst>
              </a:tr>
            </a:tbl>
          </a:graphicData>
        </a:graphic>
      </p:graphicFrame>
      <p:sp>
        <p:nvSpPr>
          <p:cNvPr id="722" name="Text 5"/>
          <p:cNvSpPr/>
          <p:nvPr/>
        </p:nvSpPr>
        <p:spPr>
          <a:xfrm>
            <a:off x="365760" y="2011680"/>
            <a:ext cx="7314840" cy="1462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strike="noStrike" spc="-1">
                <a:solidFill>
                  <a:srgbClr val="666666"/>
                </a:solidFill>
                <a:latin typeface="Calibri"/>
                <a:ea typeface="Calibri"/>
              </a:rPr>
              <a:t>LAB 3</a:t>
            </a:r>
            <a:endParaRPr lang="en-US" sz="1400" b="0" strike="noStrike" spc="-1">
              <a:solidFill>
                <a:srgbClr val="FFFFFF"/>
              </a:solidFill>
              <a:latin typeface="Arial"/>
            </a:endParaRPr>
          </a:p>
          <a:p>
            <a:pPr defTabSz="914400">
              <a:lnSpc>
                <a:spcPct val="100000"/>
              </a:lnSpc>
              <a:tabLst>
                <a:tab pos="0" algn="l"/>
              </a:tabLst>
            </a:pPr>
            <a:r>
              <a:rPr lang="en-US" sz="3400" b="1" strike="noStrike" spc="-1">
                <a:solidFill>
                  <a:srgbClr val="FFFFFF"/>
                </a:solidFill>
                <a:latin typeface="Arial"/>
                <a:ea typeface="Arial"/>
              </a:rPr>
              <a:t>Application Visibility</a:t>
            </a:r>
            <a:endParaRPr lang="en-US" sz="3400" b="0" strike="noStrike" spc="-1">
              <a:solidFill>
                <a:srgbClr val="FFFFFF"/>
              </a:solidFill>
              <a:latin typeface="Arial"/>
            </a:endParaRPr>
          </a:p>
          <a:p>
            <a:pPr defTabSz="914400">
              <a:lnSpc>
                <a:spcPct val="100000"/>
              </a:lnSpc>
              <a:tabLst>
                <a:tab pos="0" algn="l"/>
              </a:tabLst>
            </a:pPr>
            <a:r>
              <a:rPr lang="en-US" sz="3400" b="1" strike="noStrike" spc="-1">
                <a:solidFill>
                  <a:srgbClr val="FFFFFF"/>
                </a:solidFill>
                <a:latin typeface="Arial"/>
                <a:ea typeface="Arial"/>
              </a:rPr>
              <a:t>and Reporting (AVR)</a:t>
            </a:r>
            <a:endParaRPr lang="en-US" sz="3400" b="0" strike="noStrike" spc="-1">
              <a:solidFill>
                <a:srgbClr val="FFFFFF"/>
              </a:solidFill>
              <a:latin typeface="Arial"/>
            </a:endParaRPr>
          </a:p>
        </p:txBody>
      </p:sp>
      <p:sp>
        <p:nvSpPr>
          <p:cNvPr id="723" name="Text 6"/>
          <p:cNvSpPr/>
          <p:nvPr/>
        </p:nvSpPr>
        <p:spPr>
          <a:xfrm>
            <a:off x="365760" y="3566160"/>
            <a:ext cx="640044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strike="noStrike" spc="-1">
                <a:solidFill>
                  <a:srgbClr val="666666"/>
                </a:solidFill>
                <a:latin typeface="Calibri"/>
                <a:ea typeface="Calibri"/>
              </a:rPr>
              <a:t>Provision AVR, build analytics profiles, generate traffic with simulated</a:t>
            </a:r>
            <a:endParaRPr lang="en-US" sz="1400" b="0" strike="noStrike" spc="-1">
              <a:solidFill>
                <a:srgbClr val="FFFFFF"/>
              </a:solidFill>
              <a:latin typeface="Arial"/>
            </a:endParaRPr>
          </a:p>
          <a:p>
            <a:pPr defTabSz="914400">
              <a:lnSpc>
                <a:spcPct val="100000"/>
              </a:lnSpc>
              <a:tabLst>
                <a:tab pos="0" algn="l"/>
              </a:tabLst>
            </a:pPr>
            <a:r>
              <a:rPr lang="en-US" sz="1400" b="0" strike="noStrike" spc="-1">
                <a:solidFill>
                  <a:srgbClr val="666666"/>
                </a:solidFill>
                <a:latin typeface="Calibri"/>
                <a:ea typeface="Calibri"/>
              </a:rPr>
              <a:t>clients, and use dashboards to identify latency bottlenecks and traffic patterns.</a:t>
            </a:r>
            <a:endParaRPr lang="en-US" sz="1400" b="0" strike="noStrike" spc="-1">
              <a:solidFill>
                <a:srgbClr val="FFFFFF"/>
              </a:solidFill>
              <a:latin typeface="Arial"/>
            </a:endParaRPr>
          </a:p>
        </p:txBody>
      </p:sp>
      <p:sp>
        <p:nvSpPr>
          <p:cNvPr id="724" name="Text 7"/>
          <p:cNvSpPr/>
          <p:nvPr/>
        </p:nvSpPr>
        <p:spPr>
          <a:xfrm>
            <a:off x="365760" y="4206240"/>
            <a:ext cx="45716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strike="noStrike" spc="-1">
                <a:solidFill>
                  <a:srgbClr val="F29A36"/>
                </a:solidFill>
                <a:latin typeface="Calibri"/>
                <a:ea typeface="Calibri"/>
              </a:rPr>
              <a:t>55 min  |  10 min slides + 45 min lab</a:t>
            </a:r>
            <a:endParaRPr lang="en-US" sz="1100" b="0" strike="noStrike" spc="-1">
              <a:solidFill>
                <a:srgbClr val="FFFFFF"/>
              </a:solidFill>
              <a:latin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25"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726"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727"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728"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729"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730"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32    © 2026 F5</a:t>
            </a:r>
            <a:endParaRPr lang="en-US" sz="800" b="0" strike="noStrike" spc="-1">
              <a:solidFill>
                <a:srgbClr val="000000"/>
              </a:solidFill>
              <a:latin typeface="Arial"/>
            </a:endParaRPr>
          </a:p>
        </p:txBody>
      </p:sp>
      <p:pic>
        <p:nvPicPr>
          <p:cNvPr id="731" name="Image 0" descr="preencoded.png"/>
          <p:cNvPicPr/>
          <p:nvPr/>
        </p:nvPicPr>
        <p:blipFill>
          <a:blip r:embed="rId3"/>
          <a:stretch/>
        </p:blipFill>
        <p:spPr>
          <a:xfrm>
            <a:off x="8458200" y="4663440"/>
            <a:ext cx="383760" cy="383760"/>
          </a:xfrm>
          <a:prstGeom prst="rect">
            <a:avLst/>
          </a:prstGeom>
          <a:ln w="0">
            <a:noFill/>
          </a:ln>
        </p:spPr>
      </p:pic>
      <p:sp>
        <p:nvSpPr>
          <p:cNvPr id="732" name="Text 6"/>
          <p:cNvSpPr/>
          <p:nvPr/>
        </p:nvSpPr>
        <p:spPr>
          <a:xfrm>
            <a:off x="457200" y="274320"/>
            <a:ext cx="82292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What AVR Provides</a:t>
            </a:r>
            <a:endParaRPr lang="en-US" sz="2800" b="0" strike="noStrike" spc="-1">
              <a:solidFill>
                <a:srgbClr val="000000"/>
              </a:solidFill>
              <a:latin typeface="Arial"/>
            </a:endParaRPr>
          </a:p>
        </p:txBody>
      </p:sp>
      <p:sp>
        <p:nvSpPr>
          <p:cNvPr id="733" name="Text 7"/>
          <p:cNvSpPr/>
          <p:nvPr/>
        </p:nvSpPr>
        <p:spPr>
          <a:xfrm>
            <a:off x="457200" y="68580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strike="noStrike" spc="-1">
                <a:solidFill>
                  <a:srgbClr val="666666"/>
                </a:solidFill>
                <a:latin typeface="Calibri"/>
                <a:ea typeface="Calibri"/>
              </a:rPr>
              <a:t>Built-in analytics engine for real-time application monitoring — no external tools required</a:t>
            </a:r>
            <a:endParaRPr lang="en-US" sz="1400" b="0" strike="noStrike" spc="-1">
              <a:solidFill>
                <a:srgbClr val="000000"/>
              </a:solidFill>
              <a:latin typeface="Arial"/>
            </a:endParaRPr>
          </a:p>
        </p:txBody>
      </p:sp>
      <p:sp>
        <p:nvSpPr>
          <p:cNvPr id="734" name="Shape 8"/>
          <p:cNvSpPr/>
          <p:nvPr/>
        </p:nvSpPr>
        <p:spPr>
          <a:xfrm>
            <a:off x="365760" y="1097280"/>
            <a:ext cx="2605680" cy="54828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735" name="Text 9"/>
          <p:cNvSpPr/>
          <p:nvPr/>
        </p:nvSpPr>
        <p:spPr>
          <a:xfrm>
            <a:off x="365760" y="1097280"/>
            <a:ext cx="260568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strike="noStrike" spc="-1">
                <a:solidFill>
                  <a:srgbClr val="FFFFFF"/>
                </a:solidFill>
                <a:latin typeface="Arial"/>
                <a:ea typeface="Arial"/>
              </a:rPr>
              <a:t>Performance</a:t>
            </a:r>
            <a:endParaRPr lang="en-US" sz="1300" b="0" strike="noStrike" spc="-1">
              <a:solidFill>
                <a:srgbClr val="000000"/>
              </a:solidFill>
              <a:latin typeface="Arial"/>
            </a:endParaRPr>
          </a:p>
          <a:p>
            <a:pPr algn="ctr" defTabSz="914400">
              <a:lnSpc>
                <a:spcPct val="100000"/>
              </a:lnSpc>
              <a:tabLst>
                <a:tab pos="0" algn="l"/>
              </a:tabLst>
            </a:pPr>
            <a:r>
              <a:rPr lang="en-US" sz="1300" b="1" strike="noStrike" spc="-1">
                <a:solidFill>
                  <a:srgbClr val="FFFFFF"/>
                </a:solidFill>
                <a:latin typeface="Arial"/>
                <a:ea typeface="Arial"/>
              </a:rPr>
              <a:t>monitoring</a:t>
            </a:r>
            <a:endParaRPr lang="en-US" sz="1300" b="0" strike="noStrike" spc="-1">
              <a:solidFill>
                <a:srgbClr val="000000"/>
              </a:solidFill>
              <a:latin typeface="Arial"/>
            </a:endParaRPr>
          </a:p>
        </p:txBody>
      </p:sp>
      <p:sp>
        <p:nvSpPr>
          <p:cNvPr id="736" name="Shape 10"/>
          <p:cNvSpPr/>
          <p:nvPr/>
        </p:nvSpPr>
        <p:spPr>
          <a:xfrm>
            <a:off x="365760" y="1645920"/>
            <a:ext cx="2605680" cy="123408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737" name="Text 11"/>
          <p:cNvSpPr/>
          <p:nvPr/>
        </p:nvSpPr>
        <p:spPr>
          <a:xfrm>
            <a:off x="475560" y="1691640"/>
            <a:ext cx="2377080" cy="1142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40000"/>
              </a:lnSpc>
              <a:tabLst>
                <a:tab pos="0" algn="l"/>
              </a:tabLst>
            </a:pPr>
            <a:r>
              <a:rPr lang="en-US" sz="1100" b="0" strike="noStrike" spc="-1">
                <a:solidFill>
                  <a:srgbClr val="333333"/>
                </a:solidFill>
                <a:latin typeface="Calibri"/>
                <a:ea typeface="Calibri"/>
              </a:rPr>
              <a:t>Transaction rates (TPS)</a:t>
            </a:r>
            <a:endParaRPr lang="en-US" sz="1100" b="0" strike="noStrike" spc="-1">
              <a:solidFill>
                <a:srgbClr val="000000"/>
              </a:solidFill>
              <a:latin typeface="Arial"/>
            </a:endParaRPr>
          </a:p>
          <a:p>
            <a:pPr defTabSz="914400">
              <a:lnSpc>
                <a:spcPct val="140000"/>
              </a:lnSpc>
              <a:tabLst>
                <a:tab pos="0" algn="l"/>
              </a:tabLst>
            </a:pPr>
            <a:r>
              <a:rPr lang="en-US" sz="1100" b="0" strike="noStrike" spc="-1">
                <a:solidFill>
                  <a:srgbClr val="333333"/>
                </a:solidFill>
                <a:latin typeface="Calibri"/>
                <a:ea typeface="Calibri"/>
              </a:rPr>
              <a:t>Server/client latency</a:t>
            </a:r>
            <a:endParaRPr lang="en-US" sz="1100" b="0" strike="noStrike" spc="-1">
              <a:solidFill>
                <a:srgbClr val="000000"/>
              </a:solidFill>
              <a:latin typeface="Arial"/>
            </a:endParaRPr>
          </a:p>
          <a:p>
            <a:pPr defTabSz="914400">
              <a:lnSpc>
                <a:spcPct val="140000"/>
              </a:lnSpc>
              <a:tabLst>
                <a:tab pos="0" algn="l"/>
              </a:tabLst>
            </a:pPr>
            <a:r>
              <a:rPr lang="en-US" sz="1100" b="0" strike="noStrike" spc="-1">
                <a:solidFill>
                  <a:srgbClr val="333333"/>
                </a:solidFill>
                <a:latin typeface="Calibri"/>
                <a:ea typeface="Calibri"/>
              </a:rPr>
              <a:t>Throughput (bits/sec)</a:t>
            </a:r>
            <a:endParaRPr lang="en-US" sz="1100" b="0" strike="noStrike" spc="-1">
              <a:solidFill>
                <a:srgbClr val="000000"/>
              </a:solidFill>
              <a:latin typeface="Arial"/>
            </a:endParaRPr>
          </a:p>
          <a:p>
            <a:pPr defTabSz="914400">
              <a:lnSpc>
                <a:spcPct val="140000"/>
              </a:lnSpc>
              <a:tabLst>
                <a:tab pos="0" algn="l"/>
              </a:tabLst>
            </a:pPr>
            <a:r>
              <a:rPr lang="en-US" sz="1100" b="0" strike="noStrike" spc="-1">
                <a:solidFill>
                  <a:srgbClr val="333333"/>
                </a:solidFill>
                <a:latin typeface="Calibri"/>
                <a:ea typeface="Calibri"/>
              </a:rPr>
              <a:t>Page load time</a:t>
            </a:r>
            <a:endParaRPr lang="en-US" sz="1100" b="0" strike="noStrike" spc="-1">
              <a:solidFill>
                <a:srgbClr val="000000"/>
              </a:solidFill>
              <a:latin typeface="Arial"/>
            </a:endParaRPr>
          </a:p>
        </p:txBody>
      </p:sp>
      <p:sp>
        <p:nvSpPr>
          <p:cNvPr id="738" name="Shape 12"/>
          <p:cNvSpPr/>
          <p:nvPr/>
        </p:nvSpPr>
        <p:spPr>
          <a:xfrm>
            <a:off x="3200400" y="1097280"/>
            <a:ext cx="2605680" cy="54828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739" name="Text 13"/>
          <p:cNvSpPr/>
          <p:nvPr/>
        </p:nvSpPr>
        <p:spPr>
          <a:xfrm>
            <a:off x="3200400" y="1097280"/>
            <a:ext cx="260568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strike="noStrike" spc="-1">
                <a:solidFill>
                  <a:srgbClr val="FFFFFF"/>
                </a:solidFill>
                <a:latin typeface="Arial"/>
                <a:ea typeface="Arial"/>
              </a:rPr>
              <a:t>Traffic</a:t>
            </a:r>
            <a:endParaRPr lang="en-US" sz="1300" b="0" strike="noStrike" spc="-1">
              <a:solidFill>
                <a:srgbClr val="000000"/>
              </a:solidFill>
              <a:latin typeface="Arial"/>
            </a:endParaRPr>
          </a:p>
          <a:p>
            <a:pPr algn="ctr" defTabSz="914400">
              <a:lnSpc>
                <a:spcPct val="100000"/>
              </a:lnSpc>
              <a:tabLst>
                <a:tab pos="0" algn="l"/>
              </a:tabLst>
            </a:pPr>
            <a:r>
              <a:rPr lang="en-US" sz="1300" b="1" strike="noStrike" spc="-1">
                <a:solidFill>
                  <a:srgbClr val="FFFFFF"/>
                </a:solidFill>
                <a:latin typeface="Arial"/>
                <a:ea typeface="Arial"/>
              </a:rPr>
              <a:t>analysis</a:t>
            </a:r>
            <a:endParaRPr lang="en-US" sz="1300" b="0" strike="noStrike" spc="-1">
              <a:solidFill>
                <a:srgbClr val="000000"/>
              </a:solidFill>
              <a:latin typeface="Arial"/>
            </a:endParaRPr>
          </a:p>
        </p:txBody>
      </p:sp>
      <p:sp>
        <p:nvSpPr>
          <p:cNvPr id="740" name="Shape 14"/>
          <p:cNvSpPr/>
          <p:nvPr/>
        </p:nvSpPr>
        <p:spPr>
          <a:xfrm>
            <a:off x="3200400" y="1645920"/>
            <a:ext cx="2605680" cy="123408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741" name="Text 15"/>
          <p:cNvSpPr/>
          <p:nvPr/>
        </p:nvSpPr>
        <p:spPr>
          <a:xfrm>
            <a:off x="3310200" y="1691640"/>
            <a:ext cx="2377080" cy="1142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40000"/>
              </a:lnSpc>
              <a:tabLst>
                <a:tab pos="0" algn="l"/>
              </a:tabLst>
            </a:pPr>
            <a:r>
              <a:rPr lang="en-US" sz="1100" b="0" strike="noStrike" spc="-1">
                <a:solidFill>
                  <a:srgbClr val="333333"/>
                </a:solidFill>
                <a:latin typeface="Calibri"/>
                <a:ea typeface="Calibri"/>
              </a:rPr>
              <a:t>Top URLs accessed</a:t>
            </a:r>
            <a:endParaRPr lang="en-US" sz="1100" b="0" strike="noStrike" spc="-1">
              <a:solidFill>
                <a:srgbClr val="000000"/>
              </a:solidFill>
              <a:latin typeface="Arial"/>
            </a:endParaRPr>
          </a:p>
          <a:p>
            <a:pPr defTabSz="914400">
              <a:lnSpc>
                <a:spcPct val="140000"/>
              </a:lnSpc>
              <a:tabLst>
                <a:tab pos="0" algn="l"/>
              </a:tabLst>
            </a:pPr>
            <a:r>
              <a:rPr lang="en-US" sz="1100" b="0" strike="noStrike" spc="-1">
                <a:solidFill>
                  <a:srgbClr val="333333"/>
                </a:solidFill>
                <a:latin typeface="Calibri"/>
                <a:ea typeface="Calibri"/>
              </a:rPr>
              <a:t>Top client IPs / subnets</a:t>
            </a:r>
            <a:endParaRPr lang="en-US" sz="1100" b="0" strike="noStrike" spc="-1">
              <a:solidFill>
                <a:srgbClr val="000000"/>
              </a:solidFill>
              <a:latin typeface="Arial"/>
            </a:endParaRPr>
          </a:p>
          <a:p>
            <a:pPr defTabSz="914400">
              <a:lnSpc>
                <a:spcPct val="140000"/>
              </a:lnSpc>
              <a:tabLst>
                <a:tab pos="0" algn="l"/>
              </a:tabLst>
            </a:pPr>
            <a:r>
              <a:rPr lang="en-US" sz="1100" b="0" strike="noStrike" spc="-1">
                <a:solidFill>
                  <a:srgbClr val="333333"/>
                </a:solidFill>
                <a:latin typeface="Calibri"/>
                <a:ea typeface="Calibri"/>
              </a:rPr>
              <a:t>Response code distribution</a:t>
            </a:r>
            <a:endParaRPr lang="en-US" sz="1100" b="0" strike="noStrike" spc="-1">
              <a:solidFill>
                <a:srgbClr val="000000"/>
              </a:solidFill>
              <a:latin typeface="Arial"/>
            </a:endParaRPr>
          </a:p>
          <a:p>
            <a:pPr defTabSz="914400">
              <a:lnSpc>
                <a:spcPct val="140000"/>
              </a:lnSpc>
              <a:tabLst>
                <a:tab pos="0" algn="l"/>
              </a:tabLst>
            </a:pPr>
            <a:r>
              <a:rPr lang="en-US" sz="1100" b="0" strike="noStrike" spc="-1">
                <a:solidFill>
                  <a:srgbClr val="333333"/>
                </a:solidFill>
                <a:latin typeface="Calibri"/>
                <a:ea typeface="Calibri"/>
              </a:rPr>
              <a:t>HTTP methods breakdown</a:t>
            </a:r>
            <a:endParaRPr lang="en-US" sz="1100" b="0" strike="noStrike" spc="-1">
              <a:solidFill>
                <a:srgbClr val="000000"/>
              </a:solidFill>
              <a:latin typeface="Arial"/>
            </a:endParaRPr>
          </a:p>
        </p:txBody>
      </p:sp>
      <p:sp>
        <p:nvSpPr>
          <p:cNvPr id="742" name="Shape 16"/>
          <p:cNvSpPr/>
          <p:nvPr/>
        </p:nvSpPr>
        <p:spPr>
          <a:xfrm>
            <a:off x="6035040" y="1097280"/>
            <a:ext cx="2605680" cy="54828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743" name="Text 17"/>
          <p:cNvSpPr/>
          <p:nvPr/>
        </p:nvSpPr>
        <p:spPr>
          <a:xfrm>
            <a:off x="6035040" y="1097280"/>
            <a:ext cx="260568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strike="noStrike" spc="-1">
                <a:solidFill>
                  <a:srgbClr val="FFFFFF"/>
                </a:solidFill>
                <a:latin typeface="Arial"/>
                <a:ea typeface="Arial"/>
              </a:rPr>
              <a:t>Troubleshooting</a:t>
            </a:r>
            <a:endParaRPr lang="en-US" sz="1300" b="0" strike="noStrike" spc="-1">
              <a:solidFill>
                <a:srgbClr val="000000"/>
              </a:solidFill>
              <a:latin typeface="Arial"/>
            </a:endParaRPr>
          </a:p>
          <a:p>
            <a:pPr algn="ctr" defTabSz="914400">
              <a:lnSpc>
                <a:spcPct val="100000"/>
              </a:lnSpc>
              <a:tabLst>
                <a:tab pos="0" algn="l"/>
              </a:tabLst>
            </a:pPr>
            <a:r>
              <a:rPr lang="en-US" sz="1300" b="1" strike="noStrike" spc="-1">
                <a:solidFill>
                  <a:srgbClr val="FFFFFF"/>
                </a:solidFill>
                <a:latin typeface="Arial"/>
                <a:ea typeface="Arial"/>
              </a:rPr>
              <a:t>&amp; security</a:t>
            </a:r>
            <a:endParaRPr lang="en-US" sz="1300" b="0" strike="noStrike" spc="-1">
              <a:solidFill>
                <a:srgbClr val="000000"/>
              </a:solidFill>
              <a:latin typeface="Arial"/>
            </a:endParaRPr>
          </a:p>
        </p:txBody>
      </p:sp>
      <p:sp>
        <p:nvSpPr>
          <p:cNvPr id="744" name="Shape 18"/>
          <p:cNvSpPr/>
          <p:nvPr/>
        </p:nvSpPr>
        <p:spPr>
          <a:xfrm>
            <a:off x="6035040" y="1645920"/>
            <a:ext cx="2605680" cy="123408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745" name="Text 19"/>
          <p:cNvSpPr/>
          <p:nvPr/>
        </p:nvSpPr>
        <p:spPr>
          <a:xfrm>
            <a:off x="6144840" y="1691640"/>
            <a:ext cx="2377080" cy="1142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40000"/>
              </a:lnSpc>
              <a:tabLst>
                <a:tab pos="0" algn="l"/>
              </a:tabLst>
            </a:pPr>
            <a:r>
              <a:rPr lang="en-US" sz="1100" b="0" strike="noStrike" spc="-1">
                <a:solidFill>
                  <a:srgbClr val="333333"/>
                </a:solidFill>
                <a:latin typeface="Calibri"/>
                <a:ea typeface="Calibri"/>
              </a:rPr>
              <a:t>Identify slow pool members</a:t>
            </a:r>
            <a:endParaRPr lang="en-US" sz="1100" b="0" strike="noStrike" spc="-1">
              <a:solidFill>
                <a:srgbClr val="000000"/>
              </a:solidFill>
              <a:latin typeface="Arial"/>
            </a:endParaRPr>
          </a:p>
          <a:p>
            <a:pPr defTabSz="914400">
              <a:lnSpc>
                <a:spcPct val="140000"/>
              </a:lnSpc>
              <a:tabLst>
                <a:tab pos="0" algn="l"/>
              </a:tabLst>
            </a:pPr>
            <a:r>
              <a:rPr lang="en-US" sz="1100" b="0" strike="noStrike" spc="-1">
                <a:solidFill>
                  <a:srgbClr val="333333"/>
                </a:solidFill>
                <a:latin typeface="Calibri"/>
                <a:ea typeface="Calibri"/>
              </a:rPr>
              <a:t>Detect traffic anomalies</a:t>
            </a:r>
            <a:endParaRPr lang="en-US" sz="1100" b="0" strike="noStrike" spc="-1">
              <a:solidFill>
                <a:srgbClr val="000000"/>
              </a:solidFill>
              <a:latin typeface="Arial"/>
            </a:endParaRPr>
          </a:p>
          <a:p>
            <a:pPr defTabSz="914400">
              <a:lnSpc>
                <a:spcPct val="140000"/>
              </a:lnSpc>
              <a:tabLst>
                <a:tab pos="0" algn="l"/>
              </a:tabLst>
            </a:pPr>
            <a:r>
              <a:rPr lang="en-US" sz="1100" b="0" strike="noStrike" spc="-1">
                <a:solidFill>
                  <a:srgbClr val="333333"/>
                </a:solidFill>
                <a:latin typeface="Calibri"/>
                <a:ea typeface="Calibri"/>
              </a:rPr>
              <a:t>Track user agent distribution</a:t>
            </a:r>
            <a:endParaRPr lang="en-US" sz="1100" b="0" strike="noStrike" spc="-1">
              <a:solidFill>
                <a:srgbClr val="000000"/>
              </a:solidFill>
              <a:latin typeface="Arial"/>
            </a:endParaRPr>
          </a:p>
          <a:p>
            <a:pPr defTabSz="914400">
              <a:lnSpc>
                <a:spcPct val="140000"/>
              </a:lnSpc>
              <a:tabLst>
                <a:tab pos="0" algn="l"/>
              </a:tabLst>
            </a:pPr>
            <a:r>
              <a:rPr lang="en-US" sz="1100" b="0" strike="noStrike" spc="-1">
                <a:solidFill>
                  <a:srgbClr val="333333"/>
                </a:solidFill>
                <a:latin typeface="Calibri"/>
                <a:ea typeface="Calibri"/>
              </a:rPr>
              <a:t>Correlate latency to URLs</a:t>
            </a:r>
            <a:endParaRPr lang="en-US" sz="1100" b="0" strike="noStrike" spc="-1">
              <a:solidFill>
                <a:srgbClr val="000000"/>
              </a:solidFill>
              <a:latin typeface="Arial"/>
            </a:endParaRPr>
          </a:p>
        </p:txBody>
      </p:sp>
      <p:sp>
        <p:nvSpPr>
          <p:cNvPr id="746" name="Text 20"/>
          <p:cNvSpPr/>
          <p:nvPr/>
        </p:nvSpPr>
        <p:spPr>
          <a:xfrm>
            <a:off x="457200" y="3063240"/>
            <a:ext cx="45716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strike="noStrike" spc="-1">
                <a:solidFill>
                  <a:srgbClr val="0E41AA"/>
                </a:solidFill>
                <a:latin typeface="Arial"/>
                <a:ea typeface="Arial"/>
              </a:rPr>
              <a:t>Setup requirements</a:t>
            </a:r>
            <a:endParaRPr lang="en-US" sz="1600" b="0" strike="noStrike" spc="-1">
              <a:solidFill>
                <a:srgbClr val="000000"/>
              </a:solidFill>
              <a:latin typeface="Arial"/>
            </a:endParaRPr>
          </a:p>
        </p:txBody>
      </p:sp>
      <p:graphicFrame>
        <p:nvGraphicFramePr>
          <p:cNvPr id="747" name="Table 0"/>
          <p:cNvGraphicFramePr/>
          <p:nvPr/>
        </p:nvGraphicFramePr>
        <p:xfrm>
          <a:off x="365760" y="3337560"/>
          <a:ext cx="8412480" cy="1463040"/>
        </p:xfrm>
        <a:graphic>
          <a:graphicData uri="http://schemas.openxmlformats.org/drawingml/2006/table">
            <a:tbl>
              <a:tblPr/>
              <a:tblGrid>
                <a:gridCol w="45720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4023360">
                  <a:extLst>
                    <a:ext uri="{9D8B030D-6E8A-4147-A177-3AD203B41FA5}">
                      <a16:colId xmlns:a16="http://schemas.microsoft.com/office/drawing/2014/main" val="20003"/>
                    </a:ext>
                  </a:extLst>
                </a:gridCol>
              </a:tblGrid>
              <a:tr h="0">
                <a:tc>
                  <a:txBody>
                    <a:bodyPr/>
                    <a:lstStyle/>
                    <a:p>
                      <a:pPr algn="ctr" defTabSz="914400">
                        <a:lnSpc>
                          <a:spcPct val="100000"/>
                        </a:lnSpc>
                        <a:tabLst>
                          <a:tab pos="0" algn="l"/>
                        </a:tabLst>
                      </a:pPr>
                      <a:r>
                        <a:rPr lang="en-US" sz="1000" b="1" strike="noStrike" spc="-1">
                          <a:solidFill>
                            <a:srgbClr val="FFFFFF"/>
                          </a:solidFill>
                          <a:latin typeface="Calibri"/>
                        </a:rPr>
                        <a:t>Step</a:t>
                      </a:r>
                      <a:endParaRPr lang="en-US" sz="10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E41AA"/>
                    </a:solidFill>
                  </a:tcPr>
                </a:tc>
                <a:tc>
                  <a:txBody>
                    <a:bodyPr/>
                    <a:lstStyle/>
                    <a:p>
                      <a:pPr defTabSz="914400">
                        <a:lnSpc>
                          <a:spcPct val="100000"/>
                        </a:lnSpc>
                        <a:tabLst>
                          <a:tab pos="0" algn="l"/>
                        </a:tabLst>
                      </a:pPr>
                      <a:r>
                        <a:rPr lang="en-US" sz="1000" b="1" strike="noStrike" spc="-1">
                          <a:solidFill>
                            <a:srgbClr val="FFFFFF"/>
                          </a:solidFill>
                          <a:latin typeface="Calibri"/>
                        </a:rPr>
                        <a:t>What</a:t>
                      </a:r>
                      <a:endParaRPr lang="en-US" sz="10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E41AA"/>
                    </a:solidFill>
                  </a:tcPr>
                </a:tc>
                <a:tc>
                  <a:txBody>
                    <a:bodyPr/>
                    <a:lstStyle/>
                    <a:p>
                      <a:pPr defTabSz="914400">
                        <a:lnSpc>
                          <a:spcPct val="100000"/>
                        </a:lnSpc>
                        <a:tabLst>
                          <a:tab pos="0" algn="l"/>
                        </a:tabLst>
                      </a:pPr>
                      <a:r>
                        <a:rPr lang="en-US" sz="1000" b="1" strike="noStrike" spc="-1">
                          <a:solidFill>
                            <a:srgbClr val="FFFFFF"/>
                          </a:solidFill>
                          <a:latin typeface="Calibri"/>
                        </a:rPr>
                        <a:t>Where</a:t>
                      </a:r>
                      <a:endParaRPr lang="en-US" sz="10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E41AA"/>
                    </a:solidFill>
                  </a:tcPr>
                </a:tc>
                <a:tc>
                  <a:txBody>
                    <a:bodyPr/>
                    <a:lstStyle/>
                    <a:p>
                      <a:pPr defTabSz="914400">
                        <a:lnSpc>
                          <a:spcPct val="100000"/>
                        </a:lnSpc>
                        <a:tabLst>
                          <a:tab pos="0" algn="l"/>
                        </a:tabLst>
                      </a:pPr>
                      <a:r>
                        <a:rPr lang="en-US" sz="1000" b="1" strike="noStrike" spc="-1">
                          <a:solidFill>
                            <a:srgbClr val="FFFFFF"/>
                          </a:solidFill>
                          <a:latin typeface="Calibri"/>
                        </a:rPr>
                        <a:t>Notes</a:t>
                      </a:r>
                      <a:endParaRPr lang="en-US" sz="10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E41AA"/>
                    </a:solidFill>
                  </a:tcPr>
                </a:tc>
                <a:extLst>
                  <a:ext uri="{0D108BD9-81ED-4DB2-BD59-A6C34878D82A}">
                    <a16:rowId xmlns:a16="http://schemas.microsoft.com/office/drawing/2014/main" val="10000"/>
                  </a:ext>
                </a:extLst>
              </a:tr>
              <a:tr h="0">
                <a:tc>
                  <a:txBody>
                    <a:bodyPr/>
                    <a:lstStyle/>
                    <a:p>
                      <a:pPr algn="ctr" defTabSz="914400">
                        <a:lnSpc>
                          <a:spcPct val="100000"/>
                        </a:lnSpc>
                        <a:tabLst>
                          <a:tab pos="0" algn="l"/>
                        </a:tabLst>
                      </a:pPr>
                      <a:r>
                        <a:rPr lang="en-US" sz="1000" b="0" strike="noStrike" spc="-1">
                          <a:solidFill>
                            <a:srgbClr val="000000"/>
                          </a:solidFill>
                          <a:latin typeface="Calibri"/>
                        </a:rPr>
                        <a:t>1</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1000" b="1" strike="noStrike" spc="-1">
                          <a:solidFill>
                            <a:srgbClr val="000000"/>
                          </a:solidFill>
                          <a:latin typeface="Calibri"/>
                        </a:rPr>
                        <a:t>Provision AVR module</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ourier New"/>
                          <a:ea typeface="Courier New"/>
                        </a:rPr>
                        <a:t>System &gt; Resource Provisioning</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Set to Nominal. Requires service restart. NOT provisioned by default.</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1"/>
                  </a:ext>
                </a:extLst>
              </a:tr>
              <a:tr h="0">
                <a:tc>
                  <a:txBody>
                    <a:bodyPr/>
                    <a:lstStyle/>
                    <a:p>
                      <a:pPr algn="ctr" defTabSz="914400">
                        <a:lnSpc>
                          <a:spcPct val="100000"/>
                        </a:lnSpc>
                        <a:tabLst>
                          <a:tab pos="0" algn="l"/>
                        </a:tabLst>
                      </a:pPr>
                      <a:r>
                        <a:rPr lang="en-US" sz="1000" b="0" strike="noStrike" spc="-1">
                          <a:solidFill>
                            <a:srgbClr val="000000"/>
                          </a:solidFill>
                          <a:latin typeface="Calibri"/>
                        </a:rPr>
                        <a:t>2</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1000" b="1" strike="noStrike" spc="-1">
                          <a:solidFill>
                            <a:srgbClr val="000000"/>
                          </a:solidFill>
                          <a:latin typeface="Calibri"/>
                        </a:rPr>
                        <a:t>Create analytics profile</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ourier New"/>
                          <a:ea typeface="Courier New"/>
                        </a:rPr>
                        <a:t>Local Traffic &gt; Profiles &gt; Analytics</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Select metrics (TPS, throughput, page load) and entities (URLs, IPs, countries, codes).</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2"/>
                  </a:ext>
                </a:extLst>
              </a:tr>
              <a:tr h="0">
                <a:tc>
                  <a:txBody>
                    <a:bodyPr/>
                    <a:lstStyle/>
                    <a:p>
                      <a:pPr algn="ctr" defTabSz="914400">
                        <a:lnSpc>
                          <a:spcPct val="100000"/>
                        </a:lnSpc>
                        <a:tabLst>
                          <a:tab pos="0" algn="l"/>
                        </a:tabLst>
                      </a:pPr>
                      <a:r>
                        <a:rPr lang="en-US" sz="1000" b="0" strike="noStrike" spc="-1">
                          <a:solidFill>
                            <a:srgbClr val="000000"/>
                          </a:solidFill>
                          <a:latin typeface="Calibri"/>
                        </a:rPr>
                        <a:t>3</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1000" b="1" strike="noStrike" spc="-1">
                          <a:solidFill>
                            <a:srgbClr val="000000"/>
                          </a:solidFill>
                          <a:latin typeface="Calibri"/>
                        </a:rPr>
                        <a:t>Attach profile to VS</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ourier New"/>
                          <a:ea typeface="Courier New"/>
                        </a:rPr>
                        <a:t>Virtual server &gt; Analytics Profile</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Only VS with analytics profile attached will generate data.</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3"/>
                  </a:ext>
                </a:extLst>
              </a:tr>
              <a:tr h="0">
                <a:tc>
                  <a:txBody>
                    <a:bodyPr/>
                    <a:lstStyle/>
                    <a:p>
                      <a:pPr algn="ctr" defTabSz="914400">
                        <a:lnSpc>
                          <a:spcPct val="100000"/>
                        </a:lnSpc>
                        <a:tabLst>
                          <a:tab pos="0" algn="l"/>
                        </a:tabLst>
                      </a:pPr>
                      <a:r>
                        <a:rPr lang="en-US" sz="1000" b="0" strike="noStrike" spc="-1">
                          <a:solidFill>
                            <a:srgbClr val="000000"/>
                          </a:solidFill>
                          <a:latin typeface="Calibri"/>
                        </a:rPr>
                        <a:t>4</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1000" b="1" strike="noStrike" spc="-1">
                          <a:solidFill>
                            <a:srgbClr val="000000"/>
                          </a:solidFill>
                          <a:latin typeface="Calibri"/>
                        </a:rPr>
                        <a:t>View reports</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ourier New"/>
                          <a:ea typeface="Courier New"/>
                        </a:rPr>
                        <a:t>Statistics &gt; Analytics &gt; HTTP</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Data appears within 1-5 min. Set Auto Refresh to 1 min.</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48"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749"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750"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751"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752"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753"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33    © 2026 F5</a:t>
            </a:r>
            <a:endParaRPr lang="en-US" sz="800" b="0" strike="noStrike" spc="-1">
              <a:solidFill>
                <a:srgbClr val="000000"/>
              </a:solidFill>
              <a:latin typeface="Arial"/>
            </a:endParaRPr>
          </a:p>
        </p:txBody>
      </p:sp>
      <p:pic>
        <p:nvPicPr>
          <p:cNvPr id="754" name="Image 0" descr="preencoded.png"/>
          <p:cNvPicPr/>
          <p:nvPr/>
        </p:nvPicPr>
        <p:blipFill>
          <a:blip r:embed="rId3"/>
          <a:stretch/>
        </p:blipFill>
        <p:spPr>
          <a:xfrm>
            <a:off x="8458200" y="4663440"/>
            <a:ext cx="383760" cy="383760"/>
          </a:xfrm>
          <a:prstGeom prst="rect">
            <a:avLst/>
          </a:prstGeom>
          <a:ln w="0">
            <a:noFill/>
          </a:ln>
        </p:spPr>
      </p:pic>
      <p:sp>
        <p:nvSpPr>
          <p:cNvPr id="755" name="Text 6"/>
          <p:cNvSpPr/>
          <p:nvPr/>
        </p:nvSpPr>
        <p:spPr>
          <a:xfrm>
            <a:off x="457200" y="274320"/>
            <a:ext cx="82292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GUI – Creating an AVR Profile</a:t>
            </a:r>
            <a:endParaRPr lang="en-US" sz="2800" b="0" strike="noStrike" spc="-1">
              <a:solidFill>
                <a:srgbClr val="000000"/>
              </a:solidFill>
              <a:latin typeface="Arial"/>
            </a:endParaRPr>
          </a:p>
        </p:txBody>
      </p:sp>
      <p:sp>
        <p:nvSpPr>
          <p:cNvPr id="756" name="Text 7"/>
          <p:cNvSpPr/>
          <p:nvPr/>
        </p:nvSpPr>
        <p:spPr>
          <a:xfrm>
            <a:off x="457200" y="68580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strike="noStrike" spc="-1">
                <a:solidFill>
                  <a:srgbClr val="666666"/>
                </a:solidFill>
                <a:latin typeface="Calibri"/>
                <a:ea typeface="Calibri"/>
              </a:rPr>
              <a:t>Local Traffic &gt; Profiles &gt; Analytics &gt; Create</a:t>
            </a:r>
            <a:endParaRPr lang="en-US" sz="1400" b="0" strike="noStrike" spc="-1">
              <a:solidFill>
                <a:srgbClr val="000000"/>
              </a:solidFill>
              <a:latin typeface="Arial"/>
            </a:endParaRPr>
          </a:p>
        </p:txBody>
      </p:sp>
      <p:sp>
        <p:nvSpPr>
          <p:cNvPr id="757" name="Rectangle 24"/>
          <p:cNvSpPr/>
          <p:nvPr/>
        </p:nvSpPr>
        <p:spPr>
          <a:xfrm>
            <a:off x="114480" y="970560"/>
            <a:ext cx="8915040" cy="23760"/>
          </a:xfrm>
          <a:prstGeom prst="rect">
            <a:avLst/>
          </a:prstGeom>
          <a:solidFill>
            <a:srgbClr val="E4002B"/>
          </a:solidFill>
          <a:ln>
            <a:noFill/>
          </a:ln>
        </p:spPr>
        <p:style>
          <a:lnRef idx="1">
            <a:schemeClr val="accent1"/>
          </a:lnRef>
          <a:fillRef idx="3">
            <a:schemeClr val="accent1"/>
          </a:fillRef>
          <a:effectRef idx="2">
            <a:schemeClr val="accent1"/>
          </a:effectRef>
          <a:fontRef idx="minor"/>
        </p:style>
        <p:txBody>
          <a:bodyPr lIns="90000" tIns="-20880" rIns="90000" bIns="-20880" anchor="ctr">
            <a:noAutofit/>
          </a:bodyPr>
          <a:lstStyle/>
          <a:p>
            <a:pPr algn="ctr" defTabSz="914400">
              <a:lnSpc>
                <a:spcPct val="100000"/>
              </a:lnSpc>
            </a:pPr>
            <a:endParaRPr lang="en-US" sz="1350" b="0" strike="noStrike" spc="-1">
              <a:solidFill>
                <a:schemeClr val="lt1"/>
              </a:solidFill>
              <a:latin typeface="Calibri"/>
            </a:endParaRPr>
          </a:p>
        </p:txBody>
      </p:sp>
      <p:pic>
        <p:nvPicPr>
          <p:cNvPr id="758" name="Picture 25"/>
          <p:cNvPicPr/>
          <p:nvPr/>
        </p:nvPicPr>
        <p:blipFill>
          <a:blip r:embed="rId4"/>
          <a:stretch/>
        </p:blipFill>
        <p:spPr>
          <a:xfrm>
            <a:off x="204120" y="1118880"/>
            <a:ext cx="3850200" cy="3706200"/>
          </a:xfrm>
          <a:prstGeom prst="rect">
            <a:avLst/>
          </a:prstGeom>
          <a:ln w="0">
            <a:noFill/>
          </a:ln>
        </p:spPr>
      </p:pic>
      <p:pic>
        <p:nvPicPr>
          <p:cNvPr id="759" name="Picture 26"/>
          <p:cNvPicPr/>
          <p:nvPr/>
        </p:nvPicPr>
        <p:blipFill>
          <a:blip r:embed="rId5"/>
          <a:stretch/>
        </p:blipFill>
        <p:spPr>
          <a:xfrm>
            <a:off x="4816440" y="1008360"/>
            <a:ext cx="3605400" cy="4026600"/>
          </a:xfrm>
          <a:prstGeom prst="rect">
            <a:avLst/>
          </a:prstGeom>
          <a:ln w="0">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60"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761"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762"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763"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764"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765"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34    © 2026 F5</a:t>
            </a:r>
            <a:endParaRPr lang="en-US" sz="800" b="0" strike="noStrike" spc="-1">
              <a:solidFill>
                <a:srgbClr val="000000"/>
              </a:solidFill>
              <a:latin typeface="Arial"/>
            </a:endParaRPr>
          </a:p>
        </p:txBody>
      </p:sp>
      <p:pic>
        <p:nvPicPr>
          <p:cNvPr id="766" name="Image 0" descr="preencoded.png"/>
          <p:cNvPicPr/>
          <p:nvPr/>
        </p:nvPicPr>
        <p:blipFill>
          <a:blip r:embed="rId3"/>
          <a:stretch/>
        </p:blipFill>
        <p:spPr>
          <a:xfrm>
            <a:off x="8458200" y="4663440"/>
            <a:ext cx="383760" cy="383760"/>
          </a:xfrm>
          <a:prstGeom prst="rect">
            <a:avLst/>
          </a:prstGeom>
          <a:ln w="0">
            <a:noFill/>
          </a:ln>
        </p:spPr>
      </p:pic>
      <p:sp>
        <p:nvSpPr>
          <p:cNvPr id="767" name="Text 6"/>
          <p:cNvSpPr/>
          <p:nvPr/>
        </p:nvSpPr>
        <p:spPr>
          <a:xfrm>
            <a:off x="457200" y="274320"/>
            <a:ext cx="82292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GUI – AVR Statics</a:t>
            </a:r>
            <a:endParaRPr lang="en-US" sz="2800" b="0" strike="noStrike" spc="-1">
              <a:solidFill>
                <a:srgbClr val="000000"/>
              </a:solidFill>
              <a:latin typeface="Arial"/>
            </a:endParaRPr>
          </a:p>
        </p:txBody>
      </p:sp>
      <p:sp>
        <p:nvSpPr>
          <p:cNvPr id="768" name="Text 7"/>
          <p:cNvSpPr/>
          <p:nvPr/>
        </p:nvSpPr>
        <p:spPr>
          <a:xfrm>
            <a:off x="457200" y="68580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strike="noStrike" spc="-1">
                <a:solidFill>
                  <a:srgbClr val="666666"/>
                </a:solidFill>
                <a:latin typeface="Calibri"/>
                <a:ea typeface="Calibri"/>
              </a:rPr>
              <a:t>Statistics&gt;  Analytics : TCP: RTT</a:t>
            </a:r>
            <a:endParaRPr lang="en-US" sz="1400" b="0" strike="noStrike" spc="-1">
              <a:solidFill>
                <a:srgbClr val="000000"/>
              </a:solidFill>
              <a:latin typeface="Arial"/>
            </a:endParaRPr>
          </a:p>
        </p:txBody>
      </p:sp>
      <p:sp>
        <p:nvSpPr>
          <p:cNvPr id="769" name="Rectangle 24"/>
          <p:cNvSpPr/>
          <p:nvPr/>
        </p:nvSpPr>
        <p:spPr>
          <a:xfrm>
            <a:off x="114480" y="970560"/>
            <a:ext cx="8915040" cy="23760"/>
          </a:xfrm>
          <a:prstGeom prst="rect">
            <a:avLst/>
          </a:prstGeom>
          <a:solidFill>
            <a:srgbClr val="E4002B"/>
          </a:solidFill>
          <a:ln>
            <a:noFill/>
          </a:ln>
        </p:spPr>
        <p:style>
          <a:lnRef idx="1">
            <a:schemeClr val="accent1"/>
          </a:lnRef>
          <a:fillRef idx="3">
            <a:schemeClr val="accent1"/>
          </a:fillRef>
          <a:effectRef idx="2">
            <a:schemeClr val="accent1"/>
          </a:effectRef>
          <a:fontRef idx="minor"/>
        </p:style>
        <p:txBody>
          <a:bodyPr lIns="90000" tIns="-20880" rIns="90000" bIns="-20880" anchor="ctr">
            <a:noAutofit/>
          </a:bodyPr>
          <a:lstStyle/>
          <a:p>
            <a:pPr algn="ctr" defTabSz="914400">
              <a:lnSpc>
                <a:spcPct val="100000"/>
              </a:lnSpc>
            </a:pPr>
            <a:endParaRPr lang="en-US" sz="1350" b="0" strike="noStrike" spc="-1">
              <a:solidFill>
                <a:schemeClr val="lt1"/>
              </a:solidFill>
              <a:latin typeface="Calibri"/>
            </a:endParaRPr>
          </a:p>
        </p:txBody>
      </p:sp>
      <p:pic>
        <p:nvPicPr>
          <p:cNvPr id="770" name="Picture 2" descr="Sample TCP RTT chart"/>
          <p:cNvPicPr/>
          <p:nvPr/>
        </p:nvPicPr>
        <p:blipFill>
          <a:blip r:embed="rId4"/>
          <a:stretch/>
        </p:blipFill>
        <p:spPr>
          <a:xfrm>
            <a:off x="301680" y="1118880"/>
            <a:ext cx="3106800" cy="2526840"/>
          </a:xfrm>
          <a:prstGeom prst="rect">
            <a:avLst/>
          </a:prstGeom>
          <a:ln w="0">
            <a:noFill/>
          </a:ln>
        </p:spPr>
      </p:pic>
      <p:pic>
        <p:nvPicPr>
          <p:cNvPr id="771" name="Picture 11"/>
          <p:cNvPicPr/>
          <p:nvPr/>
        </p:nvPicPr>
        <p:blipFill>
          <a:blip r:embed="rId5"/>
          <a:stretch/>
        </p:blipFill>
        <p:spPr>
          <a:xfrm>
            <a:off x="3552480" y="1600920"/>
            <a:ext cx="5195160" cy="2640960"/>
          </a:xfrm>
          <a:prstGeom prst="rect">
            <a:avLst/>
          </a:prstGeom>
          <a:ln w="0">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72"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773"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774"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775"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776"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777"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35    © 2026 F5</a:t>
            </a:r>
            <a:endParaRPr lang="en-US" sz="800" b="0" strike="noStrike" spc="-1">
              <a:solidFill>
                <a:srgbClr val="000000"/>
              </a:solidFill>
              <a:latin typeface="Arial"/>
            </a:endParaRPr>
          </a:p>
        </p:txBody>
      </p:sp>
      <p:pic>
        <p:nvPicPr>
          <p:cNvPr id="778" name="Image 0" descr="preencoded.png"/>
          <p:cNvPicPr/>
          <p:nvPr/>
        </p:nvPicPr>
        <p:blipFill>
          <a:blip r:embed="rId3"/>
          <a:stretch/>
        </p:blipFill>
        <p:spPr>
          <a:xfrm>
            <a:off x="8458200" y="4663440"/>
            <a:ext cx="383760" cy="383760"/>
          </a:xfrm>
          <a:prstGeom prst="rect">
            <a:avLst/>
          </a:prstGeom>
          <a:ln w="0">
            <a:noFill/>
          </a:ln>
        </p:spPr>
      </p:pic>
      <p:sp>
        <p:nvSpPr>
          <p:cNvPr id="779" name="Text 6"/>
          <p:cNvSpPr/>
          <p:nvPr/>
        </p:nvSpPr>
        <p:spPr>
          <a:xfrm>
            <a:off x="457200" y="274320"/>
            <a:ext cx="82292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Metrics vs entities: what AVR collects</a:t>
            </a:r>
            <a:endParaRPr lang="en-US" sz="2800" b="0" strike="noStrike" spc="-1">
              <a:solidFill>
                <a:srgbClr val="000000"/>
              </a:solidFill>
              <a:latin typeface="Arial"/>
            </a:endParaRPr>
          </a:p>
        </p:txBody>
      </p:sp>
      <p:sp>
        <p:nvSpPr>
          <p:cNvPr id="780" name="Text 7"/>
          <p:cNvSpPr/>
          <p:nvPr/>
        </p:nvSpPr>
        <p:spPr>
          <a:xfrm>
            <a:off x="457200" y="68580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strike="noStrike" spc="-1">
                <a:solidFill>
                  <a:srgbClr val="666666"/>
                </a:solidFill>
                <a:latin typeface="Calibri"/>
                <a:ea typeface="Calibri"/>
              </a:rPr>
              <a:t>Metrics are the measurements. Entities are the dimensions you filter and group by.</a:t>
            </a:r>
            <a:endParaRPr lang="en-US" sz="1400" b="0" strike="noStrike" spc="-1">
              <a:solidFill>
                <a:srgbClr val="000000"/>
              </a:solidFill>
              <a:latin typeface="Arial"/>
            </a:endParaRPr>
          </a:p>
        </p:txBody>
      </p:sp>
      <p:sp>
        <p:nvSpPr>
          <p:cNvPr id="781" name="Shape 8"/>
          <p:cNvSpPr/>
          <p:nvPr/>
        </p:nvSpPr>
        <p:spPr>
          <a:xfrm>
            <a:off x="365760" y="1097280"/>
            <a:ext cx="3931560" cy="4111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782" name="Text 9"/>
          <p:cNvSpPr/>
          <p:nvPr/>
        </p:nvSpPr>
        <p:spPr>
          <a:xfrm>
            <a:off x="365760" y="1097280"/>
            <a:ext cx="39315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FFFFFF"/>
                </a:solidFill>
                <a:latin typeface="Arial"/>
                <a:ea typeface="Arial"/>
              </a:rPr>
              <a:t>Collected metrics (what you measure)</a:t>
            </a:r>
            <a:endParaRPr lang="en-US" sz="1400" b="0" strike="noStrike" spc="-1">
              <a:solidFill>
                <a:srgbClr val="000000"/>
              </a:solidFill>
              <a:latin typeface="Arial"/>
            </a:endParaRPr>
          </a:p>
        </p:txBody>
      </p:sp>
      <p:sp>
        <p:nvSpPr>
          <p:cNvPr id="783" name="Shape 10"/>
          <p:cNvSpPr/>
          <p:nvPr/>
        </p:nvSpPr>
        <p:spPr>
          <a:xfrm>
            <a:off x="365760" y="1508760"/>
            <a:ext cx="3931560" cy="237708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784" name="Text 11"/>
          <p:cNvSpPr/>
          <p:nvPr/>
        </p:nvSpPr>
        <p:spPr>
          <a:xfrm>
            <a:off x="457200" y="1572840"/>
            <a:ext cx="109692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000" b="1" strike="noStrike" spc="-1">
                <a:solidFill>
                  <a:srgbClr val="0E41AA"/>
                </a:solidFill>
                <a:latin typeface="Calibri"/>
                <a:ea typeface="Calibri"/>
              </a:rPr>
              <a:t>Max TPS</a:t>
            </a:r>
            <a:endParaRPr lang="en-US" sz="1000" b="0" strike="noStrike" spc="-1">
              <a:solidFill>
                <a:srgbClr val="000000"/>
              </a:solidFill>
              <a:latin typeface="Arial"/>
            </a:endParaRPr>
          </a:p>
        </p:txBody>
      </p:sp>
      <p:sp>
        <p:nvSpPr>
          <p:cNvPr id="785" name="Text 12"/>
          <p:cNvSpPr/>
          <p:nvPr/>
        </p:nvSpPr>
        <p:spPr>
          <a:xfrm>
            <a:off x="1554480" y="1572840"/>
            <a:ext cx="118836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strike="noStrike" spc="-1">
                <a:solidFill>
                  <a:srgbClr val="333333"/>
                </a:solidFill>
                <a:latin typeface="Calibri"/>
                <a:ea typeface="Calibri"/>
              </a:rPr>
              <a:t>Peak transactions per second</a:t>
            </a:r>
            <a:endParaRPr lang="en-US" sz="900" b="0" strike="noStrike" spc="-1">
              <a:solidFill>
                <a:srgbClr val="000000"/>
              </a:solidFill>
              <a:latin typeface="Arial"/>
            </a:endParaRPr>
          </a:p>
        </p:txBody>
      </p:sp>
      <p:sp>
        <p:nvSpPr>
          <p:cNvPr id="786" name="Text 13"/>
          <p:cNvSpPr/>
          <p:nvPr/>
        </p:nvSpPr>
        <p:spPr>
          <a:xfrm>
            <a:off x="1554480" y="1774080"/>
            <a:ext cx="255996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Capacity planning, detect traffic spikes</a:t>
            </a:r>
            <a:endParaRPr lang="en-US" sz="800" b="0" strike="noStrike" spc="-1">
              <a:solidFill>
                <a:srgbClr val="000000"/>
              </a:solidFill>
              <a:latin typeface="Arial"/>
            </a:endParaRPr>
          </a:p>
        </p:txBody>
      </p:sp>
      <p:sp>
        <p:nvSpPr>
          <p:cNvPr id="787" name="Text 14"/>
          <p:cNvSpPr/>
          <p:nvPr/>
        </p:nvSpPr>
        <p:spPr>
          <a:xfrm>
            <a:off x="457200" y="2011680"/>
            <a:ext cx="109692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000" b="1" strike="noStrike" spc="-1">
                <a:solidFill>
                  <a:srgbClr val="0E41AA"/>
                </a:solidFill>
                <a:latin typeface="Calibri"/>
                <a:ea typeface="Calibri"/>
              </a:rPr>
              <a:t>Throughput</a:t>
            </a:r>
            <a:endParaRPr lang="en-US" sz="1000" b="0" strike="noStrike" spc="-1">
              <a:solidFill>
                <a:srgbClr val="000000"/>
              </a:solidFill>
              <a:latin typeface="Arial"/>
            </a:endParaRPr>
          </a:p>
        </p:txBody>
      </p:sp>
      <p:sp>
        <p:nvSpPr>
          <p:cNvPr id="788" name="Text 15"/>
          <p:cNvSpPr/>
          <p:nvPr/>
        </p:nvSpPr>
        <p:spPr>
          <a:xfrm>
            <a:off x="1554480" y="2011680"/>
            <a:ext cx="118836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strike="noStrike" spc="-1">
                <a:solidFill>
                  <a:srgbClr val="333333"/>
                </a:solidFill>
                <a:latin typeface="Calibri"/>
                <a:ea typeface="Calibri"/>
              </a:rPr>
              <a:t>Bits/sec of traffic volume</a:t>
            </a:r>
            <a:endParaRPr lang="en-US" sz="900" b="0" strike="noStrike" spc="-1">
              <a:solidFill>
                <a:srgbClr val="000000"/>
              </a:solidFill>
              <a:latin typeface="Arial"/>
            </a:endParaRPr>
          </a:p>
        </p:txBody>
      </p:sp>
      <p:sp>
        <p:nvSpPr>
          <p:cNvPr id="789" name="Text 16"/>
          <p:cNvSpPr/>
          <p:nvPr/>
        </p:nvSpPr>
        <p:spPr>
          <a:xfrm>
            <a:off x="1554480" y="2212920"/>
            <a:ext cx="255996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Bandwidth consumption, anomaly detection</a:t>
            </a:r>
            <a:endParaRPr lang="en-US" sz="800" b="0" strike="noStrike" spc="-1">
              <a:solidFill>
                <a:srgbClr val="000000"/>
              </a:solidFill>
              <a:latin typeface="Arial"/>
            </a:endParaRPr>
          </a:p>
        </p:txBody>
      </p:sp>
      <p:sp>
        <p:nvSpPr>
          <p:cNvPr id="790" name="Text 17"/>
          <p:cNvSpPr/>
          <p:nvPr/>
        </p:nvSpPr>
        <p:spPr>
          <a:xfrm>
            <a:off x="457200" y="2450520"/>
            <a:ext cx="109692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000" b="1" strike="noStrike" spc="-1">
                <a:solidFill>
                  <a:srgbClr val="0E41AA"/>
                </a:solidFill>
                <a:latin typeface="Calibri"/>
                <a:ea typeface="Calibri"/>
              </a:rPr>
              <a:t>Page Load Time</a:t>
            </a:r>
            <a:endParaRPr lang="en-US" sz="1000" b="0" strike="noStrike" spc="-1">
              <a:solidFill>
                <a:srgbClr val="000000"/>
              </a:solidFill>
              <a:latin typeface="Arial"/>
            </a:endParaRPr>
          </a:p>
        </p:txBody>
      </p:sp>
      <p:sp>
        <p:nvSpPr>
          <p:cNvPr id="791" name="Text 18"/>
          <p:cNvSpPr/>
          <p:nvPr/>
        </p:nvSpPr>
        <p:spPr>
          <a:xfrm>
            <a:off x="1554480" y="2450520"/>
            <a:ext cx="118836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strike="noStrike" spc="-1">
                <a:solidFill>
                  <a:srgbClr val="333333"/>
                </a:solidFill>
                <a:latin typeface="Calibri"/>
                <a:ea typeface="Calibri"/>
              </a:rPr>
              <a:t>Client-perceived render time</a:t>
            </a:r>
            <a:endParaRPr lang="en-US" sz="900" b="0" strike="noStrike" spc="-1">
              <a:solidFill>
                <a:srgbClr val="000000"/>
              </a:solidFill>
              <a:latin typeface="Arial"/>
            </a:endParaRPr>
          </a:p>
        </p:txBody>
      </p:sp>
      <p:sp>
        <p:nvSpPr>
          <p:cNvPr id="792" name="Text 19"/>
          <p:cNvSpPr/>
          <p:nvPr/>
        </p:nvSpPr>
        <p:spPr>
          <a:xfrm>
            <a:off x="1554480" y="2651760"/>
            <a:ext cx="255996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End-user experience monitoring</a:t>
            </a:r>
            <a:endParaRPr lang="en-US" sz="800" b="0" strike="noStrike" spc="-1">
              <a:solidFill>
                <a:srgbClr val="000000"/>
              </a:solidFill>
              <a:latin typeface="Arial"/>
            </a:endParaRPr>
          </a:p>
        </p:txBody>
      </p:sp>
      <p:sp>
        <p:nvSpPr>
          <p:cNvPr id="793" name="Text 20"/>
          <p:cNvSpPr/>
          <p:nvPr/>
        </p:nvSpPr>
        <p:spPr>
          <a:xfrm>
            <a:off x="457200" y="2889360"/>
            <a:ext cx="109692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000" b="1" strike="noStrike" spc="-1">
                <a:solidFill>
                  <a:srgbClr val="0E41AA"/>
                </a:solidFill>
                <a:latin typeface="Calibri"/>
                <a:ea typeface="Calibri"/>
              </a:rPr>
              <a:t>Server Latency</a:t>
            </a:r>
            <a:endParaRPr lang="en-US" sz="1000" b="0" strike="noStrike" spc="-1">
              <a:solidFill>
                <a:srgbClr val="000000"/>
              </a:solidFill>
              <a:latin typeface="Arial"/>
            </a:endParaRPr>
          </a:p>
        </p:txBody>
      </p:sp>
      <p:sp>
        <p:nvSpPr>
          <p:cNvPr id="794" name="Text 21"/>
          <p:cNvSpPr/>
          <p:nvPr/>
        </p:nvSpPr>
        <p:spPr>
          <a:xfrm>
            <a:off x="1554480" y="2889360"/>
            <a:ext cx="118836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strike="noStrike" spc="-1">
                <a:solidFill>
                  <a:srgbClr val="333333"/>
                </a:solidFill>
                <a:latin typeface="Calibri"/>
                <a:ea typeface="Calibri"/>
              </a:rPr>
              <a:t>Time server takes to respond</a:t>
            </a:r>
            <a:endParaRPr lang="en-US" sz="900" b="0" strike="noStrike" spc="-1">
              <a:solidFill>
                <a:srgbClr val="000000"/>
              </a:solidFill>
              <a:latin typeface="Arial"/>
            </a:endParaRPr>
          </a:p>
        </p:txBody>
      </p:sp>
      <p:sp>
        <p:nvSpPr>
          <p:cNvPr id="795" name="Text 22"/>
          <p:cNvSpPr/>
          <p:nvPr/>
        </p:nvSpPr>
        <p:spPr>
          <a:xfrm>
            <a:off x="1554480" y="3090600"/>
            <a:ext cx="255996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Backend bottleneck identification</a:t>
            </a:r>
            <a:endParaRPr lang="en-US" sz="800" b="0" strike="noStrike" spc="-1">
              <a:solidFill>
                <a:srgbClr val="000000"/>
              </a:solidFill>
              <a:latin typeface="Arial"/>
            </a:endParaRPr>
          </a:p>
        </p:txBody>
      </p:sp>
      <p:sp>
        <p:nvSpPr>
          <p:cNvPr id="796" name="Text 23"/>
          <p:cNvSpPr/>
          <p:nvPr/>
        </p:nvSpPr>
        <p:spPr>
          <a:xfrm>
            <a:off x="457200" y="3328560"/>
            <a:ext cx="109692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000" b="1" strike="noStrike" spc="-1">
                <a:solidFill>
                  <a:srgbClr val="0E41AA"/>
                </a:solidFill>
                <a:latin typeface="Calibri"/>
                <a:ea typeface="Calibri"/>
              </a:rPr>
              <a:t>Client Latency</a:t>
            </a:r>
            <a:endParaRPr lang="en-US" sz="1000" b="0" strike="noStrike" spc="-1">
              <a:solidFill>
                <a:srgbClr val="000000"/>
              </a:solidFill>
              <a:latin typeface="Arial"/>
            </a:endParaRPr>
          </a:p>
        </p:txBody>
      </p:sp>
      <p:sp>
        <p:nvSpPr>
          <p:cNvPr id="797" name="Text 24"/>
          <p:cNvSpPr/>
          <p:nvPr/>
        </p:nvSpPr>
        <p:spPr>
          <a:xfrm>
            <a:off x="1554480" y="3328560"/>
            <a:ext cx="118836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strike="noStrike" spc="-1">
                <a:solidFill>
                  <a:srgbClr val="333333"/>
                </a:solidFill>
                <a:latin typeface="Calibri"/>
                <a:ea typeface="Calibri"/>
              </a:rPr>
              <a:t>Network latency to client</a:t>
            </a:r>
            <a:endParaRPr lang="en-US" sz="900" b="0" strike="noStrike" spc="-1">
              <a:solidFill>
                <a:srgbClr val="000000"/>
              </a:solidFill>
              <a:latin typeface="Arial"/>
            </a:endParaRPr>
          </a:p>
        </p:txBody>
      </p:sp>
      <p:sp>
        <p:nvSpPr>
          <p:cNvPr id="798" name="Text 25"/>
          <p:cNvSpPr/>
          <p:nvPr/>
        </p:nvSpPr>
        <p:spPr>
          <a:xfrm>
            <a:off x="1554480" y="3529440"/>
            <a:ext cx="255996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WAN/Internet quality assessment</a:t>
            </a:r>
            <a:endParaRPr lang="en-US" sz="800" b="0" strike="noStrike" spc="-1">
              <a:solidFill>
                <a:srgbClr val="000000"/>
              </a:solidFill>
              <a:latin typeface="Arial"/>
            </a:endParaRPr>
          </a:p>
        </p:txBody>
      </p:sp>
      <p:sp>
        <p:nvSpPr>
          <p:cNvPr id="799" name="Shape 26"/>
          <p:cNvSpPr/>
          <p:nvPr/>
        </p:nvSpPr>
        <p:spPr>
          <a:xfrm>
            <a:off x="4846320" y="1097280"/>
            <a:ext cx="3931560" cy="4111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800" name="Text 27"/>
          <p:cNvSpPr/>
          <p:nvPr/>
        </p:nvSpPr>
        <p:spPr>
          <a:xfrm>
            <a:off x="4846320" y="1097280"/>
            <a:ext cx="39315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FFFFFF"/>
                </a:solidFill>
                <a:latin typeface="Arial"/>
                <a:ea typeface="Arial"/>
              </a:rPr>
              <a:t>Collected entities (how you slice data)</a:t>
            </a:r>
            <a:endParaRPr lang="en-US" sz="1400" b="0" strike="noStrike" spc="-1">
              <a:solidFill>
                <a:srgbClr val="000000"/>
              </a:solidFill>
              <a:latin typeface="Arial"/>
            </a:endParaRPr>
          </a:p>
        </p:txBody>
      </p:sp>
      <p:sp>
        <p:nvSpPr>
          <p:cNvPr id="801" name="Shape 28"/>
          <p:cNvSpPr/>
          <p:nvPr/>
        </p:nvSpPr>
        <p:spPr>
          <a:xfrm>
            <a:off x="4846320" y="1508760"/>
            <a:ext cx="3931560" cy="237708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802" name="Text 29"/>
          <p:cNvSpPr/>
          <p:nvPr/>
        </p:nvSpPr>
        <p:spPr>
          <a:xfrm>
            <a:off x="4937760" y="1572840"/>
            <a:ext cx="109692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000" b="1" strike="noStrike" spc="-1">
                <a:solidFill>
                  <a:srgbClr val="61228B"/>
                </a:solidFill>
                <a:latin typeface="Calibri"/>
                <a:ea typeface="Calibri"/>
              </a:rPr>
              <a:t>URLs</a:t>
            </a:r>
            <a:endParaRPr lang="en-US" sz="1000" b="0" strike="noStrike" spc="-1">
              <a:solidFill>
                <a:srgbClr val="000000"/>
              </a:solidFill>
              <a:latin typeface="Arial"/>
            </a:endParaRPr>
          </a:p>
        </p:txBody>
      </p:sp>
      <p:sp>
        <p:nvSpPr>
          <p:cNvPr id="803" name="Text 30"/>
          <p:cNvSpPr/>
          <p:nvPr/>
        </p:nvSpPr>
        <p:spPr>
          <a:xfrm>
            <a:off x="6035040" y="1572840"/>
            <a:ext cx="118836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strike="noStrike" spc="-1">
                <a:solidFill>
                  <a:srgbClr val="333333"/>
                </a:solidFill>
                <a:latin typeface="Calibri"/>
                <a:ea typeface="Calibri"/>
              </a:rPr>
              <a:t>Which pages/endpoints</a:t>
            </a:r>
            <a:endParaRPr lang="en-US" sz="900" b="0" strike="noStrike" spc="-1">
              <a:solidFill>
                <a:srgbClr val="000000"/>
              </a:solidFill>
              <a:latin typeface="Arial"/>
            </a:endParaRPr>
          </a:p>
        </p:txBody>
      </p:sp>
      <p:sp>
        <p:nvSpPr>
          <p:cNvPr id="804" name="Text 31"/>
          <p:cNvSpPr/>
          <p:nvPr/>
        </p:nvSpPr>
        <p:spPr>
          <a:xfrm>
            <a:off x="6035040" y="1755720"/>
            <a:ext cx="255996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Find most-requested or slowest pages</a:t>
            </a:r>
            <a:endParaRPr lang="en-US" sz="800" b="0" strike="noStrike" spc="-1">
              <a:solidFill>
                <a:srgbClr val="000000"/>
              </a:solidFill>
              <a:latin typeface="Arial"/>
            </a:endParaRPr>
          </a:p>
        </p:txBody>
      </p:sp>
      <p:sp>
        <p:nvSpPr>
          <p:cNvPr id="805" name="Text 32"/>
          <p:cNvSpPr/>
          <p:nvPr/>
        </p:nvSpPr>
        <p:spPr>
          <a:xfrm>
            <a:off x="4937760" y="1938600"/>
            <a:ext cx="109692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000" b="1" strike="noStrike" spc="-1">
                <a:solidFill>
                  <a:srgbClr val="61228B"/>
                </a:solidFill>
                <a:latin typeface="Calibri"/>
                <a:ea typeface="Calibri"/>
              </a:rPr>
              <a:t>Response Codes</a:t>
            </a:r>
            <a:endParaRPr lang="en-US" sz="1000" b="0" strike="noStrike" spc="-1">
              <a:solidFill>
                <a:srgbClr val="000000"/>
              </a:solidFill>
              <a:latin typeface="Arial"/>
            </a:endParaRPr>
          </a:p>
        </p:txBody>
      </p:sp>
      <p:sp>
        <p:nvSpPr>
          <p:cNvPr id="806" name="Text 33"/>
          <p:cNvSpPr/>
          <p:nvPr/>
        </p:nvSpPr>
        <p:spPr>
          <a:xfrm>
            <a:off x="6035040" y="1938600"/>
            <a:ext cx="118836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strike="noStrike" spc="-1">
                <a:solidFill>
                  <a:srgbClr val="333333"/>
                </a:solidFill>
                <a:latin typeface="Calibri"/>
                <a:ea typeface="Calibri"/>
              </a:rPr>
              <a:t>HTTP status distribution</a:t>
            </a:r>
            <a:endParaRPr lang="en-US" sz="900" b="0" strike="noStrike" spc="-1">
              <a:solidFill>
                <a:srgbClr val="000000"/>
              </a:solidFill>
              <a:latin typeface="Arial"/>
            </a:endParaRPr>
          </a:p>
        </p:txBody>
      </p:sp>
      <p:sp>
        <p:nvSpPr>
          <p:cNvPr id="807" name="Text 34"/>
          <p:cNvSpPr/>
          <p:nvPr/>
        </p:nvSpPr>
        <p:spPr>
          <a:xfrm>
            <a:off x="6035040" y="2121480"/>
            <a:ext cx="255996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Detect error spikes (4xx, 5xx)</a:t>
            </a:r>
            <a:endParaRPr lang="en-US" sz="800" b="0" strike="noStrike" spc="-1">
              <a:solidFill>
                <a:srgbClr val="000000"/>
              </a:solidFill>
              <a:latin typeface="Arial"/>
            </a:endParaRPr>
          </a:p>
        </p:txBody>
      </p:sp>
      <p:sp>
        <p:nvSpPr>
          <p:cNvPr id="808" name="Text 35"/>
          <p:cNvSpPr/>
          <p:nvPr/>
        </p:nvSpPr>
        <p:spPr>
          <a:xfrm>
            <a:off x="4937760" y="2304360"/>
            <a:ext cx="109692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000" b="1" strike="noStrike" spc="-1">
                <a:solidFill>
                  <a:srgbClr val="61228B"/>
                </a:solidFill>
                <a:latin typeface="Calibri"/>
                <a:ea typeface="Calibri"/>
              </a:rPr>
              <a:t>Pool Members</a:t>
            </a:r>
            <a:endParaRPr lang="en-US" sz="1000" b="0" strike="noStrike" spc="-1">
              <a:solidFill>
                <a:srgbClr val="000000"/>
              </a:solidFill>
              <a:latin typeface="Arial"/>
            </a:endParaRPr>
          </a:p>
        </p:txBody>
      </p:sp>
      <p:sp>
        <p:nvSpPr>
          <p:cNvPr id="809" name="Text 36"/>
          <p:cNvSpPr/>
          <p:nvPr/>
        </p:nvSpPr>
        <p:spPr>
          <a:xfrm>
            <a:off x="6035040" y="2304360"/>
            <a:ext cx="118836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strike="noStrike" spc="-1">
                <a:solidFill>
                  <a:srgbClr val="333333"/>
                </a:solidFill>
                <a:latin typeface="Calibri"/>
                <a:ea typeface="Calibri"/>
              </a:rPr>
              <a:t>Per-server breakdown</a:t>
            </a:r>
            <a:endParaRPr lang="en-US" sz="900" b="0" strike="noStrike" spc="-1">
              <a:solidFill>
                <a:srgbClr val="000000"/>
              </a:solidFill>
              <a:latin typeface="Arial"/>
            </a:endParaRPr>
          </a:p>
        </p:txBody>
      </p:sp>
      <p:sp>
        <p:nvSpPr>
          <p:cNvPr id="810" name="Text 37"/>
          <p:cNvSpPr/>
          <p:nvPr/>
        </p:nvSpPr>
        <p:spPr>
          <a:xfrm>
            <a:off x="6035040" y="2487240"/>
            <a:ext cx="255996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Identify which server is slow or failing</a:t>
            </a:r>
            <a:endParaRPr lang="en-US" sz="800" b="0" strike="noStrike" spc="-1">
              <a:solidFill>
                <a:srgbClr val="000000"/>
              </a:solidFill>
              <a:latin typeface="Arial"/>
            </a:endParaRPr>
          </a:p>
        </p:txBody>
      </p:sp>
      <p:sp>
        <p:nvSpPr>
          <p:cNvPr id="811" name="Text 38"/>
          <p:cNvSpPr/>
          <p:nvPr/>
        </p:nvSpPr>
        <p:spPr>
          <a:xfrm>
            <a:off x="4937760" y="2670120"/>
            <a:ext cx="109692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000" b="1" strike="noStrike" spc="-1">
                <a:solidFill>
                  <a:srgbClr val="61228B"/>
                </a:solidFill>
                <a:latin typeface="Calibri"/>
                <a:ea typeface="Calibri"/>
              </a:rPr>
              <a:t>Client IPs</a:t>
            </a:r>
            <a:endParaRPr lang="en-US" sz="1000" b="0" strike="noStrike" spc="-1">
              <a:solidFill>
                <a:srgbClr val="000000"/>
              </a:solidFill>
              <a:latin typeface="Arial"/>
            </a:endParaRPr>
          </a:p>
        </p:txBody>
      </p:sp>
      <p:sp>
        <p:nvSpPr>
          <p:cNvPr id="812" name="Text 39"/>
          <p:cNvSpPr/>
          <p:nvPr/>
        </p:nvSpPr>
        <p:spPr>
          <a:xfrm>
            <a:off x="6035040" y="2670120"/>
            <a:ext cx="118836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strike="noStrike" spc="-1">
                <a:solidFill>
                  <a:srgbClr val="333333"/>
                </a:solidFill>
                <a:latin typeface="Calibri"/>
                <a:ea typeface="Calibri"/>
              </a:rPr>
              <a:t>Individual client tracking</a:t>
            </a:r>
            <a:endParaRPr lang="en-US" sz="900" b="0" strike="noStrike" spc="-1">
              <a:solidFill>
                <a:srgbClr val="000000"/>
              </a:solidFill>
              <a:latin typeface="Arial"/>
            </a:endParaRPr>
          </a:p>
        </p:txBody>
      </p:sp>
      <p:sp>
        <p:nvSpPr>
          <p:cNvPr id="813" name="Text 40"/>
          <p:cNvSpPr/>
          <p:nvPr/>
        </p:nvSpPr>
        <p:spPr>
          <a:xfrm>
            <a:off x="6035040" y="2853000"/>
            <a:ext cx="255996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Find heavy users or attackers</a:t>
            </a:r>
            <a:endParaRPr lang="en-US" sz="800" b="0" strike="noStrike" spc="-1">
              <a:solidFill>
                <a:srgbClr val="000000"/>
              </a:solidFill>
              <a:latin typeface="Arial"/>
            </a:endParaRPr>
          </a:p>
        </p:txBody>
      </p:sp>
      <p:sp>
        <p:nvSpPr>
          <p:cNvPr id="814" name="Text 41"/>
          <p:cNvSpPr/>
          <p:nvPr/>
        </p:nvSpPr>
        <p:spPr>
          <a:xfrm>
            <a:off x="4937760" y="3035880"/>
            <a:ext cx="109692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000" b="1" strike="noStrike" spc="-1">
                <a:solidFill>
                  <a:srgbClr val="61228B"/>
                </a:solidFill>
                <a:latin typeface="Calibri"/>
                <a:ea typeface="Calibri"/>
              </a:rPr>
              <a:t>Countries</a:t>
            </a:r>
            <a:endParaRPr lang="en-US" sz="1000" b="0" strike="noStrike" spc="-1">
              <a:solidFill>
                <a:srgbClr val="000000"/>
              </a:solidFill>
              <a:latin typeface="Arial"/>
            </a:endParaRPr>
          </a:p>
        </p:txBody>
      </p:sp>
      <p:sp>
        <p:nvSpPr>
          <p:cNvPr id="815" name="Text 42"/>
          <p:cNvSpPr/>
          <p:nvPr/>
        </p:nvSpPr>
        <p:spPr>
          <a:xfrm>
            <a:off x="6035040" y="3035880"/>
            <a:ext cx="118836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strike="noStrike" spc="-1">
                <a:solidFill>
                  <a:srgbClr val="333333"/>
                </a:solidFill>
                <a:latin typeface="Calibri"/>
                <a:ea typeface="Calibri"/>
              </a:rPr>
              <a:t>Geographic distribution</a:t>
            </a:r>
            <a:endParaRPr lang="en-US" sz="900" b="0" strike="noStrike" spc="-1">
              <a:solidFill>
                <a:srgbClr val="000000"/>
              </a:solidFill>
              <a:latin typeface="Arial"/>
            </a:endParaRPr>
          </a:p>
        </p:txBody>
      </p:sp>
      <p:sp>
        <p:nvSpPr>
          <p:cNvPr id="816" name="Text 43"/>
          <p:cNvSpPr/>
          <p:nvPr/>
        </p:nvSpPr>
        <p:spPr>
          <a:xfrm>
            <a:off x="6035040" y="3218760"/>
            <a:ext cx="255996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Regional performance analysis</a:t>
            </a:r>
            <a:endParaRPr lang="en-US" sz="800" b="0" strike="noStrike" spc="-1">
              <a:solidFill>
                <a:srgbClr val="000000"/>
              </a:solidFill>
              <a:latin typeface="Arial"/>
            </a:endParaRPr>
          </a:p>
        </p:txBody>
      </p:sp>
      <p:sp>
        <p:nvSpPr>
          <p:cNvPr id="817" name="Text 44"/>
          <p:cNvSpPr/>
          <p:nvPr/>
        </p:nvSpPr>
        <p:spPr>
          <a:xfrm>
            <a:off x="4937760" y="3401640"/>
            <a:ext cx="109692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000" b="1" strike="noStrike" spc="-1">
                <a:solidFill>
                  <a:srgbClr val="61228B"/>
                </a:solidFill>
                <a:latin typeface="Calibri"/>
                <a:ea typeface="Calibri"/>
              </a:rPr>
              <a:t>User Agents</a:t>
            </a:r>
            <a:endParaRPr lang="en-US" sz="1000" b="0" strike="noStrike" spc="-1">
              <a:solidFill>
                <a:srgbClr val="000000"/>
              </a:solidFill>
              <a:latin typeface="Arial"/>
            </a:endParaRPr>
          </a:p>
        </p:txBody>
      </p:sp>
      <p:sp>
        <p:nvSpPr>
          <p:cNvPr id="818" name="Text 45"/>
          <p:cNvSpPr/>
          <p:nvPr/>
        </p:nvSpPr>
        <p:spPr>
          <a:xfrm>
            <a:off x="6035040" y="3401640"/>
            <a:ext cx="118836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strike="noStrike" spc="-1">
                <a:solidFill>
                  <a:srgbClr val="333333"/>
                </a:solidFill>
                <a:latin typeface="Calibri"/>
                <a:ea typeface="Calibri"/>
              </a:rPr>
              <a:t>Browser/device types</a:t>
            </a:r>
            <a:endParaRPr lang="en-US" sz="900" b="0" strike="noStrike" spc="-1">
              <a:solidFill>
                <a:srgbClr val="000000"/>
              </a:solidFill>
              <a:latin typeface="Arial"/>
            </a:endParaRPr>
          </a:p>
        </p:txBody>
      </p:sp>
      <p:sp>
        <p:nvSpPr>
          <p:cNvPr id="819" name="Text 46"/>
          <p:cNvSpPr/>
          <p:nvPr/>
        </p:nvSpPr>
        <p:spPr>
          <a:xfrm>
            <a:off x="6035040" y="3584520"/>
            <a:ext cx="255996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Mobile vs desktop traffic split</a:t>
            </a:r>
            <a:endParaRPr lang="en-US" sz="800" b="0" strike="noStrike" spc="-1">
              <a:solidFill>
                <a:srgbClr val="000000"/>
              </a:solidFill>
              <a:latin typeface="Arial"/>
            </a:endParaRPr>
          </a:p>
        </p:txBody>
      </p:sp>
      <p:sp>
        <p:nvSpPr>
          <p:cNvPr id="820" name="Shape 47"/>
          <p:cNvSpPr/>
          <p:nvPr/>
        </p:nvSpPr>
        <p:spPr>
          <a:xfrm>
            <a:off x="365760" y="4023360"/>
            <a:ext cx="8412120" cy="639720"/>
          </a:xfrm>
          <a:prstGeom prst="rect">
            <a:avLst/>
          </a:prstGeom>
          <a:solidFill>
            <a:srgbClr val="FFF3E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821" name="Text 48"/>
          <p:cNvSpPr/>
          <p:nvPr/>
        </p:nvSpPr>
        <p:spPr>
          <a:xfrm>
            <a:off x="548640" y="4041720"/>
            <a:ext cx="80463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100" b="1" strike="noStrike" spc="-1">
                <a:solidFill>
                  <a:srgbClr val="F29A36"/>
                </a:solidFill>
                <a:latin typeface="Calibri"/>
                <a:ea typeface="Calibri"/>
              </a:rPr>
              <a:t>Interpretation pattern: </a:t>
            </a:r>
            <a:r>
              <a:rPr lang="en-US" sz="1000" b="0" strike="noStrike" spc="-1">
                <a:solidFill>
                  <a:srgbClr val="7A4500"/>
                </a:solidFill>
                <a:latin typeface="Calibri"/>
                <a:ea typeface="Calibri"/>
              </a:rPr>
              <a:t>Start with the Overview (total TPS, throughput). Drill into Transactions &gt; View By Pool Members to find the problem server. Then drill into that server's URLs and Latency to find the root cause. The lab's delay_server iRule introduces 20ms latency on 10.1.20.13 — students should identify this in the Server Latency view.</a:t>
            </a:r>
            <a:endParaRPr lang="en-US" sz="1000" b="0" strike="noStrike" spc="-1">
              <a:solidFill>
                <a:srgbClr val="000000"/>
              </a:solidFill>
              <a:latin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22"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823"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824"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825"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826"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827" name="Text 5"/>
          <p:cNvSpPr/>
          <p:nvPr/>
        </p:nvSpPr>
        <p:spPr>
          <a:xfrm>
            <a:off x="334229" y="457182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36    © 2026 F5</a:t>
            </a:r>
            <a:endParaRPr lang="en-US" sz="800" b="0" strike="noStrike" spc="-1">
              <a:solidFill>
                <a:srgbClr val="000000"/>
              </a:solidFill>
              <a:latin typeface="Arial"/>
            </a:endParaRPr>
          </a:p>
        </p:txBody>
      </p:sp>
      <p:pic>
        <p:nvPicPr>
          <p:cNvPr id="828" name="Image 0" descr="preencoded.png"/>
          <p:cNvPicPr/>
          <p:nvPr/>
        </p:nvPicPr>
        <p:blipFill>
          <a:blip r:embed="rId3"/>
          <a:stretch/>
        </p:blipFill>
        <p:spPr>
          <a:xfrm>
            <a:off x="8426669" y="4434660"/>
            <a:ext cx="383760" cy="383760"/>
          </a:xfrm>
          <a:prstGeom prst="rect">
            <a:avLst/>
          </a:prstGeom>
          <a:ln w="0">
            <a:noFill/>
          </a:ln>
        </p:spPr>
      </p:pic>
      <p:sp>
        <p:nvSpPr>
          <p:cNvPr id="829" name="Text 6"/>
          <p:cNvSpPr/>
          <p:nvPr/>
        </p:nvSpPr>
        <p:spPr>
          <a:xfrm>
            <a:off x="457200" y="274320"/>
            <a:ext cx="82292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Using AVR to identify bottlenecks</a:t>
            </a:r>
            <a:endParaRPr lang="en-US" sz="2800" b="0" strike="noStrike" spc="-1">
              <a:solidFill>
                <a:srgbClr val="000000"/>
              </a:solidFill>
              <a:latin typeface="Arial"/>
            </a:endParaRPr>
          </a:p>
        </p:txBody>
      </p:sp>
      <p:sp>
        <p:nvSpPr>
          <p:cNvPr id="830" name="Text 7"/>
          <p:cNvSpPr/>
          <p:nvPr/>
        </p:nvSpPr>
        <p:spPr>
          <a:xfrm>
            <a:off x="457200" y="68580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strike="noStrike" spc="-1">
                <a:solidFill>
                  <a:srgbClr val="666666"/>
                </a:solidFill>
                <a:latin typeface="Calibri"/>
                <a:ea typeface="Calibri"/>
              </a:rPr>
              <a:t>Follow this workflow to trace performance issues from symptoms to root cause</a:t>
            </a:r>
            <a:endParaRPr lang="en-US" sz="1400" b="0" strike="noStrike" spc="-1">
              <a:solidFill>
                <a:srgbClr val="000000"/>
              </a:solidFill>
              <a:latin typeface="Arial"/>
            </a:endParaRPr>
          </a:p>
        </p:txBody>
      </p:sp>
      <p:sp>
        <p:nvSpPr>
          <p:cNvPr id="831" name="Shape 8"/>
          <p:cNvSpPr/>
          <p:nvPr/>
        </p:nvSpPr>
        <p:spPr>
          <a:xfrm>
            <a:off x="334229" y="959940"/>
            <a:ext cx="1599840" cy="36540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832" name="Text 9"/>
          <p:cNvSpPr/>
          <p:nvPr/>
        </p:nvSpPr>
        <p:spPr>
          <a:xfrm>
            <a:off x="334229" y="959940"/>
            <a:ext cx="15998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rgbClr val="FFFFFF"/>
                </a:solidFill>
                <a:latin typeface="Arial"/>
                <a:ea typeface="Arial"/>
              </a:rPr>
              <a:t>1  Overview</a:t>
            </a:r>
            <a:endParaRPr lang="en-US" sz="1100" b="0" strike="noStrike" spc="-1">
              <a:solidFill>
                <a:srgbClr val="000000"/>
              </a:solidFill>
              <a:latin typeface="Arial"/>
            </a:endParaRPr>
          </a:p>
        </p:txBody>
      </p:sp>
      <p:sp>
        <p:nvSpPr>
          <p:cNvPr id="833" name="Shape 10"/>
          <p:cNvSpPr/>
          <p:nvPr/>
        </p:nvSpPr>
        <p:spPr>
          <a:xfrm>
            <a:off x="334229" y="1325700"/>
            <a:ext cx="1599840" cy="95976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834" name="Text 11"/>
          <p:cNvSpPr/>
          <p:nvPr/>
        </p:nvSpPr>
        <p:spPr>
          <a:xfrm>
            <a:off x="407309" y="1371420"/>
            <a:ext cx="1462680" cy="86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30000"/>
              </a:lnSpc>
              <a:tabLst>
                <a:tab pos="0" algn="l"/>
              </a:tabLst>
            </a:pPr>
            <a:r>
              <a:rPr lang="en-US" sz="900" b="0" strike="noStrike" spc="-1">
                <a:solidFill>
                  <a:srgbClr val="333333"/>
                </a:solidFill>
                <a:latin typeface="Calibri"/>
                <a:ea typeface="Calibri"/>
              </a:rPr>
              <a:t>Check total TPS,</a:t>
            </a:r>
            <a:endParaRPr lang="en-US" sz="900" b="0" strike="noStrike" spc="-1">
              <a:solidFill>
                <a:srgbClr val="000000"/>
              </a:solidFill>
              <a:latin typeface="Arial"/>
            </a:endParaRPr>
          </a:p>
          <a:p>
            <a:pPr defTabSz="914400">
              <a:lnSpc>
                <a:spcPct val="130000"/>
              </a:lnSpc>
              <a:tabLst>
                <a:tab pos="0" algn="l"/>
              </a:tabLst>
            </a:pPr>
            <a:r>
              <a:rPr lang="en-US" sz="900" b="0" strike="noStrike" spc="-1">
                <a:solidFill>
                  <a:srgbClr val="333333"/>
                </a:solidFill>
                <a:latin typeface="Calibri"/>
                <a:ea typeface="Calibri"/>
              </a:rPr>
              <a:t>throughput, errors.</a:t>
            </a:r>
            <a:endParaRPr lang="en-US" sz="900" b="0" strike="noStrike" spc="-1">
              <a:solidFill>
                <a:srgbClr val="000000"/>
              </a:solidFill>
              <a:latin typeface="Arial"/>
            </a:endParaRPr>
          </a:p>
          <a:p>
            <a:pPr defTabSz="914400">
              <a:lnSpc>
                <a:spcPct val="130000"/>
              </a:lnSpc>
              <a:tabLst>
                <a:tab pos="0" algn="l"/>
              </a:tabLst>
            </a:pPr>
            <a:r>
              <a:rPr lang="en-US" sz="900" b="0" strike="noStrike" spc="-1">
                <a:solidFill>
                  <a:srgbClr val="333333"/>
                </a:solidFill>
                <a:latin typeface="Calibri"/>
                <a:ea typeface="Calibri"/>
              </a:rPr>
              <a:t>Normal? Go deeper.</a:t>
            </a:r>
            <a:endParaRPr lang="en-US" sz="900" b="0" strike="noStrike" spc="-1">
              <a:solidFill>
                <a:srgbClr val="000000"/>
              </a:solidFill>
              <a:latin typeface="Arial"/>
            </a:endParaRPr>
          </a:p>
        </p:txBody>
      </p:sp>
      <p:sp>
        <p:nvSpPr>
          <p:cNvPr id="835" name="Text 12"/>
          <p:cNvSpPr/>
          <p:nvPr/>
        </p:nvSpPr>
        <p:spPr>
          <a:xfrm>
            <a:off x="1934429" y="1371420"/>
            <a:ext cx="18252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0" strike="noStrike" spc="-1">
                <a:solidFill>
                  <a:srgbClr val="D9D9D9"/>
                </a:solidFill>
                <a:latin typeface="Calibri"/>
              </a:rPr>
              <a:t>▶</a:t>
            </a:r>
            <a:endParaRPr lang="en-US" sz="1000" b="0" strike="noStrike" spc="-1">
              <a:solidFill>
                <a:srgbClr val="000000"/>
              </a:solidFill>
              <a:latin typeface="Arial"/>
            </a:endParaRPr>
          </a:p>
        </p:txBody>
      </p:sp>
      <p:sp>
        <p:nvSpPr>
          <p:cNvPr id="836" name="Shape 13"/>
          <p:cNvSpPr/>
          <p:nvPr/>
        </p:nvSpPr>
        <p:spPr>
          <a:xfrm>
            <a:off x="2117309" y="959940"/>
            <a:ext cx="1599840" cy="36540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837" name="Text 14"/>
          <p:cNvSpPr/>
          <p:nvPr/>
        </p:nvSpPr>
        <p:spPr>
          <a:xfrm>
            <a:off x="2117309" y="959940"/>
            <a:ext cx="15998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rgbClr val="FFFFFF"/>
                </a:solidFill>
                <a:latin typeface="Arial"/>
                <a:ea typeface="Arial"/>
              </a:rPr>
              <a:t>2  Transactions</a:t>
            </a:r>
            <a:endParaRPr lang="en-US" sz="1100" b="0" strike="noStrike" spc="-1">
              <a:solidFill>
                <a:srgbClr val="000000"/>
              </a:solidFill>
              <a:latin typeface="Arial"/>
            </a:endParaRPr>
          </a:p>
        </p:txBody>
      </p:sp>
      <p:sp>
        <p:nvSpPr>
          <p:cNvPr id="838" name="Shape 15"/>
          <p:cNvSpPr/>
          <p:nvPr/>
        </p:nvSpPr>
        <p:spPr>
          <a:xfrm>
            <a:off x="2117309" y="1325700"/>
            <a:ext cx="1599840" cy="95976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839" name="Text 16"/>
          <p:cNvSpPr/>
          <p:nvPr/>
        </p:nvSpPr>
        <p:spPr>
          <a:xfrm>
            <a:off x="2190389" y="1371420"/>
            <a:ext cx="1462680" cy="86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30000"/>
              </a:lnSpc>
              <a:tabLst>
                <a:tab pos="0" algn="l"/>
              </a:tabLst>
            </a:pPr>
            <a:r>
              <a:rPr lang="en-US" sz="900" b="0" strike="noStrike" spc="-1">
                <a:solidFill>
                  <a:srgbClr val="333333"/>
                </a:solidFill>
                <a:latin typeface="Calibri"/>
                <a:ea typeface="Calibri"/>
              </a:rPr>
              <a:t>View By: Pool Members.</a:t>
            </a:r>
            <a:endParaRPr lang="en-US" sz="900" b="0" strike="noStrike" spc="-1">
              <a:solidFill>
                <a:srgbClr val="000000"/>
              </a:solidFill>
              <a:latin typeface="Arial"/>
            </a:endParaRPr>
          </a:p>
          <a:p>
            <a:pPr defTabSz="914400">
              <a:lnSpc>
                <a:spcPct val="130000"/>
              </a:lnSpc>
              <a:tabLst>
                <a:tab pos="0" algn="l"/>
              </a:tabLst>
            </a:pPr>
            <a:r>
              <a:rPr lang="en-US" sz="900" b="0" strike="noStrike" spc="-1">
                <a:solidFill>
                  <a:srgbClr val="333333"/>
                </a:solidFill>
                <a:latin typeface="Calibri"/>
                <a:ea typeface="Calibri"/>
              </a:rPr>
              <a:t>Find which server has</a:t>
            </a:r>
            <a:endParaRPr lang="en-US" sz="900" b="0" strike="noStrike" spc="-1">
              <a:solidFill>
                <a:srgbClr val="000000"/>
              </a:solidFill>
              <a:latin typeface="Arial"/>
            </a:endParaRPr>
          </a:p>
          <a:p>
            <a:pPr defTabSz="914400">
              <a:lnSpc>
                <a:spcPct val="130000"/>
              </a:lnSpc>
              <a:tabLst>
                <a:tab pos="0" algn="l"/>
              </a:tabLst>
            </a:pPr>
            <a:r>
              <a:rPr lang="en-US" sz="900" b="0" strike="noStrike" spc="-1">
                <a:solidFill>
                  <a:srgbClr val="333333"/>
                </a:solidFill>
                <a:latin typeface="Calibri"/>
                <a:ea typeface="Calibri"/>
              </a:rPr>
              <a:t>fewer transactions.</a:t>
            </a:r>
            <a:endParaRPr lang="en-US" sz="900" b="0" strike="noStrike" spc="-1">
              <a:solidFill>
                <a:srgbClr val="000000"/>
              </a:solidFill>
              <a:latin typeface="Arial"/>
            </a:endParaRPr>
          </a:p>
        </p:txBody>
      </p:sp>
      <p:sp>
        <p:nvSpPr>
          <p:cNvPr id="840" name="Text 17"/>
          <p:cNvSpPr/>
          <p:nvPr/>
        </p:nvSpPr>
        <p:spPr>
          <a:xfrm>
            <a:off x="3717509" y="1371420"/>
            <a:ext cx="18252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0" strike="noStrike" spc="-1">
                <a:solidFill>
                  <a:srgbClr val="D9D9D9"/>
                </a:solidFill>
                <a:latin typeface="Calibri"/>
              </a:rPr>
              <a:t>▶</a:t>
            </a:r>
            <a:endParaRPr lang="en-US" sz="1000" b="0" strike="noStrike" spc="-1">
              <a:solidFill>
                <a:srgbClr val="000000"/>
              </a:solidFill>
              <a:latin typeface="Arial"/>
            </a:endParaRPr>
          </a:p>
        </p:txBody>
      </p:sp>
      <p:sp>
        <p:nvSpPr>
          <p:cNvPr id="841" name="Shape 18"/>
          <p:cNvSpPr/>
          <p:nvPr/>
        </p:nvSpPr>
        <p:spPr>
          <a:xfrm>
            <a:off x="3900389" y="959940"/>
            <a:ext cx="1599840" cy="36540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842" name="Text 19"/>
          <p:cNvSpPr/>
          <p:nvPr/>
        </p:nvSpPr>
        <p:spPr>
          <a:xfrm>
            <a:off x="3900389" y="959940"/>
            <a:ext cx="15998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rgbClr val="FFFFFF"/>
                </a:solidFill>
                <a:latin typeface="Arial"/>
                <a:ea typeface="Arial"/>
              </a:rPr>
              <a:t>3  Server latency</a:t>
            </a:r>
            <a:endParaRPr lang="en-US" sz="1100" b="0" strike="noStrike" spc="-1">
              <a:solidFill>
                <a:srgbClr val="000000"/>
              </a:solidFill>
              <a:latin typeface="Arial"/>
            </a:endParaRPr>
          </a:p>
        </p:txBody>
      </p:sp>
      <p:sp>
        <p:nvSpPr>
          <p:cNvPr id="843" name="Shape 20"/>
          <p:cNvSpPr/>
          <p:nvPr/>
        </p:nvSpPr>
        <p:spPr>
          <a:xfrm>
            <a:off x="3900389" y="1325700"/>
            <a:ext cx="1599840" cy="95976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844" name="Text 21"/>
          <p:cNvSpPr/>
          <p:nvPr/>
        </p:nvSpPr>
        <p:spPr>
          <a:xfrm>
            <a:off x="3973469" y="1371420"/>
            <a:ext cx="1462680" cy="86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30000"/>
              </a:lnSpc>
              <a:tabLst>
                <a:tab pos="0" algn="l"/>
              </a:tabLst>
            </a:pPr>
            <a:r>
              <a:rPr lang="en-US" sz="900" b="0" strike="noStrike" spc="-1">
                <a:solidFill>
                  <a:srgbClr val="333333"/>
                </a:solidFill>
                <a:latin typeface="Calibri"/>
                <a:ea typeface="Calibri"/>
              </a:rPr>
              <a:t>View By: Pool Members.</a:t>
            </a:r>
            <a:endParaRPr lang="en-US" sz="900" b="0" strike="noStrike" spc="-1">
              <a:solidFill>
                <a:srgbClr val="000000"/>
              </a:solidFill>
              <a:latin typeface="Arial"/>
            </a:endParaRPr>
          </a:p>
          <a:p>
            <a:pPr defTabSz="914400">
              <a:lnSpc>
                <a:spcPct val="130000"/>
              </a:lnSpc>
              <a:tabLst>
                <a:tab pos="0" algn="l"/>
              </a:tabLst>
            </a:pPr>
            <a:r>
              <a:rPr lang="en-US" sz="900" b="0" strike="noStrike" spc="-1">
                <a:solidFill>
                  <a:srgbClr val="333333"/>
                </a:solidFill>
                <a:latin typeface="Calibri"/>
                <a:ea typeface="Calibri"/>
              </a:rPr>
              <a:t>Identify the member</a:t>
            </a:r>
            <a:endParaRPr lang="en-US" sz="900" b="0" strike="noStrike" spc="-1">
              <a:solidFill>
                <a:srgbClr val="000000"/>
              </a:solidFill>
              <a:latin typeface="Arial"/>
            </a:endParaRPr>
          </a:p>
          <a:p>
            <a:pPr defTabSz="914400">
              <a:lnSpc>
                <a:spcPct val="130000"/>
              </a:lnSpc>
              <a:tabLst>
                <a:tab pos="0" algn="l"/>
              </a:tabLst>
            </a:pPr>
            <a:r>
              <a:rPr lang="en-US" sz="900" b="0" strike="noStrike" spc="-1">
                <a:solidFill>
                  <a:srgbClr val="333333"/>
                </a:solidFill>
                <a:latin typeface="Calibri"/>
                <a:ea typeface="Calibri"/>
              </a:rPr>
              <a:t>with highest latency.</a:t>
            </a:r>
            <a:endParaRPr lang="en-US" sz="900" b="0" strike="noStrike" spc="-1">
              <a:solidFill>
                <a:srgbClr val="000000"/>
              </a:solidFill>
              <a:latin typeface="Arial"/>
            </a:endParaRPr>
          </a:p>
        </p:txBody>
      </p:sp>
      <p:sp>
        <p:nvSpPr>
          <p:cNvPr id="845" name="Text 22"/>
          <p:cNvSpPr/>
          <p:nvPr/>
        </p:nvSpPr>
        <p:spPr>
          <a:xfrm>
            <a:off x="5500589" y="1371420"/>
            <a:ext cx="18252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0" strike="noStrike" spc="-1">
                <a:solidFill>
                  <a:srgbClr val="D9D9D9"/>
                </a:solidFill>
                <a:latin typeface="Calibri"/>
              </a:rPr>
              <a:t>▶</a:t>
            </a:r>
            <a:endParaRPr lang="en-US" sz="1000" b="0" strike="noStrike" spc="-1">
              <a:solidFill>
                <a:srgbClr val="000000"/>
              </a:solidFill>
              <a:latin typeface="Arial"/>
            </a:endParaRPr>
          </a:p>
        </p:txBody>
      </p:sp>
      <p:sp>
        <p:nvSpPr>
          <p:cNvPr id="846" name="Shape 23"/>
          <p:cNvSpPr/>
          <p:nvPr/>
        </p:nvSpPr>
        <p:spPr>
          <a:xfrm>
            <a:off x="5683469" y="959940"/>
            <a:ext cx="1599840" cy="36540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847" name="Text 24"/>
          <p:cNvSpPr/>
          <p:nvPr/>
        </p:nvSpPr>
        <p:spPr>
          <a:xfrm>
            <a:off x="5683469" y="959940"/>
            <a:ext cx="15998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rgbClr val="FFFFFF"/>
                </a:solidFill>
                <a:latin typeface="Arial"/>
                <a:ea typeface="Arial"/>
              </a:rPr>
              <a:t>4  Drill into member</a:t>
            </a:r>
            <a:endParaRPr lang="en-US" sz="1100" b="0" strike="noStrike" spc="-1">
              <a:solidFill>
                <a:srgbClr val="000000"/>
              </a:solidFill>
              <a:latin typeface="Arial"/>
            </a:endParaRPr>
          </a:p>
        </p:txBody>
      </p:sp>
      <p:sp>
        <p:nvSpPr>
          <p:cNvPr id="848" name="Shape 25"/>
          <p:cNvSpPr/>
          <p:nvPr/>
        </p:nvSpPr>
        <p:spPr>
          <a:xfrm>
            <a:off x="5683469" y="1325700"/>
            <a:ext cx="1599840" cy="95976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849" name="Text 26"/>
          <p:cNvSpPr/>
          <p:nvPr/>
        </p:nvSpPr>
        <p:spPr>
          <a:xfrm>
            <a:off x="5756549" y="1371420"/>
            <a:ext cx="1462680" cy="86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30000"/>
              </a:lnSpc>
              <a:tabLst>
                <a:tab pos="0" algn="l"/>
              </a:tabLst>
            </a:pPr>
            <a:r>
              <a:rPr lang="en-US" sz="900" b="0" strike="noStrike" spc="-1">
                <a:solidFill>
                  <a:srgbClr val="333333"/>
                </a:solidFill>
                <a:latin typeface="Calibri"/>
                <a:ea typeface="Calibri"/>
              </a:rPr>
              <a:t>View By: URLs.</a:t>
            </a:r>
            <a:endParaRPr lang="en-US" sz="900" b="0" strike="noStrike" spc="-1">
              <a:solidFill>
                <a:srgbClr val="000000"/>
              </a:solidFill>
              <a:latin typeface="Arial"/>
            </a:endParaRPr>
          </a:p>
          <a:p>
            <a:pPr defTabSz="914400">
              <a:lnSpc>
                <a:spcPct val="130000"/>
              </a:lnSpc>
              <a:tabLst>
                <a:tab pos="0" algn="l"/>
              </a:tabLst>
            </a:pPr>
            <a:r>
              <a:rPr lang="en-US" sz="900" b="0" strike="noStrike" spc="-1">
                <a:solidFill>
                  <a:srgbClr val="333333"/>
                </a:solidFill>
                <a:latin typeface="Calibri"/>
                <a:ea typeface="Calibri"/>
              </a:rPr>
              <a:t>Find which endpoint</a:t>
            </a:r>
            <a:endParaRPr lang="en-US" sz="900" b="0" strike="noStrike" spc="-1">
              <a:solidFill>
                <a:srgbClr val="000000"/>
              </a:solidFill>
              <a:latin typeface="Arial"/>
            </a:endParaRPr>
          </a:p>
          <a:p>
            <a:pPr defTabSz="914400">
              <a:lnSpc>
                <a:spcPct val="130000"/>
              </a:lnSpc>
              <a:tabLst>
                <a:tab pos="0" algn="l"/>
              </a:tabLst>
            </a:pPr>
            <a:r>
              <a:rPr lang="en-US" sz="900" b="0" strike="noStrike" spc="-1">
                <a:solidFill>
                  <a:srgbClr val="333333"/>
                </a:solidFill>
                <a:latin typeface="Calibri"/>
                <a:ea typeface="Calibri"/>
              </a:rPr>
              <a:t>is causing the delay.</a:t>
            </a:r>
            <a:endParaRPr lang="en-US" sz="900" b="0" strike="noStrike" spc="-1">
              <a:solidFill>
                <a:srgbClr val="000000"/>
              </a:solidFill>
              <a:latin typeface="Arial"/>
            </a:endParaRPr>
          </a:p>
        </p:txBody>
      </p:sp>
      <p:sp>
        <p:nvSpPr>
          <p:cNvPr id="850" name="Text 27"/>
          <p:cNvSpPr/>
          <p:nvPr/>
        </p:nvSpPr>
        <p:spPr>
          <a:xfrm>
            <a:off x="7283669" y="1371420"/>
            <a:ext cx="18252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0" strike="noStrike" spc="-1">
                <a:solidFill>
                  <a:srgbClr val="D9D9D9"/>
                </a:solidFill>
                <a:latin typeface="Calibri"/>
              </a:rPr>
              <a:t>▶</a:t>
            </a:r>
            <a:endParaRPr lang="en-US" sz="1000" b="0" strike="noStrike" spc="-1">
              <a:solidFill>
                <a:srgbClr val="000000"/>
              </a:solidFill>
              <a:latin typeface="Arial"/>
            </a:endParaRPr>
          </a:p>
        </p:txBody>
      </p:sp>
      <p:sp>
        <p:nvSpPr>
          <p:cNvPr id="851" name="Shape 28"/>
          <p:cNvSpPr/>
          <p:nvPr/>
        </p:nvSpPr>
        <p:spPr>
          <a:xfrm>
            <a:off x="7466549" y="959940"/>
            <a:ext cx="1599840" cy="365400"/>
          </a:xfrm>
          <a:prstGeom prst="rect">
            <a:avLst/>
          </a:prstGeom>
          <a:solidFill>
            <a:srgbClr val="00963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852" name="Text 29"/>
          <p:cNvSpPr/>
          <p:nvPr/>
        </p:nvSpPr>
        <p:spPr>
          <a:xfrm>
            <a:off x="7466549" y="959940"/>
            <a:ext cx="15998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rgbClr val="FFFFFF"/>
                </a:solidFill>
                <a:latin typeface="Arial"/>
                <a:ea typeface="Arial"/>
              </a:rPr>
              <a:t>5  Root cause</a:t>
            </a:r>
            <a:endParaRPr lang="en-US" sz="1100" b="0" strike="noStrike" spc="-1">
              <a:solidFill>
                <a:srgbClr val="000000"/>
              </a:solidFill>
              <a:latin typeface="Arial"/>
            </a:endParaRPr>
          </a:p>
        </p:txBody>
      </p:sp>
      <p:sp>
        <p:nvSpPr>
          <p:cNvPr id="853" name="Shape 30"/>
          <p:cNvSpPr/>
          <p:nvPr/>
        </p:nvSpPr>
        <p:spPr>
          <a:xfrm>
            <a:off x="7466549" y="1325700"/>
            <a:ext cx="1599840" cy="95976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854" name="Text 31"/>
          <p:cNvSpPr/>
          <p:nvPr/>
        </p:nvSpPr>
        <p:spPr>
          <a:xfrm>
            <a:off x="7539629" y="1371420"/>
            <a:ext cx="1462680" cy="86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30000"/>
              </a:lnSpc>
              <a:tabLst>
                <a:tab pos="0" algn="l"/>
              </a:tabLst>
            </a:pPr>
            <a:r>
              <a:rPr lang="en-US" sz="900" b="0" strike="noStrike" spc="-1">
                <a:solidFill>
                  <a:srgbClr val="333333"/>
                </a:solidFill>
                <a:latin typeface="Calibri"/>
                <a:ea typeface="Calibri"/>
              </a:rPr>
              <a:t>Correlate with app logs,</a:t>
            </a:r>
            <a:endParaRPr lang="en-US" sz="900" b="0" strike="noStrike" spc="-1">
              <a:solidFill>
                <a:srgbClr val="000000"/>
              </a:solidFill>
              <a:latin typeface="Arial"/>
            </a:endParaRPr>
          </a:p>
          <a:p>
            <a:pPr defTabSz="914400">
              <a:lnSpc>
                <a:spcPct val="130000"/>
              </a:lnSpc>
              <a:tabLst>
                <a:tab pos="0" algn="l"/>
              </a:tabLst>
            </a:pPr>
            <a:r>
              <a:rPr lang="en-US" sz="900" b="0" strike="noStrike" spc="-1">
                <a:solidFill>
                  <a:srgbClr val="333333"/>
                </a:solidFill>
                <a:latin typeface="Calibri"/>
                <a:ea typeface="Calibri"/>
              </a:rPr>
              <a:t>DB queries, or server</a:t>
            </a:r>
            <a:endParaRPr lang="en-US" sz="900" b="0" strike="noStrike" spc="-1">
              <a:solidFill>
                <a:srgbClr val="000000"/>
              </a:solidFill>
              <a:latin typeface="Arial"/>
            </a:endParaRPr>
          </a:p>
          <a:p>
            <a:pPr defTabSz="914400">
              <a:lnSpc>
                <a:spcPct val="130000"/>
              </a:lnSpc>
              <a:tabLst>
                <a:tab pos="0" algn="l"/>
              </a:tabLst>
            </a:pPr>
            <a:r>
              <a:rPr lang="en-US" sz="900" b="0" strike="noStrike" spc="-1">
                <a:solidFill>
                  <a:srgbClr val="333333"/>
                </a:solidFill>
                <a:latin typeface="Calibri"/>
                <a:ea typeface="Calibri"/>
              </a:rPr>
              <a:t>resource utilization.</a:t>
            </a:r>
            <a:endParaRPr lang="en-US" sz="900" b="0" strike="noStrike" spc="-1">
              <a:solidFill>
                <a:srgbClr val="000000"/>
              </a:solidFill>
              <a:latin typeface="Arial"/>
            </a:endParaRPr>
          </a:p>
        </p:txBody>
      </p:sp>
      <p:sp>
        <p:nvSpPr>
          <p:cNvPr id="855" name="Text 32"/>
          <p:cNvSpPr/>
          <p:nvPr/>
        </p:nvSpPr>
        <p:spPr>
          <a:xfrm>
            <a:off x="425669" y="2514420"/>
            <a:ext cx="45716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strike="noStrike" spc="-1">
                <a:solidFill>
                  <a:srgbClr val="0E41AA"/>
                </a:solidFill>
                <a:latin typeface="Arial"/>
                <a:ea typeface="Arial"/>
              </a:rPr>
              <a:t>Common AVR patterns and what they mean</a:t>
            </a:r>
            <a:endParaRPr lang="en-US" sz="1600" b="0" strike="noStrike" spc="-1">
              <a:solidFill>
                <a:srgbClr val="000000"/>
              </a:solidFill>
              <a:latin typeface="Arial"/>
            </a:endParaRPr>
          </a:p>
        </p:txBody>
      </p:sp>
      <p:graphicFrame>
        <p:nvGraphicFramePr>
          <p:cNvPr id="856" name="Table 0"/>
          <p:cNvGraphicFramePr/>
          <p:nvPr>
            <p:extLst>
              <p:ext uri="{D42A27DB-BD31-4B8C-83A1-F6EECF244321}">
                <p14:modId xmlns:p14="http://schemas.microsoft.com/office/powerpoint/2010/main" val="3179682705"/>
              </p:ext>
            </p:extLst>
          </p:nvPr>
        </p:nvGraphicFramePr>
        <p:xfrm>
          <a:off x="334229" y="2788740"/>
          <a:ext cx="8412480" cy="2286000"/>
        </p:xfrm>
        <a:graphic>
          <a:graphicData uri="http://schemas.openxmlformats.org/drawingml/2006/table">
            <a:tbl>
              <a:tblPr/>
              <a:tblGrid>
                <a:gridCol w="256032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tblGrid>
              <a:tr h="0">
                <a:tc>
                  <a:txBody>
                    <a:bodyPr/>
                    <a:lstStyle/>
                    <a:p>
                      <a:pPr defTabSz="914400">
                        <a:lnSpc>
                          <a:spcPct val="100000"/>
                        </a:lnSpc>
                        <a:tabLst>
                          <a:tab pos="0" algn="l"/>
                        </a:tabLst>
                      </a:pPr>
                      <a:r>
                        <a:rPr lang="en-US" sz="900" b="1" strike="noStrike" spc="-1">
                          <a:solidFill>
                            <a:srgbClr val="FFFFFF"/>
                          </a:solidFill>
                          <a:latin typeface="Calibri"/>
                        </a:rPr>
                        <a:t>AVR observation</a:t>
                      </a:r>
                      <a:endParaRPr lang="en-US" sz="9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E41AA"/>
                    </a:solidFill>
                  </a:tcPr>
                </a:tc>
                <a:tc>
                  <a:txBody>
                    <a:bodyPr/>
                    <a:lstStyle/>
                    <a:p>
                      <a:pPr defTabSz="914400">
                        <a:lnSpc>
                          <a:spcPct val="100000"/>
                        </a:lnSpc>
                        <a:tabLst>
                          <a:tab pos="0" algn="l"/>
                        </a:tabLst>
                      </a:pPr>
                      <a:r>
                        <a:rPr lang="en-US" sz="900" b="1" strike="noStrike" spc="-1">
                          <a:solidFill>
                            <a:srgbClr val="FFFFFF"/>
                          </a:solidFill>
                          <a:latin typeface="Calibri"/>
                        </a:rPr>
                        <a:t>Likely cause</a:t>
                      </a:r>
                      <a:endParaRPr lang="en-US" sz="9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E41AA"/>
                    </a:solidFill>
                  </a:tcPr>
                </a:tc>
                <a:tc>
                  <a:txBody>
                    <a:bodyPr/>
                    <a:lstStyle/>
                    <a:p>
                      <a:pPr defTabSz="914400">
                        <a:lnSpc>
                          <a:spcPct val="100000"/>
                        </a:lnSpc>
                        <a:tabLst>
                          <a:tab pos="0" algn="l"/>
                        </a:tabLst>
                      </a:pPr>
                      <a:r>
                        <a:rPr lang="en-US" sz="900" b="1" strike="noStrike" spc="-1">
                          <a:solidFill>
                            <a:srgbClr val="FFFFFF"/>
                          </a:solidFill>
                          <a:latin typeface="Calibri"/>
                        </a:rPr>
                        <a:t>Action</a:t>
                      </a:r>
                      <a:endParaRPr lang="en-US" sz="9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E41AA"/>
                    </a:solidFill>
                  </a:tcPr>
                </a:tc>
                <a:extLst>
                  <a:ext uri="{0D108BD9-81ED-4DB2-BD59-A6C34878D82A}">
                    <a16:rowId xmlns:a16="http://schemas.microsoft.com/office/drawing/2014/main" val="10000"/>
                  </a:ext>
                </a:extLst>
              </a:tr>
              <a:tr h="0">
                <a:tc>
                  <a:txBody>
                    <a:bodyPr/>
                    <a:lstStyle/>
                    <a:p>
                      <a:pPr defTabSz="914400">
                        <a:lnSpc>
                          <a:spcPct val="100000"/>
                        </a:lnSpc>
                        <a:tabLst>
                          <a:tab pos="0" algn="l"/>
                        </a:tabLst>
                      </a:pPr>
                      <a:r>
                        <a:rPr lang="en-US" sz="900" b="0" strike="noStrike" spc="-1">
                          <a:solidFill>
                            <a:srgbClr val="000000"/>
                          </a:solidFill>
                          <a:latin typeface="Calibri"/>
                        </a:rPr>
                        <a:t>High server latency on ONE member</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That server has a backend issue (slow DB, resource contention)</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Investigate server-level metrics; consider removing from pool temporarily</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1"/>
                  </a:ext>
                </a:extLst>
              </a:tr>
              <a:tr h="0">
                <a:tc>
                  <a:txBody>
                    <a:bodyPr/>
                    <a:lstStyle/>
                    <a:p>
                      <a:pPr defTabSz="914400">
                        <a:lnSpc>
                          <a:spcPct val="100000"/>
                        </a:lnSpc>
                        <a:tabLst>
                          <a:tab pos="0" algn="l"/>
                        </a:tabLst>
                      </a:pPr>
                      <a:r>
                        <a:rPr lang="en-US" sz="900" b="0" strike="noStrike" spc="-1">
                          <a:solidFill>
                            <a:srgbClr val="000000"/>
                          </a:solidFill>
                          <a:latin typeface="Calibri"/>
                        </a:rPr>
                        <a:t>High server latency on ALL members</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Upstream dependency issue (shared database, shared service)</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Look at the common dependency, not individual servers</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2"/>
                  </a:ext>
                </a:extLst>
              </a:tr>
              <a:tr h="0">
                <a:tc>
                  <a:txBody>
                    <a:bodyPr/>
                    <a:lstStyle/>
                    <a:p>
                      <a:pPr defTabSz="914400">
                        <a:lnSpc>
                          <a:spcPct val="100000"/>
                        </a:lnSpc>
                        <a:tabLst>
                          <a:tab pos="0" algn="l"/>
                        </a:tabLst>
                      </a:pPr>
                      <a:r>
                        <a:rPr lang="en-US" sz="900" b="0" strike="noStrike" spc="-1">
                          <a:solidFill>
                            <a:srgbClr val="000000"/>
                          </a:solidFill>
                          <a:latin typeface="Calibri"/>
                        </a:rPr>
                        <a:t>High client latency, normal server latency</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Network issue between BIG-IP and clients (WAN, Internet, CDN)</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Not a BIG-IP or server issue; check network path</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3"/>
                  </a:ext>
                </a:extLst>
              </a:tr>
              <a:tr h="0">
                <a:tc>
                  <a:txBody>
                    <a:bodyPr/>
                    <a:lstStyle/>
                    <a:p>
                      <a:pPr defTabSz="914400">
                        <a:lnSpc>
                          <a:spcPct val="100000"/>
                        </a:lnSpc>
                        <a:tabLst>
                          <a:tab pos="0" algn="l"/>
                        </a:tabLst>
                      </a:pPr>
                      <a:r>
                        <a:rPr lang="en-US" sz="900" b="0" strike="noStrike" spc="-1">
                          <a:solidFill>
                            <a:srgbClr val="000000"/>
                          </a:solidFill>
                          <a:latin typeface="Calibri"/>
                        </a:rPr>
                        <a:t>Spike in 5xx response codes</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Server errors (app crash, deployment issue, resource exhaustion)</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Check server logs; correlate with deployment timeline</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4"/>
                  </a:ext>
                </a:extLst>
              </a:tr>
              <a:tr h="0">
                <a:tc>
                  <a:txBody>
                    <a:bodyPr/>
                    <a:lstStyle/>
                    <a:p>
                      <a:pPr defTabSz="914400">
                        <a:lnSpc>
                          <a:spcPct val="100000"/>
                        </a:lnSpc>
                        <a:tabLst>
                          <a:tab pos="0" algn="l"/>
                        </a:tabLst>
                      </a:pPr>
                      <a:r>
                        <a:rPr lang="en-US" sz="900" b="0" strike="noStrike" spc="-1">
                          <a:solidFill>
                            <a:srgbClr val="000000"/>
                          </a:solidFill>
                          <a:latin typeface="Calibri"/>
                        </a:rPr>
                        <a:t>TPS spike with latency increase</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Traffic overload (DDoS, flash crowd, marketing campaign)</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Scale pool, enable rate limiting, check if attack vs legitimate</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5"/>
                  </a:ext>
                </a:extLst>
              </a:tr>
              <a:tr h="0">
                <a:tc>
                  <a:txBody>
                    <a:bodyPr/>
                    <a:lstStyle/>
                    <a:p>
                      <a:pPr defTabSz="914400">
                        <a:lnSpc>
                          <a:spcPct val="100000"/>
                        </a:lnSpc>
                        <a:tabLst>
                          <a:tab pos="0" algn="l"/>
                        </a:tabLst>
                      </a:pPr>
                      <a:r>
                        <a:rPr lang="en-US" sz="900" b="0" strike="noStrike" spc="-1">
                          <a:solidFill>
                            <a:srgbClr val="000000"/>
                          </a:solidFill>
                          <a:latin typeface="Calibri"/>
                        </a:rPr>
                        <a:t>Uneven transaction distribution</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Persistence sending too much traffic to one member, or member is slow</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Check persistence settings; review LB method</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57"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858"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859"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860"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861"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862"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37    © 2026 F5</a:t>
            </a:r>
            <a:endParaRPr lang="en-US" sz="800" b="0" strike="noStrike" spc="-1">
              <a:solidFill>
                <a:srgbClr val="000000"/>
              </a:solidFill>
              <a:latin typeface="Arial"/>
            </a:endParaRPr>
          </a:p>
        </p:txBody>
      </p:sp>
      <p:pic>
        <p:nvPicPr>
          <p:cNvPr id="863" name="Image 0" descr="preencoded.png"/>
          <p:cNvPicPr/>
          <p:nvPr/>
        </p:nvPicPr>
        <p:blipFill>
          <a:blip r:embed="rId3"/>
          <a:stretch/>
        </p:blipFill>
        <p:spPr>
          <a:xfrm>
            <a:off x="8458200" y="4663440"/>
            <a:ext cx="383760" cy="383760"/>
          </a:xfrm>
          <a:prstGeom prst="rect">
            <a:avLst/>
          </a:prstGeom>
          <a:ln w="0">
            <a:noFill/>
          </a:ln>
        </p:spPr>
      </p:pic>
      <p:sp>
        <p:nvSpPr>
          <p:cNvPr id="864" name="Text 6"/>
          <p:cNvSpPr/>
          <p:nvPr/>
        </p:nvSpPr>
        <p:spPr>
          <a:xfrm>
            <a:off x="457200" y="274320"/>
            <a:ext cx="7314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Lab 3 - Hands-on exercises</a:t>
            </a:r>
            <a:endParaRPr lang="en-US" sz="2800" b="0" strike="noStrike" spc="-1">
              <a:solidFill>
                <a:srgbClr val="000000"/>
              </a:solidFill>
              <a:latin typeface="Arial"/>
            </a:endParaRPr>
          </a:p>
        </p:txBody>
      </p:sp>
      <p:sp>
        <p:nvSpPr>
          <p:cNvPr id="865" name="Text 7"/>
          <p:cNvSpPr/>
          <p:nvPr/>
        </p:nvSpPr>
        <p:spPr>
          <a:xfrm>
            <a:off x="457200" y="685800"/>
            <a:ext cx="7314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009639"/>
                </a:solidFill>
                <a:latin typeface="Calibri"/>
                <a:ea typeface="Calibri"/>
              </a:rPr>
              <a:t>45 minutes  |  Lab guide: Module 3</a:t>
            </a:r>
            <a:endParaRPr lang="en-US" sz="1400" b="0" strike="noStrike" spc="-1">
              <a:solidFill>
                <a:srgbClr val="000000"/>
              </a:solidFill>
              <a:latin typeface="Arial"/>
            </a:endParaRPr>
          </a:p>
        </p:txBody>
      </p:sp>
      <p:graphicFrame>
        <p:nvGraphicFramePr>
          <p:cNvPr id="866" name="Table 0"/>
          <p:cNvGraphicFramePr/>
          <p:nvPr/>
        </p:nvGraphicFramePr>
        <p:xfrm>
          <a:off x="365760" y="1005840"/>
          <a:ext cx="7772400" cy="2514600"/>
        </p:xfrm>
        <a:graphic>
          <a:graphicData uri="http://schemas.openxmlformats.org/drawingml/2006/table">
            <a:tbl>
              <a:tblPr/>
              <a:tblGrid>
                <a:gridCol w="36576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5212080">
                  <a:extLst>
                    <a:ext uri="{9D8B030D-6E8A-4147-A177-3AD203B41FA5}">
                      <a16:colId xmlns:a16="http://schemas.microsoft.com/office/drawing/2014/main" val="20002"/>
                    </a:ext>
                  </a:extLst>
                </a:gridCol>
                <a:gridCol w="548640">
                  <a:extLst>
                    <a:ext uri="{9D8B030D-6E8A-4147-A177-3AD203B41FA5}">
                      <a16:colId xmlns:a16="http://schemas.microsoft.com/office/drawing/2014/main" val="20003"/>
                    </a:ext>
                  </a:extLst>
                </a:gridCol>
              </a:tblGrid>
              <a:tr h="274320">
                <a:tc>
                  <a:txBody>
                    <a:bodyPr/>
                    <a:lstStyle/>
                    <a:p>
                      <a:pPr algn="ctr" defTabSz="914400">
                        <a:lnSpc>
                          <a:spcPct val="100000"/>
                        </a:lnSpc>
                        <a:tabLst>
                          <a:tab pos="0" algn="l"/>
                        </a:tabLst>
                      </a:pPr>
                      <a:r>
                        <a:rPr lang="en-US" sz="1000" b="1" strike="noStrike" spc="-1">
                          <a:solidFill>
                            <a:srgbClr val="FFFFFF"/>
                          </a:solidFill>
                          <a:latin typeface="Calibri"/>
                        </a:rPr>
                        <a:t>#</a:t>
                      </a:r>
                      <a:endParaRPr lang="en-US" sz="1000" b="0" strike="noStrike" spc="-1">
                        <a:solidFill>
                          <a:srgbClr val="FFFFFF"/>
                        </a:solidFill>
                        <a:latin typeface="Arial"/>
                      </a:endParaRPr>
                    </a:p>
                  </a:txBody>
                  <a:tcPr marL="75960" marR="759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09639"/>
                    </a:solidFill>
                  </a:tcPr>
                </a:tc>
                <a:tc>
                  <a:txBody>
                    <a:bodyPr/>
                    <a:lstStyle/>
                    <a:p>
                      <a:pPr defTabSz="914400">
                        <a:lnSpc>
                          <a:spcPct val="100000"/>
                        </a:lnSpc>
                        <a:tabLst>
                          <a:tab pos="0" algn="l"/>
                        </a:tabLst>
                      </a:pPr>
                      <a:r>
                        <a:rPr lang="en-US" sz="1100" b="1" strike="noStrike" spc="-1">
                          <a:solidFill>
                            <a:srgbClr val="FFFFFF"/>
                          </a:solidFill>
                          <a:latin typeface="Calibri"/>
                        </a:rPr>
                        <a:t>Activity</a:t>
                      </a:r>
                      <a:endParaRPr lang="en-US" sz="1100" b="0" strike="noStrike" spc="-1">
                        <a:solidFill>
                          <a:srgbClr val="FFFFFF"/>
                        </a:solidFill>
                        <a:latin typeface="Arial"/>
                      </a:endParaRPr>
                    </a:p>
                  </a:txBody>
                  <a:tcPr marL="75960" marR="759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09639"/>
                    </a:solidFill>
                  </a:tcPr>
                </a:tc>
                <a:tc>
                  <a:txBody>
                    <a:bodyPr/>
                    <a:lstStyle/>
                    <a:p>
                      <a:pPr defTabSz="914400">
                        <a:lnSpc>
                          <a:spcPct val="100000"/>
                        </a:lnSpc>
                        <a:tabLst>
                          <a:tab pos="0" algn="l"/>
                        </a:tabLst>
                      </a:pPr>
                      <a:r>
                        <a:rPr lang="en-US" sz="1100" b="1" strike="noStrike" spc="-1">
                          <a:solidFill>
                            <a:srgbClr val="FFFFFF"/>
                          </a:solidFill>
                          <a:latin typeface="Calibri"/>
                        </a:rPr>
                        <a:t>Key tasks</a:t>
                      </a:r>
                      <a:endParaRPr lang="en-US" sz="1100" b="0" strike="noStrike" spc="-1">
                        <a:solidFill>
                          <a:srgbClr val="FFFFFF"/>
                        </a:solidFill>
                        <a:latin typeface="Arial"/>
                      </a:endParaRPr>
                    </a:p>
                  </a:txBody>
                  <a:tcPr marL="75960" marR="759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09639"/>
                    </a:solidFill>
                  </a:tcPr>
                </a:tc>
                <a:tc>
                  <a:txBody>
                    <a:bodyPr/>
                    <a:lstStyle/>
                    <a:p>
                      <a:pPr algn="ctr" defTabSz="914400">
                        <a:lnSpc>
                          <a:spcPct val="100000"/>
                        </a:lnSpc>
                        <a:tabLst>
                          <a:tab pos="0" algn="l"/>
                        </a:tabLst>
                      </a:pPr>
                      <a:r>
                        <a:rPr lang="en-US" sz="1000" b="1" strike="noStrike" spc="-1">
                          <a:solidFill>
                            <a:srgbClr val="FFFFFF"/>
                          </a:solidFill>
                          <a:latin typeface="Calibri"/>
                        </a:rPr>
                        <a:t>Time</a:t>
                      </a:r>
                      <a:endParaRPr lang="en-US" sz="1000" b="0" strike="noStrike" spc="-1">
                        <a:solidFill>
                          <a:srgbClr val="FFFFFF"/>
                        </a:solidFill>
                        <a:latin typeface="Arial"/>
                      </a:endParaRPr>
                    </a:p>
                  </a:txBody>
                  <a:tcPr marL="75960" marR="759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09639"/>
                    </a:solidFill>
                  </a:tcPr>
                </a:tc>
                <a:extLst>
                  <a:ext uri="{0D108BD9-81ED-4DB2-BD59-A6C34878D82A}">
                    <a16:rowId xmlns:a16="http://schemas.microsoft.com/office/drawing/2014/main" val="10000"/>
                  </a:ext>
                </a:extLst>
              </a:tr>
              <a:tr h="457200">
                <a:tc>
                  <a:txBody>
                    <a:bodyPr/>
                    <a:lstStyle/>
                    <a:p>
                      <a:pPr algn="ctr" defTabSz="914400">
                        <a:lnSpc>
                          <a:spcPct val="100000"/>
                        </a:lnSpc>
                        <a:tabLst>
                          <a:tab pos="0" algn="l"/>
                        </a:tabLst>
                      </a:pPr>
                      <a:r>
                        <a:rPr lang="en-US" sz="1100" b="0" strike="noStrike" spc="-1">
                          <a:solidFill>
                            <a:srgbClr val="000000"/>
                          </a:solidFill>
                          <a:latin typeface="Calibri"/>
                        </a:rPr>
                        <a:t>1</a:t>
                      </a:r>
                      <a:endParaRPr lang="en-US" sz="1100" b="0" strike="noStrike" spc="-1">
                        <a:solidFill>
                          <a:srgbClr val="000000"/>
                        </a:solidFill>
                        <a:latin typeface="Arial"/>
                      </a:endParaRPr>
                    </a:p>
                  </a:txBody>
                  <a:tcPr marL="75960" marR="759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1100" b="1" strike="noStrike" spc="-1">
                          <a:solidFill>
                            <a:srgbClr val="000000"/>
                          </a:solidFill>
                          <a:latin typeface="Calibri"/>
                        </a:rPr>
                        <a:t>AVR Lab Setup</a:t>
                      </a:r>
                      <a:endParaRPr lang="en-US" sz="1100" b="0" strike="noStrike" spc="-1">
                        <a:solidFill>
                          <a:srgbClr val="000000"/>
                        </a:solidFill>
                        <a:latin typeface="Arial"/>
                      </a:endParaRPr>
                    </a:p>
                  </a:txBody>
                  <a:tcPr marL="75960" marR="759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1000" b="0" strike="noStrike" spc="-1">
                          <a:solidFill>
                            <a:srgbClr val="333333"/>
                          </a:solidFill>
                          <a:latin typeface="Calibri"/>
                        </a:rPr>
                        <a:t>Verify AVR provisioning, confirm pre-built iRules (random_client_ip, delay_server) and data group (user_agents) exist.</a:t>
                      </a:r>
                      <a:endParaRPr lang="en-US" sz="1000" b="0" strike="noStrike" spc="-1">
                        <a:solidFill>
                          <a:srgbClr val="000000"/>
                        </a:solidFill>
                        <a:latin typeface="Arial"/>
                      </a:endParaRPr>
                    </a:p>
                  </a:txBody>
                  <a:tcPr marL="75960" marR="759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algn="ctr" defTabSz="914400">
                        <a:lnSpc>
                          <a:spcPct val="100000"/>
                        </a:lnSpc>
                        <a:tabLst>
                          <a:tab pos="0" algn="l"/>
                        </a:tabLst>
                      </a:pPr>
                      <a:r>
                        <a:rPr lang="en-US" sz="1000" b="0" strike="noStrike" spc="-1">
                          <a:solidFill>
                            <a:srgbClr val="666666"/>
                          </a:solidFill>
                          <a:latin typeface="Calibri"/>
                        </a:rPr>
                        <a:t>5m</a:t>
                      </a:r>
                      <a:endParaRPr lang="en-US" sz="1000" b="0" strike="noStrike" spc="-1">
                        <a:solidFill>
                          <a:srgbClr val="000000"/>
                        </a:solidFill>
                        <a:latin typeface="Arial"/>
                      </a:endParaRPr>
                    </a:p>
                  </a:txBody>
                  <a:tcPr marL="75960" marR="759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1"/>
                  </a:ext>
                </a:extLst>
              </a:tr>
              <a:tr h="594360">
                <a:tc>
                  <a:txBody>
                    <a:bodyPr/>
                    <a:lstStyle/>
                    <a:p>
                      <a:pPr algn="ctr" defTabSz="914400">
                        <a:lnSpc>
                          <a:spcPct val="100000"/>
                        </a:lnSpc>
                        <a:tabLst>
                          <a:tab pos="0" algn="l"/>
                        </a:tabLst>
                      </a:pPr>
                      <a:r>
                        <a:rPr lang="en-US" sz="1100" b="0" strike="noStrike" spc="-1">
                          <a:solidFill>
                            <a:srgbClr val="000000"/>
                          </a:solidFill>
                          <a:latin typeface="Calibri"/>
                        </a:rPr>
                        <a:t>2</a:t>
                      </a:r>
                      <a:endParaRPr lang="en-US" sz="1100" b="0" strike="noStrike" spc="-1">
                        <a:solidFill>
                          <a:srgbClr val="000000"/>
                        </a:solidFill>
                        <a:latin typeface="Arial"/>
                      </a:endParaRPr>
                    </a:p>
                  </a:txBody>
                  <a:tcPr marL="75960" marR="759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1100" b="1" strike="noStrike" spc="-1">
                          <a:solidFill>
                            <a:srgbClr val="000000"/>
                          </a:solidFill>
                          <a:latin typeface="Calibri"/>
                        </a:rPr>
                        <a:t>Create Analytics Profile</a:t>
                      </a:r>
                      <a:endParaRPr lang="en-US" sz="1100" b="0" strike="noStrike" spc="-1">
                        <a:solidFill>
                          <a:srgbClr val="000000"/>
                        </a:solidFill>
                        <a:latin typeface="Arial"/>
                      </a:endParaRPr>
                    </a:p>
                  </a:txBody>
                  <a:tcPr marL="75960" marR="759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1000" b="0" strike="noStrike" spc="-1">
                          <a:solidFill>
                            <a:srgbClr val="333333"/>
                          </a:solidFill>
                          <a:latin typeface="Calibri"/>
                        </a:rPr>
                        <a:t>Create custom_analytics profile: enable Max TPS, Throughput, Page Load Time. Collect URLs, Countries, Client IPs, Subnets, Response Codes, User Agents, Methods.</a:t>
                      </a:r>
                      <a:endParaRPr lang="en-US" sz="1000" b="0" strike="noStrike" spc="-1">
                        <a:solidFill>
                          <a:srgbClr val="000000"/>
                        </a:solidFill>
                        <a:latin typeface="Arial"/>
                      </a:endParaRPr>
                    </a:p>
                  </a:txBody>
                  <a:tcPr marL="75960" marR="759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algn="ctr" defTabSz="914400">
                        <a:lnSpc>
                          <a:spcPct val="100000"/>
                        </a:lnSpc>
                        <a:tabLst>
                          <a:tab pos="0" algn="l"/>
                        </a:tabLst>
                      </a:pPr>
                      <a:r>
                        <a:rPr lang="en-US" sz="1000" b="0" strike="noStrike" spc="-1">
                          <a:solidFill>
                            <a:srgbClr val="666666"/>
                          </a:solidFill>
                          <a:latin typeface="Calibri"/>
                        </a:rPr>
                        <a:t>10m</a:t>
                      </a:r>
                      <a:endParaRPr lang="en-US" sz="1000" b="0" strike="noStrike" spc="-1">
                        <a:solidFill>
                          <a:srgbClr val="000000"/>
                        </a:solidFill>
                        <a:latin typeface="Arial"/>
                      </a:endParaRPr>
                    </a:p>
                  </a:txBody>
                  <a:tcPr marL="75960" marR="759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2"/>
                  </a:ext>
                </a:extLst>
              </a:tr>
              <a:tr h="594360">
                <a:tc>
                  <a:txBody>
                    <a:bodyPr/>
                    <a:lstStyle/>
                    <a:p>
                      <a:pPr algn="ctr" defTabSz="914400">
                        <a:lnSpc>
                          <a:spcPct val="100000"/>
                        </a:lnSpc>
                        <a:tabLst>
                          <a:tab pos="0" algn="l"/>
                        </a:tabLst>
                      </a:pPr>
                      <a:r>
                        <a:rPr lang="en-US" sz="1100" b="0" strike="noStrike" spc="-1">
                          <a:solidFill>
                            <a:srgbClr val="000000"/>
                          </a:solidFill>
                          <a:latin typeface="Calibri"/>
                        </a:rPr>
                        <a:t>3</a:t>
                      </a:r>
                      <a:endParaRPr lang="en-US" sz="1100" b="0" strike="noStrike" spc="-1">
                        <a:solidFill>
                          <a:srgbClr val="000000"/>
                        </a:solidFill>
                        <a:latin typeface="Arial"/>
                      </a:endParaRPr>
                    </a:p>
                  </a:txBody>
                  <a:tcPr marL="75960" marR="759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1100" b="1" strike="noStrike" spc="-1">
                          <a:solidFill>
                            <a:srgbClr val="000000"/>
                          </a:solidFill>
                          <a:latin typeface="Calibri"/>
                        </a:rPr>
                        <a:t>Create Web App</a:t>
                      </a:r>
                      <a:endParaRPr lang="en-US" sz="1100" b="0" strike="noStrike" spc="-1">
                        <a:solidFill>
                          <a:srgbClr val="000000"/>
                        </a:solidFill>
                        <a:latin typeface="Arial"/>
                      </a:endParaRPr>
                    </a:p>
                  </a:txBody>
                  <a:tcPr marL="75960" marR="759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1000" b="0" strike="noStrike" spc="-1">
                          <a:solidFill>
                            <a:srgbClr val="333333"/>
                          </a:solidFill>
                          <a:latin typeface="Calibri"/>
                        </a:rPr>
                        <a:t>Build avr_virtual2 (10.1.20.240:80) with analytics profile + delay_server iRule. Build avr_virtual1 (10.1.10.90:80) with random_client_ip iRule.</a:t>
                      </a:r>
                      <a:endParaRPr lang="en-US" sz="1000" b="0" strike="noStrike" spc="-1">
                        <a:solidFill>
                          <a:srgbClr val="000000"/>
                        </a:solidFill>
                        <a:latin typeface="Arial"/>
                      </a:endParaRPr>
                    </a:p>
                  </a:txBody>
                  <a:tcPr marL="75960" marR="759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algn="ctr" defTabSz="914400">
                        <a:lnSpc>
                          <a:spcPct val="100000"/>
                        </a:lnSpc>
                        <a:tabLst>
                          <a:tab pos="0" algn="l"/>
                        </a:tabLst>
                      </a:pPr>
                      <a:r>
                        <a:rPr lang="en-US" sz="1000" b="0" strike="noStrike" spc="-1">
                          <a:solidFill>
                            <a:srgbClr val="666666"/>
                          </a:solidFill>
                          <a:latin typeface="Calibri"/>
                        </a:rPr>
                        <a:t>10m</a:t>
                      </a:r>
                      <a:endParaRPr lang="en-US" sz="1000" b="0" strike="noStrike" spc="-1">
                        <a:solidFill>
                          <a:srgbClr val="000000"/>
                        </a:solidFill>
                        <a:latin typeface="Arial"/>
                      </a:endParaRPr>
                    </a:p>
                  </a:txBody>
                  <a:tcPr marL="75960" marR="759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3"/>
                  </a:ext>
                </a:extLst>
              </a:tr>
              <a:tr h="594360">
                <a:tc>
                  <a:txBody>
                    <a:bodyPr/>
                    <a:lstStyle/>
                    <a:p>
                      <a:pPr algn="ctr" defTabSz="914400">
                        <a:lnSpc>
                          <a:spcPct val="100000"/>
                        </a:lnSpc>
                        <a:tabLst>
                          <a:tab pos="0" algn="l"/>
                        </a:tabLst>
                      </a:pPr>
                      <a:r>
                        <a:rPr lang="en-US" sz="1100" b="0" strike="noStrike" spc="-1">
                          <a:solidFill>
                            <a:srgbClr val="000000"/>
                          </a:solidFill>
                          <a:latin typeface="Calibri"/>
                        </a:rPr>
                        <a:t>4</a:t>
                      </a:r>
                      <a:endParaRPr lang="en-US" sz="1100" b="0" strike="noStrike" spc="-1">
                        <a:solidFill>
                          <a:srgbClr val="000000"/>
                        </a:solidFill>
                        <a:latin typeface="Arial"/>
                      </a:endParaRPr>
                    </a:p>
                  </a:txBody>
                  <a:tcPr marL="75960" marR="759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1100" b="1" strike="noStrike" spc="-1">
                          <a:solidFill>
                            <a:srgbClr val="000000"/>
                          </a:solidFill>
                          <a:latin typeface="Calibri"/>
                        </a:rPr>
                        <a:t>Generate Traffic &amp; View Reports</a:t>
                      </a:r>
                      <a:endParaRPr lang="en-US" sz="1100" b="0" strike="noStrike" spc="-1">
                        <a:solidFill>
                          <a:srgbClr val="000000"/>
                        </a:solidFill>
                        <a:latin typeface="Arial"/>
                      </a:endParaRPr>
                    </a:p>
                  </a:txBody>
                  <a:tcPr marL="75960" marR="759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1000" b="0" strike="noStrike" spc="-1">
                          <a:solidFill>
                            <a:srgbClr val="333333"/>
                          </a:solidFill>
                          <a:latin typeface="Calibri"/>
                        </a:rPr>
                        <a:t>Browse http://10.1.10.90 repeatedly (Ctrl+F5), visit multiple pages. Open Statistics &gt; Analytics &gt; HTTP. Analyze Overview, Transactions, Latency by pool member and URL.</a:t>
                      </a:r>
                      <a:endParaRPr lang="en-US" sz="1000" b="0" strike="noStrike" spc="-1">
                        <a:solidFill>
                          <a:srgbClr val="000000"/>
                        </a:solidFill>
                        <a:latin typeface="Arial"/>
                      </a:endParaRPr>
                    </a:p>
                  </a:txBody>
                  <a:tcPr marL="75960" marR="759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algn="ctr" defTabSz="914400">
                        <a:lnSpc>
                          <a:spcPct val="100000"/>
                        </a:lnSpc>
                        <a:tabLst>
                          <a:tab pos="0" algn="l"/>
                        </a:tabLst>
                      </a:pPr>
                      <a:r>
                        <a:rPr lang="en-US" sz="1000" b="0" strike="noStrike" spc="-1">
                          <a:solidFill>
                            <a:srgbClr val="666666"/>
                          </a:solidFill>
                          <a:latin typeface="Calibri"/>
                        </a:rPr>
                        <a:t>20m</a:t>
                      </a:r>
                      <a:endParaRPr lang="en-US" sz="1000" b="0" strike="noStrike" spc="-1">
                        <a:solidFill>
                          <a:srgbClr val="000000"/>
                        </a:solidFill>
                        <a:latin typeface="Arial"/>
                      </a:endParaRPr>
                    </a:p>
                  </a:txBody>
                  <a:tcPr marL="75960" marR="759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4"/>
                  </a:ext>
                </a:extLst>
              </a:tr>
            </a:tbl>
          </a:graphicData>
        </a:graphic>
      </p:graphicFrame>
      <p:sp>
        <p:nvSpPr>
          <p:cNvPr id="867" name="Shape 8"/>
          <p:cNvSpPr/>
          <p:nvPr/>
        </p:nvSpPr>
        <p:spPr>
          <a:xfrm>
            <a:off x="365760" y="3657600"/>
            <a:ext cx="8412120" cy="502560"/>
          </a:xfrm>
          <a:prstGeom prst="rect">
            <a:avLst/>
          </a:prstGeom>
          <a:solidFill>
            <a:srgbClr val="FFF3E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868" name="Text 9"/>
          <p:cNvSpPr/>
          <p:nvPr/>
        </p:nvSpPr>
        <p:spPr>
          <a:xfrm>
            <a:off x="548640" y="3657600"/>
            <a:ext cx="804636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strike="noStrike" spc="-1">
                <a:solidFill>
                  <a:srgbClr val="F29A36"/>
                </a:solidFill>
                <a:latin typeface="Calibri"/>
                <a:ea typeface="Calibri"/>
              </a:rPr>
              <a:t>Time-saver: </a:t>
            </a:r>
            <a:r>
              <a:rPr lang="en-US" sz="1000" b="0" strike="noStrike" spc="-1">
                <a:solidFill>
                  <a:srgbClr val="7A4500"/>
                </a:solidFill>
                <a:latin typeface="Calibri"/>
                <a:ea typeface="Calibri"/>
              </a:rPr>
              <a:t>Start Activity 3 (build virtual servers) ASAP, then generate traffic immediately. AVR data takes 1-5 minutes to populate. Browse the site while reviewing concept slides — data will be ready when you get to Activity 4.</a:t>
            </a:r>
            <a:endParaRPr lang="en-US" sz="1000" b="0" strike="noStrike" spc="-1">
              <a:solidFill>
                <a:srgbClr val="000000"/>
              </a:solidFill>
              <a:latin typeface="Arial"/>
            </a:endParaRPr>
          </a:p>
        </p:txBody>
      </p:sp>
      <p:sp>
        <p:nvSpPr>
          <p:cNvPr id="869" name="Shape 10"/>
          <p:cNvSpPr/>
          <p:nvPr/>
        </p:nvSpPr>
        <p:spPr>
          <a:xfrm>
            <a:off x="365760" y="4251960"/>
            <a:ext cx="8412120" cy="411120"/>
          </a:xfrm>
          <a:prstGeom prst="rect">
            <a:avLst/>
          </a:prstGeom>
          <a:solidFill>
            <a:srgbClr val="E8F0F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870" name="Text 11"/>
          <p:cNvSpPr/>
          <p:nvPr/>
        </p:nvSpPr>
        <p:spPr>
          <a:xfrm>
            <a:off x="548640" y="4251960"/>
            <a:ext cx="80463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strike="noStrike" spc="-1">
                <a:solidFill>
                  <a:srgbClr val="0E41AA"/>
                </a:solidFill>
                <a:latin typeface="Calibri"/>
                <a:ea typeface="Calibri"/>
              </a:rPr>
              <a:t>Key lab questions: </a:t>
            </a:r>
            <a:r>
              <a:rPr lang="en-US" sz="1000" b="0" strike="noStrike" spc="-1">
                <a:solidFill>
                  <a:srgbClr val="1A3A6C"/>
                </a:solidFill>
                <a:latin typeface="Calibri"/>
                <a:ea typeface="Calibri"/>
              </a:rPr>
              <a:t>Q1: Does a particular pool member seem slow? (Yes — 10.1.20.13 due to delay_server iRule)  Q2: What country has most transactions?  Q3: What are the top user agents?</a:t>
            </a:r>
            <a:endParaRPr lang="en-US" sz="1000" b="0" strike="noStrike" spc="-1">
              <a:solidFill>
                <a:srgbClr val="000000"/>
              </a:solidFill>
              <a:latin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71"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872"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873"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874"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875"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876"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38    © 2026 F5</a:t>
            </a:r>
            <a:endParaRPr lang="en-US" sz="800" b="0" strike="noStrike" spc="-1">
              <a:solidFill>
                <a:srgbClr val="000000"/>
              </a:solidFill>
              <a:latin typeface="Arial"/>
            </a:endParaRPr>
          </a:p>
        </p:txBody>
      </p:sp>
      <p:pic>
        <p:nvPicPr>
          <p:cNvPr id="877" name="Image 0" descr="preencoded.png"/>
          <p:cNvPicPr/>
          <p:nvPr/>
        </p:nvPicPr>
        <p:blipFill>
          <a:blip r:embed="rId3"/>
          <a:stretch/>
        </p:blipFill>
        <p:spPr>
          <a:xfrm>
            <a:off x="8458200" y="4663440"/>
            <a:ext cx="383760" cy="383760"/>
          </a:xfrm>
          <a:prstGeom prst="rect">
            <a:avLst/>
          </a:prstGeom>
          <a:ln w="0">
            <a:noFill/>
          </a:ln>
        </p:spPr>
      </p:pic>
      <p:sp>
        <p:nvSpPr>
          <p:cNvPr id="878" name="Text 6"/>
          <p:cNvSpPr/>
          <p:nvPr/>
        </p:nvSpPr>
        <p:spPr>
          <a:xfrm>
            <a:off x="457200" y="274320"/>
            <a:ext cx="82292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Exam checkpoints</a:t>
            </a:r>
            <a:endParaRPr lang="en-US" sz="2800" b="0" strike="noStrike" spc="-1">
              <a:solidFill>
                <a:srgbClr val="000000"/>
              </a:solidFill>
              <a:latin typeface="Arial"/>
            </a:endParaRPr>
          </a:p>
        </p:txBody>
      </p:sp>
      <p:sp>
        <p:nvSpPr>
          <p:cNvPr id="879" name="Text 7"/>
          <p:cNvSpPr/>
          <p:nvPr/>
        </p:nvSpPr>
        <p:spPr>
          <a:xfrm>
            <a:off x="457200" y="68580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strike="noStrike" spc="-1">
                <a:solidFill>
                  <a:srgbClr val="666666"/>
                </a:solidFill>
                <a:latin typeface="Calibri"/>
                <a:ea typeface="Calibri"/>
              </a:rPr>
              <a:t>These mirror the cognitive level and style of F5-CTS Beta exam questions</a:t>
            </a:r>
            <a:endParaRPr lang="en-US" sz="1400" b="0" strike="noStrike" spc="-1">
              <a:solidFill>
                <a:srgbClr val="000000"/>
              </a:solidFill>
              <a:latin typeface="Arial"/>
            </a:endParaRPr>
          </a:p>
        </p:txBody>
      </p:sp>
      <p:sp>
        <p:nvSpPr>
          <p:cNvPr id="880" name="Shape 8"/>
          <p:cNvSpPr/>
          <p:nvPr/>
        </p:nvSpPr>
        <p:spPr>
          <a:xfrm>
            <a:off x="457200" y="1097280"/>
            <a:ext cx="456840" cy="27396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881" name="Text 9"/>
          <p:cNvSpPr/>
          <p:nvPr/>
        </p:nvSpPr>
        <p:spPr>
          <a:xfrm>
            <a:off x="457200" y="1097280"/>
            <a:ext cx="456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strike="noStrike" spc="-1">
                <a:solidFill>
                  <a:srgbClr val="FFFFFF"/>
                </a:solidFill>
                <a:latin typeface="Arial"/>
                <a:ea typeface="Arial"/>
              </a:rPr>
              <a:t>Q1</a:t>
            </a:r>
            <a:endParaRPr lang="en-US" sz="1200" b="0" strike="noStrike" spc="-1">
              <a:solidFill>
                <a:srgbClr val="000000"/>
              </a:solidFill>
              <a:latin typeface="Arial"/>
            </a:endParaRPr>
          </a:p>
        </p:txBody>
      </p:sp>
      <p:sp>
        <p:nvSpPr>
          <p:cNvPr id="882" name="Shape 10"/>
          <p:cNvSpPr/>
          <p:nvPr/>
        </p:nvSpPr>
        <p:spPr>
          <a:xfrm>
            <a:off x="1005840" y="1097280"/>
            <a:ext cx="411120" cy="27396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883" name="Text 11"/>
          <p:cNvSpPr/>
          <p:nvPr/>
        </p:nvSpPr>
        <p:spPr>
          <a:xfrm>
            <a:off x="1005840" y="1097280"/>
            <a:ext cx="4111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1" strike="noStrike" spc="-1">
                <a:solidFill>
                  <a:srgbClr val="009639"/>
                </a:solidFill>
                <a:latin typeface="Calibri"/>
              </a:rPr>
              <a:t>U/A</a:t>
            </a:r>
            <a:endParaRPr lang="en-US" sz="900" b="0" strike="noStrike" spc="-1">
              <a:solidFill>
                <a:srgbClr val="000000"/>
              </a:solidFill>
              <a:latin typeface="Arial"/>
            </a:endParaRPr>
          </a:p>
        </p:txBody>
      </p:sp>
      <p:sp>
        <p:nvSpPr>
          <p:cNvPr id="884" name="Text 12"/>
          <p:cNvSpPr/>
          <p:nvPr/>
        </p:nvSpPr>
        <p:spPr>
          <a:xfrm>
            <a:off x="1508760" y="1097280"/>
            <a:ext cx="54828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ourier New"/>
                <a:ea typeface="Courier New"/>
              </a:rPr>
              <a:t>3.06</a:t>
            </a:r>
            <a:endParaRPr lang="en-US" sz="800" b="0" strike="noStrike" spc="-1">
              <a:solidFill>
                <a:srgbClr val="000000"/>
              </a:solidFill>
              <a:latin typeface="Arial"/>
            </a:endParaRPr>
          </a:p>
        </p:txBody>
      </p:sp>
      <p:sp>
        <p:nvSpPr>
          <p:cNvPr id="885" name="Text 13"/>
          <p:cNvSpPr/>
          <p:nvPr/>
        </p:nvSpPr>
        <p:spPr>
          <a:xfrm>
            <a:off x="457200" y="1417320"/>
            <a:ext cx="84121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strike="noStrike" spc="-1">
                <a:solidFill>
                  <a:srgbClr val="333333"/>
                </a:solidFill>
                <a:latin typeface="Calibri"/>
                <a:ea typeface="Calibri"/>
              </a:rPr>
              <a:t>AVR shows server latency of 800ms for member 10.1.20.13 but only 50ms for the other two members. Client latency is 200ms for all clients. Is this a server problem, a network problem, or a BIG-IP configuration issue? How do you know?</a:t>
            </a:r>
            <a:endParaRPr lang="en-US" sz="1100" b="0" strike="noStrike" spc="-1">
              <a:solidFill>
                <a:srgbClr val="000000"/>
              </a:solidFill>
              <a:latin typeface="Arial"/>
            </a:endParaRPr>
          </a:p>
        </p:txBody>
      </p:sp>
      <p:sp>
        <p:nvSpPr>
          <p:cNvPr id="886" name="Shape 14"/>
          <p:cNvSpPr/>
          <p:nvPr/>
        </p:nvSpPr>
        <p:spPr>
          <a:xfrm>
            <a:off x="457200" y="2240280"/>
            <a:ext cx="456840" cy="27396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887" name="Text 15"/>
          <p:cNvSpPr/>
          <p:nvPr/>
        </p:nvSpPr>
        <p:spPr>
          <a:xfrm>
            <a:off x="457200" y="2240280"/>
            <a:ext cx="456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strike="noStrike" spc="-1">
                <a:solidFill>
                  <a:srgbClr val="FFFFFF"/>
                </a:solidFill>
                <a:latin typeface="Arial"/>
                <a:ea typeface="Arial"/>
              </a:rPr>
              <a:t>Q2</a:t>
            </a:r>
            <a:endParaRPr lang="en-US" sz="1200" b="0" strike="noStrike" spc="-1">
              <a:solidFill>
                <a:srgbClr val="000000"/>
              </a:solidFill>
              <a:latin typeface="Arial"/>
            </a:endParaRPr>
          </a:p>
        </p:txBody>
      </p:sp>
      <p:sp>
        <p:nvSpPr>
          <p:cNvPr id="888" name="Shape 16"/>
          <p:cNvSpPr/>
          <p:nvPr/>
        </p:nvSpPr>
        <p:spPr>
          <a:xfrm>
            <a:off x="1005840" y="2240280"/>
            <a:ext cx="411120" cy="27396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889" name="Text 17"/>
          <p:cNvSpPr/>
          <p:nvPr/>
        </p:nvSpPr>
        <p:spPr>
          <a:xfrm>
            <a:off x="1005840" y="2240280"/>
            <a:ext cx="4111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1" strike="noStrike" spc="-1">
                <a:solidFill>
                  <a:srgbClr val="009639"/>
                </a:solidFill>
                <a:latin typeface="Calibri"/>
              </a:rPr>
              <a:t>U/A</a:t>
            </a:r>
            <a:endParaRPr lang="en-US" sz="900" b="0" strike="noStrike" spc="-1">
              <a:solidFill>
                <a:srgbClr val="000000"/>
              </a:solidFill>
              <a:latin typeface="Arial"/>
            </a:endParaRPr>
          </a:p>
        </p:txBody>
      </p:sp>
      <p:sp>
        <p:nvSpPr>
          <p:cNvPr id="890" name="Text 18"/>
          <p:cNvSpPr/>
          <p:nvPr/>
        </p:nvSpPr>
        <p:spPr>
          <a:xfrm>
            <a:off x="1508760" y="2240280"/>
            <a:ext cx="54828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ourier New"/>
                <a:ea typeface="Courier New"/>
              </a:rPr>
              <a:t>3.07</a:t>
            </a:r>
            <a:endParaRPr lang="en-US" sz="800" b="0" strike="noStrike" spc="-1">
              <a:solidFill>
                <a:srgbClr val="000000"/>
              </a:solidFill>
              <a:latin typeface="Arial"/>
            </a:endParaRPr>
          </a:p>
        </p:txBody>
      </p:sp>
      <p:sp>
        <p:nvSpPr>
          <p:cNvPr id="891" name="Text 19"/>
          <p:cNvSpPr/>
          <p:nvPr/>
        </p:nvSpPr>
        <p:spPr>
          <a:xfrm>
            <a:off x="457200" y="2560320"/>
            <a:ext cx="84121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strike="noStrike" spc="-1">
                <a:solidFill>
                  <a:srgbClr val="333333"/>
                </a:solidFill>
                <a:latin typeface="Calibri"/>
                <a:ea typeface="Calibri"/>
              </a:rPr>
              <a:t>AVR shows high throughput but moderate TPS, with large average response sizes. Which profile change would you evaluate to reduce bandwidth consumption, and what additional profile could eliminate repeat requests for the same content entirely?</a:t>
            </a:r>
            <a:endParaRPr lang="en-US" sz="1100" b="0" strike="noStrike" spc="-1">
              <a:solidFill>
                <a:srgbClr val="000000"/>
              </a:solidFill>
              <a:latin typeface="Arial"/>
            </a:endParaRPr>
          </a:p>
        </p:txBody>
      </p:sp>
      <p:sp>
        <p:nvSpPr>
          <p:cNvPr id="892" name="Shape 20"/>
          <p:cNvSpPr/>
          <p:nvPr/>
        </p:nvSpPr>
        <p:spPr>
          <a:xfrm>
            <a:off x="457200" y="3383280"/>
            <a:ext cx="456840" cy="27396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893" name="Text 21"/>
          <p:cNvSpPr/>
          <p:nvPr/>
        </p:nvSpPr>
        <p:spPr>
          <a:xfrm>
            <a:off x="457200" y="3383280"/>
            <a:ext cx="456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strike="noStrike" spc="-1">
                <a:solidFill>
                  <a:srgbClr val="FFFFFF"/>
                </a:solidFill>
                <a:latin typeface="Arial"/>
                <a:ea typeface="Arial"/>
              </a:rPr>
              <a:t>Q3</a:t>
            </a:r>
            <a:endParaRPr lang="en-US" sz="1200" b="0" strike="noStrike" spc="-1">
              <a:solidFill>
                <a:srgbClr val="000000"/>
              </a:solidFill>
              <a:latin typeface="Arial"/>
            </a:endParaRPr>
          </a:p>
        </p:txBody>
      </p:sp>
      <p:sp>
        <p:nvSpPr>
          <p:cNvPr id="894" name="Shape 22"/>
          <p:cNvSpPr/>
          <p:nvPr/>
        </p:nvSpPr>
        <p:spPr>
          <a:xfrm>
            <a:off x="1005840" y="3383280"/>
            <a:ext cx="411120" cy="27396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895" name="Text 23"/>
          <p:cNvSpPr/>
          <p:nvPr/>
        </p:nvSpPr>
        <p:spPr>
          <a:xfrm>
            <a:off x="1005840" y="3383280"/>
            <a:ext cx="4111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1" strike="noStrike" spc="-1">
                <a:solidFill>
                  <a:srgbClr val="009639"/>
                </a:solidFill>
                <a:latin typeface="Calibri"/>
              </a:rPr>
              <a:t>U/A</a:t>
            </a:r>
            <a:endParaRPr lang="en-US" sz="900" b="0" strike="noStrike" spc="-1">
              <a:solidFill>
                <a:srgbClr val="000000"/>
              </a:solidFill>
              <a:latin typeface="Arial"/>
            </a:endParaRPr>
          </a:p>
        </p:txBody>
      </p:sp>
      <p:sp>
        <p:nvSpPr>
          <p:cNvPr id="896" name="Text 24"/>
          <p:cNvSpPr/>
          <p:nvPr/>
        </p:nvSpPr>
        <p:spPr>
          <a:xfrm>
            <a:off x="1508760" y="3383280"/>
            <a:ext cx="54828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ourier New"/>
                <a:ea typeface="Courier New"/>
              </a:rPr>
              <a:t>3.06</a:t>
            </a:r>
            <a:endParaRPr lang="en-US" sz="800" b="0" strike="noStrike" spc="-1">
              <a:solidFill>
                <a:srgbClr val="000000"/>
              </a:solidFill>
              <a:latin typeface="Arial"/>
            </a:endParaRPr>
          </a:p>
        </p:txBody>
      </p:sp>
      <p:sp>
        <p:nvSpPr>
          <p:cNvPr id="897" name="Text 25"/>
          <p:cNvSpPr/>
          <p:nvPr/>
        </p:nvSpPr>
        <p:spPr>
          <a:xfrm>
            <a:off x="457200" y="3703320"/>
            <a:ext cx="84121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strike="noStrike" spc="-1">
                <a:solidFill>
                  <a:srgbClr val="333333"/>
                </a:solidFill>
                <a:latin typeface="Calibri"/>
                <a:ea typeface="Calibri"/>
              </a:rPr>
              <a:t>AVR shows a sudden spike in 5xx response codes at 2:00 PM on Tuesday. TPS is normal. No configuration changes were made on the BIG-IP. What do you investigate, and where do you look?</a:t>
            </a:r>
            <a:endParaRPr lang="en-US" sz="1100" b="0" strike="noStrike" spc="-1">
              <a:solidFill>
                <a:srgbClr val="000000"/>
              </a:solidFill>
              <a:latin typeface="Arial"/>
            </a:endParaRPr>
          </a:p>
        </p:txBody>
      </p:sp>
      <p:sp>
        <p:nvSpPr>
          <p:cNvPr id="898" name="Shape 26"/>
          <p:cNvSpPr/>
          <p:nvPr/>
        </p:nvSpPr>
        <p:spPr>
          <a:xfrm>
            <a:off x="365760" y="4480560"/>
            <a:ext cx="8412120" cy="182520"/>
          </a:xfrm>
          <a:prstGeom prst="rect">
            <a:avLst/>
          </a:prstGeom>
          <a:solidFill>
            <a:srgbClr val="E8F5E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899" name="Text 27"/>
          <p:cNvSpPr/>
          <p:nvPr/>
        </p:nvSpPr>
        <p:spPr>
          <a:xfrm>
            <a:off x="548640" y="4480560"/>
            <a:ext cx="804636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strike="noStrike" spc="-1">
                <a:solidFill>
                  <a:srgbClr val="1B5E20"/>
                </a:solidFill>
                <a:latin typeface="Calibri"/>
                <a:ea typeface="Calibri"/>
              </a:rPr>
              <a:t>Remember: AVR tells you WHERE and WHAT. Root cause analysis requires correlating with server logs, application metrics, and deployment history.</a:t>
            </a:r>
            <a:endParaRPr lang="en-US" sz="900" b="0" strike="noStrike" spc="-1">
              <a:solidFill>
                <a:srgbClr val="000000"/>
              </a:solidFill>
              <a:latin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900" name="Shape 0"/>
          <p:cNvSpPr/>
          <p:nvPr/>
        </p:nvSpPr>
        <p:spPr>
          <a:xfrm>
            <a:off x="0" y="507024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901" name="Shape 1"/>
          <p:cNvSpPr/>
          <p:nvPr/>
        </p:nvSpPr>
        <p:spPr>
          <a:xfrm>
            <a:off x="1371600" y="507024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902" name="Shape 2"/>
          <p:cNvSpPr/>
          <p:nvPr/>
        </p:nvSpPr>
        <p:spPr>
          <a:xfrm>
            <a:off x="4114800" y="507024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903" name="Shape 3"/>
          <p:cNvSpPr/>
          <p:nvPr/>
        </p:nvSpPr>
        <p:spPr>
          <a:xfrm>
            <a:off x="5486400" y="507024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904" name="Shape 4"/>
          <p:cNvSpPr/>
          <p:nvPr/>
        </p:nvSpPr>
        <p:spPr>
          <a:xfrm>
            <a:off x="7772400" y="507024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pic>
        <p:nvPicPr>
          <p:cNvPr id="905" name="Image 0" descr="preencoded.png"/>
          <p:cNvPicPr/>
          <p:nvPr/>
        </p:nvPicPr>
        <p:blipFill>
          <a:blip r:embed="rId3"/>
          <a:stretch/>
        </p:blipFill>
        <p:spPr>
          <a:xfrm>
            <a:off x="365760" y="274320"/>
            <a:ext cx="639720" cy="639720"/>
          </a:xfrm>
          <a:prstGeom prst="rect">
            <a:avLst/>
          </a:prstGeom>
          <a:ln w="0">
            <a:noFill/>
          </a:ln>
        </p:spPr>
      </p:pic>
      <p:graphicFrame>
        <p:nvGraphicFramePr>
          <p:cNvPr id="906" name="Table 0"/>
          <p:cNvGraphicFramePr/>
          <p:nvPr/>
        </p:nvGraphicFramePr>
        <p:xfrm>
          <a:off x="365760" y="1097280"/>
          <a:ext cx="6675120" cy="487680"/>
        </p:xfrm>
        <a:graphic>
          <a:graphicData uri="http://schemas.openxmlformats.org/drawingml/2006/table">
            <a:tbl>
              <a:tblPr/>
              <a:tblGrid>
                <a:gridCol w="146304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gridCol w="4754880">
                  <a:extLst>
                    <a:ext uri="{9D8B030D-6E8A-4147-A177-3AD203B41FA5}">
                      <a16:colId xmlns:a16="http://schemas.microsoft.com/office/drawing/2014/main" val="20002"/>
                    </a:ext>
                  </a:extLst>
                </a:gridCol>
              </a:tblGrid>
              <a:tr h="0">
                <a:tc>
                  <a:txBody>
                    <a:bodyPr/>
                    <a:lstStyle/>
                    <a:p>
                      <a:pPr defTabSz="914400">
                        <a:lnSpc>
                          <a:spcPct val="100000"/>
                        </a:lnSpc>
                        <a:tabLst>
                          <a:tab pos="0" algn="l"/>
                        </a:tabLst>
                      </a:pPr>
                      <a:r>
                        <a:rPr lang="en-US" sz="1000" b="0" strike="noStrike" spc="-1">
                          <a:solidFill>
                            <a:srgbClr val="FFFFFF"/>
                          </a:solidFill>
                          <a:latin typeface="Courier New"/>
                          <a:ea typeface="Courier New"/>
                        </a:rPr>
                        <a:t>F5CTSLTM2.13</a:t>
                      </a:r>
                      <a:endParaRPr lang="en-US" sz="1000" b="0" strike="noStrike" spc="-1">
                        <a:solidFill>
                          <a:srgbClr val="FFFFFF"/>
                        </a:solidFill>
                        <a:latin typeface="Arial"/>
                      </a:endParaRPr>
                    </a:p>
                  </a:txBody>
                  <a:tcPr marL="75960" marR="75960">
                    <a:lnL>
                      <a:noFill/>
                    </a:lnL>
                    <a:lnR>
                      <a:noFill/>
                    </a:lnR>
                    <a:lnT>
                      <a:noFill/>
                    </a:lnT>
                    <a:lnB>
                      <a:noFill/>
                    </a:lnB>
                    <a:solidFill>
                      <a:srgbClr val="1A1A1A"/>
                    </a:solidFill>
                  </a:tcPr>
                </a:tc>
                <a:tc>
                  <a:txBody>
                    <a:bodyPr/>
                    <a:lstStyle/>
                    <a:p>
                      <a:pPr algn="ctr" defTabSz="914400">
                        <a:lnSpc>
                          <a:spcPct val="100000"/>
                        </a:lnSpc>
                        <a:tabLst>
                          <a:tab pos="0" algn="l"/>
                        </a:tabLst>
                      </a:pPr>
                      <a:r>
                        <a:rPr lang="en-US" sz="1000" b="1" strike="noStrike" spc="-1">
                          <a:solidFill>
                            <a:srgbClr val="009639"/>
                          </a:solidFill>
                          <a:latin typeface="Calibri"/>
                        </a:rPr>
                        <a:t>U/A</a:t>
                      </a:r>
                      <a:endParaRPr lang="en-US" sz="1000" b="0" strike="noStrike" spc="-1">
                        <a:solidFill>
                          <a:srgbClr val="FFFFFF"/>
                        </a:solidFill>
                        <a:latin typeface="Arial"/>
                      </a:endParaRPr>
                    </a:p>
                  </a:txBody>
                  <a:tcPr marL="75960" marR="75960">
                    <a:lnL>
                      <a:noFill/>
                    </a:lnL>
                    <a:lnR>
                      <a:noFill/>
                    </a:lnR>
                    <a:lnT>
                      <a:noFill/>
                    </a:lnT>
                    <a:lnB>
                      <a:noFill/>
                    </a:lnB>
                    <a:solidFill>
                      <a:srgbClr val="1A1A1A"/>
                    </a:solidFill>
                  </a:tcPr>
                </a:tc>
                <a:tc>
                  <a:txBody>
                    <a:bodyPr/>
                    <a:lstStyle/>
                    <a:p>
                      <a:pPr defTabSz="914400">
                        <a:lnSpc>
                          <a:spcPct val="100000"/>
                        </a:lnSpc>
                        <a:tabLst>
                          <a:tab pos="0" algn="l"/>
                        </a:tabLst>
                      </a:pPr>
                      <a:r>
                        <a:rPr lang="en-US" sz="1000" b="0" strike="noStrike" spc="-1">
                          <a:solidFill>
                            <a:srgbClr val="666666"/>
                          </a:solidFill>
                          <a:latin typeface="Calibri"/>
                        </a:rPr>
                        <a:t>Given a packet capture, identify monitor issues</a:t>
                      </a:r>
                      <a:endParaRPr lang="en-US" sz="1000" b="0" strike="noStrike" spc="-1">
                        <a:solidFill>
                          <a:srgbClr val="FFFFFF"/>
                        </a:solidFill>
                        <a:latin typeface="Arial"/>
                      </a:endParaRPr>
                    </a:p>
                  </a:txBody>
                  <a:tcPr marL="75960" marR="75960">
                    <a:lnL>
                      <a:noFill/>
                    </a:lnL>
                    <a:lnR>
                      <a:noFill/>
                    </a:lnR>
                    <a:lnT>
                      <a:noFill/>
                    </a:lnT>
                    <a:lnB>
                      <a:noFill/>
                    </a:lnB>
                    <a:solidFill>
                      <a:srgbClr val="1A1A1A"/>
                    </a:solidFill>
                  </a:tcPr>
                </a:tc>
                <a:extLst>
                  <a:ext uri="{0D108BD9-81ED-4DB2-BD59-A6C34878D82A}">
                    <a16:rowId xmlns:a16="http://schemas.microsoft.com/office/drawing/2014/main" val="10000"/>
                  </a:ext>
                </a:extLst>
              </a:tr>
              <a:tr h="0">
                <a:tc>
                  <a:txBody>
                    <a:bodyPr/>
                    <a:lstStyle/>
                    <a:p>
                      <a:pPr defTabSz="914400">
                        <a:lnSpc>
                          <a:spcPct val="100000"/>
                        </a:lnSpc>
                        <a:tabLst>
                          <a:tab pos="0" algn="l"/>
                        </a:tabLst>
                      </a:pPr>
                      <a:r>
                        <a:rPr lang="en-US" sz="1000" b="0" strike="noStrike" spc="-1">
                          <a:solidFill>
                            <a:srgbClr val="FFFFFF"/>
                          </a:solidFill>
                          <a:latin typeface="Courier New"/>
                          <a:ea typeface="Courier New"/>
                        </a:rPr>
                        <a:t>F5CTSLTM2.14</a:t>
                      </a:r>
                      <a:endParaRPr lang="en-US" sz="1000" b="0" strike="noStrike" spc="-1">
                        <a:solidFill>
                          <a:srgbClr val="FFFFFF"/>
                        </a:solidFill>
                        <a:latin typeface="Arial"/>
                      </a:endParaRPr>
                    </a:p>
                  </a:txBody>
                  <a:tcPr marL="75960" marR="75960">
                    <a:lnL>
                      <a:noFill/>
                    </a:lnL>
                    <a:lnR>
                      <a:noFill/>
                    </a:lnR>
                    <a:lnT>
                      <a:noFill/>
                    </a:lnT>
                    <a:lnB>
                      <a:noFill/>
                    </a:lnB>
                    <a:solidFill>
                      <a:srgbClr val="111111"/>
                    </a:solidFill>
                  </a:tcPr>
                </a:tc>
                <a:tc>
                  <a:txBody>
                    <a:bodyPr/>
                    <a:lstStyle/>
                    <a:p>
                      <a:pPr algn="ctr" defTabSz="914400">
                        <a:lnSpc>
                          <a:spcPct val="100000"/>
                        </a:lnSpc>
                        <a:tabLst>
                          <a:tab pos="0" algn="l"/>
                        </a:tabLst>
                      </a:pPr>
                      <a:r>
                        <a:rPr lang="en-US" sz="1000" b="1" strike="noStrike" spc="-1">
                          <a:solidFill>
                            <a:srgbClr val="009639"/>
                          </a:solidFill>
                          <a:latin typeface="Calibri"/>
                        </a:rPr>
                        <a:t>U/A</a:t>
                      </a:r>
                      <a:endParaRPr lang="en-US" sz="1000" b="0" strike="noStrike" spc="-1">
                        <a:solidFill>
                          <a:srgbClr val="FFFFFF"/>
                        </a:solidFill>
                        <a:latin typeface="Arial"/>
                      </a:endParaRPr>
                    </a:p>
                  </a:txBody>
                  <a:tcPr marL="75960" marR="75960">
                    <a:lnL>
                      <a:noFill/>
                    </a:lnL>
                    <a:lnR>
                      <a:noFill/>
                    </a:lnR>
                    <a:lnT>
                      <a:noFill/>
                    </a:lnT>
                    <a:lnB>
                      <a:noFill/>
                    </a:lnB>
                    <a:solidFill>
                      <a:srgbClr val="111111"/>
                    </a:solidFill>
                  </a:tcPr>
                </a:tc>
                <a:tc>
                  <a:txBody>
                    <a:bodyPr/>
                    <a:lstStyle/>
                    <a:p>
                      <a:pPr defTabSz="914400">
                        <a:lnSpc>
                          <a:spcPct val="100000"/>
                        </a:lnSpc>
                        <a:tabLst>
                          <a:tab pos="0" algn="l"/>
                        </a:tabLst>
                      </a:pPr>
                      <a:r>
                        <a:rPr lang="en-US" sz="1000" b="0" strike="noStrike" spc="-1">
                          <a:solidFill>
                            <a:srgbClr val="666666"/>
                          </a:solidFill>
                          <a:latin typeface="Calibri"/>
                        </a:rPr>
                        <a:t>Given a monitor issue, determine an appropriate solution</a:t>
                      </a:r>
                      <a:endParaRPr lang="en-US" sz="1000" b="0" strike="noStrike" spc="-1">
                        <a:solidFill>
                          <a:srgbClr val="FFFFFF"/>
                        </a:solidFill>
                        <a:latin typeface="Arial"/>
                      </a:endParaRPr>
                    </a:p>
                  </a:txBody>
                  <a:tcPr marL="75960" marR="75960">
                    <a:lnL>
                      <a:noFill/>
                    </a:lnL>
                    <a:lnR>
                      <a:noFill/>
                    </a:lnR>
                    <a:lnT>
                      <a:noFill/>
                    </a:lnT>
                    <a:lnB>
                      <a:noFill/>
                    </a:lnB>
                    <a:solidFill>
                      <a:srgbClr val="111111"/>
                    </a:solidFill>
                  </a:tcPr>
                </a:tc>
                <a:extLst>
                  <a:ext uri="{0D108BD9-81ED-4DB2-BD59-A6C34878D82A}">
                    <a16:rowId xmlns:a16="http://schemas.microsoft.com/office/drawing/2014/main" val="10001"/>
                  </a:ext>
                </a:extLst>
              </a:tr>
            </a:tbl>
          </a:graphicData>
        </a:graphic>
      </p:graphicFrame>
      <p:sp>
        <p:nvSpPr>
          <p:cNvPr id="907" name="Text 5"/>
          <p:cNvSpPr/>
          <p:nvPr/>
        </p:nvSpPr>
        <p:spPr>
          <a:xfrm>
            <a:off x="365760" y="2194560"/>
            <a:ext cx="7314840" cy="1096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strike="noStrike" spc="-1">
                <a:solidFill>
                  <a:srgbClr val="666666"/>
                </a:solidFill>
                <a:latin typeface="Calibri"/>
                <a:ea typeface="Calibri"/>
              </a:rPr>
              <a:t>LAB 4</a:t>
            </a:r>
            <a:endParaRPr lang="en-US" sz="1400" b="0" strike="noStrike" spc="-1">
              <a:solidFill>
                <a:srgbClr val="FFFFFF"/>
              </a:solidFill>
              <a:latin typeface="Arial"/>
            </a:endParaRPr>
          </a:p>
          <a:p>
            <a:pPr defTabSz="914400">
              <a:lnSpc>
                <a:spcPct val="100000"/>
              </a:lnSpc>
              <a:tabLst>
                <a:tab pos="0" algn="l"/>
              </a:tabLst>
            </a:pPr>
            <a:r>
              <a:rPr lang="en-US" sz="3600" b="1" strike="noStrike" spc="-1">
                <a:solidFill>
                  <a:srgbClr val="FFFFFF"/>
                </a:solidFill>
                <a:latin typeface="Arial"/>
                <a:ea typeface="Arial"/>
              </a:rPr>
              <a:t>Monitors and Status</a:t>
            </a:r>
            <a:endParaRPr lang="en-US" sz="3600" b="0" strike="noStrike" spc="-1">
              <a:solidFill>
                <a:srgbClr val="FFFFFF"/>
              </a:solidFill>
              <a:latin typeface="Arial"/>
            </a:endParaRPr>
          </a:p>
        </p:txBody>
      </p:sp>
      <p:sp>
        <p:nvSpPr>
          <p:cNvPr id="908" name="Text 6"/>
          <p:cNvSpPr/>
          <p:nvPr/>
        </p:nvSpPr>
        <p:spPr>
          <a:xfrm>
            <a:off x="365760" y="3383280"/>
            <a:ext cx="640044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strike="noStrike" spc="-1">
                <a:solidFill>
                  <a:srgbClr val="666666"/>
                </a:solidFill>
                <a:latin typeface="Calibri"/>
                <a:ea typeface="Calibri"/>
              </a:rPr>
              <a:t>Configure health monitors (ICMP, HTTP, content, EAV, inband, In-TMM),</a:t>
            </a:r>
            <a:endParaRPr lang="en-US" sz="1400" b="0" strike="noStrike" spc="-1">
              <a:solidFill>
                <a:srgbClr val="FFFFFF"/>
              </a:solidFill>
              <a:latin typeface="Arial"/>
            </a:endParaRPr>
          </a:p>
          <a:p>
            <a:pPr defTabSz="914400">
              <a:lnSpc>
                <a:spcPct val="100000"/>
              </a:lnSpc>
              <a:tabLst>
                <a:tab pos="0" algn="l"/>
              </a:tabLst>
            </a:pPr>
            <a:r>
              <a:rPr lang="en-US" sz="1400" b="0" strike="noStrike" spc="-1">
                <a:solidFill>
                  <a:srgbClr val="666666"/>
                </a:solidFill>
                <a:latin typeface="Calibri"/>
                <a:ea typeface="Calibri"/>
              </a:rPr>
              <a:t>predict status outcomes, understand member-to-pool-to-VS cascade,</a:t>
            </a:r>
            <a:endParaRPr lang="en-US" sz="1400" b="0" strike="noStrike" spc="-1">
              <a:solidFill>
                <a:srgbClr val="FFFFFF"/>
              </a:solidFill>
              <a:latin typeface="Arial"/>
            </a:endParaRPr>
          </a:p>
          <a:p>
            <a:pPr defTabSz="914400">
              <a:lnSpc>
                <a:spcPct val="100000"/>
              </a:lnSpc>
              <a:tabLst>
                <a:tab pos="0" algn="l"/>
              </a:tabLst>
            </a:pPr>
            <a:r>
              <a:rPr lang="en-US" sz="1400" b="0" strike="noStrike" spc="-1">
                <a:solidFill>
                  <a:srgbClr val="666666"/>
                </a:solidFill>
                <a:latin typeface="Calibri"/>
                <a:ea typeface="Calibri"/>
              </a:rPr>
              <a:t>and troubleshoot disabled vs offline states.</a:t>
            </a:r>
            <a:endParaRPr lang="en-US" sz="1400" b="0" strike="noStrike" spc="-1">
              <a:solidFill>
                <a:srgbClr val="FFFFFF"/>
              </a:solidFill>
              <a:latin typeface="Arial"/>
            </a:endParaRPr>
          </a:p>
        </p:txBody>
      </p:sp>
      <p:sp>
        <p:nvSpPr>
          <p:cNvPr id="909" name="Text 7"/>
          <p:cNvSpPr/>
          <p:nvPr/>
        </p:nvSpPr>
        <p:spPr>
          <a:xfrm>
            <a:off x="365760" y="4206240"/>
            <a:ext cx="45716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strike="noStrike" spc="-1">
                <a:solidFill>
                  <a:srgbClr val="F29A36"/>
                </a:solidFill>
                <a:latin typeface="Calibri"/>
                <a:ea typeface="Calibri"/>
              </a:rPr>
              <a:t>60 min  |  15 min slides + 45 min lab</a:t>
            </a:r>
            <a:endParaRPr lang="en-US" sz="1100" b="0" strike="noStrike" spc="-1">
              <a:solidFill>
                <a:srgbClr val="FFFFFF"/>
              </a:solidFill>
              <a:latin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10"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911"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912"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913"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914"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915"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40    © 2026 F5</a:t>
            </a:r>
            <a:endParaRPr lang="en-US" sz="800" b="0" strike="noStrike" spc="-1">
              <a:solidFill>
                <a:srgbClr val="000000"/>
              </a:solidFill>
              <a:latin typeface="Arial"/>
            </a:endParaRPr>
          </a:p>
        </p:txBody>
      </p:sp>
      <p:pic>
        <p:nvPicPr>
          <p:cNvPr id="916" name="Image 0" descr="preencoded.png"/>
          <p:cNvPicPr/>
          <p:nvPr/>
        </p:nvPicPr>
        <p:blipFill>
          <a:blip r:embed="rId3"/>
          <a:stretch/>
        </p:blipFill>
        <p:spPr>
          <a:xfrm>
            <a:off x="8458200" y="4663440"/>
            <a:ext cx="383760" cy="383760"/>
          </a:xfrm>
          <a:prstGeom prst="rect">
            <a:avLst/>
          </a:prstGeom>
          <a:ln w="0">
            <a:noFill/>
          </a:ln>
        </p:spPr>
      </p:pic>
      <p:sp>
        <p:nvSpPr>
          <p:cNvPr id="917" name="Text 6"/>
          <p:cNvSpPr/>
          <p:nvPr/>
        </p:nvSpPr>
        <p:spPr>
          <a:xfrm>
            <a:off x="457200" y="274320"/>
            <a:ext cx="82292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Monitor types</a:t>
            </a:r>
            <a:endParaRPr lang="en-US" sz="2800" b="0" strike="noStrike" spc="-1">
              <a:solidFill>
                <a:srgbClr val="000000"/>
              </a:solidFill>
              <a:latin typeface="Arial"/>
            </a:endParaRPr>
          </a:p>
        </p:txBody>
      </p:sp>
      <p:sp>
        <p:nvSpPr>
          <p:cNvPr id="918" name="Text 7"/>
          <p:cNvSpPr/>
          <p:nvPr/>
        </p:nvSpPr>
        <p:spPr>
          <a:xfrm>
            <a:off x="457200" y="658440"/>
            <a:ext cx="82292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strike="noStrike" spc="-1">
                <a:solidFill>
                  <a:srgbClr val="666666"/>
                </a:solidFill>
                <a:latin typeface="Calibri"/>
                <a:ea typeface="Calibri"/>
              </a:rPr>
              <a:t>Choose the type that verifies the specific service your application depends on</a:t>
            </a:r>
            <a:endParaRPr lang="en-US" sz="1300" b="0" strike="noStrike" spc="-1">
              <a:solidFill>
                <a:srgbClr val="000000"/>
              </a:solidFill>
              <a:latin typeface="Arial"/>
            </a:endParaRPr>
          </a:p>
        </p:txBody>
      </p:sp>
      <p:graphicFrame>
        <p:nvGraphicFramePr>
          <p:cNvPr id="919" name="Table 0"/>
          <p:cNvGraphicFramePr/>
          <p:nvPr/>
        </p:nvGraphicFramePr>
        <p:xfrm>
          <a:off x="365760" y="960120"/>
          <a:ext cx="8412480" cy="1950720"/>
        </p:xfrm>
        <a:graphic>
          <a:graphicData uri="http://schemas.openxmlformats.org/drawingml/2006/table">
            <a:tbl>
              <a:tblPr/>
              <a:tblGrid>
                <a:gridCol w="109728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468880">
                  <a:extLst>
                    <a:ext uri="{9D8B030D-6E8A-4147-A177-3AD203B41FA5}">
                      <a16:colId xmlns:a16="http://schemas.microsoft.com/office/drawing/2014/main" val="20002"/>
                    </a:ext>
                  </a:extLst>
                </a:gridCol>
                <a:gridCol w="2651760">
                  <a:extLst>
                    <a:ext uri="{9D8B030D-6E8A-4147-A177-3AD203B41FA5}">
                      <a16:colId xmlns:a16="http://schemas.microsoft.com/office/drawing/2014/main" val="20003"/>
                    </a:ext>
                  </a:extLst>
                </a:gridCol>
              </a:tblGrid>
              <a:tr h="0">
                <a:tc>
                  <a:txBody>
                    <a:bodyPr/>
                    <a:lstStyle/>
                    <a:p>
                      <a:pPr defTabSz="914400">
                        <a:lnSpc>
                          <a:spcPct val="100000"/>
                        </a:lnSpc>
                        <a:tabLst>
                          <a:tab pos="0" algn="l"/>
                        </a:tabLst>
                      </a:pPr>
                      <a:r>
                        <a:rPr lang="en-US" sz="1000" b="1" strike="noStrike" spc="-1">
                          <a:solidFill>
                            <a:srgbClr val="FFFFFF"/>
                          </a:solidFill>
                          <a:latin typeface="Calibri"/>
                        </a:rPr>
                        <a:t>Type</a:t>
                      </a:r>
                      <a:endParaRPr lang="en-US" sz="10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E41AA"/>
                    </a:solidFill>
                  </a:tcPr>
                </a:tc>
                <a:tc>
                  <a:txBody>
                    <a:bodyPr/>
                    <a:lstStyle/>
                    <a:p>
                      <a:pPr defTabSz="914400">
                        <a:lnSpc>
                          <a:spcPct val="100000"/>
                        </a:lnSpc>
                        <a:tabLst>
                          <a:tab pos="0" algn="l"/>
                        </a:tabLst>
                      </a:pPr>
                      <a:r>
                        <a:rPr lang="en-US" sz="1000" b="1" strike="noStrike" spc="-1">
                          <a:solidFill>
                            <a:srgbClr val="FFFFFF"/>
                          </a:solidFill>
                          <a:latin typeface="Calibri"/>
                        </a:rPr>
                        <a:t>What it checks</a:t>
                      </a:r>
                      <a:endParaRPr lang="en-US" sz="10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E41AA"/>
                    </a:solidFill>
                  </a:tcPr>
                </a:tc>
                <a:tc>
                  <a:txBody>
                    <a:bodyPr/>
                    <a:lstStyle/>
                    <a:p>
                      <a:pPr defTabSz="914400">
                        <a:lnSpc>
                          <a:spcPct val="100000"/>
                        </a:lnSpc>
                        <a:tabLst>
                          <a:tab pos="0" algn="l"/>
                        </a:tabLst>
                      </a:pPr>
                      <a:r>
                        <a:rPr lang="en-US" sz="1000" b="1" strike="noStrike" spc="-1">
                          <a:solidFill>
                            <a:srgbClr val="FFFFFF"/>
                          </a:solidFill>
                          <a:latin typeface="Calibri"/>
                        </a:rPr>
                        <a:t>Use when</a:t>
                      </a:r>
                      <a:endParaRPr lang="en-US" sz="10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E41AA"/>
                    </a:solidFill>
                  </a:tcPr>
                </a:tc>
                <a:tc>
                  <a:txBody>
                    <a:bodyPr/>
                    <a:lstStyle/>
                    <a:p>
                      <a:pPr defTabSz="914400">
                        <a:lnSpc>
                          <a:spcPct val="100000"/>
                        </a:lnSpc>
                        <a:tabLst>
                          <a:tab pos="0" algn="l"/>
                        </a:tabLst>
                      </a:pPr>
                      <a:r>
                        <a:rPr lang="en-US" sz="1000" b="1" strike="noStrike" spc="-1">
                          <a:solidFill>
                            <a:srgbClr val="FFFFFF"/>
                          </a:solidFill>
                          <a:latin typeface="Calibri"/>
                        </a:rPr>
                        <a:t>Limitation</a:t>
                      </a:r>
                      <a:endParaRPr lang="en-US" sz="10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E41AA"/>
                    </a:solidFill>
                  </a:tcPr>
                </a:tc>
                <a:extLst>
                  <a:ext uri="{0D108BD9-81ED-4DB2-BD59-A6C34878D82A}">
                    <a16:rowId xmlns:a16="http://schemas.microsoft.com/office/drawing/2014/main" val="10000"/>
                  </a:ext>
                </a:extLst>
              </a:tr>
              <a:tr h="0">
                <a:tc>
                  <a:txBody>
                    <a:bodyPr/>
                    <a:lstStyle/>
                    <a:p>
                      <a:pPr defTabSz="914400">
                        <a:lnSpc>
                          <a:spcPct val="100000"/>
                        </a:lnSpc>
                        <a:tabLst>
                          <a:tab pos="0" algn="l"/>
                        </a:tabLst>
                      </a:pPr>
                      <a:r>
                        <a:rPr lang="en-US" sz="1000" b="1" strike="noStrike" spc="-1">
                          <a:solidFill>
                            <a:srgbClr val="000000"/>
                          </a:solidFill>
                          <a:latin typeface="Calibri"/>
                        </a:rPr>
                        <a:t>ICMP</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IP address responds to ping</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Default node monitor. Verifies host reachable.</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Host up but service down passes. Least specific.</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1"/>
                  </a:ext>
                </a:extLst>
              </a:tr>
              <a:tr h="0">
                <a:tc>
                  <a:txBody>
                    <a:bodyPr/>
                    <a:lstStyle/>
                    <a:p>
                      <a:pPr defTabSz="914400">
                        <a:lnSpc>
                          <a:spcPct val="100000"/>
                        </a:lnSpc>
                        <a:tabLst>
                          <a:tab pos="0" algn="l"/>
                        </a:tabLst>
                      </a:pPr>
                      <a:r>
                        <a:rPr lang="en-US" sz="1000" b="1" strike="noStrike" spc="-1">
                          <a:solidFill>
                            <a:srgbClr val="000000"/>
                          </a:solidFill>
                          <a:latin typeface="Calibri"/>
                        </a:rPr>
                        <a:t>TCP</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TCP port accepts connections</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Non-HTTP services (MySQL, SMTP, custom)</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Port open but app unresponsive passes.</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2"/>
                  </a:ext>
                </a:extLst>
              </a:tr>
              <a:tr h="0">
                <a:tc>
                  <a:txBody>
                    <a:bodyPr/>
                    <a:lstStyle/>
                    <a:p>
                      <a:pPr defTabSz="914400">
                        <a:lnSpc>
                          <a:spcPct val="100000"/>
                        </a:lnSpc>
                        <a:tabLst>
                          <a:tab pos="0" algn="l"/>
                        </a:tabLst>
                      </a:pPr>
                      <a:r>
                        <a:rPr lang="en-US" sz="1000" b="1" strike="noStrike" spc="-1">
                          <a:solidFill>
                            <a:srgbClr val="000000"/>
                          </a:solidFill>
                          <a:latin typeface="Calibri"/>
                        </a:rPr>
                        <a:t>HTTP/S</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Sends HTTP request, checks response content</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Web apps. Most common monitor type.</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Must craft correct send/receive strings.</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3"/>
                  </a:ext>
                </a:extLst>
              </a:tr>
              <a:tr h="0">
                <a:tc>
                  <a:txBody>
                    <a:bodyPr/>
                    <a:lstStyle/>
                    <a:p>
                      <a:pPr defTabSz="914400">
                        <a:lnSpc>
                          <a:spcPct val="100000"/>
                        </a:lnSpc>
                        <a:tabLst>
                          <a:tab pos="0" algn="l"/>
                        </a:tabLst>
                      </a:pPr>
                      <a:r>
                        <a:rPr lang="en-US" sz="1000" b="1" strike="noStrike" spc="-1">
                          <a:solidFill>
                            <a:srgbClr val="000000"/>
                          </a:solidFill>
                          <a:latin typeface="Calibri"/>
                        </a:rPr>
                        <a:t>External (EAV)</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Runs a custom script on the BIG-IP</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Complex: DB queries, API calls, multi-step checks</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Script runs on BIG-IP CPU. stdout = UP.</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4"/>
                  </a:ext>
                </a:extLst>
              </a:tr>
              <a:tr h="0">
                <a:tc>
                  <a:txBody>
                    <a:bodyPr/>
                    <a:lstStyle/>
                    <a:p>
                      <a:pPr defTabSz="914400">
                        <a:lnSpc>
                          <a:spcPct val="100000"/>
                        </a:lnSpc>
                        <a:tabLst>
                          <a:tab pos="0" algn="l"/>
                        </a:tabLst>
                      </a:pPr>
                      <a:r>
                        <a:rPr lang="en-US" sz="1000" b="1" strike="noStrike" spc="-1">
                          <a:solidFill>
                            <a:srgbClr val="000000"/>
                          </a:solidFill>
                          <a:latin typeface="Calibri"/>
                        </a:rPr>
                        <a:t>Inband</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Monitors actual client traffic responses</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Detect load-dependent failures active misses</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No traffic = no monitoring. Combine w/ active.</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5"/>
                  </a:ext>
                </a:extLst>
              </a:tr>
              <a:tr h="0">
                <a:tc>
                  <a:txBody>
                    <a:bodyPr/>
                    <a:lstStyle/>
                    <a:p>
                      <a:pPr defTabSz="914400">
                        <a:lnSpc>
                          <a:spcPct val="100000"/>
                        </a:lnSpc>
                        <a:tabLst>
                          <a:tab pos="0" algn="l"/>
                        </a:tabLst>
                      </a:pPr>
                      <a:r>
                        <a:rPr lang="en-US" sz="1000" b="1" strike="noStrike" spc="-1">
                          <a:solidFill>
                            <a:srgbClr val="000000"/>
                          </a:solidFill>
                          <a:latin typeface="Calibri"/>
                        </a:rPr>
                        <a:t>In-TMM</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Monitor runs inside TMM process (not host OS)</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Monitor must use data plane routing/VLANs</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Only supports gateway_icmp, TCP, UDP, HTTP/S.</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6"/>
                  </a:ext>
                </a:extLst>
              </a:tr>
            </a:tbl>
          </a:graphicData>
        </a:graphic>
      </p:graphicFrame>
      <p:sp>
        <p:nvSpPr>
          <p:cNvPr id="920" name="Text 8"/>
          <p:cNvSpPr/>
          <p:nvPr/>
        </p:nvSpPr>
        <p:spPr>
          <a:xfrm>
            <a:off x="457200" y="3520440"/>
            <a:ext cx="45716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
                <a:solidFill>
                  <a:srgbClr val="0E41AA"/>
                </a:solidFill>
                <a:latin typeface="Arial"/>
                <a:ea typeface="Arial"/>
              </a:rPr>
              <a:t>HTTP monitor send/receive example</a:t>
            </a:r>
            <a:endParaRPr lang="en-US" sz="1300" b="0" strike="noStrike" spc="-1">
              <a:solidFill>
                <a:srgbClr val="000000"/>
              </a:solidFill>
              <a:latin typeface="Arial"/>
            </a:endParaRPr>
          </a:p>
        </p:txBody>
      </p:sp>
      <p:sp>
        <p:nvSpPr>
          <p:cNvPr id="921" name="Shape 9"/>
          <p:cNvSpPr/>
          <p:nvPr/>
        </p:nvSpPr>
        <p:spPr>
          <a:xfrm>
            <a:off x="457200" y="3794760"/>
            <a:ext cx="4114440" cy="594000"/>
          </a:xfrm>
          <a:prstGeom prst="rect">
            <a:avLst/>
          </a:prstGeom>
          <a:solidFill>
            <a:srgbClr val="1E293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922" name="Text 10"/>
          <p:cNvSpPr/>
          <p:nvPr/>
        </p:nvSpPr>
        <p:spPr>
          <a:xfrm>
            <a:off x="594360" y="3813120"/>
            <a:ext cx="384012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50" b="0" strike="noStrike" spc="-1">
                <a:solidFill>
                  <a:srgbClr val="A5F3FC"/>
                </a:solidFill>
                <a:latin typeface="Courier New"/>
                <a:ea typeface="Courier New"/>
              </a:rPr>
              <a:t>Send:    GET /health HTTP/1.0\r\n\r\n</a:t>
            </a:r>
            <a:endParaRPr lang="en-US" sz="950" b="0" strike="noStrike" spc="-1">
              <a:solidFill>
                <a:srgbClr val="000000"/>
              </a:solidFill>
              <a:latin typeface="Arial"/>
            </a:endParaRPr>
          </a:p>
          <a:p>
            <a:pPr defTabSz="914400">
              <a:lnSpc>
                <a:spcPct val="100000"/>
              </a:lnSpc>
              <a:tabLst>
                <a:tab pos="0" algn="l"/>
              </a:tabLst>
            </a:pPr>
            <a:r>
              <a:rPr lang="en-US" sz="950" b="0" strike="noStrike" spc="-1">
                <a:solidFill>
                  <a:srgbClr val="A5F3FC"/>
                </a:solidFill>
                <a:latin typeface="Courier New"/>
                <a:ea typeface="Courier New"/>
              </a:rPr>
              <a:t>Receive: 200 OK</a:t>
            </a:r>
            <a:endParaRPr lang="en-US" sz="950" b="0" strike="noStrike" spc="-1">
              <a:solidFill>
                <a:srgbClr val="000000"/>
              </a:solidFill>
              <a:latin typeface="Arial"/>
            </a:endParaRPr>
          </a:p>
        </p:txBody>
      </p:sp>
      <p:sp>
        <p:nvSpPr>
          <p:cNvPr id="923" name="Text 11"/>
          <p:cNvSpPr/>
          <p:nvPr/>
        </p:nvSpPr>
        <p:spPr>
          <a:xfrm>
            <a:off x="4754880" y="3657600"/>
            <a:ext cx="4023000" cy="77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900" b="0" strike="noStrike" spc="-1">
                <a:solidFill>
                  <a:srgbClr val="333333"/>
                </a:solidFill>
                <a:latin typeface="Calibri"/>
                <a:ea typeface="Calibri"/>
              </a:rPr>
              <a:t>Send string must end with \r\n\r\n (empty line signals end of headers). Receive string is searched in the ENTIRE response (headers + body), NOT case sensitive. No receive string = any response marks member UP.</a:t>
            </a:r>
            <a:endParaRPr lang="en-US" sz="900" b="0" strike="noStrike" spc="-1">
              <a:solidFill>
                <a:srgbClr val="000000"/>
              </a:solidFill>
              <a:latin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24"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925"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926"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927"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928"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929"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41    © 2026 F5</a:t>
            </a:r>
            <a:endParaRPr lang="en-US" sz="800" b="0" strike="noStrike" spc="-1">
              <a:solidFill>
                <a:srgbClr val="000000"/>
              </a:solidFill>
              <a:latin typeface="Arial"/>
            </a:endParaRPr>
          </a:p>
        </p:txBody>
      </p:sp>
      <p:pic>
        <p:nvPicPr>
          <p:cNvPr id="930" name="Image 0" descr="preencoded.png"/>
          <p:cNvPicPr/>
          <p:nvPr/>
        </p:nvPicPr>
        <p:blipFill>
          <a:blip r:embed="rId3"/>
          <a:stretch/>
        </p:blipFill>
        <p:spPr>
          <a:xfrm>
            <a:off x="8458200" y="4663440"/>
            <a:ext cx="383760" cy="383760"/>
          </a:xfrm>
          <a:prstGeom prst="rect">
            <a:avLst/>
          </a:prstGeom>
          <a:ln w="0">
            <a:noFill/>
          </a:ln>
        </p:spPr>
      </p:pic>
      <p:sp>
        <p:nvSpPr>
          <p:cNvPr id="931" name="Text 6"/>
          <p:cNvSpPr/>
          <p:nvPr/>
        </p:nvSpPr>
        <p:spPr>
          <a:xfrm>
            <a:off x="457200" y="274320"/>
            <a:ext cx="82292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Monitor timing</a:t>
            </a:r>
            <a:endParaRPr lang="en-US" sz="2800" b="0" strike="noStrike" spc="-1">
              <a:solidFill>
                <a:srgbClr val="000000"/>
              </a:solidFill>
              <a:latin typeface="Arial"/>
            </a:endParaRPr>
          </a:p>
        </p:txBody>
      </p:sp>
      <p:sp>
        <p:nvSpPr>
          <p:cNvPr id="932" name="Text 7"/>
          <p:cNvSpPr/>
          <p:nvPr/>
        </p:nvSpPr>
        <p:spPr>
          <a:xfrm>
            <a:off x="457200" y="658440"/>
            <a:ext cx="82292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strike="noStrike" spc="-1">
                <a:solidFill>
                  <a:srgbClr val="666666"/>
                </a:solidFill>
                <a:latin typeface="Calibri"/>
                <a:ea typeface="Calibri"/>
              </a:rPr>
              <a:t>Interval, timeout, and Time Until Up control failure detection speed and false-positive resilience</a:t>
            </a:r>
            <a:endParaRPr lang="en-US" sz="1300" b="0" strike="noStrike" spc="-1">
              <a:solidFill>
                <a:srgbClr val="000000"/>
              </a:solidFill>
              <a:latin typeface="Arial"/>
            </a:endParaRPr>
          </a:p>
        </p:txBody>
      </p:sp>
      <p:sp>
        <p:nvSpPr>
          <p:cNvPr id="933" name="Shape 8"/>
          <p:cNvSpPr/>
          <p:nvPr/>
        </p:nvSpPr>
        <p:spPr>
          <a:xfrm>
            <a:off x="365760" y="1051560"/>
            <a:ext cx="2605680" cy="4111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934" name="Text 9"/>
          <p:cNvSpPr/>
          <p:nvPr/>
        </p:nvSpPr>
        <p:spPr>
          <a:xfrm>
            <a:off x="365760" y="1051560"/>
            <a:ext cx="260568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strike="noStrike" spc="-1">
                <a:solidFill>
                  <a:srgbClr val="FFFFFF"/>
                </a:solidFill>
                <a:latin typeface="Arial"/>
                <a:ea typeface="Arial"/>
              </a:rPr>
              <a:t>Interval</a:t>
            </a:r>
            <a:endParaRPr lang="en-US" sz="1600" b="0" strike="noStrike" spc="-1">
              <a:solidFill>
                <a:srgbClr val="000000"/>
              </a:solidFill>
              <a:latin typeface="Arial"/>
            </a:endParaRPr>
          </a:p>
        </p:txBody>
      </p:sp>
      <p:sp>
        <p:nvSpPr>
          <p:cNvPr id="935" name="Shape 10"/>
          <p:cNvSpPr/>
          <p:nvPr/>
        </p:nvSpPr>
        <p:spPr>
          <a:xfrm>
            <a:off x="365760" y="1463040"/>
            <a:ext cx="2605680" cy="105120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936" name="Text 11"/>
          <p:cNvSpPr/>
          <p:nvPr/>
        </p:nvSpPr>
        <p:spPr>
          <a:xfrm>
            <a:off x="457200" y="1508760"/>
            <a:ext cx="24228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
                <a:solidFill>
                  <a:srgbClr val="0E41AA"/>
                </a:solidFill>
                <a:latin typeface="Courier New"/>
                <a:ea typeface="Courier New"/>
              </a:rPr>
              <a:t>5 sec (default)</a:t>
            </a:r>
            <a:endParaRPr lang="en-US" sz="1200" b="0" strike="noStrike" spc="-1">
              <a:solidFill>
                <a:srgbClr val="000000"/>
              </a:solidFill>
              <a:latin typeface="Arial"/>
            </a:endParaRPr>
          </a:p>
        </p:txBody>
      </p:sp>
      <p:sp>
        <p:nvSpPr>
          <p:cNvPr id="937" name="Text 12"/>
          <p:cNvSpPr/>
          <p:nvPr/>
        </p:nvSpPr>
        <p:spPr>
          <a:xfrm>
            <a:off x="457200" y="1783080"/>
            <a:ext cx="242280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333333"/>
                </a:solidFill>
                <a:latin typeface="Calibri"/>
                <a:ea typeface="Calibri"/>
              </a:rPr>
              <a:t>How often the BIG-IP sends a health check to each pool member.</a:t>
            </a:r>
            <a:endParaRPr lang="en-US" sz="1000" b="0" strike="noStrike" spc="-1">
              <a:solidFill>
                <a:srgbClr val="000000"/>
              </a:solidFill>
              <a:latin typeface="Arial"/>
            </a:endParaRPr>
          </a:p>
        </p:txBody>
      </p:sp>
      <p:sp>
        <p:nvSpPr>
          <p:cNvPr id="938" name="Shape 13"/>
          <p:cNvSpPr/>
          <p:nvPr/>
        </p:nvSpPr>
        <p:spPr>
          <a:xfrm>
            <a:off x="3200400" y="1051560"/>
            <a:ext cx="2605680" cy="4111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939" name="Text 14"/>
          <p:cNvSpPr/>
          <p:nvPr/>
        </p:nvSpPr>
        <p:spPr>
          <a:xfrm>
            <a:off x="3200400" y="1051560"/>
            <a:ext cx="260568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strike="noStrike" spc="-1">
                <a:solidFill>
                  <a:srgbClr val="FFFFFF"/>
                </a:solidFill>
                <a:latin typeface="Arial"/>
                <a:ea typeface="Arial"/>
              </a:rPr>
              <a:t>Timeout</a:t>
            </a:r>
            <a:endParaRPr lang="en-US" sz="1600" b="0" strike="noStrike" spc="-1">
              <a:solidFill>
                <a:srgbClr val="000000"/>
              </a:solidFill>
              <a:latin typeface="Arial"/>
            </a:endParaRPr>
          </a:p>
        </p:txBody>
      </p:sp>
      <p:sp>
        <p:nvSpPr>
          <p:cNvPr id="940" name="Shape 15"/>
          <p:cNvSpPr/>
          <p:nvPr/>
        </p:nvSpPr>
        <p:spPr>
          <a:xfrm>
            <a:off x="3200400" y="1463040"/>
            <a:ext cx="2605680" cy="105120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941" name="Text 16"/>
          <p:cNvSpPr/>
          <p:nvPr/>
        </p:nvSpPr>
        <p:spPr>
          <a:xfrm>
            <a:off x="3291840" y="1508760"/>
            <a:ext cx="24228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
                <a:solidFill>
                  <a:srgbClr val="E4002B"/>
                </a:solidFill>
                <a:latin typeface="Courier New"/>
                <a:ea typeface="Courier New"/>
              </a:rPr>
              <a:t>16 sec (default)</a:t>
            </a:r>
            <a:endParaRPr lang="en-US" sz="1200" b="0" strike="noStrike" spc="-1">
              <a:solidFill>
                <a:srgbClr val="000000"/>
              </a:solidFill>
              <a:latin typeface="Arial"/>
            </a:endParaRPr>
          </a:p>
        </p:txBody>
      </p:sp>
      <p:sp>
        <p:nvSpPr>
          <p:cNvPr id="942" name="Text 17"/>
          <p:cNvSpPr/>
          <p:nvPr/>
        </p:nvSpPr>
        <p:spPr>
          <a:xfrm>
            <a:off x="3291840" y="1783080"/>
            <a:ext cx="242280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333333"/>
                </a:solidFill>
                <a:latin typeface="Calibri"/>
                <a:ea typeface="Calibri"/>
              </a:rPr>
              <a:t>Total time window for a successful response. Must be greater than interval.</a:t>
            </a:r>
            <a:endParaRPr lang="en-US" sz="1000" b="0" strike="noStrike" spc="-1">
              <a:solidFill>
                <a:srgbClr val="000000"/>
              </a:solidFill>
              <a:latin typeface="Arial"/>
            </a:endParaRPr>
          </a:p>
        </p:txBody>
      </p:sp>
      <p:sp>
        <p:nvSpPr>
          <p:cNvPr id="943" name="Shape 18"/>
          <p:cNvSpPr/>
          <p:nvPr/>
        </p:nvSpPr>
        <p:spPr>
          <a:xfrm>
            <a:off x="6035040" y="1051560"/>
            <a:ext cx="2605680" cy="411120"/>
          </a:xfrm>
          <a:prstGeom prst="rect">
            <a:avLst/>
          </a:prstGeom>
          <a:solidFill>
            <a:srgbClr val="00963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944" name="Text 19"/>
          <p:cNvSpPr/>
          <p:nvPr/>
        </p:nvSpPr>
        <p:spPr>
          <a:xfrm>
            <a:off x="6035040" y="1051560"/>
            <a:ext cx="260568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strike="noStrike" spc="-1">
                <a:solidFill>
                  <a:srgbClr val="FFFFFF"/>
                </a:solidFill>
                <a:latin typeface="Arial"/>
                <a:ea typeface="Arial"/>
              </a:rPr>
              <a:t>Time Until Up</a:t>
            </a:r>
            <a:endParaRPr lang="en-US" sz="1600" b="0" strike="noStrike" spc="-1">
              <a:solidFill>
                <a:srgbClr val="000000"/>
              </a:solidFill>
              <a:latin typeface="Arial"/>
            </a:endParaRPr>
          </a:p>
        </p:txBody>
      </p:sp>
      <p:sp>
        <p:nvSpPr>
          <p:cNvPr id="945" name="Shape 20"/>
          <p:cNvSpPr/>
          <p:nvPr/>
        </p:nvSpPr>
        <p:spPr>
          <a:xfrm>
            <a:off x="6035040" y="1463040"/>
            <a:ext cx="2605680" cy="105120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946" name="Text 21"/>
          <p:cNvSpPr/>
          <p:nvPr/>
        </p:nvSpPr>
        <p:spPr>
          <a:xfrm>
            <a:off x="6126480" y="1508760"/>
            <a:ext cx="24228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
                <a:solidFill>
                  <a:srgbClr val="009639"/>
                </a:solidFill>
                <a:latin typeface="Courier New"/>
                <a:ea typeface="Courier New"/>
              </a:rPr>
              <a:t>0 sec (default)</a:t>
            </a:r>
            <a:endParaRPr lang="en-US" sz="1200" b="0" strike="noStrike" spc="-1">
              <a:solidFill>
                <a:srgbClr val="000000"/>
              </a:solidFill>
              <a:latin typeface="Arial"/>
            </a:endParaRPr>
          </a:p>
        </p:txBody>
      </p:sp>
      <p:sp>
        <p:nvSpPr>
          <p:cNvPr id="947" name="Text 22"/>
          <p:cNvSpPr/>
          <p:nvPr/>
        </p:nvSpPr>
        <p:spPr>
          <a:xfrm>
            <a:off x="6126480" y="1783080"/>
            <a:ext cx="242280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333333"/>
                </a:solidFill>
                <a:latin typeface="Calibri"/>
                <a:ea typeface="Calibri"/>
              </a:rPr>
              <a:t>How long a recovered member must pass checks before being marked UP.</a:t>
            </a:r>
            <a:endParaRPr lang="en-US" sz="1000" b="0" strike="noStrike" spc="-1">
              <a:solidFill>
                <a:srgbClr val="000000"/>
              </a:solidFill>
              <a:latin typeface="Arial"/>
            </a:endParaRPr>
          </a:p>
        </p:txBody>
      </p:sp>
      <p:sp>
        <p:nvSpPr>
          <p:cNvPr id="948" name="Text 23"/>
          <p:cNvSpPr/>
          <p:nvPr/>
        </p:nvSpPr>
        <p:spPr>
          <a:xfrm>
            <a:off x="457200" y="2697480"/>
            <a:ext cx="45716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strike="noStrike" spc="-1">
                <a:solidFill>
                  <a:srgbClr val="0E41AA"/>
                </a:solidFill>
                <a:latin typeface="Arial"/>
                <a:ea typeface="Arial"/>
              </a:rPr>
              <a:t>Failure detection formula</a:t>
            </a:r>
            <a:endParaRPr lang="en-US" sz="1600" b="0" strike="noStrike" spc="-1">
              <a:solidFill>
                <a:srgbClr val="000000"/>
              </a:solidFill>
              <a:latin typeface="Arial"/>
            </a:endParaRPr>
          </a:p>
        </p:txBody>
      </p:sp>
      <p:sp>
        <p:nvSpPr>
          <p:cNvPr id="949" name="Shape 24"/>
          <p:cNvSpPr/>
          <p:nvPr/>
        </p:nvSpPr>
        <p:spPr>
          <a:xfrm>
            <a:off x="457200" y="2971800"/>
            <a:ext cx="8229240" cy="502560"/>
          </a:xfrm>
          <a:prstGeom prst="rect">
            <a:avLst/>
          </a:prstGeom>
          <a:solidFill>
            <a:srgbClr val="E8F0F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950" name="Text 25"/>
          <p:cNvSpPr/>
          <p:nvPr/>
        </p:nvSpPr>
        <p:spPr>
          <a:xfrm>
            <a:off x="640080" y="2990160"/>
            <a:ext cx="786348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0E41AA"/>
                </a:solidFill>
                <a:latin typeface="Calibri"/>
                <a:ea typeface="Calibri"/>
              </a:rPr>
              <a:t>Failed checks before DOWN = Timeout ÷ Interval</a:t>
            </a:r>
            <a:r>
              <a:rPr lang="en-US" sz="1100" b="0" strike="noStrike" spc="-1">
                <a:solidFill>
                  <a:srgbClr val="0E41AA"/>
                </a:solidFill>
                <a:latin typeface="Calibri"/>
                <a:ea typeface="Calibri"/>
              </a:rPr>
              <a:t>     (rounded down)</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rgbClr val="1A3A6C"/>
                </a:solidFill>
                <a:latin typeface="Calibri"/>
                <a:ea typeface="Calibri"/>
              </a:rPr>
              <a:t>Default: 16 ÷ 5 = 3.2 → 3 consecutive failed checks → member marked DOWN after ~16 seconds</a:t>
            </a:r>
            <a:endParaRPr lang="en-US" sz="1100" b="0" strike="noStrike" spc="-1">
              <a:solidFill>
                <a:srgbClr val="000000"/>
              </a:solidFill>
              <a:latin typeface="Arial"/>
            </a:endParaRPr>
          </a:p>
        </p:txBody>
      </p:sp>
      <p:sp>
        <p:nvSpPr>
          <p:cNvPr id="951" name="Text 26"/>
          <p:cNvSpPr/>
          <p:nvPr/>
        </p:nvSpPr>
        <p:spPr>
          <a:xfrm>
            <a:off x="457200" y="3657600"/>
            <a:ext cx="45716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F29A36"/>
                </a:solidFill>
                <a:latin typeface="Arial"/>
                <a:ea typeface="Arial"/>
              </a:rPr>
              <a:t>Best practice</a:t>
            </a:r>
            <a:endParaRPr lang="en-US" sz="1400" b="0" strike="noStrike" spc="-1">
              <a:solidFill>
                <a:srgbClr val="000000"/>
              </a:solidFill>
              <a:latin typeface="Arial"/>
            </a:endParaRPr>
          </a:p>
        </p:txBody>
      </p:sp>
      <p:sp>
        <p:nvSpPr>
          <p:cNvPr id="952" name="Shape 27"/>
          <p:cNvSpPr/>
          <p:nvPr/>
        </p:nvSpPr>
        <p:spPr>
          <a:xfrm>
            <a:off x="457200" y="3886200"/>
            <a:ext cx="3931560" cy="731160"/>
          </a:xfrm>
          <a:prstGeom prst="rect">
            <a:avLst/>
          </a:prstGeom>
          <a:solidFill>
            <a:srgbClr val="FFF3E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953" name="Text 28"/>
          <p:cNvSpPr/>
          <p:nvPr/>
        </p:nvSpPr>
        <p:spPr>
          <a:xfrm>
            <a:off x="548640" y="3904560"/>
            <a:ext cx="3748680" cy="694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1" strike="noStrike" spc="-1">
                <a:solidFill>
                  <a:srgbClr val="F29A36"/>
                </a:solidFill>
                <a:latin typeface="Calibri"/>
                <a:ea typeface="Calibri"/>
              </a:rPr>
              <a:t>Timeout = (Interval × 3) + 1</a:t>
            </a:r>
            <a:endParaRPr lang="en-US" sz="1200" b="0" strike="noStrike" spc="-1">
              <a:solidFill>
                <a:srgbClr val="000000"/>
              </a:solidFill>
              <a:latin typeface="Arial"/>
            </a:endParaRPr>
          </a:p>
          <a:p>
            <a:pPr defTabSz="914400">
              <a:lnSpc>
                <a:spcPct val="100000"/>
              </a:lnSpc>
              <a:tabLst>
                <a:tab pos="0" algn="l"/>
              </a:tabLst>
            </a:pPr>
            <a:r>
              <a:rPr lang="en-US" sz="900" b="0" strike="noStrike" spc="-1">
                <a:solidFill>
                  <a:srgbClr val="7A4500"/>
                </a:solidFill>
                <a:latin typeface="Calibri"/>
                <a:ea typeface="Calibri"/>
              </a:rPr>
              <a:t>Ensures 3 failed checks before DOWN.</a:t>
            </a:r>
            <a:endParaRPr lang="en-US" sz="900" b="0" strike="noStrike" spc="-1">
              <a:solidFill>
                <a:srgbClr val="000000"/>
              </a:solidFill>
              <a:latin typeface="Arial"/>
            </a:endParaRPr>
          </a:p>
          <a:p>
            <a:pPr defTabSz="914400">
              <a:lnSpc>
                <a:spcPct val="100000"/>
              </a:lnSpc>
              <a:tabLst>
                <a:tab pos="0" algn="l"/>
              </a:tabLst>
            </a:pPr>
            <a:r>
              <a:rPr lang="en-US" sz="900" b="0" strike="noStrike" spc="-1">
                <a:solidFill>
                  <a:srgbClr val="7A4500"/>
                </a:solidFill>
                <a:latin typeface="Calibri"/>
                <a:ea typeface="Calibri"/>
              </a:rPr>
              <a:t>Interval=10 → Timeout=31</a:t>
            </a:r>
            <a:endParaRPr lang="en-US" sz="900" b="0" strike="noStrike" spc="-1">
              <a:solidFill>
                <a:srgbClr val="000000"/>
              </a:solidFill>
              <a:latin typeface="Arial"/>
            </a:endParaRPr>
          </a:p>
          <a:p>
            <a:pPr defTabSz="914400">
              <a:lnSpc>
                <a:spcPct val="100000"/>
              </a:lnSpc>
              <a:tabLst>
                <a:tab pos="0" algn="l"/>
              </a:tabLst>
            </a:pPr>
            <a:r>
              <a:rPr lang="en-US" sz="900" b="0" strike="noStrike" spc="-1">
                <a:solidFill>
                  <a:srgbClr val="7A4500"/>
                </a:solidFill>
                <a:latin typeface="Calibri"/>
                <a:ea typeface="Calibri"/>
              </a:rPr>
              <a:t>Interval=30 → Timeout=91</a:t>
            </a:r>
            <a:endParaRPr lang="en-US" sz="900" b="0" strike="noStrike" spc="-1">
              <a:solidFill>
                <a:srgbClr val="000000"/>
              </a:solidFill>
              <a:latin typeface="Arial"/>
            </a:endParaRPr>
          </a:p>
          <a:p>
            <a:pPr defTabSz="914400">
              <a:lnSpc>
                <a:spcPct val="100000"/>
              </a:lnSpc>
              <a:tabLst>
                <a:tab pos="0" algn="l"/>
              </a:tabLst>
            </a:pPr>
            <a:r>
              <a:rPr lang="en-US" sz="900" b="0" strike="noStrike" spc="-1">
                <a:solidFill>
                  <a:srgbClr val="7A4500"/>
                </a:solidFill>
                <a:latin typeface="Calibri"/>
                <a:ea typeface="Calibri"/>
              </a:rPr>
              <a:t>Never set Timeout ≤ Interval (causes flapping).</a:t>
            </a:r>
            <a:endParaRPr lang="en-US" sz="900" b="0" strike="noStrike" spc="-1">
              <a:solidFill>
                <a:srgbClr val="000000"/>
              </a:solidFill>
              <a:latin typeface="Arial"/>
            </a:endParaRPr>
          </a:p>
        </p:txBody>
      </p:sp>
      <p:sp>
        <p:nvSpPr>
          <p:cNvPr id="954" name="Text 29"/>
          <p:cNvSpPr/>
          <p:nvPr/>
        </p:nvSpPr>
        <p:spPr>
          <a:xfrm>
            <a:off x="4754880" y="3657600"/>
            <a:ext cx="41144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009639"/>
                </a:solidFill>
                <a:latin typeface="Arial"/>
                <a:ea typeface="Arial"/>
              </a:rPr>
              <a:t>Up Interval (for inband combos)</a:t>
            </a:r>
            <a:endParaRPr lang="en-US" sz="1400" b="0" strike="noStrike" spc="-1">
              <a:solidFill>
                <a:srgbClr val="000000"/>
              </a:solidFill>
              <a:latin typeface="Arial"/>
            </a:endParaRPr>
          </a:p>
        </p:txBody>
      </p:sp>
      <p:sp>
        <p:nvSpPr>
          <p:cNvPr id="955" name="Shape 30"/>
          <p:cNvSpPr/>
          <p:nvPr/>
        </p:nvSpPr>
        <p:spPr>
          <a:xfrm>
            <a:off x="4754880" y="3886200"/>
            <a:ext cx="3931560" cy="731160"/>
          </a:xfrm>
          <a:prstGeom prst="rect">
            <a:avLst/>
          </a:prstGeom>
          <a:solidFill>
            <a:srgbClr val="E8F5E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956" name="Text 31"/>
          <p:cNvSpPr/>
          <p:nvPr/>
        </p:nvSpPr>
        <p:spPr>
          <a:xfrm>
            <a:off x="4846320" y="3904560"/>
            <a:ext cx="3748680" cy="694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900" b="1" strike="noStrike" spc="-1">
                <a:solidFill>
                  <a:srgbClr val="009639"/>
                </a:solidFill>
                <a:latin typeface="Calibri"/>
                <a:ea typeface="Calibri"/>
              </a:rPr>
              <a:t>When member is UP: checks every [Interval]</a:t>
            </a:r>
            <a:endParaRPr lang="en-US" sz="900" b="0" strike="noStrike" spc="-1">
              <a:solidFill>
                <a:srgbClr val="000000"/>
              </a:solidFill>
              <a:latin typeface="Arial"/>
            </a:endParaRPr>
          </a:p>
          <a:p>
            <a:pPr defTabSz="914400">
              <a:lnSpc>
                <a:spcPct val="100000"/>
              </a:lnSpc>
              <a:tabLst>
                <a:tab pos="0" algn="l"/>
              </a:tabLst>
            </a:pPr>
            <a:r>
              <a:rPr lang="en-US" sz="900" b="1" strike="noStrike" spc="-1">
                <a:solidFill>
                  <a:srgbClr val="009639"/>
                </a:solidFill>
                <a:latin typeface="Calibri"/>
                <a:ea typeface="Calibri"/>
              </a:rPr>
              <a:t>When member is DOWN: checks every [Up Interval]</a:t>
            </a:r>
            <a:endParaRPr lang="en-US" sz="900" b="0" strike="noStrike" spc="-1">
              <a:solidFill>
                <a:srgbClr val="000000"/>
              </a:solidFill>
              <a:latin typeface="Arial"/>
            </a:endParaRPr>
          </a:p>
          <a:p>
            <a:pPr defTabSz="914400">
              <a:lnSpc>
                <a:spcPct val="100000"/>
              </a:lnSpc>
              <a:tabLst>
                <a:tab pos="0" algn="l"/>
              </a:tabLst>
            </a:pPr>
            <a:r>
              <a:rPr lang="en-US" sz="900" b="0" strike="noStrike" spc="-1">
                <a:solidFill>
                  <a:srgbClr val="1B5E20"/>
                </a:solidFill>
                <a:latin typeface="Calibri"/>
                <a:ea typeface="Calibri"/>
              </a:rPr>
              <a:t>Use with inband monitors: set Up Interval to 60s so the active monitor detects recovery faster than the inband 300s retry.</a:t>
            </a:r>
            <a:endParaRPr lang="en-US" sz="900" b="0" strike="noStrike" spc="-1">
              <a:solidFill>
                <a:srgbClr val="000000"/>
              </a:solidFill>
              <a:latin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57"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 normalizeH="0" baseline="0" noProof="0">
              <a:ln>
                <a:noFill/>
              </a:ln>
              <a:solidFill>
                <a:srgbClr val="000000"/>
              </a:solidFill>
              <a:effectLst/>
              <a:uLnTx/>
              <a:uFillTx/>
              <a:latin typeface="Calibri"/>
              <a:ea typeface="+mn-ea"/>
              <a:cs typeface="+mn-cs"/>
            </a:endParaRPr>
          </a:p>
        </p:txBody>
      </p:sp>
      <p:sp>
        <p:nvSpPr>
          <p:cNvPr id="958"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 normalizeH="0" baseline="0" noProof="0">
              <a:ln>
                <a:noFill/>
              </a:ln>
              <a:solidFill>
                <a:srgbClr val="000000"/>
              </a:solidFill>
              <a:effectLst/>
              <a:uLnTx/>
              <a:uFillTx/>
              <a:latin typeface="Calibri"/>
              <a:ea typeface="+mn-ea"/>
              <a:cs typeface="+mn-cs"/>
            </a:endParaRPr>
          </a:p>
        </p:txBody>
      </p:sp>
      <p:sp>
        <p:nvSpPr>
          <p:cNvPr id="959"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 normalizeH="0" baseline="0" noProof="0">
              <a:ln>
                <a:noFill/>
              </a:ln>
              <a:solidFill>
                <a:srgbClr val="000000"/>
              </a:solidFill>
              <a:effectLst/>
              <a:uLnTx/>
              <a:uFillTx/>
              <a:latin typeface="Calibri"/>
              <a:ea typeface="+mn-ea"/>
              <a:cs typeface="+mn-cs"/>
            </a:endParaRPr>
          </a:p>
        </p:txBody>
      </p:sp>
      <p:sp>
        <p:nvSpPr>
          <p:cNvPr id="960"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 normalizeH="0" baseline="0" noProof="0">
              <a:ln>
                <a:noFill/>
              </a:ln>
              <a:solidFill>
                <a:srgbClr val="000000"/>
              </a:solidFill>
              <a:effectLst/>
              <a:uLnTx/>
              <a:uFillTx/>
              <a:latin typeface="Calibri"/>
              <a:ea typeface="+mn-ea"/>
              <a:cs typeface="+mn-cs"/>
            </a:endParaRPr>
          </a:p>
        </p:txBody>
      </p:sp>
      <p:sp>
        <p:nvSpPr>
          <p:cNvPr id="961"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 normalizeH="0" baseline="0" noProof="0">
              <a:ln>
                <a:noFill/>
              </a:ln>
              <a:solidFill>
                <a:srgbClr val="000000"/>
              </a:solidFill>
              <a:effectLst/>
              <a:uLnTx/>
              <a:uFillTx/>
              <a:latin typeface="Calibri"/>
              <a:ea typeface="+mn-ea"/>
              <a:cs typeface="+mn-cs"/>
            </a:endParaRPr>
          </a:p>
        </p:txBody>
      </p:sp>
      <p:sp>
        <p:nvSpPr>
          <p:cNvPr id="962" name="Text 5"/>
          <p:cNvSpPr/>
          <p:nvPr/>
        </p:nvSpPr>
        <p:spPr>
          <a:xfrm>
            <a:off x="135000" y="475452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800" b="0" i="0" u="none" strike="noStrike" kern="1200" cap="none" spc="-1" normalizeH="0" baseline="0" noProof="0">
                <a:ln>
                  <a:noFill/>
                </a:ln>
                <a:solidFill>
                  <a:srgbClr val="666666"/>
                </a:solidFill>
                <a:effectLst/>
                <a:uLnTx/>
                <a:uFillTx/>
                <a:latin typeface="Calibri"/>
                <a:ea typeface="Calibri"/>
                <a:cs typeface="+mn-cs"/>
              </a:rPr>
              <a:t>42    © 2026 F5</a:t>
            </a:r>
            <a:endParaRPr kumimoji="0" lang="en-US" sz="800" b="0" i="0" u="none" strike="noStrike" kern="1200" cap="none" spc="-1" normalizeH="0" baseline="0" noProof="0">
              <a:ln>
                <a:noFill/>
              </a:ln>
              <a:solidFill>
                <a:srgbClr val="000000"/>
              </a:solidFill>
              <a:effectLst/>
              <a:uLnTx/>
              <a:uFillTx/>
              <a:latin typeface="Arial"/>
              <a:ea typeface="+mn-ea"/>
              <a:cs typeface="+mn-cs"/>
            </a:endParaRPr>
          </a:p>
        </p:txBody>
      </p:sp>
      <p:pic>
        <p:nvPicPr>
          <p:cNvPr id="963" name="Image 0" descr="preencoded.png"/>
          <p:cNvPicPr/>
          <p:nvPr/>
        </p:nvPicPr>
        <p:blipFill>
          <a:blip r:embed="rId3"/>
          <a:stretch/>
        </p:blipFill>
        <p:spPr>
          <a:xfrm>
            <a:off x="8227440" y="4617360"/>
            <a:ext cx="383760" cy="383760"/>
          </a:xfrm>
          <a:prstGeom prst="rect">
            <a:avLst/>
          </a:prstGeom>
          <a:ln w="0">
            <a:noFill/>
          </a:ln>
        </p:spPr>
      </p:pic>
      <p:sp>
        <p:nvSpPr>
          <p:cNvPr id="964" name="Text 6"/>
          <p:cNvSpPr/>
          <p:nvPr/>
        </p:nvSpPr>
        <p:spPr>
          <a:xfrm>
            <a:off x="457200" y="274320"/>
            <a:ext cx="82292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2800" b="1" i="0" u="none" strike="noStrike" kern="1200" cap="none" spc="-1" normalizeH="0" baseline="0" noProof="0">
                <a:ln>
                  <a:noFill/>
                </a:ln>
                <a:solidFill>
                  <a:srgbClr val="000000"/>
                </a:solidFill>
                <a:effectLst/>
                <a:uLnTx/>
                <a:uFillTx/>
                <a:latin typeface="Arial"/>
                <a:ea typeface="Arial"/>
                <a:cs typeface="+mn-cs"/>
              </a:rPr>
              <a:t>Status icons and colors</a:t>
            </a:r>
            <a:endParaRPr kumimoji="0" lang="en-US" sz="2800" b="0" i="0" u="none" strike="noStrike" kern="1200" cap="none" spc="-1" normalizeH="0" baseline="0" noProof="0">
              <a:ln>
                <a:noFill/>
              </a:ln>
              <a:solidFill>
                <a:srgbClr val="000000"/>
              </a:solidFill>
              <a:effectLst/>
              <a:uLnTx/>
              <a:uFillTx/>
              <a:latin typeface="Arial"/>
              <a:ea typeface="+mn-ea"/>
              <a:cs typeface="+mn-cs"/>
            </a:endParaRPr>
          </a:p>
        </p:txBody>
      </p:sp>
      <p:sp>
        <p:nvSpPr>
          <p:cNvPr id="965" name="Text 7"/>
          <p:cNvSpPr/>
          <p:nvPr/>
        </p:nvSpPr>
        <p:spPr>
          <a:xfrm>
            <a:off x="457200" y="658440"/>
            <a:ext cx="82292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1300" b="0" i="0" u="none" strike="noStrike" kern="1200" cap="none" spc="-1" normalizeH="0" baseline="0" noProof="0">
                <a:ln>
                  <a:noFill/>
                </a:ln>
                <a:solidFill>
                  <a:srgbClr val="666666"/>
                </a:solidFill>
                <a:effectLst/>
                <a:uLnTx/>
                <a:uFillTx/>
                <a:latin typeface="Calibri"/>
                <a:ea typeface="Calibri"/>
                <a:cs typeface="+mn-cs"/>
              </a:rPr>
              <a:t>Shape indicates monitor status. Color indicates administrative state.</a:t>
            </a:r>
            <a:endParaRPr kumimoji="0" lang="en-US" sz="1300" b="0" i="0" u="none" strike="noStrike" kern="1200" cap="none" spc="-1" normalizeH="0" baseline="0" noProof="0">
              <a:ln>
                <a:noFill/>
              </a:ln>
              <a:solidFill>
                <a:srgbClr val="000000"/>
              </a:solidFill>
              <a:effectLst/>
              <a:uLnTx/>
              <a:uFillTx/>
              <a:latin typeface="Arial"/>
              <a:ea typeface="+mn-ea"/>
              <a:cs typeface="+mn-cs"/>
            </a:endParaRPr>
          </a:p>
        </p:txBody>
      </p:sp>
      <p:sp>
        <p:nvSpPr>
          <p:cNvPr id="966" name="Text 8"/>
          <p:cNvSpPr/>
          <p:nvPr/>
        </p:nvSpPr>
        <p:spPr>
          <a:xfrm>
            <a:off x="457200" y="1051560"/>
            <a:ext cx="4114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1600" b="1" i="0" u="none" strike="noStrike" kern="1200" cap="none" spc="-1" normalizeH="0" baseline="0" noProof="0">
                <a:ln>
                  <a:noFill/>
                </a:ln>
                <a:solidFill>
                  <a:srgbClr val="0E41AA"/>
                </a:solidFill>
                <a:effectLst/>
                <a:uLnTx/>
                <a:uFillTx/>
                <a:latin typeface="Arial"/>
                <a:ea typeface="Arial"/>
                <a:cs typeface="+mn-cs"/>
              </a:rPr>
              <a:t>Shape = monitor result</a:t>
            </a:r>
            <a:endParaRPr kumimoji="0" lang="en-US" sz="1600" b="0" i="0" u="none" strike="noStrike" kern="1200" cap="none" spc="-1" normalizeH="0" baseline="0" noProof="0">
              <a:ln>
                <a:noFill/>
              </a:ln>
              <a:solidFill>
                <a:srgbClr val="000000"/>
              </a:solidFill>
              <a:effectLst/>
              <a:uLnTx/>
              <a:uFillTx/>
              <a:latin typeface="Arial"/>
              <a:ea typeface="+mn-ea"/>
              <a:cs typeface="+mn-cs"/>
            </a:endParaRPr>
          </a:p>
        </p:txBody>
      </p:sp>
      <p:sp>
        <p:nvSpPr>
          <p:cNvPr id="967" name="Shape 9"/>
          <p:cNvSpPr/>
          <p:nvPr/>
        </p:nvSpPr>
        <p:spPr>
          <a:xfrm>
            <a:off x="457200" y="1417320"/>
            <a:ext cx="3931560" cy="36576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 normalizeH="0" baseline="0" noProof="0">
              <a:ln>
                <a:noFill/>
              </a:ln>
              <a:solidFill>
                <a:srgbClr val="000000"/>
              </a:solidFill>
              <a:effectLst/>
              <a:uLnTx/>
              <a:uFillTx/>
              <a:latin typeface="Calibri"/>
              <a:ea typeface="+mn-ea"/>
              <a:cs typeface="+mn-cs"/>
            </a:endParaRPr>
          </a:p>
        </p:txBody>
      </p:sp>
      <p:sp>
        <p:nvSpPr>
          <p:cNvPr id="968" name="Text 10"/>
          <p:cNvSpPr/>
          <p:nvPr/>
        </p:nvSpPr>
        <p:spPr>
          <a:xfrm>
            <a:off x="548640" y="1417320"/>
            <a:ext cx="365400" cy="365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0" algn="l"/>
              </a:tabLst>
              <a:defRPr/>
            </a:pPr>
            <a:r>
              <a:rPr kumimoji="0" lang="en-US" sz="2000" b="0" i="0" u="none" strike="noStrike" kern="1200" cap="none" spc="-1" normalizeH="0" baseline="0" noProof="0">
                <a:ln>
                  <a:noFill/>
                </a:ln>
                <a:solidFill>
                  <a:srgbClr val="009639"/>
                </a:solidFill>
                <a:effectLst/>
                <a:uLnTx/>
                <a:uFillTx/>
                <a:latin typeface="Calibri"/>
                <a:ea typeface="+mn-ea"/>
                <a:cs typeface="+mn-cs"/>
              </a:rPr>
              <a:t>●</a:t>
            </a:r>
            <a:endParaRPr kumimoji="0" lang="en-US" sz="2000" b="0" i="0" u="none" strike="noStrike" kern="1200" cap="none" spc="-1" normalizeH="0" baseline="0" noProof="0">
              <a:ln>
                <a:noFill/>
              </a:ln>
              <a:solidFill>
                <a:srgbClr val="000000"/>
              </a:solidFill>
              <a:effectLst/>
              <a:uLnTx/>
              <a:uFillTx/>
              <a:latin typeface="Arial"/>
              <a:ea typeface="+mn-ea"/>
              <a:cs typeface="+mn-cs"/>
            </a:endParaRPr>
          </a:p>
        </p:txBody>
      </p:sp>
      <p:sp>
        <p:nvSpPr>
          <p:cNvPr id="969" name="Text 11"/>
          <p:cNvSpPr/>
          <p:nvPr/>
        </p:nvSpPr>
        <p:spPr>
          <a:xfrm>
            <a:off x="1005840" y="1417320"/>
            <a:ext cx="822600" cy="365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1200" b="1" i="0" u="none" strike="noStrike" kern="1200" cap="none" spc="-1" normalizeH="0" baseline="0" noProof="0">
                <a:ln>
                  <a:noFill/>
                </a:ln>
                <a:solidFill>
                  <a:srgbClr val="333333"/>
                </a:solidFill>
                <a:effectLst/>
                <a:uLnTx/>
                <a:uFillTx/>
                <a:latin typeface="Arial"/>
                <a:ea typeface="Arial"/>
                <a:cs typeface="+mn-cs"/>
              </a:rPr>
              <a:t>Circle</a:t>
            </a:r>
            <a:endParaRPr kumimoji="0" lang="en-US" sz="1200" b="0" i="0" u="none" strike="noStrike" kern="1200" cap="none" spc="-1" normalizeH="0" baseline="0" noProof="0">
              <a:ln>
                <a:noFill/>
              </a:ln>
              <a:solidFill>
                <a:srgbClr val="000000"/>
              </a:solidFill>
              <a:effectLst/>
              <a:uLnTx/>
              <a:uFillTx/>
              <a:latin typeface="Arial"/>
              <a:ea typeface="+mn-ea"/>
              <a:cs typeface="+mn-cs"/>
            </a:endParaRPr>
          </a:p>
        </p:txBody>
      </p:sp>
      <p:sp>
        <p:nvSpPr>
          <p:cNvPr id="970" name="Text 12"/>
          <p:cNvSpPr/>
          <p:nvPr/>
        </p:nvSpPr>
        <p:spPr>
          <a:xfrm>
            <a:off x="1920240" y="1417320"/>
            <a:ext cx="2377080" cy="365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1000" b="0" i="0" u="none" strike="noStrike" kern="1200" cap="none" spc="-1" normalizeH="0" baseline="0" noProof="0">
                <a:ln>
                  <a:noFill/>
                </a:ln>
                <a:solidFill>
                  <a:srgbClr val="333333"/>
                </a:solidFill>
                <a:effectLst/>
                <a:uLnTx/>
                <a:uFillTx/>
                <a:latin typeface="Calibri"/>
                <a:ea typeface="Calibri"/>
                <a:cs typeface="+mn-cs"/>
              </a:rPr>
              <a:t>Monitor reports member is UP and available to receive traffic</a:t>
            </a:r>
            <a:endParaRPr kumimoji="0" lang="en-US" sz="1000" b="0" i="0" u="none" strike="noStrike" kern="1200" cap="none" spc="-1" normalizeH="0" baseline="0" noProof="0">
              <a:ln>
                <a:noFill/>
              </a:ln>
              <a:solidFill>
                <a:srgbClr val="000000"/>
              </a:solidFill>
              <a:effectLst/>
              <a:uLnTx/>
              <a:uFillTx/>
              <a:latin typeface="Arial"/>
              <a:ea typeface="+mn-ea"/>
              <a:cs typeface="+mn-cs"/>
            </a:endParaRPr>
          </a:p>
        </p:txBody>
      </p:sp>
      <p:sp>
        <p:nvSpPr>
          <p:cNvPr id="971" name="Shape 13"/>
          <p:cNvSpPr/>
          <p:nvPr/>
        </p:nvSpPr>
        <p:spPr>
          <a:xfrm>
            <a:off x="457200" y="1810512"/>
            <a:ext cx="3931560" cy="365760"/>
          </a:xfrm>
          <a:prstGeom prst="rect">
            <a:avLst/>
          </a:prstGeom>
          <a:solidFill>
            <a:srgbClr val="F2F2F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 normalizeH="0" baseline="0" noProof="0">
              <a:ln>
                <a:noFill/>
              </a:ln>
              <a:solidFill>
                <a:srgbClr val="000000"/>
              </a:solidFill>
              <a:effectLst/>
              <a:uLnTx/>
              <a:uFillTx/>
              <a:latin typeface="Calibri"/>
              <a:ea typeface="+mn-ea"/>
              <a:cs typeface="+mn-cs"/>
            </a:endParaRPr>
          </a:p>
        </p:txBody>
      </p:sp>
      <p:sp>
        <p:nvSpPr>
          <p:cNvPr id="972" name="Text 14"/>
          <p:cNvSpPr/>
          <p:nvPr/>
        </p:nvSpPr>
        <p:spPr>
          <a:xfrm>
            <a:off x="548640" y="1810512"/>
            <a:ext cx="365400" cy="365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0" algn="l"/>
              </a:tabLst>
              <a:defRPr/>
            </a:pPr>
            <a:r>
              <a:rPr kumimoji="0" lang="en-US" sz="2000" b="0" i="0" u="none" strike="noStrike" kern="1200" cap="none" spc="-1" normalizeH="0" baseline="0" noProof="0">
                <a:ln>
                  <a:noFill/>
                </a:ln>
                <a:solidFill>
                  <a:srgbClr val="E4002B"/>
                </a:solidFill>
                <a:effectLst/>
                <a:uLnTx/>
                <a:uFillTx/>
                <a:latin typeface="Calibri"/>
                <a:ea typeface="+mn-ea"/>
                <a:cs typeface="+mn-cs"/>
              </a:rPr>
              <a:t>◆</a:t>
            </a:r>
            <a:endParaRPr kumimoji="0" lang="en-US" sz="2000" b="0" i="0" u="none" strike="noStrike" kern="1200" cap="none" spc="-1" normalizeH="0" baseline="0" noProof="0">
              <a:ln>
                <a:noFill/>
              </a:ln>
              <a:solidFill>
                <a:srgbClr val="000000"/>
              </a:solidFill>
              <a:effectLst/>
              <a:uLnTx/>
              <a:uFillTx/>
              <a:latin typeface="Arial"/>
              <a:ea typeface="+mn-ea"/>
              <a:cs typeface="+mn-cs"/>
            </a:endParaRPr>
          </a:p>
        </p:txBody>
      </p:sp>
      <p:sp>
        <p:nvSpPr>
          <p:cNvPr id="973" name="Text 15"/>
          <p:cNvSpPr/>
          <p:nvPr/>
        </p:nvSpPr>
        <p:spPr>
          <a:xfrm>
            <a:off x="1005840" y="1810512"/>
            <a:ext cx="822600" cy="365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1200" b="1" i="0" u="none" strike="noStrike" kern="1200" cap="none" spc="-1" normalizeH="0" baseline="0" noProof="0">
                <a:ln>
                  <a:noFill/>
                </a:ln>
                <a:solidFill>
                  <a:srgbClr val="333333"/>
                </a:solidFill>
                <a:effectLst/>
                <a:uLnTx/>
                <a:uFillTx/>
                <a:latin typeface="Arial"/>
                <a:ea typeface="Arial"/>
                <a:cs typeface="+mn-cs"/>
              </a:rPr>
              <a:t>Diamond</a:t>
            </a:r>
            <a:endParaRPr kumimoji="0" lang="en-US" sz="1200" b="0" i="0" u="none" strike="noStrike" kern="1200" cap="none" spc="-1" normalizeH="0" baseline="0" noProof="0">
              <a:ln>
                <a:noFill/>
              </a:ln>
              <a:solidFill>
                <a:srgbClr val="000000"/>
              </a:solidFill>
              <a:effectLst/>
              <a:uLnTx/>
              <a:uFillTx/>
              <a:latin typeface="Arial"/>
              <a:ea typeface="+mn-ea"/>
              <a:cs typeface="+mn-cs"/>
            </a:endParaRPr>
          </a:p>
        </p:txBody>
      </p:sp>
      <p:sp>
        <p:nvSpPr>
          <p:cNvPr id="974" name="Text 16"/>
          <p:cNvSpPr/>
          <p:nvPr/>
        </p:nvSpPr>
        <p:spPr>
          <a:xfrm>
            <a:off x="1920240" y="1810512"/>
            <a:ext cx="2377080" cy="365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1000" b="0" i="0" u="none" strike="noStrike" kern="1200" cap="none" spc="-1" normalizeH="0" baseline="0" noProof="0">
                <a:ln>
                  <a:noFill/>
                </a:ln>
                <a:solidFill>
                  <a:srgbClr val="333333"/>
                </a:solidFill>
                <a:effectLst/>
                <a:uLnTx/>
                <a:uFillTx/>
                <a:latin typeface="Calibri"/>
                <a:ea typeface="Calibri"/>
                <a:cs typeface="+mn-cs"/>
              </a:rPr>
              <a:t>Monitor reports member is DOWN or not responding to health checks</a:t>
            </a:r>
            <a:endParaRPr kumimoji="0" lang="en-US" sz="1000" b="0" i="0" u="none" strike="noStrike" kern="1200" cap="none" spc="-1" normalizeH="0" baseline="0" noProof="0">
              <a:ln>
                <a:noFill/>
              </a:ln>
              <a:solidFill>
                <a:srgbClr val="000000"/>
              </a:solidFill>
              <a:effectLst/>
              <a:uLnTx/>
              <a:uFillTx/>
              <a:latin typeface="Arial"/>
              <a:ea typeface="+mn-ea"/>
              <a:cs typeface="+mn-cs"/>
            </a:endParaRPr>
          </a:p>
        </p:txBody>
      </p:sp>
      <p:sp>
        <p:nvSpPr>
          <p:cNvPr id="975" name="Shape 17"/>
          <p:cNvSpPr/>
          <p:nvPr/>
        </p:nvSpPr>
        <p:spPr>
          <a:xfrm>
            <a:off x="457200" y="2203704"/>
            <a:ext cx="3931560" cy="36576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 normalizeH="0" baseline="0" noProof="0">
              <a:ln>
                <a:noFill/>
              </a:ln>
              <a:solidFill>
                <a:srgbClr val="000000"/>
              </a:solidFill>
              <a:effectLst/>
              <a:uLnTx/>
              <a:uFillTx/>
              <a:latin typeface="Calibri"/>
              <a:ea typeface="+mn-ea"/>
              <a:cs typeface="+mn-cs"/>
            </a:endParaRPr>
          </a:p>
        </p:txBody>
      </p:sp>
      <p:sp>
        <p:nvSpPr>
          <p:cNvPr id="976" name="Text 18"/>
          <p:cNvSpPr/>
          <p:nvPr/>
        </p:nvSpPr>
        <p:spPr>
          <a:xfrm>
            <a:off x="548640" y="2203704"/>
            <a:ext cx="365400" cy="365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0" algn="l"/>
              </a:tabLst>
              <a:defRPr/>
            </a:pPr>
            <a:r>
              <a:rPr kumimoji="0" lang="en-US" sz="2000" b="0" i="0" u="none" strike="noStrike" kern="1200" cap="none" spc="-1" normalizeH="0" baseline="0" noProof="0">
                <a:ln>
                  <a:noFill/>
                </a:ln>
                <a:solidFill>
                  <a:srgbClr val="0E41AA"/>
                </a:solidFill>
                <a:effectLst/>
                <a:uLnTx/>
                <a:uFillTx/>
                <a:latin typeface="Calibri"/>
                <a:ea typeface="+mn-ea"/>
                <a:cs typeface="+mn-cs"/>
              </a:rPr>
              <a:t>■</a:t>
            </a:r>
            <a:endParaRPr kumimoji="0" lang="en-US" sz="2000" b="0" i="0" u="none" strike="noStrike" kern="1200" cap="none" spc="-1" normalizeH="0" baseline="0" noProof="0">
              <a:ln>
                <a:noFill/>
              </a:ln>
              <a:solidFill>
                <a:srgbClr val="000000"/>
              </a:solidFill>
              <a:effectLst/>
              <a:uLnTx/>
              <a:uFillTx/>
              <a:latin typeface="Arial"/>
              <a:ea typeface="+mn-ea"/>
              <a:cs typeface="+mn-cs"/>
            </a:endParaRPr>
          </a:p>
        </p:txBody>
      </p:sp>
      <p:sp>
        <p:nvSpPr>
          <p:cNvPr id="977" name="Text 19"/>
          <p:cNvSpPr/>
          <p:nvPr/>
        </p:nvSpPr>
        <p:spPr>
          <a:xfrm>
            <a:off x="1005840" y="2203704"/>
            <a:ext cx="822600" cy="365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1200" b="1" i="0" u="none" strike="noStrike" kern="1200" cap="none" spc="-1" normalizeH="0" baseline="0" noProof="0">
                <a:ln>
                  <a:noFill/>
                </a:ln>
                <a:solidFill>
                  <a:srgbClr val="333333"/>
                </a:solidFill>
                <a:effectLst/>
                <a:uLnTx/>
                <a:uFillTx/>
                <a:latin typeface="Arial"/>
                <a:ea typeface="Arial"/>
                <a:cs typeface="+mn-cs"/>
              </a:rPr>
              <a:t>Square</a:t>
            </a:r>
            <a:endParaRPr kumimoji="0" lang="en-US" sz="1200" b="0" i="0" u="none" strike="noStrike" kern="1200" cap="none" spc="-1" normalizeH="0" baseline="0" noProof="0">
              <a:ln>
                <a:noFill/>
              </a:ln>
              <a:solidFill>
                <a:srgbClr val="000000"/>
              </a:solidFill>
              <a:effectLst/>
              <a:uLnTx/>
              <a:uFillTx/>
              <a:latin typeface="Arial"/>
              <a:ea typeface="+mn-ea"/>
              <a:cs typeface="+mn-cs"/>
            </a:endParaRPr>
          </a:p>
        </p:txBody>
      </p:sp>
      <p:sp>
        <p:nvSpPr>
          <p:cNvPr id="978" name="Text 20"/>
          <p:cNvSpPr/>
          <p:nvPr/>
        </p:nvSpPr>
        <p:spPr>
          <a:xfrm>
            <a:off x="1920240" y="2203704"/>
            <a:ext cx="2377080" cy="365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1000" b="0" i="0" u="none" strike="noStrike" kern="1200" cap="none" spc="-1" normalizeH="0" baseline="0" noProof="0">
                <a:ln>
                  <a:noFill/>
                </a:ln>
                <a:solidFill>
                  <a:srgbClr val="333333"/>
                </a:solidFill>
                <a:effectLst/>
                <a:uLnTx/>
                <a:uFillTx/>
                <a:latin typeface="Calibri"/>
                <a:ea typeface="Calibri"/>
                <a:cs typeface="+mn-cs"/>
              </a:rPr>
              <a:t>No monitor assigned, or monitor status is unknown/pending</a:t>
            </a:r>
            <a:endParaRPr kumimoji="0" lang="en-US" sz="1000" b="0" i="0" u="none" strike="noStrike" kern="1200" cap="none" spc="-1" normalizeH="0" baseline="0" noProof="0">
              <a:ln>
                <a:noFill/>
              </a:ln>
              <a:solidFill>
                <a:srgbClr val="000000"/>
              </a:solidFill>
              <a:effectLst/>
              <a:uLnTx/>
              <a:uFillTx/>
              <a:latin typeface="Arial"/>
              <a:ea typeface="+mn-ea"/>
              <a:cs typeface="+mn-cs"/>
            </a:endParaRPr>
          </a:p>
        </p:txBody>
      </p:sp>
      <p:sp>
        <p:nvSpPr>
          <p:cNvPr id="979" name="Shape 21"/>
          <p:cNvSpPr/>
          <p:nvPr/>
        </p:nvSpPr>
        <p:spPr>
          <a:xfrm>
            <a:off x="457200" y="2596896"/>
            <a:ext cx="3931560" cy="365760"/>
          </a:xfrm>
          <a:prstGeom prst="rect">
            <a:avLst/>
          </a:prstGeom>
          <a:solidFill>
            <a:srgbClr val="F2F2F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 normalizeH="0" baseline="0" noProof="0">
              <a:ln>
                <a:noFill/>
              </a:ln>
              <a:solidFill>
                <a:srgbClr val="000000"/>
              </a:solidFill>
              <a:effectLst/>
              <a:uLnTx/>
              <a:uFillTx/>
              <a:latin typeface="Calibri"/>
              <a:ea typeface="+mn-ea"/>
              <a:cs typeface="+mn-cs"/>
            </a:endParaRPr>
          </a:p>
        </p:txBody>
      </p:sp>
      <p:sp>
        <p:nvSpPr>
          <p:cNvPr id="980" name="Text 22"/>
          <p:cNvSpPr/>
          <p:nvPr/>
        </p:nvSpPr>
        <p:spPr>
          <a:xfrm>
            <a:off x="548640" y="2596896"/>
            <a:ext cx="365400" cy="365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0" algn="l"/>
              </a:tabLst>
              <a:defRPr/>
            </a:pPr>
            <a:r>
              <a:rPr kumimoji="0" lang="en-US" sz="2000" b="0" i="0" u="none" strike="noStrike" kern="1200" cap="none" spc="-1" normalizeH="0" baseline="0" noProof="0">
                <a:ln>
                  <a:noFill/>
                </a:ln>
                <a:solidFill>
                  <a:srgbClr val="FFC107"/>
                </a:solidFill>
                <a:effectLst/>
                <a:uLnTx/>
                <a:uFillTx/>
                <a:latin typeface="Calibri"/>
                <a:ea typeface="+mn-ea"/>
                <a:cs typeface="+mn-cs"/>
              </a:rPr>
              <a:t>▲</a:t>
            </a:r>
            <a:endParaRPr kumimoji="0" lang="en-US" sz="2000" b="0" i="0" u="none" strike="noStrike" kern="1200" cap="none" spc="-1" normalizeH="0" baseline="0" noProof="0">
              <a:ln>
                <a:noFill/>
              </a:ln>
              <a:solidFill>
                <a:srgbClr val="000000"/>
              </a:solidFill>
              <a:effectLst/>
              <a:uLnTx/>
              <a:uFillTx/>
              <a:latin typeface="Arial"/>
              <a:ea typeface="+mn-ea"/>
              <a:cs typeface="+mn-cs"/>
            </a:endParaRPr>
          </a:p>
        </p:txBody>
      </p:sp>
      <p:sp>
        <p:nvSpPr>
          <p:cNvPr id="981" name="Text 23"/>
          <p:cNvSpPr/>
          <p:nvPr/>
        </p:nvSpPr>
        <p:spPr>
          <a:xfrm>
            <a:off x="1005840" y="2596896"/>
            <a:ext cx="822600" cy="365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1200" b="1" i="0" u="none" strike="noStrike" kern="1200" cap="none" spc="-1" normalizeH="0" baseline="0" noProof="0">
                <a:ln>
                  <a:noFill/>
                </a:ln>
                <a:solidFill>
                  <a:srgbClr val="333333"/>
                </a:solidFill>
                <a:effectLst/>
                <a:uLnTx/>
                <a:uFillTx/>
                <a:latin typeface="Arial"/>
                <a:ea typeface="Arial"/>
                <a:cs typeface="+mn-cs"/>
              </a:rPr>
              <a:t>Triangle</a:t>
            </a:r>
            <a:endParaRPr kumimoji="0" lang="en-US" sz="1200" b="0" i="0" u="none" strike="noStrike" kern="1200" cap="none" spc="-1" normalizeH="0" baseline="0" noProof="0">
              <a:ln>
                <a:noFill/>
              </a:ln>
              <a:solidFill>
                <a:srgbClr val="000000"/>
              </a:solidFill>
              <a:effectLst/>
              <a:uLnTx/>
              <a:uFillTx/>
              <a:latin typeface="Arial"/>
              <a:ea typeface="+mn-ea"/>
              <a:cs typeface="+mn-cs"/>
            </a:endParaRPr>
          </a:p>
        </p:txBody>
      </p:sp>
      <p:sp>
        <p:nvSpPr>
          <p:cNvPr id="982" name="Text 24"/>
          <p:cNvSpPr/>
          <p:nvPr/>
        </p:nvSpPr>
        <p:spPr>
          <a:xfrm>
            <a:off x="1920240" y="2596896"/>
            <a:ext cx="2377080" cy="365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1000" b="0" i="0" u="none" strike="noStrike" kern="1200" cap="none" spc="-1" normalizeH="0" baseline="0" noProof="0">
                <a:ln>
                  <a:noFill/>
                </a:ln>
                <a:solidFill>
                  <a:srgbClr val="333333"/>
                </a:solidFill>
                <a:effectLst/>
                <a:uLnTx/>
                <a:uFillTx/>
                <a:latin typeface="Calibri"/>
                <a:ea typeface="Calibri"/>
                <a:cs typeface="+mn-cs"/>
              </a:rPr>
              <a:t>Member is available but status is degraded or partially available</a:t>
            </a:r>
            <a:endParaRPr kumimoji="0" lang="en-US" sz="1000" b="0" i="0" u="none" strike="noStrike" kern="1200" cap="none" spc="-1" normalizeH="0" baseline="0" noProof="0">
              <a:ln>
                <a:noFill/>
              </a:ln>
              <a:solidFill>
                <a:srgbClr val="000000"/>
              </a:solidFill>
              <a:effectLst/>
              <a:uLnTx/>
              <a:uFillTx/>
              <a:latin typeface="Arial"/>
              <a:ea typeface="+mn-ea"/>
              <a:cs typeface="+mn-cs"/>
            </a:endParaRPr>
          </a:p>
        </p:txBody>
      </p:sp>
      <p:sp>
        <p:nvSpPr>
          <p:cNvPr id="983" name="Text 25"/>
          <p:cNvSpPr/>
          <p:nvPr/>
        </p:nvSpPr>
        <p:spPr>
          <a:xfrm>
            <a:off x="4846320" y="1051560"/>
            <a:ext cx="3931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1600" b="1" i="0" u="none" strike="noStrike" kern="1200" cap="none" spc="-1" normalizeH="0" baseline="0" noProof="0">
                <a:ln>
                  <a:noFill/>
                </a:ln>
                <a:solidFill>
                  <a:srgbClr val="61228B"/>
                </a:solidFill>
                <a:effectLst/>
                <a:uLnTx/>
                <a:uFillTx/>
                <a:latin typeface="Arial"/>
                <a:ea typeface="Arial"/>
                <a:cs typeface="+mn-cs"/>
              </a:rPr>
              <a:t>Color = admin state</a:t>
            </a:r>
            <a:endParaRPr kumimoji="0" lang="en-US" sz="1600" b="0" i="0" u="none" strike="noStrike" kern="1200" cap="none" spc="-1" normalizeH="0" baseline="0" noProof="0">
              <a:ln>
                <a:noFill/>
              </a:ln>
              <a:solidFill>
                <a:srgbClr val="000000"/>
              </a:solidFill>
              <a:effectLst/>
              <a:uLnTx/>
              <a:uFillTx/>
              <a:latin typeface="Arial"/>
              <a:ea typeface="+mn-ea"/>
              <a:cs typeface="+mn-cs"/>
            </a:endParaRPr>
          </a:p>
        </p:txBody>
      </p:sp>
      <p:sp>
        <p:nvSpPr>
          <p:cNvPr id="984" name="Shape 26"/>
          <p:cNvSpPr/>
          <p:nvPr/>
        </p:nvSpPr>
        <p:spPr>
          <a:xfrm>
            <a:off x="4846320" y="1417320"/>
            <a:ext cx="3931560" cy="36576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 normalizeH="0" baseline="0" noProof="0">
              <a:ln>
                <a:noFill/>
              </a:ln>
              <a:solidFill>
                <a:srgbClr val="000000"/>
              </a:solidFill>
              <a:effectLst/>
              <a:uLnTx/>
              <a:uFillTx/>
              <a:latin typeface="Calibri"/>
              <a:ea typeface="+mn-ea"/>
              <a:cs typeface="+mn-cs"/>
            </a:endParaRPr>
          </a:p>
        </p:txBody>
      </p:sp>
      <p:sp>
        <p:nvSpPr>
          <p:cNvPr id="985" name="Shape 27"/>
          <p:cNvSpPr/>
          <p:nvPr/>
        </p:nvSpPr>
        <p:spPr>
          <a:xfrm>
            <a:off x="4983480" y="1508760"/>
            <a:ext cx="255600" cy="255600"/>
          </a:xfrm>
          <a:prstGeom prst="rect">
            <a:avLst/>
          </a:prstGeom>
          <a:solidFill>
            <a:srgbClr val="00963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 normalizeH="0" baseline="0" noProof="0">
              <a:ln>
                <a:noFill/>
              </a:ln>
              <a:solidFill>
                <a:srgbClr val="000000"/>
              </a:solidFill>
              <a:effectLst/>
              <a:uLnTx/>
              <a:uFillTx/>
              <a:latin typeface="Calibri"/>
              <a:ea typeface="+mn-ea"/>
              <a:cs typeface="+mn-cs"/>
            </a:endParaRPr>
          </a:p>
        </p:txBody>
      </p:sp>
      <p:sp>
        <p:nvSpPr>
          <p:cNvPr id="986" name="Text 28"/>
          <p:cNvSpPr/>
          <p:nvPr/>
        </p:nvSpPr>
        <p:spPr>
          <a:xfrm>
            <a:off x="5349240" y="1417320"/>
            <a:ext cx="639720" cy="365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1100" b="1" i="0" u="none" strike="noStrike" kern="1200" cap="none" spc="-1" normalizeH="0" baseline="0" noProof="0">
                <a:ln>
                  <a:noFill/>
                </a:ln>
                <a:solidFill>
                  <a:srgbClr val="333333"/>
                </a:solidFill>
                <a:effectLst/>
                <a:uLnTx/>
                <a:uFillTx/>
                <a:latin typeface="Arial"/>
                <a:ea typeface="Arial"/>
                <a:cs typeface="+mn-cs"/>
              </a:rPr>
              <a:t>Green</a:t>
            </a:r>
            <a:endParaRPr kumimoji="0" lang="en-US" sz="1100" b="0" i="0" u="none" strike="noStrike" kern="1200" cap="none" spc="-1" normalizeH="0" baseline="0" noProof="0">
              <a:ln>
                <a:noFill/>
              </a:ln>
              <a:solidFill>
                <a:srgbClr val="000000"/>
              </a:solidFill>
              <a:effectLst/>
              <a:uLnTx/>
              <a:uFillTx/>
              <a:latin typeface="Arial"/>
              <a:ea typeface="+mn-ea"/>
              <a:cs typeface="+mn-cs"/>
            </a:endParaRPr>
          </a:p>
        </p:txBody>
      </p:sp>
      <p:sp>
        <p:nvSpPr>
          <p:cNvPr id="987" name="Text 29"/>
          <p:cNvSpPr/>
          <p:nvPr/>
        </p:nvSpPr>
        <p:spPr>
          <a:xfrm>
            <a:off x="6035040" y="1417320"/>
            <a:ext cx="2651400" cy="365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900" b="0" i="0" u="none" strike="noStrike" kern="1200" cap="none" spc="-1" normalizeH="0" baseline="0" noProof="0">
                <a:ln>
                  <a:noFill/>
                </a:ln>
                <a:solidFill>
                  <a:srgbClr val="333333"/>
                </a:solidFill>
                <a:effectLst/>
                <a:uLnTx/>
                <a:uFillTx/>
                <a:latin typeface="Calibri"/>
                <a:ea typeface="Calibri"/>
                <a:cs typeface="+mn-cs"/>
              </a:rPr>
              <a:t>Object is enabled by admin AND monitor reports available</a:t>
            </a:r>
            <a:endParaRPr kumimoji="0" lang="en-US" sz="900" b="0" i="0" u="none" strike="noStrike" kern="1200" cap="none" spc="-1" normalizeH="0" baseline="0" noProof="0">
              <a:ln>
                <a:noFill/>
              </a:ln>
              <a:solidFill>
                <a:srgbClr val="000000"/>
              </a:solidFill>
              <a:effectLst/>
              <a:uLnTx/>
              <a:uFillTx/>
              <a:latin typeface="Arial"/>
              <a:ea typeface="+mn-ea"/>
              <a:cs typeface="+mn-cs"/>
            </a:endParaRPr>
          </a:p>
        </p:txBody>
      </p:sp>
      <p:sp>
        <p:nvSpPr>
          <p:cNvPr id="988" name="Shape 30"/>
          <p:cNvSpPr/>
          <p:nvPr/>
        </p:nvSpPr>
        <p:spPr>
          <a:xfrm>
            <a:off x="4846320" y="1810512"/>
            <a:ext cx="3931560" cy="365760"/>
          </a:xfrm>
          <a:prstGeom prst="rect">
            <a:avLst/>
          </a:prstGeom>
          <a:solidFill>
            <a:srgbClr val="F2F2F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 normalizeH="0" baseline="0" noProof="0">
              <a:ln>
                <a:noFill/>
              </a:ln>
              <a:solidFill>
                <a:srgbClr val="000000"/>
              </a:solidFill>
              <a:effectLst/>
              <a:uLnTx/>
              <a:uFillTx/>
              <a:latin typeface="Calibri"/>
              <a:ea typeface="+mn-ea"/>
              <a:cs typeface="+mn-cs"/>
            </a:endParaRPr>
          </a:p>
        </p:txBody>
      </p:sp>
      <p:sp>
        <p:nvSpPr>
          <p:cNvPr id="989" name="Shape 31"/>
          <p:cNvSpPr/>
          <p:nvPr/>
        </p:nvSpPr>
        <p:spPr>
          <a:xfrm>
            <a:off x="4983480" y="1901952"/>
            <a:ext cx="255600" cy="255600"/>
          </a:xfrm>
          <a:prstGeom prst="rect">
            <a:avLst/>
          </a:prstGeom>
          <a:solidFill>
            <a:srgbClr val="FFC10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 normalizeH="0" baseline="0" noProof="0">
              <a:ln>
                <a:noFill/>
              </a:ln>
              <a:solidFill>
                <a:srgbClr val="000000"/>
              </a:solidFill>
              <a:effectLst/>
              <a:uLnTx/>
              <a:uFillTx/>
              <a:latin typeface="Calibri"/>
              <a:ea typeface="+mn-ea"/>
              <a:cs typeface="+mn-cs"/>
            </a:endParaRPr>
          </a:p>
        </p:txBody>
      </p:sp>
      <p:sp>
        <p:nvSpPr>
          <p:cNvPr id="990" name="Text 32"/>
          <p:cNvSpPr/>
          <p:nvPr/>
        </p:nvSpPr>
        <p:spPr>
          <a:xfrm>
            <a:off x="5349240" y="1810512"/>
            <a:ext cx="639720" cy="365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1100" b="1" i="0" u="none" strike="noStrike" kern="1200" cap="none" spc="-1" normalizeH="0" baseline="0" noProof="0">
                <a:ln>
                  <a:noFill/>
                </a:ln>
                <a:solidFill>
                  <a:srgbClr val="333333"/>
                </a:solidFill>
                <a:effectLst/>
                <a:uLnTx/>
                <a:uFillTx/>
                <a:latin typeface="Arial"/>
                <a:ea typeface="Arial"/>
                <a:cs typeface="+mn-cs"/>
              </a:rPr>
              <a:t>Yellow</a:t>
            </a:r>
            <a:endParaRPr kumimoji="0" lang="en-US" sz="1100" b="0" i="0" u="none" strike="noStrike" kern="1200" cap="none" spc="-1" normalizeH="0" baseline="0" noProof="0">
              <a:ln>
                <a:noFill/>
              </a:ln>
              <a:solidFill>
                <a:srgbClr val="000000"/>
              </a:solidFill>
              <a:effectLst/>
              <a:uLnTx/>
              <a:uFillTx/>
              <a:latin typeface="Arial"/>
              <a:ea typeface="+mn-ea"/>
              <a:cs typeface="+mn-cs"/>
            </a:endParaRPr>
          </a:p>
        </p:txBody>
      </p:sp>
      <p:sp>
        <p:nvSpPr>
          <p:cNvPr id="991" name="Text 33"/>
          <p:cNvSpPr/>
          <p:nvPr/>
        </p:nvSpPr>
        <p:spPr>
          <a:xfrm>
            <a:off x="6035040" y="1810512"/>
            <a:ext cx="2651400" cy="365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900" b="0" i="0" u="none" strike="noStrike" kern="1200" cap="none" spc="-1" normalizeH="0" baseline="0" noProof="0">
                <a:ln>
                  <a:noFill/>
                </a:ln>
                <a:solidFill>
                  <a:srgbClr val="333333"/>
                </a:solidFill>
                <a:effectLst/>
                <a:uLnTx/>
                <a:uFillTx/>
                <a:latin typeface="Calibri"/>
                <a:ea typeface="Calibri"/>
                <a:cs typeface="+mn-cs"/>
              </a:rPr>
              <a:t>Object is enabled but status is degraded or approaching threshold</a:t>
            </a:r>
            <a:endParaRPr kumimoji="0" lang="en-US" sz="900" b="0" i="0" u="none" strike="noStrike" kern="1200" cap="none" spc="-1" normalizeH="0" baseline="0" noProof="0">
              <a:ln>
                <a:noFill/>
              </a:ln>
              <a:solidFill>
                <a:srgbClr val="000000"/>
              </a:solidFill>
              <a:effectLst/>
              <a:uLnTx/>
              <a:uFillTx/>
              <a:latin typeface="Arial"/>
              <a:ea typeface="+mn-ea"/>
              <a:cs typeface="+mn-cs"/>
            </a:endParaRPr>
          </a:p>
        </p:txBody>
      </p:sp>
      <p:sp>
        <p:nvSpPr>
          <p:cNvPr id="992" name="Shape 34"/>
          <p:cNvSpPr/>
          <p:nvPr/>
        </p:nvSpPr>
        <p:spPr>
          <a:xfrm>
            <a:off x="4846320" y="2203704"/>
            <a:ext cx="3931560" cy="36576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 normalizeH="0" baseline="0" noProof="0">
              <a:ln>
                <a:noFill/>
              </a:ln>
              <a:solidFill>
                <a:srgbClr val="000000"/>
              </a:solidFill>
              <a:effectLst/>
              <a:uLnTx/>
              <a:uFillTx/>
              <a:latin typeface="Calibri"/>
              <a:ea typeface="+mn-ea"/>
              <a:cs typeface="+mn-cs"/>
            </a:endParaRPr>
          </a:p>
        </p:txBody>
      </p:sp>
      <p:sp>
        <p:nvSpPr>
          <p:cNvPr id="993" name="Shape 35"/>
          <p:cNvSpPr/>
          <p:nvPr/>
        </p:nvSpPr>
        <p:spPr>
          <a:xfrm>
            <a:off x="4983480" y="2295144"/>
            <a:ext cx="255600" cy="25560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 normalizeH="0" baseline="0" noProof="0">
              <a:ln>
                <a:noFill/>
              </a:ln>
              <a:solidFill>
                <a:srgbClr val="000000"/>
              </a:solidFill>
              <a:effectLst/>
              <a:uLnTx/>
              <a:uFillTx/>
              <a:latin typeface="Calibri"/>
              <a:ea typeface="+mn-ea"/>
              <a:cs typeface="+mn-cs"/>
            </a:endParaRPr>
          </a:p>
        </p:txBody>
      </p:sp>
      <p:sp>
        <p:nvSpPr>
          <p:cNvPr id="994" name="Text 36"/>
          <p:cNvSpPr/>
          <p:nvPr/>
        </p:nvSpPr>
        <p:spPr>
          <a:xfrm>
            <a:off x="5349240" y="2203704"/>
            <a:ext cx="639720" cy="365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1100" b="1" i="0" u="none" strike="noStrike" kern="1200" cap="none" spc="-1" normalizeH="0" baseline="0" noProof="0">
                <a:ln>
                  <a:noFill/>
                </a:ln>
                <a:solidFill>
                  <a:srgbClr val="333333"/>
                </a:solidFill>
                <a:effectLst/>
                <a:uLnTx/>
                <a:uFillTx/>
                <a:latin typeface="Arial"/>
                <a:ea typeface="Arial"/>
                <a:cs typeface="+mn-cs"/>
              </a:rPr>
              <a:t>Red</a:t>
            </a:r>
            <a:endParaRPr kumimoji="0" lang="en-US" sz="1100" b="0" i="0" u="none" strike="noStrike" kern="1200" cap="none" spc="-1" normalizeH="0" baseline="0" noProof="0">
              <a:ln>
                <a:noFill/>
              </a:ln>
              <a:solidFill>
                <a:srgbClr val="000000"/>
              </a:solidFill>
              <a:effectLst/>
              <a:uLnTx/>
              <a:uFillTx/>
              <a:latin typeface="Arial"/>
              <a:ea typeface="+mn-ea"/>
              <a:cs typeface="+mn-cs"/>
            </a:endParaRPr>
          </a:p>
        </p:txBody>
      </p:sp>
      <p:sp>
        <p:nvSpPr>
          <p:cNvPr id="995" name="Text 37"/>
          <p:cNvSpPr/>
          <p:nvPr/>
        </p:nvSpPr>
        <p:spPr>
          <a:xfrm>
            <a:off x="6035040" y="2203704"/>
            <a:ext cx="2651400" cy="365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900" b="0" i="0" u="none" strike="noStrike" kern="1200" cap="none" spc="-1" normalizeH="0" baseline="0" noProof="0">
                <a:ln>
                  <a:noFill/>
                </a:ln>
                <a:solidFill>
                  <a:srgbClr val="333333"/>
                </a:solidFill>
                <a:effectLst/>
                <a:uLnTx/>
                <a:uFillTx/>
                <a:latin typeface="Calibri"/>
                <a:ea typeface="Calibri"/>
                <a:cs typeface="+mn-cs"/>
              </a:rPr>
              <a:t>Object is enabled but monitor reports offline/unavailable</a:t>
            </a:r>
            <a:endParaRPr kumimoji="0" lang="en-US" sz="900" b="0" i="0" u="none" strike="noStrike" kern="1200" cap="none" spc="-1" normalizeH="0" baseline="0" noProof="0">
              <a:ln>
                <a:noFill/>
              </a:ln>
              <a:solidFill>
                <a:srgbClr val="000000"/>
              </a:solidFill>
              <a:effectLst/>
              <a:uLnTx/>
              <a:uFillTx/>
              <a:latin typeface="Arial"/>
              <a:ea typeface="+mn-ea"/>
              <a:cs typeface="+mn-cs"/>
            </a:endParaRPr>
          </a:p>
        </p:txBody>
      </p:sp>
      <p:sp>
        <p:nvSpPr>
          <p:cNvPr id="996" name="Shape 38"/>
          <p:cNvSpPr/>
          <p:nvPr/>
        </p:nvSpPr>
        <p:spPr>
          <a:xfrm>
            <a:off x="4846320" y="2596896"/>
            <a:ext cx="3931560" cy="365760"/>
          </a:xfrm>
          <a:prstGeom prst="rect">
            <a:avLst/>
          </a:prstGeom>
          <a:solidFill>
            <a:srgbClr val="F2F2F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 normalizeH="0" baseline="0" noProof="0">
              <a:ln>
                <a:noFill/>
              </a:ln>
              <a:solidFill>
                <a:srgbClr val="000000"/>
              </a:solidFill>
              <a:effectLst/>
              <a:uLnTx/>
              <a:uFillTx/>
              <a:latin typeface="Calibri"/>
              <a:ea typeface="+mn-ea"/>
              <a:cs typeface="+mn-cs"/>
            </a:endParaRPr>
          </a:p>
        </p:txBody>
      </p:sp>
      <p:sp>
        <p:nvSpPr>
          <p:cNvPr id="997" name="Shape 39"/>
          <p:cNvSpPr/>
          <p:nvPr/>
        </p:nvSpPr>
        <p:spPr>
          <a:xfrm>
            <a:off x="4983480" y="2688336"/>
            <a:ext cx="255600" cy="255600"/>
          </a:xfrm>
          <a:prstGeom prst="rect">
            <a:avLst/>
          </a:prstGeom>
          <a:solidFill>
            <a:srgbClr val="3B3B3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 normalizeH="0" baseline="0" noProof="0">
              <a:ln>
                <a:noFill/>
              </a:ln>
              <a:solidFill>
                <a:srgbClr val="000000"/>
              </a:solidFill>
              <a:effectLst/>
              <a:uLnTx/>
              <a:uFillTx/>
              <a:latin typeface="Calibri"/>
              <a:ea typeface="+mn-ea"/>
              <a:cs typeface="+mn-cs"/>
            </a:endParaRPr>
          </a:p>
        </p:txBody>
      </p:sp>
      <p:sp>
        <p:nvSpPr>
          <p:cNvPr id="998" name="Text 40"/>
          <p:cNvSpPr/>
          <p:nvPr/>
        </p:nvSpPr>
        <p:spPr>
          <a:xfrm>
            <a:off x="5349240" y="2596896"/>
            <a:ext cx="639720" cy="365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1100" b="1" i="0" u="none" strike="noStrike" kern="1200" cap="none" spc="-1" normalizeH="0" baseline="0" noProof="0">
                <a:ln>
                  <a:noFill/>
                </a:ln>
                <a:solidFill>
                  <a:srgbClr val="333333"/>
                </a:solidFill>
                <a:effectLst/>
                <a:uLnTx/>
                <a:uFillTx/>
                <a:latin typeface="Arial"/>
                <a:ea typeface="Arial"/>
                <a:cs typeface="+mn-cs"/>
              </a:rPr>
              <a:t>Black</a:t>
            </a:r>
            <a:endParaRPr kumimoji="0" lang="en-US" sz="1100" b="0" i="0" u="none" strike="noStrike" kern="1200" cap="none" spc="-1" normalizeH="0" baseline="0" noProof="0">
              <a:ln>
                <a:noFill/>
              </a:ln>
              <a:solidFill>
                <a:srgbClr val="000000"/>
              </a:solidFill>
              <a:effectLst/>
              <a:uLnTx/>
              <a:uFillTx/>
              <a:latin typeface="Arial"/>
              <a:ea typeface="+mn-ea"/>
              <a:cs typeface="+mn-cs"/>
            </a:endParaRPr>
          </a:p>
        </p:txBody>
      </p:sp>
      <p:sp>
        <p:nvSpPr>
          <p:cNvPr id="999" name="Text 41"/>
          <p:cNvSpPr/>
          <p:nvPr/>
        </p:nvSpPr>
        <p:spPr>
          <a:xfrm>
            <a:off x="6035040" y="2596896"/>
            <a:ext cx="2651400" cy="365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900" b="0" i="0" u="none" strike="noStrike" kern="1200" cap="none" spc="-1" normalizeH="0" baseline="0" noProof="0">
                <a:ln>
                  <a:noFill/>
                </a:ln>
                <a:solidFill>
                  <a:srgbClr val="333333"/>
                </a:solidFill>
                <a:effectLst/>
                <a:uLnTx/>
                <a:uFillTx/>
                <a:latin typeface="Calibri"/>
                <a:ea typeface="Calibri"/>
                <a:cs typeface="+mn-cs"/>
              </a:rPr>
              <a:t>Object has been disabled by administrator</a:t>
            </a:r>
            <a:endParaRPr kumimoji="0" lang="en-US" sz="900" b="0" i="0" u="none" strike="noStrike" kern="1200" cap="none" spc="-1" normalizeH="0" baseline="0" noProof="0">
              <a:ln>
                <a:noFill/>
              </a:ln>
              <a:solidFill>
                <a:srgbClr val="000000"/>
              </a:solidFill>
              <a:effectLst/>
              <a:uLnTx/>
              <a:uFillTx/>
              <a:latin typeface="Arial"/>
              <a:ea typeface="+mn-ea"/>
              <a:cs typeface="+mn-cs"/>
            </a:endParaRPr>
          </a:p>
        </p:txBody>
      </p:sp>
      <p:sp>
        <p:nvSpPr>
          <p:cNvPr id="1000" name="Shape 42"/>
          <p:cNvSpPr/>
          <p:nvPr/>
        </p:nvSpPr>
        <p:spPr>
          <a:xfrm>
            <a:off x="4846320" y="2990088"/>
            <a:ext cx="3931560" cy="36576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 normalizeH="0" baseline="0" noProof="0">
              <a:ln>
                <a:noFill/>
              </a:ln>
              <a:solidFill>
                <a:srgbClr val="000000"/>
              </a:solidFill>
              <a:effectLst/>
              <a:uLnTx/>
              <a:uFillTx/>
              <a:latin typeface="Calibri"/>
              <a:ea typeface="+mn-ea"/>
              <a:cs typeface="+mn-cs"/>
            </a:endParaRPr>
          </a:p>
        </p:txBody>
      </p:sp>
      <p:sp>
        <p:nvSpPr>
          <p:cNvPr id="1001" name="Shape 43"/>
          <p:cNvSpPr/>
          <p:nvPr/>
        </p:nvSpPr>
        <p:spPr>
          <a:xfrm>
            <a:off x="4983480" y="3081528"/>
            <a:ext cx="255600" cy="25560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 normalizeH="0" baseline="0" noProof="0">
              <a:ln>
                <a:noFill/>
              </a:ln>
              <a:solidFill>
                <a:srgbClr val="000000"/>
              </a:solidFill>
              <a:effectLst/>
              <a:uLnTx/>
              <a:uFillTx/>
              <a:latin typeface="Calibri"/>
              <a:ea typeface="+mn-ea"/>
              <a:cs typeface="+mn-cs"/>
            </a:endParaRPr>
          </a:p>
        </p:txBody>
      </p:sp>
      <p:sp>
        <p:nvSpPr>
          <p:cNvPr id="1002" name="Text 44"/>
          <p:cNvSpPr/>
          <p:nvPr/>
        </p:nvSpPr>
        <p:spPr>
          <a:xfrm>
            <a:off x="5349240" y="2990088"/>
            <a:ext cx="639720" cy="365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1100" b="1" i="0" u="none" strike="noStrike" kern="1200" cap="none" spc="-1" normalizeH="0" baseline="0" noProof="0">
                <a:ln>
                  <a:noFill/>
                </a:ln>
                <a:solidFill>
                  <a:srgbClr val="333333"/>
                </a:solidFill>
                <a:effectLst/>
                <a:uLnTx/>
                <a:uFillTx/>
                <a:latin typeface="Arial"/>
                <a:ea typeface="Arial"/>
                <a:cs typeface="+mn-cs"/>
              </a:rPr>
              <a:t>Blue</a:t>
            </a:r>
            <a:endParaRPr kumimoji="0" lang="en-US" sz="1100" b="0" i="0" u="none" strike="noStrike" kern="1200" cap="none" spc="-1" normalizeH="0" baseline="0" noProof="0">
              <a:ln>
                <a:noFill/>
              </a:ln>
              <a:solidFill>
                <a:srgbClr val="000000"/>
              </a:solidFill>
              <a:effectLst/>
              <a:uLnTx/>
              <a:uFillTx/>
              <a:latin typeface="Arial"/>
              <a:ea typeface="+mn-ea"/>
              <a:cs typeface="+mn-cs"/>
            </a:endParaRPr>
          </a:p>
        </p:txBody>
      </p:sp>
      <p:sp>
        <p:nvSpPr>
          <p:cNvPr id="1003" name="Text 45"/>
          <p:cNvSpPr/>
          <p:nvPr/>
        </p:nvSpPr>
        <p:spPr>
          <a:xfrm>
            <a:off x="6035040" y="2990088"/>
            <a:ext cx="2651400" cy="365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900" b="0" i="0" u="none" strike="noStrike" kern="1200" cap="none" spc="-1" normalizeH="0" baseline="0" noProof="0">
                <a:ln>
                  <a:noFill/>
                </a:ln>
                <a:solidFill>
                  <a:srgbClr val="333333"/>
                </a:solidFill>
                <a:effectLst/>
                <a:uLnTx/>
                <a:uFillTx/>
                <a:latin typeface="Calibri"/>
                <a:ea typeface="Calibri"/>
                <a:cs typeface="+mn-cs"/>
              </a:rPr>
              <a:t>Status is unknown — no monitor assigned or pending</a:t>
            </a:r>
            <a:endParaRPr kumimoji="0" lang="en-US" sz="900" b="0" i="0" u="none" strike="noStrike" kern="1200" cap="none" spc="-1" normalizeH="0" baseline="0" noProof="0">
              <a:ln>
                <a:noFill/>
              </a:ln>
              <a:solidFill>
                <a:srgbClr val="000000"/>
              </a:solidFill>
              <a:effectLst/>
              <a:uLnTx/>
              <a:uFillTx/>
              <a:latin typeface="Arial"/>
              <a:ea typeface="+mn-ea"/>
              <a:cs typeface="+mn-cs"/>
            </a:endParaRPr>
          </a:p>
        </p:txBody>
      </p:sp>
      <p:sp>
        <p:nvSpPr>
          <p:cNvPr id="1004" name="Text 46"/>
          <p:cNvSpPr/>
          <p:nvPr/>
        </p:nvSpPr>
        <p:spPr>
          <a:xfrm>
            <a:off x="457200" y="3493008"/>
            <a:ext cx="45716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1600" b="1" i="0" u="none" strike="noStrike" kern="1200" cap="none" spc="-1" normalizeH="0" baseline="0" noProof="0">
                <a:ln>
                  <a:noFill/>
                </a:ln>
                <a:solidFill>
                  <a:srgbClr val="0E41AA"/>
                </a:solidFill>
                <a:effectLst/>
                <a:uLnTx/>
                <a:uFillTx/>
                <a:latin typeface="Arial"/>
                <a:ea typeface="Arial"/>
                <a:cs typeface="+mn-cs"/>
              </a:rPr>
              <a:t>Key combinations to memorize</a:t>
            </a:r>
            <a:endParaRPr kumimoji="0" lang="en-US" sz="1600" b="0" i="0" u="none" strike="noStrike" kern="1200" cap="none" spc="-1" normalizeH="0" baseline="0" noProof="0">
              <a:ln>
                <a:noFill/>
              </a:ln>
              <a:solidFill>
                <a:srgbClr val="000000"/>
              </a:solidFill>
              <a:effectLst/>
              <a:uLnTx/>
              <a:uFillTx/>
              <a:latin typeface="Arial"/>
              <a:ea typeface="+mn-ea"/>
              <a:cs typeface="+mn-cs"/>
            </a:endParaRPr>
          </a:p>
        </p:txBody>
      </p:sp>
      <p:graphicFrame>
        <p:nvGraphicFramePr>
          <p:cNvPr id="1005" name="Table 0"/>
          <p:cNvGraphicFramePr/>
          <p:nvPr/>
        </p:nvGraphicFramePr>
        <p:xfrm>
          <a:off x="135000" y="3794760"/>
          <a:ext cx="8412480" cy="792480"/>
        </p:xfrm>
        <a:graphic>
          <a:graphicData uri="http://schemas.openxmlformats.org/drawingml/2006/table">
            <a:tbl>
              <a:tblPr/>
              <a:tblGrid>
                <a:gridCol w="54864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gridCol w="3291840">
                  <a:extLst>
                    <a:ext uri="{9D8B030D-6E8A-4147-A177-3AD203B41FA5}">
                      <a16:colId xmlns:a16="http://schemas.microsoft.com/office/drawing/2014/main" val="20003"/>
                    </a:ext>
                  </a:extLst>
                </a:gridCol>
              </a:tblGrid>
              <a:tr h="0">
                <a:tc>
                  <a:txBody>
                    <a:bodyPr/>
                    <a:lstStyle/>
                    <a:p>
                      <a:pPr algn="ctr" defTabSz="914400">
                        <a:lnSpc>
                          <a:spcPct val="100000"/>
                        </a:lnSpc>
                        <a:tabLst>
                          <a:tab pos="0" algn="l"/>
                        </a:tabLst>
                      </a:pPr>
                      <a:r>
                        <a:rPr lang="en-US" sz="800" b="1" strike="noStrike" spc="-1">
                          <a:solidFill>
                            <a:srgbClr val="FFFFFF"/>
                          </a:solidFill>
                          <a:latin typeface="Calibri"/>
                        </a:rPr>
                        <a:t>Icon</a:t>
                      </a:r>
                      <a:endParaRPr lang="en-US" sz="1000" b="0" strike="noStrike" spc="-1">
                        <a:solidFill>
                          <a:srgbClr val="FFFFFF"/>
                        </a:solidFill>
                        <a:latin typeface="Arial"/>
                      </a:endParaRPr>
                    </a:p>
                  </a:txBody>
                  <a:tcPr marL="63360" marR="63360" marT="18288" marB="18288">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E41AA"/>
                    </a:solidFill>
                  </a:tcPr>
                </a:tc>
                <a:tc>
                  <a:txBody>
                    <a:bodyPr/>
                    <a:lstStyle/>
                    <a:p>
                      <a:pPr defTabSz="914400">
                        <a:lnSpc>
                          <a:spcPct val="100000"/>
                        </a:lnSpc>
                        <a:tabLst>
                          <a:tab pos="0" algn="l"/>
                        </a:tabLst>
                      </a:pPr>
                      <a:r>
                        <a:rPr lang="en-US" sz="800" b="1" strike="noStrike" spc="-1">
                          <a:solidFill>
                            <a:srgbClr val="FFFFFF"/>
                          </a:solidFill>
                          <a:latin typeface="Calibri"/>
                        </a:rPr>
                        <a:t>Meaning</a:t>
                      </a:r>
                      <a:endParaRPr lang="en-US" sz="1000" b="0" strike="noStrike" spc="-1">
                        <a:solidFill>
                          <a:srgbClr val="FFFFFF"/>
                        </a:solidFill>
                        <a:latin typeface="Arial"/>
                      </a:endParaRPr>
                    </a:p>
                  </a:txBody>
                  <a:tcPr marL="63360" marR="63360" marT="18288" marB="18288">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E41AA"/>
                    </a:solidFill>
                  </a:tcPr>
                </a:tc>
                <a:tc>
                  <a:txBody>
                    <a:bodyPr/>
                    <a:lstStyle/>
                    <a:p>
                      <a:pPr defTabSz="914400">
                        <a:lnSpc>
                          <a:spcPct val="100000"/>
                        </a:lnSpc>
                        <a:tabLst>
                          <a:tab pos="0" algn="l"/>
                        </a:tabLst>
                      </a:pPr>
                      <a:r>
                        <a:rPr lang="en-US" sz="800" b="1" strike="noStrike" spc="-1">
                          <a:solidFill>
                            <a:srgbClr val="FFFFFF"/>
                          </a:solidFill>
                          <a:latin typeface="Calibri"/>
                        </a:rPr>
                        <a:t>Traffic impact</a:t>
                      </a:r>
                      <a:endParaRPr lang="en-US" sz="1000" b="0" strike="noStrike" spc="-1">
                        <a:solidFill>
                          <a:srgbClr val="FFFFFF"/>
                        </a:solidFill>
                        <a:latin typeface="Arial"/>
                      </a:endParaRPr>
                    </a:p>
                  </a:txBody>
                  <a:tcPr marL="63360" marR="63360" marT="18288" marB="18288">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E41AA"/>
                    </a:solidFill>
                  </a:tcPr>
                </a:tc>
                <a:tc>
                  <a:txBody>
                    <a:bodyPr/>
                    <a:lstStyle/>
                    <a:p>
                      <a:pPr defTabSz="914400">
                        <a:lnSpc>
                          <a:spcPct val="100000"/>
                        </a:lnSpc>
                        <a:tabLst>
                          <a:tab pos="0" algn="l"/>
                        </a:tabLst>
                      </a:pPr>
                      <a:r>
                        <a:rPr lang="en-US" sz="800" b="1" strike="noStrike" spc="-1">
                          <a:solidFill>
                            <a:srgbClr val="FFFFFF"/>
                          </a:solidFill>
                          <a:latin typeface="Calibri"/>
                        </a:rPr>
                        <a:t>Action required</a:t>
                      </a:r>
                      <a:endParaRPr lang="en-US" sz="1000" b="0" strike="noStrike" spc="-1">
                        <a:solidFill>
                          <a:srgbClr val="FFFFFF"/>
                        </a:solidFill>
                        <a:latin typeface="Arial"/>
                      </a:endParaRPr>
                    </a:p>
                  </a:txBody>
                  <a:tcPr marL="63360" marR="63360" marT="18288" marB="18288">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E41AA"/>
                    </a:solidFill>
                  </a:tcPr>
                </a:tc>
                <a:extLst>
                  <a:ext uri="{0D108BD9-81ED-4DB2-BD59-A6C34878D82A}">
                    <a16:rowId xmlns:a16="http://schemas.microsoft.com/office/drawing/2014/main" val="10000"/>
                  </a:ext>
                </a:extLst>
              </a:tr>
              <a:tr h="0">
                <a:tc>
                  <a:txBody>
                    <a:bodyPr/>
                    <a:lstStyle/>
                    <a:p>
                      <a:pPr algn="ctr" defTabSz="914400">
                        <a:lnSpc>
                          <a:spcPct val="100000"/>
                        </a:lnSpc>
                        <a:tabLst>
                          <a:tab pos="0" algn="l"/>
                        </a:tabLst>
                      </a:pPr>
                      <a:r>
                        <a:rPr lang="en-US" sz="800" b="0" strike="noStrike" spc="-1">
                          <a:solidFill>
                            <a:srgbClr val="009639"/>
                          </a:solidFill>
                          <a:latin typeface="Calibri"/>
                        </a:rPr>
                        <a:t>●</a:t>
                      </a:r>
                      <a:endParaRPr lang="en-US" sz="1600" b="0" strike="noStrike" spc="-1">
                        <a:solidFill>
                          <a:srgbClr val="000000"/>
                        </a:solidFill>
                        <a:latin typeface="Arial"/>
                      </a:endParaRPr>
                    </a:p>
                  </a:txBody>
                  <a:tcPr marL="63360" marR="63360" marT="18288" marB="18288">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800" b="1" strike="noStrike" spc="-1">
                          <a:solidFill>
                            <a:srgbClr val="000000"/>
                          </a:solidFill>
                          <a:latin typeface="Calibri"/>
                        </a:rPr>
                        <a:t>Available (green circle)</a:t>
                      </a:r>
                      <a:endParaRPr lang="en-US" sz="1000" b="0" strike="noStrike" spc="-1">
                        <a:solidFill>
                          <a:srgbClr val="000000"/>
                        </a:solidFill>
                        <a:latin typeface="Arial"/>
                      </a:endParaRPr>
                    </a:p>
                  </a:txBody>
                  <a:tcPr marL="63360" marR="63360" marT="18288" marB="18288">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800" b="0" strike="noStrike" spc="-1">
                          <a:solidFill>
                            <a:srgbClr val="000000"/>
                          </a:solidFill>
                          <a:latin typeface="Calibri"/>
                        </a:rPr>
                        <a:t>Receiving traffic normally</a:t>
                      </a:r>
                      <a:endParaRPr lang="en-US" sz="1000" b="0" strike="noStrike" spc="-1">
                        <a:solidFill>
                          <a:srgbClr val="000000"/>
                        </a:solidFill>
                        <a:latin typeface="Arial"/>
                      </a:endParaRPr>
                    </a:p>
                  </a:txBody>
                  <a:tcPr marL="63360" marR="63360" marT="18288" marB="18288">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800" b="0" strike="noStrike" spc="-1">
                          <a:solidFill>
                            <a:srgbClr val="009639"/>
                          </a:solidFill>
                          <a:latin typeface="Calibri"/>
                        </a:rPr>
                        <a:t>None — healthy state</a:t>
                      </a:r>
                      <a:endParaRPr lang="en-US" sz="1000" b="0" strike="noStrike" spc="-1">
                        <a:solidFill>
                          <a:srgbClr val="000000"/>
                        </a:solidFill>
                        <a:latin typeface="Arial"/>
                      </a:endParaRPr>
                    </a:p>
                  </a:txBody>
                  <a:tcPr marL="63360" marR="63360" marT="18288" marB="18288">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1"/>
                  </a:ext>
                </a:extLst>
              </a:tr>
              <a:tr h="0">
                <a:tc>
                  <a:txBody>
                    <a:bodyPr/>
                    <a:lstStyle/>
                    <a:p>
                      <a:pPr algn="ctr" defTabSz="914400">
                        <a:lnSpc>
                          <a:spcPct val="100000"/>
                        </a:lnSpc>
                        <a:tabLst>
                          <a:tab pos="0" algn="l"/>
                        </a:tabLst>
                      </a:pPr>
                      <a:r>
                        <a:rPr lang="en-US" sz="800" b="0" strike="noStrike" spc="-1">
                          <a:solidFill>
                            <a:srgbClr val="0E41AA"/>
                          </a:solidFill>
                          <a:latin typeface="Calibri"/>
                        </a:rPr>
                        <a:t>■</a:t>
                      </a:r>
                      <a:endParaRPr lang="en-US" sz="1600" b="0" strike="noStrike" spc="-1">
                        <a:solidFill>
                          <a:srgbClr val="000000"/>
                        </a:solidFill>
                        <a:latin typeface="Arial"/>
                      </a:endParaRPr>
                    </a:p>
                  </a:txBody>
                  <a:tcPr marL="63360" marR="63360" marT="18288" marB="18288">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800" b="1" strike="noStrike" spc="-1">
                          <a:solidFill>
                            <a:srgbClr val="000000"/>
                          </a:solidFill>
                          <a:latin typeface="Calibri"/>
                        </a:rPr>
                        <a:t>Unknown (blue square)</a:t>
                      </a:r>
                      <a:endParaRPr lang="en-US" sz="1000" b="0" strike="noStrike" spc="-1">
                        <a:solidFill>
                          <a:srgbClr val="000000"/>
                        </a:solidFill>
                        <a:latin typeface="Arial"/>
                      </a:endParaRPr>
                    </a:p>
                  </a:txBody>
                  <a:tcPr marL="63360" marR="63360" marT="18288" marB="18288">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800" b="0" strike="noStrike" spc="-1">
                          <a:solidFill>
                            <a:srgbClr val="000000"/>
                          </a:solidFill>
                          <a:latin typeface="Calibri"/>
                        </a:rPr>
                        <a:t>Receiving traffic (treated as available)</a:t>
                      </a:r>
                      <a:endParaRPr lang="en-US" sz="1000" b="0" strike="noStrike" spc="-1">
                        <a:solidFill>
                          <a:srgbClr val="000000"/>
                        </a:solidFill>
                        <a:latin typeface="Arial"/>
                      </a:endParaRPr>
                    </a:p>
                  </a:txBody>
                  <a:tcPr marL="63360" marR="63360" marT="18288" marB="18288">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800" b="0" strike="noStrike" spc="-1">
                          <a:solidFill>
                            <a:srgbClr val="F29A36"/>
                          </a:solidFill>
                          <a:latin typeface="Calibri"/>
                        </a:rPr>
                        <a:t>Assign a monitor for visibility</a:t>
                      </a:r>
                      <a:endParaRPr lang="en-US" sz="1000" b="0" strike="noStrike" spc="-1">
                        <a:solidFill>
                          <a:srgbClr val="000000"/>
                        </a:solidFill>
                        <a:latin typeface="Arial"/>
                      </a:endParaRPr>
                    </a:p>
                  </a:txBody>
                  <a:tcPr marL="63360" marR="63360" marT="18288" marB="18288">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2"/>
                  </a:ext>
                </a:extLst>
              </a:tr>
              <a:tr h="0">
                <a:tc>
                  <a:txBody>
                    <a:bodyPr/>
                    <a:lstStyle/>
                    <a:p>
                      <a:pPr algn="ctr" defTabSz="914400">
                        <a:lnSpc>
                          <a:spcPct val="100000"/>
                        </a:lnSpc>
                        <a:tabLst>
                          <a:tab pos="0" algn="l"/>
                        </a:tabLst>
                      </a:pPr>
                      <a:r>
                        <a:rPr lang="en-US" sz="800" b="0" strike="noStrike" spc="-1">
                          <a:solidFill>
                            <a:srgbClr val="E4002B"/>
                          </a:solidFill>
                          <a:latin typeface="Calibri"/>
                        </a:rPr>
                        <a:t>◆</a:t>
                      </a:r>
                      <a:endParaRPr lang="en-US" sz="1600" b="0" strike="noStrike" spc="-1">
                        <a:solidFill>
                          <a:srgbClr val="000000"/>
                        </a:solidFill>
                        <a:latin typeface="Arial"/>
                      </a:endParaRPr>
                    </a:p>
                  </a:txBody>
                  <a:tcPr marL="63360" marR="63360" marT="18288" marB="18288">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800" b="1" strike="noStrike" spc="-1">
                          <a:solidFill>
                            <a:srgbClr val="000000"/>
                          </a:solidFill>
                          <a:latin typeface="Calibri"/>
                        </a:rPr>
                        <a:t>Offline — Enabled (red diamond)</a:t>
                      </a:r>
                      <a:endParaRPr lang="en-US" sz="1000" b="0" strike="noStrike" spc="-1">
                        <a:solidFill>
                          <a:srgbClr val="000000"/>
                        </a:solidFill>
                        <a:latin typeface="Arial"/>
                      </a:endParaRPr>
                    </a:p>
                  </a:txBody>
                  <a:tcPr marL="63360" marR="63360" marT="18288" marB="18288">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800" b="0" strike="noStrike" spc="-1">
                          <a:solidFill>
                            <a:srgbClr val="E4002B"/>
                          </a:solidFill>
                          <a:latin typeface="Calibri"/>
                        </a:rPr>
                        <a:t>NO new traffic. BIG-IP sends RST.</a:t>
                      </a:r>
                      <a:endParaRPr lang="en-US" sz="1000" b="0" strike="noStrike" spc="-1">
                        <a:solidFill>
                          <a:srgbClr val="000000"/>
                        </a:solidFill>
                        <a:latin typeface="Arial"/>
                      </a:endParaRPr>
                    </a:p>
                  </a:txBody>
                  <a:tcPr marL="63360" marR="63360" marT="18288" marB="18288">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800" b="0" strike="noStrike" spc="-1">
                          <a:solidFill>
                            <a:srgbClr val="E4002B"/>
                          </a:solidFill>
                          <a:latin typeface="Calibri"/>
                        </a:rPr>
                        <a:t>Investigate monitor failure / server health</a:t>
                      </a:r>
                      <a:endParaRPr lang="en-US" sz="1000" b="0" strike="noStrike" spc="-1">
                        <a:solidFill>
                          <a:srgbClr val="000000"/>
                        </a:solidFill>
                        <a:latin typeface="Arial"/>
                      </a:endParaRPr>
                    </a:p>
                  </a:txBody>
                  <a:tcPr marL="63360" marR="63360" marT="18288" marB="18288">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3"/>
                  </a:ext>
                </a:extLst>
              </a:tr>
              <a:tr h="0">
                <a:tc>
                  <a:txBody>
                    <a:bodyPr/>
                    <a:lstStyle/>
                    <a:p>
                      <a:pPr algn="ctr" defTabSz="914400">
                        <a:lnSpc>
                          <a:spcPct val="100000"/>
                        </a:lnSpc>
                        <a:tabLst>
                          <a:tab pos="0" algn="l"/>
                        </a:tabLst>
                      </a:pPr>
                      <a:r>
                        <a:rPr lang="en-US" sz="800" b="0" strike="noStrike" spc="-1">
                          <a:solidFill>
                            <a:srgbClr val="3B3B3B"/>
                          </a:solidFill>
                          <a:latin typeface="Calibri"/>
                        </a:rPr>
                        <a:t>◆</a:t>
                      </a:r>
                      <a:endParaRPr lang="en-US" sz="1600" b="0" strike="noStrike" spc="-1">
                        <a:solidFill>
                          <a:srgbClr val="000000"/>
                        </a:solidFill>
                        <a:latin typeface="Arial"/>
                      </a:endParaRPr>
                    </a:p>
                  </a:txBody>
                  <a:tcPr marL="63360" marR="63360" marT="18288" marB="18288">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800" b="1" strike="noStrike" spc="-1">
                          <a:solidFill>
                            <a:srgbClr val="000000"/>
                          </a:solidFill>
                          <a:latin typeface="Calibri"/>
                        </a:rPr>
                        <a:t>Disabled (black diamond)</a:t>
                      </a:r>
                      <a:endParaRPr lang="en-US" sz="1000" b="0" strike="noStrike" spc="-1">
                        <a:solidFill>
                          <a:srgbClr val="000000"/>
                        </a:solidFill>
                        <a:latin typeface="Arial"/>
                      </a:endParaRPr>
                    </a:p>
                  </a:txBody>
                  <a:tcPr marL="63360" marR="63360" marT="18288" marB="18288">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800" b="0" strike="noStrike" spc="-1">
                          <a:solidFill>
                            <a:srgbClr val="E4002B"/>
                          </a:solidFill>
                          <a:latin typeface="Calibri"/>
                        </a:rPr>
                        <a:t>NO new traffic. Existing conns continue.</a:t>
                      </a:r>
                      <a:endParaRPr lang="en-US" sz="1000" b="0" strike="noStrike" spc="-1">
                        <a:solidFill>
                          <a:srgbClr val="000000"/>
                        </a:solidFill>
                        <a:latin typeface="Arial"/>
                      </a:endParaRPr>
                    </a:p>
                  </a:txBody>
                  <a:tcPr marL="63360" marR="63360" marT="18288" marB="18288">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800" b="0" strike="noStrike" spc="-1">
                          <a:solidFill>
                            <a:srgbClr val="000000"/>
                          </a:solidFill>
                          <a:latin typeface="Calibri"/>
                        </a:rPr>
                        <a:t>Admin chose to disable — intentional</a:t>
                      </a:r>
                      <a:endParaRPr lang="en-US" sz="1000" b="0" strike="noStrike" spc="-1">
                        <a:solidFill>
                          <a:srgbClr val="000000"/>
                        </a:solidFill>
                        <a:latin typeface="Arial"/>
                      </a:endParaRPr>
                    </a:p>
                  </a:txBody>
                  <a:tcPr marL="63360" marR="63360" marT="18288" marB="18288">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6"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007"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008"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009"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010"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011"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43    © 2026 F5</a:t>
            </a:r>
            <a:endParaRPr lang="en-US" sz="800" b="0" strike="noStrike" spc="-1">
              <a:solidFill>
                <a:srgbClr val="000000"/>
              </a:solidFill>
              <a:latin typeface="Arial"/>
            </a:endParaRPr>
          </a:p>
        </p:txBody>
      </p:sp>
      <p:pic>
        <p:nvPicPr>
          <p:cNvPr id="1012" name="Image 0" descr="preencoded.png"/>
          <p:cNvPicPr/>
          <p:nvPr/>
        </p:nvPicPr>
        <p:blipFill>
          <a:blip r:embed="rId3"/>
          <a:stretch/>
        </p:blipFill>
        <p:spPr>
          <a:xfrm>
            <a:off x="8458200" y="4663440"/>
            <a:ext cx="383760" cy="383760"/>
          </a:xfrm>
          <a:prstGeom prst="rect">
            <a:avLst/>
          </a:prstGeom>
          <a:ln w="0">
            <a:noFill/>
          </a:ln>
        </p:spPr>
      </p:pic>
      <p:sp>
        <p:nvSpPr>
          <p:cNvPr id="1013" name="Text 6"/>
          <p:cNvSpPr/>
          <p:nvPr/>
        </p:nvSpPr>
        <p:spPr>
          <a:xfrm>
            <a:off x="457200" y="274320"/>
            <a:ext cx="82292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Status cascade and state behavior</a:t>
            </a:r>
            <a:endParaRPr lang="en-US" sz="2800" b="0" strike="noStrike" spc="-1">
              <a:solidFill>
                <a:srgbClr val="000000"/>
              </a:solidFill>
              <a:latin typeface="Arial"/>
            </a:endParaRPr>
          </a:p>
        </p:txBody>
      </p:sp>
      <p:sp>
        <p:nvSpPr>
          <p:cNvPr id="1014" name="Text 7"/>
          <p:cNvSpPr/>
          <p:nvPr/>
        </p:nvSpPr>
        <p:spPr>
          <a:xfrm>
            <a:off x="457200" y="658440"/>
            <a:ext cx="82292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strike="noStrike" spc="-1">
                <a:solidFill>
                  <a:srgbClr val="666666"/>
                </a:solidFill>
                <a:latin typeface="Calibri"/>
                <a:ea typeface="Calibri"/>
              </a:rPr>
              <a:t>Monitor results cascade upward: member → pool → virtual server</a:t>
            </a:r>
            <a:endParaRPr lang="en-US" sz="1300" b="0" strike="noStrike" spc="-1">
              <a:solidFill>
                <a:srgbClr val="000000"/>
              </a:solidFill>
              <a:latin typeface="Arial"/>
            </a:endParaRPr>
          </a:p>
        </p:txBody>
      </p:sp>
      <p:sp>
        <p:nvSpPr>
          <p:cNvPr id="1015" name="Text 8"/>
          <p:cNvSpPr/>
          <p:nvPr/>
        </p:nvSpPr>
        <p:spPr>
          <a:xfrm>
            <a:off x="457200" y="1005840"/>
            <a:ext cx="3657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strike="noStrike" spc="-1">
                <a:solidFill>
                  <a:srgbClr val="0E41AA"/>
                </a:solidFill>
                <a:latin typeface="Arial"/>
                <a:ea typeface="Arial"/>
              </a:rPr>
              <a:t>Cascade rules</a:t>
            </a:r>
            <a:endParaRPr lang="en-US" sz="1600" b="0" strike="noStrike" spc="-1">
              <a:solidFill>
                <a:srgbClr val="000000"/>
              </a:solidFill>
              <a:latin typeface="Arial"/>
            </a:endParaRPr>
          </a:p>
        </p:txBody>
      </p:sp>
      <p:sp>
        <p:nvSpPr>
          <p:cNvPr id="1016" name="Text 9"/>
          <p:cNvSpPr/>
          <p:nvPr/>
        </p:nvSpPr>
        <p:spPr>
          <a:xfrm>
            <a:off x="457200" y="1280160"/>
            <a:ext cx="4114440" cy="2011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100" b="1" strike="noStrike" spc="-1">
                <a:solidFill>
                  <a:srgbClr val="333333"/>
                </a:solidFill>
                <a:latin typeface="Calibri"/>
                <a:ea typeface="Calibri"/>
              </a:rPr>
              <a:t>Pool status = combined member status</a:t>
            </a:r>
            <a:endParaRPr lang="en-US" sz="1100" b="0" strike="noStrike" spc="-1">
              <a:solidFill>
                <a:srgbClr val="000000"/>
              </a:solidFill>
              <a:latin typeface="Arial"/>
            </a:endParaRPr>
          </a:p>
          <a:p>
            <a:pPr defTabSz="914400">
              <a:lnSpc>
                <a:spcPct val="100000"/>
              </a:lnSpc>
              <a:tabLst>
                <a:tab pos="0" algn="l"/>
              </a:tabLst>
            </a:pPr>
            <a:r>
              <a:rPr lang="en-US" sz="1000" b="0" strike="noStrike" spc="-1">
                <a:solidFill>
                  <a:srgbClr val="666666"/>
                </a:solidFill>
                <a:latin typeface="Calibri"/>
                <a:ea typeface="Calibri"/>
              </a:rPr>
              <a:t>If ANY member is available → pool is available</a:t>
            </a:r>
            <a:endParaRPr lang="en-US" sz="1000" b="0" strike="noStrike" spc="-1">
              <a:solidFill>
                <a:srgbClr val="000000"/>
              </a:solidFill>
              <a:latin typeface="Arial"/>
            </a:endParaRPr>
          </a:p>
          <a:p>
            <a:pPr defTabSz="914400">
              <a:lnSpc>
                <a:spcPct val="100000"/>
              </a:lnSpc>
              <a:tabLst>
                <a:tab pos="0" algn="l"/>
              </a:tabLst>
            </a:pPr>
            <a:r>
              <a:rPr lang="en-US" sz="1000" b="0" strike="noStrike" spc="-1">
                <a:solidFill>
                  <a:srgbClr val="666666"/>
                </a:solidFill>
                <a:latin typeface="Calibri"/>
                <a:ea typeface="Calibri"/>
              </a:rPr>
              <a:t>If ALL members are down → pool is offline</a:t>
            </a:r>
            <a:endParaRPr lang="en-US" sz="1000" b="0" strike="noStrike" spc="-1">
              <a:solidFill>
                <a:srgbClr val="000000"/>
              </a:solidFill>
              <a:latin typeface="Arial"/>
            </a:endParaRPr>
          </a:p>
          <a:p>
            <a:pPr defTabSz="914400">
              <a:lnSpc>
                <a:spcPct val="100000"/>
              </a:lnSpc>
              <a:tabLst>
                <a:tab pos="0" algn="l"/>
              </a:tabLst>
            </a:pPr>
            <a:endParaRPr lang="en-US" sz="1100" b="0" strike="noStrike" spc="-1">
              <a:solidFill>
                <a:srgbClr val="000000"/>
              </a:solidFill>
              <a:latin typeface="Arial"/>
            </a:endParaRPr>
          </a:p>
          <a:p>
            <a:pPr defTabSz="914400">
              <a:lnSpc>
                <a:spcPct val="100000"/>
              </a:lnSpc>
              <a:tabLst>
                <a:tab pos="0" algn="l"/>
              </a:tabLst>
            </a:pPr>
            <a:r>
              <a:rPr lang="en-US" sz="1100" b="1" strike="noStrike" spc="-1">
                <a:solidFill>
                  <a:srgbClr val="333333"/>
                </a:solidFill>
                <a:latin typeface="Calibri"/>
                <a:ea typeface="Calibri"/>
              </a:rPr>
              <a:t>VS status depends on its default pool</a:t>
            </a:r>
            <a:endParaRPr lang="en-US" sz="1100" b="0" strike="noStrike" spc="-1">
              <a:solidFill>
                <a:srgbClr val="000000"/>
              </a:solidFill>
              <a:latin typeface="Arial"/>
            </a:endParaRPr>
          </a:p>
          <a:p>
            <a:pPr defTabSz="914400">
              <a:lnSpc>
                <a:spcPct val="100000"/>
              </a:lnSpc>
              <a:tabLst>
                <a:tab pos="0" algn="l"/>
              </a:tabLst>
            </a:pPr>
            <a:r>
              <a:rPr lang="en-US" sz="1000" b="0" strike="noStrike" spc="-1">
                <a:solidFill>
                  <a:srgbClr val="666666"/>
                </a:solidFill>
                <a:latin typeface="Calibri"/>
                <a:ea typeface="Calibri"/>
              </a:rPr>
              <a:t>If default pool is offline → VS shows offline (red)</a:t>
            </a:r>
            <a:endParaRPr lang="en-US" sz="1000" b="0" strike="noStrike" spc="-1">
              <a:solidFill>
                <a:srgbClr val="000000"/>
              </a:solidFill>
              <a:latin typeface="Arial"/>
            </a:endParaRPr>
          </a:p>
          <a:p>
            <a:pPr defTabSz="914400">
              <a:lnSpc>
                <a:spcPct val="100000"/>
              </a:lnSpc>
              <a:tabLst>
                <a:tab pos="0" algn="l"/>
              </a:tabLst>
            </a:pPr>
            <a:r>
              <a:rPr lang="en-US" sz="1000" b="0" strike="noStrike" spc="-1">
                <a:solidFill>
                  <a:srgbClr val="666666"/>
                </a:solidFill>
                <a:latin typeface="Calibri"/>
                <a:ea typeface="Calibri"/>
              </a:rPr>
              <a:t>Traffic to the VS gets a TCP RST</a:t>
            </a:r>
            <a:endParaRPr lang="en-US" sz="1000" b="0" strike="noStrike" spc="-1">
              <a:solidFill>
                <a:srgbClr val="000000"/>
              </a:solidFill>
              <a:latin typeface="Arial"/>
            </a:endParaRPr>
          </a:p>
          <a:p>
            <a:pPr defTabSz="914400">
              <a:lnSpc>
                <a:spcPct val="100000"/>
              </a:lnSpc>
              <a:tabLst>
                <a:tab pos="0" algn="l"/>
              </a:tabLst>
            </a:pPr>
            <a:endParaRPr lang="en-US" sz="1100" b="0" strike="noStrike" spc="-1">
              <a:solidFill>
                <a:srgbClr val="000000"/>
              </a:solidFill>
              <a:latin typeface="Arial"/>
            </a:endParaRPr>
          </a:p>
          <a:p>
            <a:pPr defTabSz="914400">
              <a:lnSpc>
                <a:spcPct val="100000"/>
              </a:lnSpc>
              <a:tabLst>
                <a:tab pos="0" algn="l"/>
              </a:tabLst>
            </a:pPr>
            <a:r>
              <a:rPr lang="en-US" sz="1100" b="1" strike="noStrike" spc="-1">
                <a:solidFill>
                  <a:srgbClr val="333333"/>
                </a:solidFill>
                <a:latin typeface="Calibri"/>
                <a:ea typeface="Calibri"/>
              </a:rPr>
              <a:t>Node status affects ALL pools</a:t>
            </a:r>
            <a:endParaRPr lang="en-US" sz="1100" b="0" strike="noStrike" spc="-1">
              <a:solidFill>
                <a:srgbClr val="000000"/>
              </a:solidFill>
              <a:latin typeface="Arial"/>
            </a:endParaRPr>
          </a:p>
          <a:p>
            <a:pPr defTabSz="914400">
              <a:lnSpc>
                <a:spcPct val="100000"/>
              </a:lnSpc>
              <a:tabLst>
                <a:tab pos="0" algn="l"/>
              </a:tabLst>
            </a:pPr>
            <a:r>
              <a:rPr lang="en-US" sz="1000" b="0" strike="noStrike" spc="-1">
                <a:solidFill>
                  <a:srgbClr val="666666"/>
                </a:solidFill>
                <a:latin typeface="Calibri"/>
                <a:ea typeface="Calibri"/>
              </a:rPr>
              <a:t>A node monitor (ICMP) marks the node DOWN → ALL pool members using that node IP are marked DOWN across every pool.</a:t>
            </a:r>
            <a:endParaRPr lang="en-US" sz="1000" b="0" strike="noStrike" spc="-1">
              <a:solidFill>
                <a:srgbClr val="000000"/>
              </a:solidFill>
              <a:latin typeface="Arial"/>
            </a:endParaRPr>
          </a:p>
        </p:txBody>
      </p:sp>
      <p:sp>
        <p:nvSpPr>
          <p:cNvPr id="1017" name="Text 10"/>
          <p:cNvSpPr/>
          <p:nvPr/>
        </p:nvSpPr>
        <p:spPr>
          <a:xfrm>
            <a:off x="4846320" y="1005840"/>
            <a:ext cx="3931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strike="noStrike" spc="-1">
                <a:solidFill>
                  <a:srgbClr val="E4002B"/>
                </a:solidFill>
                <a:latin typeface="Arial"/>
                <a:ea typeface="Arial"/>
              </a:rPr>
              <a:t>Disabled vs Offline</a:t>
            </a:r>
            <a:endParaRPr lang="en-US" sz="1600" b="0" strike="noStrike" spc="-1">
              <a:solidFill>
                <a:srgbClr val="000000"/>
              </a:solidFill>
              <a:latin typeface="Arial"/>
            </a:endParaRPr>
          </a:p>
        </p:txBody>
      </p:sp>
      <p:graphicFrame>
        <p:nvGraphicFramePr>
          <p:cNvPr id="1018" name="Table 0"/>
          <p:cNvGraphicFramePr/>
          <p:nvPr/>
        </p:nvGraphicFramePr>
        <p:xfrm>
          <a:off x="4846320" y="1280160"/>
          <a:ext cx="3931920" cy="1828800"/>
        </p:xfrm>
        <a:graphic>
          <a:graphicData uri="http://schemas.openxmlformats.org/drawingml/2006/table">
            <a:tbl>
              <a:tblPr/>
              <a:tblGrid>
                <a:gridCol w="10058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0">
                <a:tc>
                  <a:txBody>
                    <a:bodyPr/>
                    <a:lstStyle/>
                    <a:p>
                      <a:pPr defTabSz="914400">
                        <a:lnSpc>
                          <a:spcPct val="100000"/>
                        </a:lnSpc>
                        <a:tabLst>
                          <a:tab pos="0" algn="l"/>
                        </a:tabLst>
                      </a:pPr>
                      <a:endParaRPr lang="en-US" sz="900" b="0" strike="noStrike" spc="-1">
                        <a:solidFill>
                          <a:schemeClr val="dk1"/>
                        </a:solidFill>
                        <a:latin typeface="Calibri"/>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E4002B"/>
                    </a:solidFill>
                  </a:tcPr>
                </a:tc>
                <a:tc>
                  <a:txBody>
                    <a:bodyPr/>
                    <a:lstStyle/>
                    <a:p>
                      <a:pPr defTabSz="914400">
                        <a:lnSpc>
                          <a:spcPct val="100000"/>
                        </a:lnSpc>
                        <a:tabLst>
                          <a:tab pos="0" algn="l"/>
                        </a:tabLst>
                      </a:pPr>
                      <a:r>
                        <a:rPr lang="en-US" sz="900" b="1" strike="noStrike" spc="-1">
                          <a:solidFill>
                            <a:srgbClr val="FFFFFF"/>
                          </a:solidFill>
                          <a:latin typeface="Calibri"/>
                        </a:rPr>
                        <a:t>Disabled (admin)</a:t>
                      </a:r>
                      <a:endParaRPr lang="en-US" sz="900" b="0" strike="noStrike" spc="-1">
                        <a:solidFill>
                          <a:srgbClr val="FFFFFF"/>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E4002B"/>
                    </a:solidFill>
                  </a:tcPr>
                </a:tc>
                <a:tc>
                  <a:txBody>
                    <a:bodyPr/>
                    <a:lstStyle/>
                    <a:p>
                      <a:pPr defTabSz="914400">
                        <a:lnSpc>
                          <a:spcPct val="100000"/>
                        </a:lnSpc>
                        <a:tabLst>
                          <a:tab pos="0" algn="l"/>
                        </a:tabLst>
                      </a:pPr>
                      <a:r>
                        <a:rPr lang="en-US" sz="900" b="1" strike="noStrike" spc="-1">
                          <a:solidFill>
                            <a:srgbClr val="FFFFFF"/>
                          </a:solidFill>
                          <a:latin typeface="Calibri"/>
                        </a:rPr>
                        <a:t>Offline (monitor)</a:t>
                      </a:r>
                      <a:endParaRPr lang="en-US" sz="900" b="0" strike="noStrike" spc="-1">
                        <a:solidFill>
                          <a:srgbClr val="FFFFFF"/>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E4002B"/>
                    </a:solidFill>
                  </a:tcPr>
                </a:tc>
                <a:extLst>
                  <a:ext uri="{0D108BD9-81ED-4DB2-BD59-A6C34878D82A}">
                    <a16:rowId xmlns:a16="http://schemas.microsoft.com/office/drawing/2014/main" val="10000"/>
                  </a:ext>
                </a:extLst>
              </a:tr>
              <a:tr h="0">
                <a:tc>
                  <a:txBody>
                    <a:bodyPr/>
                    <a:lstStyle/>
                    <a:p>
                      <a:pPr defTabSz="914400">
                        <a:lnSpc>
                          <a:spcPct val="100000"/>
                        </a:lnSpc>
                        <a:tabLst>
                          <a:tab pos="0" algn="l"/>
                        </a:tabLst>
                      </a:pPr>
                      <a:r>
                        <a:rPr lang="en-US" sz="900" b="1" strike="noStrike" spc="-1">
                          <a:solidFill>
                            <a:srgbClr val="000000"/>
                          </a:solidFill>
                          <a:latin typeface="Calibri"/>
                        </a:rPr>
                        <a:t>Cause</a:t>
                      </a:r>
                      <a:endParaRPr lang="en-US" sz="9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Admin action</a:t>
                      </a:r>
                      <a:endParaRPr lang="en-US" sz="9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Monitor failure</a:t>
                      </a:r>
                      <a:endParaRPr lang="en-US" sz="9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1"/>
                  </a:ext>
                </a:extLst>
              </a:tr>
              <a:tr h="0">
                <a:tc>
                  <a:txBody>
                    <a:bodyPr/>
                    <a:lstStyle/>
                    <a:p>
                      <a:pPr defTabSz="914400">
                        <a:lnSpc>
                          <a:spcPct val="100000"/>
                        </a:lnSpc>
                        <a:tabLst>
                          <a:tab pos="0" algn="l"/>
                        </a:tabLst>
                      </a:pPr>
                      <a:r>
                        <a:rPr lang="en-US" sz="900" b="1" strike="noStrike" spc="-1">
                          <a:solidFill>
                            <a:srgbClr val="000000"/>
                          </a:solidFill>
                          <a:latin typeface="Calibri"/>
                        </a:rPr>
                        <a:t>Icon</a:t>
                      </a:r>
                      <a:endParaRPr lang="en-US" sz="9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 Black diamond</a:t>
                      </a:r>
                      <a:endParaRPr lang="en-US" sz="9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E4002B"/>
                          </a:solidFill>
                          <a:latin typeface="Calibri"/>
                        </a:rPr>
                        <a:t>◆ Red diamond</a:t>
                      </a:r>
                      <a:endParaRPr lang="en-US" sz="9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2"/>
                  </a:ext>
                </a:extLst>
              </a:tr>
              <a:tr h="0">
                <a:tc>
                  <a:txBody>
                    <a:bodyPr/>
                    <a:lstStyle/>
                    <a:p>
                      <a:pPr defTabSz="914400">
                        <a:lnSpc>
                          <a:spcPct val="100000"/>
                        </a:lnSpc>
                        <a:tabLst>
                          <a:tab pos="0" algn="l"/>
                        </a:tabLst>
                      </a:pPr>
                      <a:r>
                        <a:rPr lang="en-US" sz="900" b="1" strike="noStrike" spc="-1">
                          <a:solidFill>
                            <a:srgbClr val="000000"/>
                          </a:solidFill>
                          <a:latin typeface="Calibri"/>
                        </a:rPr>
                        <a:t>Existing conns</a:t>
                      </a:r>
                      <a:endParaRPr lang="en-US" sz="9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9639"/>
                          </a:solidFill>
                          <a:latin typeface="Calibri"/>
                        </a:rPr>
                        <a:t>Continue</a:t>
                      </a:r>
                      <a:endParaRPr lang="en-US" sz="9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9639"/>
                          </a:solidFill>
                          <a:latin typeface="Calibri"/>
                        </a:rPr>
                        <a:t>Continue</a:t>
                      </a:r>
                      <a:endParaRPr lang="en-US" sz="9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3"/>
                  </a:ext>
                </a:extLst>
              </a:tr>
              <a:tr h="0">
                <a:tc>
                  <a:txBody>
                    <a:bodyPr/>
                    <a:lstStyle/>
                    <a:p>
                      <a:pPr defTabSz="914400">
                        <a:lnSpc>
                          <a:spcPct val="100000"/>
                        </a:lnSpc>
                        <a:tabLst>
                          <a:tab pos="0" algn="l"/>
                        </a:tabLst>
                      </a:pPr>
                      <a:r>
                        <a:rPr lang="en-US" sz="900" b="1" strike="noStrike" spc="-1">
                          <a:solidFill>
                            <a:srgbClr val="000000"/>
                          </a:solidFill>
                          <a:latin typeface="Calibri"/>
                        </a:rPr>
                        <a:t>New conns</a:t>
                      </a:r>
                      <a:endParaRPr lang="en-US" sz="9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E4002B"/>
                          </a:solidFill>
                          <a:latin typeface="Calibri"/>
                        </a:rPr>
                        <a:t>Refused (silent drop)</a:t>
                      </a:r>
                      <a:endParaRPr lang="en-US" sz="9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E4002B"/>
                          </a:solidFill>
                          <a:latin typeface="Calibri"/>
                        </a:rPr>
                        <a:t>Refused (RST sent)</a:t>
                      </a:r>
                      <a:endParaRPr lang="en-US" sz="9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4"/>
                  </a:ext>
                </a:extLst>
              </a:tr>
              <a:tr h="0">
                <a:tc>
                  <a:txBody>
                    <a:bodyPr/>
                    <a:lstStyle/>
                    <a:p>
                      <a:pPr defTabSz="914400">
                        <a:lnSpc>
                          <a:spcPct val="100000"/>
                        </a:lnSpc>
                        <a:tabLst>
                          <a:tab pos="0" algn="l"/>
                        </a:tabLst>
                      </a:pPr>
                      <a:r>
                        <a:rPr lang="en-US" sz="900" b="1" strike="noStrike" spc="-1">
                          <a:solidFill>
                            <a:srgbClr val="000000"/>
                          </a:solidFill>
                          <a:latin typeface="Calibri"/>
                        </a:rPr>
                        <a:t>Persistence</a:t>
                      </a:r>
                      <a:endParaRPr lang="en-US" sz="9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Honored</a:t>
                      </a:r>
                      <a:endParaRPr lang="en-US" sz="9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Honored</a:t>
                      </a:r>
                      <a:endParaRPr lang="en-US" sz="9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5"/>
                  </a:ext>
                </a:extLst>
              </a:tr>
              <a:tr h="0">
                <a:tc>
                  <a:txBody>
                    <a:bodyPr/>
                    <a:lstStyle/>
                    <a:p>
                      <a:pPr defTabSz="914400">
                        <a:lnSpc>
                          <a:spcPct val="100000"/>
                        </a:lnSpc>
                        <a:tabLst>
                          <a:tab pos="0" algn="l"/>
                        </a:tabLst>
                      </a:pPr>
                      <a:r>
                        <a:rPr lang="en-US" sz="900" b="1" strike="noStrike" spc="-1">
                          <a:solidFill>
                            <a:srgbClr val="000000"/>
                          </a:solidFill>
                          <a:latin typeface="Calibri"/>
                        </a:rPr>
                        <a:t>tcpdump</a:t>
                      </a:r>
                      <a:endParaRPr lang="en-US" sz="9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ourier New"/>
                          <a:ea typeface="Courier New"/>
                        </a:rPr>
                        <a:t>SYN in, no response</a:t>
                      </a:r>
                      <a:endParaRPr lang="en-US" sz="9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ourier New"/>
                          <a:ea typeface="Courier New"/>
                        </a:rPr>
                        <a:t>SYN in, RST out</a:t>
                      </a:r>
                      <a:endParaRPr lang="en-US" sz="9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6"/>
                  </a:ext>
                </a:extLst>
              </a:tr>
              <a:tr h="0">
                <a:tc>
                  <a:txBody>
                    <a:bodyPr/>
                    <a:lstStyle/>
                    <a:p>
                      <a:pPr defTabSz="914400">
                        <a:lnSpc>
                          <a:spcPct val="100000"/>
                        </a:lnSpc>
                        <a:tabLst>
                          <a:tab pos="0" algn="l"/>
                        </a:tabLst>
                      </a:pPr>
                      <a:r>
                        <a:rPr lang="en-US" sz="900" b="1" strike="noStrike" spc="-1">
                          <a:solidFill>
                            <a:srgbClr val="000000"/>
                          </a:solidFill>
                          <a:latin typeface="Calibri"/>
                        </a:rPr>
                        <a:t>Ping VIP</a:t>
                      </a:r>
                      <a:endParaRPr lang="en-US" sz="9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Responds (addr active)</a:t>
                      </a:r>
                      <a:endParaRPr lang="en-US" sz="9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Responds (addr active)</a:t>
                      </a:r>
                      <a:endParaRPr lang="en-US" sz="9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7"/>
                  </a:ext>
                </a:extLst>
              </a:tr>
            </a:tbl>
          </a:graphicData>
        </a:graphic>
      </p:graphicFrame>
      <p:sp>
        <p:nvSpPr>
          <p:cNvPr id="1019" name="Shape 11"/>
          <p:cNvSpPr/>
          <p:nvPr/>
        </p:nvSpPr>
        <p:spPr>
          <a:xfrm>
            <a:off x="365760" y="3520440"/>
            <a:ext cx="8412120" cy="502560"/>
          </a:xfrm>
          <a:prstGeom prst="rect">
            <a:avLst/>
          </a:prstGeom>
          <a:solidFill>
            <a:srgbClr val="FDE8E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020" name="Text 12"/>
          <p:cNvSpPr/>
          <p:nvPr/>
        </p:nvSpPr>
        <p:spPr>
          <a:xfrm>
            <a:off x="548640" y="3538800"/>
            <a:ext cx="804636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strike="noStrike" spc="-1">
                <a:solidFill>
                  <a:srgbClr val="E4002B"/>
                </a:solidFill>
                <a:latin typeface="Calibri"/>
                <a:ea typeface="Calibri"/>
              </a:rPr>
              <a:t>tcpdump is the definitive test: </a:t>
            </a:r>
            <a:r>
              <a:rPr lang="en-US" sz="1000" b="0" strike="noStrike" spc="-1">
                <a:solidFill>
                  <a:srgbClr val="7A0000"/>
                </a:solidFill>
                <a:latin typeface="Calibri"/>
                <a:ea typeface="Calibri"/>
              </a:rPr>
              <a:t>Disabled = SYN arrives, no response leaves (silent drop). Offline = SYN arrives, RST goes back immediately. This is how you tell the difference from the network perspective when the GUI is not accessible.</a:t>
            </a:r>
            <a:endParaRPr lang="en-US" sz="1000" b="0" strike="noStrike" spc="-1">
              <a:solidFill>
                <a:srgbClr val="000000"/>
              </a:solidFill>
              <a:latin typeface="Arial"/>
            </a:endParaRPr>
          </a:p>
        </p:txBody>
      </p:sp>
      <p:sp>
        <p:nvSpPr>
          <p:cNvPr id="1021" name="Shape 13"/>
          <p:cNvSpPr/>
          <p:nvPr/>
        </p:nvSpPr>
        <p:spPr>
          <a:xfrm>
            <a:off x="365760" y="4114800"/>
            <a:ext cx="8412120" cy="502560"/>
          </a:xfrm>
          <a:prstGeom prst="rect">
            <a:avLst/>
          </a:prstGeom>
          <a:solidFill>
            <a:srgbClr val="E8F0F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022" name="Text 14"/>
          <p:cNvSpPr/>
          <p:nvPr/>
        </p:nvSpPr>
        <p:spPr>
          <a:xfrm>
            <a:off x="548640" y="4133160"/>
            <a:ext cx="804636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strike="noStrike" spc="-1">
                <a:solidFill>
                  <a:srgbClr val="0E41AA"/>
                </a:solidFill>
                <a:latin typeface="Calibri"/>
                <a:ea typeface="Calibri"/>
              </a:rPr>
              <a:t>Force Offline: </a:t>
            </a:r>
            <a:r>
              <a:rPr lang="en-US" sz="1000" b="0" strike="noStrike" spc="-1">
                <a:solidFill>
                  <a:srgbClr val="1A3A6C"/>
                </a:solidFill>
                <a:latin typeface="Calibri"/>
                <a:ea typeface="Calibri"/>
              </a:rPr>
              <a:t>Immediately terminates ALL connections (existing + new). Use only for emergencies. Regular Disable is graceful — existing connections drain naturally. Check connection count: show ltm pool [name] members | grep -i cur</a:t>
            </a:r>
            <a:endParaRPr lang="en-US" sz="1000" b="0" strike="noStrike" spc="-1">
              <a:solidFill>
                <a:srgbClr val="000000"/>
              </a:solidFill>
              <a:latin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3"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024"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025"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026"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027"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028"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44    © 2026 F5</a:t>
            </a:r>
            <a:endParaRPr lang="en-US" sz="800" b="0" strike="noStrike" spc="-1">
              <a:solidFill>
                <a:srgbClr val="000000"/>
              </a:solidFill>
              <a:latin typeface="Arial"/>
            </a:endParaRPr>
          </a:p>
        </p:txBody>
      </p:sp>
      <p:pic>
        <p:nvPicPr>
          <p:cNvPr id="1029" name="Image 0" descr="preencoded.png"/>
          <p:cNvPicPr/>
          <p:nvPr/>
        </p:nvPicPr>
        <p:blipFill>
          <a:blip r:embed="rId3"/>
          <a:stretch/>
        </p:blipFill>
        <p:spPr>
          <a:xfrm>
            <a:off x="8458200" y="4663440"/>
            <a:ext cx="383760" cy="383760"/>
          </a:xfrm>
          <a:prstGeom prst="rect">
            <a:avLst/>
          </a:prstGeom>
          <a:ln w="0">
            <a:noFill/>
          </a:ln>
        </p:spPr>
      </p:pic>
      <p:sp>
        <p:nvSpPr>
          <p:cNvPr id="1030" name="Text 6"/>
          <p:cNvSpPr/>
          <p:nvPr/>
        </p:nvSpPr>
        <p:spPr>
          <a:xfrm>
            <a:off x="457200" y="274320"/>
            <a:ext cx="73148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Lab 4 — Hands-on exercises</a:t>
            </a:r>
            <a:endParaRPr lang="en-US" sz="2800" b="0" strike="noStrike" spc="-1">
              <a:solidFill>
                <a:srgbClr val="000000"/>
              </a:solidFill>
              <a:latin typeface="Arial"/>
            </a:endParaRPr>
          </a:p>
        </p:txBody>
      </p:sp>
      <p:sp>
        <p:nvSpPr>
          <p:cNvPr id="1031" name="Text 7"/>
          <p:cNvSpPr/>
          <p:nvPr/>
        </p:nvSpPr>
        <p:spPr>
          <a:xfrm>
            <a:off x="457200" y="658440"/>
            <a:ext cx="73148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009639"/>
                </a:solidFill>
                <a:latin typeface="Calibri"/>
                <a:ea typeface="Calibri"/>
              </a:rPr>
              <a:t>45 minutes  |  Lab guide: Module 4</a:t>
            </a:r>
            <a:endParaRPr lang="en-US" sz="1400" b="0" strike="noStrike" spc="-1">
              <a:solidFill>
                <a:srgbClr val="000000"/>
              </a:solidFill>
              <a:latin typeface="Arial"/>
            </a:endParaRPr>
          </a:p>
        </p:txBody>
      </p:sp>
      <p:graphicFrame>
        <p:nvGraphicFramePr>
          <p:cNvPr id="1032" name="Table 0"/>
          <p:cNvGraphicFramePr/>
          <p:nvPr/>
        </p:nvGraphicFramePr>
        <p:xfrm>
          <a:off x="365760" y="960120"/>
          <a:ext cx="7772400" cy="2587680"/>
        </p:xfrm>
        <a:graphic>
          <a:graphicData uri="http://schemas.openxmlformats.org/drawingml/2006/table">
            <a:tbl>
              <a:tblPr/>
              <a:tblGrid>
                <a:gridCol w="32004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5486400">
                  <a:extLst>
                    <a:ext uri="{9D8B030D-6E8A-4147-A177-3AD203B41FA5}">
                      <a16:colId xmlns:a16="http://schemas.microsoft.com/office/drawing/2014/main" val="20002"/>
                    </a:ext>
                  </a:extLst>
                </a:gridCol>
                <a:gridCol w="594360">
                  <a:extLst>
                    <a:ext uri="{9D8B030D-6E8A-4147-A177-3AD203B41FA5}">
                      <a16:colId xmlns:a16="http://schemas.microsoft.com/office/drawing/2014/main" val="20003"/>
                    </a:ext>
                  </a:extLst>
                </a:gridCol>
              </a:tblGrid>
              <a:tr h="274320">
                <a:tc>
                  <a:txBody>
                    <a:bodyPr/>
                    <a:lstStyle/>
                    <a:p>
                      <a:pPr algn="ctr" defTabSz="914400">
                        <a:lnSpc>
                          <a:spcPct val="100000"/>
                        </a:lnSpc>
                        <a:tabLst>
                          <a:tab pos="0" algn="l"/>
                        </a:tabLst>
                      </a:pPr>
                      <a:r>
                        <a:rPr lang="en-US" sz="1000" b="1" strike="noStrike" spc="-1">
                          <a:solidFill>
                            <a:srgbClr val="FFFFFF"/>
                          </a:solidFill>
                          <a:latin typeface="Calibri"/>
                        </a:rPr>
                        <a:t>#</a:t>
                      </a:r>
                      <a:endParaRPr lang="en-US" sz="10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09639"/>
                    </a:solidFill>
                  </a:tcPr>
                </a:tc>
                <a:tc>
                  <a:txBody>
                    <a:bodyPr/>
                    <a:lstStyle/>
                    <a:p>
                      <a:pPr defTabSz="914400">
                        <a:lnSpc>
                          <a:spcPct val="100000"/>
                        </a:lnSpc>
                        <a:tabLst>
                          <a:tab pos="0" algn="l"/>
                        </a:tabLst>
                      </a:pPr>
                      <a:r>
                        <a:rPr lang="en-US" sz="1100" b="1" strike="noStrike" spc="-1">
                          <a:solidFill>
                            <a:srgbClr val="FFFFFF"/>
                          </a:solidFill>
                          <a:latin typeface="Calibri"/>
                        </a:rPr>
                        <a:t>Activity</a:t>
                      </a:r>
                      <a:endParaRPr lang="en-US" sz="11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09639"/>
                    </a:solidFill>
                  </a:tcPr>
                </a:tc>
                <a:tc>
                  <a:txBody>
                    <a:bodyPr/>
                    <a:lstStyle/>
                    <a:p>
                      <a:pPr defTabSz="914400">
                        <a:lnSpc>
                          <a:spcPct val="100000"/>
                        </a:lnSpc>
                        <a:tabLst>
                          <a:tab pos="0" algn="l"/>
                        </a:tabLst>
                      </a:pPr>
                      <a:r>
                        <a:rPr lang="en-US" sz="1100" b="1" strike="noStrike" spc="-1">
                          <a:solidFill>
                            <a:srgbClr val="FFFFFF"/>
                          </a:solidFill>
                          <a:latin typeface="Calibri"/>
                        </a:rPr>
                        <a:t>Key tasks</a:t>
                      </a:r>
                      <a:endParaRPr lang="en-US" sz="11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09639"/>
                    </a:solidFill>
                  </a:tcPr>
                </a:tc>
                <a:tc>
                  <a:txBody>
                    <a:bodyPr/>
                    <a:lstStyle/>
                    <a:p>
                      <a:pPr algn="ctr" defTabSz="914400">
                        <a:lnSpc>
                          <a:spcPct val="100000"/>
                        </a:lnSpc>
                        <a:tabLst>
                          <a:tab pos="0" algn="l"/>
                        </a:tabLst>
                      </a:pPr>
                      <a:r>
                        <a:rPr lang="en-US" sz="1000" b="1" strike="noStrike" spc="-1">
                          <a:solidFill>
                            <a:srgbClr val="FFFFFF"/>
                          </a:solidFill>
                          <a:latin typeface="Calibri"/>
                        </a:rPr>
                        <a:t>Time</a:t>
                      </a:r>
                      <a:endParaRPr lang="en-US" sz="10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09639"/>
                    </a:solidFill>
                  </a:tcPr>
                </a:tc>
                <a:extLst>
                  <a:ext uri="{0D108BD9-81ED-4DB2-BD59-A6C34878D82A}">
                    <a16:rowId xmlns:a16="http://schemas.microsoft.com/office/drawing/2014/main" val="10000"/>
                  </a:ext>
                </a:extLst>
              </a:tr>
              <a:tr h="438840">
                <a:tc>
                  <a:txBody>
                    <a:bodyPr/>
                    <a:lstStyle/>
                    <a:p>
                      <a:pPr algn="ctr" defTabSz="914400">
                        <a:lnSpc>
                          <a:spcPct val="100000"/>
                        </a:lnSpc>
                        <a:tabLst>
                          <a:tab pos="0" algn="l"/>
                        </a:tabLst>
                      </a:pPr>
                      <a:r>
                        <a:rPr lang="en-US" sz="1100" b="0" strike="noStrike" spc="-1">
                          <a:solidFill>
                            <a:srgbClr val="000000"/>
                          </a:solidFill>
                          <a:latin typeface="Calibri"/>
                        </a:rPr>
                        <a:t>1</a:t>
                      </a:r>
                      <a:endParaRPr lang="en-US" sz="11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1100" b="1" strike="noStrike" spc="-1">
                          <a:solidFill>
                            <a:srgbClr val="000000"/>
                          </a:solidFill>
                          <a:latin typeface="Calibri"/>
                        </a:rPr>
                        <a:t>Basic Monitoring</a:t>
                      </a:r>
                      <a:endParaRPr lang="en-US" sz="11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333333"/>
                          </a:solidFill>
                          <a:latin typeface="Calibri"/>
                        </a:rPr>
                        <a:t>ICMP default node monitor, custom HTTP monitor www_test (send/receive strings), reverse monitor test.</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algn="ctr" defTabSz="914400">
                        <a:lnSpc>
                          <a:spcPct val="100000"/>
                        </a:lnSpc>
                        <a:tabLst>
                          <a:tab pos="0" algn="l"/>
                        </a:tabLst>
                      </a:pPr>
                      <a:r>
                        <a:rPr lang="en-US" sz="1000" b="0" strike="noStrike" spc="-1">
                          <a:solidFill>
                            <a:srgbClr val="666666"/>
                          </a:solidFill>
                          <a:latin typeface="Calibri"/>
                        </a:rPr>
                        <a:t>10m</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1"/>
                  </a:ext>
                </a:extLst>
              </a:tr>
              <a:tr h="457200">
                <a:tc>
                  <a:txBody>
                    <a:bodyPr/>
                    <a:lstStyle/>
                    <a:p>
                      <a:pPr algn="ctr" defTabSz="914400">
                        <a:lnSpc>
                          <a:spcPct val="100000"/>
                        </a:lnSpc>
                        <a:tabLst>
                          <a:tab pos="0" algn="l"/>
                        </a:tabLst>
                      </a:pPr>
                      <a:r>
                        <a:rPr lang="en-US" sz="1100" b="0" strike="noStrike" spc="-1">
                          <a:solidFill>
                            <a:srgbClr val="000000"/>
                          </a:solidFill>
                          <a:latin typeface="Calibri"/>
                        </a:rPr>
                        <a:t>2</a:t>
                      </a:r>
                      <a:endParaRPr lang="en-US" sz="11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1100" b="1" strike="noStrike" spc="-1">
                          <a:solidFill>
                            <a:srgbClr val="000000"/>
                          </a:solidFill>
                          <a:latin typeface="Calibri"/>
                        </a:rPr>
                        <a:t>VS Status</a:t>
                      </a:r>
                      <a:endParaRPr lang="en-US" sz="11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333333"/>
                          </a:solidFill>
                          <a:latin typeface="Calibri"/>
                        </a:rPr>
                        <a:t>Disable/enable VS, tcpdump disabled vs offline, connection limits, existing connections survive disable.</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algn="ctr" defTabSz="914400">
                        <a:lnSpc>
                          <a:spcPct val="100000"/>
                        </a:lnSpc>
                        <a:tabLst>
                          <a:tab pos="0" algn="l"/>
                        </a:tabLst>
                      </a:pPr>
                      <a:r>
                        <a:rPr lang="en-US" sz="1000" b="0" strike="noStrike" spc="-1">
                          <a:solidFill>
                            <a:srgbClr val="666666"/>
                          </a:solidFill>
                          <a:latin typeface="Calibri"/>
                        </a:rPr>
                        <a:t>10m</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2"/>
                  </a:ext>
                </a:extLst>
              </a:tr>
              <a:tr h="502920">
                <a:tc>
                  <a:txBody>
                    <a:bodyPr/>
                    <a:lstStyle/>
                    <a:p>
                      <a:pPr algn="ctr" defTabSz="914400">
                        <a:lnSpc>
                          <a:spcPct val="100000"/>
                        </a:lnSpc>
                        <a:tabLst>
                          <a:tab pos="0" algn="l"/>
                        </a:tabLst>
                      </a:pPr>
                      <a:r>
                        <a:rPr lang="en-US" sz="1100" b="0" strike="noStrike" spc="-1">
                          <a:solidFill>
                            <a:srgbClr val="000000"/>
                          </a:solidFill>
                          <a:latin typeface="Calibri"/>
                        </a:rPr>
                        <a:t>3</a:t>
                      </a:r>
                      <a:endParaRPr lang="en-US" sz="11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1100" b="1" strike="noStrike" spc="-1">
                          <a:solidFill>
                            <a:srgbClr val="000000"/>
                          </a:solidFill>
                          <a:latin typeface="Calibri"/>
                        </a:rPr>
                        <a:t>Pool Member Effects</a:t>
                      </a:r>
                      <a:endParaRPr lang="en-US" sz="11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333333"/>
                          </a:solidFill>
                          <a:latin typeface="Calibri"/>
                        </a:rPr>
                        <a:t>Apply mysql_monitor (will fail all members). Observe cascade: member DOWN → pool offline → VS offline. Member-specific monitors.</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algn="ctr" defTabSz="914400">
                        <a:lnSpc>
                          <a:spcPct val="100000"/>
                        </a:lnSpc>
                        <a:tabLst>
                          <a:tab pos="0" algn="l"/>
                        </a:tabLst>
                      </a:pPr>
                      <a:r>
                        <a:rPr lang="en-US" sz="1000" b="0" strike="noStrike" spc="-1">
                          <a:solidFill>
                            <a:srgbClr val="666666"/>
                          </a:solidFill>
                          <a:latin typeface="Calibri"/>
                        </a:rPr>
                        <a:t>10m</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3"/>
                  </a:ext>
                </a:extLst>
              </a:tr>
              <a:tr h="411480">
                <a:tc>
                  <a:txBody>
                    <a:bodyPr/>
                    <a:lstStyle/>
                    <a:p>
                      <a:pPr algn="ctr" defTabSz="914400">
                        <a:lnSpc>
                          <a:spcPct val="100000"/>
                        </a:lnSpc>
                        <a:tabLst>
                          <a:tab pos="0" algn="l"/>
                        </a:tabLst>
                      </a:pPr>
                      <a:r>
                        <a:rPr lang="en-US" sz="1100" b="0" strike="noStrike" spc="-1">
                          <a:solidFill>
                            <a:srgbClr val="000000"/>
                          </a:solidFill>
                          <a:latin typeface="Calibri"/>
                        </a:rPr>
                        <a:t>4</a:t>
                      </a:r>
                      <a:endParaRPr lang="en-US" sz="11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1100" b="1" strike="noStrike" spc="-1">
                          <a:solidFill>
                            <a:srgbClr val="000000"/>
                          </a:solidFill>
                          <a:latin typeface="Calibri"/>
                        </a:rPr>
                        <a:t>EAV Monitors</a:t>
                      </a:r>
                      <a:endParaRPr lang="en-US" sz="11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333333"/>
                          </a:solidFill>
                          <a:latin typeface="Calibri"/>
                        </a:rPr>
                        <a:t>Import external monitor script (curl-based). Apply to pool. Verify members UP via custom script.</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algn="ctr" defTabSz="914400">
                        <a:lnSpc>
                          <a:spcPct val="100000"/>
                        </a:lnSpc>
                        <a:tabLst>
                          <a:tab pos="0" algn="l"/>
                        </a:tabLst>
                      </a:pPr>
                      <a:r>
                        <a:rPr lang="en-US" sz="1000" b="0" strike="noStrike" spc="-1">
                          <a:solidFill>
                            <a:srgbClr val="666666"/>
                          </a:solidFill>
                          <a:latin typeface="Calibri"/>
                        </a:rPr>
                        <a:t>5m</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4"/>
                  </a:ext>
                </a:extLst>
              </a:tr>
              <a:tr h="502920">
                <a:tc>
                  <a:txBody>
                    <a:bodyPr/>
                    <a:lstStyle/>
                    <a:p>
                      <a:pPr algn="ctr" defTabSz="914400">
                        <a:lnSpc>
                          <a:spcPct val="100000"/>
                        </a:lnSpc>
                        <a:tabLst>
                          <a:tab pos="0" algn="l"/>
                        </a:tabLst>
                      </a:pPr>
                      <a:r>
                        <a:rPr lang="en-US" sz="1100" b="0" strike="noStrike" spc="-1">
                          <a:solidFill>
                            <a:srgbClr val="000000"/>
                          </a:solidFill>
                          <a:latin typeface="Calibri"/>
                        </a:rPr>
                        <a:t>5</a:t>
                      </a:r>
                      <a:endParaRPr lang="en-US" sz="11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1100" b="1" strike="noStrike" spc="-1">
                          <a:solidFill>
                            <a:srgbClr val="000000"/>
                          </a:solidFill>
                          <a:latin typeface="Calibri"/>
                        </a:rPr>
                        <a:t>Inband Monitors</a:t>
                      </a:r>
                      <a:endParaRPr lang="en-US" sz="11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333333"/>
                          </a:solidFill>
                          <a:latin typeface="Calibri"/>
                        </a:rPr>
                        <a:t>Inband + active combo. Stop Apache via Webmin. Observe inband detection. Start Apache, Up Interval recovery.</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algn="ctr" defTabSz="914400">
                        <a:lnSpc>
                          <a:spcPct val="100000"/>
                        </a:lnSpc>
                        <a:tabLst>
                          <a:tab pos="0" algn="l"/>
                        </a:tabLst>
                      </a:pPr>
                      <a:r>
                        <a:rPr lang="en-US" sz="1000" b="0" strike="noStrike" spc="-1">
                          <a:solidFill>
                            <a:srgbClr val="666666"/>
                          </a:solidFill>
                          <a:latin typeface="Calibri"/>
                        </a:rPr>
                        <a:t>10m</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1033" name="Shape 8"/>
          <p:cNvSpPr/>
          <p:nvPr/>
        </p:nvSpPr>
        <p:spPr>
          <a:xfrm>
            <a:off x="365760" y="3749040"/>
            <a:ext cx="8412120" cy="411120"/>
          </a:xfrm>
          <a:prstGeom prst="rect">
            <a:avLst/>
          </a:prstGeom>
          <a:solidFill>
            <a:srgbClr val="FFF3E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034" name="Text 9"/>
          <p:cNvSpPr/>
          <p:nvPr/>
        </p:nvSpPr>
        <p:spPr>
          <a:xfrm>
            <a:off x="548640" y="3749040"/>
            <a:ext cx="80463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strike="noStrike" spc="-1">
                <a:solidFill>
                  <a:srgbClr val="F29A36"/>
                </a:solidFill>
                <a:latin typeface="Calibri"/>
                <a:ea typeface="Calibri"/>
              </a:rPr>
              <a:t>Activity 3 is key: </a:t>
            </a:r>
            <a:r>
              <a:rPr lang="en-US" sz="900" b="0" strike="noStrike" spc="-1">
                <a:solidFill>
                  <a:srgbClr val="7A4500"/>
                </a:solidFill>
                <a:latin typeface="Calibri"/>
                <a:ea typeface="Calibri"/>
              </a:rPr>
              <a:t>mysql_monitor on web servers deliberately fails. Q: How long before pool goes offline? A: timeout=46 seconds. This teaches interval/timeout through direct observation.</a:t>
            </a:r>
            <a:endParaRPr lang="en-US" sz="900" b="0" strike="noStrike" spc="-1">
              <a:solidFill>
                <a:srgbClr val="000000"/>
              </a:solidFill>
              <a:latin typeface="Arial"/>
            </a:endParaRPr>
          </a:p>
        </p:txBody>
      </p:sp>
      <p:sp>
        <p:nvSpPr>
          <p:cNvPr id="1035" name="Shape 10"/>
          <p:cNvSpPr/>
          <p:nvPr/>
        </p:nvSpPr>
        <p:spPr>
          <a:xfrm>
            <a:off x="365760" y="4251960"/>
            <a:ext cx="8412120" cy="365400"/>
          </a:xfrm>
          <a:prstGeom prst="rect">
            <a:avLst/>
          </a:prstGeom>
          <a:solidFill>
            <a:srgbClr val="E8F0F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036" name="Text 11"/>
          <p:cNvSpPr/>
          <p:nvPr/>
        </p:nvSpPr>
        <p:spPr>
          <a:xfrm>
            <a:off x="548640" y="4251960"/>
            <a:ext cx="80463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strike="noStrike" spc="-1">
                <a:solidFill>
                  <a:srgbClr val="0E41AA"/>
                </a:solidFill>
                <a:latin typeface="Calibri"/>
                <a:ea typeface="Calibri"/>
              </a:rPr>
              <a:t>Webmin access for Activity 5: </a:t>
            </a:r>
            <a:r>
              <a:rPr lang="en-US" sz="900" b="0" strike="noStrike" spc="-1">
                <a:solidFill>
                  <a:srgbClr val="1A3A6C"/>
                </a:solidFill>
                <a:latin typeface="Calibri"/>
                <a:ea typeface="Calibri"/>
              </a:rPr>
              <a:t>https://10.1.1.252:10000 (root/default). Use jump box browser, not UDF TMUI. Stop/Start Apache under Servers &gt; Apache Webserver.</a:t>
            </a:r>
            <a:endParaRPr lang="en-US" sz="900" b="0" strike="noStrike" spc="-1">
              <a:solidFill>
                <a:srgbClr val="000000"/>
              </a:solidFill>
              <a:latin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37"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038"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039"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040"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041"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042"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45    © 2026 F5</a:t>
            </a:r>
            <a:endParaRPr lang="en-US" sz="800" b="0" strike="noStrike" spc="-1">
              <a:solidFill>
                <a:srgbClr val="000000"/>
              </a:solidFill>
              <a:latin typeface="Arial"/>
            </a:endParaRPr>
          </a:p>
        </p:txBody>
      </p:sp>
      <p:pic>
        <p:nvPicPr>
          <p:cNvPr id="1043" name="Image 0" descr="preencoded.png"/>
          <p:cNvPicPr/>
          <p:nvPr/>
        </p:nvPicPr>
        <p:blipFill>
          <a:blip r:embed="rId3"/>
          <a:stretch/>
        </p:blipFill>
        <p:spPr>
          <a:xfrm>
            <a:off x="8458200" y="4663440"/>
            <a:ext cx="383760" cy="383760"/>
          </a:xfrm>
          <a:prstGeom prst="rect">
            <a:avLst/>
          </a:prstGeom>
          <a:ln w="0">
            <a:noFill/>
          </a:ln>
        </p:spPr>
      </p:pic>
      <p:sp>
        <p:nvSpPr>
          <p:cNvPr id="1044" name="Text 6"/>
          <p:cNvSpPr/>
          <p:nvPr/>
        </p:nvSpPr>
        <p:spPr>
          <a:xfrm>
            <a:off x="457200" y="274320"/>
            <a:ext cx="82292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Exam checkpoints</a:t>
            </a:r>
            <a:endParaRPr lang="en-US" sz="2800" b="0" strike="noStrike" spc="-1">
              <a:solidFill>
                <a:srgbClr val="000000"/>
              </a:solidFill>
              <a:latin typeface="Arial"/>
            </a:endParaRPr>
          </a:p>
        </p:txBody>
      </p:sp>
      <p:sp>
        <p:nvSpPr>
          <p:cNvPr id="1045" name="Shape 7"/>
          <p:cNvSpPr/>
          <p:nvPr/>
        </p:nvSpPr>
        <p:spPr>
          <a:xfrm>
            <a:off x="457200" y="868680"/>
            <a:ext cx="411120" cy="25560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046" name="Text 8"/>
          <p:cNvSpPr/>
          <p:nvPr/>
        </p:nvSpPr>
        <p:spPr>
          <a:xfrm>
            <a:off x="457200" y="868680"/>
            <a:ext cx="41112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rgbClr val="FFFFFF"/>
                </a:solidFill>
                <a:latin typeface="Arial"/>
                <a:ea typeface="Arial"/>
              </a:rPr>
              <a:t>Q1</a:t>
            </a:r>
            <a:endParaRPr lang="en-US" sz="1100" b="0" strike="noStrike" spc="-1">
              <a:solidFill>
                <a:srgbClr val="000000"/>
              </a:solidFill>
              <a:latin typeface="Arial"/>
            </a:endParaRPr>
          </a:p>
        </p:txBody>
      </p:sp>
      <p:sp>
        <p:nvSpPr>
          <p:cNvPr id="1047" name="Shape 9"/>
          <p:cNvSpPr/>
          <p:nvPr/>
        </p:nvSpPr>
        <p:spPr>
          <a:xfrm>
            <a:off x="960120" y="868680"/>
            <a:ext cx="365400" cy="25560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048" name="Text 10"/>
          <p:cNvSpPr/>
          <p:nvPr/>
        </p:nvSpPr>
        <p:spPr>
          <a:xfrm>
            <a:off x="960120" y="868680"/>
            <a:ext cx="3654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00" b="1" strike="noStrike" spc="-1">
                <a:solidFill>
                  <a:srgbClr val="009639"/>
                </a:solidFill>
                <a:latin typeface="Calibri"/>
              </a:rPr>
              <a:t>U/A</a:t>
            </a:r>
            <a:endParaRPr lang="en-US" sz="800" b="0" strike="noStrike" spc="-1">
              <a:solidFill>
                <a:srgbClr val="000000"/>
              </a:solidFill>
              <a:latin typeface="Arial"/>
            </a:endParaRPr>
          </a:p>
        </p:txBody>
      </p:sp>
      <p:sp>
        <p:nvSpPr>
          <p:cNvPr id="1049" name="Text 11"/>
          <p:cNvSpPr/>
          <p:nvPr/>
        </p:nvSpPr>
        <p:spPr>
          <a:xfrm>
            <a:off x="1417320" y="868680"/>
            <a:ext cx="7406280" cy="77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333333"/>
                </a:solidFill>
                <a:latin typeface="Calibri"/>
                <a:ea typeface="Calibri"/>
              </a:rPr>
              <a:t>An HTTP monitor has interval=10 and timeout=16. How many failed checks before the member is marked DOWN? Is this a good configuration?</a:t>
            </a:r>
            <a:endParaRPr lang="en-US" sz="1000" b="0" strike="noStrike" spc="-1">
              <a:solidFill>
                <a:srgbClr val="000000"/>
              </a:solidFill>
              <a:latin typeface="Arial"/>
            </a:endParaRPr>
          </a:p>
        </p:txBody>
      </p:sp>
      <p:sp>
        <p:nvSpPr>
          <p:cNvPr id="1050" name="Shape 12"/>
          <p:cNvSpPr/>
          <p:nvPr/>
        </p:nvSpPr>
        <p:spPr>
          <a:xfrm>
            <a:off x="457200" y="1783080"/>
            <a:ext cx="411120" cy="25560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051" name="Text 13"/>
          <p:cNvSpPr/>
          <p:nvPr/>
        </p:nvSpPr>
        <p:spPr>
          <a:xfrm>
            <a:off x="457200" y="1783080"/>
            <a:ext cx="41112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rgbClr val="FFFFFF"/>
                </a:solidFill>
                <a:latin typeface="Arial"/>
                <a:ea typeface="Arial"/>
              </a:rPr>
              <a:t>Q2</a:t>
            </a:r>
            <a:endParaRPr lang="en-US" sz="1100" b="0" strike="noStrike" spc="-1">
              <a:solidFill>
                <a:srgbClr val="000000"/>
              </a:solidFill>
              <a:latin typeface="Arial"/>
            </a:endParaRPr>
          </a:p>
        </p:txBody>
      </p:sp>
      <p:sp>
        <p:nvSpPr>
          <p:cNvPr id="1052" name="Shape 14"/>
          <p:cNvSpPr/>
          <p:nvPr/>
        </p:nvSpPr>
        <p:spPr>
          <a:xfrm>
            <a:off x="960120" y="1783080"/>
            <a:ext cx="365400" cy="25560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053" name="Text 15"/>
          <p:cNvSpPr/>
          <p:nvPr/>
        </p:nvSpPr>
        <p:spPr>
          <a:xfrm>
            <a:off x="960120" y="1783080"/>
            <a:ext cx="3654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00" b="1" strike="noStrike" spc="-1">
                <a:solidFill>
                  <a:srgbClr val="009639"/>
                </a:solidFill>
                <a:latin typeface="Calibri"/>
              </a:rPr>
              <a:t>U/A</a:t>
            </a:r>
            <a:endParaRPr lang="en-US" sz="800" b="0" strike="noStrike" spc="-1">
              <a:solidFill>
                <a:srgbClr val="000000"/>
              </a:solidFill>
              <a:latin typeface="Arial"/>
            </a:endParaRPr>
          </a:p>
        </p:txBody>
      </p:sp>
      <p:sp>
        <p:nvSpPr>
          <p:cNvPr id="1054" name="Text 16"/>
          <p:cNvSpPr/>
          <p:nvPr/>
        </p:nvSpPr>
        <p:spPr>
          <a:xfrm>
            <a:off x="1417320" y="1783080"/>
            <a:ext cx="7406280" cy="77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333333"/>
                </a:solidFill>
                <a:latin typeface="Calibri"/>
                <a:ea typeface="Calibri"/>
              </a:rPr>
              <a:t>You create an HTTP monitor with send string 'GET /health' (no \r\n\r\n) and receive string '200 OK'. The server is running. Why does the monitor fail?</a:t>
            </a:r>
            <a:endParaRPr lang="en-US" sz="1000" b="0" strike="noStrike" spc="-1">
              <a:solidFill>
                <a:srgbClr val="000000"/>
              </a:solidFill>
              <a:latin typeface="Arial"/>
            </a:endParaRPr>
          </a:p>
        </p:txBody>
      </p:sp>
      <p:sp>
        <p:nvSpPr>
          <p:cNvPr id="1055" name="Shape 17"/>
          <p:cNvSpPr/>
          <p:nvPr/>
        </p:nvSpPr>
        <p:spPr>
          <a:xfrm>
            <a:off x="457200" y="2697480"/>
            <a:ext cx="411120" cy="25560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056" name="Text 18"/>
          <p:cNvSpPr/>
          <p:nvPr/>
        </p:nvSpPr>
        <p:spPr>
          <a:xfrm>
            <a:off x="457200" y="2697480"/>
            <a:ext cx="41112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rgbClr val="FFFFFF"/>
                </a:solidFill>
                <a:latin typeface="Arial"/>
                <a:ea typeface="Arial"/>
              </a:rPr>
              <a:t>Q3</a:t>
            </a:r>
            <a:endParaRPr lang="en-US" sz="1100" b="0" strike="noStrike" spc="-1">
              <a:solidFill>
                <a:srgbClr val="000000"/>
              </a:solidFill>
              <a:latin typeface="Arial"/>
            </a:endParaRPr>
          </a:p>
        </p:txBody>
      </p:sp>
      <p:sp>
        <p:nvSpPr>
          <p:cNvPr id="1057" name="Shape 19"/>
          <p:cNvSpPr/>
          <p:nvPr/>
        </p:nvSpPr>
        <p:spPr>
          <a:xfrm>
            <a:off x="960120" y="2697480"/>
            <a:ext cx="365400" cy="25560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058" name="Text 20"/>
          <p:cNvSpPr/>
          <p:nvPr/>
        </p:nvSpPr>
        <p:spPr>
          <a:xfrm>
            <a:off x="960120" y="2697480"/>
            <a:ext cx="3654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00" b="1" strike="noStrike" spc="-1">
                <a:solidFill>
                  <a:srgbClr val="009639"/>
                </a:solidFill>
                <a:latin typeface="Calibri"/>
              </a:rPr>
              <a:t>U/A</a:t>
            </a:r>
            <a:endParaRPr lang="en-US" sz="800" b="0" strike="noStrike" spc="-1">
              <a:solidFill>
                <a:srgbClr val="000000"/>
              </a:solidFill>
              <a:latin typeface="Arial"/>
            </a:endParaRPr>
          </a:p>
        </p:txBody>
      </p:sp>
      <p:sp>
        <p:nvSpPr>
          <p:cNvPr id="1059" name="Text 21"/>
          <p:cNvSpPr/>
          <p:nvPr/>
        </p:nvSpPr>
        <p:spPr>
          <a:xfrm>
            <a:off x="1417320" y="2697480"/>
            <a:ext cx="7406280" cy="77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333333"/>
                </a:solidFill>
                <a:latin typeface="Calibri"/>
                <a:ea typeface="Calibri"/>
              </a:rPr>
              <a:t>Your active HTTP monitor shows all pool members UP, but users report intermittent errors under load. What monitor type detects this, and how does it work?</a:t>
            </a:r>
            <a:endParaRPr lang="en-US" sz="1000" b="0" strike="noStrike" spc="-1">
              <a:solidFill>
                <a:srgbClr val="000000"/>
              </a:solidFill>
              <a:latin typeface="Arial"/>
            </a:endParaRPr>
          </a:p>
        </p:txBody>
      </p:sp>
      <p:sp>
        <p:nvSpPr>
          <p:cNvPr id="1060" name="Shape 22"/>
          <p:cNvSpPr/>
          <p:nvPr/>
        </p:nvSpPr>
        <p:spPr>
          <a:xfrm>
            <a:off x="457200" y="3611880"/>
            <a:ext cx="411120" cy="25560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061" name="Text 23"/>
          <p:cNvSpPr/>
          <p:nvPr/>
        </p:nvSpPr>
        <p:spPr>
          <a:xfrm>
            <a:off x="457200" y="3611880"/>
            <a:ext cx="41112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rgbClr val="FFFFFF"/>
                </a:solidFill>
                <a:latin typeface="Arial"/>
                <a:ea typeface="Arial"/>
              </a:rPr>
              <a:t>Q4</a:t>
            </a:r>
            <a:endParaRPr lang="en-US" sz="1100" b="0" strike="noStrike" spc="-1">
              <a:solidFill>
                <a:srgbClr val="000000"/>
              </a:solidFill>
              <a:latin typeface="Arial"/>
            </a:endParaRPr>
          </a:p>
        </p:txBody>
      </p:sp>
      <p:sp>
        <p:nvSpPr>
          <p:cNvPr id="1062" name="Shape 24"/>
          <p:cNvSpPr/>
          <p:nvPr/>
        </p:nvSpPr>
        <p:spPr>
          <a:xfrm>
            <a:off x="960120" y="3611880"/>
            <a:ext cx="365400" cy="25560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063" name="Text 25"/>
          <p:cNvSpPr/>
          <p:nvPr/>
        </p:nvSpPr>
        <p:spPr>
          <a:xfrm>
            <a:off x="960120" y="3611880"/>
            <a:ext cx="3654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00" b="1" strike="noStrike" spc="-1">
                <a:solidFill>
                  <a:srgbClr val="009639"/>
                </a:solidFill>
                <a:latin typeface="Calibri"/>
              </a:rPr>
              <a:t>U/A</a:t>
            </a:r>
            <a:endParaRPr lang="en-US" sz="800" b="0" strike="noStrike" spc="-1">
              <a:solidFill>
                <a:srgbClr val="000000"/>
              </a:solidFill>
              <a:latin typeface="Arial"/>
            </a:endParaRPr>
          </a:p>
        </p:txBody>
      </p:sp>
      <p:sp>
        <p:nvSpPr>
          <p:cNvPr id="1064" name="Text 26"/>
          <p:cNvSpPr/>
          <p:nvPr/>
        </p:nvSpPr>
        <p:spPr>
          <a:xfrm>
            <a:off x="1417320" y="3611880"/>
            <a:ext cx="7406280" cy="77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333333"/>
                </a:solidFill>
                <a:latin typeface="Calibri"/>
                <a:ea typeface="Calibri"/>
              </a:rPr>
              <a:t>Monitors work on the active BIG-IP but fail on the standby. Both have identical config. Pool members are on a VLAN with TMM routing only. What do you enable?</a:t>
            </a:r>
            <a:endParaRPr lang="en-US" sz="1000" b="0" strike="noStrike" spc="-1">
              <a:solidFill>
                <a:srgbClr val="000000"/>
              </a:solidFill>
              <a:latin typeface="Arial"/>
            </a:endParaRPr>
          </a:p>
        </p:txBody>
      </p:sp>
      <p:sp>
        <p:nvSpPr>
          <p:cNvPr id="1065" name="Shape 27"/>
          <p:cNvSpPr/>
          <p:nvPr/>
        </p:nvSpPr>
        <p:spPr>
          <a:xfrm>
            <a:off x="365760" y="4526280"/>
            <a:ext cx="8412120" cy="136800"/>
          </a:xfrm>
          <a:prstGeom prst="rect">
            <a:avLst/>
          </a:prstGeom>
          <a:solidFill>
            <a:srgbClr val="E8F5E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066" name="Text 28"/>
          <p:cNvSpPr/>
          <p:nvPr/>
        </p:nvSpPr>
        <p:spPr>
          <a:xfrm>
            <a:off x="548640" y="4526280"/>
            <a:ext cx="804636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1" strike="noStrike" spc="-1">
                <a:solidFill>
                  <a:srgbClr val="1B5E20"/>
                </a:solidFill>
                <a:latin typeface="Calibri"/>
                <a:ea typeface="Calibri"/>
              </a:rPr>
              <a:t>Web app → HTTP content monitor  |  DB → TCP or EAV  |  Load-dependent failures → Inband  |  TMM-only routing → In-TMM</a:t>
            </a:r>
            <a:endParaRPr lang="en-US" sz="800" b="0" strike="noStrike" spc="-1">
              <a:solidFill>
                <a:srgbClr val="000000"/>
              </a:solidFill>
              <a:latin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67"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068"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069"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070"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071"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072"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46    © 2026 F5</a:t>
            </a:r>
            <a:endParaRPr lang="en-US" sz="800" b="0" strike="noStrike" spc="-1">
              <a:solidFill>
                <a:srgbClr val="000000"/>
              </a:solidFill>
              <a:latin typeface="Arial"/>
            </a:endParaRPr>
          </a:p>
        </p:txBody>
      </p:sp>
      <p:pic>
        <p:nvPicPr>
          <p:cNvPr id="1073" name="Image 0" descr="preencoded.png"/>
          <p:cNvPicPr/>
          <p:nvPr/>
        </p:nvPicPr>
        <p:blipFill>
          <a:blip r:embed="rId3"/>
          <a:stretch/>
        </p:blipFill>
        <p:spPr>
          <a:xfrm>
            <a:off x="8458200" y="4663440"/>
            <a:ext cx="383760" cy="383760"/>
          </a:xfrm>
          <a:prstGeom prst="rect">
            <a:avLst/>
          </a:prstGeom>
          <a:ln w="0">
            <a:noFill/>
          </a:ln>
        </p:spPr>
      </p:pic>
      <p:sp>
        <p:nvSpPr>
          <p:cNvPr id="1074" name="Text 6"/>
          <p:cNvSpPr/>
          <p:nvPr/>
        </p:nvSpPr>
        <p:spPr>
          <a:xfrm>
            <a:off x="457200" y="274320"/>
            <a:ext cx="82292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Exam checkpoints (continued)</a:t>
            </a:r>
            <a:endParaRPr lang="en-US" sz="2800" b="0" strike="noStrike" spc="-1">
              <a:solidFill>
                <a:srgbClr val="000000"/>
              </a:solidFill>
              <a:latin typeface="Arial"/>
            </a:endParaRPr>
          </a:p>
        </p:txBody>
      </p:sp>
      <p:sp>
        <p:nvSpPr>
          <p:cNvPr id="1075" name="Shape 7"/>
          <p:cNvSpPr/>
          <p:nvPr/>
        </p:nvSpPr>
        <p:spPr>
          <a:xfrm>
            <a:off x="457200" y="914400"/>
            <a:ext cx="411120" cy="25560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076" name="Text 8"/>
          <p:cNvSpPr/>
          <p:nvPr/>
        </p:nvSpPr>
        <p:spPr>
          <a:xfrm>
            <a:off x="457200" y="914400"/>
            <a:ext cx="41112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rgbClr val="FFFFFF"/>
                </a:solidFill>
                <a:latin typeface="Arial"/>
                <a:ea typeface="Arial"/>
              </a:rPr>
              <a:t>Q5</a:t>
            </a:r>
            <a:endParaRPr lang="en-US" sz="1100" b="0" strike="noStrike" spc="-1">
              <a:solidFill>
                <a:srgbClr val="000000"/>
              </a:solidFill>
              <a:latin typeface="Arial"/>
            </a:endParaRPr>
          </a:p>
        </p:txBody>
      </p:sp>
      <p:sp>
        <p:nvSpPr>
          <p:cNvPr id="1077" name="Shape 9"/>
          <p:cNvSpPr/>
          <p:nvPr/>
        </p:nvSpPr>
        <p:spPr>
          <a:xfrm>
            <a:off x="960120" y="914400"/>
            <a:ext cx="365400" cy="25560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078" name="Text 10"/>
          <p:cNvSpPr/>
          <p:nvPr/>
        </p:nvSpPr>
        <p:spPr>
          <a:xfrm>
            <a:off x="960120" y="914400"/>
            <a:ext cx="3654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00" b="1" strike="noStrike" spc="-1">
                <a:solidFill>
                  <a:srgbClr val="009639"/>
                </a:solidFill>
                <a:latin typeface="Calibri"/>
              </a:rPr>
              <a:t>U/A</a:t>
            </a:r>
            <a:endParaRPr lang="en-US" sz="800" b="0" strike="noStrike" spc="-1">
              <a:solidFill>
                <a:srgbClr val="000000"/>
              </a:solidFill>
              <a:latin typeface="Arial"/>
            </a:endParaRPr>
          </a:p>
        </p:txBody>
      </p:sp>
      <p:sp>
        <p:nvSpPr>
          <p:cNvPr id="1079" name="Text 11"/>
          <p:cNvSpPr/>
          <p:nvPr/>
        </p:nvSpPr>
        <p:spPr>
          <a:xfrm>
            <a:off x="1417320" y="914400"/>
            <a:ext cx="740628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strike="noStrike" spc="-1">
                <a:solidFill>
                  <a:srgbClr val="333333"/>
                </a:solidFill>
                <a:latin typeface="Calibri"/>
                <a:ea typeface="Calibri"/>
              </a:rPr>
              <a:t>A pool member shows a blue square icon. Is it receiving traffic? What should you do?</a:t>
            </a:r>
            <a:endParaRPr lang="en-US" sz="1100" b="0" strike="noStrike" spc="-1">
              <a:solidFill>
                <a:srgbClr val="000000"/>
              </a:solidFill>
              <a:latin typeface="Arial"/>
            </a:endParaRPr>
          </a:p>
        </p:txBody>
      </p:sp>
      <p:sp>
        <p:nvSpPr>
          <p:cNvPr id="1080" name="Shape 12"/>
          <p:cNvSpPr/>
          <p:nvPr/>
        </p:nvSpPr>
        <p:spPr>
          <a:xfrm>
            <a:off x="457200" y="2194560"/>
            <a:ext cx="411120" cy="25560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081" name="Text 13"/>
          <p:cNvSpPr/>
          <p:nvPr/>
        </p:nvSpPr>
        <p:spPr>
          <a:xfrm>
            <a:off x="457200" y="2194560"/>
            <a:ext cx="41112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rgbClr val="FFFFFF"/>
                </a:solidFill>
                <a:latin typeface="Arial"/>
                <a:ea typeface="Arial"/>
              </a:rPr>
              <a:t>Q6</a:t>
            </a:r>
            <a:endParaRPr lang="en-US" sz="1100" b="0" strike="noStrike" spc="-1">
              <a:solidFill>
                <a:srgbClr val="000000"/>
              </a:solidFill>
              <a:latin typeface="Arial"/>
            </a:endParaRPr>
          </a:p>
        </p:txBody>
      </p:sp>
      <p:sp>
        <p:nvSpPr>
          <p:cNvPr id="1082" name="Shape 14"/>
          <p:cNvSpPr/>
          <p:nvPr/>
        </p:nvSpPr>
        <p:spPr>
          <a:xfrm>
            <a:off x="960120" y="2194560"/>
            <a:ext cx="365400" cy="25560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083" name="Text 15"/>
          <p:cNvSpPr/>
          <p:nvPr/>
        </p:nvSpPr>
        <p:spPr>
          <a:xfrm>
            <a:off x="960120" y="2194560"/>
            <a:ext cx="3654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00" b="1" strike="noStrike" spc="-1">
                <a:solidFill>
                  <a:srgbClr val="009639"/>
                </a:solidFill>
                <a:latin typeface="Calibri"/>
              </a:rPr>
              <a:t>U/A</a:t>
            </a:r>
            <a:endParaRPr lang="en-US" sz="800" b="0" strike="noStrike" spc="-1">
              <a:solidFill>
                <a:srgbClr val="000000"/>
              </a:solidFill>
              <a:latin typeface="Arial"/>
            </a:endParaRPr>
          </a:p>
        </p:txBody>
      </p:sp>
      <p:sp>
        <p:nvSpPr>
          <p:cNvPr id="1084" name="Text 16"/>
          <p:cNvSpPr/>
          <p:nvPr/>
        </p:nvSpPr>
        <p:spPr>
          <a:xfrm>
            <a:off x="1417320" y="2194560"/>
            <a:ext cx="740628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strike="noStrike" spc="-1">
                <a:solidFill>
                  <a:srgbClr val="333333"/>
                </a:solidFill>
                <a:latin typeface="Calibri"/>
                <a:ea typeface="Calibri"/>
              </a:rPr>
              <a:t>You disable a pool member. tcpdump shows SYN packets arriving at the VIP but no response leaving. A colleague says the VS is offline. Are they correct? How do you know?</a:t>
            </a:r>
            <a:endParaRPr lang="en-US" sz="1100" b="0" strike="noStrike" spc="-1">
              <a:solidFill>
                <a:srgbClr val="000000"/>
              </a:solidFill>
              <a:latin typeface="Arial"/>
            </a:endParaRPr>
          </a:p>
        </p:txBody>
      </p:sp>
      <p:sp>
        <p:nvSpPr>
          <p:cNvPr id="1085" name="Shape 17"/>
          <p:cNvSpPr/>
          <p:nvPr/>
        </p:nvSpPr>
        <p:spPr>
          <a:xfrm>
            <a:off x="365760" y="3474720"/>
            <a:ext cx="8412120" cy="1325880"/>
          </a:xfrm>
          <a:prstGeom prst="rect">
            <a:avLst/>
          </a:prstGeom>
          <a:solidFill>
            <a:srgbClr val="E8F5E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086" name="Text 18"/>
          <p:cNvSpPr/>
          <p:nvPr/>
        </p:nvSpPr>
        <p:spPr>
          <a:xfrm>
            <a:off x="548640" y="3493080"/>
            <a:ext cx="8046360" cy="1060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1" strike="noStrike" spc="-1">
                <a:solidFill>
                  <a:srgbClr val="009639"/>
                </a:solidFill>
                <a:latin typeface="Calibri"/>
              </a:rPr>
              <a:t>Monitor selection decision tree</a:t>
            </a:r>
            <a:endParaRPr lang="en-US" sz="1300" b="0" strike="noStrike" spc="-1">
              <a:solidFill>
                <a:srgbClr val="000000"/>
              </a:solidFill>
              <a:latin typeface="Arial"/>
            </a:endParaRPr>
          </a:p>
          <a:p>
            <a:pPr defTabSz="914400">
              <a:lnSpc>
                <a:spcPct val="100000"/>
              </a:lnSpc>
              <a:tabLst>
                <a:tab pos="0" algn="l"/>
              </a:tabLst>
            </a:pPr>
            <a:r>
              <a:rPr lang="en-US" sz="1000" b="0" strike="noStrike" spc="-1">
                <a:solidFill>
                  <a:srgbClr val="1B5E20"/>
                </a:solidFill>
                <a:latin typeface="Calibri"/>
                <a:ea typeface="Calibri"/>
              </a:rPr>
              <a:t>Web application → HTTP monitor with send/receive content check</a:t>
            </a:r>
            <a:endParaRPr lang="en-US" sz="1000" b="0" strike="noStrike" spc="-1">
              <a:solidFill>
                <a:srgbClr val="000000"/>
              </a:solidFill>
              <a:latin typeface="Arial"/>
            </a:endParaRPr>
          </a:p>
          <a:p>
            <a:pPr defTabSz="914400">
              <a:lnSpc>
                <a:spcPct val="100000"/>
              </a:lnSpc>
              <a:tabLst>
                <a:tab pos="0" algn="l"/>
              </a:tabLst>
            </a:pPr>
            <a:r>
              <a:rPr lang="en-US" sz="1000" b="0" strike="noStrike" spc="-1">
                <a:solidFill>
                  <a:srgbClr val="1B5E20"/>
                </a:solidFill>
                <a:latin typeface="Calibri"/>
                <a:ea typeface="Calibri"/>
              </a:rPr>
              <a:t>HTTPS backend → HTTPS monitor</a:t>
            </a:r>
            <a:endParaRPr lang="en-US" sz="1000" b="0" strike="noStrike" spc="-1">
              <a:solidFill>
                <a:srgbClr val="000000"/>
              </a:solidFill>
              <a:latin typeface="Arial"/>
            </a:endParaRPr>
          </a:p>
          <a:p>
            <a:pPr defTabSz="914400">
              <a:lnSpc>
                <a:spcPct val="100000"/>
              </a:lnSpc>
              <a:tabLst>
                <a:tab pos="0" algn="l"/>
              </a:tabLst>
            </a:pPr>
            <a:r>
              <a:rPr lang="en-US" sz="1000" b="0" strike="noStrike" spc="-1">
                <a:solidFill>
                  <a:srgbClr val="1B5E20"/>
                </a:solidFill>
                <a:latin typeface="Calibri"/>
                <a:ea typeface="Calibri"/>
              </a:rPr>
              <a:t>Database (MySQL, PostgreSQL) → TCP monitor on DB port, or EAV with SQL query</a:t>
            </a:r>
            <a:endParaRPr lang="en-US" sz="1000" b="0" strike="noStrike" spc="-1">
              <a:solidFill>
                <a:srgbClr val="000000"/>
              </a:solidFill>
              <a:latin typeface="Arial"/>
            </a:endParaRPr>
          </a:p>
          <a:p>
            <a:pPr defTabSz="914400">
              <a:lnSpc>
                <a:spcPct val="100000"/>
              </a:lnSpc>
              <a:tabLst>
                <a:tab pos="0" algn="l"/>
              </a:tabLst>
            </a:pPr>
            <a:r>
              <a:rPr lang="en-US" sz="1000" b="0" strike="noStrike" spc="-1">
                <a:solidFill>
                  <a:srgbClr val="1B5E20"/>
                </a:solidFill>
                <a:latin typeface="Calibri"/>
                <a:ea typeface="Calibri"/>
              </a:rPr>
              <a:t>Complex multi-step health check → External (EAV) monitor with custom script</a:t>
            </a:r>
            <a:endParaRPr lang="en-US" sz="1000" b="0" strike="noStrike" spc="-1">
              <a:solidFill>
                <a:srgbClr val="000000"/>
              </a:solidFill>
              <a:latin typeface="Arial"/>
            </a:endParaRPr>
          </a:p>
          <a:p>
            <a:pPr defTabSz="914400">
              <a:lnSpc>
                <a:spcPct val="100000"/>
              </a:lnSpc>
              <a:tabLst>
                <a:tab pos="0" algn="l"/>
              </a:tabLst>
            </a:pPr>
            <a:r>
              <a:rPr lang="en-US" sz="1000" b="0" strike="noStrike" spc="-1">
                <a:solidFill>
                  <a:srgbClr val="1B5E20"/>
                </a:solidFill>
                <a:latin typeface="Calibri"/>
                <a:ea typeface="Calibri"/>
              </a:rPr>
              <a:t>Reduce synthetic monitor traffic → Inband + active with Up Interval</a:t>
            </a:r>
            <a:endParaRPr lang="en-US" sz="1000" b="0" strike="noStrike" spc="-1">
              <a:solidFill>
                <a:srgbClr val="000000"/>
              </a:solidFill>
              <a:latin typeface="Arial"/>
            </a:endParaRPr>
          </a:p>
          <a:p>
            <a:pPr defTabSz="914400">
              <a:lnSpc>
                <a:spcPct val="100000"/>
              </a:lnSpc>
              <a:tabLst>
                <a:tab pos="0" algn="l"/>
              </a:tabLst>
            </a:pPr>
            <a:r>
              <a:rPr lang="en-US" sz="1000" b="0" strike="noStrike" spc="-1">
                <a:solidFill>
                  <a:srgbClr val="1B5E20"/>
                </a:solidFill>
                <a:latin typeface="Calibri"/>
                <a:ea typeface="Calibri"/>
              </a:rPr>
              <a:t>Pool members only reachable via TMM routing → Enable In-TMM on the monitor</a:t>
            </a:r>
            <a:endParaRPr lang="en-US" sz="1000" b="0" strike="noStrike" spc="-1">
              <a:solidFill>
                <a:srgbClr val="000000"/>
              </a:solidFill>
              <a:latin typeface="Arial"/>
            </a:endParaRPr>
          </a:p>
          <a:p>
            <a:pPr defTabSz="914400">
              <a:lnSpc>
                <a:spcPct val="100000"/>
              </a:lnSpc>
              <a:tabLst>
                <a:tab pos="0" algn="l"/>
              </a:tabLst>
            </a:pPr>
            <a:r>
              <a:rPr lang="en-US" sz="1000" b="0" strike="noStrike" spc="-1">
                <a:solidFill>
                  <a:srgbClr val="1B5E20"/>
                </a:solidFill>
                <a:latin typeface="Calibri"/>
                <a:ea typeface="Calibri"/>
              </a:rPr>
              <a:t>Basic node reachability → ICMP (default node monitor, least specific)</a:t>
            </a:r>
            <a:endParaRPr lang="en-US" sz="1000" b="0" strike="noStrike" spc="-1">
              <a:solidFill>
                <a:srgbClr val="000000"/>
              </a:solidFill>
              <a:latin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087" name="Shape 0"/>
          <p:cNvSpPr/>
          <p:nvPr/>
        </p:nvSpPr>
        <p:spPr>
          <a:xfrm>
            <a:off x="0" y="507024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088" name="Shape 1"/>
          <p:cNvSpPr/>
          <p:nvPr/>
        </p:nvSpPr>
        <p:spPr>
          <a:xfrm>
            <a:off x="1371600" y="507024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089" name="Shape 2"/>
          <p:cNvSpPr/>
          <p:nvPr/>
        </p:nvSpPr>
        <p:spPr>
          <a:xfrm>
            <a:off x="4114800" y="507024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090" name="Shape 3"/>
          <p:cNvSpPr/>
          <p:nvPr/>
        </p:nvSpPr>
        <p:spPr>
          <a:xfrm>
            <a:off x="5486400" y="507024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091" name="Shape 4"/>
          <p:cNvSpPr/>
          <p:nvPr/>
        </p:nvSpPr>
        <p:spPr>
          <a:xfrm>
            <a:off x="7772400" y="507024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pic>
        <p:nvPicPr>
          <p:cNvPr id="1092" name="Image 0" descr="preencoded.png"/>
          <p:cNvPicPr/>
          <p:nvPr/>
        </p:nvPicPr>
        <p:blipFill>
          <a:blip r:embed="rId3"/>
          <a:stretch/>
        </p:blipFill>
        <p:spPr>
          <a:xfrm>
            <a:off x="365760" y="274320"/>
            <a:ext cx="639720" cy="639720"/>
          </a:xfrm>
          <a:prstGeom prst="rect">
            <a:avLst/>
          </a:prstGeom>
          <a:ln w="0">
            <a:noFill/>
          </a:ln>
        </p:spPr>
      </p:pic>
      <p:graphicFrame>
        <p:nvGraphicFramePr>
          <p:cNvPr id="1093" name="Table 0"/>
          <p:cNvGraphicFramePr/>
          <p:nvPr/>
        </p:nvGraphicFramePr>
        <p:xfrm>
          <a:off x="365760" y="1005840"/>
          <a:ext cx="6675120" cy="975360"/>
        </p:xfrm>
        <a:graphic>
          <a:graphicData uri="http://schemas.openxmlformats.org/drawingml/2006/table">
            <a:tbl>
              <a:tblPr/>
              <a:tblGrid>
                <a:gridCol w="146304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gridCol w="4754880">
                  <a:extLst>
                    <a:ext uri="{9D8B030D-6E8A-4147-A177-3AD203B41FA5}">
                      <a16:colId xmlns:a16="http://schemas.microsoft.com/office/drawing/2014/main" val="20002"/>
                    </a:ext>
                  </a:extLst>
                </a:gridCol>
              </a:tblGrid>
              <a:tr h="0">
                <a:tc>
                  <a:txBody>
                    <a:bodyPr/>
                    <a:lstStyle/>
                    <a:p>
                      <a:pPr defTabSz="914400">
                        <a:lnSpc>
                          <a:spcPct val="100000"/>
                        </a:lnSpc>
                        <a:tabLst>
                          <a:tab pos="0" algn="l"/>
                        </a:tabLst>
                      </a:pPr>
                      <a:r>
                        <a:rPr lang="en-US" sz="1000" b="0" strike="noStrike" spc="-1">
                          <a:solidFill>
                            <a:srgbClr val="FFFFFF"/>
                          </a:solidFill>
                          <a:latin typeface="Courier New"/>
                          <a:ea typeface="Courier New"/>
                        </a:rPr>
                        <a:t>F5CTSLTM6.01</a:t>
                      </a:r>
                      <a:endParaRPr lang="en-US" sz="1000" b="0" strike="noStrike" spc="-1">
                        <a:solidFill>
                          <a:srgbClr val="FFFFFF"/>
                        </a:solidFill>
                        <a:latin typeface="Arial"/>
                      </a:endParaRPr>
                    </a:p>
                  </a:txBody>
                  <a:tcPr marL="75960" marR="75960">
                    <a:lnL>
                      <a:noFill/>
                    </a:lnL>
                    <a:lnR>
                      <a:noFill/>
                    </a:lnR>
                    <a:lnT>
                      <a:noFill/>
                    </a:lnT>
                    <a:lnB>
                      <a:noFill/>
                    </a:lnB>
                    <a:solidFill>
                      <a:srgbClr val="1A1A1A"/>
                    </a:solidFill>
                  </a:tcPr>
                </a:tc>
                <a:tc>
                  <a:txBody>
                    <a:bodyPr/>
                    <a:lstStyle/>
                    <a:p>
                      <a:pPr algn="ctr" defTabSz="914400">
                        <a:lnSpc>
                          <a:spcPct val="100000"/>
                        </a:lnSpc>
                        <a:tabLst>
                          <a:tab pos="0" algn="l"/>
                        </a:tabLst>
                      </a:pPr>
                      <a:r>
                        <a:rPr lang="en-US" sz="1000" b="1" strike="noStrike" spc="-1">
                          <a:solidFill>
                            <a:srgbClr val="F29A36"/>
                          </a:solidFill>
                          <a:latin typeface="Calibri"/>
                        </a:rPr>
                        <a:t>A/E</a:t>
                      </a:r>
                      <a:endParaRPr lang="en-US" sz="1000" b="0" strike="noStrike" spc="-1">
                        <a:solidFill>
                          <a:srgbClr val="FFFFFF"/>
                        </a:solidFill>
                        <a:latin typeface="Arial"/>
                      </a:endParaRPr>
                    </a:p>
                  </a:txBody>
                  <a:tcPr marL="75960" marR="75960">
                    <a:lnL>
                      <a:noFill/>
                    </a:lnL>
                    <a:lnR>
                      <a:noFill/>
                    </a:lnR>
                    <a:lnT>
                      <a:noFill/>
                    </a:lnT>
                    <a:lnB>
                      <a:noFill/>
                    </a:lnB>
                    <a:solidFill>
                      <a:srgbClr val="1A1A1A"/>
                    </a:solidFill>
                  </a:tcPr>
                </a:tc>
                <a:tc>
                  <a:txBody>
                    <a:bodyPr/>
                    <a:lstStyle/>
                    <a:p>
                      <a:pPr defTabSz="914400">
                        <a:lnSpc>
                          <a:spcPct val="100000"/>
                        </a:lnSpc>
                        <a:tabLst>
                          <a:tab pos="0" algn="l"/>
                        </a:tabLst>
                      </a:pPr>
                      <a:r>
                        <a:rPr lang="en-US" sz="1000" b="0" strike="noStrike" spc="-1">
                          <a:solidFill>
                            <a:srgbClr val="666666"/>
                          </a:solidFill>
                          <a:latin typeface="Calibri"/>
                        </a:rPr>
                        <a:t>Given headers/captures, determine HTTP/HTTPS solution</a:t>
                      </a:r>
                      <a:endParaRPr lang="en-US" sz="1000" b="0" strike="noStrike" spc="-1">
                        <a:solidFill>
                          <a:srgbClr val="FFFFFF"/>
                        </a:solidFill>
                        <a:latin typeface="Arial"/>
                      </a:endParaRPr>
                    </a:p>
                  </a:txBody>
                  <a:tcPr marL="75960" marR="75960">
                    <a:lnL>
                      <a:noFill/>
                    </a:lnL>
                    <a:lnR>
                      <a:noFill/>
                    </a:lnR>
                    <a:lnT>
                      <a:noFill/>
                    </a:lnT>
                    <a:lnB>
                      <a:noFill/>
                    </a:lnB>
                    <a:solidFill>
                      <a:srgbClr val="1A1A1A"/>
                    </a:solidFill>
                  </a:tcPr>
                </a:tc>
                <a:extLst>
                  <a:ext uri="{0D108BD9-81ED-4DB2-BD59-A6C34878D82A}">
                    <a16:rowId xmlns:a16="http://schemas.microsoft.com/office/drawing/2014/main" val="10000"/>
                  </a:ext>
                </a:extLst>
              </a:tr>
              <a:tr h="0">
                <a:tc>
                  <a:txBody>
                    <a:bodyPr/>
                    <a:lstStyle/>
                    <a:p>
                      <a:pPr defTabSz="914400">
                        <a:lnSpc>
                          <a:spcPct val="100000"/>
                        </a:lnSpc>
                        <a:tabLst>
                          <a:tab pos="0" algn="l"/>
                        </a:tabLst>
                      </a:pPr>
                      <a:r>
                        <a:rPr lang="en-US" sz="1000" b="0" strike="noStrike" spc="-1">
                          <a:solidFill>
                            <a:srgbClr val="FFFFFF"/>
                          </a:solidFill>
                          <a:latin typeface="Courier New"/>
                          <a:ea typeface="Courier New"/>
                        </a:rPr>
                        <a:t>F5CTSLTM6.02</a:t>
                      </a:r>
                      <a:endParaRPr lang="en-US" sz="1000" b="0" strike="noStrike" spc="-1">
                        <a:solidFill>
                          <a:srgbClr val="FFFFFF"/>
                        </a:solidFill>
                        <a:latin typeface="Arial"/>
                      </a:endParaRPr>
                    </a:p>
                  </a:txBody>
                  <a:tcPr marL="75960" marR="75960">
                    <a:lnL>
                      <a:noFill/>
                    </a:lnL>
                    <a:lnR>
                      <a:noFill/>
                    </a:lnR>
                    <a:lnT>
                      <a:noFill/>
                    </a:lnT>
                    <a:lnB>
                      <a:noFill/>
                    </a:lnB>
                    <a:solidFill>
                      <a:srgbClr val="111111"/>
                    </a:solidFill>
                  </a:tcPr>
                </a:tc>
                <a:tc>
                  <a:txBody>
                    <a:bodyPr/>
                    <a:lstStyle/>
                    <a:p>
                      <a:pPr algn="ctr" defTabSz="914400">
                        <a:lnSpc>
                          <a:spcPct val="100000"/>
                        </a:lnSpc>
                        <a:tabLst>
                          <a:tab pos="0" algn="l"/>
                        </a:tabLst>
                      </a:pPr>
                      <a:r>
                        <a:rPr lang="en-US" sz="1000" b="1" strike="noStrike" spc="-1">
                          <a:solidFill>
                            <a:srgbClr val="F29A36"/>
                          </a:solidFill>
                          <a:latin typeface="Calibri"/>
                        </a:rPr>
                        <a:t>A/E</a:t>
                      </a:r>
                      <a:endParaRPr lang="en-US" sz="1000" b="0" strike="noStrike" spc="-1">
                        <a:solidFill>
                          <a:srgbClr val="FFFFFF"/>
                        </a:solidFill>
                        <a:latin typeface="Arial"/>
                      </a:endParaRPr>
                    </a:p>
                  </a:txBody>
                  <a:tcPr marL="75960" marR="75960">
                    <a:lnL>
                      <a:noFill/>
                    </a:lnL>
                    <a:lnR>
                      <a:noFill/>
                    </a:lnR>
                    <a:lnT>
                      <a:noFill/>
                    </a:lnT>
                    <a:lnB>
                      <a:noFill/>
                    </a:lnB>
                    <a:solidFill>
                      <a:srgbClr val="111111"/>
                    </a:solidFill>
                  </a:tcPr>
                </a:tc>
                <a:tc>
                  <a:txBody>
                    <a:bodyPr/>
                    <a:lstStyle/>
                    <a:p>
                      <a:pPr defTabSz="914400">
                        <a:lnSpc>
                          <a:spcPct val="100000"/>
                        </a:lnSpc>
                        <a:tabLst>
                          <a:tab pos="0" algn="l"/>
                        </a:tabLst>
                      </a:pPr>
                      <a:r>
                        <a:rPr lang="en-US" sz="1000" b="0" strike="noStrike" spc="-1">
                          <a:solidFill>
                            <a:srgbClr val="666666"/>
                          </a:solidFill>
                          <a:latin typeface="Calibri"/>
                        </a:rPr>
                        <a:t>Given packet capture through LTM, determine root cause</a:t>
                      </a:r>
                      <a:endParaRPr lang="en-US" sz="1000" b="0" strike="noStrike" spc="-1">
                        <a:solidFill>
                          <a:srgbClr val="FFFFFF"/>
                        </a:solidFill>
                        <a:latin typeface="Arial"/>
                      </a:endParaRPr>
                    </a:p>
                  </a:txBody>
                  <a:tcPr marL="75960" marR="75960">
                    <a:lnL>
                      <a:noFill/>
                    </a:lnL>
                    <a:lnR>
                      <a:noFill/>
                    </a:lnR>
                    <a:lnT>
                      <a:noFill/>
                    </a:lnT>
                    <a:lnB>
                      <a:noFill/>
                    </a:lnB>
                    <a:solidFill>
                      <a:srgbClr val="111111"/>
                    </a:solidFill>
                  </a:tcPr>
                </a:tc>
                <a:extLst>
                  <a:ext uri="{0D108BD9-81ED-4DB2-BD59-A6C34878D82A}">
                    <a16:rowId xmlns:a16="http://schemas.microsoft.com/office/drawing/2014/main" val="10001"/>
                  </a:ext>
                </a:extLst>
              </a:tr>
              <a:tr h="0">
                <a:tc>
                  <a:txBody>
                    <a:bodyPr/>
                    <a:lstStyle/>
                    <a:p>
                      <a:pPr defTabSz="914400">
                        <a:lnSpc>
                          <a:spcPct val="100000"/>
                        </a:lnSpc>
                        <a:tabLst>
                          <a:tab pos="0" algn="l"/>
                        </a:tabLst>
                      </a:pPr>
                      <a:r>
                        <a:rPr lang="en-US" sz="1000" b="0" strike="noStrike" spc="-1">
                          <a:solidFill>
                            <a:srgbClr val="FFFFFF"/>
                          </a:solidFill>
                          <a:latin typeface="Courier New"/>
                          <a:ea typeface="Courier New"/>
                        </a:rPr>
                        <a:t>F5CTSLTM6.03</a:t>
                      </a:r>
                      <a:endParaRPr lang="en-US" sz="1000" b="0" strike="noStrike" spc="-1">
                        <a:solidFill>
                          <a:srgbClr val="FFFFFF"/>
                        </a:solidFill>
                        <a:latin typeface="Arial"/>
                      </a:endParaRPr>
                    </a:p>
                  </a:txBody>
                  <a:tcPr marL="75960" marR="75960">
                    <a:lnL>
                      <a:noFill/>
                    </a:lnL>
                    <a:lnR>
                      <a:noFill/>
                    </a:lnR>
                    <a:lnT>
                      <a:noFill/>
                    </a:lnT>
                    <a:lnB>
                      <a:noFill/>
                    </a:lnB>
                    <a:solidFill>
                      <a:srgbClr val="1A1A1A"/>
                    </a:solidFill>
                  </a:tcPr>
                </a:tc>
                <a:tc>
                  <a:txBody>
                    <a:bodyPr/>
                    <a:lstStyle/>
                    <a:p>
                      <a:pPr algn="ctr" defTabSz="914400">
                        <a:lnSpc>
                          <a:spcPct val="100000"/>
                        </a:lnSpc>
                        <a:tabLst>
                          <a:tab pos="0" algn="l"/>
                        </a:tabLst>
                      </a:pPr>
                      <a:r>
                        <a:rPr lang="en-US" sz="1000" b="1" strike="noStrike" spc="-1">
                          <a:solidFill>
                            <a:srgbClr val="F29A36"/>
                          </a:solidFill>
                          <a:latin typeface="Calibri"/>
                        </a:rPr>
                        <a:t>A/E</a:t>
                      </a:r>
                      <a:endParaRPr lang="en-US" sz="1000" b="0" strike="noStrike" spc="-1">
                        <a:solidFill>
                          <a:srgbClr val="FFFFFF"/>
                        </a:solidFill>
                        <a:latin typeface="Arial"/>
                      </a:endParaRPr>
                    </a:p>
                  </a:txBody>
                  <a:tcPr marL="75960" marR="75960">
                    <a:lnL>
                      <a:noFill/>
                    </a:lnL>
                    <a:lnR>
                      <a:noFill/>
                    </a:lnR>
                    <a:lnT>
                      <a:noFill/>
                    </a:lnT>
                    <a:lnB>
                      <a:noFill/>
                    </a:lnB>
                    <a:solidFill>
                      <a:srgbClr val="1A1A1A"/>
                    </a:solidFill>
                  </a:tcPr>
                </a:tc>
                <a:tc>
                  <a:txBody>
                    <a:bodyPr/>
                    <a:lstStyle/>
                    <a:p>
                      <a:pPr defTabSz="914400">
                        <a:lnSpc>
                          <a:spcPct val="100000"/>
                        </a:lnSpc>
                        <a:tabLst>
                          <a:tab pos="0" algn="l"/>
                        </a:tabLst>
                      </a:pPr>
                      <a:r>
                        <a:rPr lang="en-US" sz="1000" b="0" strike="noStrike" spc="-1">
                          <a:solidFill>
                            <a:srgbClr val="666666"/>
                          </a:solidFill>
                          <a:latin typeface="Calibri"/>
                        </a:rPr>
                        <a:t>Given packet capture, determine HTTPS problem solution</a:t>
                      </a:r>
                      <a:endParaRPr lang="en-US" sz="1000" b="0" strike="noStrike" spc="-1">
                        <a:solidFill>
                          <a:srgbClr val="FFFFFF"/>
                        </a:solidFill>
                        <a:latin typeface="Arial"/>
                      </a:endParaRPr>
                    </a:p>
                  </a:txBody>
                  <a:tcPr marL="75960" marR="75960">
                    <a:lnL>
                      <a:noFill/>
                    </a:lnL>
                    <a:lnR>
                      <a:noFill/>
                    </a:lnR>
                    <a:lnT>
                      <a:noFill/>
                    </a:lnT>
                    <a:lnB>
                      <a:noFill/>
                    </a:lnB>
                    <a:solidFill>
                      <a:srgbClr val="1A1A1A"/>
                    </a:solidFill>
                  </a:tcPr>
                </a:tc>
                <a:extLst>
                  <a:ext uri="{0D108BD9-81ED-4DB2-BD59-A6C34878D82A}">
                    <a16:rowId xmlns:a16="http://schemas.microsoft.com/office/drawing/2014/main" val="10002"/>
                  </a:ext>
                </a:extLst>
              </a:tr>
              <a:tr h="0">
                <a:tc>
                  <a:txBody>
                    <a:bodyPr/>
                    <a:lstStyle/>
                    <a:p>
                      <a:pPr defTabSz="914400">
                        <a:lnSpc>
                          <a:spcPct val="100000"/>
                        </a:lnSpc>
                        <a:tabLst>
                          <a:tab pos="0" algn="l"/>
                        </a:tabLst>
                      </a:pPr>
                      <a:r>
                        <a:rPr lang="en-US" sz="1000" b="0" strike="noStrike" spc="-1">
                          <a:solidFill>
                            <a:srgbClr val="FFFFFF"/>
                          </a:solidFill>
                          <a:latin typeface="Courier New"/>
                          <a:ea typeface="Courier New"/>
                        </a:rPr>
                        <a:t>F5CTSLTM6.04</a:t>
                      </a:r>
                      <a:endParaRPr lang="en-US" sz="1000" b="0" strike="noStrike" spc="-1">
                        <a:solidFill>
                          <a:srgbClr val="FFFFFF"/>
                        </a:solidFill>
                        <a:latin typeface="Arial"/>
                      </a:endParaRPr>
                    </a:p>
                  </a:txBody>
                  <a:tcPr marL="75960" marR="75960">
                    <a:lnL>
                      <a:noFill/>
                    </a:lnL>
                    <a:lnR>
                      <a:noFill/>
                    </a:lnR>
                    <a:lnT>
                      <a:noFill/>
                    </a:lnT>
                    <a:lnB>
                      <a:noFill/>
                    </a:lnB>
                    <a:solidFill>
                      <a:srgbClr val="111111"/>
                    </a:solidFill>
                  </a:tcPr>
                </a:tc>
                <a:tc>
                  <a:txBody>
                    <a:bodyPr/>
                    <a:lstStyle/>
                    <a:p>
                      <a:pPr algn="ctr" defTabSz="914400">
                        <a:lnSpc>
                          <a:spcPct val="100000"/>
                        </a:lnSpc>
                        <a:tabLst>
                          <a:tab pos="0" algn="l"/>
                        </a:tabLst>
                      </a:pPr>
                      <a:r>
                        <a:rPr lang="en-US" sz="1000" b="1" strike="noStrike" spc="-1">
                          <a:solidFill>
                            <a:srgbClr val="009639"/>
                          </a:solidFill>
                          <a:latin typeface="Calibri"/>
                        </a:rPr>
                        <a:t>U/A</a:t>
                      </a:r>
                      <a:endParaRPr lang="en-US" sz="1000" b="0" strike="noStrike" spc="-1">
                        <a:solidFill>
                          <a:srgbClr val="FFFFFF"/>
                        </a:solidFill>
                        <a:latin typeface="Arial"/>
                      </a:endParaRPr>
                    </a:p>
                  </a:txBody>
                  <a:tcPr marL="75960" marR="75960">
                    <a:lnL>
                      <a:noFill/>
                    </a:lnL>
                    <a:lnR>
                      <a:noFill/>
                    </a:lnR>
                    <a:lnT>
                      <a:noFill/>
                    </a:lnT>
                    <a:lnB>
                      <a:noFill/>
                    </a:lnB>
                    <a:solidFill>
                      <a:srgbClr val="111111"/>
                    </a:solidFill>
                  </a:tcPr>
                </a:tc>
                <a:tc>
                  <a:txBody>
                    <a:bodyPr/>
                    <a:lstStyle/>
                    <a:p>
                      <a:pPr defTabSz="914400">
                        <a:lnSpc>
                          <a:spcPct val="100000"/>
                        </a:lnSpc>
                        <a:tabLst>
                          <a:tab pos="0" algn="l"/>
                        </a:tabLst>
                      </a:pPr>
                      <a:r>
                        <a:rPr lang="en-US" sz="1000" b="0" strike="noStrike" spc="-1">
                          <a:solidFill>
                            <a:srgbClr val="666666"/>
                          </a:solidFill>
                          <a:latin typeface="Calibri"/>
                        </a:rPr>
                        <a:t>Determine where to collect protocol analyzer data</a:t>
                      </a:r>
                      <a:endParaRPr lang="en-US" sz="1000" b="0" strike="noStrike" spc="-1">
                        <a:solidFill>
                          <a:srgbClr val="FFFFFF"/>
                        </a:solidFill>
                        <a:latin typeface="Arial"/>
                      </a:endParaRPr>
                    </a:p>
                  </a:txBody>
                  <a:tcPr marL="75960" marR="75960">
                    <a:lnL>
                      <a:noFill/>
                    </a:lnL>
                    <a:lnR>
                      <a:noFill/>
                    </a:lnR>
                    <a:lnT>
                      <a:noFill/>
                    </a:lnT>
                    <a:lnB>
                      <a:noFill/>
                    </a:lnB>
                    <a:solidFill>
                      <a:srgbClr val="111111"/>
                    </a:solidFill>
                  </a:tcPr>
                </a:tc>
                <a:extLst>
                  <a:ext uri="{0D108BD9-81ED-4DB2-BD59-A6C34878D82A}">
                    <a16:rowId xmlns:a16="http://schemas.microsoft.com/office/drawing/2014/main" val="10003"/>
                  </a:ext>
                </a:extLst>
              </a:tr>
            </a:tbl>
          </a:graphicData>
        </a:graphic>
      </p:graphicFrame>
      <p:sp>
        <p:nvSpPr>
          <p:cNvPr id="1094" name="Text 5"/>
          <p:cNvSpPr/>
          <p:nvPr/>
        </p:nvSpPr>
        <p:spPr>
          <a:xfrm>
            <a:off x="365760" y="2560320"/>
            <a:ext cx="7314840" cy="1096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strike="noStrike" spc="-1">
                <a:solidFill>
                  <a:srgbClr val="666666"/>
                </a:solidFill>
                <a:latin typeface="Calibri"/>
                <a:ea typeface="Calibri"/>
              </a:rPr>
              <a:t>LAB 5</a:t>
            </a:r>
            <a:endParaRPr lang="en-US" sz="1400" b="0" strike="noStrike" spc="-1">
              <a:solidFill>
                <a:srgbClr val="FFFFFF"/>
              </a:solidFill>
              <a:latin typeface="Arial"/>
            </a:endParaRPr>
          </a:p>
          <a:p>
            <a:pPr defTabSz="914400">
              <a:lnSpc>
                <a:spcPct val="100000"/>
              </a:lnSpc>
              <a:tabLst>
                <a:tab pos="0" algn="l"/>
              </a:tabLst>
            </a:pPr>
            <a:r>
              <a:rPr lang="en-US" sz="3400" b="1" strike="noStrike" spc="-1">
                <a:solidFill>
                  <a:srgbClr val="FFFFFF"/>
                </a:solidFill>
                <a:latin typeface="Arial"/>
                <a:ea typeface="Arial"/>
              </a:rPr>
              <a:t>SSL Certificates and Profiles</a:t>
            </a:r>
            <a:endParaRPr lang="en-US" sz="3400" b="0" strike="noStrike" spc="-1">
              <a:solidFill>
                <a:srgbClr val="FFFFFF"/>
              </a:solidFill>
              <a:latin typeface="Arial"/>
            </a:endParaRPr>
          </a:p>
        </p:txBody>
      </p:sp>
      <p:sp>
        <p:nvSpPr>
          <p:cNvPr id="1095" name="Text 6"/>
          <p:cNvSpPr/>
          <p:nvPr/>
        </p:nvSpPr>
        <p:spPr>
          <a:xfrm>
            <a:off x="365760" y="3657600"/>
            <a:ext cx="64004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strike="noStrike" spc="-1">
                <a:solidFill>
                  <a:srgbClr val="666666"/>
                </a:solidFill>
                <a:latin typeface="Calibri"/>
                <a:ea typeface="Calibri"/>
              </a:rPr>
              <a:t>Create and import SSL certificates, build custom Client-SSL and Server-SSL</a:t>
            </a:r>
            <a:endParaRPr lang="en-US" sz="1400" b="0" strike="noStrike" spc="-1">
              <a:solidFill>
                <a:srgbClr val="FFFFFF"/>
              </a:solidFill>
              <a:latin typeface="Arial"/>
            </a:endParaRPr>
          </a:p>
          <a:p>
            <a:pPr defTabSz="914400">
              <a:lnSpc>
                <a:spcPct val="100000"/>
              </a:lnSpc>
              <a:tabLst>
                <a:tab pos="0" algn="l"/>
              </a:tabLst>
            </a:pPr>
            <a:r>
              <a:rPr lang="en-US" sz="1400" b="0" strike="noStrike" spc="-1">
                <a:solidFill>
                  <a:srgbClr val="666666"/>
                </a:solidFill>
                <a:latin typeface="Calibri"/>
                <a:ea typeface="Calibri"/>
              </a:rPr>
              <a:t>profiles, walk through TLS negotiation, and capture decrypted traffic</a:t>
            </a:r>
            <a:endParaRPr lang="en-US" sz="1400" b="0" strike="noStrike" spc="-1">
              <a:solidFill>
                <a:srgbClr val="FFFFFF"/>
              </a:solidFill>
              <a:latin typeface="Arial"/>
            </a:endParaRPr>
          </a:p>
          <a:p>
            <a:pPr defTabSz="914400">
              <a:lnSpc>
                <a:spcPct val="100000"/>
              </a:lnSpc>
              <a:tabLst>
                <a:tab pos="0" algn="l"/>
              </a:tabLst>
            </a:pPr>
            <a:r>
              <a:rPr lang="en-US" sz="1400" b="0" strike="noStrike" spc="-1">
                <a:solidFill>
                  <a:srgbClr val="666666"/>
                </a:solidFill>
                <a:latin typeface="Calibri"/>
                <a:ea typeface="Calibri"/>
              </a:rPr>
              <a:t>with tcpdump --f5 ssl provider.</a:t>
            </a:r>
            <a:endParaRPr lang="en-US" sz="1400" b="0" strike="noStrike" spc="-1">
              <a:solidFill>
                <a:srgbClr val="FFFFFF"/>
              </a:solidFill>
              <a:latin typeface="Arial"/>
            </a:endParaRPr>
          </a:p>
        </p:txBody>
      </p:sp>
      <p:sp>
        <p:nvSpPr>
          <p:cNvPr id="1096" name="Text 7"/>
          <p:cNvSpPr/>
          <p:nvPr/>
        </p:nvSpPr>
        <p:spPr>
          <a:xfrm>
            <a:off x="365760" y="4343400"/>
            <a:ext cx="45716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strike="noStrike" spc="-1">
                <a:solidFill>
                  <a:srgbClr val="F29A36"/>
                </a:solidFill>
                <a:latin typeface="Calibri"/>
                <a:ea typeface="Calibri"/>
              </a:rPr>
              <a:t>50 min  |  20 min slides + 30 min lab</a:t>
            </a:r>
            <a:endParaRPr lang="en-US" sz="1100" b="0" strike="noStrike" spc="-1">
              <a:solidFill>
                <a:srgbClr val="FFFFFF"/>
              </a:solidFill>
              <a:latin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97"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098"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099"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100"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101"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102"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48    © 2026 F5</a:t>
            </a:r>
            <a:endParaRPr lang="en-US" sz="800" b="0" strike="noStrike" spc="-1">
              <a:solidFill>
                <a:srgbClr val="000000"/>
              </a:solidFill>
              <a:latin typeface="Arial"/>
            </a:endParaRPr>
          </a:p>
        </p:txBody>
      </p:sp>
      <p:pic>
        <p:nvPicPr>
          <p:cNvPr id="1103" name="Image 0" descr="preencoded.png"/>
          <p:cNvPicPr/>
          <p:nvPr/>
        </p:nvPicPr>
        <p:blipFill>
          <a:blip r:embed="rId3"/>
          <a:stretch/>
        </p:blipFill>
        <p:spPr>
          <a:xfrm>
            <a:off x="8458200" y="4663440"/>
            <a:ext cx="383760" cy="383760"/>
          </a:xfrm>
          <a:prstGeom prst="rect">
            <a:avLst/>
          </a:prstGeom>
          <a:ln w="0">
            <a:noFill/>
          </a:ln>
        </p:spPr>
      </p:pic>
      <p:sp>
        <p:nvSpPr>
          <p:cNvPr id="1104" name="Text 6"/>
          <p:cNvSpPr/>
          <p:nvPr/>
        </p:nvSpPr>
        <p:spPr>
          <a:xfrm>
            <a:off x="457200" y="274320"/>
            <a:ext cx="82292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SSL certificate lifecycle</a:t>
            </a:r>
            <a:endParaRPr lang="en-US" sz="2800" b="0" strike="noStrike" spc="-1">
              <a:solidFill>
                <a:srgbClr val="000000"/>
              </a:solidFill>
              <a:latin typeface="Arial"/>
            </a:endParaRPr>
          </a:p>
        </p:txBody>
      </p:sp>
      <p:sp>
        <p:nvSpPr>
          <p:cNvPr id="1105" name="Text 7"/>
          <p:cNvSpPr/>
          <p:nvPr/>
        </p:nvSpPr>
        <p:spPr>
          <a:xfrm>
            <a:off x="457200" y="658440"/>
            <a:ext cx="82292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strike="noStrike" spc="-1">
                <a:solidFill>
                  <a:srgbClr val="666666"/>
                </a:solidFill>
                <a:latin typeface="Calibri"/>
                <a:ea typeface="Calibri"/>
              </a:rPr>
              <a:t>Manage certificates on the BIG-IP: create, import, renew, and monitor expiration</a:t>
            </a:r>
            <a:endParaRPr lang="en-US" sz="1300" b="0" strike="noStrike" spc="-1">
              <a:solidFill>
                <a:srgbClr val="000000"/>
              </a:solidFill>
              <a:latin typeface="Arial"/>
            </a:endParaRPr>
          </a:p>
        </p:txBody>
      </p:sp>
      <p:sp>
        <p:nvSpPr>
          <p:cNvPr id="1106" name="Shape 8"/>
          <p:cNvSpPr/>
          <p:nvPr/>
        </p:nvSpPr>
        <p:spPr>
          <a:xfrm>
            <a:off x="365760" y="1051560"/>
            <a:ext cx="2011320" cy="36540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107" name="Text 9"/>
          <p:cNvSpPr/>
          <p:nvPr/>
        </p:nvSpPr>
        <p:spPr>
          <a:xfrm>
            <a:off x="365760" y="1051560"/>
            <a:ext cx="201132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rgbClr val="FFFFFF"/>
                </a:solidFill>
                <a:latin typeface="Arial"/>
                <a:ea typeface="Arial"/>
              </a:rPr>
              <a:t>1  Create or import</a:t>
            </a:r>
            <a:endParaRPr lang="en-US" sz="1100" b="0" strike="noStrike" spc="-1">
              <a:solidFill>
                <a:srgbClr val="000000"/>
              </a:solidFill>
              <a:latin typeface="Arial"/>
            </a:endParaRPr>
          </a:p>
        </p:txBody>
      </p:sp>
      <p:sp>
        <p:nvSpPr>
          <p:cNvPr id="1108" name="Shape 10"/>
          <p:cNvSpPr/>
          <p:nvPr/>
        </p:nvSpPr>
        <p:spPr>
          <a:xfrm>
            <a:off x="365760" y="1417320"/>
            <a:ext cx="2011320" cy="146268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109" name="Text 11"/>
          <p:cNvSpPr/>
          <p:nvPr/>
        </p:nvSpPr>
        <p:spPr>
          <a:xfrm>
            <a:off x="438840" y="1463040"/>
            <a:ext cx="1865160" cy="13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30000"/>
              </a:lnSpc>
              <a:tabLst>
                <a:tab pos="0" algn="l"/>
              </a:tabLst>
            </a:pPr>
            <a:r>
              <a:rPr lang="en-US" sz="900" b="0" strike="noStrike" spc="-1">
                <a:solidFill>
                  <a:srgbClr val="333333"/>
                </a:solidFill>
                <a:latin typeface="Calibri"/>
                <a:ea typeface="Calibri"/>
              </a:rPr>
              <a:t>Self-signed: System &gt; SSL Certificate List &gt; Create. CA-signed: generate CSR, submit to CA, import signed cert. Import key FIRST, then certificate.</a:t>
            </a:r>
            <a:endParaRPr lang="en-US" sz="900" b="0" strike="noStrike" spc="-1">
              <a:solidFill>
                <a:srgbClr val="000000"/>
              </a:solidFill>
              <a:latin typeface="Arial"/>
            </a:endParaRPr>
          </a:p>
        </p:txBody>
      </p:sp>
      <p:sp>
        <p:nvSpPr>
          <p:cNvPr id="1110" name="Shape 12"/>
          <p:cNvSpPr/>
          <p:nvPr/>
        </p:nvSpPr>
        <p:spPr>
          <a:xfrm>
            <a:off x="2560320" y="1051560"/>
            <a:ext cx="2011320" cy="36540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111" name="Text 13"/>
          <p:cNvSpPr/>
          <p:nvPr/>
        </p:nvSpPr>
        <p:spPr>
          <a:xfrm>
            <a:off x="2560320" y="1051560"/>
            <a:ext cx="201132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rgbClr val="FFFFFF"/>
                </a:solidFill>
                <a:latin typeface="Arial"/>
                <a:ea typeface="Arial"/>
              </a:rPr>
              <a:t>2  Assign to profile</a:t>
            </a:r>
            <a:endParaRPr lang="en-US" sz="1100" b="0" strike="noStrike" spc="-1">
              <a:solidFill>
                <a:srgbClr val="000000"/>
              </a:solidFill>
              <a:latin typeface="Arial"/>
            </a:endParaRPr>
          </a:p>
        </p:txBody>
      </p:sp>
      <p:sp>
        <p:nvSpPr>
          <p:cNvPr id="1112" name="Shape 14"/>
          <p:cNvSpPr/>
          <p:nvPr/>
        </p:nvSpPr>
        <p:spPr>
          <a:xfrm>
            <a:off x="2560320" y="1417320"/>
            <a:ext cx="2011320" cy="146268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113" name="Text 15"/>
          <p:cNvSpPr/>
          <p:nvPr/>
        </p:nvSpPr>
        <p:spPr>
          <a:xfrm>
            <a:off x="2633400" y="1463040"/>
            <a:ext cx="1865160" cy="13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30000"/>
              </a:lnSpc>
              <a:tabLst>
                <a:tab pos="0" algn="l"/>
              </a:tabLst>
            </a:pPr>
            <a:r>
              <a:rPr lang="en-US" sz="900" b="0" strike="noStrike" spc="-1">
                <a:solidFill>
                  <a:srgbClr val="333333"/>
                </a:solidFill>
                <a:latin typeface="Calibri"/>
                <a:ea typeface="Calibri"/>
              </a:rPr>
              <a:t>Client-SSL or Server-SSL profile. Select cert + key in Certificate Key Chain. Click Add before Finish (11.6+). Can add RSA + ECDSA dual certs.</a:t>
            </a:r>
            <a:endParaRPr lang="en-US" sz="900" b="0" strike="noStrike" spc="-1">
              <a:solidFill>
                <a:srgbClr val="000000"/>
              </a:solidFill>
              <a:latin typeface="Arial"/>
            </a:endParaRPr>
          </a:p>
        </p:txBody>
      </p:sp>
      <p:sp>
        <p:nvSpPr>
          <p:cNvPr id="1114" name="Shape 16"/>
          <p:cNvSpPr/>
          <p:nvPr/>
        </p:nvSpPr>
        <p:spPr>
          <a:xfrm>
            <a:off x="4754880" y="1051560"/>
            <a:ext cx="2011320" cy="365400"/>
          </a:xfrm>
          <a:prstGeom prst="rect">
            <a:avLst/>
          </a:prstGeom>
          <a:solidFill>
            <a:srgbClr val="00963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115" name="Text 17"/>
          <p:cNvSpPr/>
          <p:nvPr/>
        </p:nvSpPr>
        <p:spPr>
          <a:xfrm>
            <a:off x="4754880" y="1051560"/>
            <a:ext cx="201132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rgbClr val="FFFFFF"/>
                </a:solidFill>
                <a:latin typeface="Arial"/>
                <a:ea typeface="Arial"/>
              </a:rPr>
              <a:t>3  Attach to VS</a:t>
            </a:r>
            <a:endParaRPr lang="en-US" sz="1100" b="0" strike="noStrike" spc="-1">
              <a:solidFill>
                <a:srgbClr val="000000"/>
              </a:solidFill>
              <a:latin typeface="Arial"/>
            </a:endParaRPr>
          </a:p>
        </p:txBody>
      </p:sp>
      <p:sp>
        <p:nvSpPr>
          <p:cNvPr id="1116" name="Shape 18"/>
          <p:cNvSpPr/>
          <p:nvPr/>
        </p:nvSpPr>
        <p:spPr>
          <a:xfrm>
            <a:off x="4754880" y="1417320"/>
            <a:ext cx="2011320" cy="146268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117" name="Text 19"/>
          <p:cNvSpPr/>
          <p:nvPr/>
        </p:nvSpPr>
        <p:spPr>
          <a:xfrm>
            <a:off x="4827960" y="1463040"/>
            <a:ext cx="1865160" cy="13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30000"/>
              </a:lnSpc>
              <a:tabLst>
                <a:tab pos="0" algn="l"/>
              </a:tabLst>
            </a:pPr>
            <a:r>
              <a:rPr lang="en-US" sz="900" b="0" strike="noStrike" spc="-1">
                <a:solidFill>
                  <a:srgbClr val="333333"/>
                </a:solidFill>
                <a:latin typeface="Calibri"/>
                <a:ea typeface="Calibri"/>
              </a:rPr>
              <a:t>Client-SSL: context clientside. Server-SSL: context serverside. Test with browser. Verify cert details via padlock icon.</a:t>
            </a:r>
            <a:endParaRPr lang="en-US" sz="900" b="0" strike="noStrike" spc="-1">
              <a:solidFill>
                <a:srgbClr val="000000"/>
              </a:solidFill>
              <a:latin typeface="Arial"/>
            </a:endParaRPr>
          </a:p>
        </p:txBody>
      </p:sp>
      <p:sp>
        <p:nvSpPr>
          <p:cNvPr id="1118" name="Shape 20"/>
          <p:cNvSpPr/>
          <p:nvPr/>
        </p:nvSpPr>
        <p:spPr>
          <a:xfrm>
            <a:off x="6949440" y="1051560"/>
            <a:ext cx="2011320" cy="36540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119" name="Text 21"/>
          <p:cNvSpPr/>
          <p:nvPr/>
        </p:nvSpPr>
        <p:spPr>
          <a:xfrm>
            <a:off x="6949440" y="1051560"/>
            <a:ext cx="201132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rgbClr val="FFFFFF"/>
                </a:solidFill>
                <a:latin typeface="Arial"/>
                <a:ea typeface="Arial"/>
              </a:rPr>
              <a:t>4  Renew / monitor</a:t>
            </a:r>
            <a:endParaRPr lang="en-US" sz="1100" b="0" strike="noStrike" spc="-1">
              <a:solidFill>
                <a:srgbClr val="000000"/>
              </a:solidFill>
              <a:latin typeface="Arial"/>
            </a:endParaRPr>
          </a:p>
        </p:txBody>
      </p:sp>
      <p:sp>
        <p:nvSpPr>
          <p:cNvPr id="1120" name="Shape 22"/>
          <p:cNvSpPr/>
          <p:nvPr/>
        </p:nvSpPr>
        <p:spPr>
          <a:xfrm>
            <a:off x="6949440" y="1417320"/>
            <a:ext cx="2011320" cy="146268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121" name="Text 23"/>
          <p:cNvSpPr/>
          <p:nvPr/>
        </p:nvSpPr>
        <p:spPr>
          <a:xfrm>
            <a:off x="7022520" y="1463040"/>
            <a:ext cx="1865160" cy="13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30000"/>
              </a:lnSpc>
              <a:tabLst>
                <a:tab pos="0" algn="l"/>
              </a:tabLst>
            </a:pPr>
            <a:r>
              <a:rPr lang="en-US" sz="900" b="0" strike="noStrike" spc="-1">
                <a:solidFill>
                  <a:srgbClr val="333333"/>
                </a:solidFill>
                <a:latin typeface="Calibri"/>
                <a:ea typeface="Calibri"/>
              </a:rPr>
              <a:t>Track expiration dates. Replace cert in profile — no restart needed. New conns use new cert immediately. Use iCall scripts for alerts.</a:t>
            </a:r>
            <a:endParaRPr lang="en-US" sz="900" b="0" strike="noStrike" spc="-1">
              <a:solidFill>
                <a:srgbClr val="000000"/>
              </a:solidFill>
              <a:latin typeface="Arial"/>
            </a:endParaRPr>
          </a:p>
        </p:txBody>
      </p:sp>
      <p:sp>
        <p:nvSpPr>
          <p:cNvPr id="1122" name="Text 24"/>
          <p:cNvSpPr/>
          <p:nvPr/>
        </p:nvSpPr>
        <p:spPr>
          <a:xfrm>
            <a:off x="457200" y="3063240"/>
            <a:ext cx="45716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strike="noStrike" spc="-1">
                <a:solidFill>
                  <a:srgbClr val="0E41AA"/>
                </a:solidFill>
                <a:latin typeface="Arial"/>
                <a:ea typeface="Arial"/>
              </a:rPr>
              <a:t>Certificate types</a:t>
            </a:r>
            <a:endParaRPr lang="en-US" sz="1600" b="0" strike="noStrike" spc="-1">
              <a:solidFill>
                <a:srgbClr val="000000"/>
              </a:solidFill>
              <a:latin typeface="Arial"/>
            </a:endParaRPr>
          </a:p>
        </p:txBody>
      </p:sp>
      <p:graphicFrame>
        <p:nvGraphicFramePr>
          <p:cNvPr id="1123" name="Table 0"/>
          <p:cNvGraphicFramePr/>
          <p:nvPr/>
        </p:nvGraphicFramePr>
        <p:xfrm>
          <a:off x="365760" y="3337560"/>
          <a:ext cx="8412480" cy="1158240"/>
        </p:xfrm>
        <a:graphic>
          <a:graphicData uri="http://schemas.openxmlformats.org/drawingml/2006/table">
            <a:tbl>
              <a:tblPr/>
              <a:tblGrid>
                <a:gridCol w="109728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3657600">
                  <a:extLst>
                    <a:ext uri="{9D8B030D-6E8A-4147-A177-3AD203B41FA5}">
                      <a16:colId xmlns:a16="http://schemas.microsoft.com/office/drawing/2014/main" val="20003"/>
                    </a:ext>
                  </a:extLst>
                </a:gridCol>
              </a:tblGrid>
              <a:tr h="0">
                <a:tc>
                  <a:txBody>
                    <a:bodyPr/>
                    <a:lstStyle/>
                    <a:p>
                      <a:pPr defTabSz="914400">
                        <a:lnSpc>
                          <a:spcPct val="100000"/>
                        </a:lnSpc>
                        <a:tabLst>
                          <a:tab pos="0" algn="l"/>
                        </a:tabLst>
                      </a:pPr>
                      <a:r>
                        <a:rPr lang="en-US" sz="1000" b="1" strike="noStrike" spc="-1">
                          <a:solidFill>
                            <a:srgbClr val="FFFFFF"/>
                          </a:solidFill>
                          <a:latin typeface="Calibri"/>
                        </a:rPr>
                        <a:t>Type</a:t>
                      </a:r>
                      <a:endParaRPr lang="en-US" sz="10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E41AA"/>
                    </a:solidFill>
                  </a:tcPr>
                </a:tc>
                <a:tc>
                  <a:txBody>
                    <a:bodyPr/>
                    <a:lstStyle/>
                    <a:p>
                      <a:pPr defTabSz="914400">
                        <a:lnSpc>
                          <a:spcPct val="100000"/>
                        </a:lnSpc>
                        <a:tabLst>
                          <a:tab pos="0" algn="l"/>
                        </a:tabLst>
                      </a:pPr>
                      <a:r>
                        <a:rPr lang="en-US" sz="1000" b="1" strike="noStrike" spc="-1">
                          <a:solidFill>
                            <a:srgbClr val="FFFFFF"/>
                          </a:solidFill>
                          <a:latin typeface="Calibri"/>
                        </a:rPr>
                        <a:t>Issued by</a:t>
                      </a:r>
                      <a:endParaRPr lang="en-US" sz="10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E41AA"/>
                    </a:solidFill>
                  </a:tcPr>
                </a:tc>
                <a:tc>
                  <a:txBody>
                    <a:bodyPr/>
                    <a:lstStyle/>
                    <a:p>
                      <a:pPr defTabSz="914400">
                        <a:lnSpc>
                          <a:spcPct val="100000"/>
                        </a:lnSpc>
                        <a:tabLst>
                          <a:tab pos="0" algn="l"/>
                        </a:tabLst>
                      </a:pPr>
                      <a:r>
                        <a:rPr lang="en-US" sz="1000" b="1" strike="noStrike" spc="-1">
                          <a:solidFill>
                            <a:srgbClr val="FFFFFF"/>
                          </a:solidFill>
                          <a:latin typeface="Calibri"/>
                        </a:rPr>
                        <a:t>Browser trust</a:t>
                      </a:r>
                      <a:endParaRPr lang="en-US" sz="10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E41AA"/>
                    </a:solidFill>
                  </a:tcPr>
                </a:tc>
                <a:tc>
                  <a:txBody>
                    <a:bodyPr/>
                    <a:lstStyle/>
                    <a:p>
                      <a:pPr defTabSz="914400">
                        <a:lnSpc>
                          <a:spcPct val="100000"/>
                        </a:lnSpc>
                        <a:tabLst>
                          <a:tab pos="0" algn="l"/>
                        </a:tabLst>
                      </a:pPr>
                      <a:r>
                        <a:rPr lang="en-US" sz="1000" b="1" strike="noStrike" spc="-1">
                          <a:solidFill>
                            <a:srgbClr val="FFFFFF"/>
                          </a:solidFill>
                          <a:latin typeface="Calibri"/>
                        </a:rPr>
                        <a:t>Use case</a:t>
                      </a:r>
                      <a:endParaRPr lang="en-US" sz="10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E41AA"/>
                    </a:solidFill>
                  </a:tcPr>
                </a:tc>
                <a:extLst>
                  <a:ext uri="{0D108BD9-81ED-4DB2-BD59-A6C34878D82A}">
                    <a16:rowId xmlns:a16="http://schemas.microsoft.com/office/drawing/2014/main" val="10000"/>
                  </a:ext>
                </a:extLst>
              </a:tr>
              <a:tr h="0">
                <a:tc>
                  <a:txBody>
                    <a:bodyPr/>
                    <a:lstStyle/>
                    <a:p>
                      <a:pPr defTabSz="914400">
                        <a:lnSpc>
                          <a:spcPct val="100000"/>
                        </a:lnSpc>
                        <a:tabLst>
                          <a:tab pos="0" algn="l"/>
                        </a:tabLst>
                      </a:pPr>
                      <a:r>
                        <a:rPr lang="en-US" sz="900" b="1" strike="noStrike" spc="-1">
                          <a:solidFill>
                            <a:srgbClr val="000000"/>
                          </a:solidFill>
                          <a:latin typeface="Calibri"/>
                        </a:rPr>
                        <a:t>Self-signed</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BIG-IP itself</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E4002B"/>
                          </a:solidFill>
                          <a:latin typeface="Calibri"/>
                        </a:rPr>
                        <a:t>Not trusted (warning)</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Lab, testing, internal apps, server-side re-encryption</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1"/>
                  </a:ext>
                </a:extLst>
              </a:tr>
              <a:tr h="0">
                <a:tc>
                  <a:txBody>
                    <a:bodyPr/>
                    <a:lstStyle/>
                    <a:p>
                      <a:pPr defTabSz="914400">
                        <a:lnSpc>
                          <a:spcPct val="100000"/>
                        </a:lnSpc>
                        <a:tabLst>
                          <a:tab pos="0" algn="l"/>
                        </a:tabLst>
                      </a:pPr>
                      <a:r>
                        <a:rPr lang="en-US" sz="900" b="1" strike="noStrike" spc="-1">
                          <a:solidFill>
                            <a:srgbClr val="000000"/>
                          </a:solidFill>
                          <a:latin typeface="Calibri"/>
                        </a:rPr>
                        <a:t>CA-signed</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Certificate Authority (DigiCert, Let's Encrypt)</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9639"/>
                          </a:solidFill>
                          <a:latin typeface="Calibri"/>
                        </a:rPr>
                        <a:t>Trusted ✔</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Production external-facing applications</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2"/>
                  </a:ext>
                </a:extLst>
              </a:tr>
              <a:tr h="0">
                <a:tc>
                  <a:txBody>
                    <a:bodyPr/>
                    <a:lstStyle/>
                    <a:p>
                      <a:pPr defTabSz="914400">
                        <a:lnSpc>
                          <a:spcPct val="100000"/>
                        </a:lnSpc>
                        <a:tabLst>
                          <a:tab pos="0" algn="l"/>
                        </a:tabLst>
                      </a:pPr>
                      <a:r>
                        <a:rPr lang="en-US" sz="900" b="1" strike="noStrike" spc="-1">
                          <a:solidFill>
                            <a:srgbClr val="000000"/>
                          </a:solidFill>
                          <a:latin typeface="Calibri"/>
                        </a:rPr>
                        <a:t>Wildcard</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CA — covers *.domain.com</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9639"/>
                          </a:solidFill>
                          <a:latin typeface="Calibri"/>
                        </a:rPr>
                        <a:t>Trusted ✔</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Multiple virtual servers on same domain</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3"/>
                  </a:ext>
                </a:extLst>
              </a:tr>
              <a:tr h="0">
                <a:tc>
                  <a:txBody>
                    <a:bodyPr/>
                    <a:lstStyle/>
                    <a:p>
                      <a:pPr defTabSz="914400">
                        <a:lnSpc>
                          <a:spcPct val="100000"/>
                        </a:lnSpc>
                        <a:tabLst>
                          <a:tab pos="0" algn="l"/>
                        </a:tabLst>
                      </a:pPr>
                      <a:r>
                        <a:rPr lang="en-US" sz="900" b="1" strike="noStrike" spc="-1">
                          <a:solidFill>
                            <a:srgbClr val="000000"/>
                          </a:solidFill>
                          <a:latin typeface="Calibri"/>
                        </a:rPr>
                        <a:t>SAN / UCC</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CA — multiple CN entries</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9639"/>
                          </a:solidFill>
                          <a:latin typeface="Calibri"/>
                        </a:rPr>
                        <a:t>Trusted ✔</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Multiple different domains on one certificate</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24"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125"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126"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127"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128"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129"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49    © 2026 F5</a:t>
            </a:r>
            <a:endParaRPr lang="en-US" sz="800" b="0" strike="noStrike" spc="-1">
              <a:solidFill>
                <a:srgbClr val="000000"/>
              </a:solidFill>
              <a:latin typeface="Arial"/>
            </a:endParaRPr>
          </a:p>
        </p:txBody>
      </p:sp>
      <p:pic>
        <p:nvPicPr>
          <p:cNvPr id="1130" name="Image 0" descr="preencoded.png"/>
          <p:cNvPicPr/>
          <p:nvPr/>
        </p:nvPicPr>
        <p:blipFill>
          <a:blip r:embed="rId3"/>
          <a:stretch/>
        </p:blipFill>
        <p:spPr>
          <a:xfrm>
            <a:off x="8458200" y="4663440"/>
            <a:ext cx="383760" cy="383760"/>
          </a:xfrm>
          <a:prstGeom prst="rect">
            <a:avLst/>
          </a:prstGeom>
          <a:ln w="0">
            <a:noFill/>
          </a:ln>
        </p:spPr>
      </p:pic>
      <p:sp>
        <p:nvSpPr>
          <p:cNvPr id="1131" name="Text 6"/>
          <p:cNvSpPr/>
          <p:nvPr/>
        </p:nvSpPr>
        <p:spPr>
          <a:xfrm>
            <a:off x="457200" y="274320"/>
            <a:ext cx="82292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SSL profile settings</a:t>
            </a:r>
            <a:endParaRPr lang="en-US" sz="2800" b="0" strike="noStrike" spc="-1">
              <a:solidFill>
                <a:srgbClr val="000000"/>
              </a:solidFill>
              <a:latin typeface="Arial"/>
            </a:endParaRPr>
          </a:p>
        </p:txBody>
      </p:sp>
      <p:sp>
        <p:nvSpPr>
          <p:cNvPr id="1132" name="Text 7"/>
          <p:cNvSpPr/>
          <p:nvPr/>
        </p:nvSpPr>
        <p:spPr>
          <a:xfrm>
            <a:off x="457200" y="658440"/>
            <a:ext cx="82292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strike="noStrike" spc="-1">
                <a:solidFill>
                  <a:srgbClr val="666666"/>
                </a:solidFill>
                <a:latin typeface="Calibri"/>
                <a:ea typeface="Calibri"/>
              </a:rPr>
              <a:t>Key options in Client-SSL and Server-SSL profiles</a:t>
            </a:r>
            <a:endParaRPr lang="en-US" sz="1300" b="0" strike="noStrike" spc="-1">
              <a:solidFill>
                <a:srgbClr val="000000"/>
              </a:solidFill>
              <a:latin typeface="Arial"/>
            </a:endParaRPr>
          </a:p>
        </p:txBody>
      </p:sp>
      <p:graphicFrame>
        <p:nvGraphicFramePr>
          <p:cNvPr id="1133" name="Table 0"/>
          <p:cNvGraphicFramePr/>
          <p:nvPr/>
        </p:nvGraphicFramePr>
        <p:xfrm>
          <a:off x="365760" y="960120"/>
          <a:ext cx="8412480" cy="1828800"/>
        </p:xfrm>
        <a:graphic>
          <a:graphicData uri="http://schemas.openxmlformats.org/drawingml/2006/table">
            <a:tbl>
              <a:tblPr/>
              <a:tblGrid>
                <a:gridCol w="100584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3749040">
                  <a:extLst>
                    <a:ext uri="{9D8B030D-6E8A-4147-A177-3AD203B41FA5}">
                      <a16:colId xmlns:a16="http://schemas.microsoft.com/office/drawing/2014/main" val="20003"/>
                    </a:ext>
                  </a:extLst>
                </a:gridCol>
              </a:tblGrid>
              <a:tr h="0">
                <a:tc>
                  <a:txBody>
                    <a:bodyPr/>
                    <a:lstStyle/>
                    <a:p>
                      <a:pPr defTabSz="914400">
                        <a:lnSpc>
                          <a:spcPct val="100000"/>
                        </a:lnSpc>
                        <a:tabLst>
                          <a:tab pos="0" algn="l"/>
                        </a:tabLst>
                      </a:pPr>
                      <a:r>
                        <a:rPr lang="en-US" sz="900" b="1" strike="noStrike" spc="-1">
                          <a:solidFill>
                            <a:srgbClr val="FFFFFF"/>
                          </a:solidFill>
                          <a:latin typeface="Calibri"/>
                        </a:rPr>
                        <a:t>Setting</a:t>
                      </a:r>
                      <a:endParaRPr lang="en-US" sz="9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E4002B"/>
                    </a:solidFill>
                  </a:tcPr>
                </a:tc>
                <a:tc>
                  <a:txBody>
                    <a:bodyPr/>
                    <a:lstStyle/>
                    <a:p>
                      <a:pPr defTabSz="914400">
                        <a:lnSpc>
                          <a:spcPct val="100000"/>
                        </a:lnSpc>
                        <a:tabLst>
                          <a:tab pos="0" algn="l"/>
                        </a:tabLst>
                      </a:pPr>
                      <a:r>
                        <a:rPr lang="en-US" sz="900" b="1" strike="noStrike" spc="-1">
                          <a:solidFill>
                            <a:srgbClr val="FFFFFF"/>
                          </a:solidFill>
                          <a:latin typeface="Calibri"/>
                        </a:rPr>
                        <a:t>Client-SSL</a:t>
                      </a:r>
                      <a:endParaRPr lang="en-US" sz="9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E4002B"/>
                    </a:solidFill>
                  </a:tcPr>
                </a:tc>
                <a:tc>
                  <a:txBody>
                    <a:bodyPr/>
                    <a:lstStyle/>
                    <a:p>
                      <a:pPr defTabSz="914400">
                        <a:lnSpc>
                          <a:spcPct val="100000"/>
                        </a:lnSpc>
                        <a:tabLst>
                          <a:tab pos="0" algn="l"/>
                        </a:tabLst>
                      </a:pPr>
                      <a:r>
                        <a:rPr lang="en-US" sz="900" b="1" strike="noStrike" spc="-1">
                          <a:solidFill>
                            <a:srgbClr val="FFFFFF"/>
                          </a:solidFill>
                          <a:latin typeface="Calibri"/>
                        </a:rPr>
                        <a:t>Server-SSL</a:t>
                      </a:r>
                      <a:endParaRPr lang="en-US" sz="9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E4002B"/>
                    </a:solidFill>
                  </a:tcPr>
                </a:tc>
                <a:tc>
                  <a:txBody>
                    <a:bodyPr/>
                    <a:lstStyle/>
                    <a:p>
                      <a:pPr defTabSz="914400">
                        <a:lnSpc>
                          <a:spcPct val="100000"/>
                        </a:lnSpc>
                        <a:tabLst>
                          <a:tab pos="0" algn="l"/>
                        </a:tabLst>
                      </a:pPr>
                      <a:r>
                        <a:rPr lang="en-US" sz="900" b="1" strike="noStrike" spc="-1">
                          <a:solidFill>
                            <a:srgbClr val="FFFFFF"/>
                          </a:solidFill>
                          <a:latin typeface="Calibri"/>
                        </a:rPr>
                        <a:t>What it controls</a:t>
                      </a:r>
                      <a:endParaRPr lang="en-US" sz="9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E4002B"/>
                    </a:solidFill>
                  </a:tcPr>
                </a:tc>
                <a:extLst>
                  <a:ext uri="{0D108BD9-81ED-4DB2-BD59-A6C34878D82A}">
                    <a16:rowId xmlns:a16="http://schemas.microsoft.com/office/drawing/2014/main" val="10000"/>
                  </a:ext>
                </a:extLst>
              </a:tr>
              <a:tr h="0">
                <a:tc>
                  <a:txBody>
                    <a:bodyPr/>
                    <a:lstStyle/>
                    <a:p>
                      <a:pPr defTabSz="914400">
                        <a:lnSpc>
                          <a:spcPct val="100000"/>
                        </a:lnSpc>
                        <a:tabLst>
                          <a:tab pos="0" algn="l"/>
                        </a:tabLst>
                      </a:pPr>
                      <a:r>
                        <a:rPr lang="en-US" sz="900" b="1" strike="noStrike" spc="-1">
                          <a:solidFill>
                            <a:srgbClr val="000000"/>
                          </a:solidFill>
                          <a:latin typeface="Calibri"/>
                        </a:rPr>
                        <a:t>Certificate</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Server cert for clients</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Client cert for backend (opt)</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Identity the BIG-IP presents to the connecting party</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1"/>
                  </a:ext>
                </a:extLst>
              </a:tr>
              <a:tr h="0">
                <a:tc>
                  <a:txBody>
                    <a:bodyPr/>
                    <a:lstStyle/>
                    <a:p>
                      <a:pPr defTabSz="914400">
                        <a:lnSpc>
                          <a:spcPct val="100000"/>
                        </a:lnSpc>
                        <a:tabLst>
                          <a:tab pos="0" algn="l"/>
                        </a:tabLst>
                      </a:pPr>
                      <a:r>
                        <a:rPr lang="en-US" sz="900" b="1" strike="noStrike" spc="-1">
                          <a:solidFill>
                            <a:srgbClr val="000000"/>
                          </a:solidFill>
                          <a:latin typeface="Calibri"/>
                        </a:rPr>
                        <a:t>Key</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Private key (must match cert)</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Private key (must match cert)</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BIG-IP validates cert/key match at configuration time</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2"/>
                  </a:ext>
                </a:extLst>
              </a:tr>
              <a:tr h="0">
                <a:tc>
                  <a:txBody>
                    <a:bodyPr/>
                    <a:lstStyle/>
                    <a:p>
                      <a:pPr defTabSz="914400">
                        <a:lnSpc>
                          <a:spcPct val="100000"/>
                        </a:lnSpc>
                        <a:tabLst>
                          <a:tab pos="0" algn="l"/>
                        </a:tabLst>
                      </a:pPr>
                      <a:r>
                        <a:rPr lang="en-US" sz="900" b="1" strike="noStrike" spc="-1">
                          <a:solidFill>
                            <a:srgbClr val="000000"/>
                          </a:solidFill>
                          <a:latin typeface="Calibri"/>
                        </a:rPr>
                        <a:t>Chain</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Intermediate CA cert(s)</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666666"/>
                          </a:solidFill>
                          <a:latin typeface="Calibri"/>
                        </a:rPr>
                        <a:t>N/A</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Completes trust chain for client verification. Client-SSL only.</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3"/>
                  </a:ext>
                </a:extLst>
              </a:tr>
              <a:tr h="0">
                <a:tc>
                  <a:txBody>
                    <a:bodyPr/>
                    <a:lstStyle/>
                    <a:p>
                      <a:pPr defTabSz="914400">
                        <a:lnSpc>
                          <a:spcPct val="100000"/>
                        </a:lnSpc>
                        <a:tabLst>
                          <a:tab pos="0" algn="l"/>
                        </a:tabLst>
                      </a:pPr>
                      <a:r>
                        <a:rPr lang="en-US" sz="900" b="1" strike="noStrike" spc="-1">
                          <a:solidFill>
                            <a:srgbClr val="000000"/>
                          </a:solidFill>
                          <a:latin typeface="Calibri"/>
                        </a:rPr>
                        <a:t>Ciphers</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Cipher string for clients</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Cipher string for servers</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OpenSSL format. Controls which suites are offered/accepted.</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4"/>
                  </a:ext>
                </a:extLst>
              </a:tr>
              <a:tr h="0">
                <a:tc>
                  <a:txBody>
                    <a:bodyPr/>
                    <a:lstStyle/>
                    <a:p>
                      <a:pPr defTabSz="914400">
                        <a:lnSpc>
                          <a:spcPct val="100000"/>
                        </a:lnSpc>
                        <a:tabLst>
                          <a:tab pos="0" algn="l"/>
                        </a:tabLst>
                      </a:pPr>
                      <a:r>
                        <a:rPr lang="en-US" sz="900" b="1" strike="noStrike" spc="-1">
                          <a:solidFill>
                            <a:srgbClr val="000000"/>
                          </a:solidFill>
                          <a:latin typeface="Calibri"/>
                        </a:rPr>
                        <a:t>Options</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Disable SSLv3, TLS 1.0/1.1</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Disable old versions</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Protocol version control. Modern: TLS 1.2 + 1.3 only.</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5"/>
                  </a:ext>
                </a:extLst>
              </a:tr>
              <a:tr h="0">
                <a:tc>
                  <a:txBody>
                    <a:bodyPr/>
                    <a:lstStyle/>
                    <a:p>
                      <a:pPr defTabSz="914400">
                        <a:lnSpc>
                          <a:spcPct val="100000"/>
                        </a:lnSpc>
                        <a:tabLst>
                          <a:tab pos="0" algn="l"/>
                        </a:tabLst>
                      </a:pPr>
                      <a:r>
                        <a:rPr lang="en-US" sz="900" b="1" strike="noStrike" spc="-1">
                          <a:solidFill>
                            <a:srgbClr val="000000"/>
                          </a:solidFill>
                          <a:latin typeface="Calibri"/>
                        </a:rPr>
                        <a:t>Client Auth</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Verify client certificates</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666666"/>
                          </a:solidFill>
                          <a:latin typeface="Calibri"/>
                        </a:rPr>
                        <a:t>N/A</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Mutual TLS — BIG-IP requests cert from client.</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6"/>
                  </a:ext>
                </a:extLst>
              </a:tr>
              <a:tr h="0">
                <a:tc>
                  <a:txBody>
                    <a:bodyPr/>
                    <a:lstStyle/>
                    <a:p>
                      <a:pPr defTabSz="914400">
                        <a:lnSpc>
                          <a:spcPct val="100000"/>
                        </a:lnSpc>
                        <a:tabLst>
                          <a:tab pos="0" algn="l"/>
                        </a:tabLst>
                      </a:pPr>
                      <a:r>
                        <a:rPr lang="en-US" sz="900" b="1" strike="noStrike" spc="-1">
                          <a:solidFill>
                            <a:srgbClr val="000000"/>
                          </a:solidFill>
                          <a:latin typeface="Calibri"/>
                        </a:rPr>
                        <a:t>Server Auth</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666666"/>
                          </a:solidFill>
                          <a:latin typeface="Calibri"/>
                        </a:rPr>
                        <a:t>N/A</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Validate server cert</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BIG-IP verifies backend cert. Disabled by default.</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7"/>
                  </a:ext>
                </a:extLst>
              </a:tr>
            </a:tbl>
          </a:graphicData>
        </a:graphic>
      </p:graphicFrame>
      <p:sp>
        <p:nvSpPr>
          <p:cNvPr id="1134" name="Shape 8"/>
          <p:cNvSpPr/>
          <p:nvPr/>
        </p:nvSpPr>
        <p:spPr>
          <a:xfrm>
            <a:off x="365760" y="3566160"/>
            <a:ext cx="8412120" cy="365400"/>
          </a:xfrm>
          <a:prstGeom prst="rect">
            <a:avLst/>
          </a:prstGeom>
          <a:solidFill>
            <a:srgbClr val="FDE8E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135" name="Text 9"/>
          <p:cNvSpPr/>
          <p:nvPr/>
        </p:nvSpPr>
        <p:spPr>
          <a:xfrm>
            <a:off x="548640" y="3584520"/>
            <a:ext cx="80463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strike="noStrike" spc="-1">
                <a:solidFill>
                  <a:srgbClr val="E4002B"/>
                </a:solidFill>
                <a:latin typeface="Calibri"/>
                <a:ea typeface="Calibri"/>
              </a:rPr>
              <a:t>Cipher hardening: </a:t>
            </a:r>
            <a:r>
              <a:rPr lang="en-US" sz="900" b="0" strike="noStrike" spc="-1">
                <a:solidFill>
                  <a:srgbClr val="7A0000"/>
                </a:solidFill>
                <a:latin typeface="Calibri"/>
                <a:ea typeface="Calibri"/>
              </a:rPr>
              <a:t>DEFAULT:!SSLv3:!TLSv1:!TLSv1_1:!RC4:!3DES  |  Test before applying: tmm --clientciphers 'cipher_string'</a:t>
            </a:r>
            <a:endParaRPr lang="en-US" sz="900" b="0" strike="noStrike" spc="-1">
              <a:solidFill>
                <a:srgbClr val="000000"/>
              </a:solidFill>
              <a:latin typeface="Arial"/>
            </a:endParaRPr>
          </a:p>
        </p:txBody>
      </p:sp>
      <p:sp>
        <p:nvSpPr>
          <p:cNvPr id="1136" name="Shape 10"/>
          <p:cNvSpPr/>
          <p:nvPr/>
        </p:nvSpPr>
        <p:spPr>
          <a:xfrm>
            <a:off x="365760" y="4023360"/>
            <a:ext cx="8412120" cy="594000"/>
          </a:xfrm>
          <a:prstGeom prst="rect">
            <a:avLst/>
          </a:prstGeom>
          <a:solidFill>
            <a:srgbClr val="E8F0F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137" name="Text 11"/>
          <p:cNvSpPr/>
          <p:nvPr/>
        </p:nvSpPr>
        <p:spPr>
          <a:xfrm>
            <a:off x="548640" y="4041720"/>
            <a:ext cx="804636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100" b="1" strike="noStrike" spc="-1">
                <a:solidFill>
                  <a:srgbClr val="0E41AA"/>
                </a:solidFill>
                <a:latin typeface="Calibri"/>
                <a:ea typeface="Calibri"/>
              </a:rPr>
              <a:t>SNI (Server Name Indication)</a:t>
            </a:r>
            <a:endParaRPr lang="en-US" sz="1100" b="0" strike="noStrike" spc="-1">
              <a:solidFill>
                <a:srgbClr val="000000"/>
              </a:solidFill>
              <a:latin typeface="Arial"/>
            </a:endParaRPr>
          </a:p>
          <a:p>
            <a:pPr defTabSz="914400">
              <a:lnSpc>
                <a:spcPct val="100000"/>
              </a:lnSpc>
              <a:tabLst>
                <a:tab pos="0" algn="l"/>
              </a:tabLst>
            </a:pPr>
            <a:r>
              <a:rPr lang="en-US" sz="900" b="0" strike="noStrike" spc="-1">
                <a:solidFill>
                  <a:srgbClr val="1A3A6C"/>
                </a:solidFill>
                <a:latin typeface="Calibri"/>
                <a:ea typeface="Calibri"/>
              </a:rPr>
              <a:t>Allows multiple certificates on one VIP. Client sends hostname in ClientHello; BIG-IP selects matching cert. Configure multiple cert/key chains in one Client-SSL profile, or use separate profiles with SNI matching. Required when hosting multiple HTTPS sites on the same IP:443.</a:t>
            </a:r>
            <a:endParaRPr lang="en-US" sz="900" b="0" strike="noStrike" spc="-1">
              <a:solidFill>
                <a:srgbClr val="000000"/>
              </a:solidFill>
              <a:latin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38"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139"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140"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141"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142"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143"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50    © 2026 F5</a:t>
            </a:r>
            <a:endParaRPr lang="en-US" sz="800" b="0" strike="noStrike" spc="-1">
              <a:solidFill>
                <a:srgbClr val="000000"/>
              </a:solidFill>
              <a:latin typeface="Arial"/>
            </a:endParaRPr>
          </a:p>
        </p:txBody>
      </p:sp>
      <p:pic>
        <p:nvPicPr>
          <p:cNvPr id="1144" name="Image 0" descr="preencoded.png"/>
          <p:cNvPicPr/>
          <p:nvPr/>
        </p:nvPicPr>
        <p:blipFill>
          <a:blip r:embed="rId3"/>
          <a:stretch/>
        </p:blipFill>
        <p:spPr>
          <a:xfrm>
            <a:off x="8458200" y="4663440"/>
            <a:ext cx="383760" cy="383760"/>
          </a:xfrm>
          <a:prstGeom prst="rect">
            <a:avLst/>
          </a:prstGeom>
          <a:ln w="0">
            <a:noFill/>
          </a:ln>
        </p:spPr>
      </p:pic>
      <p:sp>
        <p:nvSpPr>
          <p:cNvPr id="1145" name="Text 6"/>
          <p:cNvSpPr/>
          <p:nvPr/>
        </p:nvSpPr>
        <p:spPr>
          <a:xfrm>
            <a:off x="457200" y="274320"/>
            <a:ext cx="82292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TLS 1.2 negotiation walkthrough</a:t>
            </a:r>
            <a:endParaRPr lang="en-US" sz="2800" b="0" strike="noStrike" spc="-1">
              <a:solidFill>
                <a:srgbClr val="000000"/>
              </a:solidFill>
              <a:latin typeface="Arial"/>
            </a:endParaRPr>
          </a:p>
        </p:txBody>
      </p:sp>
      <p:sp>
        <p:nvSpPr>
          <p:cNvPr id="1146" name="Text 7"/>
          <p:cNvSpPr/>
          <p:nvPr/>
        </p:nvSpPr>
        <p:spPr>
          <a:xfrm>
            <a:off x="457200" y="658440"/>
            <a:ext cx="82292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strike="noStrike" spc="-1">
                <a:solidFill>
                  <a:srgbClr val="666666"/>
                </a:solidFill>
                <a:latin typeface="Calibri"/>
                <a:ea typeface="Calibri"/>
              </a:rPr>
              <a:t>Every TLS connection follows this sequence. Understanding each message is essential for troubleshooting.</a:t>
            </a:r>
            <a:endParaRPr lang="en-US" sz="1300" b="0" strike="noStrike" spc="-1">
              <a:solidFill>
                <a:srgbClr val="000000"/>
              </a:solidFill>
              <a:latin typeface="Arial"/>
            </a:endParaRPr>
          </a:p>
        </p:txBody>
      </p:sp>
      <p:sp>
        <p:nvSpPr>
          <p:cNvPr id="1147" name="Shape 8"/>
          <p:cNvSpPr/>
          <p:nvPr/>
        </p:nvSpPr>
        <p:spPr>
          <a:xfrm>
            <a:off x="365760" y="1051560"/>
            <a:ext cx="273960" cy="27396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148" name="Text 9"/>
          <p:cNvSpPr/>
          <p:nvPr/>
        </p:nvSpPr>
        <p:spPr>
          <a:xfrm>
            <a:off x="365760" y="1051560"/>
            <a:ext cx="2739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strike="noStrike" spc="-1">
                <a:solidFill>
                  <a:srgbClr val="FFFFFF"/>
                </a:solidFill>
                <a:latin typeface="Arial"/>
                <a:ea typeface="Arial"/>
              </a:rPr>
              <a:t>1</a:t>
            </a:r>
            <a:endParaRPr lang="en-US" sz="1000" b="0" strike="noStrike" spc="-1">
              <a:solidFill>
                <a:srgbClr val="000000"/>
              </a:solidFill>
              <a:latin typeface="Arial"/>
            </a:endParaRPr>
          </a:p>
        </p:txBody>
      </p:sp>
      <p:sp>
        <p:nvSpPr>
          <p:cNvPr id="1149" name="Text 10"/>
          <p:cNvSpPr/>
          <p:nvPr/>
        </p:nvSpPr>
        <p:spPr>
          <a:xfrm>
            <a:off x="685800" y="1051560"/>
            <a:ext cx="228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0" strike="noStrike" spc="-1">
                <a:solidFill>
                  <a:srgbClr val="0E41AA"/>
                </a:solidFill>
                <a:latin typeface="Calibri"/>
              </a:rPr>
              <a:t>▶</a:t>
            </a:r>
            <a:endParaRPr lang="en-US" sz="1000" b="0" strike="noStrike" spc="-1">
              <a:solidFill>
                <a:srgbClr val="000000"/>
              </a:solidFill>
              <a:latin typeface="Arial"/>
            </a:endParaRPr>
          </a:p>
        </p:txBody>
      </p:sp>
      <p:sp>
        <p:nvSpPr>
          <p:cNvPr id="1150" name="Text 11"/>
          <p:cNvSpPr/>
          <p:nvPr/>
        </p:nvSpPr>
        <p:spPr>
          <a:xfrm>
            <a:off x="960120" y="1051560"/>
            <a:ext cx="1645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strike="noStrike" spc="-1">
                <a:solidFill>
                  <a:srgbClr val="0E41AA"/>
                </a:solidFill>
                <a:latin typeface="Courier New"/>
                <a:ea typeface="Courier New"/>
              </a:rPr>
              <a:t>ClientHello</a:t>
            </a:r>
            <a:endParaRPr lang="en-US" sz="1000" b="0" strike="noStrike" spc="-1">
              <a:solidFill>
                <a:srgbClr val="000000"/>
              </a:solidFill>
              <a:latin typeface="Arial"/>
            </a:endParaRPr>
          </a:p>
        </p:txBody>
      </p:sp>
      <p:sp>
        <p:nvSpPr>
          <p:cNvPr id="1151" name="Text 12"/>
          <p:cNvSpPr/>
          <p:nvPr/>
        </p:nvSpPr>
        <p:spPr>
          <a:xfrm>
            <a:off x="2651760" y="1051560"/>
            <a:ext cx="6397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1" strike="noStrike" spc="-1">
                <a:solidFill>
                  <a:srgbClr val="666666"/>
                </a:solidFill>
                <a:latin typeface="Calibri"/>
                <a:ea typeface="Calibri"/>
              </a:rPr>
              <a:t>Client</a:t>
            </a:r>
            <a:endParaRPr lang="en-US" sz="800" b="0" strike="noStrike" spc="-1">
              <a:solidFill>
                <a:srgbClr val="000000"/>
              </a:solidFill>
              <a:latin typeface="Arial"/>
            </a:endParaRPr>
          </a:p>
        </p:txBody>
      </p:sp>
      <p:sp>
        <p:nvSpPr>
          <p:cNvPr id="1152" name="Text 13"/>
          <p:cNvSpPr/>
          <p:nvPr/>
        </p:nvSpPr>
        <p:spPr>
          <a:xfrm>
            <a:off x="3337560" y="1051560"/>
            <a:ext cx="53946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strike="noStrike" spc="-1">
                <a:solidFill>
                  <a:srgbClr val="333333"/>
                </a:solidFill>
                <a:latin typeface="Calibri"/>
                <a:ea typeface="Calibri"/>
              </a:rPr>
              <a:t>TLS versions, cipher suites, SNI hostname, random bytes, session ID, extensions (ALPN for HTTP/2)</a:t>
            </a:r>
            <a:endParaRPr lang="en-US" sz="850" b="0" strike="noStrike" spc="-1">
              <a:solidFill>
                <a:srgbClr val="000000"/>
              </a:solidFill>
              <a:latin typeface="Arial"/>
            </a:endParaRPr>
          </a:p>
        </p:txBody>
      </p:sp>
      <p:sp>
        <p:nvSpPr>
          <p:cNvPr id="1153" name="Shape 14"/>
          <p:cNvSpPr/>
          <p:nvPr/>
        </p:nvSpPr>
        <p:spPr>
          <a:xfrm>
            <a:off x="365760" y="1554480"/>
            <a:ext cx="273960" cy="27396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154" name="Text 15"/>
          <p:cNvSpPr/>
          <p:nvPr/>
        </p:nvSpPr>
        <p:spPr>
          <a:xfrm>
            <a:off x="365760" y="1554480"/>
            <a:ext cx="2739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strike="noStrike" spc="-1">
                <a:solidFill>
                  <a:srgbClr val="FFFFFF"/>
                </a:solidFill>
                <a:latin typeface="Arial"/>
                <a:ea typeface="Arial"/>
              </a:rPr>
              <a:t>2</a:t>
            </a:r>
            <a:endParaRPr lang="en-US" sz="1000" b="0" strike="noStrike" spc="-1">
              <a:solidFill>
                <a:srgbClr val="000000"/>
              </a:solidFill>
              <a:latin typeface="Arial"/>
            </a:endParaRPr>
          </a:p>
        </p:txBody>
      </p:sp>
      <p:sp>
        <p:nvSpPr>
          <p:cNvPr id="1155" name="Text 16"/>
          <p:cNvSpPr/>
          <p:nvPr/>
        </p:nvSpPr>
        <p:spPr>
          <a:xfrm>
            <a:off x="685800" y="1554480"/>
            <a:ext cx="228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0" strike="noStrike" spc="-1">
                <a:solidFill>
                  <a:srgbClr val="61228B"/>
                </a:solidFill>
                <a:latin typeface="Calibri"/>
              </a:rPr>
              <a:t>◀</a:t>
            </a:r>
            <a:endParaRPr lang="en-US" sz="1000" b="0" strike="noStrike" spc="-1">
              <a:solidFill>
                <a:srgbClr val="000000"/>
              </a:solidFill>
              <a:latin typeface="Arial"/>
            </a:endParaRPr>
          </a:p>
        </p:txBody>
      </p:sp>
      <p:sp>
        <p:nvSpPr>
          <p:cNvPr id="1156" name="Text 17"/>
          <p:cNvSpPr/>
          <p:nvPr/>
        </p:nvSpPr>
        <p:spPr>
          <a:xfrm>
            <a:off x="960120" y="1554480"/>
            <a:ext cx="1645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strike="noStrike" spc="-1">
                <a:solidFill>
                  <a:srgbClr val="61228B"/>
                </a:solidFill>
                <a:latin typeface="Courier New"/>
                <a:ea typeface="Courier New"/>
              </a:rPr>
              <a:t>ServerHello</a:t>
            </a:r>
            <a:endParaRPr lang="en-US" sz="1000" b="0" strike="noStrike" spc="-1">
              <a:solidFill>
                <a:srgbClr val="000000"/>
              </a:solidFill>
              <a:latin typeface="Arial"/>
            </a:endParaRPr>
          </a:p>
        </p:txBody>
      </p:sp>
      <p:sp>
        <p:nvSpPr>
          <p:cNvPr id="1157" name="Text 18"/>
          <p:cNvSpPr/>
          <p:nvPr/>
        </p:nvSpPr>
        <p:spPr>
          <a:xfrm>
            <a:off x="2651760" y="1554480"/>
            <a:ext cx="6397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1" strike="noStrike" spc="-1">
                <a:solidFill>
                  <a:srgbClr val="666666"/>
                </a:solidFill>
                <a:latin typeface="Calibri"/>
                <a:ea typeface="Calibri"/>
              </a:rPr>
              <a:t>BIG-IP</a:t>
            </a:r>
            <a:endParaRPr lang="en-US" sz="800" b="0" strike="noStrike" spc="-1">
              <a:solidFill>
                <a:srgbClr val="000000"/>
              </a:solidFill>
              <a:latin typeface="Arial"/>
            </a:endParaRPr>
          </a:p>
        </p:txBody>
      </p:sp>
      <p:sp>
        <p:nvSpPr>
          <p:cNvPr id="1158" name="Text 19"/>
          <p:cNvSpPr/>
          <p:nvPr/>
        </p:nvSpPr>
        <p:spPr>
          <a:xfrm>
            <a:off x="3337560" y="1554480"/>
            <a:ext cx="53946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strike="noStrike" spc="-1">
                <a:solidFill>
                  <a:srgbClr val="333333"/>
                </a:solidFill>
                <a:latin typeface="Calibri"/>
                <a:ea typeface="Calibri"/>
              </a:rPr>
              <a:t>Chosen TLS version + cipher suite, server random bytes, session ID</a:t>
            </a:r>
            <a:endParaRPr lang="en-US" sz="850" b="0" strike="noStrike" spc="-1">
              <a:solidFill>
                <a:srgbClr val="000000"/>
              </a:solidFill>
              <a:latin typeface="Arial"/>
            </a:endParaRPr>
          </a:p>
        </p:txBody>
      </p:sp>
      <p:sp>
        <p:nvSpPr>
          <p:cNvPr id="1159" name="Shape 20"/>
          <p:cNvSpPr/>
          <p:nvPr/>
        </p:nvSpPr>
        <p:spPr>
          <a:xfrm>
            <a:off x="365760" y="1965960"/>
            <a:ext cx="273960" cy="27396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160" name="Text 21"/>
          <p:cNvSpPr/>
          <p:nvPr/>
        </p:nvSpPr>
        <p:spPr>
          <a:xfrm>
            <a:off x="365760" y="1965960"/>
            <a:ext cx="2739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strike="noStrike" spc="-1">
                <a:solidFill>
                  <a:srgbClr val="FFFFFF"/>
                </a:solidFill>
                <a:latin typeface="Arial"/>
                <a:ea typeface="Arial"/>
              </a:rPr>
              <a:t>3</a:t>
            </a:r>
            <a:endParaRPr lang="en-US" sz="1000" b="0" strike="noStrike" spc="-1">
              <a:solidFill>
                <a:srgbClr val="000000"/>
              </a:solidFill>
              <a:latin typeface="Arial"/>
            </a:endParaRPr>
          </a:p>
        </p:txBody>
      </p:sp>
      <p:sp>
        <p:nvSpPr>
          <p:cNvPr id="1161" name="Text 22"/>
          <p:cNvSpPr/>
          <p:nvPr/>
        </p:nvSpPr>
        <p:spPr>
          <a:xfrm>
            <a:off x="685800" y="1965960"/>
            <a:ext cx="228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0" strike="noStrike" spc="-1">
                <a:solidFill>
                  <a:srgbClr val="61228B"/>
                </a:solidFill>
                <a:latin typeface="Calibri"/>
              </a:rPr>
              <a:t>◀</a:t>
            </a:r>
            <a:endParaRPr lang="en-US" sz="1000" b="0" strike="noStrike" spc="-1">
              <a:solidFill>
                <a:srgbClr val="000000"/>
              </a:solidFill>
              <a:latin typeface="Arial"/>
            </a:endParaRPr>
          </a:p>
        </p:txBody>
      </p:sp>
      <p:sp>
        <p:nvSpPr>
          <p:cNvPr id="1162" name="Text 23"/>
          <p:cNvSpPr/>
          <p:nvPr/>
        </p:nvSpPr>
        <p:spPr>
          <a:xfrm>
            <a:off x="960120" y="1965960"/>
            <a:ext cx="1645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strike="noStrike" spc="-1">
                <a:solidFill>
                  <a:srgbClr val="61228B"/>
                </a:solidFill>
                <a:latin typeface="Courier New"/>
                <a:ea typeface="Courier New"/>
              </a:rPr>
              <a:t>Certificate</a:t>
            </a:r>
            <a:endParaRPr lang="en-US" sz="1000" b="0" strike="noStrike" spc="-1">
              <a:solidFill>
                <a:srgbClr val="000000"/>
              </a:solidFill>
              <a:latin typeface="Arial"/>
            </a:endParaRPr>
          </a:p>
        </p:txBody>
      </p:sp>
      <p:sp>
        <p:nvSpPr>
          <p:cNvPr id="1163" name="Text 24"/>
          <p:cNvSpPr/>
          <p:nvPr/>
        </p:nvSpPr>
        <p:spPr>
          <a:xfrm>
            <a:off x="2651760" y="1965960"/>
            <a:ext cx="6397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1" strike="noStrike" spc="-1">
                <a:solidFill>
                  <a:srgbClr val="666666"/>
                </a:solidFill>
                <a:latin typeface="Calibri"/>
                <a:ea typeface="Calibri"/>
              </a:rPr>
              <a:t>BIG-IP</a:t>
            </a:r>
            <a:endParaRPr lang="en-US" sz="800" b="0" strike="noStrike" spc="-1">
              <a:solidFill>
                <a:srgbClr val="000000"/>
              </a:solidFill>
              <a:latin typeface="Arial"/>
            </a:endParaRPr>
          </a:p>
        </p:txBody>
      </p:sp>
      <p:sp>
        <p:nvSpPr>
          <p:cNvPr id="1164" name="Text 25"/>
          <p:cNvSpPr/>
          <p:nvPr/>
        </p:nvSpPr>
        <p:spPr>
          <a:xfrm>
            <a:off x="3337560" y="1965960"/>
            <a:ext cx="53946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strike="noStrike" spc="-1">
                <a:solidFill>
                  <a:srgbClr val="333333"/>
                </a:solidFill>
                <a:latin typeface="Calibri"/>
                <a:ea typeface="Calibri"/>
              </a:rPr>
              <a:t>BIG-IP sends its server certificate (from Client-SSL profile) + chain certs</a:t>
            </a:r>
            <a:endParaRPr lang="en-US" sz="850" b="0" strike="noStrike" spc="-1">
              <a:solidFill>
                <a:srgbClr val="000000"/>
              </a:solidFill>
              <a:latin typeface="Arial"/>
            </a:endParaRPr>
          </a:p>
        </p:txBody>
      </p:sp>
      <p:sp>
        <p:nvSpPr>
          <p:cNvPr id="1165" name="Shape 26"/>
          <p:cNvSpPr/>
          <p:nvPr/>
        </p:nvSpPr>
        <p:spPr>
          <a:xfrm>
            <a:off x="365760" y="2377440"/>
            <a:ext cx="273960" cy="27396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166" name="Text 27"/>
          <p:cNvSpPr/>
          <p:nvPr/>
        </p:nvSpPr>
        <p:spPr>
          <a:xfrm>
            <a:off x="365760" y="2377440"/>
            <a:ext cx="2739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strike="noStrike" spc="-1">
                <a:solidFill>
                  <a:srgbClr val="FFFFFF"/>
                </a:solidFill>
                <a:latin typeface="Arial"/>
                <a:ea typeface="Arial"/>
              </a:rPr>
              <a:t>4</a:t>
            </a:r>
            <a:endParaRPr lang="en-US" sz="1000" b="0" strike="noStrike" spc="-1">
              <a:solidFill>
                <a:srgbClr val="000000"/>
              </a:solidFill>
              <a:latin typeface="Arial"/>
            </a:endParaRPr>
          </a:p>
        </p:txBody>
      </p:sp>
      <p:sp>
        <p:nvSpPr>
          <p:cNvPr id="1167" name="Text 28"/>
          <p:cNvSpPr/>
          <p:nvPr/>
        </p:nvSpPr>
        <p:spPr>
          <a:xfrm>
            <a:off x="685800" y="2377440"/>
            <a:ext cx="228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0" strike="noStrike" spc="-1">
                <a:solidFill>
                  <a:srgbClr val="61228B"/>
                </a:solidFill>
                <a:latin typeface="Calibri"/>
              </a:rPr>
              <a:t>◀</a:t>
            </a:r>
            <a:endParaRPr lang="en-US" sz="1000" b="0" strike="noStrike" spc="-1">
              <a:solidFill>
                <a:srgbClr val="000000"/>
              </a:solidFill>
              <a:latin typeface="Arial"/>
            </a:endParaRPr>
          </a:p>
        </p:txBody>
      </p:sp>
      <p:sp>
        <p:nvSpPr>
          <p:cNvPr id="1168" name="Text 29"/>
          <p:cNvSpPr/>
          <p:nvPr/>
        </p:nvSpPr>
        <p:spPr>
          <a:xfrm>
            <a:off x="960120" y="2377440"/>
            <a:ext cx="1645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strike="noStrike" spc="-1">
                <a:solidFill>
                  <a:srgbClr val="61228B"/>
                </a:solidFill>
                <a:latin typeface="Courier New"/>
                <a:ea typeface="Courier New"/>
              </a:rPr>
              <a:t>ServerKeyExchange</a:t>
            </a:r>
            <a:endParaRPr lang="en-US" sz="1000" b="0" strike="noStrike" spc="-1">
              <a:solidFill>
                <a:srgbClr val="000000"/>
              </a:solidFill>
              <a:latin typeface="Arial"/>
            </a:endParaRPr>
          </a:p>
        </p:txBody>
      </p:sp>
      <p:sp>
        <p:nvSpPr>
          <p:cNvPr id="1169" name="Text 30"/>
          <p:cNvSpPr/>
          <p:nvPr/>
        </p:nvSpPr>
        <p:spPr>
          <a:xfrm>
            <a:off x="2651760" y="2377440"/>
            <a:ext cx="6397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1" strike="noStrike" spc="-1">
                <a:solidFill>
                  <a:srgbClr val="666666"/>
                </a:solidFill>
                <a:latin typeface="Calibri"/>
                <a:ea typeface="Calibri"/>
              </a:rPr>
              <a:t>BIG-IP</a:t>
            </a:r>
            <a:endParaRPr lang="en-US" sz="800" b="0" strike="noStrike" spc="-1">
              <a:solidFill>
                <a:srgbClr val="000000"/>
              </a:solidFill>
              <a:latin typeface="Arial"/>
            </a:endParaRPr>
          </a:p>
        </p:txBody>
      </p:sp>
      <p:sp>
        <p:nvSpPr>
          <p:cNvPr id="1170" name="Text 31"/>
          <p:cNvSpPr/>
          <p:nvPr/>
        </p:nvSpPr>
        <p:spPr>
          <a:xfrm>
            <a:off x="3337560" y="2377440"/>
            <a:ext cx="53946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strike="noStrike" spc="-1">
                <a:solidFill>
                  <a:srgbClr val="333333"/>
                </a:solidFill>
                <a:latin typeface="Calibri"/>
                <a:ea typeface="Calibri"/>
              </a:rPr>
              <a:t>DH/ECDHE parameters for key exchange (not sent with RSA key exchange)</a:t>
            </a:r>
            <a:endParaRPr lang="en-US" sz="850" b="0" strike="noStrike" spc="-1">
              <a:solidFill>
                <a:srgbClr val="000000"/>
              </a:solidFill>
              <a:latin typeface="Arial"/>
            </a:endParaRPr>
          </a:p>
        </p:txBody>
      </p:sp>
      <p:sp>
        <p:nvSpPr>
          <p:cNvPr id="1171" name="Shape 32"/>
          <p:cNvSpPr/>
          <p:nvPr/>
        </p:nvSpPr>
        <p:spPr>
          <a:xfrm>
            <a:off x="365760" y="2788920"/>
            <a:ext cx="273960" cy="27396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172" name="Text 33"/>
          <p:cNvSpPr/>
          <p:nvPr/>
        </p:nvSpPr>
        <p:spPr>
          <a:xfrm>
            <a:off x="365760" y="2788920"/>
            <a:ext cx="2739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strike="noStrike" spc="-1">
                <a:solidFill>
                  <a:srgbClr val="FFFFFF"/>
                </a:solidFill>
                <a:latin typeface="Arial"/>
                <a:ea typeface="Arial"/>
              </a:rPr>
              <a:t>5</a:t>
            </a:r>
            <a:endParaRPr lang="en-US" sz="1000" b="0" strike="noStrike" spc="-1">
              <a:solidFill>
                <a:srgbClr val="000000"/>
              </a:solidFill>
              <a:latin typeface="Arial"/>
            </a:endParaRPr>
          </a:p>
        </p:txBody>
      </p:sp>
      <p:sp>
        <p:nvSpPr>
          <p:cNvPr id="1173" name="Text 34"/>
          <p:cNvSpPr/>
          <p:nvPr/>
        </p:nvSpPr>
        <p:spPr>
          <a:xfrm>
            <a:off x="685800" y="2788920"/>
            <a:ext cx="228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0" strike="noStrike" spc="-1">
                <a:solidFill>
                  <a:srgbClr val="F29A36"/>
                </a:solidFill>
                <a:latin typeface="Calibri"/>
              </a:rPr>
              <a:t>◀</a:t>
            </a:r>
            <a:endParaRPr lang="en-US" sz="1000" b="0" strike="noStrike" spc="-1">
              <a:solidFill>
                <a:srgbClr val="000000"/>
              </a:solidFill>
              <a:latin typeface="Arial"/>
            </a:endParaRPr>
          </a:p>
        </p:txBody>
      </p:sp>
      <p:sp>
        <p:nvSpPr>
          <p:cNvPr id="1174" name="Text 35"/>
          <p:cNvSpPr/>
          <p:nvPr/>
        </p:nvSpPr>
        <p:spPr>
          <a:xfrm>
            <a:off x="960120" y="2788920"/>
            <a:ext cx="1645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strike="noStrike" spc="-1">
                <a:solidFill>
                  <a:srgbClr val="F29A36"/>
                </a:solidFill>
                <a:latin typeface="Courier New"/>
                <a:ea typeface="Courier New"/>
              </a:rPr>
              <a:t>CertificateRequest</a:t>
            </a:r>
            <a:endParaRPr lang="en-US" sz="1000" b="0" strike="noStrike" spc="-1">
              <a:solidFill>
                <a:srgbClr val="000000"/>
              </a:solidFill>
              <a:latin typeface="Arial"/>
            </a:endParaRPr>
          </a:p>
        </p:txBody>
      </p:sp>
      <p:sp>
        <p:nvSpPr>
          <p:cNvPr id="1175" name="Text 36"/>
          <p:cNvSpPr/>
          <p:nvPr/>
        </p:nvSpPr>
        <p:spPr>
          <a:xfrm>
            <a:off x="2651760" y="2788920"/>
            <a:ext cx="6397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1" strike="noStrike" spc="-1">
                <a:solidFill>
                  <a:srgbClr val="666666"/>
                </a:solidFill>
                <a:latin typeface="Calibri"/>
                <a:ea typeface="Calibri"/>
              </a:rPr>
              <a:t>BIG-IP</a:t>
            </a:r>
            <a:endParaRPr lang="en-US" sz="800" b="0" strike="noStrike" spc="-1">
              <a:solidFill>
                <a:srgbClr val="000000"/>
              </a:solidFill>
              <a:latin typeface="Arial"/>
            </a:endParaRPr>
          </a:p>
        </p:txBody>
      </p:sp>
      <p:sp>
        <p:nvSpPr>
          <p:cNvPr id="1176" name="Text 37"/>
          <p:cNvSpPr/>
          <p:nvPr/>
        </p:nvSpPr>
        <p:spPr>
          <a:xfrm>
            <a:off x="3337560" y="2788920"/>
            <a:ext cx="53946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strike="noStrike" spc="-1">
                <a:solidFill>
                  <a:srgbClr val="333333"/>
                </a:solidFill>
                <a:latin typeface="Calibri"/>
                <a:ea typeface="Calibri"/>
              </a:rPr>
              <a:t>Only if mutual TLS (Client Auth) is enabled. Asks client for its certificate.</a:t>
            </a:r>
            <a:endParaRPr lang="en-US" sz="850" b="0" strike="noStrike" spc="-1">
              <a:solidFill>
                <a:srgbClr val="000000"/>
              </a:solidFill>
              <a:latin typeface="Arial"/>
            </a:endParaRPr>
          </a:p>
        </p:txBody>
      </p:sp>
      <p:sp>
        <p:nvSpPr>
          <p:cNvPr id="1177" name="Shape 38"/>
          <p:cNvSpPr/>
          <p:nvPr/>
        </p:nvSpPr>
        <p:spPr>
          <a:xfrm>
            <a:off x="365760" y="3200400"/>
            <a:ext cx="273960" cy="27396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178" name="Text 39"/>
          <p:cNvSpPr/>
          <p:nvPr/>
        </p:nvSpPr>
        <p:spPr>
          <a:xfrm>
            <a:off x="365760" y="3200400"/>
            <a:ext cx="2739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strike="noStrike" spc="-1">
                <a:solidFill>
                  <a:srgbClr val="FFFFFF"/>
                </a:solidFill>
                <a:latin typeface="Arial"/>
                <a:ea typeface="Arial"/>
              </a:rPr>
              <a:t>6</a:t>
            </a:r>
            <a:endParaRPr lang="en-US" sz="1000" b="0" strike="noStrike" spc="-1">
              <a:solidFill>
                <a:srgbClr val="000000"/>
              </a:solidFill>
              <a:latin typeface="Arial"/>
            </a:endParaRPr>
          </a:p>
        </p:txBody>
      </p:sp>
      <p:sp>
        <p:nvSpPr>
          <p:cNvPr id="1179" name="Text 40"/>
          <p:cNvSpPr/>
          <p:nvPr/>
        </p:nvSpPr>
        <p:spPr>
          <a:xfrm>
            <a:off x="685800" y="3200400"/>
            <a:ext cx="228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0" strike="noStrike" spc="-1">
                <a:solidFill>
                  <a:srgbClr val="61228B"/>
                </a:solidFill>
                <a:latin typeface="Calibri"/>
              </a:rPr>
              <a:t>◀</a:t>
            </a:r>
            <a:endParaRPr lang="en-US" sz="1000" b="0" strike="noStrike" spc="-1">
              <a:solidFill>
                <a:srgbClr val="000000"/>
              </a:solidFill>
              <a:latin typeface="Arial"/>
            </a:endParaRPr>
          </a:p>
        </p:txBody>
      </p:sp>
      <p:sp>
        <p:nvSpPr>
          <p:cNvPr id="1180" name="Text 41"/>
          <p:cNvSpPr/>
          <p:nvPr/>
        </p:nvSpPr>
        <p:spPr>
          <a:xfrm>
            <a:off x="960120" y="3200400"/>
            <a:ext cx="1645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strike="noStrike" spc="-1">
                <a:solidFill>
                  <a:srgbClr val="61228B"/>
                </a:solidFill>
                <a:latin typeface="Courier New"/>
                <a:ea typeface="Courier New"/>
              </a:rPr>
              <a:t>ServerHelloDone</a:t>
            </a:r>
            <a:endParaRPr lang="en-US" sz="1000" b="0" strike="noStrike" spc="-1">
              <a:solidFill>
                <a:srgbClr val="000000"/>
              </a:solidFill>
              <a:latin typeface="Arial"/>
            </a:endParaRPr>
          </a:p>
        </p:txBody>
      </p:sp>
      <p:sp>
        <p:nvSpPr>
          <p:cNvPr id="1181" name="Text 42"/>
          <p:cNvSpPr/>
          <p:nvPr/>
        </p:nvSpPr>
        <p:spPr>
          <a:xfrm>
            <a:off x="2651760" y="3200400"/>
            <a:ext cx="6397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1" strike="noStrike" spc="-1">
                <a:solidFill>
                  <a:srgbClr val="666666"/>
                </a:solidFill>
                <a:latin typeface="Calibri"/>
                <a:ea typeface="Calibri"/>
              </a:rPr>
              <a:t>BIG-IP</a:t>
            </a:r>
            <a:endParaRPr lang="en-US" sz="800" b="0" strike="noStrike" spc="-1">
              <a:solidFill>
                <a:srgbClr val="000000"/>
              </a:solidFill>
              <a:latin typeface="Arial"/>
            </a:endParaRPr>
          </a:p>
        </p:txBody>
      </p:sp>
      <p:sp>
        <p:nvSpPr>
          <p:cNvPr id="1182" name="Text 43"/>
          <p:cNvSpPr/>
          <p:nvPr/>
        </p:nvSpPr>
        <p:spPr>
          <a:xfrm>
            <a:off x="3337560" y="3200400"/>
            <a:ext cx="53946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strike="noStrike" spc="-1">
                <a:solidFill>
                  <a:srgbClr val="333333"/>
                </a:solidFill>
                <a:latin typeface="Calibri"/>
                <a:ea typeface="Calibri"/>
              </a:rPr>
              <a:t>Signals end of server's hello messages. Client can now respond.</a:t>
            </a:r>
            <a:endParaRPr lang="en-US" sz="850" b="0" strike="noStrike" spc="-1">
              <a:solidFill>
                <a:srgbClr val="000000"/>
              </a:solidFill>
              <a:latin typeface="Arial"/>
            </a:endParaRPr>
          </a:p>
        </p:txBody>
      </p:sp>
      <p:sp>
        <p:nvSpPr>
          <p:cNvPr id="1183" name="Shape 44"/>
          <p:cNvSpPr/>
          <p:nvPr/>
        </p:nvSpPr>
        <p:spPr>
          <a:xfrm>
            <a:off x="365760" y="3611880"/>
            <a:ext cx="273960" cy="27396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184" name="Text 45"/>
          <p:cNvSpPr/>
          <p:nvPr/>
        </p:nvSpPr>
        <p:spPr>
          <a:xfrm>
            <a:off x="365760" y="3611880"/>
            <a:ext cx="2739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strike="noStrike" spc="-1">
                <a:solidFill>
                  <a:srgbClr val="FFFFFF"/>
                </a:solidFill>
                <a:latin typeface="Arial"/>
                <a:ea typeface="Arial"/>
              </a:rPr>
              <a:t>7</a:t>
            </a:r>
            <a:endParaRPr lang="en-US" sz="1000" b="0" strike="noStrike" spc="-1">
              <a:solidFill>
                <a:srgbClr val="000000"/>
              </a:solidFill>
              <a:latin typeface="Arial"/>
            </a:endParaRPr>
          </a:p>
        </p:txBody>
      </p:sp>
      <p:sp>
        <p:nvSpPr>
          <p:cNvPr id="1185" name="Text 46"/>
          <p:cNvSpPr/>
          <p:nvPr/>
        </p:nvSpPr>
        <p:spPr>
          <a:xfrm>
            <a:off x="685800" y="3611880"/>
            <a:ext cx="228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0" strike="noStrike" spc="-1">
                <a:solidFill>
                  <a:srgbClr val="0E41AA"/>
                </a:solidFill>
                <a:latin typeface="Calibri"/>
              </a:rPr>
              <a:t>▶</a:t>
            </a:r>
            <a:endParaRPr lang="en-US" sz="1000" b="0" strike="noStrike" spc="-1">
              <a:solidFill>
                <a:srgbClr val="000000"/>
              </a:solidFill>
              <a:latin typeface="Arial"/>
            </a:endParaRPr>
          </a:p>
        </p:txBody>
      </p:sp>
      <p:sp>
        <p:nvSpPr>
          <p:cNvPr id="1186" name="Text 47"/>
          <p:cNvSpPr/>
          <p:nvPr/>
        </p:nvSpPr>
        <p:spPr>
          <a:xfrm>
            <a:off x="960120" y="3611880"/>
            <a:ext cx="1645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strike="noStrike" spc="-1">
                <a:solidFill>
                  <a:srgbClr val="0E41AA"/>
                </a:solidFill>
                <a:latin typeface="Courier New"/>
                <a:ea typeface="Courier New"/>
              </a:rPr>
              <a:t>ClientKeyExchange</a:t>
            </a:r>
            <a:endParaRPr lang="en-US" sz="1000" b="0" strike="noStrike" spc="-1">
              <a:solidFill>
                <a:srgbClr val="000000"/>
              </a:solidFill>
              <a:latin typeface="Arial"/>
            </a:endParaRPr>
          </a:p>
        </p:txBody>
      </p:sp>
      <p:sp>
        <p:nvSpPr>
          <p:cNvPr id="1187" name="Text 48"/>
          <p:cNvSpPr/>
          <p:nvPr/>
        </p:nvSpPr>
        <p:spPr>
          <a:xfrm>
            <a:off x="2651760" y="3611880"/>
            <a:ext cx="6397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1" strike="noStrike" spc="-1">
                <a:solidFill>
                  <a:srgbClr val="666666"/>
                </a:solidFill>
                <a:latin typeface="Calibri"/>
                <a:ea typeface="Calibri"/>
              </a:rPr>
              <a:t>Client</a:t>
            </a:r>
            <a:endParaRPr lang="en-US" sz="800" b="0" strike="noStrike" spc="-1">
              <a:solidFill>
                <a:srgbClr val="000000"/>
              </a:solidFill>
              <a:latin typeface="Arial"/>
            </a:endParaRPr>
          </a:p>
        </p:txBody>
      </p:sp>
      <p:sp>
        <p:nvSpPr>
          <p:cNvPr id="1188" name="Text 49"/>
          <p:cNvSpPr/>
          <p:nvPr/>
        </p:nvSpPr>
        <p:spPr>
          <a:xfrm>
            <a:off x="3337560" y="3611880"/>
            <a:ext cx="53946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strike="noStrike" spc="-1">
                <a:solidFill>
                  <a:srgbClr val="333333"/>
                </a:solidFill>
                <a:latin typeface="Calibri"/>
                <a:ea typeface="Calibri"/>
              </a:rPr>
              <a:t>Client's key exchange data (pre-master secret encrypted with server's public key, or DH params)</a:t>
            </a:r>
            <a:endParaRPr lang="en-US" sz="850" b="0" strike="noStrike" spc="-1">
              <a:solidFill>
                <a:srgbClr val="000000"/>
              </a:solidFill>
              <a:latin typeface="Arial"/>
            </a:endParaRPr>
          </a:p>
        </p:txBody>
      </p:sp>
      <p:sp>
        <p:nvSpPr>
          <p:cNvPr id="1189" name="Shape 50"/>
          <p:cNvSpPr/>
          <p:nvPr/>
        </p:nvSpPr>
        <p:spPr>
          <a:xfrm>
            <a:off x="365760" y="4023360"/>
            <a:ext cx="273960" cy="273960"/>
          </a:xfrm>
          <a:prstGeom prst="rect">
            <a:avLst/>
          </a:prstGeom>
          <a:solidFill>
            <a:srgbClr val="00963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190" name="Text 51"/>
          <p:cNvSpPr/>
          <p:nvPr/>
        </p:nvSpPr>
        <p:spPr>
          <a:xfrm>
            <a:off x="365760" y="4023360"/>
            <a:ext cx="2739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strike="noStrike" spc="-1">
                <a:solidFill>
                  <a:srgbClr val="FFFFFF"/>
                </a:solidFill>
                <a:latin typeface="Arial"/>
                <a:ea typeface="Arial"/>
              </a:rPr>
              <a:t>8</a:t>
            </a:r>
            <a:endParaRPr lang="en-US" sz="1000" b="0" strike="noStrike" spc="-1">
              <a:solidFill>
                <a:srgbClr val="000000"/>
              </a:solidFill>
              <a:latin typeface="Arial"/>
            </a:endParaRPr>
          </a:p>
        </p:txBody>
      </p:sp>
      <p:sp>
        <p:nvSpPr>
          <p:cNvPr id="1191" name="Text 52"/>
          <p:cNvSpPr/>
          <p:nvPr/>
        </p:nvSpPr>
        <p:spPr>
          <a:xfrm>
            <a:off x="685800" y="4023360"/>
            <a:ext cx="228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0" strike="noStrike" spc="-1">
                <a:solidFill>
                  <a:srgbClr val="009639"/>
                </a:solidFill>
                <a:latin typeface="Calibri"/>
              </a:rPr>
              <a:t>▶◀</a:t>
            </a:r>
            <a:endParaRPr lang="en-US" sz="1000" b="0" strike="noStrike" spc="-1">
              <a:solidFill>
                <a:srgbClr val="000000"/>
              </a:solidFill>
              <a:latin typeface="Arial"/>
            </a:endParaRPr>
          </a:p>
        </p:txBody>
      </p:sp>
      <p:sp>
        <p:nvSpPr>
          <p:cNvPr id="1192" name="Text 53"/>
          <p:cNvSpPr/>
          <p:nvPr/>
        </p:nvSpPr>
        <p:spPr>
          <a:xfrm>
            <a:off x="960120" y="4023360"/>
            <a:ext cx="1645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strike="noStrike" spc="-1">
                <a:solidFill>
                  <a:srgbClr val="009639"/>
                </a:solidFill>
                <a:latin typeface="Courier New"/>
                <a:ea typeface="Courier New"/>
              </a:rPr>
              <a:t>ChangeCipherSpec + Finished</a:t>
            </a:r>
            <a:endParaRPr lang="en-US" sz="1000" b="0" strike="noStrike" spc="-1">
              <a:solidFill>
                <a:srgbClr val="000000"/>
              </a:solidFill>
              <a:latin typeface="Arial"/>
            </a:endParaRPr>
          </a:p>
        </p:txBody>
      </p:sp>
      <p:sp>
        <p:nvSpPr>
          <p:cNvPr id="1193" name="Text 54"/>
          <p:cNvSpPr/>
          <p:nvPr/>
        </p:nvSpPr>
        <p:spPr>
          <a:xfrm>
            <a:off x="2651760" y="4023360"/>
            <a:ext cx="6397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1" strike="noStrike" spc="-1">
                <a:solidFill>
                  <a:srgbClr val="666666"/>
                </a:solidFill>
                <a:latin typeface="Calibri"/>
                <a:ea typeface="Calibri"/>
              </a:rPr>
              <a:t>Both</a:t>
            </a:r>
            <a:endParaRPr lang="en-US" sz="800" b="0" strike="noStrike" spc="-1">
              <a:solidFill>
                <a:srgbClr val="000000"/>
              </a:solidFill>
              <a:latin typeface="Arial"/>
            </a:endParaRPr>
          </a:p>
        </p:txBody>
      </p:sp>
      <p:sp>
        <p:nvSpPr>
          <p:cNvPr id="1194" name="Text 55"/>
          <p:cNvSpPr/>
          <p:nvPr/>
        </p:nvSpPr>
        <p:spPr>
          <a:xfrm>
            <a:off x="3337560" y="4023360"/>
            <a:ext cx="53946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strike="noStrike" spc="-1">
                <a:solidFill>
                  <a:srgbClr val="333333"/>
                </a:solidFill>
                <a:latin typeface="Calibri"/>
                <a:ea typeface="Calibri"/>
              </a:rPr>
              <a:t>Both sides switch to encrypted communication. Finished messages verify handshake integrity.</a:t>
            </a:r>
            <a:endParaRPr lang="en-US" sz="850" b="0" strike="noStrike" spc="-1">
              <a:solidFill>
                <a:srgbClr val="000000"/>
              </a:solidFill>
              <a:latin typeface="Arial"/>
            </a:endParaRPr>
          </a:p>
        </p:txBody>
      </p:sp>
      <p:sp>
        <p:nvSpPr>
          <p:cNvPr id="1195" name="Shape 56"/>
          <p:cNvSpPr/>
          <p:nvPr/>
        </p:nvSpPr>
        <p:spPr>
          <a:xfrm>
            <a:off x="365760" y="4389120"/>
            <a:ext cx="8412120" cy="228240"/>
          </a:xfrm>
          <a:prstGeom prst="rect">
            <a:avLst/>
          </a:prstGeom>
          <a:solidFill>
            <a:srgbClr val="E8F5E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196" name="Text 57"/>
          <p:cNvSpPr/>
          <p:nvPr/>
        </p:nvSpPr>
        <p:spPr>
          <a:xfrm>
            <a:off x="548640" y="4389120"/>
            <a:ext cx="804636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strike="noStrike" spc="-1">
                <a:solidFill>
                  <a:srgbClr val="009639"/>
                </a:solidFill>
                <a:latin typeface="Calibri"/>
                <a:ea typeface="Calibri"/>
              </a:rPr>
              <a:t>✔ Application data now flows encrypted  |  </a:t>
            </a:r>
            <a:r>
              <a:rPr lang="en-US" sz="900" b="0" strike="noStrike" spc="-1">
                <a:solidFill>
                  <a:srgbClr val="1B5E20"/>
                </a:solidFill>
                <a:latin typeface="Calibri"/>
                <a:ea typeface="Calibri"/>
              </a:rPr>
              <a:t>TLS 1.3 simplifies this to 1 round-trip (ClientHello + ServerHello with key share = immediate encryption)</a:t>
            </a:r>
            <a:endParaRPr lang="en-US" sz="900" b="0" strike="noStrike" spc="-1">
              <a:solidFill>
                <a:srgbClr val="000000"/>
              </a:solidFill>
              <a:latin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97"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198"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199"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200"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201"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202"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51    © 2026 F5</a:t>
            </a:r>
            <a:endParaRPr lang="en-US" sz="800" b="0" strike="noStrike" spc="-1">
              <a:solidFill>
                <a:srgbClr val="000000"/>
              </a:solidFill>
              <a:latin typeface="Arial"/>
            </a:endParaRPr>
          </a:p>
        </p:txBody>
      </p:sp>
      <p:pic>
        <p:nvPicPr>
          <p:cNvPr id="1203" name="Image 0" descr="preencoded.png"/>
          <p:cNvPicPr/>
          <p:nvPr/>
        </p:nvPicPr>
        <p:blipFill>
          <a:blip r:embed="rId3"/>
          <a:stretch/>
        </p:blipFill>
        <p:spPr>
          <a:xfrm>
            <a:off x="8458200" y="4663440"/>
            <a:ext cx="383760" cy="383760"/>
          </a:xfrm>
          <a:prstGeom prst="rect">
            <a:avLst/>
          </a:prstGeom>
          <a:ln w="0">
            <a:noFill/>
          </a:ln>
        </p:spPr>
      </p:pic>
      <p:sp>
        <p:nvSpPr>
          <p:cNvPr id="1204" name="Text 6"/>
          <p:cNvSpPr/>
          <p:nvPr/>
        </p:nvSpPr>
        <p:spPr>
          <a:xfrm>
            <a:off x="457200" y="274320"/>
            <a:ext cx="82292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Capturing decrypted SSL with tcpdump</a:t>
            </a:r>
            <a:endParaRPr lang="en-US" sz="2800" b="0" strike="noStrike" spc="-1">
              <a:solidFill>
                <a:srgbClr val="000000"/>
              </a:solidFill>
              <a:latin typeface="Arial"/>
            </a:endParaRPr>
          </a:p>
        </p:txBody>
      </p:sp>
      <p:sp>
        <p:nvSpPr>
          <p:cNvPr id="1205" name="Text 7"/>
          <p:cNvSpPr/>
          <p:nvPr/>
        </p:nvSpPr>
        <p:spPr>
          <a:xfrm>
            <a:off x="457200" y="658440"/>
            <a:ext cx="82292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strike="noStrike" spc="-1">
                <a:solidFill>
                  <a:srgbClr val="666666"/>
                </a:solidFill>
                <a:latin typeface="Calibri"/>
                <a:ea typeface="Calibri"/>
              </a:rPr>
              <a:t>Use the F5 SSL provider to capture decrypted application data alongside encrypted traffic</a:t>
            </a:r>
            <a:endParaRPr lang="en-US" sz="1300" b="0" strike="noStrike" spc="-1">
              <a:solidFill>
                <a:srgbClr val="000000"/>
              </a:solidFill>
              <a:latin typeface="Arial"/>
            </a:endParaRPr>
          </a:p>
        </p:txBody>
      </p:sp>
      <p:sp>
        <p:nvSpPr>
          <p:cNvPr id="1206" name="Text 8"/>
          <p:cNvSpPr/>
          <p:nvPr/>
        </p:nvSpPr>
        <p:spPr>
          <a:xfrm>
            <a:off x="457200" y="1005840"/>
            <a:ext cx="45716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strike="noStrike" spc="-1">
                <a:solidFill>
                  <a:srgbClr val="0E41AA"/>
                </a:solidFill>
                <a:latin typeface="Arial"/>
                <a:ea typeface="Arial"/>
              </a:rPr>
              <a:t>Capture with F5 SSL provider</a:t>
            </a:r>
            <a:endParaRPr lang="en-US" sz="1600" b="0" strike="noStrike" spc="-1">
              <a:solidFill>
                <a:srgbClr val="000000"/>
              </a:solidFill>
              <a:latin typeface="Arial"/>
            </a:endParaRPr>
          </a:p>
        </p:txBody>
      </p:sp>
      <p:sp>
        <p:nvSpPr>
          <p:cNvPr id="1207" name="Shape 9"/>
          <p:cNvSpPr/>
          <p:nvPr/>
        </p:nvSpPr>
        <p:spPr>
          <a:xfrm>
            <a:off x="457200" y="1280160"/>
            <a:ext cx="8229240" cy="456840"/>
          </a:xfrm>
          <a:prstGeom prst="rect">
            <a:avLst/>
          </a:prstGeom>
          <a:solidFill>
            <a:srgbClr val="1E293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208" name="Text 10"/>
          <p:cNvSpPr/>
          <p:nvPr/>
        </p:nvSpPr>
        <p:spPr>
          <a:xfrm>
            <a:off x="594360" y="1298520"/>
            <a:ext cx="7954920" cy="420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strike="noStrike" spc="-1">
                <a:solidFill>
                  <a:srgbClr val="A5F3FC"/>
                </a:solidFill>
                <a:latin typeface="Courier New"/>
                <a:ea typeface="Courier New"/>
              </a:rPr>
              <a:t>tcpdump -nni 0.0:nnnp -s0 -w /var/tmp/ssl_capture.pcap --f5 ssl</a:t>
            </a:r>
            <a:endParaRPr lang="en-US" sz="1200" b="0" strike="noStrike" spc="-1">
              <a:solidFill>
                <a:srgbClr val="000000"/>
              </a:solidFill>
              <a:latin typeface="Arial"/>
            </a:endParaRPr>
          </a:p>
        </p:txBody>
      </p:sp>
      <p:sp>
        <p:nvSpPr>
          <p:cNvPr id="1209" name="Shape 11"/>
          <p:cNvSpPr/>
          <p:nvPr/>
        </p:nvSpPr>
        <p:spPr>
          <a:xfrm>
            <a:off x="457200" y="1874520"/>
            <a:ext cx="8229240" cy="164556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210" name="Text 12"/>
          <p:cNvSpPr/>
          <p:nvPr/>
        </p:nvSpPr>
        <p:spPr>
          <a:xfrm>
            <a:off x="548640" y="1920240"/>
            <a:ext cx="18284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900" b="1" strike="noStrike" spc="-1">
                <a:solidFill>
                  <a:srgbClr val="0E41AA"/>
                </a:solidFill>
                <a:latin typeface="Courier New"/>
                <a:ea typeface="Courier New"/>
              </a:rPr>
              <a:t>-nni 0.0:nnnp</a:t>
            </a:r>
            <a:endParaRPr lang="en-US" sz="900" b="0" strike="noStrike" spc="-1">
              <a:solidFill>
                <a:srgbClr val="000000"/>
              </a:solidFill>
              <a:latin typeface="Arial"/>
            </a:endParaRPr>
          </a:p>
        </p:txBody>
      </p:sp>
      <p:sp>
        <p:nvSpPr>
          <p:cNvPr id="1211" name="Text 13"/>
          <p:cNvSpPr/>
          <p:nvPr/>
        </p:nvSpPr>
        <p:spPr>
          <a:xfrm>
            <a:off x="2468880" y="1920240"/>
            <a:ext cx="603468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900" b="0" strike="noStrike" spc="-1">
                <a:solidFill>
                  <a:srgbClr val="333333"/>
                </a:solidFill>
                <a:latin typeface="Calibri"/>
                <a:ea typeface="Calibri"/>
              </a:rPr>
              <a:t>Capture on all VLANs (0.0) with the :nnnp modifier that adds peer flow data to each packet. This captures both client-side and server-side traffic in one file.</a:t>
            </a:r>
            <a:endParaRPr lang="en-US" sz="900" b="0" strike="noStrike" spc="-1">
              <a:solidFill>
                <a:srgbClr val="000000"/>
              </a:solidFill>
              <a:latin typeface="Arial"/>
            </a:endParaRPr>
          </a:p>
        </p:txBody>
      </p:sp>
      <p:sp>
        <p:nvSpPr>
          <p:cNvPr id="1212" name="Text 14"/>
          <p:cNvSpPr/>
          <p:nvPr/>
        </p:nvSpPr>
        <p:spPr>
          <a:xfrm>
            <a:off x="548640" y="2304360"/>
            <a:ext cx="18284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900" b="1" strike="noStrike" spc="-1">
                <a:solidFill>
                  <a:srgbClr val="0E41AA"/>
                </a:solidFill>
                <a:latin typeface="Courier New"/>
                <a:ea typeface="Courier New"/>
              </a:rPr>
              <a:t>-s0</a:t>
            </a:r>
            <a:endParaRPr lang="en-US" sz="900" b="0" strike="noStrike" spc="-1">
              <a:solidFill>
                <a:srgbClr val="000000"/>
              </a:solidFill>
              <a:latin typeface="Arial"/>
            </a:endParaRPr>
          </a:p>
        </p:txBody>
      </p:sp>
      <p:sp>
        <p:nvSpPr>
          <p:cNvPr id="1213" name="Text 15"/>
          <p:cNvSpPr/>
          <p:nvPr/>
        </p:nvSpPr>
        <p:spPr>
          <a:xfrm>
            <a:off x="2468880" y="2304360"/>
            <a:ext cx="603468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900" b="0" strike="noStrike" spc="-1">
                <a:solidFill>
                  <a:srgbClr val="333333"/>
                </a:solidFill>
                <a:latin typeface="Calibri"/>
                <a:ea typeface="Calibri"/>
              </a:rPr>
              <a:t>Full packet capture — no truncation. Required for TLS analysis where you need complete handshake messages.</a:t>
            </a:r>
            <a:endParaRPr lang="en-US" sz="900" b="0" strike="noStrike" spc="-1">
              <a:solidFill>
                <a:srgbClr val="000000"/>
              </a:solidFill>
              <a:latin typeface="Arial"/>
            </a:endParaRPr>
          </a:p>
        </p:txBody>
      </p:sp>
      <p:sp>
        <p:nvSpPr>
          <p:cNvPr id="1214" name="Text 16"/>
          <p:cNvSpPr/>
          <p:nvPr/>
        </p:nvSpPr>
        <p:spPr>
          <a:xfrm>
            <a:off x="548640" y="2688480"/>
            <a:ext cx="18284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900" b="1" strike="noStrike" spc="-1">
                <a:solidFill>
                  <a:srgbClr val="0E41AA"/>
                </a:solidFill>
                <a:latin typeface="Courier New"/>
                <a:ea typeface="Courier New"/>
              </a:rPr>
              <a:t>-w /var/tmp/file.pcap</a:t>
            </a:r>
            <a:endParaRPr lang="en-US" sz="900" b="0" strike="noStrike" spc="-1">
              <a:solidFill>
                <a:srgbClr val="000000"/>
              </a:solidFill>
              <a:latin typeface="Arial"/>
            </a:endParaRPr>
          </a:p>
        </p:txBody>
      </p:sp>
      <p:sp>
        <p:nvSpPr>
          <p:cNvPr id="1215" name="Text 17"/>
          <p:cNvSpPr/>
          <p:nvPr/>
        </p:nvSpPr>
        <p:spPr>
          <a:xfrm>
            <a:off x="2468880" y="2688480"/>
            <a:ext cx="603468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900" b="0" strike="noStrike" spc="-1">
                <a:solidFill>
                  <a:srgbClr val="333333"/>
                </a:solidFill>
                <a:latin typeface="Calibri"/>
                <a:ea typeface="Calibri"/>
              </a:rPr>
              <a:t>Write to file for Wireshark analysis. Do NOT output to screen for SSL troubleshooting — use Wireshark.</a:t>
            </a:r>
            <a:endParaRPr lang="en-US" sz="900" b="0" strike="noStrike" spc="-1">
              <a:solidFill>
                <a:srgbClr val="000000"/>
              </a:solidFill>
              <a:latin typeface="Arial"/>
            </a:endParaRPr>
          </a:p>
        </p:txBody>
      </p:sp>
      <p:sp>
        <p:nvSpPr>
          <p:cNvPr id="1216" name="Text 18"/>
          <p:cNvSpPr/>
          <p:nvPr/>
        </p:nvSpPr>
        <p:spPr>
          <a:xfrm>
            <a:off x="548640" y="3072240"/>
            <a:ext cx="18284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900" b="1" strike="noStrike" spc="-1">
                <a:solidFill>
                  <a:srgbClr val="0E41AA"/>
                </a:solidFill>
                <a:latin typeface="Courier New"/>
                <a:ea typeface="Courier New"/>
              </a:rPr>
              <a:t>--f5 ssl</a:t>
            </a:r>
            <a:endParaRPr lang="en-US" sz="900" b="0" strike="noStrike" spc="-1">
              <a:solidFill>
                <a:srgbClr val="000000"/>
              </a:solidFill>
              <a:latin typeface="Arial"/>
            </a:endParaRPr>
          </a:p>
        </p:txBody>
      </p:sp>
      <p:sp>
        <p:nvSpPr>
          <p:cNvPr id="1217" name="Text 19"/>
          <p:cNvSpPr/>
          <p:nvPr/>
        </p:nvSpPr>
        <p:spPr>
          <a:xfrm>
            <a:off x="2468880" y="3072240"/>
            <a:ext cx="603468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900" b="0" strike="noStrike" spc="-1">
                <a:solidFill>
                  <a:srgbClr val="333333"/>
                </a:solidFill>
                <a:latin typeface="Calibri"/>
                <a:ea typeface="Calibri"/>
              </a:rPr>
              <a:t>Enables the F5 SSL provider. TMM intercepts the SSL flow and writes DECRYPTED application data into the capture alongside the encrypted packets. Works with ALL cipher suites including ECDHE/PFS.</a:t>
            </a:r>
            <a:endParaRPr lang="en-US" sz="900" b="0" strike="noStrike" spc="-1">
              <a:solidFill>
                <a:srgbClr val="000000"/>
              </a:solidFill>
              <a:latin typeface="Arial"/>
            </a:endParaRPr>
          </a:p>
        </p:txBody>
      </p:sp>
      <p:sp>
        <p:nvSpPr>
          <p:cNvPr id="1218" name="Text 20"/>
          <p:cNvSpPr/>
          <p:nvPr/>
        </p:nvSpPr>
        <p:spPr>
          <a:xfrm>
            <a:off x="457200" y="3657600"/>
            <a:ext cx="45716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E4002B"/>
                </a:solidFill>
                <a:latin typeface="Arial"/>
                <a:ea typeface="Arial"/>
              </a:rPr>
              <a:t>Why tcpdump --f5 ssl replaces ssldump</a:t>
            </a:r>
            <a:endParaRPr lang="en-US" sz="1400" b="0" strike="noStrike" spc="-1">
              <a:solidFill>
                <a:srgbClr val="000000"/>
              </a:solidFill>
              <a:latin typeface="Arial"/>
            </a:endParaRPr>
          </a:p>
        </p:txBody>
      </p:sp>
      <p:graphicFrame>
        <p:nvGraphicFramePr>
          <p:cNvPr id="1219" name="Table 0"/>
          <p:cNvGraphicFramePr/>
          <p:nvPr/>
        </p:nvGraphicFramePr>
        <p:xfrm>
          <a:off x="457200" y="3886200"/>
          <a:ext cx="8229600" cy="1143000"/>
        </p:xfrm>
        <a:graphic>
          <a:graphicData uri="http://schemas.openxmlformats.org/drawingml/2006/table">
            <a:tbl>
              <a:tblPr/>
              <a:tblGrid>
                <a:gridCol w="109728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tblGrid>
              <a:tr h="0">
                <a:tc>
                  <a:txBody>
                    <a:bodyPr/>
                    <a:lstStyle/>
                    <a:p>
                      <a:pPr defTabSz="914400">
                        <a:lnSpc>
                          <a:spcPct val="100000"/>
                        </a:lnSpc>
                        <a:tabLst>
                          <a:tab pos="0" algn="l"/>
                        </a:tabLst>
                      </a:pPr>
                      <a:endParaRPr lang="en-US" sz="900" b="0" strike="noStrike" spc="-1">
                        <a:solidFill>
                          <a:schemeClr val="dk1"/>
                        </a:solidFill>
                        <a:latin typeface="Calibri"/>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E4002B"/>
                    </a:solidFill>
                  </a:tcPr>
                </a:tc>
                <a:tc>
                  <a:txBody>
                    <a:bodyPr/>
                    <a:lstStyle/>
                    <a:p>
                      <a:pPr defTabSz="914400">
                        <a:lnSpc>
                          <a:spcPct val="100000"/>
                        </a:lnSpc>
                        <a:tabLst>
                          <a:tab pos="0" algn="l"/>
                        </a:tabLst>
                      </a:pPr>
                      <a:r>
                        <a:rPr lang="en-US" sz="900" b="1" strike="noStrike" spc="-1">
                          <a:solidFill>
                            <a:srgbClr val="FFFFFF"/>
                          </a:solidFill>
                          <a:latin typeface="Calibri"/>
                        </a:rPr>
                        <a:t>ssldump (legacy)</a:t>
                      </a:r>
                      <a:endParaRPr lang="en-US" sz="9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E4002B"/>
                    </a:solidFill>
                  </a:tcPr>
                </a:tc>
                <a:tc>
                  <a:txBody>
                    <a:bodyPr/>
                    <a:lstStyle/>
                    <a:p>
                      <a:pPr defTabSz="914400">
                        <a:lnSpc>
                          <a:spcPct val="100000"/>
                        </a:lnSpc>
                        <a:tabLst>
                          <a:tab pos="0" algn="l"/>
                        </a:tabLst>
                      </a:pPr>
                      <a:r>
                        <a:rPr lang="en-US" sz="900" b="1" strike="noStrike" spc="-1">
                          <a:solidFill>
                            <a:srgbClr val="FFFFFF"/>
                          </a:solidFill>
                          <a:latin typeface="Calibri"/>
                        </a:rPr>
                        <a:t>tcpdump --f5 ssl (modern)</a:t>
                      </a:r>
                      <a:endParaRPr lang="en-US" sz="9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E4002B"/>
                    </a:solidFill>
                  </a:tcPr>
                </a:tc>
                <a:extLst>
                  <a:ext uri="{0D108BD9-81ED-4DB2-BD59-A6C34878D82A}">
                    <a16:rowId xmlns:a16="http://schemas.microsoft.com/office/drawing/2014/main" val="10000"/>
                  </a:ext>
                </a:extLst>
              </a:tr>
              <a:tr h="0">
                <a:tc>
                  <a:txBody>
                    <a:bodyPr/>
                    <a:lstStyle/>
                    <a:p>
                      <a:pPr defTabSz="914400">
                        <a:lnSpc>
                          <a:spcPct val="100000"/>
                        </a:lnSpc>
                        <a:tabLst>
                          <a:tab pos="0" algn="l"/>
                        </a:tabLst>
                      </a:pPr>
                      <a:r>
                        <a:rPr lang="en-US" sz="900" b="1" strike="noStrike" spc="-1">
                          <a:solidFill>
                            <a:srgbClr val="000000"/>
                          </a:solidFill>
                          <a:latin typeface="Calibri"/>
                        </a:rPr>
                        <a:t>PFS/ECDHE</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E4002B"/>
                          </a:solidFill>
                          <a:latin typeface="Calibri"/>
                        </a:rPr>
                        <a:t>Cannot decrypt ✘</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9639"/>
                          </a:solidFill>
                          <a:latin typeface="Calibri"/>
                        </a:rPr>
                        <a:t>Decrypts all ciphers ✔</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1"/>
                  </a:ext>
                </a:extLst>
              </a:tr>
              <a:tr h="0">
                <a:tc>
                  <a:txBody>
                    <a:bodyPr/>
                    <a:lstStyle/>
                    <a:p>
                      <a:pPr defTabSz="914400">
                        <a:lnSpc>
                          <a:spcPct val="100000"/>
                        </a:lnSpc>
                        <a:tabLst>
                          <a:tab pos="0" algn="l"/>
                        </a:tabLst>
                      </a:pPr>
                      <a:r>
                        <a:rPr lang="en-US" sz="900" b="1" strike="noStrike" spc="-1">
                          <a:solidFill>
                            <a:srgbClr val="000000"/>
                          </a:solidFill>
                          <a:latin typeface="Calibri"/>
                        </a:rPr>
                        <a:t>TLS 1.3</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E4002B"/>
                          </a:solidFill>
                          <a:latin typeface="Calibri"/>
                        </a:rPr>
                        <a:t>Not supported ✘</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9639"/>
                          </a:solidFill>
                          <a:latin typeface="Calibri"/>
                        </a:rPr>
                        <a:t>Fully supported ✔</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2"/>
                  </a:ext>
                </a:extLst>
              </a:tr>
              <a:tr h="0">
                <a:tc>
                  <a:txBody>
                    <a:bodyPr/>
                    <a:lstStyle/>
                    <a:p>
                      <a:pPr defTabSz="914400">
                        <a:lnSpc>
                          <a:spcPct val="100000"/>
                        </a:lnSpc>
                        <a:tabLst>
                          <a:tab pos="0" algn="l"/>
                        </a:tabLst>
                      </a:pPr>
                      <a:r>
                        <a:rPr lang="en-US" sz="900" b="1" strike="noStrike" spc="-1">
                          <a:solidFill>
                            <a:srgbClr val="000000"/>
                          </a:solidFill>
                          <a:latin typeface="Calibri"/>
                        </a:rPr>
                        <a:t>Process</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Capture, then decrypt offline</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Decrypted data captured inline</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3"/>
                  </a:ext>
                </a:extLst>
              </a:tr>
              <a:tr h="0">
                <a:tc>
                  <a:txBody>
                    <a:bodyPr/>
                    <a:lstStyle/>
                    <a:p>
                      <a:pPr defTabSz="914400">
                        <a:lnSpc>
                          <a:spcPct val="100000"/>
                        </a:lnSpc>
                        <a:tabLst>
                          <a:tab pos="0" algn="l"/>
                        </a:tabLst>
                      </a:pPr>
                      <a:r>
                        <a:rPr lang="en-US" sz="900" b="1" strike="noStrike" spc="-1">
                          <a:solidFill>
                            <a:srgbClr val="000000"/>
                          </a:solidFill>
                          <a:latin typeface="Calibri"/>
                        </a:rPr>
                        <a:t>Key needed</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Requires private key file</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9639"/>
                          </a:solidFill>
                          <a:latin typeface="Calibri"/>
                        </a:rPr>
                        <a:t>No key needed — TMM provides data</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20"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221"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222"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223"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224"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225"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52    © 2026 F5</a:t>
            </a:r>
            <a:endParaRPr lang="en-US" sz="800" b="0" strike="noStrike" spc="-1">
              <a:solidFill>
                <a:srgbClr val="000000"/>
              </a:solidFill>
              <a:latin typeface="Arial"/>
            </a:endParaRPr>
          </a:p>
        </p:txBody>
      </p:sp>
      <p:pic>
        <p:nvPicPr>
          <p:cNvPr id="1226" name="Image 0" descr="preencoded.png"/>
          <p:cNvPicPr/>
          <p:nvPr/>
        </p:nvPicPr>
        <p:blipFill>
          <a:blip r:embed="rId3"/>
          <a:stretch/>
        </p:blipFill>
        <p:spPr>
          <a:xfrm>
            <a:off x="8458200" y="4663440"/>
            <a:ext cx="383760" cy="383760"/>
          </a:xfrm>
          <a:prstGeom prst="rect">
            <a:avLst/>
          </a:prstGeom>
          <a:ln w="0">
            <a:noFill/>
          </a:ln>
        </p:spPr>
      </p:pic>
      <p:sp>
        <p:nvSpPr>
          <p:cNvPr id="1227" name="Text 6"/>
          <p:cNvSpPr/>
          <p:nvPr/>
        </p:nvSpPr>
        <p:spPr>
          <a:xfrm>
            <a:off x="457200" y="274320"/>
            <a:ext cx="73148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Lab 5 — Hands-on exercises</a:t>
            </a:r>
            <a:endParaRPr lang="en-US" sz="2800" b="0" strike="noStrike" spc="-1">
              <a:solidFill>
                <a:srgbClr val="000000"/>
              </a:solidFill>
              <a:latin typeface="Arial"/>
            </a:endParaRPr>
          </a:p>
        </p:txBody>
      </p:sp>
      <p:sp>
        <p:nvSpPr>
          <p:cNvPr id="1228" name="Text 7"/>
          <p:cNvSpPr/>
          <p:nvPr/>
        </p:nvSpPr>
        <p:spPr>
          <a:xfrm>
            <a:off x="457200" y="658440"/>
            <a:ext cx="73148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009639"/>
                </a:solidFill>
                <a:latin typeface="Calibri"/>
                <a:ea typeface="Calibri"/>
              </a:rPr>
              <a:t>30 minutes  |  Lab guide: Module 5</a:t>
            </a:r>
            <a:endParaRPr lang="en-US" sz="1400" b="0" strike="noStrike" spc="-1">
              <a:solidFill>
                <a:srgbClr val="000000"/>
              </a:solidFill>
              <a:latin typeface="Arial"/>
            </a:endParaRPr>
          </a:p>
        </p:txBody>
      </p:sp>
      <p:graphicFrame>
        <p:nvGraphicFramePr>
          <p:cNvPr id="1229" name="Table 0"/>
          <p:cNvGraphicFramePr/>
          <p:nvPr/>
        </p:nvGraphicFramePr>
        <p:xfrm>
          <a:off x="365760" y="960120"/>
          <a:ext cx="7772400" cy="2011680"/>
        </p:xfrm>
        <a:graphic>
          <a:graphicData uri="http://schemas.openxmlformats.org/drawingml/2006/table">
            <a:tbl>
              <a:tblPr/>
              <a:tblGrid>
                <a:gridCol w="3200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5394960">
                  <a:extLst>
                    <a:ext uri="{9D8B030D-6E8A-4147-A177-3AD203B41FA5}">
                      <a16:colId xmlns:a16="http://schemas.microsoft.com/office/drawing/2014/main" val="20002"/>
                    </a:ext>
                  </a:extLst>
                </a:gridCol>
                <a:gridCol w="594360">
                  <a:extLst>
                    <a:ext uri="{9D8B030D-6E8A-4147-A177-3AD203B41FA5}">
                      <a16:colId xmlns:a16="http://schemas.microsoft.com/office/drawing/2014/main" val="20003"/>
                    </a:ext>
                  </a:extLst>
                </a:gridCol>
              </a:tblGrid>
              <a:tr h="274320">
                <a:tc>
                  <a:txBody>
                    <a:bodyPr/>
                    <a:lstStyle/>
                    <a:p>
                      <a:pPr algn="ctr" defTabSz="914400">
                        <a:lnSpc>
                          <a:spcPct val="100000"/>
                        </a:lnSpc>
                        <a:tabLst>
                          <a:tab pos="0" algn="l"/>
                        </a:tabLst>
                      </a:pPr>
                      <a:r>
                        <a:rPr lang="en-US" sz="1000" b="1" strike="noStrike" spc="-1">
                          <a:solidFill>
                            <a:srgbClr val="FFFFFF"/>
                          </a:solidFill>
                          <a:latin typeface="Calibri"/>
                        </a:rPr>
                        <a:t>#</a:t>
                      </a:r>
                      <a:endParaRPr lang="en-US" sz="10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09639"/>
                    </a:solidFill>
                  </a:tcPr>
                </a:tc>
                <a:tc>
                  <a:txBody>
                    <a:bodyPr/>
                    <a:lstStyle/>
                    <a:p>
                      <a:pPr defTabSz="914400">
                        <a:lnSpc>
                          <a:spcPct val="100000"/>
                        </a:lnSpc>
                        <a:tabLst>
                          <a:tab pos="0" algn="l"/>
                        </a:tabLst>
                      </a:pPr>
                      <a:r>
                        <a:rPr lang="en-US" sz="1100" b="1" strike="noStrike" spc="-1">
                          <a:solidFill>
                            <a:srgbClr val="FFFFFF"/>
                          </a:solidFill>
                          <a:latin typeface="Calibri"/>
                        </a:rPr>
                        <a:t>Activity</a:t>
                      </a:r>
                      <a:endParaRPr lang="en-US" sz="11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09639"/>
                    </a:solidFill>
                  </a:tcPr>
                </a:tc>
                <a:tc>
                  <a:txBody>
                    <a:bodyPr/>
                    <a:lstStyle/>
                    <a:p>
                      <a:pPr defTabSz="914400">
                        <a:lnSpc>
                          <a:spcPct val="100000"/>
                        </a:lnSpc>
                        <a:tabLst>
                          <a:tab pos="0" algn="l"/>
                        </a:tabLst>
                      </a:pPr>
                      <a:r>
                        <a:rPr lang="en-US" sz="1100" b="1" strike="noStrike" spc="-1">
                          <a:solidFill>
                            <a:srgbClr val="FFFFFF"/>
                          </a:solidFill>
                          <a:latin typeface="Calibri"/>
                        </a:rPr>
                        <a:t>Key tasks</a:t>
                      </a:r>
                      <a:endParaRPr lang="en-US" sz="11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09639"/>
                    </a:solidFill>
                  </a:tcPr>
                </a:tc>
                <a:tc>
                  <a:txBody>
                    <a:bodyPr/>
                    <a:lstStyle/>
                    <a:p>
                      <a:pPr algn="ctr" defTabSz="914400">
                        <a:lnSpc>
                          <a:spcPct val="100000"/>
                        </a:lnSpc>
                        <a:tabLst>
                          <a:tab pos="0" algn="l"/>
                        </a:tabLst>
                      </a:pPr>
                      <a:r>
                        <a:rPr lang="en-US" sz="1000" b="1" strike="noStrike" spc="-1">
                          <a:solidFill>
                            <a:srgbClr val="FFFFFF"/>
                          </a:solidFill>
                          <a:latin typeface="Calibri"/>
                        </a:rPr>
                        <a:t>Time</a:t>
                      </a:r>
                      <a:endParaRPr lang="en-US" sz="10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09639"/>
                    </a:solidFill>
                  </a:tcPr>
                </a:tc>
                <a:extLst>
                  <a:ext uri="{0D108BD9-81ED-4DB2-BD59-A6C34878D82A}">
                    <a16:rowId xmlns:a16="http://schemas.microsoft.com/office/drawing/2014/main" val="10000"/>
                  </a:ext>
                </a:extLst>
              </a:tr>
              <a:tr h="411480">
                <a:tc>
                  <a:txBody>
                    <a:bodyPr/>
                    <a:lstStyle/>
                    <a:p>
                      <a:pPr algn="ctr" defTabSz="914400">
                        <a:lnSpc>
                          <a:spcPct val="100000"/>
                        </a:lnSpc>
                        <a:tabLst>
                          <a:tab pos="0" algn="l"/>
                        </a:tabLst>
                      </a:pPr>
                      <a:r>
                        <a:rPr lang="en-US" sz="1100" b="0" strike="noStrike" spc="-1">
                          <a:solidFill>
                            <a:srgbClr val="000000"/>
                          </a:solidFill>
                          <a:latin typeface="Calibri"/>
                        </a:rPr>
                        <a:t>1</a:t>
                      </a:r>
                      <a:endParaRPr lang="en-US" sz="11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1100" b="1" strike="noStrike" spc="-1">
                          <a:solidFill>
                            <a:srgbClr val="000000"/>
                          </a:solidFill>
                          <a:latin typeface="Calibri"/>
                        </a:rPr>
                        <a:t>Create client cert</a:t>
                      </a:r>
                      <a:endParaRPr lang="en-US" sz="11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1000" b="0" strike="noStrike" spc="-1">
                          <a:solidFill>
                            <a:srgbClr val="333333"/>
                          </a:solidFill>
                          <a:latin typeface="Calibri"/>
                        </a:rPr>
                        <a:t>Self-signed, CN=ltm301a.f5demo.com, 2048-bit RSA, 365 days.</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algn="ctr" defTabSz="914400">
                        <a:lnSpc>
                          <a:spcPct val="100000"/>
                        </a:lnSpc>
                        <a:tabLst>
                          <a:tab pos="0" algn="l"/>
                        </a:tabLst>
                      </a:pPr>
                      <a:r>
                        <a:rPr lang="en-US" sz="1000" b="0" strike="noStrike" spc="-1">
                          <a:solidFill>
                            <a:srgbClr val="666666"/>
                          </a:solidFill>
                          <a:latin typeface="Calibri"/>
                        </a:rPr>
                        <a:t>5m</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1"/>
                  </a:ext>
                </a:extLst>
              </a:tr>
              <a:tr h="411480">
                <a:tc>
                  <a:txBody>
                    <a:bodyPr/>
                    <a:lstStyle/>
                    <a:p>
                      <a:pPr algn="ctr" defTabSz="914400">
                        <a:lnSpc>
                          <a:spcPct val="100000"/>
                        </a:lnSpc>
                        <a:tabLst>
                          <a:tab pos="0" algn="l"/>
                        </a:tabLst>
                      </a:pPr>
                      <a:r>
                        <a:rPr lang="en-US" sz="1100" b="0" strike="noStrike" spc="-1">
                          <a:solidFill>
                            <a:srgbClr val="000000"/>
                          </a:solidFill>
                          <a:latin typeface="Calibri"/>
                        </a:rPr>
                        <a:t>2</a:t>
                      </a:r>
                      <a:endParaRPr lang="en-US" sz="11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1100" b="1" strike="noStrike" spc="-1">
                          <a:solidFill>
                            <a:srgbClr val="000000"/>
                          </a:solidFill>
                          <a:latin typeface="Calibri"/>
                        </a:rPr>
                        <a:t>Import server cert</a:t>
                      </a:r>
                      <a:endParaRPr lang="en-US" sz="11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1000" b="0" strike="noStrike" spc="-1">
                          <a:solidFill>
                            <a:srgbClr val="333333"/>
                          </a:solidFill>
                          <a:latin typeface="Calibri"/>
                        </a:rPr>
                        <a:t>Import KEY first (import_ssl_cert), then CERT with same name.</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algn="ctr" defTabSz="914400">
                        <a:lnSpc>
                          <a:spcPct val="100000"/>
                        </a:lnSpc>
                        <a:tabLst>
                          <a:tab pos="0" algn="l"/>
                        </a:tabLst>
                      </a:pPr>
                      <a:r>
                        <a:rPr lang="en-US" sz="1000" b="0" strike="noStrike" spc="-1">
                          <a:solidFill>
                            <a:srgbClr val="666666"/>
                          </a:solidFill>
                          <a:latin typeface="Calibri"/>
                        </a:rPr>
                        <a:t>5m</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2"/>
                  </a:ext>
                </a:extLst>
              </a:tr>
              <a:tr h="457200">
                <a:tc>
                  <a:txBody>
                    <a:bodyPr/>
                    <a:lstStyle/>
                    <a:p>
                      <a:pPr algn="ctr" defTabSz="914400">
                        <a:lnSpc>
                          <a:spcPct val="100000"/>
                        </a:lnSpc>
                        <a:tabLst>
                          <a:tab pos="0" algn="l"/>
                        </a:tabLst>
                      </a:pPr>
                      <a:r>
                        <a:rPr lang="en-US" sz="1100" b="0" strike="noStrike" spc="-1">
                          <a:solidFill>
                            <a:srgbClr val="000000"/>
                          </a:solidFill>
                          <a:latin typeface="Calibri"/>
                        </a:rPr>
                        <a:t>3</a:t>
                      </a:r>
                      <a:endParaRPr lang="en-US" sz="11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1100" b="1" strike="noStrike" spc="-1">
                          <a:solidFill>
                            <a:srgbClr val="000000"/>
                          </a:solidFill>
                          <a:latin typeface="Calibri"/>
                        </a:rPr>
                        <a:t>Create SSL profiles</a:t>
                      </a:r>
                      <a:endParaRPr lang="en-US" sz="11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1000" b="0" strike="noStrike" spc="-1">
                          <a:solidFill>
                            <a:srgbClr val="333333"/>
                          </a:solidFill>
                          <a:latin typeface="Calibri"/>
                        </a:rPr>
                        <a:t>my-client-ssl + my-server-ssl. Click Add in Certificate Key Chain.</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algn="ctr" defTabSz="914400">
                        <a:lnSpc>
                          <a:spcPct val="100000"/>
                        </a:lnSpc>
                        <a:tabLst>
                          <a:tab pos="0" algn="l"/>
                        </a:tabLst>
                      </a:pPr>
                      <a:r>
                        <a:rPr lang="en-US" sz="1000" b="0" strike="noStrike" spc="-1">
                          <a:solidFill>
                            <a:srgbClr val="666666"/>
                          </a:solidFill>
                          <a:latin typeface="Calibri"/>
                        </a:rPr>
                        <a:t>10m</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3"/>
                  </a:ext>
                </a:extLst>
              </a:tr>
              <a:tr h="457200">
                <a:tc>
                  <a:txBody>
                    <a:bodyPr/>
                    <a:lstStyle/>
                    <a:p>
                      <a:pPr algn="ctr" defTabSz="914400">
                        <a:lnSpc>
                          <a:spcPct val="100000"/>
                        </a:lnSpc>
                        <a:tabLst>
                          <a:tab pos="0" algn="l"/>
                        </a:tabLst>
                      </a:pPr>
                      <a:r>
                        <a:rPr lang="en-US" sz="1100" b="0" strike="noStrike" spc="-1">
                          <a:solidFill>
                            <a:srgbClr val="000000"/>
                          </a:solidFill>
                          <a:latin typeface="Calibri"/>
                        </a:rPr>
                        <a:t>4</a:t>
                      </a:r>
                      <a:endParaRPr lang="en-US" sz="11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1100" b="1" strike="noStrike" spc="-1">
                          <a:solidFill>
                            <a:srgbClr val="000000"/>
                          </a:solidFill>
                          <a:latin typeface="Calibri"/>
                        </a:rPr>
                        <a:t>Apply and test</a:t>
                      </a:r>
                      <a:endParaRPr lang="en-US" sz="11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1000" b="0" strike="noStrike" spc="-1">
                          <a:solidFill>
                            <a:srgbClr val="333333"/>
                          </a:solidFill>
                          <a:latin typeface="Calibri"/>
                        </a:rPr>
                        <a:t>Replace default SSL profiles on secure_vs. Browse https://10.1.10.115. Verify cert in browser.</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algn="ctr" defTabSz="914400">
                        <a:lnSpc>
                          <a:spcPct val="100000"/>
                        </a:lnSpc>
                        <a:tabLst>
                          <a:tab pos="0" algn="l"/>
                        </a:tabLst>
                      </a:pPr>
                      <a:r>
                        <a:rPr lang="en-US" sz="1000" b="0" strike="noStrike" spc="-1">
                          <a:solidFill>
                            <a:srgbClr val="666666"/>
                          </a:solidFill>
                          <a:latin typeface="Calibri"/>
                        </a:rPr>
                        <a:t>10m</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4"/>
                  </a:ext>
                </a:extLst>
              </a:tr>
            </a:tbl>
          </a:graphicData>
        </a:graphic>
      </p:graphicFrame>
      <p:sp>
        <p:nvSpPr>
          <p:cNvPr id="1230" name="Shape 8"/>
          <p:cNvSpPr/>
          <p:nvPr/>
        </p:nvSpPr>
        <p:spPr>
          <a:xfrm>
            <a:off x="365760" y="3017520"/>
            <a:ext cx="8412120" cy="411120"/>
          </a:xfrm>
          <a:prstGeom prst="rect">
            <a:avLst/>
          </a:prstGeom>
          <a:solidFill>
            <a:srgbClr val="FFF3E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231" name="Text 9"/>
          <p:cNvSpPr/>
          <p:nvPr/>
        </p:nvSpPr>
        <p:spPr>
          <a:xfrm>
            <a:off x="548640" y="3017520"/>
            <a:ext cx="80463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strike="noStrike" spc="-1">
                <a:solidFill>
                  <a:srgbClr val="F29A36"/>
                </a:solidFill>
                <a:latin typeface="Calibri"/>
                <a:ea typeface="Calibri"/>
              </a:rPr>
              <a:t>Import KEY first: </a:t>
            </a:r>
            <a:r>
              <a:rPr lang="en-US" sz="900" b="0" strike="noStrike" spc="-1">
                <a:solidFill>
                  <a:srgbClr val="7A4500"/>
                </a:solidFill>
                <a:latin typeface="Calibri"/>
                <a:ea typeface="Calibri"/>
              </a:rPr>
              <a:t>Validates cert/key match. If cert imported first, a mismatched key with the same name could be accepted without validation.</a:t>
            </a:r>
            <a:endParaRPr lang="en-US" sz="900" b="0" strike="noStrike" spc="-1">
              <a:solidFill>
                <a:srgbClr val="000000"/>
              </a:solidFill>
              <a:latin typeface="Arial"/>
            </a:endParaRPr>
          </a:p>
        </p:txBody>
      </p:sp>
      <p:sp>
        <p:nvSpPr>
          <p:cNvPr id="1232" name="Shape 10"/>
          <p:cNvSpPr/>
          <p:nvPr/>
        </p:nvSpPr>
        <p:spPr>
          <a:xfrm>
            <a:off x="365760" y="3520440"/>
            <a:ext cx="8412120" cy="411120"/>
          </a:xfrm>
          <a:prstGeom prst="rect">
            <a:avLst/>
          </a:prstGeom>
          <a:solidFill>
            <a:srgbClr val="FDE8E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233" name="Text 11"/>
          <p:cNvSpPr/>
          <p:nvPr/>
        </p:nvSpPr>
        <p:spPr>
          <a:xfrm>
            <a:off x="548640" y="3520440"/>
            <a:ext cx="80463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strike="noStrike" spc="-1">
                <a:solidFill>
                  <a:srgbClr val="E4002B"/>
                </a:solidFill>
                <a:latin typeface="Calibri"/>
                <a:ea typeface="Calibri"/>
              </a:rPr>
              <a:t>Click 'Add': </a:t>
            </a:r>
            <a:r>
              <a:rPr lang="en-US" sz="900" b="0" strike="noStrike" spc="-1">
                <a:solidFill>
                  <a:srgbClr val="7A0000"/>
                </a:solidFill>
                <a:latin typeface="Calibri"/>
                <a:ea typeface="Calibri"/>
              </a:rPr>
              <a:t>In BIG-IP 11.6+, selecting a cert/key in the Certificate Key Chain is NOT enough. You must click 'Add' to save the pair. Without it, the profile has no cert attached.</a:t>
            </a:r>
            <a:endParaRPr lang="en-US" sz="900" b="0" strike="noStrike" spc="-1">
              <a:solidFill>
                <a:srgbClr val="000000"/>
              </a:solidFill>
              <a:latin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34"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235"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236"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237"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238"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239"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53    © 2026 F5</a:t>
            </a:r>
            <a:endParaRPr lang="en-US" sz="800" b="0" strike="noStrike" spc="-1">
              <a:solidFill>
                <a:srgbClr val="000000"/>
              </a:solidFill>
              <a:latin typeface="Arial"/>
            </a:endParaRPr>
          </a:p>
        </p:txBody>
      </p:sp>
      <p:pic>
        <p:nvPicPr>
          <p:cNvPr id="1240" name="Image 0" descr="preencoded.png"/>
          <p:cNvPicPr/>
          <p:nvPr/>
        </p:nvPicPr>
        <p:blipFill>
          <a:blip r:embed="rId3"/>
          <a:stretch/>
        </p:blipFill>
        <p:spPr>
          <a:xfrm>
            <a:off x="8458200" y="4663440"/>
            <a:ext cx="383760" cy="383760"/>
          </a:xfrm>
          <a:prstGeom prst="rect">
            <a:avLst/>
          </a:prstGeom>
          <a:ln w="0">
            <a:noFill/>
          </a:ln>
        </p:spPr>
      </p:pic>
      <p:sp>
        <p:nvSpPr>
          <p:cNvPr id="1241" name="Text 6"/>
          <p:cNvSpPr/>
          <p:nvPr/>
        </p:nvSpPr>
        <p:spPr>
          <a:xfrm>
            <a:off x="457200" y="274320"/>
            <a:ext cx="82292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Exam checkpoints</a:t>
            </a:r>
            <a:endParaRPr lang="en-US" sz="2800" b="0" strike="noStrike" spc="-1">
              <a:solidFill>
                <a:srgbClr val="000000"/>
              </a:solidFill>
              <a:latin typeface="Arial"/>
            </a:endParaRPr>
          </a:p>
        </p:txBody>
      </p:sp>
      <p:sp>
        <p:nvSpPr>
          <p:cNvPr id="1242" name="Shape 7"/>
          <p:cNvSpPr/>
          <p:nvPr/>
        </p:nvSpPr>
        <p:spPr>
          <a:xfrm>
            <a:off x="457200" y="868680"/>
            <a:ext cx="411120" cy="25560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243" name="Text 8"/>
          <p:cNvSpPr/>
          <p:nvPr/>
        </p:nvSpPr>
        <p:spPr>
          <a:xfrm>
            <a:off x="457200" y="868680"/>
            <a:ext cx="41112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rgbClr val="FFFFFF"/>
                </a:solidFill>
                <a:latin typeface="Arial"/>
                <a:ea typeface="Arial"/>
              </a:rPr>
              <a:t>Q1</a:t>
            </a:r>
            <a:endParaRPr lang="en-US" sz="1100" b="0" strike="noStrike" spc="-1">
              <a:solidFill>
                <a:srgbClr val="000000"/>
              </a:solidFill>
              <a:latin typeface="Arial"/>
            </a:endParaRPr>
          </a:p>
        </p:txBody>
      </p:sp>
      <p:sp>
        <p:nvSpPr>
          <p:cNvPr id="1244" name="Shape 9"/>
          <p:cNvSpPr/>
          <p:nvPr/>
        </p:nvSpPr>
        <p:spPr>
          <a:xfrm>
            <a:off x="960120" y="868680"/>
            <a:ext cx="365400" cy="25560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245" name="Text 10"/>
          <p:cNvSpPr/>
          <p:nvPr/>
        </p:nvSpPr>
        <p:spPr>
          <a:xfrm>
            <a:off x="960120" y="868680"/>
            <a:ext cx="3654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00" b="1" strike="noStrike" spc="-1">
                <a:solidFill>
                  <a:srgbClr val="F29A36"/>
                </a:solidFill>
                <a:latin typeface="Calibri"/>
              </a:rPr>
              <a:t>A/E</a:t>
            </a:r>
            <a:endParaRPr lang="en-US" sz="800" b="0" strike="noStrike" spc="-1">
              <a:solidFill>
                <a:srgbClr val="000000"/>
              </a:solidFill>
              <a:latin typeface="Arial"/>
            </a:endParaRPr>
          </a:p>
        </p:txBody>
      </p:sp>
      <p:sp>
        <p:nvSpPr>
          <p:cNvPr id="1246" name="Text 11"/>
          <p:cNvSpPr/>
          <p:nvPr/>
        </p:nvSpPr>
        <p:spPr>
          <a:xfrm>
            <a:off x="1417320" y="868680"/>
            <a:ext cx="740628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333333"/>
                </a:solidFill>
                <a:latin typeface="Calibri"/>
                <a:ea typeface="Calibri"/>
              </a:rPr>
              <a:t>tcpdump shows ClientHello from client, then TCP RST from BIG-IP. No ServerHello sent. What is the most likely cause?</a:t>
            </a:r>
            <a:endParaRPr lang="en-US" sz="1000" b="0" strike="noStrike" spc="-1">
              <a:solidFill>
                <a:srgbClr val="000000"/>
              </a:solidFill>
              <a:latin typeface="Arial"/>
            </a:endParaRPr>
          </a:p>
        </p:txBody>
      </p:sp>
      <p:sp>
        <p:nvSpPr>
          <p:cNvPr id="1247" name="Shape 12"/>
          <p:cNvSpPr/>
          <p:nvPr/>
        </p:nvSpPr>
        <p:spPr>
          <a:xfrm>
            <a:off x="457200" y="1737360"/>
            <a:ext cx="411120" cy="25560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248" name="Text 13"/>
          <p:cNvSpPr/>
          <p:nvPr/>
        </p:nvSpPr>
        <p:spPr>
          <a:xfrm>
            <a:off x="457200" y="1737360"/>
            <a:ext cx="41112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rgbClr val="FFFFFF"/>
                </a:solidFill>
                <a:latin typeface="Arial"/>
                <a:ea typeface="Arial"/>
              </a:rPr>
              <a:t>Q2</a:t>
            </a:r>
            <a:endParaRPr lang="en-US" sz="1100" b="0" strike="noStrike" spc="-1">
              <a:solidFill>
                <a:srgbClr val="000000"/>
              </a:solidFill>
              <a:latin typeface="Arial"/>
            </a:endParaRPr>
          </a:p>
        </p:txBody>
      </p:sp>
      <p:sp>
        <p:nvSpPr>
          <p:cNvPr id="1249" name="Shape 14"/>
          <p:cNvSpPr/>
          <p:nvPr/>
        </p:nvSpPr>
        <p:spPr>
          <a:xfrm>
            <a:off x="960120" y="1737360"/>
            <a:ext cx="365400" cy="25560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250" name="Text 15"/>
          <p:cNvSpPr/>
          <p:nvPr/>
        </p:nvSpPr>
        <p:spPr>
          <a:xfrm>
            <a:off x="960120" y="1737360"/>
            <a:ext cx="3654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00" b="1" strike="noStrike" spc="-1">
                <a:solidFill>
                  <a:srgbClr val="F29A36"/>
                </a:solidFill>
                <a:latin typeface="Calibri"/>
              </a:rPr>
              <a:t>A/E</a:t>
            </a:r>
            <a:endParaRPr lang="en-US" sz="800" b="0" strike="noStrike" spc="-1">
              <a:solidFill>
                <a:srgbClr val="000000"/>
              </a:solidFill>
              <a:latin typeface="Arial"/>
            </a:endParaRPr>
          </a:p>
        </p:txBody>
      </p:sp>
      <p:sp>
        <p:nvSpPr>
          <p:cNvPr id="1251" name="Text 16"/>
          <p:cNvSpPr/>
          <p:nvPr/>
        </p:nvSpPr>
        <p:spPr>
          <a:xfrm>
            <a:off x="1417320" y="1737360"/>
            <a:ext cx="740628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333333"/>
                </a:solidFill>
                <a:latin typeface="Calibri"/>
                <a:ea typeface="Calibri"/>
              </a:rPr>
              <a:t>Users report ERR_CERT_AUTHORITY_INVALID. The cert is CA-signed and not expired. What configuration is missing?</a:t>
            </a:r>
            <a:endParaRPr lang="en-US" sz="1000" b="0" strike="noStrike" spc="-1">
              <a:solidFill>
                <a:srgbClr val="000000"/>
              </a:solidFill>
              <a:latin typeface="Arial"/>
            </a:endParaRPr>
          </a:p>
        </p:txBody>
      </p:sp>
      <p:sp>
        <p:nvSpPr>
          <p:cNvPr id="1252" name="Shape 17"/>
          <p:cNvSpPr/>
          <p:nvPr/>
        </p:nvSpPr>
        <p:spPr>
          <a:xfrm>
            <a:off x="457200" y="2606040"/>
            <a:ext cx="411120" cy="25560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253" name="Text 18"/>
          <p:cNvSpPr/>
          <p:nvPr/>
        </p:nvSpPr>
        <p:spPr>
          <a:xfrm>
            <a:off x="457200" y="2606040"/>
            <a:ext cx="41112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rgbClr val="FFFFFF"/>
                </a:solidFill>
                <a:latin typeface="Arial"/>
                <a:ea typeface="Arial"/>
              </a:rPr>
              <a:t>Q3</a:t>
            </a:r>
            <a:endParaRPr lang="en-US" sz="1100" b="0" strike="noStrike" spc="-1">
              <a:solidFill>
                <a:srgbClr val="000000"/>
              </a:solidFill>
              <a:latin typeface="Arial"/>
            </a:endParaRPr>
          </a:p>
        </p:txBody>
      </p:sp>
      <p:sp>
        <p:nvSpPr>
          <p:cNvPr id="1254" name="Shape 19"/>
          <p:cNvSpPr/>
          <p:nvPr/>
        </p:nvSpPr>
        <p:spPr>
          <a:xfrm>
            <a:off x="960120" y="2606040"/>
            <a:ext cx="365400" cy="25560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255" name="Text 20"/>
          <p:cNvSpPr/>
          <p:nvPr/>
        </p:nvSpPr>
        <p:spPr>
          <a:xfrm>
            <a:off x="960120" y="2606040"/>
            <a:ext cx="3654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00" b="1" strike="noStrike" spc="-1">
                <a:solidFill>
                  <a:srgbClr val="009639"/>
                </a:solidFill>
                <a:latin typeface="Calibri"/>
              </a:rPr>
              <a:t>U/A</a:t>
            </a:r>
            <a:endParaRPr lang="en-US" sz="800" b="0" strike="noStrike" spc="-1">
              <a:solidFill>
                <a:srgbClr val="000000"/>
              </a:solidFill>
              <a:latin typeface="Arial"/>
            </a:endParaRPr>
          </a:p>
        </p:txBody>
      </p:sp>
      <p:sp>
        <p:nvSpPr>
          <p:cNvPr id="1256" name="Text 21"/>
          <p:cNvSpPr/>
          <p:nvPr/>
        </p:nvSpPr>
        <p:spPr>
          <a:xfrm>
            <a:off x="1417320" y="2606040"/>
            <a:ext cx="740628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333333"/>
                </a:solidFill>
                <a:latin typeface="Calibri"/>
                <a:ea typeface="Calibri"/>
              </a:rPr>
              <a:t>You need to capture decrypted HTTP flowing through an HTTPS VS using ECDHE ciphers. What tcpdump command captures the decrypted data?</a:t>
            </a:r>
            <a:endParaRPr lang="en-US" sz="1000" b="0" strike="noStrike" spc="-1">
              <a:solidFill>
                <a:srgbClr val="000000"/>
              </a:solidFill>
              <a:latin typeface="Arial"/>
            </a:endParaRPr>
          </a:p>
        </p:txBody>
      </p:sp>
      <p:sp>
        <p:nvSpPr>
          <p:cNvPr id="1257" name="Shape 22"/>
          <p:cNvSpPr/>
          <p:nvPr/>
        </p:nvSpPr>
        <p:spPr>
          <a:xfrm>
            <a:off x="457200" y="3474720"/>
            <a:ext cx="411120" cy="25560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258" name="Text 23"/>
          <p:cNvSpPr/>
          <p:nvPr/>
        </p:nvSpPr>
        <p:spPr>
          <a:xfrm>
            <a:off x="457200" y="3474720"/>
            <a:ext cx="41112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rgbClr val="FFFFFF"/>
                </a:solidFill>
                <a:latin typeface="Arial"/>
                <a:ea typeface="Arial"/>
              </a:rPr>
              <a:t>Q4</a:t>
            </a:r>
            <a:endParaRPr lang="en-US" sz="1100" b="0" strike="noStrike" spc="-1">
              <a:solidFill>
                <a:srgbClr val="000000"/>
              </a:solidFill>
              <a:latin typeface="Arial"/>
            </a:endParaRPr>
          </a:p>
        </p:txBody>
      </p:sp>
      <p:sp>
        <p:nvSpPr>
          <p:cNvPr id="1259" name="Shape 24"/>
          <p:cNvSpPr/>
          <p:nvPr/>
        </p:nvSpPr>
        <p:spPr>
          <a:xfrm>
            <a:off x="960120" y="3474720"/>
            <a:ext cx="365400" cy="25560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260" name="Text 25"/>
          <p:cNvSpPr/>
          <p:nvPr/>
        </p:nvSpPr>
        <p:spPr>
          <a:xfrm>
            <a:off x="960120" y="3474720"/>
            <a:ext cx="3654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00" b="1" strike="noStrike" spc="-1">
                <a:solidFill>
                  <a:srgbClr val="F29A36"/>
                </a:solidFill>
                <a:latin typeface="Calibri"/>
              </a:rPr>
              <a:t>A/E</a:t>
            </a:r>
            <a:endParaRPr lang="en-US" sz="800" b="0" strike="noStrike" spc="-1">
              <a:solidFill>
                <a:srgbClr val="000000"/>
              </a:solidFill>
              <a:latin typeface="Arial"/>
            </a:endParaRPr>
          </a:p>
        </p:txBody>
      </p:sp>
      <p:sp>
        <p:nvSpPr>
          <p:cNvPr id="1261" name="Text 26"/>
          <p:cNvSpPr/>
          <p:nvPr/>
        </p:nvSpPr>
        <p:spPr>
          <a:xfrm>
            <a:off x="1417320" y="3474720"/>
            <a:ext cx="740628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333333"/>
                </a:solidFill>
                <a:latin typeface="Calibri"/>
                <a:ea typeface="Calibri"/>
              </a:rPr>
              <a:t>After enabling Server Authentication on Server-SSL, all traffic fails. Backend uses self-signed certs. What happened?</a:t>
            </a:r>
            <a:endParaRPr lang="en-US" sz="1000" b="0" strike="noStrike" spc="-1">
              <a:solidFill>
                <a:srgbClr val="000000"/>
              </a:solidFill>
              <a:latin typeface="Arial"/>
            </a:endParaRPr>
          </a:p>
        </p:txBody>
      </p:sp>
      <p:sp>
        <p:nvSpPr>
          <p:cNvPr id="1262" name="Shape 27"/>
          <p:cNvSpPr/>
          <p:nvPr/>
        </p:nvSpPr>
        <p:spPr>
          <a:xfrm>
            <a:off x="365760" y="4343400"/>
            <a:ext cx="8412120" cy="273960"/>
          </a:xfrm>
          <a:prstGeom prst="rect">
            <a:avLst/>
          </a:prstGeom>
          <a:solidFill>
            <a:srgbClr val="FDE8E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263" name="Text 28"/>
          <p:cNvSpPr/>
          <p:nvPr/>
        </p:nvSpPr>
        <p:spPr>
          <a:xfrm>
            <a:off x="548640" y="4343400"/>
            <a:ext cx="80463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strike="noStrike" spc="-1">
                <a:solidFill>
                  <a:srgbClr val="E4002B"/>
                </a:solidFill>
                <a:latin typeface="Calibri"/>
                <a:ea typeface="Calibri"/>
              </a:rPr>
              <a:t>Exam F5CTSLTM6-B is entirely scenario-based. You must read packet captures and diagnose SSL problems, not just recall settings.</a:t>
            </a:r>
            <a:endParaRPr lang="en-US" sz="900" b="0" strike="noStrike" spc="-1">
              <a:solidFill>
                <a:srgbClr val="000000"/>
              </a:solidFill>
              <a:latin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64"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265"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266"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267"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268"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269"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54    © 2026 F5</a:t>
            </a:r>
            <a:endParaRPr lang="en-US" sz="800" b="0" strike="noStrike" spc="-1">
              <a:solidFill>
                <a:srgbClr val="000000"/>
              </a:solidFill>
              <a:latin typeface="Arial"/>
            </a:endParaRPr>
          </a:p>
        </p:txBody>
      </p:sp>
      <p:pic>
        <p:nvPicPr>
          <p:cNvPr id="1270" name="Image 0" descr="preencoded.png"/>
          <p:cNvPicPr/>
          <p:nvPr/>
        </p:nvPicPr>
        <p:blipFill>
          <a:blip r:embed="rId3"/>
          <a:stretch/>
        </p:blipFill>
        <p:spPr>
          <a:xfrm>
            <a:off x="8458200" y="4663440"/>
            <a:ext cx="383760" cy="383760"/>
          </a:xfrm>
          <a:prstGeom prst="rect">
            <a:avLst/>
          </a:prstGeom>
          <a:ln w="0">
            <a:noFill/>
          </a:ln>
        </p:spPr>
      </p:pic>
      <p:sp>
        <p:nvSpPr>
          <p:cNvPr id="1271" name="Text 6"/>
          <p:cNvSpPr/>
          <p:nvPr/>
        </p:nvSpPr>
        <p:spPr>
          <a:xfrm>
            <a:off x="457200" y="274320"/>
            <a:ext cx="82292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SSL troubleshooting reference</a:t>
            </a:r>
            <a:endParaRPr lang="en-US" sz="2800" b="0" strike="noStrike" spc="-1">
              <a:solidFill>
                <a:srgbClr val="000000"/>
              </a:solidFill>
              <a:latin typeface="Arial"/>
            </a:endParaRPr>
          </a:p>
        </p:txBody>
      </p:sp>
      <p:sp>
        <p:nvSpPr>
          <p:cNvPr id="1272" name="Text 7"/>
          <p:cNvSpPr/>
          <p:nvPr/>
        </p:nvSpPr>
        <p:spPr>
          <a:xfrm>
            <a:off x="457200" y="658440"/>
            <a:ext cx="82292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strike="noStrike" spc="-1">
                <a:solidFill>
                  <a:srgbClr val="666666"/>
                </a:solidFill>
                <a:latin typeface="Calibri"/>
                <a:ea typeface="Calibri"/>
              </a:rPr>
              <a:t>Commands and Wireshark filters for SSL analysis on the BIG-IP</a:t>
            </a:r>
            <a:endParaRPr lang="en-US" sz="1300" b="0" strike="noStrike" spc="-1">
              <a:solidFill>
                <a:srgbClr val="000000"/>
              </a:solidFill>
              <a:latin typeface="Arial"/>
            </a:endParaRPr>
          </a:p>
        </p:txBody>
      </p:sp>
      <p:sp>
        <p:nvSpPr>
          <p:cNvPr id="1273" name="Shape 8"/>
          <p:cNvSpPr/>
          <p:nvPr/>
        </p:nvSpPr>
        <p:spPr>
          <a:xfrm>
            <a:off x="365760" y="960120"/>
            <a:ext cx="2605680" cy="2923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274" name="Text 9"/>
          <p:cNvSpPr/>
          <p:nvPr/>
        </p:nvSpPr>
        <p:spPr>
          <a:xfrm>
            <a:off x="365760" y="960120"/>
            <a:ext cx="26056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strike="noStrike" spc="-1">
                <a:solidFill>
                  <a:srgbClr val="FFFFFF"/>
                </a:solidFill>
                <a:latin typeface="Arial"/>
                <a:ea typeface="Arial"/>
              </a:rPr>
              <a:t>Pass-through</a:t>
            </a:r>
            <a:endParaRPr lang="en-US" sz="1200" b="0" strike="noStrike" spc="-1">
              <a:solidFill>
                <a:srgbClr val="000000"/>
              </a:solidFill>
              <a:latin typeface="Arial"/>
            </a:endParaRPr>
          </a:p>
        </p:txBody>
      </p:sp>
      <p:sp>
        <p:nvSpPr>
          <p:cNvPr id="1275" name="Text 10"/>
          <p:cNvSpPr/>
          <p:nvPr/>
        </p:nvSpPr>
        <p:spPr>
          <a:xfrm>
            <a:off x="457200" y="1280160"/>
            <a:ext cx="24228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strike="noStrike" spc="-1">
                <a:solidFill>
                  <a:srgbClr val="F29A36"/>
                </a:solidFill>
                <a:latin typeface="Courier New"/>
                <a:ea typeface="Courier New"/>
              </a:rPr>
              <a:t>No SSL profiles</a:t>
            </a:r>
            <a:endParaRPr lang="en-US" sz="900" b="0" strike="noStrike" spc="-1">
              <a:solidFill>
                <a:srgbClr val="000000"/>
              </a:solidFill>
              <a:latin typeface="Arial"/>
            </a:endParaRPr>
          </a:p>
        </p:txBody>
      </p:sp>
      <p:sp>
        <p:nvSpPr>
          <p:cNvPr id="1276" name="Text 11"/>
          <p:cNvSpPr/>
          <p:nvPr/>
        </p:nvSpPr>
        <p:spPr>
          <a:xfrm>
            <a:off x="457200" y="1444680"/>
            <a:ext cx="242280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strike="noStrike" spc="-1">
                <a:solidFill>
                  <a:srgbClr val="333333"/>
                </a:solidFill>
                <a:latin typeface="Calibri"/>
                <a:ea typeface="Calibri"/>
              </a:rPr>
              <a:t>No L7. FastL4.</a:t>
            </a:r>
            <a:endParaRPr lang="en-US" sz="900" b="0" strike="noStrike" spc="-1">
              <a:solidFill>
                <a:srgbClr val="000000"/>
              </a:solidFill>
              <a:latin typeface="Arial"/>
            </a:endParaRPr>
          </a:p>
        </p:txBody>
      </p:sp>
      <p:sp>
        <p:nvSpPr>
          <p:cNvPr id="1277" name="Shape 12"/>
          <p:cNvSpPr/>
          <p:nvPr/>
        </p:nvSpPr>
        <p:spPr>
          <a:xfrm>
            <a:off x="3200400" y="960120"/>
            <a:ext cx="2605680" cy="2923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278" name="Text 13"/>
          <p:cNvSpPr/>
          <p:nvPr/>
        </p:nvSpPr>
        <p:spPr>
          <a:xfrm>
            <a:off x="3200400" y="960120"/>
            <a:ext cx="26056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strike="noStrike" spc="-1">
                <a:solidFill>
                  <a:srgbClr val="FFFFFF"/>
                </a:solidFill>
                <a:latin typeface="Arial"/>
                <a:ea typeface="Arial"/>
              </a:rPr>
              <a:t>Offload</a:t>
            </a:r>
            <a:endParaRPr lang="en-US" sz="1200" b="0" strike="noStrike" spc="-1">
              <a:solidFill>
                <a:srgbClr val="000000"/>
              </a:solidFill>
              <a:latin typeface="Arial"/>
            </a:endParaRPr>
          </a:p>
        </p:txBody>
      </p:sp>
      <p:sp>
        <p:nvSpPr>
          <p:cNvPr id="1279" name="Text 14"/>
          <p:cNvSpPr/>
          <p:nvPr/>
        </p:nvSpPr>
        <p:spPr>
          <a:xfrm>
            <a:off x="3291840" y="1280160"/>
            <a:ext cx="24228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strike="noStrike" spc="-1">
                <a:solidFill>
                  <a:srgbClr val="0E41AA"/>
                </a:solidFill>
                <a:latin typeface="Courier New"/>
                <a:ea typeface="Courier New"/>
              </a:rPr>
              <a:t>Client-SSL only</a:t>
            </a:r>
            <a:endParaRPr lang="en-US" sz="900" b="0" strike="noStrike" spc="-1">
              <a:solidFill>
                <a:srgbClr val="000000"/>
              </a:solidFill>
              <a:latin typeface="Arial"/>
            </a:endParaRPr>
          </a:p>
        </p:txBody>
      </p:sp>
      <p:sp>
        <p:nvSpPr>
          <p:cNvPr id="1280" name="Text 15"/>
          <p:cNvSpPr/>
          <p:nvPr/>
        </p:nvSpPr>
        <p:spPr>
          <a:xfrm>
            <a:off x="3291840" y="1444680"/>
            <a:ext cx="242280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strike="noStrike" spc="-1">
                <a:solidFill>
                  <a:srgbClr val="333333"/>
                </a:solidFill>
                <a:latin typeface="Calibri"/>
                <a:ea typeface="Calibri"/>
              </a:rPr>
              <a:t>Full L7. HTTP to server.</a:t>
            </a:r>
            <a:endParaRPr lang="en-US" sz="900" b="0" strike="noStrike" spc="-1">
              <a:solidFill>
                <a:srgbClr val="000000"/>
              </a:solidFill>
              <a:latin typeface="Arial"/>
            </a:endParaRPr>
          </a:p>
        </p:txBody>
      </p:sp>
      <p:sp>
        <p:nvSpPr>
          <p:cNvPr id="1281" name="Shape 16"/>
          <p:cNvSpPr/>
          <p:nvPr/>
        </p:nvSpPr>
        <p:spPr>
          <a:xfrm>
            <a:off x="6035040" y="960120"/>
            <a:ext cx="2605680" cy="292320"/>
          </a:xfrm>
          <a:prstGeom prst="rect">
            <a:avLst/>
          </a:prstGeom>
          <a:solidFill>
            <a:srgbClr val="00963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282" name="Text 17"/>
          <p:cNvSpPr/>
          <p:nvPr/>
        </p:nvSpPr>
        <p:spPr>
          <a:xfrm>
            <a:off x="6035040" y="960120"/>
            <a:ext cx="26056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strike="noStrike" spc="-1">
                <a:solidFill>
                  <a:srgbClr val="FFFFFF"/>
                </a:solidFill>
                <a:latin typeface="Arial"/>
                <a:ea typeface="Arial"/>
              </a:rPr>
              <a:t>Re-encryption</a:t>
            </a:r>
            <a:endParaRPr lang="en-US" sz="1200" b="0" strike="noStrike" spc="-1">
              <a:solidFill>
                <a:srgbClr val="000000"/>
              </a:solidFill>
              <a:latin typeface="Arial"/>
            </a:endParaRPr>
          </a:p>
        </p:txBody>
      </p:sp>
      <p:sp>
        <p:nvSpPr>
          <p:cNvPr id="1283" name="Text 18"/>
          <p:cNvSpPr/>
          <p:nvPr/>
        </p:nvSpPr>
        <p:spPr>
          <a:xfrm>
            <a:off x="6126480" y="1280160"/>
            <a:ext cx="24228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strike="noStrike" spc="-1">
                <a:solidFill>
                  <a:srgbClr val="009639"/>
                </a:solidFill>
                <a:latin typeface="Courier New"/>
                <a:ea typeface="Courier New"/>
              </a:rPr>
              <a:t>Client-SSL + Server-SSL</a:t>
            </a:r>
            <a:endParaRPr lang="en-US" sz="900" b="0" strike="noStrike" spc="-1">
              <a:solidFill>
                <a:srgbClr val="000000"/>
              </a:solidFill>
              <a:latin typeface="Arial"/>
            </a:endParaRPr>
          </a:p>
        </p:txBody>
      </p:sp>
      <p:sp>
        <p:nvSpPr>
          <p:cNvPr id="1284" name="Text 19"/>
          <p:cNvSpPr/>
          <p:nvPr/>
        </p:nvSpPr>
        <p:spPr>
          <a:xfrm>
            <a:off x="6126480" y="1444680"/>
            <a:ext cx="242280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strike="noStrike" spc="-1">
                <a:solidFill>
                  <a:srgbClr val="333333"/>
                </a:solidFill>
                <a:latin typeface="Calibri"/>
                <a:ea typeface="Calibri"/>
              </a:rPr>
              <a:t>Full L7. End-to-end.</a:t>
            </a:r>
            <a:endParaRPr lang="en-US" sz="900" b="0" strike="noStrike" spc="-1">
              <a:solidFill>
                <a:srgbClr val="000000"/>
              </a:solidFill>
              <a:latin typeface="Arial"/>
            </a:endParaRPr>
          </a:p>
        </p:txBody>
      </p:sp>
      <p:sp>
        <p:nvSpPr>
          <p:cNvPr id="1285" name="Text 20"/>
          <p:cNvSpPr/>
          <p:nvPr/>
        </p:nvSpPr>
        <p:spPr>
          <a:xfrm>
            <a:off x="457200" y="1737360"/>
            <a:ext cx="45716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0E41AA"/>
                </a:solidFill>
                <a:latin typeface="Arial"/>
                <a:ea typeface="Arial"/>
              </a:rPr>
              <a:t>Essential commands</a:t>
            </a:r>
            <a:endParaRPr lang="en-US" sz="1400" b="0" strike="noStrike" spc="-1">
              <a:solidFill>
                <a:srgbClr val="000000"/>
              </a:solidFill>
              <a:latin typeface="Arial"/>
            </a:endParaRPr>
          </a:p>
        </p:txBody>
      </p:sp>
      <p:graphicFrame>
        <p:nvGraphicFramePr>
          <p:cNvPr id="1286" name="Table 0"/>
          <p:cNvGraphicFramePr/>
          <p:nvPr/>
        </p:nvGraphicFramePr>
        <p:xfrm>
          <a:off x="365760" y="1965960"/>
          <a:ext cx="8412480" cy="2057400"/>
        </p:xfrm>
        <a:graphic>
          <a:graphicData uri="http://schemas.openxmlformats.org/drawingml/2006/table">
            <a:tbl>
              <a:tblPr/>
              <a:tblGrid>
                <a:gridCol w="1828800">
                  <a:extLst>
                    <a:ext uri="{9D8B030D-6E8A-4147-A177-3AD203B41FA5}">
                      <a16:colId xmlns:a16="http://schemas.microsoft.com/office/drawing/2014/main" val="20000"/>
                    </a:ext>
                  </a:extLst>
                </a:gridCol>
                <a:gridCol w="6583680">
                  <a:extLst>
                    <a:ext uri="{9D8B030D-6E8A-4147-A177-3AD203B41FA5}">
                      <a16:colId xmlns:a16="http://schemas.microsoft.com/office/drawing/2014/main" val="20001"/>
                    </a:ext>
                  </a:extLst>
                </a:gridCol>
              </a:tblGrid>
              <a:tr h="0">
                <a:tc>
                  <a:txBody>
                    <a:bodyPr/>
                    <a:lstStyle/>
                    <a:p>
                      <a:pPr defTabSz="914400">
                        <a:lnSpc>
                          <a:spcPct val="100000"/>
                        </a:lnSpc>
                        <a:tabLst>
                          <a:tab pos="0" algn="l"/>
                        </a:tabLst>
                      </a:pPr>
                      <a:r>
                        <a:rPr lang="en-US" sz="900" b="1" strike="noStrike" spc="-1">
                          <a:solidFill>
                            <a:srgbClr val="FFFFFF"/>
                          </a:solidFill>
                          <a:latin typeface="Calibri"/>
                        </a:rPr>
                        <a:t>Task</a:t>
                      </a:r>
                      <a:endParaRPr lang="en-US" sz="9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E41AA"/>
                    </a:solidFill>
                  </a:tcPr>
                </a:tc>
                <a:tc>
                  <a:txBody>
                    <a:bodyPr/>
                    <a:lstStyle/>
                    <a:p>
                      <a:pPr defTabSz="914400">
                        <a:lnSpc>
                          <a:spcPct val="100000"/>
                        </a:lnSpc>
                        <a:tabLst>
                          <a:tab pos="0" algn="l"/>
                        </a:tabLst>
                      </a:pPr>
                      <a:r>
                        <a:rPr lang="en-US" sz="900" b="1" strike="noStrike" spc="-1">
                          <a:solidFill>
                            <a:srgbClr val="FFFFFF"/>
                          </a:solidFill>
                          <a:latin typeface="Calibri"/>
                        </a:rPr>
                        <a:t>Command</a:t>
                      </a:r>
                      <a:endParaRPr lang="en-US" sz="9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E41AA"/>
                    </a:solidFill>
                  </a:tcPr>
                </a:tc>
                <a:extLst>
                  <a:ext uri="{0D108BD9-81ED-4DB2-BD59-A6C34878D82A}">
                    <a16:rowId xmlns:a16="http://schemas.microsoft.com/office/drawing/2014/main" val="10000"/>
                  </a:ext>
                </a:extLst>
              </a:tr>
              <a:tr h="0">
                <a:tc>
                  <a:txBody>
                    <a:bodyPr/>
                    <a:lstStyle/>
                    <a:p>
                      <a:pPr defTabSz="914400">
                        <a:lnSpc>
                          <a:spcPct val="100000"/>
                        </a:lnSpc>
                        <a:tabLst>
                          <a:tab pos="0" algn="l"/>
                        </a:tabLst>
                      </a:pPr>
                      <a:r>
                        <a:rPr lang="en-US" sz="900" b="1" strike="noStrike" spc="-1">
                          <a:solidFill>
                            <a:srgbClr val="000000"/>
                          </a:solidFill>
                          <a:latin typeface="Calibri"/>
                        </a:rPr>
                        <a:t>Capture with SSL decryption</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800" b="0" strike="noStrike" spc="-1">
                          <a:solidFill>
                            <a:srgbClr val="000000"/>
                          </a:solidFill>
                          <a:latin typeface="Courier New"/>
                          <a:ea typeface="Courier New"/>
                        </a:rPr>
                        <a:t>tcpdump -nni 0.0:nnnp -s0 -w /var/tmp/ssl.pcap --f5 ssl host &lt;VIP&gt;</a:t>
                      </a:r>
                      <a:endParaRPr lang="en-US" sz="8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1"/>
                  </a:ext>
                </a:extLst>
              </a:tr>
              <a:tr h="0">
                <a:tc>
                  <a:txBody>
                    <a:bodyPr/>
                    <a:lstStyle/>
                    <a:p>
                      <a:pPr defTabSz="914400">
                        <a:lnSpc>
                          <a:spcPct val="100000"/>
                        </a:lnSpc>
                        <a:tabLst>
                          <a:tab pos="0" algn="l"/>
                        </a:tabLst>
                      </a:pPr>
                      <a:r>
                        <a:rPr lang="en-US" sz="900" b="0" strike="noStrike" spc="-1">
                          <a:solidFill>
                            <a:srgbClr val="000000"/>
                          </a:solidFill>
                          <a:latin typeface="Calibri"/>
                        </a:rPr>
                        <a:t>Capture client-side only</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800" b="0" strike="noStrike" spc="-1">
                          <a:solidFill>
                            <a:srgbClr val="000000"/>
                          </a:solidFill>
                          <a:latin typeface="Courier New"/>
                          <a:ea typeface="Courier New"/>
                        </a:rPr>
                        <a:t>tcpdump -nni client_vlan:nnnp -s0 -w /var/tmp/client.pcap --f5 ssl host &lt;VIP&gt; and port 443</a:t>
                      </a:r>
                      <a:endParaRPr lang="en-US" sz="8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2"/>
                  </a:ext>
                </a:extLst>
              </a:tr>
              <a:tr h="0">
                <a:tc>
                  <a:txBody>
                    <a:bodyPr/>
                    <a:lstStyle/>
                    <a:p>
                      <a:pPr defTabSz="914400">
                        <a:lnSpc>
                          <a:spcPct val="100000"/>
                        </a:lnSpc>
                        <a:tabLst>
                          <a:tab pos="0" algn="l"/>
                        </a:tabLst>
                      </a:pPr>
                      <a:r>
                        <a:rPr lang="en-US" sz="900" b="0" strike="noStrike" spc="-1">
                          <a:solidFill>
                            <a:srgbClr val="000000"/>
                          </a:solidFill>
                          <a:latin typeface="Calibri"/>
                        </a:rPr>
                        <a:t>Capture server-side only</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800" b="0" strike="noStrike" spc="-1">
                          <a:solidFill>
                            <a:srgbClr val="000000"/>
                          </a:solidFill>
                          <a:latin typeface="Courier New"/>
                          <a:ea typeface="Courier New"/>
                        </a:rPr>
                        <a:t>tcpdump -nni server_vlan:nnnp -s0 -w /var/tmp/server.pcap --f5 ssl host &lt;member&gt; and port 443</a:t>
                      </a:r>
                      <a:endParaRPr lang="en-US" sz="8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3"/>
                  </a:ext>
                </a:extLst>
              </a:tr>
              <a:tr h="0">
                <a:tc>
                  <a:txBody>
                    <a:bodyPr/>
                    <a:lstStyle/>
                    <a:p>
                      <a:pPr defTabSz="914400">
                        <a:lnSpc>
                          <a:spcPct val="100000"/>
                        </a:lnSpc>
                        <a:tabLst>
                          <a:tab pos="0" algn="l"/>
                        </a:tabLst>
                      </a:pPr>
                      <a:r>
                        <a:rPr lang="en-US" sz="900" b="0" strike="noStrike" spc="-1">
                          <a:solidFill>
                            <a:srgbClr val="000000"/>
                          </a:solidFill>
                          <a:latin typeface="Calibri"/>
                        </a:rPr>
                        <a:t>Test cipher string</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800" b="0" strike="noStrike" spc="-1">
                          <a:solidFill>
                            <a:srgbClr val="000000"/>
                          </a:solidFill>
                          <a:latin typeface="Courier New"/>
                          <a:ea typeface="Courier New"/>
                        </a:rPr>
                        <a:t>tmm --clientciphers 'DEFAULT:!SSLv3:!RC4:!3DES'</a:t>
                      </a:r>
                      <a:endParaRPr lang="en-US" sz="8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4"/>
                  </a:ext>
                </a:extLst>
              </a:tr>
              <a:tr h="0">
                <a:tc>
                  <a:txBody>
                    <a:bodyPr/>
                    <a:lstStyle/>
                    <a:p>
                      <a:pPr defTabSz="914400">
                        <a:lnSpc>
                          <a:spcPct val="100000"/>
                        </a:lnSpc>
                        <a:tabLst>
                          <a:tab pos="0" algn="l"/>
                        </a:tabLst>
                      </a:pPr>
                      <a:r>
                        <a:rPr lang="en-US" sz="900" b="0" strike="noStrike" spc="-1">
                          <a:solidFill>
                            <a:srgbClr val="000000"/>
                          </a:solidFill>
                          <a:latin typeface="Calibri"/>
                        </a:rPr>
                        <a:t>Check cert expiration</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800" b="0" strike="noStrike" spc="-1">
                          <a:solidFill>
                            <a:srgbClr val="000000"/>
                          </a:solidFill>
                          <a:latin typeface="Courier New"/>
                          <a:ea typeface="Courier New"/>
                        </a:rPr>
                        <a:t>openssl x509 -in /config/ssl/ssl.crt/&lt;cert&gt;.crt -noout -dates</a:t>
                      </a:r>
                      <a:endParaRPr lang="en-US" sz="8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5"/>
                  </a:ext>
                </a:extLst>
              </a:tr>
              <a:tr h="0">
                <a:tc>
                  <a:txBody>
                    <a:bodyPr/>
                    <a:lstStyle/>
                    <a:p>
                      <a:pPr defTabSz="914400">
                        <a:lnSpc>
                          <a:spcPct val="100000"/>
                        </a:lnSpc>
                        <a:tabLst>
                          <a:tab pos="0" algn="l"/>
                        </a:tabLst>
                      </a:pPr>
                      <a:r>
                        <a:rPr lang="en-US" sz="900" b="0" strike="noStrike" spc="-1">
                          <a:solidFill>
                            <a:srgbClr val="000000"/>
                          </a:solidFill>
                          <a:latin typeface="Calibri"/>
                        </a:rPr>
                        <a:t>Verify cert/key match</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750" b="0" strike="noStrike" spc="-1">
                          <a:solidFill>
                            <a:srgbClr val="000000"/>
                          </a:solidFill>
                          <a:latin typeface="Courier New"/>
                          <a:ea typeface="Courier New"/>
                        </a:rPr>
                        <a:t>openssl x509 -noout -modulus -in cert.crt | md5sum &amp;&amp; openssl rsa -noout -modulus -in key.key | md5sum</a:t>
                      </a:r>
                      <a:endParaRPr lang="en-US" sz="75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6"/>
                  </a:ext>
                </a:extLst>
              </a:tr>
              <a:tr h="0">
                <a:tc>
                  <a:txBody>
                    <a:bodyPr/>
                    <a:lstStyle/>
                    <a:p>
                      <a:pPr defTabSz="914400">
                        <a:lnSpc>
                          <a:spcPct val="100000"/>
                        </a:lnSpc>
                        <a:tabLst>
                          <a:tab pos="0" algn="l"/>
                        </a:tabLst>
                      </a:pPr>
                      <a:r>
                        <a:rPr lang="en-US" sz="900" b="0" strike="noStrike" spc="-1">
                          <a:solidFill>
                            <a:srgbClr val="000000"/>
                          </a:solidFill>
                          <a:latin typeface="Calibri"/>
                        </a:rPr>
                        <a:t>View SSL errors in log</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800" b="0" strike="noStrike" spc="-1">
                          <a:solidFill>
                            <a:srgbClr val="000000"/>
                          </a:solidFill>
                          <a:latin typeface="Courier New"/>
                          <a:ea typeface="Courier New"/>
                        </a:rPr>
                        <a:t>tail -f /var/log/ltm | grep -i ssl</a:t>
                      </a:r>
                      <a:endParaRPr lang="en-US" sz="8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7"/>
                  </a:ext>
                </a:extLst>
              </a:tr>
              <a:tr h="0">
                <a:tc>
                  <a:txBody>
                    <a:bodyPr/>
                    <a:lstStyle/>
                    <a:p>
                      <a:pPr defTabSz="914400">
                        <a:lnSpc>
                          <a:spcPct val="100000"/>
                        </a:lnSpc>
                        <a:tabLst>
                          <a:tab pos="0" algn="l"/>
                        </a:tabLst>
                      </a:pPr>
                      <a:r>
                        <a:rPr lang="en-US" sz="900" b="0" strike="noStrike" spc="-1">
                          <a:solidFill>
                            <a:srgbClr val="000000"/>
                          </a:solidFill>
                          <a:latin typeface="Calibri"/>
                        </a:rPr>
                        <a:t>Test TLS connection</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800" b="0" strike="noStrike" spc="-1">
                          <a:solidFill>
                            <a:srgbClr val="000000"/>
                          </a:solidFill>
                          <a:latin typeface="Courier New"/>
                          <a:ea typeface="Courier New"/>
                        </a:rPr>
                        <a:t>openssl s_client -connect &lt;VIP&gt;:443 -showcerts -servername &lt;hostname&gt;</a:t>
                      </a:r>
                      <a:endParaRPr lang="en-US" sz="8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8"/>
                  </a:ext>
                </a:extLst>
              </a:tr>
            </a:tbl>
          </a:graphicData>
        </a:graphic>
      </p:graphicFrame>
      <p:sp>
        <p:nvSpPr>
          <p:cNvPr id="1287" name="Text 21"/>
          <p:cNvSpPr/>
          <p:nvPr/>
        </p:nvSpPr>
        <p:spPr>
          <a:xfrm>
            <a:off x="457200" y="4069080"/>
            <a:ext cx="45716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61228B"/>
                </a:solidFill>
                <a:latin typeface="Arial"/>
                <a:ea typeface="Arial"/>
              </a:rPr>
              <a:t>Wireshark display filters for TLS</a:t>
            </a:r>
            <a:endParaRPr lang="en-US" sz="1400" b="0" strike="noStrike" spc="-1">
              <a:solidFill>
                <a:srgbClr val="000000"/>
              </a:solidFill>
              <a:latin typeface="Arial"/>
            </a:endParaRPr>
          </a:p>
        </p:txBody>
      </p:sp>
      <p:sp>
        <p:nvSpPr>
          <p:cNvPr id="1288" name="Shape 22"/>
          <p:cNvSpPr/>
          <p:nvPr/>
        </p:nvSpPr>
        <p:spPr>
          <a:xfrm>
            <a:off x="457200" y="4297680"/>
            <a:ext cx="8229240" cy="347040"/>
          </a:xfrm>
          <a:prstGeom prst="rect">
            <a:avLst/>
          </a:prstGeom>
          <a:solidFill>
            <a:srgbClr val="1E293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289" name="Text 23"/>
          <p:cNvSpPr/>
          <p:nvPr/>
        </p:nvSpPr>
        <p:spPr>
          <a:xfrm>
            <a:off x="594360" y="4316040"/>
            <a:ext cx="795492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strike="noStrike" spc="-1">
                <a:solidFill>
                  <a:srgbClr val="A5F3FC"/>
                </a:solidFill>
                <a:latin typeface="Courier New"/>
                <a:ea typeface="Courier New"/>
              </a:rPr>
              <a:t>tls.handshake.type==1 (ClientHello)  |  tls.handshake.type==2 (ServerHello)  |  tls.alert_message (errors)  |  http (decrypted)</a:t>
            </a:r>
            <a:endParaRPr lang="en-US" sz="850" b="0" strike="noStrike" spc="-1">
              <a:solidFill>
                <a:srgbClr val="000000"/>
              </a:solidFill>
              <a:latin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290" name="Shape 0"/>
          <p:cNvSpPr/>
          <p:nvPr/>
        </p:nvSpPr>
        <p:spPr>
          <a:xfrm>
            <a:off x="0" y="507024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291" name="Shape 1"/>
          <p:cNvSpPr/>
          <p:nvPr/>
        </p:nvSpPr>
        <p:spPr>
          <a:xfrm>
            <a:off x="1371600" y="507024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292" name="Shape 2"/>
          <p:cNvSpPr/>
          <p:nvPr/>
        </p:nvSpPr>
        <p:spPr>
          <a:xfrm>
            <a:off x="4114800" y="507024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293" name="Shape 3"/>
          <p:cNvSpPr/>
          <p:nvPr/>
        </p:nvSpPr>
        <p:spPr>
          <a:xfrm>
            <a:off x="5486400" y="507024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294" name="Shape 4"/>
          <p:cNvSpPr/>
          <p:nvPr/>
        </p:nvSpPr>
        <p:spPr>
          <a:xfrm>
            <a:off x="7772400" y="507024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pic>
        <p:nvPicPr>
          <p:cNvPr id="1295" name="Image 0" descr="preencoded.png"/>
          <p:cNvPicPr/>
          <p:nvPr/>
        </p:nvPicPr>
        <p:blipFill>
          <a:blip r:embed="rId3"/>
          <a:stretch/>
        </p:blipFill>
        <p:spPr>
          <a:xfrm>
            <a:off x="365760" y="274320"/>
            <a:ext cx="639720" cy="639720"/>
          </a:xfrm>
          <a:prstGeom prst="rect">
            <a:avLst/>
          </a:prstGeom>
          <a:ln w="0">
            <a:noFill/>
          </a:ln>
        </p:spPr>
      </p:pic>
      <p:graphicFrame>
        <p:nvGraphicFramePr>
          <p:cNvPr id="1296" name="Table 0"/>
          <p:cNvGraphicFramePr/>
          <p:nvPr/>
        </p:nvGraphicFramePr>
        <p:xfrm>
          <a:off x="365760" y="1005840"/>
          <a:ext cx="6675120" cy="975360"/>
        </p:xfrm>
        <a:graphic>
          <a:graphicData uri="http://schemas.openxmlformats.org/drawingml/2006/table">
            <a:tbl>
              <a:tblPr/>
              <a:tblGrid>
                <a:gridCol w="146304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gridCol w="4754880">
                  <a:extLst>
                    <a:ext uri="{9D8B030D-6E8A-4147-A177-3AD203B41FA5}">
                      <a16:colId xmlns:a16="http://schemas.microsoft.com/office/drawing/2014/main" val="20002"/>
                    </a:ext>
                  </a:extLst>
                </a:gridCol>
              </a:tblGrid>
              <a:tr h="0">
                <a:tc>
                  <a:txBody>
                    <a:bodyPr/>
                    <a:lstStyle/>
                    <a:p>
                      <a:pPr defTabSz="914400">
                        <a:lnSpc>
                          <a:spcPct val="100000"/>
                        </a:lnSpc>
                        <a:tabLst>
                          <a:tab pos="0" algn="l"/>
                        </a:tabLst>
                      </a:pPr>
                      <a:r>
                        <a:rPr lang="en-US" sz="1000" b="0" strike="noStrike" spc="-1">
                          <a:solidFill>
                            <a:srgbClr val="FFFFFF"/>
                          </a:solidFill>
                          <a:latin typeface="Courier New"/>
                          <a:ea typeface="Courier New"/>
                        </a:rPr>
                        <a:t>F5CTSLTM2.03</a:t>
                      </a:r>
                      <a:endParaRPr lang="en-US" sz="1000" b="0" strike="noStrike" spc="-1">
                        <a:solidFill>
                          <a:srgbClr val="FFFFFF"/>
                        </a:solidFill>
                        <a:latin typeface="Arial"/>
                      </a:endParaRPr>
                    </a:p>
                  </a:txBody>
                  <a:tcPr marL="75960" marR="75960">
                    <a:lnL>
                      <a:noFill/>
                    </a:lnL>
                    <a:lnR>
                      <a:noFill/>
                    </a:lnR>
                    <a:lnT>
                      <a:noFill/>
                    </a:lnT>
                    <a:lnB>
                      <a:noFill/>
                    </a:lnB>
                    <a:solidFill>
                      <a:srgbClr val="1A1A1A"/>
                    </a:solidFill>
                  </a:tcPr>
                </a:tc>
                <a:tc>
                  <a:txBody>
                    <a:bodyPr/>
                    <a:lstStyle/>
                    <a:p>
                      <a:pPr algn="ctr" defTabSz="914400">
                        <a:lnSpc>
                          <a:spcPct val="100000"/>
                        </a:lnSpc>
                        <a:tabLst>
                          <a:tab pos="0" algn="l"/>
                        </a:tabLst>
                      </a:pPr>
                      <a:r>
                        <a:rPr lang="en-US" sz="1000" b="1" strike="noStrike" spc="-1">
                          <a:solidFill>
                            <a:srgbClr val="009639"/>
                          </a:solidFill>
                          <a:latin typeface="Calibri"/>
                        </a:rPr>
                        <a:t>U/A</a:t>
                      </a:r>
                      <a:endParaRPr lang="en-US" sz="1000" b="0" strike="noStrike" spc="-1">
                        <a:solidFill>
                          <a:srgbClr val="FFFFFF"/>
                        </a:solidFill>
                        <a:latin typeface="Arial"/>
                      </a:endParaRPr>
                    </a:p>
                  </a:txBody>
                  <a:tcPr marL="75960" marR="75960">
                    <a:lnL>
                      <a:noFill/>
                    </a:lnL>
                    <a:lnR>
                      <a:noFill/>
                    </a:lnR>
                    <a:lnT>
                      <a:noFill/>
                    </a:lnT>
                    <a:lnB>
                      <a:noFill/>
                    </a:lnB>
                    <a:solidFill>
                      <a:srgbClr val="1A1A1A"/>
                    </a:solidFill>
                  </a:tcPr>
                </a:tc>
                <a:tc>
                  <a:txBody>
                    <a:bodyPr/>
                    <a:lstStyle/>
                    <a:p>
                      <a:pPr defTabSz="914400">
                        <a:lnSpc>
                          <a:spcPct val="100000"/>
                        </a:lnSpc>
                        <a:tabLst>
                          <a:tab pos="0" algn="l"/>
                        </a:tabLst>
                      </a:pPr>
                      <a:r>
                        <a:rPr lang="en-US" sz="1000" b="0" strike="noStrike" spc="-1">
                          <a:solidFill>
                            <a:srgbClr val="666666"/>
                          </a:solidFill>
                          <a:latin typeface="Calibri"/>
                        </a:rPr>
                        <a:t>Choose VS type and LB type for application requirements</a:t>
                      </a:r>
                      <a:endParaRPr lang="en-US" sz="1000" b="0" strike="noStrike" spc="-1">
                        <a:solidFill>
                          <a:srgbClr val="FFFFFF"/>
                        </a:solidFill>
                        <a:latin typeface="Arial"/>
                      </a:endParaRPr>
                    </a:p>
                  </a:txBody>
                  <a:tcPr marL="75960" marR="75960">
                    <a:lnL>
                      <a:noFill/>
                    </a:lnL>
                    <a:lnR>
                      <a:noFill/>
                    </a:lnR>
                    <a:lnT>
                      <a:noFill/>
                    </a:lnT>
                    <a:lnB>
                      <a:noFill/>
                    </a:lnB>
                    <a:solidFill>
                      <a:srgbClr val="1A1A1A"/>
                    </a:solidFill>
                  </a:tcPr>
                </a:tc>
                <a:extLst>
                  <a:ext uri="{0D108BD9-81ED-4DB2-BD59-A6C34878D82A}">
                    <a16:rowId xmlns:a16="http://schemas.microsoft.com/office/drawing/2014/main" val="10000"/>
                  </a:ext>
                </a:extLst>
              </a:tr>
              <a:tr h="0">
                <a:tc>
                  <a:txBody>
                    <a:bodyPr/>
                    <a:lstStyle/>
                    <a:p>
                      <a:pPr defTabSz="914400">
                        <a:lnSpc>
                          <a:spcPct val="100000"/>
                        </a:lnSpc>
                        <a:tabLst>
                          <a:tab pos="0" algn="l"/>
                        </a:tabLst>
                      </a:pPr>
                      <a:r>
                        <a:rPr lang="en-US" sz="1000" b="0" strike="noStrike" spc="-1">
                          <a:solidFill>
                            <a:srgbClr val="FFFFFF"/>
                          </a:solidFill>
                          <a:latin typeface="Courier New"/>
                          <a:ea typeface="Courier New"/>
                        </a:rPr>
                        <a:t>F5CTSLTM2.05</a:t>
                      </a:r>
                      <a:endParaRPr lang="en-US" sz="1000" b="0" strike="noStrike" spc="-1">
                        <a:solidFill>
                          <a:srgbClr val="FFFFFF"/>
                        </a:solidFill>
                        <a:latin typeface="Arial"/>
                      </a:endParaRPr>
                    </a:p>
                  </a:txBody>
                  <a:tcPr marL="75960" marR="75960">
                    <a:lnL>
                      <a:noFill/>
                    </a:lnL>
                    <a:lnR>
                      <a:noFill/>
                    </a:lnR>
                    <a:lnT>
                      <a:noFill/>
                    </a:lnT>
                    <a:lnB>
                      <a:noFill/>
                    </a:lnB>
                    <a:solidFill>
                      <a:srgbClr val="111111"/>
                    </a:solidFill>
                  </a:tcPr>
                </a:tc>
                <a:tc>
                  <a:txBody>
                    <a:bodyPr/>
                    <a:lstStyle/>
                    <a:p>
                      <a:pPr algn="ctr" defTabSz="914400">
                        <a:lnSpc>
                          <a:spcPct val="100000"/>
                        </a:lnSpc>
                        <a:tabLst>
                          <a:tab pos="0" algn="l"/>
                        </a:tabLst>
                      </a:pPr>
                      <a:r>
                        <a:rPr lang="en-US" sz="1000" b="1" strike="noStrike" spc="-1">
                          <a:solidFill>
                            <a:srgbClr val="009639"/>
                          </a:solidFill>
                          <a:latin typeface="Calibri"/>
                        </a:rPr>
                        <a:t>U/A</a:t>
                      </a:r>
                      <a:endParaRPr lang="en-US" sz="1000" b="0" strike="noStrike" spc="-1">
                        <a:solidFill>
                          <a:srgbClr val="FFFFFF"/>
                        </a:solidFill>
                        <a:latin typeface="Arial"/>
                      </a:endParaRPr>
                    </a:p>
                  </a:txBody>
                  <a:tcPr marL="75960" marR="75960">
                    <a:lnL>
                      <a:noFill/>
                    </a:lnL>
                    <a:lnR>
                      <a:noFill/>
                    </a:lnR>
                    <a:lnT>
                      <a:noFill/>
                    </a:lnT>
                    <a:lnB>
                      <a:noFill/>
                    </a:lnB>
                    <a:solidFill>
                      <a:srgbClr val="111111"/>
                    </a:solidFill>
                  </a:tcPr>
                </a:tc>
                <a:tc>
                  <a:txBody>
                    <a:bodyPr/>
                    <a:lstStyle/>
                    <a:p>
                      <a:pPr defTabSz="914400">
                        <a:lnSpc>
                          <a:spcPct val="100000"/>
                        </a:lnSpc>
                        <a:tabLst>
                          <a:tab pos="0" algn="l"/>
                        </a:tabLst>
                      </a:pPr>
                      <a:r>
                        <a:rPr lang="en-US" sz="1000" b="0" strike="noStrike" spc="-1">
                          <a:solidFill>
                            <a:srgbClr val="666666"/>
                          </a:solidFill>
                          <a:latin typeface="Calibri"/>
                        </a:rPr>
                        <a:t>Distinguish packet-based vs connection-based load balancing</a:t>
                      </a:r>
                      <a:endParaRPr lang="en-US" sz="1000" b="0" strike="noStrike" spc="-1">
                        <a:solidFill>
                          <a:srgbClr val="FFFFFF"/>
                        </a:solidFill>
                        <a:latin typeface="Arial"/>
                      </a:endParaRPr>
                    </a:p>
                  </a:txBody>
                  <a:tcPr marL="75960" marR="75960">
                    <a:lnL>
                      <a:noFill/>
                    </a:lnL>
                    <a:lnR>
                      <a:noFill/>
                    </a:lnR>
                    <a:lnT>
                      <a:noFill/>
                    </a:lnT>
                    <a:lnB>
                      <a:noFill/>
                    </a:lnB>
                    <a:solidFill>
                      <a:srgbClr val="111111"/>
                    </a:solidFill>
                  </a:tcPr>
                </a:tc>
                <a:extLst>
                  <a:ext uri="{0D108BD9-81ED-4DB2-BD59-A6C34878D82A}">
                    <a16:rowId xmlns:a16="http://schemas.microsoft.com/office/drawing/2014/main" val="10001"/>
                  </a:ext>
                </a:extLst>
              </a:tr>
              <a:tr h="0">
                <a:tc>
                  <a:txBody>
                    <a:bodyPr/>
                    <a:lstStyle/>
                    <a:p>
                      <a:pPr defTabSz="914400">
                        <a:lnSpc>
                          <a:spcPct val="100000"/>
                        </a:lnSpc>
                        <a:tabLst>
                          <a:tab pos="0" algn="l"/>
                        </a:tabLst>
                      </a:pPr>
                      <a:r>
                        <a:rPr lang="en-US" sz="1000" b="0" strike="noStrike" spc="-1">
                          <a:solidFill>
                            <a:srgbClr val="FFFFFF"/>
                          </a:solidFill>
                          <a:latin typeface="Courier New"/>
                          <a:ea typeface="Courier New"/>
                        </a:rPr>
                        <a:t>F5CTSLTM2.07</a:t>
                      </a:r>
                      <a:endParaRPr lang="en-US" sz="1000" b="0" strike="noStrike" spc="-1">
                        <a:solidFill>
                          <a:srgbClr val="FFFFFF"/>
                        </a:solidFill>
                        <a:latin typeface="Arial"/>
                      </a:endParaRPr>
                    </a:p>
                  </a:txBody>
                  <a:tcPr marL="75960" marR="75960">
                    <a:lnL>
                      <a:noFill/>
                    </a:lnL>
                    <a:lnR>
                      <a:noFill/>
                    </a:lnR>
                    <a:lnT>
                      <a:noFill/>
                    </a:lnT>
                    <a:lnB>
                      <a:noFill/>
                    </a:lnB>
                    <a:solidFill>
                      <a:srgbClr val="1A1A1A"/>
                    </a:solidFill>
                  </a:tcPr>
                </a:tc>
                <a:tc>
                  <a:txBody>
                    <a:bodyPr/>
                    <a:lstStyle/>
                    <a:p>
                      <a:pPr algn="ctr" defTabSz="914400">
                        <a:lnSpc>
                          <a:spcPct val="100000"/>
                        </a:lnSpc>
                        <a:tabLst>
                          <a:tab pos="0" algn="l"/>
                        </a:tabLst>
                      </a:pPr>
                      <a:r>
                        <a:rPr lang="en-US" sz="1000" b="1" strike="noStrike" spc="-1">
                          <a:solidFill>
                            <a:srgbClr val="009639"/>
                          </a:solidFill>
                          <a:latin typeface="Calibri"/>
                        </a:rPr>
                        <a:t>U/A</a:t>
                      </a:r>
                      <a:endParaRPr lang="en-US" sz="1000" b="0" strike="noStrike" spc="-1">
                        <a:solidFill>
                          <a:srgbClr val="FFFFFF"/>
                        </a:solidFill>
                        <a:latin typeface="Arial"/>
                      </a:endParaRPr>
                    </a:p>
                  </a:txBody>
                  <a:tcPr marL="75960" marR="75960">
                    <a:lnL>
                      <a:noFill/>
                    </a:lnL>
                    <a:lnR>
                      <a:noFill/>
                    </a:lnR>
                    <a:lnT>
                      <a:noFill/>
                    </a:lnT>
                    <a:lnB>
                      <a:noFill/>
                    </a:lnB>
                    <a:solidFill>
                      <a:srgbClr val="1A1A1A"/>
                    </a:solidFill>
                  </a:tcPr>
                </a:tc>
                <a:tc>
                  <a:txBody>
                    <a:bodyPr/>
                    <a:lstStyle/>
                    <a:p>
                      <a:pPr defTabSz="914400">
                        <a:lnSpc>
                          <a:spcPct val="100000"/>
                        </a:lnSpc>
                        <a:tabLst>
                          <a:tab pos="0" algn="l"/>
                        </a:tabLst>
                      </a:pPr>
                      <a:r>
                        <a:rPr lang="en-US" sz="1000" b="0" strike="noStrike" spc="-1">
                          <a:solidFill>
                            <a:srgbClr val="666666"/>
                          </a:solidFill>
                          <a:latin typeface="Calibri"/>
                        </a:rPr>
                        <a:t>Identify matching order of multiple virtual servers</a:t>
                      </a:r>
                      <a:endParaRPr lang="en-US" sz="1000" b="0" strike="noStrike" spc="-1">
                        <a:solidFill>
                          <a:srgbClr val="FFFFFF"/>
                        </a:solidFill>
                        <a:latin typeface="Arial"/>
                      </a:endParaRPr>
                    </a:p>
                  </a:txBody>
                  <a:tcPr marL="75960" marR="75960">
                    <a:lnL>
                      <a:noFill/>
                    </a:lnL>
                    <a:lnR>
                      <a:noFill/>
                    </a:lnR>
                    <a:lnT>
                      <a:noFill/>
                    </a:lnT>
                    <a:lnB>
                      <a:noFill/>
                    </a:lnB>
                    <a:solidFill>
                      <a:srgbClr val="1A1A1A"/>
                    </a:solidFill>
                  </a:tcPr>
                </a:tc>
                <a:extLst>
                  <a:ext uri="{0D108BD9-81ED-4DB2-BD59-A6C34878D82A}">
                    <a16:rowId xmlns:a16="http://schemas.microsoft.com/office/drawing/2014/main" val="10002"/>
                  </a:ext>
                </a:extLst>
              </a:tr>
              <a:tr h="0">
                <a:tc>
                  <a:txBody>
                    <a:bodyPr/>
                    <a:lstStyle/>
                    <a:p>
                      <a:pPr defTabSz="914400">
                        <a:lnSpc>
                          <a:spcPct val="100000"/>
                        </a:lnSpc>
                        <a:tabLst>
                          <a:tab pos="0" algn="l"/>
                        </a:tabLst>
                      </a:pPr>
                      <a:r>
                        <a:rPr lang="en-US" sz="1000" b="0" strike="noStrike" spc="-1">
                          <a:solidFill>
                            <a:srgbClr val="FFFFFF"/>
                          </a:solidFill>
                          <a:latin typeface="Courier New"/>
                          <a:ea typeface="Courier New"/>
                        </a:rPr>
                        <a:t>F5CTSLTM2.08</a:t>
                      </a:r>
                      <a:endParaRPr lang="en-US" sz="1000" b="0" strike="noStrike" spc="-1">
                        <a:solidFill>
                          <a:srgbClr val="FFFFFF"/>
                        </a:solidFill>
                        <a:latin typeface="Arial"/>
                      </a:endParaRPr>
                    </a:p>
                  </a:txBody>
                  <a:tcPr marL="75960" marR="75960">
                    <a:lnL>
                      <a:noFill/>
                    </a:lnL>
                    <a:lnR>
                      <a:noFill/>
                    </a:lnR>
                    <a:lnT>
                      <a:noFill/>
                    </a:lnT>
                    <a:lnB>
                      <a:noFill/>
                    </a:lnB>
                    <a:solidFill>
                      <a:srgbClr val="111111"/>
                    </a:solidFill>
                  </a:tcPr>
                </a:tc>
                <a:tc>
                  <a:txBody>
                    <a:bodyPr/>
                    <a:lstStyle/>
                    <a:p>
                      <a:pPr algn="ctr" defTabSz="914400">
                        <a:lnSpc>
                          <a:spcPct val="100000"/>
                        </a:lnSpc>
                        <a:tabLst>
                          <a:tab pos="0" algn="l"/>
                        </a:tabLst>
                      </a:pPr>
                      <a:r>
                        <a:rPr lang="en-US" sz="1000" b="1" strike="noStrike" spc="-1">
                          <a:solidFill>
                            <a:srgbClr val="009639"/>
                          </a:solidFill>
                          <a:latin typeface="Calibri"/>
                        </a:rPr>
                        <a:t>U/A</a:t>
                      </a:r>
                      <a:endParaRPr lang="en-US" sz="1000" b="0" strike="noStrike" spc="-1">
                        <a:solidFill>
                          <a:srgbClr val="FFFFFF"/>
                        </a:solidFill>
                        <a:latin typeface="Arial"/>
                      </a:endParaRPr>
                    </a:p>
                  </a:txBody>
                  <a:tcPr marL="75960" marR="75960">
                    <a:lnL>
                      <a:noFill/>
                    </a:lnL>
                    <a:lnR>
                      <a:noFill/>
                    </a:lnR>
                    <a:lnT>
                      <a:noFill/>
                    </a:lnT>
                    <a:lnB>
                      <a:noFill/>
                    </a:lnB>
                    <a:solidFill>
                      <a:srgbClr val="111111"/>
                    </a:solidFill>
                  </a:tcPr>
                </a:tc>
                <a:tc>
                  <a:txBody>
                    <a:bodyPr/>
                    <a:lstStyle/>
                    <a:p>
                      <a:pPr defTabSz="914400">
                        <a:lnSpc>
                          <a:spcPct val="100000"/>
                        </a:lnSpc>
                        <a:tabLst>
                          <a:tab pos="0" algn="l"/>
                        </a:tabLst>
                      </a:pPr>
                      <a:r>
                        <a:rPr lang="en-US" sz="1000" b="0" strike="noStrike" spc="-1">
                          <a:solidFill>
                            <a:srgbClr val="666666"/>
                          </a:solidFill>
                          <a:latin typeface="Calibri"/>
                        </a:rPr>
                        <a:t>Determine how to secure virtual servers</a:t>
                      </a:r>
                      <a:endParaRPr lang="en-US" sz="1000" b="0" strike="noStrike" spc="-1">
                        <a:solidFill>
                          <a:srgbClr val="FFFFFF"/>
                        </a:solidFill>
                        <a:latin typeface="Arial"/>
                      </a:endParaRPr>
                    </a:p>
                  </a:txBody>
                  <a:tcPr marL="75960" marR="75960">
                    <a:lnL>
                      <a:noFill/>
                    </a:lnL>
                    <a:lnR>
                      <a:noFill/>
                    </a:lnR>
                    <a:lnT>
                      <a:noFill/>
                    </a:lnT>
                    <a:lnB>
                      <a:noFill/>
                    </a:lnB>
                    <a:solidFill>
                      <a:srgbClr val="111111"/>
                    </a:solidFill>
                  </a:tcPr>
                </a:tc>
                <a:extLst>
                  <a:ext uri="{0D108BD9-81ED-4DB2-BD59-A6C34878D82A}">
                    <a16:rowId xmlns:a16="http://schemas.microsoft.com/office/drawing/2014/main" val="10003"/>
                  </a:ext>
                </a:extLst>
              </a:tr>
            </a:tbl>
          </a:graphicData>
        </a:graphic>
      </p:graphicFrame>
      <p:sp>
        <p:nvSpPr>
          <p:cNvPr id="1297" name="Text 5"/>
          <p:cNvSpPr/>
          <p:nvPr/>
        </p:nvSpPr>
        <p:spPr>
          <a:xfrm>
            <a:off x="365760" y="2468880"/>
            <a:ext cx="7314840" cy="1188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strike="noStrike" spc="-1">
                <a:solidFill>
                  <a:srgbClr val="666666"/>
                </a:solidFill>
                <a:latin typeface="Calibri"/>
                <a:ea typeface="Calibri"/>
              </a:rPr>
              <a:t>LAB 6</a:t>
            </a:r>
            <a:endParaRPr lang="en-US" sz="1400" b="0" strike="noStrike" spc="-1">
              <a:solidFill>
                <a:srgbClr val="FFFFFF"/>
              </a:solidFill>
              <a:latin typeface="Arial"/>
            </a:endParaRPr>
          </a:p>
          <a:p>
            <a:pPr defTabSz="914400">
              <a:lnSpc>
                <a:spcPct val="100000"/>
              </a:lnSpc>
              <a:tabLst>
                <a:tab pos="0" algn="l"/>
              </a:tabLst>
            </a:pPr>
            <a:r>
              <a:rPr lang="en-US" sz="3400" b="1" strike="noStrike" spc="-1">
                <a:solidFill>
                  <a:srgbClr val="FFFFFF"/>
                </a:solidFill>
                <a:latin typeface="Arial"/>
                <a:ea typeface="Arial"/>
              </a:rPr>
              <a:t>Virtual Servers and</a:t>
            </a:r>
            <a:endParaRPr lang="en-US" sz="3400" b="0" strike="noStrike" spc="-1">
              <a:solidFill>
                <a:srgbClr val="FFFFFF"/>
              </a:solidFill>
              <a:latin typeface="Arial"/>
            </a:endParaRPr>
          </a:p>
          <a:p>
            <a:pPr defTabSz="914400">
              <a:lnSpc>
                <a:spcPct val="100000"/>
              </a:lnSpc>
              <a:tabLst>
                <a:tab pos="0" algn="l"/>
              </a:tabLst>
            </a:pPr>
            <a:r>
              <a:rPr lang="en-US" sz="3400" b="1" strike="noStrike" spc="-1">
                <a:solidFill>
                  <a:srgbClr val="FFFFFF"/>
                </a:solidFill>
                <a:latin typeface="Arial"/>
                <a:ea typeface="Arial"/>
              </a:rPr>
              <a:t>Packet Processing</a:t>
            </a:r>
            <a:endParaRPr lang="en-US" sz="3400" b="0" strike="noStrike" spc="-1">
              <a:solidFill>
                <a:srgbClr val="FFFFFF"/>
              </a:solidFill>
              <a:latin typeface="Arial"/>
            </a:endParaRPr>
          </a:p>
        </p:txBody>
      </p:sp>
      <p:sp>
        <p:nvSpPr>
          <p:cNvPr id="1298" name="Text 6"/>
          <p:cNvSpPr/>
          <p:nvPr/>
        </p:nvSpPr>
        <p:spPr>
          <a:xfrm>
            <a:off x="365760" y="3657600"/>
            <a:ext cx="68576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strike="noStrike" spc="-1">
                <a:solidFill>
                  <a:srgbClr val="666666"/>
                </a:solidFill>
                <a:latin typeface="Calibri"/>
                <a:ea typeface="Calibri"/>
              </a:rPr>
              <a:t>Compare VS types (Standard, Performance L4, Forwarding IP), understand</a:t>
            </a:r>
            <a:endParaRPr lang="en-US" sz="1300" b="0" strike="noStrike" spc="-1">
              <a:solidFill>
                <a:srgbClr val="FFFFFF"/>
              </a:solidFill>
              <a:latin typeface="Arial"/>
            </a:endParaRPr>
          </a:p>
          <a:p>
            <a:pPr defTabSz="914400">
              <a:lnSpc>
                <a:spcPct val="100000"/>
              </a:lnSpc>
              <a:tabLst>
                <a:tab pos="0" algn="l"/>
              </a:tabLst>
            </a:pPr>
            <a:r>
              <a:rPr lang="en-US" sz="1300" b="0" strike="noStrike" spc="-1">
                <a:solidFill>
                  <a:srgbClr val="666666"/>
                </a:solidFill>
                <a:latin typeface="Calibri"/>
                <a:ea typeface="Calibri"/>
              </a:rPr>
              <a:t>the packet processing order, predict VS matching with wildcards, and</a:t>
            </a:r>
            <a:endParaRPr lang="en-US" sz="1300" b="0" strike="noStrike" spc="-1">
              <a:solidFill>
                <a:srgbClr val="FFFFFF"/>
              </a:solidFill>
              <a:latin typeface="Arial"/>
            </a:endParaRPr>
          </a:p>
          <a:p>
            <a:pPr defTabSz="914400">
              <a:lnSpc>
                <a:spcPct val="100000"/>
              </a:lnSpc>
              <a:tabLst>
                <a:tab pos="0" algn="l"/>
              </a:tabLst>
            </a:pPr>
            <a:r>
              <a:rPr lang="en-US" sz="1300" b="0" strike="noStrike" spc="-1">
                <a:solidFill>
                  <a:srgbClr val="666666"/>
                </a:solidFill>
                <a:latin typeface="Calibri"/>
                <a:ea typeface="Calibri"/>
              </a:rPr>
              <a:t>distinguish packet-based vs connection-based load balancing.</a:t>
            </a:r>
            <a:endParaRPr lang="en-US" sz="1300" b="0" strike="noStrike" spc="-1">
              <a:solidFill>
                <a:srgbClr val="FFFFFF"/>
              </a:solidFill>
              <a:latin typeface="Arial"/>
            </a:endParaRPr>
          </a:p>
        </p:txBody>
      </p:sp>
      <p:sp>
        <p:nvSpPr>
          <p:cNvPr id="1299" name="Text 7"/>
          <p:cNvSpPr/>
          <p:nvPr/>
        </p:nvSpPr>
        <p:spPr>
          <a:xfrm>
            <a:off x="365760" y="4343400"/>
            <a:ext cx="45716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strike="noStrike" spc="-1">
                <a:solidFill>
                  <a:srgbClr val="F29A36"/>
                </a:solidFill>
                <a:latin typeface="Calibri"/>
                <a:ea typeface="Calibri"/>
              </a:rPr>
              <a:t>60 min  |  15 min slides + 45 min lab</a:t>
            </a:r>
            <a:endParaRPr lang="en-US" sz="1100" b="0" strike="noStrike" spc="-1">
              <a:solidFill>
                <a:srgbClr val="FFFFFF"/>
              </a:solidFill>
              <a:latin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00"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301"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302"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303"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304"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305"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56    © 2026 F5</a:t>
            </a:r>
            <a:endParaRPr lang="en-US" sz="800" b="0" strike="noStrike" spc="-1">
              <a:solidFill>
                <a:srgbClr val="000000"/>
              </a:solidFill>
              <a:latin typeface="Arial"/>
            </a:endParaRPr>
          </a:p>
        </p:txBody>
      </p:sp>
      <p:pic>
        <p:nvPicPr>
          <p:cNvPr id="1306" name="Image 0" descr="preencoded.png"/>
          <p:cNvPicPr/>
          <p:nvPr/>
        </p:nvPicPr>
        <p:blipFill>
          <a:blip r:embed="rId3"/>
          <a:stretch/>
        </p:blipFill>
        <p:spPr>
          <a:xfrm>
            <a:off x="8458200" y="4663440"/>
            <a:ext cx="383760" cy="383760"/>
          </a:xfrm>
          <a:prstGeom prst="rect">
            <a:avLst/>
          </a:prstGeom>
          <a:ln w="0">
            <a:noFill/>
          </a:ln>
        </p:spPr>
      </p:pic>
      <p:sp>
        <p:nvSpPr>
          <p:cNvPr id="1307" name="Text 6"/>
          <p:cNvSpPr/>
          <p:nvPr/>
        </p:nvSpPr>
        <p:spPr>
          <a:xfrm>
            <a:off x="457200" y="274320"/>
            <a:ext cx="82292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Virtual server types</a:t>
            </a:r>
            <a:endParaRPr lang="en-US" sz="2800" b="0" strike="noStrike" spc="-1">
              <a:solidFill>
                <a:srgbClr val="000000"/>
              </a:solidFill>
              <a:latin typeface="Arial"/>
            </a:endParaRPr>
          </a:p>
        </p:txBody>
      </p:sp>
      <p:sp>
        <p:nvSpPr>
          <p:cNvPr id="1308" name="Text 7"/>
          <p:cNvSpPr/>
          <p:nvPr/>
        </p:nvSpPr>
        <p:spPr>
          <a:xfrm>
            <a:off x="457200" y="658440"/>
            <a:ext cx="82292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strike="noStrike" spc="-1">
                <a:solidFill>
                  <a:srgbClr val="666666"/>
                </a:solidFill>
                <a:latin typeface="Calibri"/>
                <a:ea typeface="Calibri"/>
              </a:rPr>
              <a:t>Choose the type based on the level of traffic intelligence your application requires</a:t>
            </a:r>
            <a:endParaRPr lang="en-US" sz="1300" b="0" strike="noStrike" spc="-1">
              <a:solidFill>
                <a:srgbClr val="000000"/>
              </a:solidFill>
              <a:latin typeface="Arial"/>
            </a:endParaRPr>
          </a:p>
        </p:txBody>
      </p:sp>
      <p:graphicFrame>
        <p:nvGraphicFramePr>
          <p:cNvPr id="1309" name="Table 0"/>
          <p:cNvGraphicFramePr/>
          <p:nvPr/>
        </p:nvGraphicFramePr>
        <p:xfrm>
          <a:off x="365760" y="960120"/>
          <a:ext cx="8412480" cy="1706880"/>
        </p:xfrm>
        <a:graphic>
          <a:graphicData uri="http://schemas.openxmlformats.org/drawingml/2006/table">
            <a:tbl>
              <a:tblPr/>
              <a:tblGrid>
                <a:gridCol w="118872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gridCol w="1920240">
                  <a:extLst>
                    <a:ext uri="{9D8B030D-6E8A-4147-A177-3AD203B41FA5}">
                      <a16:colId xmlns:a16="http://schemas.microsoft.com/office/drawing/2014/main" val="20004"/>
                    </a:ext>
                  </a:extLst>
                </a:gridCol>
              </a:tblGrid>
              <a:tr h="0">
                <a:tc>
                  <a:txBody>
                    <a:bodyPr/>
                    <a:lstStyle/>
                    <a:p>
                      <a:pPr defTabSz="914400">
                        <a:lnSpc>
                          <a:spcPct val="100000"/>
                        </a:lnSpc>
                        <a:tabLst>
                          <a:tab pos="0" algn="l"/>
                        </a:tabLst>
                      </a:pPr>
                      <a:r>
                        <a:rPr lang="en-US" sz="1000" b="1" strike="noStrike" spc="-1">
                          <a:solidFill>
                            <a:srgbClr val="FFFFFF"/>
                          </a:solidFill>
                          <a:latin typeface="Calibri"/>
                        </a:rPr>
                        <a:t>Type</a:t>
                      </a:r>
                      <a:endParaRPr lang="en-US" sz="10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E41AA"/>
                    </a:solidFill>
                  </a:tcPr>
                </a:tc>
                <a:tc>
                  <a:txBody>
                    <a:bodyPr/>
                    <a:lstStyle/>
                    <a:p>
                      <a:pPr defTabSz="914400">
                        <a:lnSpc>
                          <a:spcPct val="100000"/>
                        </a:lnSpc>
                        <a:tabLst>
                          <a:tab pos="0" algn="l"/>
                        </a:tabLst>
                      </a:pPr>
                      <a:r>
                        <a:rPr lang="en-US" sz="1000" b="1" strike="noStrike" spc="-1">
                          <a:solidFill>
                            <a:srgbClr val="FFFFFF"/>
                          </a:solidFill>
                          <a:latin typeface="Calibri"/>
                        </a:rPr>
                        <a:t>Profile</a:t>
                      </a:r>
                      <a:endParaRPr lang="en-US" sz="10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E41AA"/>
                    </a:solidFill>
                  </a:tcPr>
                </a:tc>
                <a:tc>
                  <a:txBody>
                    <a:bodyPr/>
                    <a:lstStyle/>
                    <a:p>
                      <a:pPr defTabSz="914400">
                        <a:lnSpc>
                          <a:spcPct val="100000"/>
                        </a:lnSpc>
                        <a:tabLst>
                          <a:tab pos="0" algn="l"/>
                        </a:tabLst>
                      </a:pPr>
                      <a:r>
                        <a:rPr lang="en-US" sz="1000" b="1" strike="noStrike" spc="-1">
                          <a:solidFill>
                            <a:srgbClr val="FFFFFF"/>
                          </a:solidFill>
                          <a:latin typeface="Calibri"/>
                        </a:rPr>
                        <a:t>Processing</a:t>
                      </a:r>
                      <a:endParaRPr lang="en-US" sz="10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E41AA"/>
                    </a:solidFill>
                  </a:tcPr>
                </a:tc>
                <a:tc>
                  <a:txBody>
                    <a:bodyPr/>
                    <a:lstStyle/>
                    <a:p>
                      <a:pPr defTabSz="914400">
                        <a:lnSpc>
                          <a:spcPct val="100000"/>
                        </a:lnSpc>
                        <a:tabLst>
                          <a:tab pos="0" algn="l"/>
                        </a:tabLst>
                      </a:pPr>
                      <a:r>
                        <a:rPr lang="en-US" sz="1000" b="1" strike="noStrike" spc="-1">
                          <a:solidFill>
                            <a:srgbClr val="FFFFFF"/>
                          </a:solidFill>
                          <a:latin typeface="Calibri"/>
                        </a:rPr>
                        <a:t>L7 features</a:t>
                      </a:r>
                      <a:endParaRPr lang="en-US" sz="10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E41AA"/>
                    </a:solidFill>
                  </a:tcPr>
                </a:tc>
                <a:tc>
                  <a:txBody>
                    <a:bodyPr/>
                    <a:lstStyle/>
                    <a:p>
                      <a:pPr defTabSz="914400">
                        <a:lnSpc>
                          <a:spcPct val="100000"/>
                        </a:lnSpc>
                        <a:tabLst>
                          <a:tab pos="0" algn="l"/>
                        </a:tabLst>
                      </a:pPr>
                      <a:r>
                        <a:rPr lang="en-US" sz="1000" b="1" strike="noStrike" spc="-1">
                          <a:solidFill>
                            <a:srgbClr val="FFFFFF"/>
                          </a:solidFill>
                          <a:latin typeface="Calibri"/>
                        </a:rPr>
                        <a:t>Use case</a:t>
                      </a:r>
                      <a:endParaRPr lang="en-US" sz="10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E41AA"/>
                    </a:solidFill>
                  </a:tcPr>
                </a:tc>
                <a:extLst>
                  <a:ext uri="{0D108BD9-81ED-4DB2-BD59-A6C34878D82A}">
                    <a16:rowId xmlns:a16="http://schemas.microsoft.com/office/drawing/2014/main" val="10000"/>
                  </a:ext>
                </a:extLst>
              </a:tr>
              <a:tr h="0">
                <a:tc>
                  <a:txBody>
                    <a:bodyPr/>
                    <a:lstStyle/>
                    <a:p>
                      <a:pPr defTabSz="914400">
                        <a:lnSpc>
                          <a:spcPct val="100000"/>
                        </a:lnSpc>
                        <a:tabLst>
                          <a:tab pos="0" algn="l"/>
                        </a:tabLst>
                      </a:pPr>
                      <a:r>
                        <a:rPr lang="en-US" sz="1000" b="1" strike="noStrike" spc="-1">
                          <a:solidFill>
                            <a:srgbClr val="000000"/>
                          </a:solidFill>
                          <a:latin typeface="Calibri"/>
                        </a:rPr>
                        <a:t>Standard</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TCP, HTTP, SSL, etc.</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Full proxy: two independent TCP connections</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9639"/>
                          </a:solidFill>
                          <a:latin typeface="Calibri"/>
                        </a:rPr>
                        <a:t>All: HTTP, SSL, compression, iRules, persistence</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Web apps, APIs — any app needing L7</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1"/>
                  </a:ext>
                </a:extLst>
              </a:tr>
              <a:tr h="0">
                <a:tc>
                  <a:txBody>
                    <a:bodyPr/>
                    <a:lstStyle/>
                    <a:p>
                      <a:pPr defTabSz="914400">
                        <a:lnSpc>
                          <a:spcPct val="100000"/>
                        </a:lnSpc>
                        <a:tabLst>
                          <a:tab pos="0" algn="l"/>
                        </a:tabLst>
                      </a:pPr>
                      <a:r>
                        <a:rPr lang="en-US" sz="1000" b="1" strike="noStrike" spc="-1">
                          <a:solidFill>
                            <a:srgbClr val="000000"/>
                          </a:solidFill>
                          <a:latin typeface="Calibri"/>
                        </a:rPr>
                        <a:t>Performance (L4)</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FastL4</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Packet-by-packet pass-through</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E4002B"/>
                          </a:solidFill>
                          <a:latin typeface="Calibri"/>
                        </a:rPr>
                        <a:t>None: no L7 inspection possible</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High throughput L4 LB, non-HTTP</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2"/>
                  </a:ext>
                </a:extLst>
              </a:tr>
              <a:tr h="0">
                <a:tc>
                  <a:txBody>
                    <a:bodyPr/>
                    <a:lstStyle/>
                    <a:p>
                      <a:pPr defTabSz="914400">
                        <a:lnSpc>
                          <a:spcPct val="100000"/>
                        </a:lnSpc>
                        <a:tabLst>
                          <a:tab pos="0" algn="l"/>
                        </a:tabLst>
                      </a:pPr>
                      <a:r>
                        <a:rPr lang="en-US" sz="1000" b="1" strike="noStrike" spc="-1">
                          <a:solidFill>
                            <a:srgbClr val="000000"/>
                          </a:solidFill>
                          <a:latin typeface="Calibri"/>
                        </a:rPr>
                        <a:t>Forwarding (IP)</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FastL4 or none</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Route based on dest IP, no pool</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E4002B"/>
                          </a:solidFill>
                          <a:latin typeface="Calibri"/>
                        </a:rPr>
                        <a:t>None: acts as a router</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Allow traffic to backend network</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3"/>
                  </a:ext>
                </a:extLst>
              </a:tr>
              <a:tr h="0">
                <a:tc>
                  <a:txBody>
                    <a:bodyPr/>
                    <a:lstStyle/>
                    <a:p>
                      <a:pPr defTabSz="914400">
                        <a:lnSpc>
                          <a:spcPct val="100000"/>
                        </a:lnSpc>
                        <a:tabLst>
                          <a:tab pos="0" algn="l"/>
                        </a:tabLst>
                      </a:pPr>
                      <a:r>
                        <a:rPr lang="en-US" sz="1000" b="1" strike="noStrike" spc="-1">
                          <a:solidFill>
                            <a:srgbClr val="000000"/>
                          </a:solidFill>
                          <a:latin typeface="Calibri"/>
                        </a:rPr>
                        <a:t>Forwarding (L2)</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None</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Bridge based on MAC, no pool</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E4002B"/>
                          </a:solidFill>
                          <a:latin typeface="Calibri"/>
                        </a:rPr>
                        <a:t>None: acts as a bridge</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L2 transparent deployment</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4"/>
                  </a:ext>
                </a:extLst>
              </a:tr>
              <a:tr h="0">
                <a:tc>
                  <a:txBody>
                    <a:bodyPr/>
                    <a:lstStyle/>
                    <a:p>
                      <a:pPr defTabSz="914400">
                        <a:lnSpc>
                          <a:spcPct val="100000"/>
                        </a:lnSpc>
                        <a:tabLst>
                          <a:tab pos="0" algn="l"/>
                        </a:tabLst>
                      </a:pPr>
                      <a:r>
                        <a:rPr lang="en-US" sz="1000" b="1" strike="noStrike" spc="-1">
                          <a:solidFill>
                            <a:srgbClr val="000000"/>
                          </a:solidFill>
                          <a:latin typeface="Calibri"/>
                        </a:rPr>
                        <a:t>Reject</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None</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Sends RST (TCP) or ICMP unreachable (UDP)</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E4002B"/>
                          </a:solidFill>
                          <a:latin typeface="Calibri"/>
                        </a:rPr>
                        <a:t>None: actively refuses traffic</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Block specific ports with proper reset</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1310" name="Text 8"/>
          <p:cNvSpPr/>
          <p:nvPr/>
        </p:nvSpPr>
        <p:spPr>
          <a:xfrm>
            <a:off x="457200" y="3474720"/>
            <a:ext cx="45716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strike="noStrike" spc="-1">
                <a:solidFill>
                  <a:srgbClr val="0E41AA"/>
                </a:solidFill>
                <a:latin typeface="Arial"/>
                <a:ea typeface="Arial"/>
              </a:rPr>
              <a:t>Standard vs Performance (L4)</a:t>
            </a:r>
            <a:endParaRPr lang="en-US" sz="1600" b="0" strike="noStrike" spc="-1">
              <a:solidFill>
                <a:srgbClr val="000000"/>
              </a:solidFill>
              <a:latin typeface="Arial"/>
            </a:endParaRPr>
          </a:p>
        </p:txBody>
      </p:sp>
      <p:sp>
        <p:nvSpPr>
          <p:cNvPr id="1311" name="Shape 9"/>
          <p:cNvSpPr/>
          <p:nvPr/>
        </p:nvSpPr>
        <p:spPr>
          <a:xfrm>
            <a:off x="457200" y="3749040"/>
            <a:ext cx="3931560" cy="868320"/>
          </a:xfrm>
          <a:prstGeom prst="rect">
            <a:avLst/>
          </a:prstGeom>
          <a:solidFill>
            <a:srgbClr val="E8F0F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312" name="Text 10"/>
          <p:cNvSpPr/>
          <p:nvPr/>
        </p:nvSpPr>
        <p:spPr>
          <a:xfrm>
            <a:off x="548640" y="3767400"/>
            <a:ext cx="37486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100" b="1" strike="noStrike" spc="-1">
                <a:solidFill>
                  <a:srgbClr val="0E41AA"/>
                </a:solidFill>
                <a:latin typeface="Calibri"/>
                <a:ea typeface="Calibri"/>
              </a:rPr>
              <a:t>Standard (full proxy)</a:t>
            </a:r>
            <a:endParaRPr lang="en-US" sz="1100" b="0" strike="noStrike" spc="-1">
              <a:solidFill>
                <a:srgbClr val="000000"/>
              </a:solidFill>
              <a:latin typeface="Arial"/>
            </a:endParaRPr>
          </a:p>
          <a:p>
            <a:pPr defTabSz="914400">
              <a:lnSpc>
                <a:spcPct val="100000"/>
              </a:lnSpc>
              <a:tabLst>
                <a:tab pos="0" algn="l"/>
              </a:tabLst>
            </a:pPr>
            <a:r>
              <a:rPr lang="en-US" sz="900" b="0" strike="noStrike" spc="-1">
                <a:solidFill>
                  <a:srgbClr val="1A3A6C"/>
                </a:solidFill>
                <a:latin typeface="Calibri"/>
                <a:ea typeface="Calibri"/>
              </a:rPr>
              <a:t>Client SYN → BIG-IP completes handshake → reads HTTP → makes LB decision → opens NEW connection to server with different seq numbers. Two fully independent TCP sessions.</a:t>
            </a:r>
            <a:endParaRPr lang="en-US" sz="900" b="0" strike="noStrike" spc="-1">
              <a:solidFill>
                <a:srgbClr val="000000"/>
              </a:solidFill>
              <a:latin typeface="Arial"/>
            </a:endParaRPr>
          </a:p>
        </p:txBody>
      </p:sp>
      <p:sp>
        <p:nvSpPr>
          <p:cNvPr id="1313" name="Shape 11"/>
          <p:cNvSpPr/>
          <p:nvPr/>
        </p:nvSpPr>
        <p:spPr>
          <a:xfrm>
            <a:off x="4663440" y="3749040"/>
            <a:ext cx="4114440" cy="868320"/>
          </a:xfrm>
          <a:prstGeom prst="rect">
            <a:avLst/>
          </a:prstGeom>
          <a:solidFill>
            <a:srgbClr val="FFF3E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314" name="Text 12"/>
          <p:cNvSpPr/>
          <p:nvPr/>
        </p:nvSpPr>
        <p:spPr>
          <a:xfrm>
            <a:off x="4754880" y="3767400"/>
            <a:ext cx="393156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100" b="1" strike="noStrike" spc="-1">
                <a:solidFill>
                  <a:srgbClr val="F29A36"/>
                </a:solidFill>
                <a:latin typeface="Calibri"/>
                <a:ea typeface="Calibri"/>
              </a:rPr>
              <a:t>Performance L4 (packet-by-packet)</a:t>
            </a:r>
            <a:endParaRPr lang="en-US" sz="1100" b="0" strike="noStrike" spc="-1">
              <a:solidFill>
                <a:srgbClr val="000000"/>
              </a:solidFill>
              <a:latin typeface="Arial"/>
            </a:endParaRPr>
          </a:p>
          <a:p>
            <a:pPr defTabSz="914400">
              <a:lnSpc>
                <a:spcPct val="100000"/>
              </a:lnSpc>
              <a:tabLst>
                <a:tab pos="0" algn="l"/>
              </a:tabLst>
            </a:pPr>
            <a:r>
              <a:rPr lang="en-US" sz="900" b="0" strike="noStrike" spc="-1">
                <a:solidFill>
                  <a:srgbClr val="7A4500"/>
                </a:solidFill>
                <a:latin typeface="Calibri"/>
                <a:ea typeface="Calibri"/>
              </a:rPr>
              <a:t>Client SYN → BIG-IP makes LB decision on FIRST packet → forwards SYN to server (with NAT). No separate handshake. Packets pass through with address translation only.</a:t>
            </a:r>
            <a:endParaRPr lang="en-US" sz="900" b="0" strike="noStrike" spc="-1">
              <a:solidFill>
                <a:srgbClr val="000000"/>
              </a:solidFill>
              <a:latin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15"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316"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317"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318"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319"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320"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57    © 2026 F5</a:t>
            </a:r>
            <a:endParaRPr lang="en-US" sz="800" b="0" strike="noStrike" spc="-1">
              <a:solidFill>
                <a:srgbClr val="000000"/>
              </a:solidFill>
              <a:latin typeface="Arial"/>
            </a:endParaRPr>
          </a:p>
        </p:txBody>
      </p:sp>
      <p:pic>
        <p:nvPicPr>
          <p:cNvPr id="1321" name="Image 0" descr="preencoded.png"/>
          <p:cNvPicPr/>
          <p:nvPr/>
        </p:nvPicPr>
        <p:blipFill>
          <a:blip r:embed="rId3"/>
          <a:stretch/>
        </p:blipFill>
        <p:spPr>
          <a:xfrm>
            <a:off x="8458200" y="4663440"/>
            <a:ext cx="383760" cy="383760"/>
          </a:xfrm>
          <a:prstGeom prst="rect">
            <a:avLst/>
          </a:prstGeom>
          <a:ln w="0">
            <a:noFill/>
          </a:ln>
        </p:spPr>
      </p:pic>
      <p:sp>
        <p:nvSpPr>
          <p:cNvPr id="1322" name="Text 6"/>
          <p:cNvSpPr/>
          <p:nvPr/>
        </p:nvSpPr>
        <p:spPr>
          <a:xfrm>
            <a:off x="457200" y="274320"/>
            <a:ext cx="82292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Packet processing order</a:t>
            </a:r>
            <a:endParaRPr lang="en-US" sz="2800" b="0" strike="noStrike" spc="-1">
              <a:solidFill>
                <a:srgbClr val="000000"/>
              </a:solidFill>
              <a:latin typeface="Arial"/>
            </a:endParaRPr>
          </a:p>
        </p:txBody>
      </p:sp>
      <p:sp>
        <p:nvSpPr>
          <p:cNvPr id="1323" name="Text 7"/>
          <p:cNvSpPr/>
          <p:nvPr/>
        </p:nvSpPr>
        <p:spPr>
          <a:xfrm>
            <a:off x="457200" y="658440"/>
            <a:ext cx="82292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strike="noStrike" spc="-1">
                <a:solidFill>
                  <a:srgbClr val="666666"/>
                </a:solidFill>
                <a:latin typeface="Calibri"/>
                <a:ea typeface="Calibri"/>
              </a:rPr>
              <a:t>The BIG-IP evaluates inbound packets in this exact priority order</a:t>
            </a:r>
            <a:endParaRPr lang="en-US" sz="1300" b="0" strike="noStrike" spc="-1">
              <a:solidFill>
                <a:srgbClr val="000000"/>
              </a:solidFill>
              <a:latin typeface="Arial"/>
            </a:endParaRPr>
          </a:p>
        </p:txBody>
      </p:sp>
      <p:sp>
        <p:nvSpPr>
          <p:cNvPr id="1324" name="Shape 8"/>
          <p:cNvSpPr/>
          <p:nvPr/>
        </p:nvSpPr>
        <p:spPr>
          <a:xfrm>
            <a:off x="457200" y="1005840"/>
            <a:ext cx="365400" cy="365400"/>
          </a:xfrm>
          <a:prstGeom prst="rect">
            <a:avLst/>
          </a:prstGeom>
          <a:solidFill>
            <a:srgbClr val="00963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325" name="Text 9"/>
          <p:cNvSpPr/>
          <p:nvPr/>
        </p:nvSpPr>
        <p:spPr>
          <a:xfrm>
            <a:off x="457200" y="1005840"/>
            <a:ext cx="3654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FFFFFF"/>
                </a:solidFill>
                <a:latin typeface="Arial"/>
                <a:ea typeface="Arial"/>
              </a:rPr>
              <a:t>1</a:t>
            </a:r>
            <a:endParaRPr lang="en-US" sz="1400" b="0" strike="noStrike" spc="-1">
              <a:solidFill>
                <a:srgbClr val="000000"/>
              </a:solidFill>
              <a:latin typeface="Arial"/>
            </a:endParaRPr>
          </a:p>
        </p:txBody>
      </p:sp>
      <p:sp>
        <p:nvSpPr>
          <p:cNvPr id="1326" name="Text 10"/>
          <p:cNvSpPr/>
          <p:nvPr/>
        </p:nvSpPr>
        <p:spPr>
          <a:xfrm>
            <a:off x="914400" y="1005840"/>
            <a:ext cx="18284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
                <a:solidFill>
                  <a:srgbClr val="009639"/>
                </a:solidFill>
                <a:latin typeface="Arial"/>
                <a:ea typeface="Arial"/>
              </a:rPr>
              <a:t>Existing connections</a:t>
            </a:r>
            <a:endParaRPr lang="en-US" sz="1200" b="0" strike="noStrike" spc="-1">
              <a:solidFill>
                <a:srgbClr val="000000"/>
              </a:solidFill>
              <a:latin typeface="Arial"/>
            </a:endParaRPr>
          </a:p>
        </p:txBody>
      </p:sp>
      <p:sp>
        <p:nvSpPr>
          <p:cNvPr id="1327" name="Text 11"/>
          <p:cNvSpPr/>
          <p:nvPr/>
        </p:nvSpPr>
        <p:spPr>
          <a:xfrm>
            <a:off x="2834640" y="1005840"/>
            <a:ext cx="59432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strike="noStrike" spc="-1">
                <a:solidFill>
                  <a:srgbClr val="333333"/>
                </a:solidFill>
                <a:latin typeface="Calibri"/>
                <a:ea typeface="Calibri"/>
              </a:rPr>
              <a:t>If the packet matches an existing connection in the connection table, it follows that connection. No further processing.</a:t>
            </a:r>
            <a:endParaRPr lang="en-US" sz="900" b="0" strike="noStrike" spc="-1">
              <a:solidFill>
                <a:srgbClr val="000000"/>
              </a:solidFill>
              <a:latin typeface="Arial"/>
            </a:endParaRPr>
          </a:p>
        </p:txBody>
      </p:sp>
      <p:sp>
        <p:nvSpPr>
          <p:cNvPr id="1328" name="Text 12"/>
          <p:cNvSpPr/>
          <p:nvPr/>
        </p:nvSpPr>
        <p:spPr>
          <a:xfrm>
            <a:off x="502920" y="1371600"/>
            <a:ext cx="27396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700" b="0" strike="noStrike" spc="-1">
                <a:solidFill>
                  <a:srgbClr val="D9D9D9"/>
                </a:solidFill>
                <a:latin typeface="Calibri"/>
              </a:rPr>
              <a:t>▼</a:t>
            </a:r>
            <a:endParaRPr lang="en-US" sz="700" b="0" strike="noStrike" spc="-1">
              <a:solidFill>
                <a:srgbClr val="000000"/>
              </a:solidFill>
              <a:latin typeface="Arial"/>
            </a:endParaRPr>
          </a:p>
        </p:txBody>
      </p:sp>
      <p:sp>
        <p:nvSpPr>
          <p:cNvPr id="1329" name="Shape 13"/>
          <p:cNvSpPr/>
          <p:nvPr/>
        </p:nvSpPr>
        <p:spPr>
          <a:xfrm>
            <a:off x="457200" y="1508760"/>
            <a:ext cx="365400" cy="36540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330" name="Text 14"/>
          <p:cNvSpPr/>
          <p:nvPr/>
        </p:nvSpPr>
        <p:spPr>
          <a:xfrm>
            <a:off x="457200" y="1508760"/>
            <a:ext cx="3654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FFFFFF"/>
                </a:solidFill>
                <a:latin typeface="Arial"/>
                <a:ea typeface="Arial"/>
              </a:rPr>
              <a:t>2</a:t>
            </a:r>
            <a:endParaRPr lang="en-US" sz="1400" b="0" strike="noStrike" spc="-1">
              <a:solidFill>
                <a:srgbClr val="000000"/>
              </a:solidFill>
              <a:latin typeface="Arial"/>
            </a:endParaRPr>
          </a:p>
        </p:txBody>
      </p:sp>
      <p:sp>
        <p:nvSpPr>
          <p:cNvPr id="1331" name="Text 15"/>
          <p:cNvSpPr/>
          <p:nvPr/>
        </p:nvSpPr>
        <p:spPr>
          <a:xfrm>
            <a:off x="914400" y="1508760"/>
            <a:ext cx="18284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
                <a:solidFill>
                  <a:srgbClr val="E4002B"/>
                </a:solidFill>
                <a:latin typeface="Arial"/>
                <a:ea typeface="Arial"/>
              </a:rPr>
              <a:t>Packet filters (AFM)</a:t>
            </a:r>
            <a:endParaRPr lang="en-US" sz="1200" b="0" strike="noStrike" spc="-1">
              <a:solidFill>
                <a:srgbClr val="000000"/>
              </a:solidFill>
              <a:latin typeface="Arial"/>
            </a:endParaRPr>
          </a:p>
        </p:txBody>
      </p:sp>
      <p:sp>
        <p:nvSpPr>
          <p:cNvPr id="1332" name="Text 16"/>
          <p:cNvSpPr/>
          <p:nvPr/>
        </p:nvSpPr>
        <p:spPr>
          <a:xfrm>
            <a:off x="2834640" y="1508760"/>
            <a:ext cx="59432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strike="noStrike" spc="-1">
                <a:solidFill>
                  <a:srgbClr val="333333"/>
                </a:solidFill>
                <a:latin typeface="Calibri"/>
                <a:ea typeface="Calibri"/>
              </a:rPr>
              <a:t>If packet filters are enabled, the packet is evaluated against filter rules. If a filter matches with Discard, the packet is dropped before reaching any VS.</a:t>
            </a:r>
            <a:endParaRPr lang="en-US" sz="900" b="0" strike="noStrike" spc="-1">
              <a:solidFill>
                <a:srgbClr val="000000"/>
              </a:solidFill>
              <a:latin typeface="Arial"/>
            </a:endParaRPr>
          </a:p>
        </p:txBody>
      </p:sp>
      <p:sp>
        <p:nvSpPr>
          <p:cNvPr id="1333" name="Text 17"/>
          <p:cNvSpPr/>
          <p:nvPr/>
        </p:nvSpPr>
        <p:spPr>
          <a:xfrm>
            <a:off x="502920" y="1874520"/>
            <a:ext cx="27396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700" b="0" strike="noStrike" spc="-1">
                <a:solidFill>
                  <a:srgbClr val="D9D9D9"/>
                </a:solidFill>
                <a:latin typeface="Calibri"/>
              </a:rPr>
              <a:t>▼</a:t>
            </a:r>
            <a:endParaRPr lang="en-US" sz="700" b="0" strike="noStrike" spc="-1">
              <a:solidFill>
                <a:srgbClr val="000000"/>
              </a:solidFill>
              <a:latin typeface="Arial"/>
            </a:endParaRPr>
          </a:p>
        </p:txBody>
      </p:sp>
      <p:sp>
        <p:nvSpPr>
          <p:cNvPr id="1334" name="Shape 18"/>
          <p:cNvSpPr/>
          <p:nvPr/>
        </p:nvSpPr>
        <p:spPr>
          <a:xfrm>
            <a:off x="457200" y="2011680"/>
            <a:ext cx="365400" cy="36540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335" name="Text 19"/>
          <p:cNvSpPr/>
          <p:nvPr/>
        </p:nvSpPr>
        <p:spPr>
          <a:xfrm>
            <a:off x="457200" y="2011680"/>
            <a:ext cx="3654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FFFFFF"/>
                </a:solidFill>
                <a:latin typeface="Arial"/>
                <a:ea typeface="Arial"/>
              </a:rPr>
              <a:t>3</a:t>
            </a:r>
            <a:endParaRPr lang="en-US" sz="1400" b="0" strike="noStrike" spc="-1">
              <a:solidFill>
                <a:srgbClr val="000000"/>
              </a:solidFill>
              <a:latin typeface="Arial"/>
            </a:endParaRPr>
          </a:p>
        </p:txBody>
      </p:sp>
      <p:sp>
        <p:nvSpPr>
          <p:cNvPr id="1336" name="Text 20"/>
          <p:cNvSpPr/>
          <p:nvPr/>
        </p:nvSpPr>
        <p:spPr>
          <a:xfrm>
            <a:off x="914400" y="2011680"/>
            <a:ext cx="18284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
                <a:solidFill>
                  <a:srgbClr val="0E41AA"/>
                </a:solidFill>
                <a:latin typeface="Arial"/>
                <a:ea typeface="Arial"/>
              </a:rPr>
              <a:t>Virtual server</a:t>
            </a:r>
            <a:endParaRPr lang="en-US" sz="1200" b="0" strike="noStrike" spc="-1">
              <a:solidFill>
                <a:srgbClr val="000000"/>
              </a:solidFill>
              <a:latin typeface="Arial"/>
            </a:endParaRPr>
          </a:p>
        </p:txBody>
      </p:sp>
      <p:sp>
        <p:nvSpPr>
          <p:cNvPr id="1337" name="Text 21"/>
          <p:cNvSpPr/>
          <p:nvPr/>
        </p:nvSpPr>
        <p:spPr>
          <a:xfrm>
            <a:off x="2834640" y="2011680"/>
            <a:ext cx="59432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strike="noStrike" spc="-1">
                <a:solidFill>
                  <a:srgbClr val="333333"/>
                </a:solidFill>
                <a:latin typeface="Calibri"/>
                <a:ea typeface="Calibri"/>
              </a:rPr>
              <a:t>The BIG-IP matches the packet against configured virtual servers using the VS matching order (most specific first). If a match is found, the VS processes the traffic.</a:t>
            </a:r>
            <a:endParaRPr lang="en-US" sz="900" b="0" strike="noStrike" spc="-1">
              <a:solidFill>
                <a:srgbClr val="000000"/>
              </a:solidFill>
              <a:latin typeface="Arial"/>
            </a:endParaRPr>
          </a:p>
        </p:txBody>
      </p:sp>
      <p:sp>
        <p:nvSpPr>
          <p:cNvPr id="1338" name="Text 22"/>
          <p:cNvSpPr/>
          <p:nvPr/>
        </p:nvSpPr>
        <p:spPr>
          <a:xfrm>
            <a:off x="502920" y="2377440"/>
            <a:ext cx="27396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700" b="0" strike="noStrike" spc="-1">
                <a:solidFill>
                  <a:srgbClr val="D9D9D9"/>
                </a:solidFill>
                <a:latin typeface="Calibri"/>
              </a:rPr>
              <a:t>▼</a:t>
            </a:r>
            <a:endParaRPr lang="en-US" sz="700" b="0" strike="noStrike" spc="-1">
              <a:solidFill>
                <a:srgbClr val="000000"/>
              </a:solidFill>
              <a:latin typeface="Arial"/>
            </a:endParaRPr>
          </a:p>
        </p:txBody>
      </p:sp>
      <p:sp>
        <p:nvSpPr>
          <p:cNvPr id="1339" name="Shape 23"/>
          <p:cNvSpPr/>
          <p:nvPr/>
        </p:nvSpPr>
        <p:spPr>
          <a:xfrm>
            <a:off x="457200" y="2514600"/>
            <a:ext cx="365400" cy="36540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340" name="Text 24"/>
          <p:cNvSpPr/>
          <p:nvPr/>
        </p:nvSpPr>
        <p:spPr>
          <a:xfrm>
            <a:off x="457200" y="2514600"/>
            <a:ext cx="3654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FFFFFF"/>
                </a:solidFill>
                <a:latin typeface="Arial"/>
                <a:ea typeface="Arial"/>
              </a:rPr>
              <a:t>4</a:t>
            </a:r>
            <a:endParaRPr lang="en-US" sz="1400" b="0" strike="noStrike" spc="-1">
              <a:solidFill>
                <a:srgbClr val="000000"/>
              </a:solidFill>
              <a:latin typeface="Arial"/>
            </a:endParaRPr>
          </a:p>
        </p:txBody>
      </p:sp>
      <p:sp>
        <p:nvSpPr>
          <p:cNvPr id="1341" name="Text 25"/>
          <p:cNvSpPr/>
          <p:nvPr/>
        </p:nvSpPr>
        <p:spPr>
          <a:xfrm>
            <a:off x="914400" y="2514600"/>
            <a:ext cx="18284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
                <a:solidFill>
                  <a:srgbClr val="61228B"/>
                </a:solidFill>
                <a:latin typeface="Arial"/>
                <a:ea typeface="Arial"/>
              </a:rPr>
              <a:t>SNAT</a:t>
            </a:r>
            <a:endParaRPr lang="en-US" sz="1200" b="0" strike="noStrike" spc="-1">
              <a:solidFill>
                <a:srgbClr val="000000"/>
              </a:solidFill>
              <a:latin typeface="Arial"/>
            </a:endParaRPr>
          </a:p>
        </p:txBody>
      </p:sp>
      <p:sp>
        <p:nvSpPr>
          <p:cNvPr id="1342" name="Text 26"/>
          <p:cNvSpPr/>
          <p:nvPr/>
        </p:nvSpPr>
        <p:spPr>
          <a:xfrm>
            <a:off x="2834640" y="2514600"/>
            <a:ext cx="59432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strike="noStrike" spc="-1">
                <a:solidFill>
                  <a:srgbClr val="333333"/>
                </a:solidFill>
                <a:latin typeface="Calibri"/>
                <a:ea typeface="Calibri"/>
              </a:rPr>
              <a:t>If no VS matches but a SNAT object matches the source address, the BIG-IP translates the source IP and forwards the packet.</a:t>
            </a:r>
            <a:endParaRPr lang="en-US" sz="900" b="0" strike="noStrike" spc="-1">
              <a:solidFill>
                <a:srgbClr val="000000"/>
              </a:solidFill>
              <a:latin typeface="Arial"/>
            </a:endParaRPr>
          </a:p>
        </p:txBody>
      </p:sp>
      <p:sp>
        <p:nvSpPr>
          <p:cNvPr id="1343" name="Text 27"/>
          <p:cNvSpPr/>
          <p:nvPr/>
        </p:nvSpPr>
        <p:spPr>
          <a:xfrm>
            <a:off x="502920" y="2880360"/>
            <a:ext cx="27396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700" b="0" strike="noStrike" spc="-1">
                <a:solidFill>
                  <a:srgbClr val="D9D9D9"/>
                </a:solidFill>
                <a:latin typeface="Calibri"/>
              </a:rPr>
              <a:t>▼</a:t>
            </a:r>
            <a:endParaRPr lang="en-US" sz="700" b="0" strike="noStrike" spc="-1">
              <a:solidFill>
                <a:srgbClr val="000000"/>
              </a:solidFill>
              <a:latin typeface="Arial"/>
            </a:endParaRPr>
          </a:p>
        </p:txBody>
      </p:sp>
      <p:sp>
        <p:nvSpPr>
          <p:cNvPr id="1344" name="Shape 28"/>
          <p:cNvSpPr/>
          <p:nvPr/>
        </p:nvSpPr>
        <p:spPr>
          <a:xfrm>
            <a:off x="457200" y="3017520"/>
            <a:ext cx="365400" cy="36540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345" name="Text 29"/>
          <p:cNvSpPr/>
          <p:nvPr/>
        </p:nvSpPr>
        <p:spPr>
          <a:xfrm>
            <a:off x="457200" y="3017520"/>
            <a:ext cx="3654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FFFFFF"/>
                </a:solidFill>
                <a:latin typeface="Arial"/>
                <a:ea typeface="Arial"/>
              </a:rPr>
              <a:t>5</a:t>
            </a:r>
            <a:endParaRPr lang="en-US" sz="1400" b="0" strike="noStrike" spc="-1">
              <a:solidFill>
                <a:srgbClr val="000000"/>
              </a:solidFill>
              <a:latin typeface="Arial"/>
            </a:endParaRPr>
          </a:p>
        </p:txBody>
      </p:sp>
      <p:sp>
        <p:nvSpPr>
          <p:cNvPr id="1346" name="Text 30"/>
          <p:cNvSpPr/>
          <p:nvPr/>
        </p:nvSpPr>
        <p:spPr>
          <a:xfrm>
            <a:off x="914400" y="3017520"/>
            <a:ext cx="18284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
                <a:solidFill>
                  <a:srgbClr val="F29A36"/>
                </a:solidFill>
                <a:latin typeface="Arial"/>
                <a:ea typeface="Arial"/>
              </a:rPr>
              <a:t>NAT</a:t>
            </a:r>
            <a:endParaRPr lang="en-US" sz="1200" b="0" strike="noStrike" spc="-1">
              <a:solidFill>
                <a:srgbClr val="000000"/>
              </a:solidFill>
              <a:latin typeface="Arial"/>
            </a:endParaRPr>
          </a:p>
        </p:txBody>
      </p:sp>
      <p:sp>
        <p:nvSpPr>
          <p:cNvPr id="1347" name="Text 31"/>
          <p:cNvSpPr/>
          <p:nvPr/>
        </p:nvSpPr>
        <p:spPr>
          <a:xfrm>
            <a:off x="2834640" y="3017520"/>
            <a:ext cx="59432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strike="noStrike" spc="-1">
                <a:solidFill>
                  <a:srgbClr val="333333"/>
                </a:solidFill>
                <a:latin typeface="Calibri"/>
                <a:ea typeface="Calibri"/>
              </a:rPr>
              <a:t>If no VS or SNAT matches but a NAT object matches, the packet is forwarded with address translation.</a:t>
            </a:r>
            <a:endParaRPr lang="en-US" sz="900" b="0" strike="noStrike" spc="-1">
              <a:solidFill>
                <a:srgbClr val="000000"/>
              </a:solidFill>
              <a:latin typeface="Arial"/>
            </a:endParaRPr>
          </a:p>
        </p:txBody>
      </p:sp>
      <p:sp>
        <p:nvSpPr>
          <p:cNvPr id="1348" name="Text 32"/>
          <p:cNvSpPr/>
          <p:nvPr/>
        </p:nvSpPr>
        <p:spPr>
          <a:xfrm>
            <a:off x="502920" y="3383280"/>
            <a:ext cx="27396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700" b="0" strike="noStrike" spc="-1">
                <a:solidFill>
                  <a:srgbClr val="D9D9D9"/>
                </a:solidFill>
                <a:latin typeface="Calibri"/>
              </a:rPr>
              <a:t>▼</a:t>
            </a:r>
            <a:endParaRPr lang="en-US" sz="700" b="0" strike="noStrike" spc="-1">
              <a:solidFill>
                <a:srgbClr val="000000"/>
              </a:solidFill>
              <a:latin typeface="Arial"/>
            </a:endParaRPr>
          </a:p>
        </p:txBody>
      </p:sp>
      <p:sp>
        <p:nvSpPr>
          <p:cNvPr id="1349" name="Shape 33"/>
          <p:cNvSpPr/>
          <p:nvPr/>
        </p:nvSpPr>
        <p:spPr>
          <a:xfrm>
            <a:off x="457200" y="3520440"/>
            <a:ext cx="365400" cy="36540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350" name="Text 34"/>
          <p:cNvSpPr/>
          <p:nvPr/>
        </p:nvSpPr>
        <p:spPr>
          <a:xfrm>
            <a:off x="457200" y="3520440"/>
            <a:ext cx="3654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FFFFFF"/>
                </a:solidFill>
                <a:latin typeface="Arial"/>
                <a:ea typeface="Arial"/>
              </a:rPr>
              <a:t>6</a:t>
            </a:r>
            <a:endParaRPr lang="en-US" sz="1400" b="0" strike="noStrike" spc="-1">
              <a:solidFill>
                <a:srgbClr val="000000"/>
              </a:solidFill>
              <a:latin typeface="Arial"/>
            </a:endParaRPr>
          </a:p>
        </p:txBody>
      </p:sp>
      <p:sp>
        <p:nvSpPr>
          <p:cNvPr id="1351" name="Text 35"/>
          <p:cNvSpPr/>
          <p:nvPr/>
        </p:nvSpPr>
        <p:spPr>
          <a:xfrm>
            <a:off x="914400" y="3520440"/>
            <a:ext cx="18284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
                <a:solidFill>
                  <a:srgbClr val="AB2782"/>
                </a:solidFill>
                <a:latin typeface="Arial"/>
                <a:ea typeface="Arial"/>
              </a:rPr>
              <a:t>Self IP</a:t>
            </a:r>
            <a:endParaRPr lang="en-US" sz="1200" b="0" strike="noStrike" spc="-1">
              <a:solidFill>
                <a:srgbClr val="000000"/>
              </a:solidFill>
              <a:latin typeface="Arial"/>
            </a:endParaRPr>
          </a:p>
        </p:txBody>
      </p:sp>
      <p:sp>
        <p:nvSpPr>
          <p:cNvPr id="1352" name="Text 36"/>
          <p:cNvSpPr/>
          <p:nvPr/>
        </p:nvSpPr>
        <p:spPr>
          <a:xfrm>
            <a:off x="2834640" y="3520440"/>
            <a:ext cx="59432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strike="noStrike" spc="-1">
                <a:solidFill>
                  <a:srgbClr val="333333"/>
                </a:solidFill>
                <a:latin typeface="Calibri"/>
                <a:ea typeface="Calibri"/>
              </a:rPr>
              <a:t>If the destination IP matches a BIG-IP self IP, TMM processes the packet locally (management, routing protocols, health monitor responses).</a:t>
            </a:r>
            <a:endParaRPr lang="en-US" sz="900" b="0" strike="noStrike" spc="-1">
              <a:solidFill>
                <a:srgbClr val="000000"/>
              </a:solidFill>
              <a:latin typeface="Arial"/>
            </a:endParaRPr>
          </a:p>
        </p:txBody>
      </p:sp>
      <p:sp>
        <p:nvSpPr>
          <p:cNvPr id="1353" name="Text 37"/>
          <p:cNvSpPr/>
          <p:nvPr/>
        </p:nvSpPr>
        <p:spPr>
          <a:xfrm>
            <a:off x="502920" y="3886200"/>
            <a:ext cx="27396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700" b="0" strike="noStrike" spc="-1">
                <a:solidFill>
                  <a:srgbClr val="D9D9D9"/>
                </a:solidFill>
                <a:latin typeface="Calibri"/>
              </a:rPr>
              <a:t>▼</a:t>
            </a:r>
            <a:endParaRPr lang="en-US" sz="700" b="0" strike="noStrike" spc="-1">
              <a:solidFill>
                <a:srgbClr val="000000"/>
              </a:solidFill>
              <a:latin typeface="Arial"/>
            </a:endParaRPr>
          </a:p>
        </p:txBody>
      </p:sp>
      <p:sp>
        <p:nvSpPr>
          <p:cNvPr id="1354" name="Shape 38"/>
          <p:cNvSpPr/>
          <p:nvPr/>
        </p:nvSpPr>
        <p:spPr>
          <a:xfrm>
            <a:off x="457200" y="4023360"/>
            <a:ext cx="365400" cy="365400"/>
          </a:xfrm>
          <a:prstGeom prst="rect">
            <a:avLst/>
          </a:prstGeom>
          <a:solidFill>
            <a:srgbClr val="33333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355" name="Text 39"/>
          <p:cNvSpPr/>
          <p:nvPr/>
        </p:nvSpPr>
        <p:spPr>
          <a:xfrm>
            <a:off x="457200" y="4023360"/>
            <a:ext cx="3654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FFFFFF"/>
                </a:solidFill>
                <a:latin typeface="Arial"/>
                <a:ea typeface="Arial"/>
              </a:rPr>
              <a:t>7</a:t>
            </a:r>
            <a:endParaRPr lang="en-US" sz="1400" b="0" strike="noStrike" spc="-1">
              <a:solidFill>
                <a:srgbClr val="000000"/>
              </a:solidFill>
              <a:latin typeface="Arial"/>
            </a:endParaRPr>
          </a:p>
        </p:txBody>
      </p:sp>
      <p:sp>
        <p:nvSpPr>
          <p:cNvPr id="1356" name="Text 40"/>
          <p:cNvSpPr/>
          <p:nvPr/>
        </p:nvSpPr>
        <p:spPr>
          <a:xfrm>
            <a:off x="914400" y="4023360"/>
            <a:ext cx="18284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
                <a:solidFill>
                  <a:srgbClr val="333333"/>
                </a:solidFill>
                <a:latin typeface="Arial"/>
                <a:ea typeface="Arial"/>
              </a:rPr>
              <a:t>Drop</a:t>
            </a:r>
            <a:endParaRPr lang="en-US" sz="1200" b="0" strike="noStrike" spc="-1">
              <a:solidFill>
                <a:srgbClr val="000000"/>
              </a:solidFill>
              <a:latin typeface="Arial"/>
            </a:endParaRPr>
          </a:p>
        </p:txBody>
      </p:sp>
      <p:sp>
        <p:nvSpPr>
          <p:cNvPr id="1357" name="Text 41"/>
          <p:cNvSpPr/>
          <p:nvPr/>
        </p:nvSpPr>
        <p:spPr>
          <a:xfrm>
            <a:off x="2834640" y="4023360"/>
            <a:ext cx="59432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strike="noStrike" spc="-1">
                <a:solidFill>
                  <a:srgbClr val="333333"/>
                </a:solidFill>
                <a:latin typeface="Calibri"/>
                <a:ea typeface="Calibri"/>
              </a:rPr>
              <a:t>If nothing matches, the packet is silently dropped. No RST, no ICMP unreachable. The packet disappears.</a:t>
            </a:r>
            <a:endParaRPr lang="en-US" sz="900" b="0" strike="noStrike" spc="-1">
              <a:solidFill>
                <a:srgbClr val="000000"/>
              </a:solidFill>
              <a:latin typeface="Arial"/>
            </a:endParaRPr>
          </a:p>
        </p:txBody>
      </p:sp>
      <p:sp>
        <p:nvSpPr>
          <p:cNvPr id="1358" name="Shape 42"/>
          <p:cNvSpPr/>
          <p:nvPr/>
        </p:nvSpPr>
        <p:spPr>
          <a:xfrm>
            <a:off x="365760" y="4572000"/>
            <a:ext cx="8412120" cy="109440"/>
          </a:xfrm>
          <a:prstGeom prst="rect">
            <a:avLst/>
          </a:prstGeom>
          <a:solidFill>
            <a:srgbClr val="FDE8E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359" name="Text 43"/>
          <p:cNvSpPr/>
          <p:nvPr/>
        </p:nvSpPr>
        <p:spPr>
          <a:xfrm>
            <a:off x="548640" y="4572000"/>
            <a:ext cx="804636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1" strike="noStrike" spc="-1">
                <a:solidFill>
                  <a:srgbClr val="E4002B"/>
                </a:solidFill>
                <a:latin typeface="Calibri"/>
                <a:ea typeface="Calibri"/>
              </a:rPr>
              <a:t>Packet filters are evaluated BEFORE virtual servers. A filter can block traffic that would otherwise match a VS.</a:t>
            </a:r>
            <a:endParaRPr lang="en-US" sz="800" b="0" strike="noStrike" spc="-1">
              <a:solidFill>
                <a:srgbClr val="000000"/>
              </a:solidFill>
              <a:latin typeface="Aria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60"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361"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362"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363"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364"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365"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58    © 2026 F5</a:t>
            </a:r>
            <a:endParaRPr lang="en-US" sz="800" b="0" strike="noStrike" spc="-1">
              <a:solidFill>
                <a:srgbClr val="000000"/>
              </a:solidFill>
              <a:latin typeface="Arial"/>
            </a:endParaRPr>
          </a:p>
        </p:txBody>
      </p:sp>
      <p:pic>
        <p:nvPicPr>
          <p:cNvPr id="1366" name="Image 0" descr="preencoded.png"/>
          <p:cNvPicPr/>
          <p:nvPr/>
        </p:nvPicPr>
        <p:blipFill>
          <a:blip r:embed="rId3"/>
          <a:stretch/>
        </p:blipFill>
        <p:spPr>
          <a:xfrm>
            <a:off x="8458200" y="4663440"/>
            <a:ext cx="383760" cy="383760"/>
          </a:xfrm>
          <a:prstGeom prst="rect">
            <a:avLst/>
          </a:prstGeom>
          <a:ln w="0">
            <a:noFill/>
          </a:ln>
        </p:spPr>
      </p:pic>
      <p:sp>
        <p:nvSpPr>
          <p:cNvPr id="1367" name="Text 6"/>
          <p:cNvSpPr/>
          <p:nvPr/>
        </p:nvSpPr>
        <p:spPr>
          <a:xfrm>
            <a:off x="457200" y="274320"/>
            <a:ext cx="82292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Virtual server matching order</a:t>
            </a:r>
            <a:endParaRPr lang="en-US" sz="2800" b="0" strike="noStrike" spc="-1">
              <a:solidFill>
                <a:srgbClr val="000000"/>
              </a:solidFill>
              <a:latin typeface="Arial"/>
            </a:endParaRPr>
          </a:p>
        </p:txBody>
      </p:sp>
      <p:sp>
        <p:nvSpPr>
          <p:cNvPr id="1368" name="Text 7"/>
          <p:cNvSpPr/>
          <p:nvPr/>
        </p:nvSpPr>
        <p:spPr>
          <a:xfrm>
            <a:off x="457200" y="658440"/>
            <a:ext cx="82292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strike="noStrike" spc="-1">
                <a:solidFill>
                  <a:srgbClr val="666666"/>
                </a:solidFill>
                <a:latin typeface="Calibri"/>
                <a:ea typeface="Calibri"/>
              </a:rPr>
              <a:t>When multiple virtual servers could match, the most specific wins</a:t>
            </a:r>
            <a:endParaRPr lang="en-US" sz="1300" b="0" strike="noStrike" spc="-1">
              <a:solidFill>
                <a:srgbClr val="000000"/>
              </a:solidFill>
              <a:latin typeface="Arial"/>
            </a:endParaRPr>
          </a:p>
        </p:txBody>
      </p:sp>
      <p:sp>
        <p:nvSpPr>
          <p:cNvPr id="1369" name="Shape 8"/>
          <p:cNvSpPr/>
          <p:nvPr/>
        </p:nvSpPr>
        <p:spPr>
          <a:xfrm>
            <a:off x="457200" y="1005840"/>
            <a:ext cx="319680" cy="34704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370" name="Text 9"/>
          <p:cNvSpPr/>
          <p:nvPr/>
        </p:nvSpPr>
        <p:spPr>
          <a:xfrm>
            <a:off x="457200" y="1005840"/>
            <a:ext cx="31968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strike="noStrike" spc="-1">
                <a:solidFill>
                  <a:srgbClr val="FFFFFF"/>
                </a:solidFill>
                <a:latin typeface="Arial"/>
                <a:ea typeface="Arial"/>
              </a:rPr>
              <a:t>1</a:t>
            </a:r>
            <a:endParaRPr lang="en-US" sz="1200" b="0" strike="noStrike" spc="-1">
              <a:solidFill>
                <a:srgbClr val="000000"/>
              </a:solidFill>
              <a:latin typeface="Arial"/>
            </a:endParaRPr>
          </a:p>
        </p:txBody>
      </p:sp>
      <p:sp>
        <p:nvSpPr>
          <p:cNvPr id="1371" name="Text 10"/>
          <p:cNvSpPr/>
          <p:nvPr/>
        </p:nvSpPr>
        <p:spPr>
          <a:xfrm>
            <a:off x="868680" y="1005840"/>
            <a:ext cx="1645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strike="noStrike" spc="-1">
                <a:solidFill>
                  <a:srgbClr val="0E41AA"/>
                </a:solidFill>
                <a:latin typeface="Arial"/>
                <a:ea typeface="Arial"/>
              </a:rPr>
              <a:t>Host + port</a:t>
            </a:r>
            <a:endParaRPr lang="en-US" sz="1100" b="0" strike="noStrike" spc="-1">
              <a:solidFill>
                <a:srgbClr val="000000"/>
              </a:solidFill>
              <a:latin typeface="Arial"/>
            </a:endParaRPr>
          </a:p>
        </p:txBody>
      </p:sp>
      <p:sp>
        <p:nvSpPr>
          <p:cNvPr id="1372" name="Text 11"/>
          <p:cNvSpPr/>
          <p:nvPr/>
        </p:nvSpPr>
        <p:spPr>
          <a:xfrm>
            <a:off x="2560320" y="1005840"/>
            <a:ext cx="13712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333333"/>
                </a:solidFill>
                <a:latin typeface="Courier New"/>
                <a:ea typeface="Courier New"/>
              </a:rPr>
              <a:t>10.1.10.100:80</a:t>
            </a:r>
            <a:endParaRPr lang="en-US" sz="1000" b="0" strike="noStrike" spc="-1">
              <a:solidFill>
                <a:srgbClr val="000000"/>
              </a:solidFill>
              <a:latin typeface="Arial"/>
            </a:endParaRPr>
          </a:p>
        </p:txBody>
      </p:sp>
      <p:sp>
        <p:nvSpPr>
          <p:cNvPr id="1373" name="Text 12"/>
          <p:cNvSpPr/>
          <p:nvPr/>
        </p:nvSpPr>
        <p:spPr>
          <a:xfrm>
            <a:off x="4023360" y="1005840"/>
            <a:ext cx="475452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strike="noStrike" spc="-1">
                <a:solidFill>
                  <a:srgbClr val="333333"/>
                </a:solidFill>
                <a:latin typeface="Calibri"/>
                <a:ea typeface="Calibri"/>
              </a:rPr>
              <a:t>Most specific: exact IP + exact port. This is a standard VS like www_vs.</a:t>
            </a:r>
            <a:endParaRPr lang="en-US" sz="900" b="0" strike="noStrike" spc="-1">
              <a:solidFill>
                <a:srgbClr val="000000"/>
              </a:solidFill>
              <a:latin typeface="Arial"/>
            </a:endParaRPr>
          </a:p>
        </p:txBody>
      </p:sp>
      <p:sp>
        <p:nvSpPr>
          <p:cNvPr id="1374" name="Shape 13"/>
          <p:cNvSpPr/>
          <p:nvPr/>
        </p:nvSpPr>
        <p:spPr>
          <a:xfrm>
            <a:off x="457200" y="1508760"/>
            <a:ext cx="319680" cy="34704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375" name="Text 14"/>
          <p:cNvSpPr/>
          <p:nvPr/>
        </p:nvSpPr>
        <p:spPr>
          <a:xfrm>
            <a:off x="457200" y="1508760"/>
            <a:ext cx="31968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strike="noStrike" spc="-1">
                <a:solidFill>
                  <a:srgbClr val="FFFFFF"/>
                </a:solidFill>
                <a:latin typeface="Arial"/>
                <a:ea typeface="Arial"/>
              </a:rPr>
              <a:t>2</a:t>
            </a:r>
            <a:endParaRPr lang="en-US" sz="1200" b="0" strike="noStrike" spc="-1">
              <a:solidFill>
                <a:srgbClr val="000000"/>
              </a:solidFill>
              <a:latin typeface="Arial"/>
            </a:endParaRPr>
          </a:p>
        </p:txBody>
      </p:sp>
      <p:sp>
        <p:nvSpPr>
          <p:cNvPr id="1376" name="Text 15"/>
          <p:cNvSpPr/>
          <p:nvPr/>
        </p:nvSpPr>
        <p:spPr>
          <a:xfrm>
            <a:off x="868680" y="1508760"/>
            <a:ext cx="1645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strike="noStrike" spc="-1">
                <a:solidFill>
                  <a:srgbClr val="61228B"/>
                </a:solidFill>
                <a:latin typeface="Arial"/>
                <a:ea typeface="Arial"/>
              </a:rPr>
              <a:t>Host + wildcard port</a:t>
            </a:r>
            <a:endParaRPr lang="en-US" sz="1100" b="0" strike="noStrike" spc="-1">
              <a:solidFill>
                <a:srgbClr val="000000"/>
              </a:solidFill>
              <a:latin typeface="Arial"/>
            </a:endParaRPr>
          </a:p>
        </p:txBody>
      </p:sp>
      <p:sp>
        <p:nvSpPr>
          <p:cNvPr id="1377" name="Text 16"/>
          <p:cNvSpPr/>
          <p:nvPr/>
        </p:nvSpPr>
        <p:spPr>
          <a:xfrm>
            <a:off x="2560320" y="1508760"/>
            <a:ext cx="13712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333333"/>
                </a:solidFill>
                <a:latin typeface="Courier New"/>
                <a:ea typeface="Courier New"/>
              </a:rPr>
              <a:t>10.1.10.100:*</a:t>
            </a:r>
            <a:endParaRPr lang="en-US" sz="1000" b="0" strike="noStrike" spc="-1">
              <a:solidFill>
                <a:srgbClr val="000000"/>
              </a:solidFill>
              <a:latin typeface="Arial"/>
            </a:endParaRPr>
          </a:p>
        </p:txBody>
      </p:sp>
      <p:sp>
        <p:nvSpPr>
          <p:cNvPr id="1378" name="Text 17"/>
          <p:cNvSpPr/>
          <p:nvPr/>
        </p:nvSpPr>
        <p:spPr>
          <a:xfrm>
            <a:off x="4023360" y="1508760"/>
            <a:ext cx="475452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strike="noStrike" spc="-1">
                <a:solidFill>
                  <a:srgbClr val="333333"/>
                </a:solidFill>
                <a:latin typeface="Calibri"/>
                <a:ea typeface="Calibri"/>
              </a:rPr>
              <a:t>Exact IP but any port. This is wildcard_vs from the lab.</a:t>
            </a:r>
            <a:endParaRPr lang="en-US" sz="900" b="0" strike="noStrike" spc="-1">
              <a:solidFill>
                <a:srgbClr val="000000"/>
              </a:solidFill>
              <a:latin typeface="Arial"/>
            </a:endParaRPr>
          </a:p>
        </p:txBody>
      </p:sp>
      <p:sp>
        <p:nvSpPr>
          <p:cNvPr id="1379" name="Shape 18"/>
          <p:cNvSpPr/>
          <p:nvPr/>
        </p:nvSpPr>
        <p:spPr>
          <a:xfrm>
            <a:off x="457200" y="2011680"/>
            <a:ext cx="319680" cy="347040"/>
          </a:xfrm>
          <a:prstGeom prst="rect">
            <a:avLst/>
          </a:prstGeom>
          <a:solidFill>
            <a:srgbClr val="00963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380" name="Text 19"/>
          <p:cNvSpPr/>
          <p:nvPr/>
        </p:nvSpPr>
        <p:spPr>
          <a:xfrm>
            <a:off x="457200" y="2011680"/>
            <a:ext cx="31968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strike="noStrike" spc="-1">
                <a:solidFill>
                  <a:srgbClr val="FFFFFF"/>
                </a:solidFill>
                <a:latin typeface="Arial"/>
                <a:ea typeface="Arial"/>
              </a:rPr>
              <a:t>3</a:t>
            </a:r>
            <a:endParaRPr lang="en-US" sz="1200" b="0" strike="noStrike" spc="-1">
              <a:solidFill>
                <a:srgbClr val="000000"/>
              </a:solidFill>
              <a:latin typeface="Arial"/>
            </a:endParaRPr>
          </a:p>
        </p:txBody>
      </p:sp>
      <p:sp>
        <p:nvSpPr>
          <p:cNvPr id="1381" name="Text 20"/>
          <p:cNvSpPr/>
          <p:nvPr/>
        </p:nvSpPr>
        <p:spPr>
          <a:xfrm>
            <a:off x="868680" y="2011680"/>
            <a:ext cx="1645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strike="noStrike" spc="-1">
                <a:solidFill>
                  <a:srgbClr val="009639"/>
                </a:solidFill>
                <a:latin typeface="Arial"/>
                <a:ea typeface="Arial"/>
              </a:rPr>
              <a:t>Network + port</a:t>
            </a:r>
            <a:endParaRPr lang="en-US" sz="1100" b="0" strike="noStrike" spc="-1">
              <a:solidFill>
                <a:srgbClr val="000000"/>
              </a:solidFill>
              <a:latin typeface="Arial"/>
            </a:endParaRPr>
          </a:p>
        </p:txBody>
      </p:sp>
      <p:sp>
        <p:nvSpPr>
          <p:cNvPr id="1382" name="Text 21"/>
          <p:cNvSpPr/>
          <p:nvPr/>
        </p:nvSpPr>
        <p:spPr>
          <a:xfrm>
            <a:off x="2560320" y="2011680"/>
            <a:ext cx="13712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333333"/>
                </a:solidFill>
                <a:latin typeface="Courier New"/>
                <a:ea typeface="Courier New"/>
              </a:rPr>
              <a:t>10.1.10.0/24:80</a:t>
            </a:r>
            <a:endParaRPr lang="en-US" sz="1000" b="0" strike="noStrike" spc="-1">
              <a:solidFill>
                <a:srgbClr val="000000"/>
              </a:solidFill>
              <a:latin typeface="Arial"/>
            </a:endParaRPr>
          </a:p>
        </p:txBody>
      </p:sp>
      <p:sp>
        <p:nvSpPr>
          <p:cNvPr id="1383" name="Text 22"/>
          <p:cNvSpPr/>
          <p:nvPr/>
        </p:nvSpPr>
        <p:spPr>
          <a:xfrm>
            <a:off x="4023360" y="2011680"/>
            <a:ext cx="475452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strike="noStrike" spc="-1">
                <a:solidFill>
                  <a:srgbClr val="333333"/>
                </a:solidFill>
                <a:latin typeface="Calibri"/>
                <a:ea typeface="Calibri"/>
              </a:rPr>
              <a:t>Subnet match + exact port. Matches any IP in the subnet on that port.</a:t>
            </a:r>
            <a:endParaRPr lang="en-US" sz="900" b="0" strike="noStrike" spc="-1">
              <a:solidFill>
                <a:srgbClr val="000000"/>
              </a:solidFill>
              <a:latin typeface="Arial"/>
            </a:endParaRPr>
          </a:p>
        </p:txBody>
      </p:sp>
      <p:sp>
        <p:nvSpPr>
          <p:cNvPr id="1384" name="Shape 23"/>
          <p:cNvSpPr/>
          <p:nvPr/>
        </p:nvSpPr>
        <p:spPr>
          <a:xfrm>
            <a:off x="457200" y="2514600"/>
            <a:ext cx="319680" cy="34704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385" name="Text 24"/>
          <p:cNvSpPr/>
          <p:nvPr/>
        </p:nvSpPr>
        <p:spPr>
          <a:xfrm>
            <a:off x="457200" y="2514600"/>
            <a:ext cx="31968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strike="noStrike" spc="-1">
                <a:solidFill>
                  <a:srgbClr val="FFFFFF"/>
                </a:solidFill>
                <a:latin typeface="Arial"/>
                <a:ea typeface="Arial"/>
              </a:rPr>
              <a:t>4</a:t>
            </a:r>
            <a:endParaRPr lang="en-US" sz="1200" b="0" strike="noStrike" spc="-1">
              <a:solidFill>
                <a:srgbClr val="000000"/>
              </a:solidFill>
              <a:latin typeface="Arial"/>
            </a:endParaRPr>
          </a:p>
        </p:txBody>
      </p:sp>
      <p:sp>
        <p:nvSpPr>
          <p:cNvPr id="1386" name="Text 25"/>
          <p:cNvSpPr/>
          <p:nvPr/>
        </p:nvSpPr>
        <p:spPr>
          <a:xfrm>
            <a:off x="868680" y="2514600"/>
            <a:ext cx="1645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strike="noStrike" spc="-1">
                <a:solidFill>
                  <a:srgbClr val="F29A36"/>
                </a:solidFill>
                <a:latin typeface="Arial"/>
                <a:ea typeface="Arial"/>
              </a:rPr>
              <a:t>Network + wildcard port</a:t>
            </a:r>
            <a:endParaRPr lang="en-US" sz="1100" b="0" strike="noStrike" spc="-1">
              <a:solidFill>
                <a:srgbClr val="000000"/>
              </a:solidFill>
              <a:latin typeface="Arial"/>
            </a:endParaRPr>
          </a:p>
        </p:txBody>
      </p:sp>
      <p:sp>
        <p:nvSpPr>
          <p:cNvPr id="1387" name="Text 26"/>
          <p:cNvSpPr/>
          <p:nvPr/>
        </p:nvSpPr>
        <p:spPr>
          <a:xfrm>
            <a:off x="2560320" y="2514600"/>
            <a:ext cx="13712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333333"/>
                </a:solidFill>
                <a:latin typeface="Courier New"/>
                <a:ea typeface="Courier New"/>
              </a:rPr>
              <a:t>10.1.10.0/24:*</a:t>
            </a:r>
            <a:endParaRPr lang="en-US" sz="1000" b="0" strike="noStrike" spc="-1">
              <a:solidFill>
                <a:srgbClr val="000000"/>
              </a:solidFill>
              <a:latin typeface="Arial"/>
            </a:endParaRPr>
          </a:p>
        </p:txBody>
      </p:sp>
      <p:sp>
        <p:nvSpPr>
          <p:cNvPr id="1388" name="Text 27"/>
          <p:cNvSpPr/>
          <p:nvPr/>
        </p:nvSpPr>
        <p:spPr>
          <a:xfrm>
            <a:off x="4023360" y="2514600"/>
            <a:ext cx="475452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strike="noStrike" spc="-1">
                <a:solidFill>
                  <a:srgbClr val="333333"/>
                </a:solidFill>
                <a:latin typeface="Calibri"/>
                <a:ea typeface="Calibri"/>
              </a:rPr>
              <a:t>Subnet match + any port. Broadest network-specific match.</a:t>
            </a:r>
            <a:endParaRPr lang="en-US" sz="900" b="0" strike="noStrike" spc="-1">
              <a:solidFill>
                <a:srgbClr val="000000"/>
              </a:solidFill>
              <a:latin typeface="Arial"/>
            </a:endParaRPr>
          </a:p>
        </p:txBody>
      </p:sp>
      <p:sp>
        <p:nvSpPr>
          <p:cNvPr id="1389" name="Shape 28"/>
          <p:cNvSpPr/>
          <p:nvPr/>
        </p:nvSpPr>
        <p:spPr>
          <a:xfrm>
            <a:off x="457200" y="3017520"/>
            <a:ext cx="319680" cy="34704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390" name="Text 29"/>
          <p:cNvSpPr/>
          <p:nvPr/>
        </p:nvSpPr>
        <p:spPr>
          <a:xfrm>
            <a:off x="457200" y="3017520"/>
            <a:ext cx="31968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strike="noStrike" spc="-1">
                <a:solidFill>
                  <a:srgbClr val="FFFFFF"/>
                </a:solidFill>
                <a:latin typeface="Arial"/>
                <a:ea typeface="Arial"/>
              </a:rPr>
              <a:t>5</a:t>
            </a:r>
            <a:endParaRPr lang="en-US" sz="1200" b="0" strike="noStrike" spc="-1">
              <a:solidFill>
                <a:srgbClr val="000000"/>
              </a:solidFill>
              <a:latin typeface="Arial"/>
            </a:endParaRPr>
          </a:p>
        </p:txBody>
      </p:sp>
      <p:sp>
        <p:nvSpPr>
          <p:cNvPr id="1391" name="Text 30"/>
          <p:cNvSpPr/>
          <p:nvPr/>
        </p:nvSpPr>
        <p:spPr>
          <a:xfrm>
            <a:off x="868680" y="3017520"/>
            <a:ext cx="1645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strike="noStrike" spc="-1">
                <a:solidFill>
                  <a:srgbClr val="AB2782"/>
                </a:solidFill>
                <a:latin typeface="Arial"/>
                <a:ea typeface="Arial"/>
              </a:rPr>
              <a:t>Wildcard + port</a:t>
            </a:r>
            <a:endParaRPr lang="en-US" sz="1100" b="0" strike="noStrike" spc="-1">
              <a:solidFill>
                <a:srgbClr val="000000"/>
              </a:solidFill>
              <a:latin typeface="Arial"/>
            </a:endParaRPr>
          </a:p>
        </p:txBody>
      </p:sp>
      <p:sp>
        <p:nvSpPr>
          <p:cNvPr id="1392" name="Text 31"/>
          <p:cNvSpPr/>
          <p:nvPr/>
        </p:nvSpPr>
        <p:spPr>
          <a:xfrm>
            <a:off x="2560320" y="3017520"/>
            <a:ext cx="13712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333333"/>
                </a:solidFill>
                <a:latin typeface="Courier New"/>
                <a:ea typeface="Courier New"/>
              </a:rPr>
              <a:t>0.0.0.0/0:80</a:t>
            </a:r>
            <a:endParaRPr lang="en-US" sz="1000" b="0" strike="noStrike" spc="-1">
              <a:solidFill>
                <a:srgbClr val="000000"/>
              </a:solidFill>
              <a:latin typeface="Arial"/>
            </a:endParaRPr>
          </a:p>
        </p:txBody>
      </p:sp>
      <p:sp>
        <p:nvSpPr>
          <p:cNvPr id="1393" name="Text 32"/>
          <p:cNvSpPr/>
          <p:nvPr/>
        </p:nvSpPr>
        <p:spPr>
          <a:xfrm>
            <a:off x="4023360" y="3017520"/>
            <a:ext cx="475452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strike="noStrike" spc="-1">
                <a:solidFill>
                  <a:srgbClr val="333333"/>
                </a:solidFill>
                <a:latin typeface="Calibri"/>
                <a:ea typeface="Calibri"/>
              </a:rPr>
              <a:t>Any IP + exact port. Catches all port 80 traffic not matched above.</a:t>
            </a:r>
            <a:endParaRPr lang="en-US" sz="900" b="0" strike="noStrike" spc="-1">
              <a:solidFill>
                <a:srgbClr val="000000"/>
              </a:solidFill>
              <a:latin typeface="Arial"/>
            </a:endParaRPr>
          </a:p>
        </p:txBody>
      </p:sp>
      <p:sp>
        <p:nvSpPr>
          <p:cNvPr id="1394" name="Shape 33"/>
          <p:cNvSpPr/>
          <p:nvPr/>
        </p:nvSpPr>
        <p:spPr>
          <a:xfrm>
            <a:off x="457200" y="3520440"/>
            <a:ext cx="319680" cy="347040"/>
          </a:xfrm>
          <a:prstGeom prst="rect">
            <a:avLst/>
          </a:prstGeom>
          <a:solidFill>
            <a:srgbClr val="33333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395" name="Text 34"/>
          <p:cNvSpPr/>
          <p:nvPr/>
        </p:nvSpPr>
        <p:spPr>
          <a:xfrm>
            <a:off x="457200" y="3520440"/>
            <a:ext cx="31968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strike="noStrike" spc="-1">
                <a:solidFill>
                  <a:srgbClr val="FFFFFF"/>
                </a:solidFill>
                <a:latin typeface="Arial"/>
                <a:ea typeface="Arial"/>
              </a:rPr>
              <a:t>6</a:t>
            </a:r>
            <a:endParaRPr lang="en-US" sz="1200" b="0" strike="noStrike" spc="-1">
              <a:solidFill>
                <a:srgbClr val="000000"/>
              </a:solidFill>
              <a:latin typeface="Arial"/>
            </a:endParaRPr>
          </a:p>
        </p:txBody>
      </p:sp>
      <p:sp>
        <p:nvSpPr>
          <p:cNvPr id="1396" name="Text 35"/>
          <p:cNvSpPr/>
          <p:nvPr/>
        </p:nvSpPr>
        <p:spPr>
          <a:xfrm>
            <a:off x="868680" y="3520440"/>
            <a:ext cx="1645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strike="noStrike" spc="-1">
                <a:solidFill>
                  <a:srgbClr val="333333"/>
                </a:solidFill>
                <a:latin typeface="Arial"/>
                <a:ea typeface="Arial"/>
              </a:rPr>
              <a:t>Wildcard + wildcard</a:t>
            </a:r>
            <a:endParaRPr lang="en-US" sz="1100" b="0" strike="noStrike" spc="-1">
              <a:solidFill>
                <a:srgbClr val="000000"/>
              </a:solidFill>
              <a:latin typeface="Arial"/>
            </a:endParaRPr>
          </a:p>
        </p:txBody>
      </p:sp>
      <p:sp>
        <p:nvSpPr>
          <p:cNvPr id="1397" name="Text 36"/>
          <p:cNvSpPr/>
          <p:nvPr/>
        </p:nvSpPr>
        <p:spPr>
          <a:xfrm>
            <a:off x="2560320" y="3520440"/>
            <a:ext cx="13712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333333"/>
                </a:solidFill>
                <a:latin typeface="Courier New"/>
                <a:ea typeface="Courier New"/>
              </a:rPr>
              <a:t>0.0.0.0/0:*</a:t>
            </a:r>
            <a:endParaRPr lang="en-US" sz="1000" b="0" strike="noStrike" spc="-1">
              <a:solidFill>
                <a:srgbClr val="000000"/>
              </a:solidFill>
              <a:latin typeface="Arial"/>
            </a:endParaRPr>
          </a:p>
        </p:txBody>
      </p:sp>
      <p:sp>
        <p:nvSpPr>
          <p:cNvPr id="1398" name="Text 37"/>
          <p:cNvSpPr/>
          <p:nvPr/>
        </p:nvSpPr>
        <p:spPr>
          <a:xfrm>
            <a:off x="4023360" y="3520440"/>
            <a:ext cx="475452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strike="noStrike" spc="-1">
                <a:solidFill>
                  <a:srgbClr val="333333"/>
                </a:solidFill>
                <a:latin typeface="Calibri"/>
                <a:ea typeface="Calibri"/>
              </a:rPr>
              <a:t>Least specific: any IP, any port. Catches everything not matched above.</a:t>
            </a:r>
            <a:endParaRPr lang="en-US" sz="900" b="0" strike="noStrike" spc="-1">
              <a:solidFill>
                <a:srgbClr val="000000"/>
              </a:solidFill>
              <a:latin typeface="Arial"/>
            </a:endParaRPr>
          </a:p>
        </p:txBody>
      </p:sp>
      <p:sp>
        <p:nvSpPr>
          <p:cNvPr id="1399" name="Shape 38"/>
          <p:cNvSpPr/>
          <p:nvPr/>
        </p:nvSpPr>
        <p:spPr>
          <a:xfrm>
            <a:off x="365760" y="4114800"/>
            <a:ext cx="8412120" cy="502560"/>
          </a:xfrm>
          <a:prstGeom prst="rect">
            <a:avLst/>
          </a:prstGeom>
          <a:solidFill>
            <a:srgbClr val="E8F0F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400" name="Text 39"/>
          <p:cNvSpPr/>
          <p:nvPr/>
        </p:nvSpPr>
        <p:spPr>
          <a:xfrm>
            <a:off x="548640" y="4133160"/>
            <a:ext cx="804636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strike="noStrike" spc="-1">
                <a:solidFill>
                  <a:srgbClr val="0E41AA"/>
                </a:solidFill>
                <a:latin typeface="Calibri"/>
                <a:ea typeface="Calibri"/>
              </a:rPr>
              <a:t>Source address tiebreaker: </a:t>
            </a:r>
            <a:r>
              <a:rPr lang="en-US" sz="900" b="0" strike="noStrike" spc="-1">
                <a:solidFill>
                  <a:srgbClr val="1A3A6C"/>
                </a:solidFill>
                <a:latin typeface="Calibri"/>
                <a:ea typeface="Calibri"/>
              </a:rPr>
              <a:t>If two VS have the same destination specificity, the one with a more specific Source address wins. Example: VS-A allows 10.1.10.0/24, VS-B allows 0.0.0.0/0. A client from 10.1.10.199 matches VS-A because /24 is more specific than /0. This is tested in Lab Activity 3.</a:t>
            </a:r>
            <a:endParaRPr lang="en-US" sz="900" b="0" strike="noStrike" spc="-1">
              <a:solidFill>
                <a:srgbClr val="000000"/>
              </a:solidFill>
              <a:latin typeface="Aria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01"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402"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403"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404"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405"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406"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59    © 2026 F5</a:t>
            </a:r>
            <a:endParaRPr lang="en-US" sz="800" b="0" strike="noStrike" spc="-1">
              <a:solidFill>
                <a:srgbClr val="000000"/>
              </a:solidFill>
              <a:latin typeface="Arial"/>
            </a:endParaRPr>
          </a:p>
        </p:txBody>
      </p:sp>
      <p:pic>
        <p:nvPicPr>
          <p:cNvPr id="1407" name="Image 0" descr="preencoded.png"/>
          <p:cNvPicPr/>
          <p:nvPr/>
        </p:nvPicPr>
        <p:blipFill>
          <a:blip r:embed="rId3"/>
          <a:stretch/>
        </p:blipFill>
        <p:spPr>
          <a:xfrm>
            <a:off x="8458200" y="4663440"/>
            <a:ext cx="383760" cy="383760"/>
          </a:xfrm>
          <a:prstGeom prst="rect">
            <a:avLst/>
          </a:prstGeom>
          <a:ln w="0">
            <a:noFill/>
          </a:ln>
        </p:spPr>
      </p:pic>
      <p:sp>
        <p:nvSpPr>
          <p:cNvPr id="1408" name="Text 6"/>
          <p:cNvSpPr/>
          <p:nvPr/>
        </p:nvSpPr>
        <p:spPr>
          <a:xfrm>
            <a:off x="457200" y="274320"/>
            <a:ext cx="82292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Packet-based vs connection-based</a:t>
            </a:r>
            <a:endParaRPr lang="en-US" sz="2800" b="0" strike="noStrike" spc="-1">
              <a:solidFill>
                <a:srgbClr val="000000"/>
              </a:solidFill>
              <a:latin typeface="Arial"/>
            </a:endParaRPr>
          </a:p>
        </p:txBody>
      </p:sp>
      <p:sp>
        <p:nvSpPr>
          <p:cNvPr id="1409" name="Text 7"/>
          <p:cNvSpPr/>
          <p:nvPr/>
        </p:nvSpPr>
        <p:spPr>
          <a:xfrm>
            <a:off x="457200" y="658440"/>
            <a:ext cx="82292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strike="noStrike" spc="-1">
                <a:solidFill>
                  <a:srgbClr val="666666"/>
                </a:solidFill>
                <a:latin typeface="Calibri"/>
                <a:ea typeface="Calibri"/>
              </a:rPr>
              <a:t>Two fundamentally different approaches to processing traffic through the BIG-IP</a:t>
            </a:r>
            <a:endParaRPr lang="en-US" sz="1300" b="0" strike="noStrike" spc="-1">
              <a:solidFill>
                <a:srgbClr val="000000"/>
              </a:solidFill>
              <a:latin typeface="Arial"/>
            </a:endParaRPr>
          </a:p>
        </p:txBody>
      </p:sp>
      <p:sp>
        <p:nvSpPr>
          <p:cNvPr id="1410" name="Shape 8"/>
          <p:cNvSpPr/>
          <p:nvPr/>
        </p:nvSpPr>
        <p:spPr>
          <a:xfrm>
            <a:off x="365760" y="1051560"/>
            <a:ext cx="3931560" cy="4111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411" name="Text 9"/>
          <p:cNvSpPr/>
          <p:nvPr/>
        </p:nvSpPr>
        <p:spPr>
          <a:xfrm>
            <a:off x="365760" y="1051560"/>
            <a:ext cx="39315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FFFFFF"/>
                </a:solidFill>
                <a:latin typeface="Arial"/>
                <a:ea typeface="Arial"/>
              </a:rPr>
              <a:t>Packet-based (Performance L4)</a:t>
            </a:r>
            <a:endParaRPr lang="en-US" sz="1400" b="0" strike="noStrike" spc="-1">
              <a:solidFill>
                <a:srgbClr val="000000"/>
              </a:solidFill>
              <a:latin typeface="Arial"/>
            </a:endParaRPr>
          </a:p>
        </p:txBody>
      </p:sp>
      <p:sp>
        <p:nvSpPr>
          <p:cNvPr id="1412" name="Shape 10"/>
          <p:cNvSpPr/>
          <p:nvPr/>
        </p:nvSpPr>
        <p:spPr>
          <a:xfrm>
            <a:off x="365760" y="1463040"/>
            <a:ext cx="3931560" cy="255996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413" name="Text 11"/>
          <p:cNvSpPr/>
          <p:nvPr/>
        </p:nvSpPr>
        <p:spPr>
          <a:xfrm>
            <a:off x="457200" y="1508760"/>
            <a:ext cx="3748680" cy="2468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100" b="1" strike="noStrike" spc="-1">
                <a:solidFill>
                  <a:srgbClr val="F29A36"/>
                </a:solidFill>
                <a:latin typeface="Calibri"/>
                <a:ea typeface="Calibri"/>
              </a:rPr>
              <a:t>How it works</a:t>
            </a:r>
            <a:endParaRPr lang="en-US" sz="1100" b="0" strike="noStrike" spc="-1">
              <a:solidFill>
                <a:srgbClr val="000000"/>
              </a:solidFill>
              <a:latin typeface="Arial"/>
            </a:endParaRPr>
          </a:p>
          <a:p>
            <a:pPr defTabSz="914400">
              <a:lnSpc>
                <a:spcPct val="100000"/>
              </a:lnSpc>
              <a:tabLst>
                <a:tab pos="0" algn="l"/>
              </a:tabLst>
            </a:pPr>
            <a:r>
              <a:rPr lang="en-US" sz="900" b="0" strike="noStrike" spc="-1">
                <a:solidFill>
                  <a:srgbClr val="333333"/>
                </a:solidFill>
                <a:latin typeface="Calibri"/>
                <a:ea typeface="Calibri"/>
              </a:rPr>
              <a:t>Each packet is processed independently. LB decision made on FIRST packet (SYN). Subsequent packets forwarded with address translation. No TCP reassembly, no L7 inspection.</a:t>
            </a:r>
            <a:endParaRPr lang="en-US" sz="900" b="0" strike="noStrike" spc="-1">
              <a:solidFill>
                <a:srgbClr val="000000"/>
              </a:solidFill>
              <a:latin typeface="Arial"/>
            </a:endParaRPr>
          </a:p>
          <a:p>
            <a:pPr defTabSz="914400">
              <a:lnSpc>
                <a:spcPct val="100000"/>
              </a:lnSpc>
              <a:tabLst>
                <a:tab pos="0" algn="l"/>
              </a:tabLst>
            </a:pPr>
            <a:endParaRPr lang="en-US" sz="1100" b="0" strike="noStrike" spc="-1">
              <a:solidFill>
                <a:srgbClr val="000000"/>
              </a:solidFill>
              <a:latin typeface="Arial"/>
            </a:endParaRPr>
          </a:p>
          <a:p>
            <a:pPr defTabSz="914400">
              <a:lnSpc>
                <a:spcPct val="100000"/>
              </a:lnSpc>
              <a:tabLst>
                <a:tab pos="0" algn="l"/>
              </a:tabLst>
            </a:pPr>
            <a:r>
              <a:rPr lang="en-US" sz="1100" b="1" strike="noStrike" spc="-1">
                <a:solidFill>
                  <a:srgbClr val="009639"/>
                </a:solidFill>
                <a:latin typeface="Calibri"/>
                <a:ea typeface="Calibri"/>
              </a:rPr>
              <a:t>Advantages</a:t>
            </a:r>
            <a:endParaRPr lang="en-US" sz="1100" b="0" strike="noStrike" spc="-1">
              <a:solidFill>
                <a:srgbClr val="000000"/>
              </a:solidFill>
              <a:latin typeface="Arial"/>
            </a:endParaRPr>
          </a:p>
          <a:p>
            <a:pPr defTabSz="914400">
              <a:lnSpc>
                <a:spcPct val="100000"/>
              </a:lnSpc>
              <a:tabLst>
                <a:tab pos="0" algn="l"/>
              </a:tabLst>
            </a:pPr>
            <a:r>
              <a:rPr lang="en-US" sz="900" b="0" strike="noStrike" spc="-1">
                <a:solidFill>
                  <a:srgbClr val="333333"/>
                </a:solidFill>
                <a:latin typeface="Calibri"/>
                <a:ea typeface="Calibri"/>
              </a:rPr>
              <a:t>• Highest throughput, lowest latency</a:t>
            </a:r>
            <a:endParaRPr lang="en-US" sz="900" b="0" strike="noStrike" spc="-1">
              <a:solidFill>
                <a:srgbClr val="000000"/>
              </a:solidFill>
              <a:latin typeface="Arial"/>
            </a:endParaRPr>
          </a:p>
          <a:p>
            <a:pPr defTabSz="914400">
              <a:lnSpc>
                <a:spcPct val="100000"/>
              </a:lnSpc>
              <a:tabLst>
                <a:tab pos="0" algn="l"/>
              </a:tabLst>
            </a:pPr>
            <a:r>
              <a:rPr lang="en-US" sz="900" b="0" strike="noStrike" spc="-1">
                <a:solidFill>
                  <a:srgbClr val="333333"/>
                </a:solidFill>
                <a:latin typeface="Calibri"/>
                <a:ea typeface="Calibri"/>
              </a:rPr>
              <a:t>• PVA hardware acceleration (applicable platforms)</a:t>
            </a:r>
            <a:endParaRPr lang="en-US" sz="900" b="0" strike="noStrike" spc="-1">
              <a:solidFill>
                <a:srgbClr val="000000"/>
              </a:solidFill>
              <a:latin typeface="Arial"/>
            </a:endParaRPr>
          </a:p>
          <a:p>
            <a:pPr defTabSz="914400">
              <a:lnSpc>
                <a:spcPct val="100000"/>
              </a:lnSpc>
              <a:tabLst>
                <a:tab pos="0" algn="l"/>
              </a:tabLst>
            </a:pPr>
            <a:r>
              <a:rPr lang="en-US" sz="900" b="0" strike="noStrike" spc="-1">
                <a:solidFill>
                  <a:srgbClr val="333333"/>
                </a:solidFill>
                <a:latin typeface="Calibri"/>
                <a:ea typeface="Calibri"/>
              </a:rPr>
              <a:t>• Minimal CPU per connection</a:t>
            </a:r>
            <a:endParaRPr lang="en-US" sz="900" b="0" strike="noStrike" spc="-1">
              <a:solidFill>
                <a:srgbClr val="000000"/>
              </a:solidFill>
              <a:latin typeface="Arial"/>
            </a:endParaRPr>
          </a:p>
          <a:p>
            <a:pPr defTabSz="914400">
              <a:lnSpc>
                <a:spcPct val="100000"/>
              </a:lnSpc>
              <a:tabLst>
                <a:tab pos="0" algn="l"/>
              </a:tabLst>
            </a:pPr>
            <a:r>
              <a:rPr lang="en-US" sz="900" b="0" strike="noStrike" spc="-1">
                <a:solidFill>
                  <a:srgbClr val="333333"/>
                </a:solidFill>
                <a:latin typeface="Calibri"/>
                <a:ea typeface="Calibri"/>
              </a:rPr>
              <a:t>• Supports loose initiation (mid-flow pickup)</a:t>
            </a:r>
            <a:endParaRPr lang="en-US" sz="900" b="0" strike="noStrike" spc="-1">
              <a:solidFill>
                <a:srgbClr val="000000"/>
              </a:solidFill>
              <a:latin typeface="Arial"/>
            </a:endParaRPr>
          </a:p>
          <a:p>
            <a:pPr defTabSz="914400">
              <a:lnSpc>
                <a:spcPct val="100000"/>
              </a:lnSpc>
              <a:tabLst>
                <a:tab pos="0" algn="l"/>
              </a:tabLst>
            </a:pPr>
            <a:endParaRPr lang="en-US" sz="1100" b="0" strike="noStrike" spc="-1">
              <a:solidFill>
                <a:srgbClr val="000000"/>
              </a:solidFill>
              <a:latin typeface="Arial"/>
            </a:endParaRPr>
          </a:p>
          <a:p>
            <a:pPr defTabSz="914400">
              <a:lnSpc>
                <a:spcPct val="100000"/>
              </a:lnSpc>
              <a:tabLst>
                <a:tab pos="0" algn="l"/>
              </a:tabLst>
            </a:pPr>
            <a:r>
              <a:rPr lang="en-US" sz="1100" b="1" strike="noStrike" spc="-1">
                <a:solidFill>
                  <a:srgbClr val="E4002B"/>
                </a:solidFill>
                <a:latin typeface="Calibri"/>
                <a:ea typeface="Calibri"/>
              </a:rPr>
              <a:t>Limitations</a:t>
            </a:r>
            <a:endParaRPr lang="en-US" sz="1100" b="0" strike="noStrike" spc="-1">
              <a:solidFill>
                <a:srgbClr val="000000"/>
              </a:solidFill>
              <a:latin typeface="Arial"/>
            </a:endParaRPr>
          </a:p>
          <a:p>
            <a:pPr defTabSz="914400">
              <a:lnSpc>
                <a:spcPct val="100000"/>
              </a:lnSpc>
              <a:tabLst>
                <a:tab pos="0" algn="l"/>
              </a:tabLst>
            </a:pPr>
            <a:r>
              <a:rPr lang="en-US" sz="900" b="0" strike="noStrike" spc="-1">
                <a:solidFill>
                  <a:srgbClr val="333333"/>
                </a:solidFill>
                <a:latin typeface="Calibri"/>
                <a:ea typeface="Calibri"/>
              </a:rPr>
              <a:t>• No HTTP inspection or modification</a:t>
            </a:r>
            <a:endParaRPr lang="en-US" sz="900" b="0" strike="noStrike" spc="-1">
              <a:solidFill>
                <a:srgbClr val="000000"/>
              </a:solidFill>
              <a:latin typeface="Arial"/>
            </a:endParaRPr>
          </a:p>
          <a:p>
            <a:pPr defTabSz="914400">
              <a:lnSpc>
                <a:spcPct val="100000"/>
              </a:lnSpc>
              <a:tabLst>
                <a:tab pos="0" algn="l"/>
              </a:tabLst>
            </a:pPr>
            <a:r>
              <a:rPr lang="en-US" sz="900" b="0" strike="noStrike" spc="-1">
                <a:solidFill>
                  <a:srgbClr val="333333"/>
                </a:solidFill>
                <a:latin typeface="Calibri"/>
                <a:ea typeface="Calibri"/>
              </a:rPr>
              <a:t>• No SSL termination</a:t>
            </a:r>
            <a:endParaRPr lang="en-US" sz="900" b="0" strike="noStrike" spc="-1">
              <a:solidFill>
                <a:srgbClr val="000000"/>
              </a:solidFill>
              <a:latin typeface="Arial"/>
            </a:endParaRPr>
          </a:p>
          <a:p>
            <a:pPr defTabSz="914400">
              <a:lnSpc>
                <a:spcPct val="100000"/>
              </a:lnSpc>
              <a:tabLst>
                <a:tab pos="0" algn="l"/>
              </a:tabLst>
            </a:pPr>
            <a:r>
              <a:rPr lang="en-US" sz="900" b="0" strike="noStrike" spc="-1">
                <a:solidFill>
                  <a:srgbClr val="333333"/>
                </a:solidFill>
                <a:latin typeface="Calibri"/>
                <a:ea typeface="Calibri"/>
              </a:rPr>
              <a:t>• No cookie persistence</a:t>
            </a:r>
            <a:endParaRPr lang="en-US" sz="900" b="0" strike="noStrike" spc="-1">
              <a:solidFill>
                <a:srgbClr val="000000"/>
              </a:solidFill>
              <a:latin typeface="Arial"/>
            </a:endParaRPr>
          </a:p>
          <a:p>
            <a:pPr defTabSz="914400">
              <a:lnSpc>
                <a:spcPct val="100000"/>
              </a:lnSpc>
              <a:tabLst>
                <a:tab pos="0" algn="l"/>
              </a:tabLst>
            </a:pPr>
            <a:r>
              <a:rPr lang="en-US" sz="900" b="0" strike="noStrike" spc="-1">
                <a:solidFill>
                  <a:srgbClr val="333333"/>
                </a:solidFill>
                <a:latin typeface="Calibri"/>
                <a:ea typeface="Calibri"/>
              </a:rPr>
              <a:t>• No iRules with HTTP:: commands</a:t>
            </a:r>
            <a:endParaRPr lang="en-US" sz="900" b="0" strike="noStrike" spc="-1">
              <a:solidFill>
                <a:srgbClr val="000000"/>
              </a:solidFill>
              <a:latin typeface="Arial"/>
            </a:endParaRPr>
          </a:p>
          <a:p>
            <a:pPr defTabSz="914400">
              <a:lnSpc>
                <a:spcPct val="100000"/>
              </a:lnSpc>
              <a:tabLst>
                <a:tab pos="0" algn="l"/>
              </a:tabLst>
            </a:pPr>
            <a:r>
              <a:rPr lang="en-US" sz="900" b="0" strike="noStrike" spc="-1">
                <a:solidFill>
                  <a:srgbClr val="333333"/>
                </a:solidFill>
                <a:latin typeface="Calibri"/>
                <a:ea typeface="Calibri"/>
              </a:rPr>
              <a:t>• No compression or caching</a:t>
            </a:r>
            <a:endParaRPr lang="en-US" sz="900" b="0" strike="noStrike" spc="-1">
              <a:solidFill>
                <a:srgbClr val="000000"/>
              </a:solidFill>
              <a:latin typeface="Arial"/>
            </a:endParaRPr>
          </a:p>
        </p:txBody>
      </p:sp>
      <p:sp>
        <p:nvSpPr>
          <p:cNvPr id="1414" name="Shape 12"/>
          <p:cNvSpPr/>
          <p:nvPr/>
        </p:nvSpPr>
        <p:spPr>
          <a:xfrm>
            <a:off x="4846320" y="1051560"/>
            <a:ext cx="3931560" cy="4111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415" name="Text 13"/>
          <p:cNvSpPr/>
          <p:nvPr/>
        </p:nvSpPr>
        <p:spPr>
          <a:xfrm>
            <a:off x="4846320" y="1051560"/>
            <a:ext cx="39315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FFFFFF"/>
                </a:solidFill>
                <a:latin typeface="Arial"/>
                <a:ea typeface="Arial"/>
              </a:rPr>
              <a:t>Connection-based (Standard)</a:t>
            </a:r>
            <a:endParaRPr lang="en-US" sz="1400" b="0" strike="noStrike" spc="-1">
              <a:solidFill>
                <a:srgbClr val="000000"/>
              </a:solidFill>
              <a:latin typeface="Arial"/>
            </a:endParaRPr>
          </a:p>
        </p:txBody>
      </p:sp>
      <p:sp>
        <p:nvSpPr>
          <p:cNvPr id="1416" name="Shape 14"/>
          <p:cNvSpPr/>
          <p:nvPr/>
        </p:nvSpPr>
        <p:spPr>
          <a:xfrm>
            <a:off x="4846320" y="1463040"/>
            <a:ext cx="3931560" cy="255996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417" name="Text 15"/>
          <p:cNvSpPr/>
          <p:nvPr/>
        </p:nvSpPr>
        <p:spPr>
          <a:xfrm>
            <a:off x="4937760" y="1508760"/>
            <a:ext cx="3748680" cy="2468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100" b="1" strike="noStrike" spc="-1" dirty="0">
                <a:solidFill>
                  <a:srgbClr val="0E41AA"/>
                </a:solidFill>
                <a:latin typeface="Calibri"/>
                <a:ea typeface="Calibri"/>
              </a:rPr>
              <a:t>How it works</a:t>
            </a:r>
            <a:endParaRPr lang="en-US" sz="1100" b="0" strike="noStrike" spc="-1" dirty="0">
              <a:solidFill>
                <a:srgbClr val="000000"/>
              </a:solidFill>
              <a:latin typeface="Arial"/>
            </a:endParaRPr>
          </a:p>
          <a:p>
            <a:pPr defTabSz="914400">
              <a:lnSpc>
                <a:spcPct val="100000"/>
              </a:lnSpc>
              <a:tabLst>
                <a:tab pos="0" algn="l"/>
              </a:tabLst>
            </a:pPr>
            <a:r>
              <a:rPr lang="en-US" sz="900" b="0" strike="noStrike" spc="-1" dirty="0">
                <a:solidFill>
                  <a:srgbClr val="333333"/>
                </a:solidFill>
                <a:latin typeface="Calibri"/>
                <a:ea typeface="Calibri"/>
              </a:rPr>
              <a:t>Full proxy: BIG-IP terminates client TCP, opens new server TCP. Reassembles byte stream for L7 inspection. LB decision can be deferred until HTTP data arrives.</a:t>
            </a:r>
            <a:endParaRPr lang="en-US" sz="900" b="0" strike="noStrike" spc="-1" dirty="0">
              <a:solidFill>
                <a:srgbClr val="000000"/>
              </a:solidFill>
              <a:latin typeface="Arial"/>
            </a:endParaRPr>
          </a:p>
          <a:p>
            <a:pPr defTabSz="914400">
              <a:lnSpc>
                <a:spcPct val="100000"/>
              </a:lnSpc>
              <a:tabLst>
                <a:tab pos="0" algn="l"/>
              </a:tabLst>
            </a:pPr>
            <a:endParaRPr lang="en-US" sz="1100" b="0" strike="noStrike" spc="-1" dirty="0">
              <a:solidFill>
                <a:srgbClr val="000000"/>
              </a:solidFill>
              <a:latin typeface="Arial"/>
            </a:endParaRPr>
          </a:p>
          <a:p>
            <a:pPr defTabSz="914400">
              <a:lnSpc>
                <a:spcPct val="100000"/>
              </a:lnSpc>
              <a:tabLst>
                <a:tab pos="0" algn="l"/>
              </a:tabLst>
            </a:pPr>
            <a:r>
              <a:rPr lang="en-US" sz="1100" b="1" strike="noStrike" spc="-1" dirty="0">
                <a:solidFill>
                  <a:srgbClr val="009639"/>
                </a:solidFill>
                <a:latin typeface="Calibri"/>
                <a:ea typeface="Calibri"/>
              </a:rPr>
              <a:t>Advantages</a:t>
            </a:r>
            <a:endParaRPr lang="en-US" sz="1100" b="0" strike="noStrike" spc="-1" dirty="0">
              <a:solidFill>
                <a:srgbClr val="000000"/>
              </a:solidFill>
              <a:latin typeface="Arial"/>
            </a:endParaRPr>
          </a:p>
          <a:p>
            <a:pPr defTabSz="914400">
              <a:lnSpc>
                <a:spcPct val="100000"/>
              </a:lnSpc>
              <a:tabLst>
                <a:tab pos="0" algn="l"/>
              </a:tabLst>
            </a:pPr>
            <a:r>
              <a:rPr lang="en-US" sz="900" b="0" strike="noStrike" spc="-1" dirty="0">
                <a:solidFill>
                  <a:srgbClr val="333333"/>
                </a:solidFill>
                <a:latin typeface="Calibri"/>
                <a:ea typeface="Calibri"/>
              </a:rPr>
              <a:t>• Full L7 intelligence (HTTP, SSL, iRules)</a:t>
            </a:r>
            <a:endParaRPr lang="en-US" sz="900" b="0" strike="noStrike" spc="-1" dirty="0">
              <a:solidFill>
                <a:srgbClr val="000000"/>
              </a:solidFill>
              <a:latin typeface="Arial"/>
            </a:endParaRPr>
          </a:p>
          <a:p>
            <a:pPr defTabSz="914400">
              <a:lnSpc>
                <a:spcPct val="100000"/>
              </a:lnSpc>
              <a:tabLst>
                <a:tab pos="0" algn="l"/>
              </a:tabLst>
            </a:pPr>
            <a:r>
              <a:rPr lang="en-US" sz="900" b="0" strike="noStrike" spc="-1" dirty="0">
                <a:solidFill>
                  <a:srgbClr val="333333"/>
                </a:solidFill>
                <a:latin typeface="Calibri"/>
                <a:ea typeface="Calibri"/>
              </a:rPr>
              <a:t>• Content switching, compression, caching</a:t>
            </a:r>
            <a:endParaRPr lang="en-US" sz="900" b="0" strike="noStrike" spc="-1" dirty="0">
              <a:solidFill>
                <a:srgbClr val="000000"/>
              </a:solidFill>
              <a:latin typeface="Arial"/>
            </a:endParaRPr>
          </a:p>
          <a:p>
            <a:pPr defTabSz="914400">
              <a:lnSpc>
                <a:spcPct val="100000"/>
              </a:lnSpc>
              <a:tabLst>
                <a:tab pos="0" algn="l"/>
              </a:tabLst>
            </a:pPr>
            <a:r>
              <a:rPr lang="en-US" sz="900" b="0" strike="noStrike" spc="-1" dirty="0">
                <a:solidFill>
                  <a:srgbClr val="333333"/>
                </a:solidFill>
                <a:latin typeface="Calibri"/>
                <a:ea typeface="Calibri"/>
              </a:rPr>
              <a:t>• TCP optimization (wan/lan split)</a:t>
            </a:r>
            <a:endParaRPr lang="en-US" sz="900" b="0" strike="noStrike" spc="-1" dirty="0">
              <a:solidFill>
                <a:srgbClr val="000000"/>
              </a:solidFill>
              <a:latin typeface="Arial"/>
            </a:endParaRPr>
          </a:p>
          <a:p>
            <a:pPr defTabSz="914400">
              <a:lnSpc>
                <a:spcPct val="100000"/>
              </a:lnSpc>
              <a:tabLst>
                <a:tab pos="0" algn="l"/>
              </a:tabLst>
            </a:pPr>
            <a:r>
              <a:rPr lang="en-US" sz="900" b="0" strike="noStrike" spc="-1" dirty="0">
                <a:solidFill>
                  <a:srgbClr val="333333"/>
                </a:solidFill>
                <a:latin typeface="Calibri"/>
                <a:ea typeface="Calibri"/>
              </a:rPr>
              <a:t>• Cookie persistence, </a:t>
            </a:r>
            <a:r>
              <a:rPr lang="en-US" sz="900" b="0" strike="noStrike" spc="-1" dirty="0" err="1">
                <a:solidFill>
                  <a:srgbClr val="333333"/>
                </a:solidFill>
                <a:latin typeface="Calibri"/>
                <a:ea typeface="Calibri"/>
              </a:rPr>
              <a:t>OneConnect</a:t>
            </a:r>
            <a:endParaRPr lang="en-US" sz="900" b="0" strike="noStrike" spc="-1" dirty="0">
              <a:solidFill>
                <a:srgbClr val="000000"/>
              </a:solidFill>
              <a:latin typeface="Arial"/>
            </a:endParaRPr>
          </a:p>
          <a:p>
            <a:pPr defTabSz="914400">
              <a:lnSpc>
                <a:spcPct val="100000"/>
              </a:lnSpc>
              <a:tabLst>
                <a:tab pos="0" algn="l"/>
              </a:tabLst>
            </a:pPr>
            <a:r>
              <a:rPr lang="en-US" sz="900" b="0" strike="noStrike" spc="-1" dirty="0">
                <a:solidFill>
                  <a:srgbClr val="333333"/>
                </a:solidFill>
                <a:latin typeface="Calibri"/>
                <a:ea typeface="Calibri"/>
              </a:rPr>
              <a:t>• Protocol enforcement and security</a:t>
            </a:r>
            <a:endParaRPr lang="en-US" sz="900" b="0" strike="noStrike" spc="-1" dirty="0">
              <a:solidFill>
                <a:srgbClr val="000000"/>
              </a:solidFill>
              <a:latin typeface="Arial"/>
            </a:endParaRPr>
          </a:p>
          <a:p>
            <a:pPr defTabSz="914400">
              <a:lnSpc>
                <a:spcPct val="100000"/>
              </a:lnSpc>
              <a:tabLst>
                <a:tab pos="0" algn="l"/>
              </a:tabLst>
            </a:pPr>
            <a:endParaRPr lang="en-US" sz="1100" b="0" strike="noStrike" spc="-1" dirty="0">
              <a:solidFill>
                <a:srgbClr val="000000"/>
              </a:solidFill>
              <a:latin typeface="Arial"/>
            </a:endParaRPr>
          </a:p>
          <a:p>
            <a:pPr defTabSz="914400">
              <a:lnSpc>
                <a:spcPct val="100000"/>
              </a:lnSpc>
              <a:tabLst>
                <a:tab pos="0" algn="l"/>
              </a:tabLst>
            </a:pPr>
            <a:r>
              <a:rPr lang="en-US" sz="1100" b="1" strike="noStrike" spc="-1" dirty="0">
                <a:solidFill>
                  <a:srgbClr val="E4002B"/>
                </a:solidFill>
                <a:latin typeface="Calibri"/>
                <a:ea typeface="Calibri"/>
              </a:rPr>
              <a:t>Limitations</a:t>
            </a:r>
            <a:endParaRPr lang="en-US" sz="1100" b="0" strike="noStrike" spc="-1" dirty="0">
              <a:solidFill>
                <a:srgbClr val="000000"/>
              </a:solidFill>
              <a:latin typeface="Arial"/>
            </a:endParaRPr>
          </a:p>
          <a:p>
            <a:pPr defTabSz="914400">
              <a:lnSpc>
                <a:spcPct val="100000"/>
              </a:lnSpc>
              <a:tabLst>
                <a:tab pos="0" algn="l"/>
              </a:tabLst>
            </a:pPr>
            <a:r>
              <a:rPr lang="en-US" sz="900" b="0" strike="noStrike" spc="-1" dirty="0">
                <a:solidFill>
                  <a:srgbClr val="333333"/>
                </a:solidFill>
                <a:latin typeface="Calibri"/>
                <a:ea typeface="Calibri"/>
              </a:rPr>
              <a:t>• Higher CPU per connection</a:t>
            </a:r>
            <a:endParaRPr lang="en-US" sz="900" b="0" strike="noStrike" spc="-1" dirty="0">
              <a:solidFill>
                <a:srgbClr val="000000"/>
              </a:solidFill>
              <a:latin typeface="Arial"/>
            </a:endParaRPr>
          </a:p>
          <a:p>
            <a:pPr defTabSz="914400">
              <a:lnSpc>
                <a:spcPct val="100000"/>
              </a:lnSpc>
              <a:tabLst>
                <a:tab pos="0" algn="l"/>
              </a:tabLst>
            </a:pPr>
            <a:r>
              <a:rPr lang="en-US" sz="900" b="0" strike="noStrike" spc="-1" dirty="0">
                <a:solidFill>
                  <a:srgbClr val="333333"/>
                </a:solidFill>
                <a:latin typeface="Calibri"/>
                <a:ea typeface="Calibri"/>
              </a:rPr>
              <a:t>• Higher latency (full proxy overhead)</a:t>
            </a:r>
            <a:endParaRPr lang="en-US" sz="900" b="0" strike="noStrike" spc="-1" dirty="0">
              <a:solidFill>
                <a:srgbClr val="000000"/>
              </a:solidFill>
              <a:latin typeface="Arial"/>
            </a:endParaRPr>
          </a:p>
          <a:p>
            <a:pPr defTabSz="914400">
              <a:lnSpc>
                <a:spcPct val="100000"/>
              </a:lnSpc>
              <a:tabLst>
                <a:tab pos="0" algn="l"/>
              </a:tabLst>
            </a:pPr>
            <a:r>
              <a:rPr lang="en-US" sz="900" b="0" strike="noStrike" spc="-1" dirty="0">
                <a:solidFill>
                  <a:srgbClr val="333333"/>
                </a:solidFill>
                <a:latin typeface="Calibri"/>
                <a:ea typeface="Calibri"/>
              </a:rPr>
              <a:t>• Cannot do mid-flow pickup</a:t>
            </a:r>
            <a:endParaRPr lang="en-US" sz="900" b="0" strike="noStrike" spc="-1" dirty="0">
              <a:solidFill>
                <a:srgbClr val="000000"/>
              </a:solidFill>
              <a:latin typeface="Arial"/>
            </a:endParaRPr>
          </a:p>
          <a:p>
            <a:pPr defTabSz="914400">
              <a:lnSpc>
                <a:spcPct val="100000"/>
              </a:lnSpc>
              <a:tabLst>
                <a:tab pos="0" algn="l"/>
              </a:tabLst>
            </a:pPr>
            <a:r>
              <a:rPr lang="en-US" sz="900" b="0" strike="noStrike" spc="-1" dirty="0">
                <a:solidFill>
                  <a:srgbClr val="333333"/>
                </a:solidFill>
                <a:latin typeface="Calibri"/>
                <a:ea typeface="Calibri"/>
              </a:rPr>
              <a:t>• More memory per connection</a:t>
            </a:r>
            <a:endParaRPr lang="en-US" sz="900" b="0" strike="noStrike" spc="-1" dirty="0">
              <a:solidFill>
                <a:srgbClr val="000000"/>
              </a:solidFill>
              <a:latin typeface="Arial"/>
            </a:endParaRPr>
          </a:p>
        </p:txBody>
      </p:sp>
      <p:sp>
        <p:nvSpPr>
          <p:cNvPr id="1418" name="Shape 16"/>
          <p:cNvSpPr/>
          <p:nvPr/>
        </p:nvSpPr>
        <p:spPr>
          <a:xfrm>
            <a:off x="365760" y="4160520"/>
            <a:ext cx="8412120" cy="456840"/>
          </a:xfrm>
          <a:prstGeom prst="rect">
            <a:avLst/>
          </a:prstGeom>
          <a:solidFill>
            <a:srgbClr val="E8F0F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419" name="Text 17"/>
          <p:cNvSpPr/>
          <p:nvPr/>
        </p:nvSpPr>
        <p:spPr>
          <a:xfrm>
            <a:off x="548640" y="4178880"/>
            <a:ext cx="8046360" cy="420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strike="noStrike" spc="-1">
                <a:solidFill>
                  <a:srgbClr val="0E41AA"/>
                </a:solidFill>
                <a:latin typeface="Calibri"/>
                <a:ea typeface="Calibri"/>
              </a:rPr>
              <a:t>Decision rule: </a:t>
            </a:r>
            <a:r>
              <a:rPr lang="en-US" sz="1000" b="0" strike="noStrike" spc="-1">
                <a:solidFill>
                  <a:srgbClr val="1A3A6C"/>
                </a:solidFill>
                <a:latin typeface="Calibri"/>
                <a:ea typeface="Calibri"/>
              </a:rPr>
              <a:t>If you need ANY L7 feature (HTTP, SSL, compression, cookie persistence, iRules with HTTP:: commands) → connection-based (Standard). If you only need L4 load balancing with maximum throughput → packet-based (Performance L4).</a:t>
            </a:r>
            <a:endParaRPr lang="en-US" sz="1000" b="0" strike="noStrike" spc="-1">
              <a:solidFill>
                <a:srgbClr val="000000"/>
              </a:solidFill>
              <a:latin typeface="Aria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20"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421"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422"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423"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424"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425"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60    © 2026 F5</a:t>
            </a:r>
            <a:endParaRPr lang="en-US" sz="800" b="0" strike="noStrike" spc="-1">
              <a:solidFill>
                <a:srgbClr val="000000"/>
              </a:solidFill>
              <a:latin typeface="Arial"/>
            </a:endParaRPr>
          </a:p>
        </p:txBody>
      </p:sp>
      <p:pic>
        <p:nvPicPr>
          <p:cNvPr id="1426" name="Image 0" descr="preencoded.png"/>
          <p:cNvPicPr/>
          <p:nvPr/>
        </p:nvPicPr>
        <p:blipFill>
          <a:blip r:embed="rId3"/>
          <a:stretch/>
        </p:blipFill>
        <p:spPr>
          <a:xfrm>
            <a:off x="8458200" y="4663440"/>
            <a:ext cx="383760" cy="383760"/>
          </a:xfrm>
          <a:prstGeom prst="rect">
            <a:avLst/>
          </a:prstGeom>
          <a:ln w="0">
            <a:noFill/>
          </a:ln>
        </p:spPr>
      </p:pic>
      <p:sp>
        <p:nvSpPr>
          <p:cNvPr id="1427" name="Text 6"/>
          <p:cNvSpPr/>
          <p:nvPr/>
        </p:nvSpPr>
        <p:spPr>
          <a:xfrm>
            <a:off x="457200" y="274320"/>
            <a:ext cx="73148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Lab 6 — Hands-on exercises</a:t>
            </a:r>
            <a:endParaRPr lang="en-US" sz="2800" b="0" strike="noStrike" spc="-1">
              <a:solidFill>
                <a:srgbClr val="000000"/>
              </a:solidFill>
              <a:latin typeface="Arial"/>
            </a:endParaRPr>
          </a:p>
        </p:txBody>
      </p:sp>
      <p:sp>
        <p:nvSpPr>
          <p:cNvPr id="1428" name="Text 7"/>
          <p:cNvSpPr/>
          <p:nvPr/>
        </p:nvSpPr>
        <p:spPr>
          <a:xfrm>
            <a:off x="457200" y="658440"/>
            <a:ext cx="73148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009639"/>
                </a:solidFill>
                <a:latin typeface="Calibri"/>
                <a:ea typeface="Calibri"/>
              </a:rPr>
              <a:t>45 minutes  |  Lab guide: Module 6</a:t>
            </a:r>
            <a:endParaRPr lang="en-US" sz="1400" b="0" strike="noStrike" spc="-1">
              <a:solidFill>
                <a:srgbClr val="000000"/>
              </a:solidFill>
              <a:latin typeface="Arial"/>
            </a:endParaRPr>
          </a:p>
        </p:txBody>
      </p:sp>
      <p:graphicFrame>
        <p:nvGraphicFramePr>
          <p:cNvPr id="1429" name="Table 0"/>
          <p:cNvGraphicFramePr/>
          <p:nvPr/>
        </p:nvGraphicFramePr>
        <p:xfrm>
          <a:off x="365760" y="960120"/>
          <a:ext cx="7772400" cy="2240280"/>
        </p:xfrm>
        <a:graphic>
          <a:graphicData uri="http://schemas.openxmlformats.org/drawingml/2006/table">
            <a:tbl>
              <a:tblPr/>
              <a:tblGrid>
                <a:gridCol w="3200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5394960">
                  <a:extLst>
                    <a:ext uri="{9D8B030D-6E8A-4147-A177-3AD203B41FA5}">
                      <a16:colId xmlns:a16="http://schemas.microsoft.com/office/drawing/2014/main" val="20002"/>
                    </a:ext>
                  </a:extLst>
                </a:gridCol>
                <a:gridCol w="594360">
                  <a:extLst>
                    <a:ext uri="{9D8B030D-6E8A-4147-A177-3AD203B41FA5}">
                      <a16:colId xmlns:a16="http://schemas.microsoft.com/office/drawing/2014/main" val="20003"/>
                    </a:ext>
                  </a:extLst>
                </a:gridCol>
              </a:tblGrid>
              <a:tr h="274320">
                <a:tc>
                  <a:txBody>
                    <a:bodyPr/>
                    <a:lstStyle/>
                    <a:p>
                      <a:pPr algn="ctr" defTabSz="914400">
                        <a:lnSpc>
                          <a:spcPct val="100000"/>
                        </a:lnSpc>
                        <a:tabLst>
                          <a:tab pos="0" algn="l"/>
                        </a:tabLst>
                      </a:pPr>
                      <a:r>
                        <a:rPr lang="en-US" sz="1000" b="1" strike="noStrike" spc="-1">
                          <a:solidFill>
                            <a:srgbClr val="FFFFFF"/>
                          </a:solidFill>
                          <a:latin typeface="Calibri"/>
                        </a:rPr>
                        <a:t>#</a:t>
                      </a:r>
                      <a:endParaRPr lang="en-US" sz="10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09639"/>
                    </a:solidFill>
                  </a:tcPr>
                </a:tc>
                <a:tc>
                  <a:txBody>
                    <a:bodyPr/>
                    <a:lstStyle/>
                    <a:p>
                      <a:pPr defTabSz="914400">
                        <a:lnSpc>
                          <a:spcPct val="100000"/>
                        </a:lnSpc>
                        <a:tabLst>
                          <a:tab pos="0" algn="l"/>
                        </a:tabLst>
                      </a:pPr>
                      <a:r>
                        <a:rPr lang="en-US" sz="1100" b="1" strike="noStrike" spc="-1">
                          <a:solidFill>
                            <a:srgbClr val="FFFFFF"/>
                          </a:solidFill>
                          <a:latin typeface="Calibri"/>
                        </a:rPr>
                        <a:t>Activity</a:t>
                      </a:r>
                      <a:endParaRPr lang="en-US" sz="11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09639"/>
                    </a:solidFill>
                  </a:tcPr>
                </a:tc>
                <a:tc>
                  <a:txBody>
                    <a:bodyPr/>
                    <a:lstStyle/>
                    <a:p>
                      <a:pPr defTabSz="914400">
                        <a:lnSpc>
                          <a:spcPct val="100000"/>
                        </a:lnSpc>
                        <a:tabLst>
                          <a:tab pos="0" algn="l"/>
                        </a:tabLst>
                      </a:pPr>
                      <a:r>
                        <a:rPr lang="en-US" sz="1100" b="1" strike="noStrike" spc="-1">
                          <a:solidFill>
                            <a:srgbClr val="FFFFFF"/>
                          </a:solidFill>
                          <a:latin typeface="Calibri"/>
                        </a:rPr>
                        <a:t>Key tasks</a:t>
                      </a:r>
                      <a:endParaRPr lang="en-US" sz="11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09639"/>
                    </a:solidFill>
                  </a:tcPr>
                </a:tc>
                <a:tc>
                  <a:txBody>
                    <a:bodyPr/>
                    <a:lstStyle/>
                    <a:p>
                      <a:pPr algn="ctr" defTabSz="914400">
                        <a:lnSpc>
                          <a:spcPct val="100000"/>
                        </a:lnSpc>
                        <a:tabLst>
                          <a:tab pos="0" algn="l"/>
                        </a:tabLst>
                      </a:pPr>
                      <a:r>
                        <a:rPr lang="en-US" sz="1000" b="1" strike="noStrike" spc="-1">
                          <a:solidFill>
                            <a:srgbClr val="FFFFFF"/>
                          </a:solidFill>
                          <a:latin typeface="Calibri"/>
                        </a:rPr>
                        <a:t>Time</a:t>
                      </a:r>
                      <a:endParaRPr lang="en-US" sz="10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09639"/>
                    </a:solidFill>
                  </a:tcPr>
                </a:tc>
                <a:extLst>
                  <a:ext uri="{0D108BD9-81ED-4DB2-BD59-A6C34878D82A}">
                    <a16:rowId xmlns:a16="http://schemas.microsoft.com/office/drawing/2014/main" val="10000"/>
                  </a:ext>
                </a:extLst>
              </a:tr>
              <a:tr h="457200">
                <a:tc>
                  <a:txBody>
                    <a:bodyPr/>
                    <a:lstStyle/>
                    <a:p>
                      <a:pPr algn="ctr" defTabSz="914400">
                        <a:lnSpc>
                          <a:spcPct val="100000"/>
                        </a:lnSpc>
                        <a:tabLst>
                          <a:tab pos="0" algn="l"/>
                        </a:tabLst>
                      </a:pPr>
                      <a:r>
                        <a:rPr lang="en-US" sz="1100" b="0" strike="noStrike" spc="-1">
                          <a:solidFill>
                            <a:srgbClr val="000000"/>
                          </a:solidFill>
                          <a:latin typeface="Calibri"/>
                        </a:rPr>
                        <a:t>1</a:t>
                      </a:r>
                      <a:endParaRPr lang="en-US" sz="11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1100" b="1" strike="noStrike" spc="-1">
                          <a:solidFill>
                            <a:srgbClr val="000000"/>
                          </a:solidFill>
                          <a:latin typeface="Calibri"/>
                        </a:rPr>
                        <a:t>Packet Processing</a:t>
                      </a:r>
                      <a:endParaRPr lang="en-US" sz="11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333333"/>
                          </a:solidFill>
                          <a:latin typeface="Calibri"/>
                        </a:rPr>
                        <a:t>tcpdump + connection table (show sys conn). Observe client-side/server-side flows, SNAT automap in action.</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algn="ctr" defTabSz="914400">
                        <a:lnSpc>
                          <a:spcPct val="100000"/>
                        </a:lnSpc>
                        <a:tabLst>
                          <a:tab pos="0" algn="l"/>
                        </a:tabLst>
                      </a:pPr>
                      <a:r>
                        <a:rPr lang="en-US" sz="1000" b="0" strike="noStrike" spc="-1">
                          <a:solidFill>
                            <a:srgbClr val="666666"/>
                          </a:solidFill>
                          <a:latin typeface="Calibri"/>
                        </a:rPr>
                        <a:t>10m</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1"/>
                  </a:ext>
                </a:extLst>
              </a:tr>
              <a:tr h="502920">
                <a:tc>
                  <a:txBody>
                    <a:bodyPr/>
                    <a:lstStyle/>
                    <a:p>
                      <a:pPr algn="ctr" defTabSz="914400">
                        <a:lnSpc>
                          <a:spcPct val="100000"/>
                        </a:lnSpc>
                        <a:tabLst>
                          <a:tab pos="0" algn="l"/>
                        </a:tabLst>
                      </a:pPr>
                      <a:r>
                        <a:rPr lang="en-US" sz="1100" b="0" strike="noStrike" spc="-1">
                          <a:solidFill>
                            <a:srgbClr val="000000"/>
                          </a:solidFill>
                          <a:latin typeface="Calibri"/>
                        </a:rPr>
                        <a:t>2</a:t>
                      </a:r>
                      <a:endParaRPr lang="en-US" sz="11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1100" b="1" strike="noStrike" spc="-1">
                          <a:solidFill>
                            <a:srgbClr val="000000"/>
                          </a:solidFill>
                          <a:latin typeface="Calibri"/>
                        </a:rPr>
                        <a:t>Packet Filters</a:t>
                      </a:r>
                      <a:endParaRPr lang="en-US" sz="11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333333"/>
                          </a:solidFill>
                          <a:latin typeface="Calibri"/>
                        </a:rPr>
                        <a:t>Create block_ftp filter. Test: existing FTP survives, new FTP blocked. Learn packet processing order. Check logs.</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algn="ctr" defTabSz="914400">
                        <a:lnSpc>
                          <a:spcPct val="100000"/>
                        </a:lnSpc>
                        <a:tabLst>
                          <a:tab pos="0" algn="l"/>
                        </a:tabLst>
                      </a:pPr>
                      <a:r>
                        <a:rPr lang="en-US" sz="1000" b="0" strike="noStrike" spc="-1">
                          <a:solidFill>
                            <a:srgbClr val="666666"/>
                          </a:solidFill>
                          <a:latin typeface="Calibri"/>
                        </a:rPr>
                        <a:t>10m</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2"/>
                  </a:ext>
                </a:extLst>
              </a:tr>
              <a:tr h="502920">
                <a:tc>
                  <a:txBody>
                    <a:bodyPr/>
                    <a:lstStyle/>
                    <a:p>
                      <a:pPr algn="ctr" defTabSz="914400">
                        <a:lnSpc>
                          <a:spcPct val="100000"/>
                        </a:lnSpc>
                        <a:tabLst>
                          <a:tab pos="0" algn="l"/>
                        </a:tabLst>
                      </a:pPr>
                      <a:r>
                        <a:rPr lang="en-US" sz="1100" b="0" strike="noStrike" spc="-1">
                          <a:solidFill>
                            <a:srgbClr val="000000"/>
                          </a:solidFill>
                          <a:latin typeface="Calibri"/>
                        </a:rPr>
                        <a:t>3</a:t>
                      </a:r>
                      <a:endParaRPr lang="en-US" sz="11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1100" b="1" strike="noStrike" spc="-1">
                          <a:solidFill>
                            <a:srgbClr val="000000"/>
                          </a:solidFill>
                          <a:latin typeface="Calibri"/>
                        </a:rPr>
                        <a:t>VS Matching Order</a:t>
                      </a:r>
                      <a:endParaRPr lang="en-US" sz="11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333333"/>
                          </a:solidFill>
                          <a:latin typeface="Calibri"/>
                        </a:rPr>
                        <a:t>Create wildcard_vs (10.1.10.100:*). Test which VS handles port 80, 21, 8080. Modify source address and retest.</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algn="ctr" defTabSz="914400">
                        <a:lnSpc>
                          <a:spcPct val="100000"/>
                        </a:lnSpc>
                        <a:tabLst>
                          <a:tab pos="0" algn="l"/>
                        </a:tabLst>
                      </a:pPr>
                      <a:r>
                        <a:rPr lang="en-US" sz="1000" b="0" strike="noStrike" spc="-1">
                          <a:solidFill>
                            <a:srgbClr val="666666"/>
                          </a:solidFill>
                          <a:latin typeface="Calibri"/>
                        </a:rPr>
                        <a:t>15m</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3"/>
                  </a:ext>
                </a:extLst>
              </a:tr>
              <a:tr h="502920">
                <a:tc>
                  <a:txBody>
                    <a:bodyPr/>
                    <a:lstStyle/>
                    <a:p>
                      <a:pPr algn="ctr" defTabSz="914400">
                        <a:lnSpc>
                          <a:spcPct val="100000"/>
                        </a:lnSpc>
                        <a:tabLst>
                          <a:tab pos="0" algn="l"/>
                        </a:tabLst>
                      </a:pPr>
                      <a:r>
                        <a:rPr lang="en-US" sz="1100" b="0" strike="noStrike" spc="-1">
                          <a:solidFill>
                            <a:srgbClr val="000000"/>
                          </a:solidFill>
                          <a:latin typeface="Calibri"/>
                        </a:rPr>
                        <a:t>4</a:t>
                      </a:r>
                      <a:endParaRPr lang="en-US" sz="11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1100" b="1" strike="noStrike" spc="-1">
                          <a:solidFill>
                            <a:srgbClr val="000000"/>
                          </a:solidFill>
                          <a:latin typeface="Calibri"/>
                        </a:rPr>
                        <a:t>Forwarding VS</a:t>
                      </a:r>
                      <a:endParaRPr lang="en-US" sz="11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333333"/>
                          </a:solidFill>
                          <a:latin typeface="Calibri"/>
                        </a:rPr>
                        <a:t>Create Forwarding IP VS (10.1.10.0/24 → 10.1.20.0/24). Create transparent VS (Performance L4, wildcard port). Test multi-protocol.</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algn="ctr" defTabSz="914400">
                        <a:lnSpc>
                          <a:spcPct val="100000"/>
                        </a:lnSpc>
                        <a:tabLst>
                          <a:tab pos="0" algn="l"/>
                        </a:tabLst>
                      </a:pPr>
                      <a:r>
                        <a:rPr lang="en-US" sz="1000" b="0" strike="noStrike" spc="-1">
                          <a:solidFill>
                            <a:srgbClr val="666666"/>
                          </a:solidFill>
                          <a:latin typeface="Calibri"/>
                        </a:rPr>
                        <a:t>10m</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4"/>
                  </a:ext>
                </a:extLst>
              </a:tr>
            </a:tbl>
          </a:graphicData>
        </a:graphic>
      </p:graphicFrame>
      <p:sp>
        <p:nvSpPr>
          <p:cNvPr id="1430" name="Shape 8"/>
          <p:cNvSpPr/>
          <p:nvPr/>
        </p:nvSpPr>
        <p:spPr>
          <a:xfrm>
            <a:off x="365760" y="3200400"/>
            <a:ext cx="8412120" cy="411120"/>
          </a:xfrm>
          <a:prstGeom prst="rect">
            <a:avLst/>
          </a:prstGeom>
          <a:solidFill>
            <a:srgbClr val="FFF3E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431" name="Text 9"/>
          <p:cNvSpPr/>
          <p:nvPr/>
        </p:nvSpPr>
        <p:spPr>
          <a:xfrm>
            <a:off x="548640" y="3200400"/>
            <a:ext cx="80463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strike="noStrike" spc="-1">
                <a:solidFill>
                  <a:srgbClr val="F29A36"/>
                </a:solidFill>
                <a:latin typeface="Calibri"/>
                <a:ea typeface="Calibri"/>
              </a:rPr>
              <a:t>Activity 2 key question: </a:t>
            </a:r>
            <a:r>
              <a:rPr lang="en-US" sz="900" b="0" strike="noStrike" spc="-1">
                <a:solidFill>
                  <a:srgbClr val="7A4500"/>
                </a:solidFill>
                <a:latin typeface="Calibri"/>
                <a:ea typeface="Calibri"/>
              </a:rPr>
              <a:t>Prioritize the packet processing order: Existing Connections(1) → AFM/Pkt Filter(2) → Virtual Server(3) → SNAT(4) → NAT(5) → Self IP(6) → Drop(7)</a:t>
            </a:r>
            <a:endParaRPr lang="en-US" sz="900" b="0" strike="noStrike" spc="-1">
              <a:solidFill>
                <a:srgbClr val="000000"/>
              </a:solidFill>
              <a:latin typeface="Arial"/>
            </a:endParaRPr>
          </a:p>
        </p:txBody>
      </p:sp>
      <p:sp>
        <p:nvSpPr>
          <p:cNvPr id="1432" name="Shape 10"/>
          <p:cNvSpPr/>
          <p:nvPr/>
        </p:nvSpPr>
        <p:spPr>
          <a:xfrm>
            <a:off x="365760" y="3703320"/>
            <a:ext cx="8412120" cy="411120"/>
          </a:xfrm>
          <a:prstGeom prst="rect">
            <a:avLst/>
          </a:prstGeom>
          <a:solidFill>
            <a:srgbClr val="FDE8E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433" name="Text 11"/>
          <p:cNvSpPr/>
          <p:nvPr/>
        </p:nvSpPr>
        <p:spPr>
          <a:xfrm>
            <a:off x="548640" y="3703320"/>
            <a:ext cx="80463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strike="noStrike" spc="-1">
                <a:solidFill>
                  <a:srgbClr val="E4002B"/>
                </a:solidFill>
                <a:latin typeface="Calibri"/>
                <a:ea typeface="Calibri"/>
              </a:rPr>
              <a:t>Activity 4 gotcha: </a:t>
            </a:r>
            <a:r>
              <a:rPr lang="en-US" sz="900" b="0" strike="noStrike" spc="-1">
                <a:solidFill>
                  <a:srgbClr val="7A0000"/>
                </a:solidFill>
                <a:latin typeface="Calibri"/>
                <a:ea typeface="Calibri"/>
              </a:rPr>
              <a:t>Forwarding IP VS defaults to Protocol: TCP. Change to 'All Protocols' for general forwarding. Also need a route on the jumpbox: route add 10.1.20.0 mask 255.255.255.0 10.1.10.245</a:t>
            </a:r>
            <a:endParaRPr lang="en-US" sz="900" b="0" strike="noStrike" spc="-1">
              <a:solidFill>
                <a:srgbClr val="000000"/>
              </a:solidFill>
              <a:latin typeface="Aria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34"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435"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436"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437"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438"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439"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61    © 2026 F5</a:t>
            </a:r>
            <a:endParaRPr lang="en-US" sz="800" b="0" strike="noStrike" spc="-1">
              <a:solidFill>
                <a:srgbClr val="000000"/>
              </a:solidFill>
              <a:latin typeface="Arial"/>
            </a:endParaRPr>
          </a:p>
        </p:txBody>
      </p:sp>
      <p:pic>
        <p:nvPicPr>
          <p:cNvPr id="1440" name="Image 0" descr="preencoded.png"/>
          <p:cNvPicPr/>
          <p:nvPr/>
        </p:nvPicPr>
        <p:blipFill>
          <a:blip r:embed="rId3"/>
          <a:stretch/>
        </p:blipFill>
        <p:spPr>
          <a:xfrm>
            <a:off x="8458200" y="4663440"/>
            <a:ext cx="383760" cy="383760"/>
          </a:xfrm>
          <a:prstGeom prst="rect">
            <a:avLst/>
          </a:prstGeom>
          <a:ln w="0">
            <a:noFill/>
          </a:ln>
        </p:spPr>
      </p:pic>
      <p:sp>
        <p:nvSpPr>
          <p:cNvPr id="1441" name="Text 6"/>
          <p:cNvSpPr/>
          <p:nvPr/>
        </p:nvSpPr>
        <p:spPr>
          <a:xfrm>
            <a:off x="457200" y="274320"/>
            <a:ext cx="82292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Exam checkpoints</a:t>
            </a:r>
            <a:endParaRPr lang="en-US" sz="2800" b="0" strike="noStrike" spc="-1">
              <a:solidFill>
                <a:srgbClr val="000000"/>
              </a:solidFill>
              <a:latin typeface="Arial"/>
            </a:endParaRPr>
          </a:p>
        </p:txBody>
      </p:sp>
      <p:sp>
        <p:nvSpPr>
          <p:cNvPr id="1442" name="Shape 7"/>
          <p:cNvSpPr/>
          <p:nvPr/>
        </p:nvSpPr>
        <p:spPr>
          <a:xfrm>
            <a:off x="457200" y="868680"/>
            <a:ext cx="411120" cy="25560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443" name="Text 8"/>
          <p:cNvSpPr/>
          <p:nvPr/>
        </p:nvSpPr>
        <p:spPr>
          <a:xfrm>
            <a:off x="457200" y="868680"/>
            <a:ext cx="41112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rgbClr val="FFFFFF"/>
                </a:solidFill>
                <a:latin typeface="Arial"/>
                <a:ea typeface="Arial"/>
              </a:rPr>
              <a:t>Q1</a:t>
            </a:r>
            <a:endParaRPr lang="en-US" sz="1100" b="0" strike="noStrike" spc="-1">
              <a:solidFill>
                <a:srgbClr val="000000"/>
              </a:solidFill>
              <a:latin typeface="Arial"/>
            </a:endParaRPr>
          </a:p>
        </p:txBody>
      </p:sp>
      <p:sp>
        <p:nvSpPr>
          <p:cNvPr id="1444" name="Shape 9"/>
          <p:cNvSpPr/>
          <p:nvPr/>
        </p:nvSpPr>
        <p:spPr>
          <a:xfrm>
            <a:off x="960120" y="868680"/>
            <a:ext cx="365400" cy="25560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445" name="Text 10"/>
          <p:cNvSpPr/>
          <p:nvPr/>
        </p:nvSpPr>
        <p:spPr>
          <a:xfrm>
            <a:off x="960120" y="868680"/>
            <a:ext cx="3654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00" b="1" strike="noStrike" spc="-1">
                <a:solidFill>
                  <a:srgbClr val="009639"/>
                </a:solidFill>
                <a:latin typeface="Calibri"/>
              </a:rPr>
              <a:t>U/A</a:t>
            </a:r>
            <a:endParaRPr lang="en-US" sz="800" b="0" strike="noStrike" spc="-1">
              <a:solidFill>
                <a:srgbClr val="000000"/>
              </a:solidFill>
              <a:latin typeface="Arial"/>
            </a:endParaRPr>
          </a:p>
        </p:txBody>
      </p:sp>
      <p:sp>
        <p:nvSpPr>
          <p:cNvPr id="1446" name="Text 11"/>
          <p:cNvSpPr/>
          <p:nvPr/>
        </p:nvSpPr>
        <p:spPr>
          <a:xfrm>
            <a:off x="1417320" y="868680"/>
            <a:ext cx="740628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333333"/>
                </a:solidFill>
                <a:latin typeface="Calibri"/>
                <a:ea typeface="Calibri"/>
              </a:rPr>
              <a:t>You have www_vs (10.1.10.100:80), ftp_vs (10.1.10.100:21), and wildcard_vs (10.1.10.100:*). A client browses to http://10.1.10.100:8080. Which VS handles it?</a:t>
            </a:r>
            <a:endParaRPr lang="en-US" sz="1000" b="0" strike="noStrike" spc="-1">
              <a:solidFill>
                <a:srgbClr val="000000"/>
              </a:solidFill>
              <a:latin typeface="Arial"/>
            </a:endParaRPr>
          </a:p>
        </p:txBody>
      </p:sp>
      <p:sp>
        <p:nvSpPr>
          <p:cNvPr id="1447" name="Shape 12"/>
          <p:cNvSpPr/>
          <p:nvPr/>
        </p:nvSpPr>
        <p:spPr>
          <a:xfrm>
            <a:off x="457200" y="1737360"/>
            <a:ext cx="411120" cy="25560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448" name="Text 13"/>
          <p:cNvSpPr/>
          <p:nvPr/>
        </p:nvSpPr>
        <p:spPr>
          <a:xfrm>
            <a:off x="457200" y="1737360"/>
            <a:ext cx="41112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rgbClr val="FFFFFF"/>
                </a:solidFill>
                <a:latin typeface="Arial"/>
                <a:ea typeface="Arial"/>
              </a:rPr>
              <a:t>Q2</a:t>
            </a:r>
            <a:endParaRPr lang="en-US" sz="1100" b="0" strike="noStrike" spc="-1">
              <a:solidFill>
                <a:srgbClr val="000000"/>
              </a:solidFill>
              <a:latin typeface="Arial"/>
            </a:endParaRPr>
          </a:p>
        </p:txBody>
      </p:sp>
      <p:sp>
        <p:nvSpPr>
          <p:cNvPr id="1449" name="Shape 14"/>
          <p:cNvSpPr/>
          <p:nvPr/>
        </p:nvSpPr>
        <p:spPr>
          <a:xfrm>
            <a:off x="960120" y="1737360"/>
            <a:ext cx="365400" cy="25560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450" name="Text 15"/>
          <p:cNvSpPr/>
          <p:nvPr/>
        </p:nvSpPr>
        <p:spPr>
          <a:xfrm>
            <a:off x="960120" y="1737360"/>
            <a:ext cx="3654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00" b="1" strike="noStrike" spc="-1">
                <a:solidFill>
                  <a:srgbClr val="009639"/>
                </a:solidFill>
                <a:latin typeface="Calibri"/>
              </a:rPr>
              <a:t>U/A</a:t>
            </a:r>
            <a:endParaRPr lang="en-US" sz="800" b="0" strike="noStrike" spc="-1">
              <a:solidFill>
                <a:srgbClr val="000000"/>
              </a:solidFill>
              <a:latin typeface="Arial"/>
            </a:endParaRPr>
          </a:p>
        </p:txBody>
      </p:sp>
      <p:sp>
        <p:nvSpPr>
          <p:cNvPr id="1451" name="Text 16"/>
          <p:cNvSpPr/>
          <p:nvPr/>
        </p:nvSpPr>
        <p:spPr>
          <a:xfrm>
            <a:off x="1417320" y="1737360"/>
            <a:ext cx="740628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333333"/>
                </a:solidFill>
                <a:latin typeface="Calibri"/>
                <a:ea typeface="Calibri"/>
              </a:rPr>
              <a:t>An application needs cookie persistence and HTTP compression. Can you use a Performance (Layer 4) VS? Why or why not?</a:t>
            </a:r>
            <a:endParaRPr lang="en-US" sz="1000" b="0" strike="noStrike" spc="-1">
              <a:solidFill>
                <a:srgbClr val="000000"/>
              </a:solidFill>
              <a:latin typeface="Arial"/>
            </a:endParaRPr>
          </a:p>
        </p:txBody>
      </p:sp>
      <p:sp>
        <p:nvSpPr>
          <p:cNvPr id="1452" name="Shape 17"/>
          <p:cNvSpPr/>
          <p:nvPr/>
        </p:nvSpPr>
        <p:spPr>
          <a:xfrm>
            <a:off x="457200" y="2606040"/>
            <a:ext cx="411120" cy="25560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453" name="Text 18"/>
          <p:cNvSpPr/>
          <p:nvPr/>
        </p:nvSpPr>
        <p:spPr>
          <a:xfrm>
            <a:off x="457200" y="2606040"/>
            <a:ext cx="41112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rgbClr val="FFFFFF"/>
                </a:solidFill>
                <a:latin typeface="Arial"/>
                <a:ea typeface="Arial"/>
              </a:rPr>
              <a:t>Q3</a:t>
            </a:r>
            <a:endParaRPr lang="en-US" sz="1100" b="0" strike="noStrike" spc="-1">
              <a:solidFill>
                <a:srgbClr val="000000"/>
              </a:solidFill>
              <a:latin typeface="Arial"/>
            </a:endParaRPr>
          </a:p>
        </p:txBody>
      </p:sp>
      <p:sp>
        <p:nvSpPr>
          <p:cNvPr id="1454" name="Shape 19"/>
          <p:cNvSpPr/>
          <p:nvPr/>
        </p:nvSpPr>
        <p:spPr>
          <a:xfrm>
            <a:off x="960120" y="2606040"/>
            <a:ext cx="365400" cy="25560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455" name="Text 20"/>
          <p:cNvSpPr/>
          <p:nvPr/>
        </p:nvSpPr>
        <p:spPr>
          <a:xfrm>
            <a:off x="960120" y="2606040"/>
            <a:ext cx="3654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00" b="1" strike="noStrike" spc="-1">
                <a:solidFill>
                  <a:srgbClr val="009639"/>
                </a:solidFill>
                <a:latin typeface="Calibri"/>
              </a:rPr>
              <a:t>U/A</a:t>
            </a:r>
            <a:endParaRPr lang="en-US" sz="800" b="0" strike="noStrike" spc="-1">
              <a:solidFill>
                <a:srgbClr val="000000"/>
              </a:solidFill>
              <a:latin typeface="Arial"/>
            </a:endParaRPr>
          </a:p>
        </p:txBody>
      </p:sp>
      <p:sp>
        <p:nvSpPr>
          <p:cNvPr id="1456" name="Text 21"/>
          <p:cNvSpPr/>
          <p:nvPr/>
        </p:nvSpPr>
        <p:spPr>
          <a:xfrm>
            <a:off x="1417320" y="2606040"/>
            <a:ext cx="740628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333333"/>
                </a:solidFill>
                <a:latin typeface="Calibri"/>
                <a:ea typeface="Calibri"/>
              </a:rPr>
              <a:t>You need to allow web administrators from 10.1.10.0/24 to SSH, HTTP, and ping servers on 10.1.20.0/24 without creating separate VS per service. What VS type and configuration do you use?</a:t>
            </a:r>
            <a:endParaRPr lang="en-US" sz="1000" b="0" strike="noStrike" spc="-1">
              <a:solidFill>
                <a:srgbClr val="000000"/>
              </a:solidFill>
              <a:latin typeface="Arial"/>
            </a:endParaRPr>
          </a:p>
        </p:txBody>
      </p:sp>
      <p:sp>
        <p:nvSpPr>
          <p:cNvPr id="1457" name="Shape 22"/>
          <p:cNvSpPr/>
          <p:nvPr/>
        </p:nvSpPr>
        <p:spPr>
          <a:xfrm>
            <a:off x="457200" y="3474720"/>
            <a:ext cx="411120" cy="25560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458" name="Text 23"/>
          <p:cNvSpPr/>
          <p:nvPr/>
        </p:nvSpPr>
        <p:spPr>
          <a:xfrm>
            <a:off x="457200" y="3474720"/>
            <a:ext cx="41112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rgbClr val="FFFFFF"/>
                </a:solidFill>
                <a:latin typeface="Arial"/>
                <a:ea typeface="Arial"/>
              </a:rPr>
              <a:t>Q4</a:t>
            </a:r>
            <a:endParaRPr lang="en-US" sz="1100" b="0" strike="noStrike" spc="-1">
              <a:solidFill>
                <a:srgbClr val="000000"/>
              </a:solidFill>
              <a:latin typeface="Arial"/>
            </a:endParaRPr>
          </a:p>
        </p:txBody>
      </p:sp>
      <p:sp>
        <p:nvSpPr>
          <p:cNvPr id="1459" name="Shape 24"/>
          <p:cNvSpPr/>
          <p:nvPr/>
        </p:nvSpPr>
        <p:spPr>
          <a:xfrm>
            <a:off x="960120" y="3474720"/>
            <a:ext cx="365400" cy="25560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460" name="Text 25"/>
          <p:cNvSpPr/>
          <p:nvPr/>
        </p:nvSpPr>
        <p:spPr>
          <a:xfrm>
            <a:off x="960120" y="3474720"/>
            <a:ext cx="3654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00" b="1" strike="noStrike" spc="-1">
                <a:solidFill>
                  <a:srgbClr val="009639"/>
                </a:solidFill>
                <a:latin typeface="Calibri"/>
              </a:rPr>
              <a:t>U/A</a:t>
            </a:r>
            <a:endParaRPr lang="en-US" sz="800" b="0" strike="noStrike" spc="-1">
              <a:solidFill>
                <a:srgbClr val="000000"/>
              </a:solidFill>
              <a:latin typeface="Arial"/>
            </a:endParaRPr>
          </a:p>
        </p:txBody>
      </p:sp>
      <p:sp>
        <p:nvSpPr>
          <p:cNvPr id="1461" name="Text 26"/>
          <p:cNvSpPr/>
          <p:nvPr/>
        </p:nvSpPr>
        <p:spPr>
          <a:xfrm>
            <a:off x="1417320" y="3474720"/>
            <a:ext cx="740628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333333"/>
                </a:solidFill>
                <a:latin typeface="Calibri"/>
                <a:ea typeface="Calibri"/>
              </a:rPr>
              <a:t>You enable a packet filter blocking port 21. An active FTP session continues to work. A new FTP connection fails. Why does the existing session survive?</a:t>
            </a:r>
            <a:endParaRPr lang="en-US" sz="1000" b="0" strike="noStrike" spc="-1">
              <a:solidFill>
                <a:srgbClr val="000000"/>
              </a:solidFill>
              <a:latin typeface="Arial"/>
            </a:endParaRPr>
          </a:p>
        </p:txBody>
      </p:sp>
      <p:sp>
        <p:nvSpPr>
          <p:cNvPr id="1462" name="Shape 27"/>
          <p:cNvSpPr/>
          <p:nvPr/>
        </p:nvSpPr>
        <p:spPr>
          <a:xfrm>
            <a:off x="365760" y="4343400"/>
            <a:ext cx="8412120" cy="273960"/>
          </a:xfrm>
          <a:prstGeom prst="rect">
            <a:avLst/>
          </a:prstGeom>
          <a:solidFill>
            <a:srgbClr val="E8F5E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463" name="Text 28"/>
          <p:cNvSpPr/>
          <p:nvPr/>
        </p:nvSpPr>
        <p:spPr>
          <a:xfrm>
            <a:off x="548640" y="4343400"/>
            <a:ext cx="80463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strike="noStrike" spc="-1">
                <a:solidFill>
                  <a:srgbClr val="1B5E20"/>
                </a:solidFill>
                <a:latin typeface="Calibri"/>
                <a:ea typeface="Calibri"/>
              </a:rPr>
              <a:t>Most specific VS wins: host+port &gt; host+wildcard &gt; network+port &gt; network+wildcard &gt; 0.0.0.0:port &gt; 0.0.0.0:*</a:t>
            </a:r>
            <a:endParaRPr lang="en-US" sz="900" b="0" strike="noStrike" spc="-1">
              <a:solidFill>
                <a:srgbClr val="000000"/>
              </a:solidFill>
              <a:latin typeface="Aria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64"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465"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466"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467"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468"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469"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62    © 2026 F5</a:t>
            </a:r>
            <a:endParaRPr lang="en-US" sz="800" b="0" strike="noStrike" spc="-1">
              <a:solidFill>
                <a:srgbClr val="000000"/>
              </a:solidFill>
              <a:latin typeface="Arial"/>
            </a:endParaRPr>
          </a:p>
        </p:txBody>
      </p:sp>
      <p:pic>
        <p:nvPicPr>
          <p:cNvPr id="1470" name="Image 0" descr="preencoded.png"/>
          <p:cNvPicPr/>
          <p:nvPr/>
        </p:nvPicPr>
        <p:blipFill>
          <a:blip r:embed="rId3"/>
          <a:stretch/>
        </p:blipFill>
        <p:spPr>
          <a:xfrm>
            <a:off x="8458200" y="4663440"/>
            <a:ext cx="383760" cy="383760"/>
          </a:xfrm>
          <a:prstGeom prst="rect">
            <a:avLst/>
          </a:prstGeom>
          <a:ln w="0">
            <a:noFill/>
          </a:ln>
        </p:spPr>
      </p:pic>
      <p:sp>
        <p:nvSpPr>
          <p:cNvPr id="1471" name="Text 6"/>
          <p:cNvSpPr/>
          <p:nvPr/>
        </p:nvSpPr>
        <p:spPr>
          <a:xfrm>
            <a:off x="457200" y="274320"/>
            <a:ext cx="82292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Exam checkpoints (continued)</a:t>
            </a:r>
            <a:endParaRPr lang="en-US" sz="2800" b="0" strike="noStrike" spc="-1">
              <a:solidFill>
                <a:srgbClr val="000000"/>
              </a:solidFill>
              <a:latin typeface="Arial"/>
            </a:endParaRPr>
          </a:p>
        </p:txBody>
      </p:sp>
      <p:sp>
        <p:nvSpPr>
          <p:cNvPr id="1472" name="Shape 7"/>
          <p:cNvSpPr/>
          <p:nvPr/>
        </p:nvSpPr>
        <p:spPr>
          <a:xfrm>
            <a:off x="457200" y="914400"/>
            <a:ext cx="411120" cy="25560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473" name="Text 8"/>
          <p:cNvSpPr/>
          <p:nvPr/>
        </p:nvSpPr>
        <p:spPr>
          <a:xfrm>
            <a:off x="457200" y="914400"/>
            <a:ext cx="41112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rgbClr val="FFFFFF"/>
                </a:solidFill>
                <a:latin typeface="Arial"/>
                <a:ea typeface="Arial"/>
              </a:rPr>
              <a:t>Q5</a:t>
            </a:r>
            <a:endParaRPr lang="en-US" sz="1100" b="0" strike="noStrike" spc="-1">
              <a:solidFill>
                <a:srgbClr val="000000"/>
              </a:solidFill>
              <a:latin typeface="Arial"/>
            </a:endParaRPr>
          </a:p>
        </p:txBody>
      </p:sp>
      <p:sp>
        <p:nvSpPr>
          <p:cNvPr id="1474" name="Shape 9"/>
          <p:cNvSpPr/>
          <p:nvPr/>
        </p:nvSpPr>
        <p:spPr>
          <a:xfrm>
            <a:off x="960120" y="914400"/>
            <a:ext cx="365400" cy="25560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475" name="Text 10"/>
          <p:cNvSpPr/>
          <p:nvPr/>
        </p:nvSpPr>
        <p:spPr>
          <a:xfrm>
            <a:off x="960120" y="914400"/>
            <a:ext cx="3654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00" b="1" strike="noStrike" spc="-1">
                <a:solidFill>
                  <a:srgbClr val="009639"/>
                </a:solidFill>
                <a:latin typeface="Calibri"/>
              </a:rPr>
              <a:t>U/A</a:t>
            </a:r>
            <a:endParaRPr lang="en-US" sz="800" b="0" strike="noStrike" spc="-1">
              <a:solidFill>
                <a:srgbClr val="000000"/>
              </a:solidFill>
              <a:latin typeface="Arial"/>
            </a:endParaRPr>
          </a:p>
        </p:txBody>
      </p:sp>
      <p:sp>
        <p:nvSpPr>
          <p:cNvPr id="1476" name="Text 11"/>
          <p:cNvSpPr/>
          <p:nvPr/>
        </p:nvSpPr>
        <p:spPr>
          <a:xfrm>
            <a:off x="1417320" y="914400"/>
            <a:ext cx="740628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strike="noStrike" spc="-1">
                <a:solidFill>
                  <a:srgbClr val="333333"/>
                </a:solidFill>
                <a:latin typeface="Calibri"/>
                <a:ea typeface="Calibri"/>
              </a:rPr>
              <a:t>What is the key difference between a Standard VS and a Performance (Layer 4) VS in terms of how TCP connections are handled?</a:t>
            </a:r>
            <a:endParaRPr lang="en-US" sz="1100" b="0" strike="noStrike" spc="-1">
              <a:solidFill>
                <a:srgbClr val="000000"/>
              </a:solidFill>
              <a:latin typeface="Arial"/>
            </a:endParaRPr>
          </a:p>
        </p:txBody>
      </p:sp>
      <p:sp>
        <p:nvSpPr>
          <p:cNvPr id="1477" name="Shape 12"/>
          <p:cNvSpPr/>
          <p:nvPr/>
        </p:nvSpPr>
        <p:spPr>
          <a:xfrm>
            <a:off x="457200" y="2194560"/>
            <a:ext cx="411120" cy="25560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478" name="Text 13"/>
          <p:cNvSpPr/>
          <p:nvPr/>
        </p:nvSpPr>
        <p:spPr>
          <a:xfrm>
            <a:off x="457200" y="2194560"/>
            <a:ext cx="41112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rgbClr val="FFFFFF"/>
                </a:solidFill>
                <a:latin typeface="Arial"/>
                <a:ea typeface="Arial"/>
              </a:rPr>
              <a:t>Q6</a:t>
            </a:r>
            <a:endParaRPr lang="en-US" sz="1100" b="0" strike="noStrike" spc="-1">
              <a:solidFill>
                <a:srgbClr val="000000"/>
              </a:solidFill>
              <a:latin typeface="Arial"/>
            </a:endParaRPr>
          </a:p>
        </p:txBody>
      </p:sp>
      <p:sp>
        <p:nvSpPr>
          <p:cNvPr id="1479" name="Shape 14"/>
          <p:cNvSpPr/>
          <p:nvPr/>
        </p:nvSpPr>
        <p:spPr>
          <a:xfrm>
            <a:off x="960120" y="2194560"/>
            <a:ext cx="365400" cy="25560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480" name="Text 15"/>
          <p:cNvSpPr/>
          <p:nvPr/>
        </p:nvSpPr>
        <p:spPr>
          <a:xfrm>
            <a:off x="960120" y="2194560"/>
            <a:ext cx="3654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00" b="1" strike="noStrike" spc="-1">
                <a:solidFill>
                  <a:srgbClr val="009639"/>
                </a:solidFill>
                <a:latin typeface="Calibri"/>
              </a:rPr>
              <a:t>U/A</a:t>
            </a:r>
            <a:endParaRPr lang="en-US" sz="800" b="0" strike="noStrike" spc="-1">
              <a:solidFill>
                <a:srgbClr val="000000"/>
              </a:solidFill>
              <a:latin typeface="Arial"/>
            </a:endParaRPr>
          </a:p>
        </p:txBody>
      </p:sp>
      <p:sp>
        <p:nvSpPr>
          <p:cNvPr id="1481" name="Text 16"/>
          <p:cNvSpPr/>
          <p:nvPr/>
        </p:nvSpPr>
        <p:spPr>
          <a:xfrm>
            <a:off x="1417320" y="2194560"/>
            <a:ext cx="740628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strike="noStrike" spc="-1">
                <a:solidFill>
                  <a:srgbClr val="333333"/>
                </a:solidFill>
                <a:latin typeface="Calibri"/>
                <a:ea typeface="Calibri"/>
              </a:rPr>
              <a:t>Two virtual servers match the same destination IP:port. VS-A has Source 10.1.10.0/24, VS-B has Source 0.0.0.0/0. A client from 10.1.10.50 connects. Which VS processes the traffic?</a:t>
            </a:r>
            <a:endParaRPr lang="en-US" sz="1100" b="0" strike="noStrike" spc="-1">
              <a:solidFill>
                <a:srgbClr val="000000"/>
              </a:solidFill>
              <a:latin typeface="Arial"/>
            </a:endParaRPr>
          </a:p>
        </p:txBody>
      </p:sp>
      <p:sp>
        <p:nvSpPr>
          <p:cNvPr id="1482" name="Shape 17"/>
          <p:cNvSpPr/>
          <p:nvPr/>
        </p:nvSpPr>
        <p:spPr>
          <a:xfrm>
            <a:off x="365760" y="3474720"/>
            <a:ext cx="8412120" cy="1325880"/>
          </a:xfrm>
          <a:prstGeom prst="rect">
            <a:avLst/>
          </a:prstGeom>
          <a:solidFill>
            <a:srgbClr val="E8F5E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483" name="Text 18"/>
          <p:cNvSpPr/>
          <p:nvPr/>
        </p:nvSpPr>
        <p:spPr>
          <a:xfrm>
            <a:off x="548640" y="3493080"/>
            <a:ext cx="8046360" cy="1060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1" strike="noStrike" spc="-1">
                <a:solidFill>
                  <a:srgbClr val="009639"/>
                </a:solidFill>
                <a:latin typeface="Calibri"/>
              </a:rPr>
              <a:t>Packet processing order (memorize this)</a:t>
            </a:r>
            <a:endParaRPr lang="en-US" sz="1300" b="0" strike="noStrike" spc="-1">
              <a:solidFill>
                <a:srgbClr val="000000"/>
              </a:solidFill>
              <a:latin typeface="Arial"/>
            </a:endParaRPr>
          </a:p>
          <a:p>
            <a:pPr defTabSz="914400">
              <a:lnSpc>
                <a:spcPct val="100000"/>
              </a:lnSpc>
              <a:tabLst>
                <a:tab pos="0" algn="l"/>
              </a:tabLst>
            </a:pPr>
            <a:r>
              <a:rPr lang="en-US" sz="1000" b="0" strike="noStrike" spc="-1">
                <a:solidFill>
                  <a:srgbClr val="1B5E20"/>
                </a:solidFill>
                <a:latin typeface="Calibri"/>
                <a:ea typeface="Calibri"/>
              </a:rPr>
              <a:t>1. Existing connections  (already in connection table → follow existing flow)</a:t>
            </a:r>
            <a:endParaRPr lang="en-US" sz="1000" b="0" strike="noStrike" spc="-1">
              <a:solidFill>
                <a:srgbClr val="000000"/>
              </a:solidFill>
              <a:latin typeface="Arial"/>
            </a:endParaRPr>
          </a:p>
          <a:p>
            <a:pPr defTabSz="914400">
              <a:lnSpc>
                <a:spcPct val="100000"/>
              </a:lnSpc>
              <a:tabLst>
                <a:tab pos="0" algn="l"/>
              </a:tabLst>
            </a:pPr>
            <a:r>
              <a:rPr lang="en-US" sz="1000" b="0" strike="noStrike" spc="-1">
                <a:solidFill>
                  <a:srgbClr val="1B5E20"/>
                </a:solidFill>
                <a:latin typeface="Calibri"/>
                <a:ea typeface="Calibri"/>
              </a:rPr>
              <a:t>2. Packet filters / AFM  (evaluated before VS — can block traffic from reaching VS)</a:t>
            </a:r>
            <a:endParaRPr lang="en-US" sz="1000" b="0" strike="noStrike" spc="-1">
              <a:solidFill>
                <a:srgbClr val="000000"/>
              </a:solidFill>
              <a:latin typeface="Arial"/>
            </a:endParaRPr>
          </a:p>
          <a:p>
            <a:pPr defTabSz="914400">
              <a:lnSpc>
                <a:spcPct val="100000"/>
              </a:lnSpc>
              <a:tabLst>
                <a:tab pos="0" algn="l"/>
              </a:tabLst>
            </a:pPr>
            <a:r>
              <a:rPr lang="en-US" sz="1000" b="0" strike="noStrike" spc="-1">
                <a:solidFill>
                  <a:srgbClr val="1B5E20"/>
                </a:solidFill>
                <a:latin typeface="Calibri"/>
                <a:ea typeface="Calibri"/>
              </a:rPr>
              <a:t>3. Virtual server  (matched by specificity: host+port &gt; host+wildcard &gt; network &gt; wildcard)</a:t>
            </a:r>
            <a:endParaRPr lang="en-US" sz="1000" b="0" strike="noStrike" spc="-1">
              <a:solidFill>
                <a:srgbClr val="000000"/>
              </a:solidFill>
              <a:latin typeface="Arial"/>
            </a:endParaRPr>
          </a:p>
          <a:p>
            <a:pPr defTabSz="914400">
              <a:lnSpc>
                <a:spcPct val="100000"/>
              </a:lnSpc>
              <a:tabLst>
                <a:tab pos="0" algn="l"/>
              </a:tabLst>
            </a:pPr>
            <a:r>
              <a:rPr lang="en-US" sz="1000" b="0" strike="noStrike" spc="-1">
                <a:solidFill>
                  <a:srgbClr val="1B5E20"/>
                </a:solidFill>
                <a:latin typeface="Calibri"/>
                <a:ea typeface="Calibri"/>
              </a:rPr>
              <a:t>4. SNAT  (source address translation for outbound traffic)</a:t>
            </a:r>
            <a:endParaRPr lang="en-US" sz="1000" b="0" strike="noStrike" spc="-1">
              <a:solidFill>
                <a:srgbClr val="000000"/>
              </a:solidFill>
              <a:latin typeface="Arial"/>
            </a:endParaRPr>
          </a:p>
          <a:p>
            <a:pPr defTabSz="914400">
              <a:lnSpc>
                <a:spcPct val="100000"/>
              </a:lnSpc>
              <a:tabLst>
                <a:tab pos="0" algn="l"/>
              </a:tabLst>
            </a:pPr>
            <a:r>
              <a:rPr lang="en-US" sz="1000" b="0" strike="noStrike" spc="-1">
                <a:solidFill>
                  <a:srgbClr val="1B5E20"/>
                </a:solidFill>
                <a:latin typeface="Calibri"/>
                <a:ea typeface="Calibri"/>
              </a:rPr>
              <a:t>5. NAT  (1:1 address translation)</a:t>
            </a:r>
            <a:endParaRPr lang="en-US" sz="1000" b="0" strike="noStrike" spc="-1">
              <a:solidFill>
                <a:srgbClr val="000000"/>
              </a:solidFill>
              <a:latin typeface="Arial"/>
            </a:endParaRPr>
          </a:p>
          <a:p>
            <a:pPr defTabSz="914400">
              <a:lnSpc>
                <a:spcPct val="100000"/>
              </a:lnSpc>
              <a:tabLst>
                <a:tab pos="0" algn="l"/>
              </a:tabLst>
            </a:pPr>
            <a:r>
              <a:rPr lang="en-US" sz="1000" b="0" strike="noStrike" spc="-1">
                <a:solidFill>
                  <a:srgbClr val="1B5E20"/>
                </a:solidFill>
                <a:latin typeface="Calibri"/>
                <a:ea typeface="Calibri"/>
              </a:rPr>
              <a:t>6. Self IP  (traffic destined to BIG-IP's own addresses)</a:t>
            </a:r>
            <a:endParaRPr lang="en-US" sz="1000" b="0" strike="noStrike" spc="-1">
              <a:solidFill>
                <a:srgbClr val="000000"/>
              </a:solidFill>
              <a:latin typeface="Arial"/>
            </a:endParaRPr>
          </a:p>
          <a:p>
            <a:pPr defTabSz="914400">
              <a:lnSpc>
                <a:spcPct val="100000"/>
              </a:lnSpc>
              <a:tabLst>
                <a:tab pos="0" algn="l"/>
              </a:tabLst>
            </a:pPr>
            <a:r>
              <a:rPr lang="en-US" sz="1000" b="0" strike="noStrike" spc="-1">
                <a:solidFill>
                  <a:srgbClr val="1B5E20"/>
                </a:solidFill>
                <a:latin typeface="Calibri"/>
                <a:ea typeface="Calibri"/>
              </a:rPr>
              <a:t>7. Drop  (no match anywhere → silently dropped, no RST sent)</a:t>
            </a:r>
            <a:endParaRPr lang="en-US" sz="1000" b="0" strike="noStrike" spc="-1">
              <a:solidFill>
                <a:srgbClr val="000000"/>
              </a:solidFill>
              <a:latin typeface="Arial"/>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484" name="Shape 0"/>
          <p:cNvSpPr/>
          <p:nvPr/>
        </p:nvSpPr>
        <p:spPr>
          <a:xfrm>
            <a:off x="0" y="507024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485" name="Shape 1"/>
          <p:cNvSpPr/>
          <p:nvPr/>
        </p:nvSpPr>
        <p:spPr>
          <a:xfrm>
            <a:off x="1371600" y="507024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486" name="Shape 2"/>
          <p:cNvSpPr/>
          <p:nvPr/>
        </p:nvSpPr>
        <p:spPr>
          <a:xfrm>
            <a:off x="4114800" y="507024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487" name="Shape 3"/>
          <p:cNvSpPr/>
          <p:nvPr/>
        </p:nvSpPr>
        <p:spPr>
          <a:xfrm>
            <a:off x="5486400" y="507024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488" name="Shape 4"/>
          <p:cNvSpPr/>
          <p:nvPr/>
        </p:nvSpPr>
        <p:spPr>
          <a:xfrm>
            <a:off x="7772400" y="507024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pic>
        <p:nvPicPr>
          <p:cNvPr id="1489" name="Image 0" descr="preencoded.png"/>
          <p:cNvPicPr/>
          <p:nvPr/>
        </p:nvPicPr>
        <p:blipFill>
          <a:blip r:embed="rId3"/>
          <a:stretch/>
        </p:blipFill>
        <p:spPr>
          <a:xfrm>
            <a:off x="365760" y="274320"/>
            <a:ext cx="639720" cy="639720"/>
          </a:xfrm>
          <a:prstGeom prst="rect">
            <a:avLst/>
          </a:prstGeom>
          <a:ln w="0">
            <a:noFill/>
          </a:ln>
        </p:spPr>
      </p:pic>
      <p:graphicFrame>
        <p:nvGraphicFramePr>
          <p:cNvPr id="1490" name="Table 0"/>
          <p:cNvGraphicFramePr/>
          <p:nvPr/>
        </p:nvGraphicFramePr>
        <p:xfrm>
          <a:off x="365760" y="1097280"/>
          <a:ext cx="6675120" cy="487680"/>
        </p:xfrm>
        <a:graphic>
          <a:graphicData uri="http://schemas.openxmlformats.org/drawingml/2006/table">
            <a:tbl>
              <a:tblPr/>
              <a:tblGrid>
                <a:gridCol w="146304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gridCol w="4754880">
                  <a:extLst>
                    <a:ext uri="{9D8B030D-6E8A-4147-A177-3AD203B41FA5}">
                      <a16:colId xmlns:a16="http://schemas.microsoft.com/office/drawing/2014/main" val="20002"/>
                    </a:ext>
                  </a:extLst>
                </a:gridCol>
              </a:tblGrid>
              <a:tr h="0">
                <a:tc>
                  <a:txBody>
                    <a:bodyPr/>
                    <a:lstStyle/>
                    <a:p>
                      <a:pPr defTabSz="914400">
                        <a:lnSpc>
                          <a:spcPct val="100000"/>
                        </a:lnSpc>
                        <a:tabLst>
                          <a:tab pos="0" algn="l"/>
                        </a:tabLst>
                      </a:pPr>
                      <a:r>
                        <a:rPr lang="en-US" sz="1000" b="0" strike="noStrike" spc="-1">
                          <a:solidFill>
                            <a:srgbClr val="FFFFFF"/>
                          </a:solidFill>
                          <a:latin typeface="Courier New"/>
                          <a:ea typeface="Courier New"/>
                        </a:rPr>
                        <a:t>F5CTSLTM2.03</a:t>
                      </a:r>
                      <a:endParaRPr lang="en-US" sz="1000" b="0" strike="noStrike" spc="-1">
                        <a:solidFill>
                          <a:srgbClr val="FFFFFF"/>
                        </a:solidFill>
                        <a:latin typeface="Arial"/>
                      </a:endParaRPr>
                    </a:p>
                  </a:txBody>
                  <a:tcPr marL="75960" marR="75960">
                    <a:lnL>
                      <a:noFill/>
                    </a:lnL>
                    <a:lnR>
                      <a:noFill/>
                    </a:lnR>
                    <a:lnT>
                      <a:noFill/>
                    </a:lnT>
                    <a:lnB>
                      <a:noFill/>
                    </a:lnB>
                    <a:solidFill>
                      <a:srgbClr val="1A1A1A"/>
                    </a:solidFill>
                  </a:tcPr>
                </a:tc>
                <a:tc>
                  <a:txBody>
                    <a:bodyPr/>
                    <a:lstStyle/>
                    <a:p>
                      <a:pPr algn="ctr" defTabSz="914400">
                        <a:lnSpc>
                          <a:spcPct val="100000"/>
                        </a:lnSpc>
                        <a:tabLst>
                          <a:tab pos="0" algn="l"/>
                        </a:tabLst>
                      </a:pPr>
                      <a:r>
                        <a:rPr lang="en-US" sz="1000" b="1" strike="noStrike" spc="-1">
                          <a:solidFill>
                            <a:srgbClr val="009639"/>
                          </a:solidFill>
                          <a:latin typeface="Calibri"/>
                        </a:rPr>
                        <a:t>U/A</a:t>
                      </a:r>
                      <a:endParaRPr lang="en-US" sz="1000" b="0" strike="noStrike" spc="-1">
                        <a:solidFill>
                          <a:srgbClr val="FFFFFF"/>
                        </a:solidFill>
                        <a:latin typeface="Arial"/>
                      </a:endParaRPr>
                    </a:p>
                  </a:txBody>
                  <a:tcPr marL="75960" marR="75960">
                    <a:lnL>
                      <a:noFill/>
                    </a:lnL>
                    <a:lnR>
                      <a:noFill/>
                    </a:lnR>
                    <a:lnT>
                      <a:noFill/>
                    </a:lnT>
                    <a:lnB>
                      <a:noFill/>
                    </a:lnB>
                    <a:solidFill>
                      <a:srgbClr val="1A1A1A"/>
                    </a:solidFill>
                  </a:tcPr>
                </a:tc>
                <a:tc>
                  <a:txBody>
                    <a:bodyPr/>
                    <a:lstStyle/>
                    <a:p>
                      <a:pPr defTabSz="914400">
                        <a:lnSpc>
                          <a:spcPct val="100000"/>
                        </a:lnSpc>
                        <a:tabLst>
                          <a:tab pos="0" algn="l"/>
                        </a:tabLst>
                      </a:pPr>
                      <a:r>
                        <a:rPr lang="en-US" sz="1000" b="0" strike="noStrike" spc="-1">
                          <a:solidFill>
                            <a:srgbClr val="666666"/>
                          </a:solidFill>
                          <a:latin typeface="Calibri"/>
                        </a:rPr>
                        <a:t>Choose VS type and load balancing type for requirements</a:t>
                      </a:r>
                      <a:endParaRPr lang="en-US" sz="1000" b="0" strike="noStrike" spc="-1">
                        <a:solidFill>
                          <a:srgbClr val="FFFFFF"/>
                        </a:solidFill>
                        <a:latin typeface="Arial"/>
                      </a:endParaRPr>
                    </a:p>
                  </a:txBody>
                  <a:tcPr marL="75960" marR="75960">
                    <a:lnL>
                      <a:noFill/>
                    </a:lnL>
                    <a:lnR>
                      <a:noFill/>
                    </a:lnR>
                    <a:lnT>
                      <a:noFill/>
                    </a:lnT>
                    <a:lnB>
                      <a:noFill/>
                    </a:lnB>
                    <a:solidFill>
                      <a:srgbClr val="1A1A1A"/>
                    </a:solidFill>
                  </a:tcPr>
                </a:tc>
                <a:extLst>
                  <a:ext uri="{0D108BD9-81ED-4DB2-BD59-A6C34878D82A}">
                    <a16:rowId xmlns:a16="http://schemas.microsoft.com/office/drawing/2014/main" val="10000"/>
                  </a:ext>
                </a:extLst>
              </a:tr>
              <a:tr h="0">
                <a:tc>
                  <a:txBody>
                    <a:bodyPr/>
                    <a:lstStyle/>
                    <a:p>
                      <a:pPr defTabSz="914400">
                        <a:lnSpc>
                          <a:spcPct val="100000"/>
                        </a:lnSpc>
                        <a:tabLst>
                          <a:tab pos="0" algn="l"/>
                        </a:tabLst>
                      </a:pPr>
                      <a:r>
                        <a:rPr lang="en-US" sz="1000" b="0" strike="noStrike" spc="-1">
                          <a:solidFill>
                            <a:srgbClr val="FFFFFF"/>
                          </a:solidFill>
                          <a:latin typeface="Courier New"/>
                          <a:ea typeface="Courier New"/>
                        </a:rPr>
                        <a:t>F5CTSLTM2.09</a:t>
                      </a:r>
                      <a:endParaRPr lang="en-US" sz="1000" b="0" strike="noStrike" spc="-1">
                        <a:solidFill>
                          <a:srgbClr val="FFFFFF"/>
                        </a:solidFill>
                        <a:latin typeface="Arial"/>
                      </a:endParaRPr>
                    </a:p>
                  </a:txBody>
                  <a:tcPr marL="75960" marR="75960">
                    <a:lnL>
                      <a:noFill/>
                    </a:lnL>
                    <a:lnR>
                      <a:noFill/>
                    </a:lnR>
                    <a:lnT>
                      <a:noFill/>
                    </a:lnT>
                    <a:lnB>
                      <a:noFill/>
                    </a:lnB>
                    <a:solidFill>
                      <a:srgbClr val="111111"/>
                    </a:solidFill>
                  </a:tcPr>
                </a:tc>
                <a:tc>
                  <a:txBody>
                    <a:bodyPr/>
                    <a:lstStyle/>
                    <a:p>
                      <a:pPr algn="ctr" defTabSz="914400">
                        <a:lnSpc>
                          <a:spcPct val="100000"/>
                        </a:lnSpc>
                        <a:tabLst>
                          <a:tab pos="0" algn="l"/>
                        </a:tabLst>
                      </a:pPr>
                      <a:r>
                        <a:rPr lang="en-US" sz="1000" b="1" strike="noStrike" spc="-1">
                          <a:solidFill>
                            <a:srgbClr val="009639"/>
                          </a:solidFill>
                          <a:latin typeface="Calibri"/>
                        </a:rPr>
                        <a:t>U/A</a:t>
                      </a:r>
                      <a:endParaRPr lang="en-US" sz="1000" b="0" strike="noStrike" spc="-1">
                        <a:solidFill>
                          <a:srgbClr val="FFFFFF"/>
                        </a:solidFill>
                        <a:latin typeface="Arial"/>
                      </a:endParaRPr>
                    </a:p>
                  </a:txBody>
                  <a:tcPr marL="75960" marR="75960">
                    <a:lnL>
                      <a:noFill/>
                    </a:lnL>
                    <a:lnR>
                      <a:noFill/>
                    </a:lnR>
                    <a:lnT>
                      <a:noFill/>
                    </a:lnT>
                    <a:lnB>
                      <a:noFill/>
                    </a:lnB>
                    <a:solidFill>
                      <a:srgbClr val="111111"/>
                    </a:solidFill>
                  </a:tcPr>
                </a:tc>
                <a:tc>
                  <a:txBody>
                    <a:bodyPr/>
                    <a:lstStyle/>
                    <a:p>
                      <a:pPr defTabSz="914400">
                        <a:lnSpc>
                          <a:spcPct val="100000"/>
                        </a:lnSpc>
                        <a:tabLst>
                          <a:tab pos="0" algn="l"/>
                        </a:tabLst>
                      </a:pPr>
                      <a:r>
                        <a:rPr lang="en-US" sz="1000" b="0" strike="noStrike" spc="-1">
                          <a:solidFill>
                            <a:srgbClr val="666666"/>
                          </a:solidFill>
                          <a:latin typeface="Calibri"/>
                        </a:rPr>
                        <a:t>Determine how config changes affect existing and new connections</a:t>
                      </a:r>
                      <a:endParaRPr lang="en-US" sz="1000" b="0" strike="noStrike" spc="-1">
                        <a:solidFill>
                          <a:srgbClr val="FFFFFF"/>
                        </a:solidFill>
                        <a:latin typeface="Arial"/>
                      </a:endParaRPr>
                    </a:p>
                  </a:txBody>
                  <a:tcPr marL="75960" marR="75960">
                    <a:lnL>
                      <a:noFill/>
                    </a:lnL>
                    <a:lnR>
                      <a:noFill/>
                    </a:lnR>
                    <a:lnT>
                      <a:noFill/>
                    </a:lnT>
                    <a:lnB>
                      <a:noFill/>
                    </a:lnB>
                    <a:solidFill>
                      <a:srgbClr val="111111"/>
                    </a:solidFill>
                  </a:tcPr>
                </a:tc>
                <a:extLst>
                  <a:ext uri="{0D108BD9-81ED-4DB2-BD59-A6C34878D82A}">
                    <a16:rowId xmlns:a16="http://schemas.microsoft.com/office/drawing/2014/main" val="10001"/>
                  </a:ext>
                </a:extLst>
              </a:tr>
            </a:tbl>
          </a:graphicData>
        </a:graphic>
      </p:graphicFrame>
      <p:sp>
        <p:nvSpPr>
          <p:cNvPr id="1491" name="Text 5"/>
          <p:cNvSpPr/>
          <p:nvPr/>
        </p:nvSpPr>
        <p:spPr>
          <a:xfrm>
            <a:off x="365760" y="2286000"/>
            <a:ext cx="7314840" cy="1096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strike="noStrike" spc="-1">
                <a:solidFill>
                  <a:srgbClr val="666666"/>
                </a:solidFill>
                <a:latin typeface="Calibri"/>
                <a:ea typeface="Calibri"/>
              </a:rPr>
              <a:t>LAB 7</a:t>
            </a:r>
            <a:endParaRPr lang="en-US" sz="1400" b="0" strike="noStrike" spc="-1">
              <a:solidFill>
                <a:srgbClr val="FFFFFF"/>
              </a:solidFill>
              <a:latin typeface="Arial"/>
            </a:endParaRPr>
          </a:p>
          <a:p>
            <a:pPr defTabSz="914400">
              <a:lnSpc>
                <a:spcPct val="100000"/>
              </a:lnSpc>
              <a:tabLst>
                <a:tab pos="0" algn="l"/>
              </a:tabLst>
            </a:pPr>
            <a:r>
              <a:rPr lang="en-US" sz="3600" b="1" strike="noStrike" spc="-1">
                <a:solidFill>
                  <a:srgbClr val="FFFFFF"/>
                </a:solidFill>
                <a:latin typeface="Arial"/>
                <a:ea typeface="Arial"/>
              </a:rPr>
              <a:t>Load Balancing and Pools</a:t>
            </a:r>
            <a:endParaRPr lang="en-US" sz="3600" b="0" strike="noStrike" spc="-1">
              <a:solidFill>
                <a:srgbClr val="FFFFFF"/>
              </a:solidFill>
              <a:latin typeface="Arial"/>
            </a:endParaRPr>
          </a:p>
        </p:txBody>
      </p:sp>
      <p:sp>
        <p:nvSpPr>
          <p:cNvPr id="1492" name="Text 6"/>
          <p:cNvSpPr/>
          <p:nvPr/>
        </p:nvSpPr>
        <p:spPr>
          <a:xfrm>
            <a:off x="365760" y="3474720"/>
            <a:ext cx="685764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strike="noStrike" spc="-1">
                <a:solidFill>
                  <a:srgbClr val="666666"/>
                </a:solidFill>
                <a:latin typeface="Calibri"/>
                <a:ea typeface="Calibri"/>
              </a:rPr>
              <a:t>Compare load balancing methods (Round Robin, Ratio, Least Connections),</a:t>
            </a:r>
            <a:endParaRPr lang="en-US" sz="1300" b="0" strike="noStrike" spc="-1">
              <a:solidFill>
                <a:srgbClr val="FFFFFF"/>
              </a:solidFill>
              <a:latin typeface="Arial"/>
            </a:endParaRPr>
          </a:p>
          <a:p>
            <a:pPr defTabSz="914400">
              <a:lnSpc>
                <a:spcPct val="100000"/>
              </a:lnSpc>
              <a:tabLst>
                <a:tab pos="0" algn="l"/>
              </a:tabLst>
            </a:pPr>
            <a:r>
              <a:rPr lang="en-US" sz="1300" b="0" strike="noStrike" spc="-1">
                <a:solidFill>
                  <a:srgbClr val="666666"/>
                </a:solidFill>
                <a:latin typeface="Calibri"/>
                <a:ea typeface="Calibri"/>
              </a:rPr>
              <a:t>configure priority groups for DR failover, understand member vs node scope,</a:t>
            </a:r>
            <a:endParaRPr lang="en-US" sz="1300" b="0" strike="noStrike" spc="-1">
              <a:solidFill>
                <a:srgbClr val="FFFFFF"/>
              </a:solidFill>
              <a:latin typeface="Arial"/>
            </a:endParaRPr>
          </a:p>
          <a:p>
            <a:pPr defTabSz="914400">
              <a:lnSpc>
                <a:spcPct val="100000"/>
              </a:lnSpc>
              <a:tabLst>
                <a:tab pos="0" algn="l"/>
              </a:tabLst>
            </a:pPr>
            <a:r>
              <a:rPr lang="en-US" sz="1300" b="0" strike="noStrike" spc="-1">
                <a:solidFill>
                  <a:srgbClr val="666666"/>
                </a:solidFill>
                <a:latin typeface="Calibri"/>
                <a:ea typeface="Calibri"/>
              </a:rPr>
              <a:t>and test persistence interaction with disabled and force-offline members.</a:t>
            </a:r>
            <a:endParaRPr lang="en-US" sz="1300" b="0" strike="noStrike" spc="-1">
              <a:solidFill>
                <a:srgbClr val="FFFFFF"/>
              </a:solidFill>
              <a:latin typeface="Arial"/>
            </a:endParaRPr>
          </a:p>
        </p:txBody>
      </p:sp>
      <p:sp>
        <p:nvSpPr>
          <p:cNvPr id="1493" name="Text 7"/>
          <p:cNvSpPr/>
          <p:nvPr/>
        </p:nvSpPr>
        <p:spPr>
          <a:xfrm>
            <a:off x="365760" y="4297680"/>
            <a:ext cx="45716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strike="noStrike" spc="-1">
                <a:solidFill>
                  <a:srgbClr val="F29A36"/>
                </a:solidFill>
                <a:latin typeface="Calibri"/>
                <a:ea typeface="Calibri"/>
              </a:rPr>
              <a:t>45 min  |  15 min slides + 30 min lab</a:t>
            </a:r>
            <a:endParaRPr lang="en-US" sz="1100" b="0" strike="noStrike" spc="-1">
              <a:solidFill>
                <a:srgbClr val="FFFFFF"/>
              </a:solidFill>
              <a:latin typeface="Arial"/>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94"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495"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496"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497"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498"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499"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64    © 2026 F5</a:t>
            </a:r>
            <a:endParaRPr lang="en-US" sz="800" b="0" strike="noStrike" spc="-1">
              <a:solidFill>
                <a:srgbClr val="000000"/>
              </a:solidFill>
              <a:latin typeface="Arial"/>
            </a:endParaRPr>
          </a:p>
        </p:txBody>
      </p:sp>
      <p:pic>
        <p:nvPicPr>
          <p:cNvPr id="1500" name="Image 0" descr="preencoded.png"/>
          <p:cNvPicPr/>
          <p:nvPr/>
        </p:nvPicPr>
        <p:blipFill>
          <a:blip r:embed="rId3"/>
          <a:stretch/>
        </p:blipFill>
        <p:spPr>
          <a:xfrm>
            <a:off x="8458200" y="4663440"/>
            <a:ext cx="383760" cy="383760"/>
          </a:xfrm>
          <a:prstGeom prst="rect">
            <a:avLst/>
          </a:prstGeom>
          <a:ln w="0">
            <a:noFill/>
          </a:ln>
        </p:spPr>
      </p:pic>
      <p:sp>
        <p:nvSpPr>
          <p:cNvPr id="1501" name="Text 6"/>
          <p:cNvSpPr/>
          <p:nvPr/>
        </p:nvSpPr>
        <p:spPr>
          <a:xfrm>
            <a:off x="457200" y="274320"/>
            <a:ext cx="82292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Load balancing methods</a:t>
            </a:r>
            <a:endParaRPr lang="en-US" sz="2800" b="0" strike="noStrike" spc="-1">
              <a:solidFill>
                <a:srgbClr val="000000"/>
              </a:solidFill>
              <a:latin typeface="Arial"/>
            </a:endParaRPr>
          </a:p>
        </p:txBody>
      </p:sp>
      <p:sp>
        <p:nvSpPr>
          <p:cNvPr id="1502" name="Text 7"/>
          <p:cNvSpPr/>
          <p:nvPr/>
        </p:nvSpPr>
        <p:spPr>
          <a:xfrm>
            <a:off x="457200" y="658440"/>
            <a:ext cx="82292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strike="noStrike" spc="-1">
                <a:solidFill>
                  <a:srgbClr val="666666"/>
                </a:solidFill>
                <a:latin typeface="Calibri"/>
                <a:ea typeface="Calibri"/>
              </a:rPr>
              <a:t>The algorithm that determines which pool member receives the next connection</a:t>
            </a:r>
            <a:endParaRPr lang="en-US" sz="1300" b="0" strike="noStrike" spc="-1">
              <a:solidFill>
                <a:srgbClr val="000000"/>
              </a:solidFill>
              <a:latin typeface="Arial"/>
            </a:endParaRPr>
          </a:p>
        </p:txBody>
      </p:sp>
      <p:graphicFrame>
        <p:nvGraphicFramePr>
          <p:cNvPr id="1503" name="Table 0"/>
          <p:cNvGraphicFramePr/>
          <p:nvPr/>
        </p:nvGraphicFramePr>
        <p:xfrm>
          <a:off x="365760" y="960120"/>
          <a:ext cx="8412480" cy="2423160"/>
        </p:xfrm>
        <a:graphic>
          <a:graphicData uri="http://schemas.openxmlformats.org/drawingml/2006/table">
            <a:tbl>
              <a:tblPr/>
              <a:tblGrid>
                <a:gridCol w="118872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2560320">
                  <a:extLst>
                    <a:ext uri="{9D8B030D-6E8A-4147-A177-3AD203B41FA5}">
                      <a16:colId xmlns:a16="http://schemas.microsoft.com/office/drawing/2014/main" val="20003"/>
                    </a:ext>
                  </a:extLst>
                </a:gridCol>
              </a:tblGrid>
              <a:tr h="0">
                <a:tc>
                  <a:txBody>
                    <a:bodyPr/>
                    <a:lstStyle/>
                    <a:p>
                      <a:pPr defTabSz="914400">
                        <a:lnSpc>
                          <a:spcPct val="100000"/>
                        </a:lnSpc>
                        <a:tabLst>
                          <a:tab pos="0" algn="l"/>
                        </a:tabLst>
                      </a:pPr>
                      <a:r>
                        <a:rPr lang="en-US" sz="900" b="1" strike="noStrike" spc="-1">
                          <a:solidFill>
                            <a:srgbClr val="FFFFFF"/>
                          </a:solidFill>
                          <a:latin typeface="Calibri"/>
                        </a:rPr>
                        <a:t>Method</a:t>
                      </a:r>
                      <a:endParaRPr lang="en-US" sz="9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E41AA"/>
                    </a:solidFill>
                  </a:tcPr>
                </a:tc>
                <a:tc>
                  <a:txBody>
                    <a:bodyPr/>
                    <a:lstStyle/>
                    <a:p>
                      <a:pPr defTabSz="914400">
                        <a:lnSpc>
                          <a:spcPct val="100000"/>
                        </a:lnSpc>
                        <a:tabLst>
                          <a:tab pos="0" algn="l"/>
                        </a:tabLst>
                      </a:pPr>
                      <a:r>
                        <a:rPr lang="en-US" sz="900" b="1" strike="noStrike" spc="-1">
                          <a:solidFill>
                            <a:srgbClr val="FFFFFF"/>
                          </a:solidFill>
                          <a:latin typeface="Calibri"/>
                        </a:rPr>
                        <a:t>How it works</a:t>
                      </a:r>
                      <a:endParaRPr lang="en-US" sz="9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E41AA"/>
                    </a:solidFill>
                  </a:tcPr>
                </a:tc>
                <a:tc>
                  <a:txBody>
                    <a:bodyPr/>
                    <a:lstStyle/>
                    <a:p>
                      <a:pPr defTabSz="914400">
                        <a:lnSpc>
                          <a:spcPct val="100000"/>
                        </a:lnSpc>
                        <a:tabLst>
                          <a:tab pos="0" algn="l"/>
                        </a:tabLst>
                      </a:pPr>
                      <a:r>
                        <a:rPr lang="en-US" sz="900" b="1" strike="noStrike" spc="-1">
                          <a:solidFill>
                            <a:srgbClr val="FFFFFF"/>
                          </a:solidFill>
                          <a:latin typeface="Calibri"/>
                        </a:rPr>
                        <a:t>Best for</a:t>
                      </a:r>
                      <a:endParaRPr lang="en-US" sz="9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E41AA"/>
                    </a:solidFill>
                  </a:tcPr>
                </a:tc>
                <a:tc>
                  <a:txBody>
                    <a:bodyPr/>
                    <a:lstStyle/>
                    <a:p>
                      <a:pPr defTabSz="914400">
                        <a:lnSpc>
                          <a:spcPct val="100000"/>
                        </a:lnSpc>
                        <a:tabLst>
                          <a:tab pos="0" algn="l"/>
                        </a:tabLst>
                      </a:pPr>
                      <a:r>
                        <a:rPr lang="en-US" sz="900" b="1" strike="noStrike" spc="-1">
                          <a:solidFill>
                            <a:srgbClr val="FFFFFF"/>
                          </a:solidFill>
                          <a:latin typeface="Calibri"/>
                        </a:rPr>
                        <a:t>Limitation</a:t>
                      </a:r>
                      <a:endParaRPr lang="en-US" sz="9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E41AA"/>
                    </a:solidFill>
                  </a:tcPr>
                </a:tc>
                <a:extLst>
                  <a:ext uri="{0D108BD9-81ED-4DB2-BD59-A6C34878D82A}">
                    <a16:rowId xmlns:a16="http://schemas.microsoft.com/office/drawing/2014/main" val="10000"/>
                  </a:ext>
                </a:extLst>
              </a:tr>
              <a:tr h="0">
                <a:tc>
                  <a:txBody>
                    <a:bodyPr/>
                    <a:lstStyle/>
                    <a:p>
                      <a:pPr defTabSz="914400">
                        <a:lnSpc>
                          <a:spcPct val="100000"/>
                        </a:lnSpc>
                        <a:tabLst>
                          <a:tab pos="0" algn="l"/>
                        </a:tabLst>
                      </a:pPr>
                      <a:r>
                        <a:rPr lang="en-US" sz="900" b="1" strike="noStrike" spc="-1">
                          <a:solidFill>
                            <a:srgbClr val="000000"/>
                          </a:solidFill>
                          <a:latin typeface="Calibri"/>
                        </a:rPr>
                        <a:t>Round Robin</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Rotates through members sequentially. Default method.</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Equal-capacity servers. Simplest config.</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Ignores server load — overloaded server still gets connections.</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1"/>
                  </a:ext>
                </a:extLst>
              </a:tr>
              <a:tr h="0">
                <a:tc>
                  <a:txBody>
                    <a:bodyPr/>
                    <a:lstStyle/>
                    <a:p>
                      <a:pPr defTabSz="914400">
                        <a:lnSpc>
                          <a:spcPct val="100000"/>
                        </a:lnSpc>
                        <a:tabLst>
                          <a:tab pos="0" algn="l"/>
                        </a:tabLst>
                      </a:pPr>
                      <a:r>
                        <a:rPr lang="en-US" sz="900" b="1" strike="noStrike" spc="-1">
                          <a:solidFill>
                            <a:srgbClr val="000000"/>
                          </a:solidFill>
                          <a:latin typeface="Calibri"/>
                        </a:rPr>
                        <a:t>Ratio</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Static weights. Member with ratio 3 gets 3x connections vs ratio 1.</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Servers with known different capacities.</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Static — doesn't adapt to real-time load.</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2"/>
                  </a:ext>
                </a:extLst>
              </a:tr>
              <a:tr h="0">
                <a:tc>
                  <a:txBody>
                    <a:bodyPr/>
                    <a:lstStyle/>
                    <a:p>
                      <a:pPr defTabSz="914400">
                        <a:lnSpc>
                          <a:spcPct val="100000"/>
                        </a:lnSpc>
                        <a:tabLst>
                          <a:tab pos="0" algn="l"/>
                        </a:tabLst>
                      </a:pPr>
                      <a:r>
                        <a:rPr lang="en-US" sz="900" b="1" strike="noStrike" spc="-1">
                          <a:solidFill>
                            <a:srgbClr val="000000"/>
                          </a:solidFill>
                          <a:latin typeface="Calibri"/>
                        </a:rPr>
                        <a:t>Least Connections</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Sends to member with fewest active connections.</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Varying request duration. Most common dynamic method.</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New member gets ALL traffic until balanced (use Slow Ramp).</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3"/>
                  </a:ext>
                </a:extLst>
              </a:tr>
              <a:tr h="0">
                <a:tc>
                  <a:txBody>
                    <a:bodyPr/>
                    <a:lstStyle/>
                    <a:p>
                      <a:pPr defTabSz="914400">
                        <a:lnSpc>
                          <a:spcPct val="100000"/>
                        </a:lnSpc>
                        <a:tabLst>
                          <a:tab pos="0" algn="l"/>
                        </a:tabLst>
                      </a:pPr>
                      <a:r>
                        <a:rPr lang="en-US" sz="900" b="1" strike="noStrike" spc="-1">
                          <a:solidFill>
                            <a:srgbClr val="000000"/>
                          </a:solidFill>
                          <a:latin typeface="Calibri"/>
                        </a:rPr>
                        <a:t>Fastest</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Sends to member with fewest L7 requests (not TCP conns).</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Servers across different network segments.</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Requires L7 profile (TCP + HTTP). More overhead.</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4"/>
                  </a:ext>
                </a:extLst>
              </a:tr>
              <a:tr h="0">
                <a:tc>
                  <a:txBody>
                    <a:bodyPr/>
                    <a:lstStyle/>
                    <a:p>
                      <a:pPr defTabSz="914400">
                        <a:lnSpc>
                          <a:spcPct val="100000"/>
                        </a:lnSpc>
                        <a:tabLst>
                          <a:tab pos="0" algn="l"/>
                        </a:tabLst>
                      </a:pPr>
                      <a:r>
                        <a:rPr lang="en-US" sz="900" b="1" strike="noStrike" spc="-1">
                          <a:solidFill>
                            <a:srgbClr val="000000"/>
                          </a:solidFill>
                          <a:latin typeface="Calibri"/>
                        </a:rPr>
                        <a:t>Observed</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Ranks members by connection count over time, creates dynamic ratio.</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Rare — use Least Connections instead.</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Not recommended for large pools.</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5"/>
                  </a:ext>
                </a:extLst>
              </a:tr>
              <a:tr h="0">
                <a:tc>
                  <a:txBody>
                    <a:bodyPr/>
                    <a:lstStyle/>
                    <a:p>
                      <a:pPr defTabSz="914400">
                        <a:lnSpc>
                          <a:spcPct val="100000"/>
                        </a:lnSpc>
                        <a:tabLst>
                          <a:tab pos="0" algn="l"/>
                        </a:tabLst>
                      </a:pPr>
                      <a:r>
                        <a:rPr lang="en-US" sz="900" b="1" strike="noStrike" spc="-1">
                          <a:solidFill>
                            <a:srgbClr val="000000"/>
                          </a:solidFill>
                          <a:latin typeface="Calibri"/>
                        </a:rPr>
                        <a:t>Predictive</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Like Observed, but factors in performance trend (improving/declining).</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Rare — use Least Connections instead.</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Complex, not recommended for most deployments.</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6"/>
                  </a:ext>
                </a:extLst>
              </a:tr>
            </a:tbl>
          </a:graphicData>
        </a:graphic>
      </p:graphicFrame>
      <p:sp>
        <p:nvSpPr>
          <p:cNvPr id="1504" name="Text 8"/>
          <p:cNvSpPr/>
          <p:nvPr/>
        </p:nvSpPr>
        <p:spPr>
          <a:xfrm>
            <a:off x="457200" y="3611880"/>
            <a:ext cx="45716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61228B"/>
                </a:solidFill>
                <a:latin typeface="Arial"/>
                <a:ea typeface="Arial"/>
              </a:rPr>
              <a:t>Member vs Node scope</a:t>
            </a:r>
            <a:endParaRPr lang="en-US" sz="1400" b="0" strike="noStrike" spc="-1">
              <a:solidFill>
                <a:srgbClr val="000000"/>
              </a:solidFill>
              <a:latin typeface="Arial"/>
            </a:endParaRPr>
          </a:p>
        </p:txBody>
      </p:sp>
      <p:sp>
        <p:nvSpPr>
          <p:cNvPr id="1505" name="Shape 9"/>
          <p:cNvSpPr/>
          <p:nvPr/>
        </p:nvSpPr>
        <p:spPr>
          <a:xfrm>
            <a:off x="457200" y="3840480"/>
            <a:ext cx="3931560" cy="776880"/>
          </a:xfrm>
          <a:prstGeom prst="rect">
            <a:avLst/>
          </a:prstGeom>
          <a:solidFill>
            <a:srgbClr val="E8F0F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506" name="Text 10"/>
          <p:cNvSpPr/>
          <p:nvPr/>
        </p:nvSpPr>
        <p:spPr>
          <a:xfrm>
            <a:off x="548640" y="3858840"/>
            <a:ext cx="374868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000" b="1" strike="noStrike" spc="-1">
                <a:solidFill>
                  <a:srgbClr val="0E41AA"/>
                </a:solidFill>
                <a:latin typeface="Calibri"/>
                <a:ea typeface="Calibri"/>
              </a:rPr>
              <a:t>Ratio (Member)</a:t>
            </a:r>
            <a:endParaRPr lang="en-US" sz="1000" b="0" strike="noStrike" spc="-1">
              <a:solidFill>
                <a:srgbClr val="000000"/>
              </a:solidFill>
              <a:latin typeface="Arial"/>
            </a:endParaRPr>
          </a:p>
          <a:p>
            <a:pPr defTabSz="914400">
              <a:lnSpc>
                <a:spcPct val="100000"/>
              </a:lnSpc>
              <a:tabLst>
                <a:tab pos="0" algn="l"/>
              </a:tabLst>
            </a:pPr>
            <a:r>
              <a:rPr lang="en-US" sz="900" b="0" strike="noStrike" spc="-1">
                <a:solidFill>
                  <a:srgbClr val="1A3A6C"/>
                </a:solidFill>
                <a:latin typeface="Calibri"/>
                <a:ea typeface="Calibri"/>
              </a:rPr>
              <a:t>LB decision per pool member (IP:port). Same server on port 80 and 443 can have different ratios in different pools.</a:t>
            </a:r>
            <a:endParaRPr lang="en-US" sz="900" b="0" strike="noStrike" spc="-1">
              <a:solidFill>
                <a:srgbClr val="000000"/>
              </a:solidFill>
              <a:latin typeface="Arial"/>
            </a:endParaRPr>
          </a:p>
        </p:txBody>
      </p:sp>
      <p:sp>
        <p:nvSpPr>
          <p:cNvPr id="1507" name="Shape 11"/>
          <p:cNvSpPr/>
          <p:nvPr/>
        </p:nvSpPr>
        <p:spPr>
          <a:xfrm>
            <a:off x="4663440" y="3840480"/>
            <a:ext cx="4114440" cy="776880"/>
          </a:xfrm>
          <a:prstGeom prst="rect">
            <a:avLst/>
          </a:prstGeom>
          <a:solidFill>
            <a:srgbClr val="FFF3E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508" name="Text 12"/>
          <p:cNvSpPr/>
          <p:nvPr/>
        </p:nvSpPr>
        <p:spPr>
          <a:xfrm>
            <a:off x="4754880" y="3858840"/>
            <a:ext cx="393156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000" b="1" strike="noStrike" spc="-1">
                <a:solidFill>
                  <a:srgbClr val="F29A36"/>
                </a:solidFill>
                <a:latin typeface="Calibri"/>
                <a:ea typeface="Calibri"/>
              </a:rPr>
              <a:t>Ratio (Node)</a:t>
            </a:r>
            <a:endParaRPr lang="en-US" sz="1000" b="0" strike="noStrike" spc="-1">
              <a:solidFill>
                <a:srgbClr val="000000"/>
              </a:solidFill>
              <a:latin typeface="Arial"/>
            </a:endParaRPr>
          </a:p>
          <a:p>
            <a:pPr defTabSz="914400">
              <a:lnSpc>
                <a:spcPct val="100000"/>
              </a:lnSpc>
              <a:tabLst>
                <a:tab pos="0" algn="l"/>
              </a:tabLst>
            </a:pPr>
            <a:r>
              <a:rPr lang="en-US" sz="900" b="0" strike="noStrike" spc="-1">
                <a:solidFill>
                  <a:srgbClr val="7A4500"/>
                </a:solidFill>
                <a:latin typeface="Calibri"/>
                <a:ea typeface="Calibri"/>
              </a:rPr>
              <a:t>LB decision per node (IP only). Weight applies across ALL pools. If node has ratio 3, it gets 3x in every pool it belongs to.</a:t>
            </a:r>
            <a:endParaRPr lang="en-US" sz="900" b="0" strike="noStrike" spc="-1">
              <a:solidFill>
                <a:srgbClr val="000000"/>
              </a:solidFill>
              <a:latin typeface="Arial"/>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09"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510"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511"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512"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513"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514"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65    © 2026 F5</a:t>
            </a:r>
            <a:endParaRPr lang="en-US" sz="800" b="0" strike="noStrike" spc="-1">
              <a:solidFill>
                <a:srgbClr val="000000"/>
              </a:solidFill>
              <a:latin typeface="Arial"/>
            </a:endParaRPr>
          </a:p>
        </p:txBody>
      </p:sp>
      <p:pic>
        <p:nvPicPr>
          <p:cNvPr id="1515" name="Image 0" descr="preencoded.png"/>
          <p:cNvPicPr/>
          <p:nvPr/>
        </p:nvPicPr>
        <p:blipFill>
          <a:blip r:embed="rId3"/>
          <a:stretch/>
        </p:blipFill>
        <p:spPr>
          <a:xfrm>
            <a:off x="8458200" y="4663440"/>
            <a:ext cx="383760" cy="383760"/>
          </a:xfrm>
          <a:prstGeom prst="rect">
            <a:avLst/>
          </a:prstGeom>
          <a:ln w="0">
            <a:noFill/>
          </a:ln>
        </p:spPr>
      </p:pic>
      <p:sp>
        <p:nvSpPr>
          <p:cNvPr id="1516" name="Text 6"/>
          <p:cNvSpPr/>
          <p:nvPr/>
        </p:nvSpPr>
        <p:spPr>
          <a:xfrm>
            <a:off x="457200" y="274320"/>
            <a:ext cx="82292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Priority groups and slow ramp</a:t>
            </a:r>
            <a:endParaRPr lang="en-US" sz="2800" b="0" strike="noStrike" spc="-1">
              <a:solidFill>
                <a:srgbClr val="000000"/>
              </a:solidFill>
              <a:latin typeface="Arial"/>
            </a:endParaRPr>
          </a:p>
        </p:txBody>
      </p:sp>
      <p:sp>
        <p:nvSpPr>
          <p:cNvPr id="1517" name="Text 7"/>
          <p:cNvSpPr/>
          <p:nvPr/>
        </p:nvSpPr>
        <p:spPr>
          <a:xfrm>
            <a:off x="457200" y="658440"/>
            <a:ext cx="82292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strike="noStrike" spc="-1">
                <a:solidFill>
                  <a:srgbClr val="666666"/>
                </a:solidFill>
                <a:latin typeface="Calibri"/>
                <a:ea typeface="Calibri"/>
              </a:rPr>
              <a:t>Control failover between primary and DR members, and protect recovering members from traffic spikes</a:t>
            </a:r>
            <a:endParaRPr lang="en-US" sz="1300" b="0" strike="noStrike" spc="-1">
              <a:solidFill>
                <a:srgbClr val="000000"/>
              </a:solidFill>
              <a:latin typeface="Arial"/>
            </a:endParaRPr>
          </a:p>
        </p:txBody>
      </p:sp>
      <p:sp>
        <p:nvSpPr>
          <p:cNvPr id="1518" name="Text 8"/>
          <p:cNvSpPr/>
          <p:nvPr/>
        </p:nvSpPr>
        <p:spPr>
          <a:xfrm>
            <a:off x="457200" y="1051560"/>
            <a:ext cx="45716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strike="noStrike" spc="-1">
                <a:solidFill>
                  <a:srgbClr val="0E41AA"/>
                </a:solidFill>
                <a:latin typeface="Arial"/>
                <a:ea typeface="Arial"/>
              </a:rPr>
              <a:t>Priority group activation</a:t>
            </a:r>
            <a:endParaRPr lang="en-US" sz="1600" b="0" strike="noStrike" spc="-1">
              <a:solidFill>
                <a:srgbClr val="000000"/>
              </a:solidFill>
              <a:latin typeface="Arial"/>
            </a:endParaRPr>
          </a:p>
        </p:txBody>
      </p:sp>
      <p:sp>
        <p:nvSpPr>
          <p:cNvPr id="1519" name="Shape 9"/>
          <p:cNvSpPr/>
          <p:nvPr/>
        </p:nvSpPr>
        <p:spPr>
          <a:xfrm>
            <a:off x="457200" y="1325880"/>
            <a:ext cx="5028840" cy="246852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520" name="Text 10"/>
          <p:cNvSpPr/>
          <p:nvPr/>
        </p:nvSpPr>
        <p:spPr>
          <a:xfrm>
            <a:off x="548640" y="1371600"/>
            <a:ext cx="4845960" cy="228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100" b="1" strike="noStrike" spc="-1">
                <a:solidFill>
                  <a:srgbClr val="0E41AA"/>
                </a:solidFill>
                <a:latin typeface="Calibri"/>
                <a:ea typeface="Calibri"/>
              </a:rPr>
              <a:t>How it works:</a:t>
            </a:r>
            <a:endParaRPr lang="en-US" sz="1100" b="0" strike="noStrike" spc="-1">
              <a:solidFill>
                <a:srgbClr val="000000"/>
              </a:solidFill>
              <a:latin typeface="Arial"/>
            </a:endParaRPr>
          </a:p>
          <a:p>
            <a:pPr defTabSz="914400">
              <a:lnSpc>
                <a:spcPct val="100000"/>
              </a:lnSpc>
              <a:tabLst>
                <a:tab pos="0" algn="l"/>
              </a:tabLst>
            </a:pPr>
            <a:r>
              <a:rPr lang="en-US" sz="1000" b="0" strike="noStrike" spc="-1">
                <a:solidFill>
                  <a:srgbClr val="333333"/>
                </a:solidFill>
                <a:latin typeface="Calibri"/>
                <a:ea typeface="Calibri"/>
              </a:rPr>
              <a:t>Assign each pool member a priority group number (higher = preferred). Set a minimum member threshold. Traffic goes only to the highest priority group unless available members fall below the minimum.</a:t>
            </a:r>
            <a:endParaRPr lang="en-US" sz="1000" b="0" strike="noStrike" spc="-1">
              <a:solidFill>
                <a:srgbClr val="000000"/>
              </a:solidFill>
              <a:latin typeface="Arial"/>
            </a:endParaRPr>
          </a:p>
          <a:p>
            <a:pPr defTabSz="914400">
              <a:lnSpc>
                <a:spcPct val="100000"/>
              </a:lnSpc>
              <a:tabLst>
                <a:tab pos="0" algn="l"/>
              </a:tabLst>
            </a:pPr>
            <a:endParaRPr lang="en-US" sz="1100" b="0" strike="noStrike" spc="-1">
              <a:solidFill>
                <a:srgbClr val="000000"/>
              </a:solidFill>
              <a:latin typeface="Arial"/>
            </a:endParaRPr>
          </a:p>
          <a:p>
            <a:pPr defTabSz="914400">
              <a:lnSpc>
                <a:spcPct val="100000"/>
              </a:lnSpc>
              <a:tabLst>
                <a:tab pos="0" algn="l"/>
              </a:tabLst>
            </a:pPr>
            <a:r>
              <a:rPr lang="en-US" sz="1100" b="1" strike="noStrike" spc="-1">
                <a:solidFill>
                  <a:srgbClr val="61228B"/>
                </a:solidFill>
                <a:latin typeface="Calibri"/>
                <a:ea typeface="Calibri"/>
              </a:rPr>
              <a:t>Lab scenario:</a:t>
            </a:r>
            <a:endParaRPr lang="en-US" sz="1100" b="0" strike="noStrike" spc="-1">
              <a:solidFill>
                <a:srgbClr val="000000"/>
              </a:solidFill>
              <a:latin typeface="Arial"/>
            </a:endParaRPr>
          </a:p>
          <a:p>
            <a:pPr defTabSz="914400">
              <a:lnSpc>
                <a:spcPct val="100000"/>
              </a:lnSpc>
              <a:tabLst>
                <a:tab pos="0" algn="l"/>
              </a:tabLst>
            </a:pPr>
            <a:r>
              <a:rPr lang="en-US" sz="1000" b="0" strike="noStrike" spc="-1">
                <a:solidFill>
                  <a:srgbClr val="333333"/>
                </a:solidFill>
                <a:latin typeface="Courier New"/>
                <a:ea typeface="Courier New"/>
              </a:rPr>
              <a:t>Primary DC: 10.1.20.11, 10.1.20.12 → Priority Group 10</a:t>
            </a:r>
            <a:endParaRPr lang="en-US" sz="1000" b="0" strike="noStrike" spc="-1">
              <a:solidFill>
                <a:srgbClr val="000000"/>
              </a:solidFill>
              <a:latin typeface="Arial"/>
            </a:endParaRPr>
          </a:p>
          <a:p>
            <a:pPr defTabSz="914400">
              <a:lnSpc>
                <a:spcPct val="100000"/>
              </a:lnSpc>
              <a:tabLst>
                <a:tab pos="0" algn="l"/>
              </a:tabLst>
            </a:pPr>
            <a:r>
              <a:rPr lang="en-US" sz="1000" b="0" strike="noStrike" spc="-1">
                <a:solidFill>
                  <a:srgbClr val="333333"/>
                </a:solidFill>
                <a:latin typeface="Courier New"/>
                <a:ea typeface="Courier New"/>
              </a:rPr>
              <a:t>DR site: 10.1.20.13 → Priority Group 0 (default)</a:t>
            </a:r>
            <a:endParaRPr lang="en-US" sz="1000" b="0" strike="noStrike" spc="-1">
              <a:solidFill>
                <a:srgbClr val="000000"/>
              </a:solidFill>
              <a:latin typeface="Arial"/>
            </a:endParaRPr>
          </a:p>
          <a:p>
            <a:pPr defTabSz="914400">
              <a:lnSpc>
                <a:spcPct val="100000"/>
              </a:lnSpc>
              <a:tabLst>
                <a:tab pos="0" algn="l"/>
              </a:tabLst>
            </a:pPr>
            <a:r>
              <a:rPr lang="en-US" sz="1000" b="0" strike="noStrike" spc="-1">
                <a:solidFill>
                  <a:srgbClr val="333333"/>
                </a:solidFill>
                <a:latin typeface="Courier New"/>
                <a:ea typeface="Courier New"/>
              </a:rPr>
              <a:t>Activation: Less than 2 available members</a:t>
            </a:r>
            <a:endParaRPr lang="en-US" sz="1000" b="0" strike="noStrike" spc="-1">
              <a:solidFill>
                <a:srgbClr val="000000"/>
              </a:solidFill>
              <a:latin typeface="Arial"/>
            </a:endParaRPr>
          </a:p>
          <a:p>
            <a:pPr defTabSz="914400">
              <a:lnSpc>
                <a:spcPct val="100000"/>
              </a:lnSpc>
              <a:tabLst>
                <a:tab pos="0" algn="l"/>
              </a:tabLst>
            </a:pPr>
            <a:endParaRPr lang="en-US" sz="1100" b="0" strike="noStrike" spc="-1">
              <a:solidFill>
                <a:srgbClr val="000000"/>
              </a:solidFill>
              <a:latin typeface="Arial"/>
            </a:endParaRPr>
          </a:p>
          <a:p>
            <a:pPr defTabSz="914400">
              <a:lnSpc>
                <a:spcPct val="100000"/>
              </a:lnSpc>
              <a:tabLst>
                <a:tab pos="0" algn="l"/>
              </a:tabLst>
            </a:pPr>
            <a:r>
              <a:rPr lang="en-US" sz="1100" b="1" strike="noStrike" spc="-1">
                <a:solidFill>
                  <a:srgbClr val="009639"/>
                </a:solidFill>
                <a:latin typeface="Calibri"/>
                <a:ea typeface="Calibri"/>
              </a:rPr>
              <a:t>Behavior:</a:t>
            </a:r>
            <a:endParaRPr lang="en-US" sz="1100" b="0" strike="noStrike" spc="-1">
              <a:solidFill>
                <a:srgbClr val="000000"/>
              </a:solidFill>
              <a:latin typeface="Arial"/>
            </a:endParaRPr>
          </a:p>
          <a:p>
            <a:pPr defTabSz="914400">
              <a:lnSpc>
                <a:spcPct val="100000"/>
              </a:lnSpc>
              <a:tabLst>
                <a:tab pos="0" algn="l"/>
              </a:tabLst>
            </a:pPr>
            <a:r>
              <a:rPr lang="en-US" sz="1000" b="0" strike="noStrike" spc="-1">
                <a:solidFill>
                  <a:srgbClr val="333333"/>
                </a:solidFill>
                <a:latin typeface="Calibri"/>
                <a:ea typeface="Calibri"/>
              </a:rPr>
              <a:t>Normal: traffic goes to .11 and .12 only (.13 idle)</a:t>
            </a:r>
            <a:endParaRPr lang="en-US" sz="1000" b="0" strike="noStrike" spc="-1">
              <a:solidFill>
                <a:srgbClr val="000000"/>
              </a:solidFill>
              <a:latin typeface="Arial"/>
            </a:endParaRPr>
          </a:p>
          <a:p>
            <a:pPr defTabSz="914400">
              <a:lnSpc>
                <a:spcPct val="100000"/>
              </a:lnSpc>
              <a:tabLst>
                <a:tab pos="0" algn="l"/>
              </a:tabLst>
            </a:pPr>
            <a:r>
              <a:rPr lang="en-US" sz="1000" b="0" strike="noStrike" spc="-1">
                <a:solidFill>
                  <a:srgbClr val="333333"/>
                </a:solidFill>
                <a:latin typeface="Calibri"/>
                <a:ea typeface="Calibri"/>
              </a:rPr>
              <a:t>One primary fails: still 1 primary left — but below threshold of 2 → .13 activated</a:t>
            </a:r>
            <a:endParaRPr lang="en-US" sz="1000" b="0" strike="noStrike" spc="-1">
              <a:solidFill>
                <a:srgbClr val="000000"/>
              </a:solidFill>
              <a:latin typeface="Arial"/>
            </a:endParaRPr>
          </a:p>
          <a:p>
            <a:pPr defTabSz="914400">
              <a:lnSpc>
                <a:spcPct val="100000"/>
              </a:lnSpc>
              <a:tabLst>
                <a:tab pos="0" algn="l"/>
              </a:tabLst>
            </a:pPr>
            <a:r>
              <a:rPr lang="en-US" sz="1000" b="0" strike="noStrike" spc="-1">
                <a:solidFill>
                  <a:srgbClr val="333333"/>
                </a:solidFill>
                <a:latin typeface="Calibri"/>
                <a:ea typeface="Calibri"/>
              </a:rPr>
              <a:t>Both primaries recover: .13 returns to standby</a:t>
            </a:r>
            <a:endParaRPr lang="en-US" sz="1000" b="0" strike="noStrike" spc="-1">
              <a:solidFill>
                <a:srgbClr val="000000"/>
              </a:solidFill>
              <a:latin typeface="Arial"/>
            </a:endParaRPr>
          </a:p>
        </p:txBody>
      </p:sp>
      <p:sp>
        <p:nvSpPr>
          <p:cNvPr id="1521" name="Text 11"/>
          <p:cNvSpPr/>
          <p:nvPr/>
        </p:nvSpPr>
        <p:spPr>
          <a:xfrm>
            <a:off x="5760720" y="1051560"/>
            <a:ext cx="3200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strike="noStrike" spc="-1">
                <a:solidFill>
                  <a:srgbClr val="F29A36"/>
                </a:solidFill>
                <a:latin typeface="Arial"/>
                <a:ea typeface="Arial"/>
              </a:rPr>
              <a:t>Slow ramp time</a:t>
            </a:r>
            <a:endParaRPr lang="en-US" sz="1600" b="0" strike="noStrike" spc="-1">
              <a:solidFill>
                <a:srgbClr val="000000"/>
              </a:solidFill>
              <a:latin typeface="Arial"/>
            </a:endParaRPr>
          </a:p>
        </p:txBody>
      </p:sp>
      <p:sp>
        <p:nvSpPr>
          <p:cNvPr id="1522" name="Shape 12"/>
          <p:cNvSpPr/>
          <p:nvPr/>
        </p:nvSpPr>
        <p:spPr>
          <a:xfrm>
            <a:off x="5760720" y="1325880"/>
            <a:ext cx="3017160" cy="2468520"/>
          </a:xfrm>
          <a:prstGeom prst="rect">
            <a:avLst/>
          </a:prstGeom>
          <a:solidFill>
            <a:srgbClr val="FFF3E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523" name="Text 13"/>
          <p:cNvSpPr/>
          <p:nvPr/>
        </p:nvSpPr>
        <p:spPr>
          <a:xfrm>
            <a:off x="5852160" y="1371600"/>
            <a:ext cx="2834280" cy="228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000" b="1" strike="noStrike" spc="-1" dirty="0">
                <a:solidFill>
                  <a:srgbClr val="E4002B"/>
                </a:solidFill>
                <a:latin typeface="Calibri"/>
                <a:ea typeface="Calibri"/>
              </a:rPr>
              <a:t>The problem:</a:t>
            </a:r>
            <a:endParaRPr lang="en-US" sz="1000" b="0" strike="noStrike" spc="-1" dirty="0">
              <a:solidFill>
                <a:srgbClr val="000000"/>
              </a:solidFill>
              <a:latin typeface="Arial"/>
            </a:endParaRPr>
          </a:p>
          <a:p>
            <a:pPr defTabSz="914400">
              <a:lnSpc>
                <a:spcPct val="100000"/>
              </a:lnSpc>
              <a:tabLst>
                <a:tab pos="0" algn="l"/>
              </a:tabLst>
            </a:pPr>
            <a:r>
              <a:rPr lang="en-US" sz="900" b="0" strike="noStrike" spc="-1" dirty="0">
                <a:solidFill>
                  <a:srgbClr val="333333"/>
                </a:solidFill>
                <a:latin typeface="Calibri"/>
                <a:ea typeface="Calibri"/>
              </a:rPr>
              <a:t>With Least Connections, a newly available member has 0 connections → gets ALL new traffic → overwhelmed before it warms up.</a:t>
            </a:r>
            <a:endParaRPr lang="en-US" sz="900" b="0" strike="noStrike" spc="-1" dirty="0">
              <a:solidFill>
                <a:srgbClr val="000000"/>
              </a:solidFill>
              <a:latin typeface="Arial"/>
            </a:endParaRPr>
          </a:p>
          <a:p>
            <a:pPr defTabSz="914400">
              <a:lnSpc>
                <a:spcPct val="100000"/>
              </a:lnSpc>
              <a:tabLst>
                <a:tab pos="0" algn="l"/>
              </a:tabLst>
            </a:pPr>
            <a:endParaRPr lang="en-US" sz="1000" b="0" strike="noStrike" spc="-1" dirty="0">
              <a:solidFill>
                <a:srgbClr val="000000"/>
              </a:solidFill>
              <a:latin typeface="Arial"/>
            </a:endParaRPr>
          </a:p>
          <a:p>
            <a:pPr defTabSz="914400">
              <a:lnSpc>
                <a:spcPct val="100000"/>
              </a:lnSpc>
              <a:tabLst>
                <a:tab pos="0" algn="l"/>
              </a:tabLst>
            </a:pPr>
            <a:r>
              <a:rPr lang="en-US" sz="1000" b="1" strike="noStrike" spc="-1" dirty="0">
                <a:solidFill>
                  <a:srgbClr val="009639"/>
                </a:solidFill>
                <a:latin typeface="Calibri"/>
                <a:ea typeface="Calibri"/>
              </a:rPr>
              <a:t>The solution:</a:t>
            </a:r>
            <a:endParaRPr lang="en-US" sz="1000" b="0" strike="noStrike" spc="-1" dirty="0">
              <a:solidFill>
                <a:srgbClr val="000000"/>
              </a:solidFill>
              <a:latin typeface="Arial"/>
            </a:endParaRPr>
          </a:p>
          <a:p>
            <a:pPr defTabSz="914400">
              <a:lnSpc>
                <a:spcPct val="100000"/>
              </a:lnSpc>
              <a:tabLst>
                <a:tab pos="0" algn="l"/>
              </a:tabLst>
            </a:pPr>
            <a:r>
              <a:rPr lang="en-US" sz="900" b="0" strike="noStrike" spc="-1" dirty="0">
                <a:solidFill>
                  <a:srgbClr val="333333"/>
                </a:solidFill>
                <a:latin typeface="Calibri"/>
                <a:ea typeface="Calibri"/>
              </a:rPr>
              <a:t>Slow Ramp Time gradually increases the connection rate to new members.</a:t>
            </a:r>
            <a:endParaRPr lang="en-US" sz="900" b="0" strike="noStrike" spc="-1" dirty="0">
              <a:solidFill>
                <a:srgbClr val="000000"/>
              </a:solidFill>
              <a:latin typeface="Arial"/>
            </a:endParaRPr>
          </a:p>
          <a:p>
            <a:pPr defTabSz="914400">
              <a:lnSpc>
                <a:spcPct val="100000"/>
              </a:lnSpc>
              <a:tabLst>
                <a:tab pos="0" algn="l"/>
              </a:tabLst>
            </a:pPr>
            <a:endParaRPr lang="en-US" sz="1000" b="0" strike="noStrike" spc="-1" dirty="0">
              <a:solidFill>
                <a:srgbClr val="000000"/>
              </a:solidFill>
              <a:latin typeface="Arial"/>
            </a:endParaRPr>
          </a:p>
          <a:p>
            <a:pPr defTabSz="914400">
              <a:lnSpc>
                <a:spcPct val="100000"/>
              </a:lnSpc>
              <a:tabLst>
                <a:tab pos="0" algn="l"/>
              </a:tabLst>
            </a:pPr>
            <a:r>
              <a:rPr lang="en-US" sz="1000" b="1" strike="noStrike" spc="-1" dirty="0">
                <a:solidFill>
                  <a:srgbClr val="F29A36"/>
                </a:solidFill>
                <a:latin typeface="Courier New"/>
                <a:ea typeface="Courier New"/>
              </a:rPr>
              <a:t>Default: 10 seconds</a:t>
            </a:r>
            <a:endParaRPr lang="en-US" sz="1000" b="0" strike="noStrike" spc="-1" dirty="0">
              <a:solidFill>
                <a:srgbClr val="000000"/>
              </a:solidFill>
              <a:latin typeface="Arial"/>
            </a:endParaRPr>
          </a:p>
          <a:p>
            <a:pPr defTabSz="914400">
              <a:lnSpc>
                <a:spcPct val="100000"/>
              </a:lnSpc>
              <a:tabLst>
                <a:tab pos="0" algn="l"/>
              </a:tabLst>
            </a:pPr>
            <a:endParaRPr lang="en-US" sz="1000" b="0" strike="noStrike" spc="-1" dirty="0">
              <a:solidFill>
                <a:srgbClr val="000000"/>
              </a:solidFill>
              <a:latin typeface="Arial"/>
            </a:endParaRPr>
          </a:p>
          <a:p>
            <a:pPr defTabSz="914400">
              <a:lnSpc>
                <a:spcPct val="100000"/>
              </a:lnSpc>
              <a:tabLst>
                <a:tab pos="0" algn="l"/>
              </a:tabLst>
            </a:pPr>
            <a:r>
              <a:rPr lang="en-US" sz="1000" b="1" strike="noStrike" spc="-1" dirty="0">
                <a:solidFill>
                  <a:srgbClr val="333333"/>
                </a:solidFill>
                <a:latin typeface="Calibri"/>
                <a:ea typeface="Calibri"/>
              </a:rPr>
              <a:t>Set per pool:</a:t>
            </a:r>
            <a:endParaRPr lang="en-US" sz="1000" b="0" strike="noStrike" spc="-1" dirty="0">
              <a:solidFill>
                <a:srgbClr val="000000"/>
              </a:solidFill>
              <a:latin typeface="Arial"/>
            </a:endParaRPr>
          </a:p>
          <a:p>
            <a:pPr defTabSz="914400">
              <a:lnSpc>
                <a:spcPct val="100000"/>
              </a:lnSpc>
              <a:tabLst>
                <a:tab pos="0" algn="l"/>
              </a:tabLst>
            </a:pPr>
            <a:r>
              <a:rPr lang="en-US" sz="900" b="0" strike="noStrike" spc="-1" dirty="0">
                <a:solidFill>
                  <a:srgbClr val="333333"/>
                </a:solidFill>
                <a:latin typeface="Courier New"/>
                <a:ea typeface="Courier New"/>
              </a:rPr>
              <a:t>modify </a:t>
            </a:r>
            <a:r>
              <a:rPr lang="en-US" sz="900" b="0" strike="noStrike" spc="-1" dirty="0" err="1">
                <a:solidFill>
                  <a:srgbClr val="333333"/>
                </a:solidFill>
                <a:latin typeface="Courier New"/>
                <a:ea typeface="Courier New"/>
              </a:rPr>
              <a:t>ltm</a:t>
            </a:r>
            <a:r>
              <a:rPr lang="en-US" sz="900" b="0" strike="noStrike" spc="-1" dirty="0">
                <a:solidFill>
                  <a:srgbClr val="333333"/>
                </a:solidFill>
                <a:latin typeface="Courier New"/>
                <a:ea typeface="Courier New"/>
              </a:rPr>
              <a:t> pool [name]</a:t>
            </a:r>
            <a:endParaRPr lang="en-US" sz="900" b="0" strike="noStrike" spc="-1" dirty="0">
              <a:solidFill>
                <a:srgbClr val="000000"/>
              </a:solidFill>
              <a:latin typeface="Arial"/>
            </a:endParaRPr>
          </a:p>
          <a:p>
            <a:pPr defTabSz="914400">
              <a:lnSpc>
                <a:spcPct val="100000"/>
              </a:lnSpc>
              <a:tabLst>
                <a:tab pos="0" algn="l"/>
              </a:tabLst>
            </a:pPr>
            <a:r>
              <a:rPr lang="en-US" sz="900" b="0" strike="noStrike" spc="-1" dirty="0">
                <a:solidFill>
                  <a:srgbClr val="333333"/>
                </a:solidFill>
                <a:latin typeface="Courier New"/>
                <a:ea typeface="Courier New"/>
              </a:rPr>
              <a:t>  slow-ramp-time 30</a:t>
            </a:r>
            <a:endParaRPr lang="en-US" sz="900" b="0" strike="noStrike" spc="-1" dirty="0">
              <a:solidFill>
                <a:srgbClr val="000000"/>
              </a:solidFill>
              <a:latin typeface="Arial"/>
            </a:endParaRPr>
          </a:p>
          <a:p>
            <a:pPr defTabSz="914400">
              <a:lnSpc>
                <a:spcPct val="100000"/>
              </a:lnSpc>
              <a:tabLst>
                <a:tab pos="0" algn="l"/>
              </a:tabLst>
            </a:pPr>
            <a:endParaRPr lang="en-US" sz="1000" b="0" strike="noStrike" spc="-1" dirty="0">
              <a:solidFill>
                <a:srgbClr val="000000"/>
              </a:solidFill>
              <a:latin typeface="Arial"/>
            </a:endParaRPr>
          </a:p>
          <a:p>
            <a:pPr defTabSz="914400">
              <a:lnSpc>
                <a:spcPct val="100000"/>
              </a:lnSpc>
              <a:tabLst>
                <a:tab pos="0" algn="l"/>
              </a:tabLst>
            </a:pPr>
            <a:r>
              <a:rPr lang="en-US" sz="800" b="0" strike="noStrike" spc="-1" dirty="0">
                <a:solidFill>
                  <a:srgbClr val="666666"/>
                </a:solidFill>
                <a:latin typeface="Calibri"/>
                <a:ea typeface="Calibri"/>
              </a:rPr>
              <a:t>Applies to: Least Connections, Weighted LC, Observed, Predictive. Does NOT apply to Round Robin or Ratio (static methods).</a:t>
            </a:r>
            <a:endParaRPr lang="en-US" sz="800" b="0" strike="noStrike" spc="-1" dirty="0">
              <a:solidFill>
                <a:srgbClr val="000000"/>
              </a:solidFill>
              <a:latin typeface="Arial"/>
            </a:endParaRPr>
          </a:p>
        </p:txBody>
      </p:sp>
      <p:sp>
        <p:nvSpPr>
          <p:cNvPr id="1524" name="Shape 14"/>
          <p:cNvSpPr/>
          <p:nvPr/>
        </p:nvSpPr>
        <p:spPr>
          <a:xfrm>
            <a:off x="365760" y="3840480"/>
            <a:ext cx="8412120" cy="776880"/>
          </a:xfrm>
          <a:prstGeom prst="rect">
            <a:avLst/>
          </a:prstGeom>
          <a:solidFill>
            <a:srgbClr val="E8F0F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525" name="Text 15"/>
          <p:cNvSpPr/>
          <p:nvPr/>
        </p:nvSpPr>
        <p:spPr>
          <a:xfrm>
            <a:off x="548640" y="3858840"/>
            <a:ext cx="804636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1" strike="noStrike" spc="-1">
                <a:solidFill>
                  <a:srgbClr val="0E41AA"/>
                </a:solidFill>
                <a:latin typeface="Calibri"/>
                <a:ea typeface="Calibri"/>
              </a:rPr>
              <a:t>Priority groups + Slow Ramp interaction</a:t>
            </a:r>
            <a:endParaRPr lang="en-US" sz="1200" b="0" strike="noStrike" spc="-1">
              <a:solidFill>
                <a:srgbClr val="000000"/>
              </a:solidFill>
              <a:latin typeface="Arial"/>
            </a:endParaRPr>
          </a:p>
          <a:p>
            <a:pPr defTabSz="914400">
              <a:lnSpc>
                <a:spcPct val="100000"/>
              </a:lnSpc>
              <a:tabLst>
                <a:tab pos="0" algn="l"/>
              </a:tabLst>
            </a:pPr>
            <a:r>
              <a:rPr lang="en-US" sz="1000" b="0" strike="noStrike" spc="-1">
                <a:solidFill>
                  <a:srgbClr val="1A3A6C"/>
                </a:solidFill>
                <a:latin typeface="Calibri"/>
                <a:ea typeface="Calibri"/>
              </a:rPr>
              <a:t>When a primary member recovers and the DR member is deactivated, the recovering member has 0 connections. If using Least Connections, it gets ALL traffic immediately. Set Slow Ramp Time on the pool to prevent this. Also consider using Time Until Up on the health monitor to delay the member's promotion until it has warmed up.</a:t>
            </a:r>
            <a:endParaRPr lang="en-US" sz="1000" b="0" strike="noStrike" spc="-1">
              <a:solidFill>
                <a:srgbClr val="000000"/>
              </a:solidFill>
              <a:latin typeface="Arial"/>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26"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527"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528"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529"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530"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531"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66    © 2026 F5</a:t>
            </a:r>
            <a:endParaRPr lang="en-US" sz="800" b="0" strike="noStrike" spc="-1">
              <a:solidFill>
                <a:srgbClr val="000000"/>
              </a:solidFill>
              <a:latin typeface="Arial"/>
            </a:endParaRPr>
          </a:p>
        </p:txBody>
      </p:sp>
      <p:pic>
        <p:nvPicPr>
          <p:cNvPr id="1532" name="Image 0" descr="preencoded.png"/>
          <p:cNvPicPr/>
          <p:nvPr/>
        </p:nvPicPr>
        <p:blipFill>
          <a:blip r:embed="rId3"/>
          <a:stretch/>
        </p:blipFill>
        <p:spPr>
          <a:xfrm>
            <a:off x="8458200" y="4663440"/>
            <a:ext cx="383760" cy="383760"/>
          </a:xfrm>
          <a:prstGeom prst="rect">
            <a:avLst/>
          </a:prstGeom>
          <a:ln w="0">
            <a:noFill/>
          </a:ln>
        </p:spPr>
      </p:pic>
      <p:sp>
        <p:nvSpPr>
          <p:cNvPr id="1533" name="Text 6"/>
          <p:cNvSpPr/>
          <p:nvPr/>
        </p:nvSpPr>
        <p:spPr>
          <a:xfrm>
            <a:off x="457200" y="274320"/>
            <a:ext cx="82292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Persistence and load balancing interaction</a:t>
            </a:r>
            <a:endParaRPr lang="en-US" sz="2800" b="0" strike="noStrike" spc="-1">
              <a:solidFill>
                <a:srgbClr val="000000"/>
              </a:solidFill>
              <a:latin typeface="Arial"/>
            </a:endParaRPr>
          </a:p>
        </p:txBody>
      </p:sp>
      <p:sp>
        <p:nvSpPr>
          <p:cNvPr id="1534" name="Text 7"/>
          <p:cNvSpPr/>
          <p:nvPr/>
        </p:nvSpPr>
        <p:spPr>
          <a:xfrm>
            <a:off x="457200" y="658440"/>
            <a:ext cx="82292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strike="noStrike" spc="-1">
                <a:solidFill>
                  <a:srgbClr val="666666"/>
                </a:solidFill>
                <a:latin typeface="Calibri"/>
                <a:ea typeface="Calibri"/>
              </a:rPr>
              <a:t>Persistence overrides the LB method for existing sessions — but what happens when the member is taken offline?</a:t>
            </a:r>
            <a:endParaRPr lang="en-US" sz="1300" b="0" strike="noStrike" spc="-1">
              <a:solidFill>
                <a:srgbClr val="000000"/>
              </a:solidFill>
              <a:latin typeface="Arial"/>
            </a:endParaRPr>
          </a:p>
        </p:txBody>
      </p:sp>
      <p:sp>
        <p:nvSpPr>
          <p:cNvPr id="1535" name="Text 8"/>
          <p:cNvSpPr/>
          <p:nvPr/>
        </p:nvSpPr>
        <p:spPr>
          <a:xfrm>
            <a:off x="457200" y="1005840"/>
            <a:ext cx="54860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0E41AA"/>
                </a:solidFill>
                <a:latin typeface="Arial"/>
                <a:ea typeface="Arial"/>
              </a:rPr>
              <a:t>Decision flow for each new connection</a:t>
            </a:r>
            <a:endParaRPr lang="en-US" sz="1400" b="0" strike="noStrike" spc="-1">
              <a:solidFill>
                <a:srgbClr val="000000"/>
              </a:solidFill>
              <a:latin typeface="Arial"/>
            </a:endParaRPr>
          </a:p>
        </p:txBody>
      </p:sp>
      <p:sp>
        <p:nvSpPr>
          <p:cNvPr id="1536" name="Shape 9"/>
          <p:cNvSpPr/>
          <p:nvPr/>
        </p:nvSpPr>
        <p:spPr>
          <a:xfrm>
            <a:off x="457200" y="1280160"/>
            <a:ext cx="8229240" cy="502560"/>
          </a:xfrm>
          <a:prstGeom prst="rect">
            <a:avLst/>
          </a:prstGeom>
          <a:solidFill>
            <a:srgbClr val="E8F0F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537" name="Text 10"/>
          <p:cNvSpPr/>
          <p:nvPr/>
        </p:nvSpPr>
        <p:spPr>
          <a:xfrm>
            <a:off x="548640" y="1298520"/>
            <a:ext cx="804636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0E41AA"/>
                </a:solidFill>
                <a:latin typeface="Calibri"/>
                <a:ea typeface="Calibri"/>
              </a:rPr>
              <a:t>1. Check persistence record for this client → </a:t>
            </a:r>
            <a:r>
              <a:rPr lang="en-US" sz="1000" b="1" strike="noStrike" spc="-1">
                <a:solidFill>
                  <a:srgbClr val="009639"/>
                </a:solidFill>
                <a:latin typeface="Calibri"/>
                <a:ea typeface="Calibri"/>
              </a:rPr>
              <a:t>Record found? Send to persisted member (skip LB)  </a:t>
            </a:r>
            <a:r>
              <a:rPr lang="en-US" sz="1000" b="0" strike="noStrike" spc="-1">
                <a:solidFill>
                  <a:srgbClr val="61228B"/>
                </a:solidFill>
                <a:latin typeface="Calibri"/>
                <a:ea typeface="Calibri"/>
              </a:rPr>
              <a:t>→ No record? Use LB method to select member → Create persistence record</a:t>
            </a:r>
            <a:endParaRPr lang="en-US" sz="1000" b="0" strike="noStrike" spc="-1">
              <a:solidFill>
                <a:srgbClr val="000000"/>
              </a:solidFill>
              <a:latin typeface="Arial"/>
            </a:endParaRPr>
          </a:p>
        </p:txBody>
      </p:sp>
      <p:sp>
        <p:nvSpPr>
          <p:cNvPr id="1538" name="Text 11"/>
          <p:cNvSpPr/>
          <p:nvPr/>
        </p:nvSpPr>
        <p:spPr>
          <a:xfrm>
            <a:off x="457200" y="1920240"/>
            <a:ext cx="73148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E4002B"/>
                </a:solidFill>
                <a:latin typeface="Arial"/>
                <a:ea typeface="Arial"/>
              </a:rPr>
              <a:t>What happens to persistence when a member is taken offline?</a:t>
            </a:r>
            <a:endParaRPr lang="en-US" sz="1400" b="0" strike="noStrike" spc="-1">
              <a:solidFill>
                <a:srgbClr val="000000"/>
              </a:solidFill>
              <a:latin typeface="Arial"/>
            </a:endParaRPr>
          </a:p>
        </p:txBody>
      </p:sp>
      <p:graphicFrame>
        <p:nvGraphicFramePr>
          <p:cNvPr id="1539" name="Table 0"/>
          <p:cNvGraphicFramePr/>
          <p:nvPr/>
        </p:nvGraphicFramePr>
        <p:xfrm>
          <a:off x="365760" y="2194560"/>
          <a:ext cx="8412480" cy="975360"/>
        </p:xfrm>
        <a:graphic>
          <a:graphicData uri="http://schemas.openxmlformats.org/drawingml/2006/table">
            <a:tbl>
              <a:tblPr/>
              <a:tblGrid>
                <a:gridCol w="118872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gridCol w="2651760">
                  <a:extLst>
                    <a:ext uri="{9D8B030D-6E8A-4147-A177-3AD203B41FA5}">
                      <a16:colId xmlns:a16="http://schemas.microsoft.com/office/drawing/2014/main" val="20003"/>
                    </a:ext>
                  </a:extLst>
                </a:gridCol>
              </a:tblGrid>
              <a:tr h="0">
                <a:tc>
                  <a:txBody>
                    <a:bodyPr/>
                    <a:lstStyle/>
                    <a:p>
                      <a:pPr defTabSz="914400">
                        <a:lnSpc>
                          <a:spcPct val="100000"/>
                        </a:lnSpc>
                        <a:tabLst>
                          <a:tab pos="0" algn="l"/>
                        </a:tabLst>
                      </a:pPr>
                      <a:r>
                        <a:rPr lang="en-US" sz="1000" b="1" strike="noStrike" spc="-1">
                          <a:solidFill>
                            <a:srgbClr val="FFFFFF"/>
                          </a:solidFill>
                          <a:latin typeface="Calibri"/>
                        </a:rPr>
                        <a:t>Action</a:t>
                      </a:r>
                      <a:endParaRPr lang="en-US" sz="10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E4002B"/>
                    </a:solidFill>
                  </a:tcPr>
                </a:tc>
                <a:tc>
                  <a:txBody>
                    <a:bodyPr/>
                    <a:lstStyle/>
                    <a:p>
                      <a:pPr defTabSz="914400">
                        <a:lnSpc>
                          <a:spcPct val="100000"/>
                        </a:lnSpc>
                        <a:tabLst>
                          <a:tab pos="0" algn="l"/>
                        </a:tabLst>
                      </a:pPr>
                      <a:r>
                        <a:rPr lang="en-US" sz="1000" b="1" strike="noStrike" spc="-1">
                          <a:solidFill>
                            <a:srgbClr val="FFFFFF"/>
                          </a:solidFill>
                          <a:latin typeface="Calibri"/>
                        </a:rPr>
                        <a:t>Existing connections</a:t>
                      </a:r>
                      <a:endParaRPr lang="en-US" sz="10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E4002B"/>
                    </a:solidFill>
                  </a:tcPr>
                </a:tc>
                <a:tc>
                  <a:txBody>
                    <a:bodyPr/>
                    <a:lstStyle/>
                    <a:p>
                      <a:pPr defTabSz="914400">
                        <a:lnSpc>
                          <a:spcPct val="100000"/>
                        </a:lnSpc>
                        <a:tabLst>
                          <a:tab pos="0" algn="l"/>
                        </a:tabLst>
                      </a:pPr>
                      <a:r>
                        <a:rPr lang="en-US" sz="1000" b="1" strike="noStrike" spc="-1">
                          <a:solidFill>
                            <a:srgbClr val="FFFFFF"/>
                          </a:solidFill>
                          <a:latin typeface="Calibri"/>
                        </a:rPr>
                        <a:t>Persisted new connections</a:t>
                      </a:r>
                      <a:endParaRPr lang="en-US" sz="10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E4002B"/>
                    </a:solidFill>
                  </a:tcPr>
                </a:tc>
                <a:tc>
                  <a:txBody>
                    <a:bodyPr/>
                    <a:lstStyle/>
                    <a:p>
                      <a:pPr defTabSz="914400">
                        <a:lnSpc>
                          <a:spcPct val="100000"/>
                        </a:lnSpc>
                        <a:tabLst>
                          <a:tab pos="0" algn="l"/>
                        </a:tabLst>
                      </a:pPr>
                      <a:r>
                        <a:rPr lang="en-US" sz="1000" b="1" strike="noStrike" spc="-1">
                          <a:solidFill>
                            <a:srgbClr val="FFFFFF"/>
                          </a:solidFill>
                          <a:latin typeface="Calibri"/>
                        </a:rPr>
                        <a:t>Non-persisted new connections</a:t>
                      </a:r>
                      <a:endParaRPr lang="en-US" sz="10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E4002B"/>
                    </a:solidFill>
                  </a:tcPr>
                </a:tc>
                <a:extLst>
                  <a:ext uri="{0D108BD9-81ED-4DB2-BD59-A6C34878D82A}">
                    <a16:rowId xmlns:a16="http://schemas.microsoft.com/office/drawing/2014/main" val="10000"/>
                  </a:ext>
                </a:extLst>
              </a:tr>
              <a:tr h="0">
                <a:tc>
                  <a:txBody>
                    <a:bodyPr/>
                    <a:lstStyle/>
                    <a:p>
                      <a:pPr defTabSz="914400">
                        <a:lnSpc>
                          <a:spcPct val="100000"/>
                        </a:lnSpc>
                        <a:tabLst>
                          <a:tab pos="0" algn="l"/>
                        </a:tabLst>
                      </a:pPr>
                      <a:r>
                        <a:rPr lang="en-US" sz="1000" b="1" strike="noStrike" spc="-1">
                          <a:solidFill>
                            <a:srgbClr val="000000"/>
                          </a:solidFill>
                          <a:latin typeface="Calibri"/>
                        </a:rPr>
                        <a:t>Disable</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1000" b="0" strike="noStrike" spc="-1">
                          <a:solidFill>
                            <a:srgbClr val="009639"/>
                          </a:solidFill>
                          <a:latin typeface="Calibri"/>
                        </a:rPr>
                        <a:t>Continue ✔</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1000" b="0" strike="noStrike" spc="-1">
                          <a:solidFill>
                            <a:srgbClr val="009639"/>
                          </a:solidFill>
                          <a:latin typeface="Calibri"/>
                        </a:rPr>
                        <a:t>Honored — sent to disabled member ✔</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1000" b="0" strike="noStrike" spc="-1">
                          <a:solidFill>
                            <a:srgbClr val="E4002B"/>
                          </a:solidFill>
                          <a:latin typeface="Calibri"/>
                        </a:rPr>
                        <a:t>Refused — LB selects other member</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1"/>
                  </a:ext>
                </a:extLst>
              </a:tr>
              <a:tr h="0">
                <a:tc>
                  <a:txBody>
                    <a:bodyPr/>
                    <a:lstStyle/>
                    <a:p>
                      <a:pPr defTabSz="914400">
                        <a:lnSpc>
                          <a:spcPct val="100000"/>
                        </a:lnSpc>
                        <a:tabLst>
                          <a:tab pos="0" algn="l"/>
                        </a:tabLst>
                      </a:pPr>
                      <a:r>
                        <a:rPr lang="en-US" sz="1000" b="1" strike="noStrike" spc="-1">
                          <a:solidFill>
                            <a:srgbClr val="000000"/>
                          </a:solidFill>
                          <a:latin typeface="Calibri"/>
                        </a:rPr>
                        <a:t>Force Offline</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1000" b="0" strike="noStrike" spc="-1">
                          <a:solidFill>
                            <a:srgbClr val="E4002B"/>
                          </a:solidFill>
                          <a:latin typeface="Calibri"/>
                        </a:rPr>
                        <a:t>Terminated ✘</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1000" b="0" strike="noStrike" spc="-1">
                          <a:solidFill>
                            <a:srgbClr val="E4002B"/>
                          </a:solidFill>
                          <a:latin typeface="Calibri"/>
                        </a:rPr>
                        <a:t>Broken — LB selects new member ✘</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1000" b="0" strike="noStrike" spc="-1">
                          <a:solidFill>
                            <a:srgbClr val="E4002B"/>
                          </a:solidFill>
                          <a:latin typeface="Calibri"/>
                        </a:rPr>
                        <a:t>Refused — LB selects other member</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2"/>
                  </a:ext>
                </a:extLst>
              </a:tr>
              <a:tr h="0">
                <a:tc>
                  <a:txBody>
                    <a:bodyPr/>
                    <a:lstStyle/>
                    <a:p>
                      <a:pPr defTabSz="914400">
                        <a:lnSpc>
                          <a:spcPct val="100000"/>
                        </a:lnSpc>
                        <a:tabLst>
                          <a:tab pos="0" algn="l"/>
                        </a:tabLst>
                      </a:pPr>
                      <a:r>
                        <a:rPr lang="en-US" sz="1000" b="1" strike="noStrike" spc="-1">
                          <a:solidFill>
                            <a:srgbClr val="000000"/>
                          </a:solidFill>
                          <a:latin typeface="Calibri"/>
                        </a:rPr>
                        <a:t>Monitor failure</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1000" b="0" strike="noStrike" spc="-1">
                          <a:solidFill>
                            <a:srgbClr val="F29A36"/>
                          </a:solidFill>
                          <a:latin typeface="Calibri"/>
                        </a:rPr>
                        <a:t>Continue (until timeout) ✔</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1000" b="0" strike="noStrike" spc="-1">
                          <a:solidFill>
                            <a:srgbClr val="F29A36"/>
                          </a:solidFill>
                          <a:latin typeface="Calibri"/>
                        </a:rPr>
                        <a:t>Honored (member still in table) ✔</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1000" b="0" strike="noStrike" spc="-1">
                          <a:solidFill>
                            <a:srgbClr val="E4002B"/>
                          </a:solidFill>
                          <a:latin typeface="Calibri"/>
                        </a:rPr>
                        <a:t>Refused — LB selects other member</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1540" name="Shape 12"/>
          <p:cNvSpPr/>
          <p:nvPr/>
        </p:nvSpPr>
        <p:spPr>
          <a:xfrm>
            <a:off x="365760" y="3337560"/>
            <a:ext cx="8412120" cy="456840"/>
          </a:xfrm>
          <a:prstGeom prst="rect">
            <a:avLst/>
          </a:prstGeom>
          <a:solidFill>
            <a:srgbClr val="FDE8E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541" name="Text 13"/>
          <p:cNvSpPr/>
          <p:nvPr/>
        </p:nvSpPr>
        <p:spPr>
          <a:xfrm>
            <a:off x="548640" y="3355920"/>
            <a:ext cx="8046360" cy="420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strike="noStrike" spc="-1">
                <a:solidFill>
                  <a:srgbClr val="009639"/>
                </a:solidFill>
                <a:latin typeface="Calibri"/>
                <a:ea typeface="Calibri"/>
              </a:rPr>
              <a:t>Disable = graceful. </a:t>
            </a:r>
            <a:r>
              <a:rPr lang="en-US" sz="1000" b="0" strike="noStrike" spc="-1">
                <a:solidFill>
                  <a:srgbClr val="333333"/>
                </a:solidFill>
                <a:latin typeface="Calibri"/>
                <a:ea typeface="Calibri"/>
              </a:rPr>
              <a:t>Existing connections and persistence sessions continue. Use for planned maintenance.</a:t>
            </a:r>
            <a:r>
              <a:rPr lang="en-US" sz="1100" b="1" strike="noStrike" spc="-1">
                <a:solidFill>
                  <a:srgbClr val="E4002B"/>
                </a:solidFill>
                <a:latin typeface="Calibri"/>
                <a:ea typeface="Calibri"/>
              </a:rPr>
              <a:t>  Force Offline = immediate. </a:t>
            </a:r>
            <a:r>
              <a:rPr lang="en-US" sz="1000" b="0" strike="noStrike" spc="-1">
                <a:solidFill>
                  <a:srgbClr val="333333"/>
                </a:solidFill>
                <a:latin typeface="Calibri"/>
                <a:ea typeface="Calibri"/>
              </a:rPr>
              <a:t>Everything stops. Use only for emergencies.</a:t>
            </a:r>
            <a:endParaRPr lang="en-US" sz="1000" b="0" strike="noStrike" spc="-1">
              <a:solidFill>
                <a:srgbClr val="000000"/>
              </a:solidFill>
              <a:latin typeface="Arial"/>
            </a:endParaRPr>
          </a:p>
        </p:txBody>
      </p:sp>
      <p:sp>
        <p:nvSpPr>
          <p:cNvPr id="1542" name="Text 14"/>
          <p:cNvSpPr/>
          <p:nvPr/>
        </p:nvSpPr>
        <p:spPr>
          <a:xfrm>
            <a:off x="457200" y="3931920"/>
            <a:ext cx="45716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61228B"/>
                </a:solidFill>
                <a:latin typeface="Arial"/>
                <a:ea typeface="Arial"/>
              </a:rPr>
              <a:t>Viewing persistence records</a:t>
            </a:r>
            <a:endParaRPr lang="en-US" sz="1400" b="0" strike="noStrike" spc="-1">
              <a:solidFill>
                <a:srgbClr val="000000"/>
              </a:solidFill>
              <a:latin typeface="Arial"/>
            </a:endParaRPr>
          </a:p>
        </p:txBody>
      </p:sp>
      <p:sp>
        <p:nvSpPr>
          <p:cNvPr id="1543" name="Shape 15"/>
          <p:cNvSpPr/>
          <p:nvPr/>
        </p:nvSpPr>
        <p:spPr>
          <a:xfrm>
            <a:off x="457200" y="4160520"/>
            <a:ext cx="8229240" cy="456840"/>
          </a:xfrm>
          <a:prstGeom prst="rect">
            <a:avLst/>
          </a:prstGeom>
          <a:solidFill>
            <a:srgbClr val="1E293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544" name="Text 16"/>
          <p:cNvSpPr/>
          <p:nvPr/>
        </p:nvSpPr>
        <p:spPr>
          <a:xfrm>
            <a:off x="594360" y="4178880"/>
            <a:ext cx="7954920" cy="420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strike="noStrike" spc="-1">
                <a:solidFill>
                  <a:srgbClr val="A5F3FC"/>
                </a:solidFill>
                <a:latin typeface="Courier New"/>
                <a:ea typeface="Courier New"/>
              </a:rPr>
              <a:t>GUI:  Statistics &gt; Module Statistics &gt; Local Traffic &gt; Persistence Records</a:t>
            </a:r>
            <a:endParaRPr lang="en-US" sz="900" b="0" strike="noStrike" spc="-1">
              <a:solidFill>
                <a:srgbClr val="000000"/>
              </a:solidFill>
              <a:latin typeface="Arial"/>
            </a:endParaRPr>
          </a:p>
          <a:p>
            <a:pPr defTabSz="914400">
              <a:lnSpc>
                <a:spcPct val="100000"/>
              </a:lnSpc>
              <a:tabLst>
                <a:tab pos="0" algn="l"/>
              </a:tabLst>
            </a:pPr>
            <a:r>
              <a:rPr lang="en-US" sz="900" b="0" strike="noStrike" spc="-1">
                <a:solidFill>
                  <a:srgbClr val="A5F3FC"/>
                </a:solidFill>
                <a:latin typeface="Courier New"/>
                <a:ea typeface="Courier New"/>
              </a:rPr>
              <a:t>TMSH: show ltm persistence persist-records</a:t>
            </a:r>
            <a:endParaRPr lang="en-US" sz="900" b="0" strike="noStrike" spc="-1">
              <a:solidFill>
                <a:srgbClr val="000000"/>
              </a:solidFill>
              <a:latin typeface="Arial"/>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45"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546"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547"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548"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549"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550"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67    © 2026 F5</a:t>
            </a:r>
            <a:endParaRPr lang="en-US" sz="800" b="0" strike="noStrike" spc="-1">
              <a:solidFill>
                <a:srgbClr val="000000"/>
              </a:solidFill>
              <a:latin typeface="Arial"/>
            </a:endParaRPr>
          </a:p>
        </p:txBody>
      </p:sp>
      <p:pic>
        <p:nvPicPr>
          <p:cNvPr id="1551" name="Image 0" descr="preencoded.png"/>
          <p:cNvPicPr/>
          <p:nvPr/>
        </p:nvPicPr>
        <p:blipFill>
          <a:blip r:embed="rId3"/>
          <a:stretch/>
        </p:blipFill>
        <p:spPr>
          <a:xfrm>
            <a:off x="8458200" y="4663440"/>
            <a:ext cx="383760" cy="383760"/>
          </a:xfrm>
          <a:prstGeom prst="rect">
            <a:avLst/>
          </a:prstGeom>
          <a:ln w="0">
            <a:noFill/>
          </a:ln>
        </p:spPr>
      </p:pic>
      <p:sp>
        <p:nvSpPr>
          <p:cNvPr id="1552" name="Text 6"/>
          <p:cNvSpPr/>
          <p:nvPr/>
        </p:nvSpPr>
        <p:spPr>
          <a:xfrm>
            <a:off x="457200" y="274320"/>
            <a:ext cx="73148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Lab 7 — Hands-on exercises</a:t>
            </a:r>
            <a:endParaRPr lang="en-US" sz="2800" b="0" strike="noStrike" spc="-1">
              <a:solidFill>
                <a:srgbClr val="000000"/>
              </a:solidFill>
              <a:latin typeface="Arial"/>
            </a:endParaRPr>
          </a:p>
        </p:txBody>
      </p:sp>
      <p:sp>
        <p:nvSpPr>
          <p:cNvPr id="1553" name="Text 7"/>
          <p:cNvSpPr/>
          <p:nvPr/>
        </p:nvSpPr>
        <p:spPr>
          <a:xfrm>
            <a:off x="457200" y="658440"/>
            <a:ext cx="73148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009639"/>
                </a:solidFill>
                <a:latin typeface="Calibri"/>
                <a:ea typeface="Calibri"/>
              </a:rPr>
              <a:t>30 minutes  |  Lab guide: Module 7</a:t>
            </a:r>
            <a:endParaRPr lang="en-US" sz="1400" b="0" strike="noStrike" spc="-1">
              <a:solidFill>
                <a:srgbClr val="000000"/>
              </a:solidFill>
              <a:latin typeface="Arial"/>
            </a:endParaRPr>
          </a:p>
        </p:txBody>
      </p:sp>
      <p:graphicFrame>
        <p:nvGraphicFramePr>
          <p:cNvPr id="1554" name="Table 0"/>
          <p:cNvGraphicFramePr/>
          <p:nvPr/>
        </p:nvGraphicFramePr>
        <p:xfrm>
          <a:off x="365760" y="960120"/>
          <a:ext cx="7772400" cy="1783080"/>
        </p:xfrm>
        <a:graphic>
          <a:graphicData uri="http://schemas.openxmlformats.org/drawingml/2006/table">
            <a:tbl>
              <a:tblPr/>
              <a:tblGrid>
                <a:gridCol w="32004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5303520">
                  <a:extLst>
                    <a:ext uri="{9D8B030D-6E8A-4147-A177-3AD203B41FA5}">
                      <a16:colId xmlns:a16="http://schemas.microsoft.com/office/drawing/2014/main" val="20002"/>
                    </a:ext>
                  </a:extLst>
                </a:gridCol>
                <a:gridCol w="594360">
                  <a:extLst>
                    <a:ext uri="{9D8B030D-6E8A-4147-A177-3AD203B41FA5}">
                      <a16:colId xmlns:a16="http://schemas.microsoft.com/office/drawing/2014/main" val="20003"/>
                    </a:ext>
                  </a:extLst>
                </a:gridCol>
              </a:tblGrid>
              <a:tr h="274320">
                <a:tc>
                  <a:txBody>
                    <a:bodyPr/>
                    <a:lstStyle/>
                    <a:p>
                      <a:pPr algn="ctr" defTabSz="914400">
                        <a:lnSpc>
                          <a:spcPct val="100000"/>
                        </a:lnSpc>
                        <a:tabLst>
                          <a:tab pos="0" algn="l"/>
                        </a:tabLst>
                      </a:pPr>
                      <a:r>
                        <a:rPr lang="en-US" sz="1000" b="1" strike="noStrike" spc="-1">
                          <a:solidFill>
                            <a:srgbClr val="FFFFFF"/>
                          </a:solidFill>
                          <a:latin typeface="Calibri"/>
                        </a:rPr>
                        <a:t>#</a:t>
                      </a:r>
                      <a:endParaRPr lang="en-US" sz="10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09639"/>
                    </a:solidFill>
                  </a:tcPr>
                </a:tc>
                <a:tc>
                  <a:txBody>
                    <a:bodyPr/>
                    <a:lstStyle/>
                    <a:p>
                      <a:pPr defTabSz="914400">
                        <a:lnSpc>
                          <a:spcPct val="100000"/>
                        </a:lnSpc>
                        <a:tabLst>
                          <a:tab pos="0" algn="l"/>
                        </a:tabLst>
                      </a:pPr>
                      <a:r>
                        <a:rPr lang="en-US" sz="1100" b="1" strike="noStrike" spc="-1">
                          <a:solidFill>
                            <a:srgbClr val="FFFFFF"/>
                          </a:solidFill>
                          <a:latin typeface="Calibri"/>
                        </a:rPr>
                        <a:t>Activity</a:t>
                      </a:r>
                      <a:endParaRPr lang="en-US" sz="11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09639"/>
                    </a:solidFill>
                  </a:tcPr>
                </a:tc>
                <a:tc>
                  <a:txBody>
                    <a:bodyPr/>
                    <a:lstStyle/>
                    <a:p>
                      <a:pPr defTabSz="914400">
                        <a:lnSpc>
                          <a:spcPct val="100000"/>
                        </a:lnSpc>
                        <a:tabLst>
                          <a:tab pos="0" algn="l"/>
                        </a:tabLst>
                      </a:pPr>
                      <a:r>
                        <a:rPr lang="en-US" sz="1100" b="1" strike="noStrike" spc="-1">
                          <a:solidFill>
                            <a:srgbClr val="FFFFFF"/>
                          </a:solidFill>
                          <a:latin typeface="Calibri"/>
                        </a:rPr>
                        <a:t>Key tasks</a:t>
                      </a:r>
                      <a:endParaRPr lang="en-US" sz="11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09639"/>
                    </a:solidFill>
                  </a:tcPr>
                </a:tc>
                <a:tc>
                  <a:txBody>
                    <a:bodyPr/>
                    <a:lstStyle/>
                    <a:p>
                      <a:pPr algn="ctr" defTabSz="914400">
                        <a:lnSpc>
                          <a:spcPct val="100000"/>
                        </a:lnSpc>
                        <a:tabLst>
                          <a:tab pos="0" algn="l"/>
                        </a:tabLst>
                      </a:pPr>
                      <a:r>
                        <a:rPr lang="en-US" sz="1000" b="1" strike="noStrike" spc="-1">
                          <a:solidFill>
                            <a:srgbClr val="FFFFFF"/>
                          </a:solidFill>
                          <a:latin typeface="Calibri"/>
                        </a:rPr>
                        <a:t>Time</a:t>
                      </a:r>
                      <a:endParaRPr lang="en-US" sz="10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09639"/>
                    </a:solidFill>
                  </a:tcPr>
                </a:tc>
                <a:extLst>
                  <a:ext uri="{0D108BD9-81ED-4DB2-BD59-A6C34878D82A}">
                    <a16:rowId xmlns:a16="http://schemas.microsoft.com/office/drawing/2014/main" val="10000"/>
                  </a:ext>
                </a:extLst>
              </a:tr>
              <a:tr h="502920">
                <a:tc>
                  <a:txBody>
                    <a:bodyPr/>
                    <a:lstStyle/>
                    <a:p>
                      <a:pPr algn="ctr" defTabSz="914400">
                        <a:lnSpc>
                          <a:spcPct val="100000"/>
                        </a:lnSpc>
                        <a:tabLst>
                          <a:tab pos="0" algn="l"/>
                        </a:tabLst>
                      </a:pPr>
                      <a:r>
                        <a:rPr lang="en-US" sz="1100" b="0" strike="noStrike" spc="-1">
                          <a:solidFill>
                            <a:srgbClr val="000000"/>
                          </a:solidFill>
                          <a:latin typeface="Calibri"/>
                        </a:rPr>
                        <a:t>1</a:t>
                      </a:r>
                      <a:endParaRPr lang="en-US" sz="11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1100" b="1" strike="noStrike" spc="-1">
                          <a:solidFill>
                            <a:srgbClr val="000000"/>
                          </a:solidFill>
                          <a:latin typeface="Calibri"/>
                        </a:rPr>
                        <a:t>Ratio Load Balancing</a:t>
                      </a:r>
                      <a:endParaRPr lang="en-US" sz="11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333333"/>
                          </a:solidFill>
                          <a:latin typeface="Calibri"/>
                        </a:rPr>
                        <a:t>Change to Ratio (Member), set .11 ratio to 3. Observe 3:1:1 distribution. Revert to Round Robin — ratios ignored.</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algn="ctr" defTabSz="914400">
                        <a:lnSpc>
                          <a:spcPct val="100000"/>
                        </a:lnSpc>
                        <a:tabLst>
                          <a:tab pos="0" algn="l"/>
                        </a:tabLst>
                      </a:pPr>
                      <a:r>
                        <a:rPr lang="en-US" sz="1000" b="0" strike="noStrike" spc="-1">
                          <a:solidFill>
                            <a:srgbClr val="666666"/>
                          </a:solidFill>
                          <a:latin typeface="Calibri"/>
                        </a:rPr>
                        <a:t>10m</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1"/>
                  </a:ext>
                </a:extLst>
              </a:tr>
              <a:tr h="502920">
                <a:tc>
                  <a:txBody>
                    <a:bodyPr/>
                    <a:lstStyle/>
                    <a:p>
                      <a:pPr algn="ctr" defTabSz="914400">
                        <a:lnSpc>
                          <a:spcPct val="100000"/>
                        </a:lnSpc>
                        <a:tabLst>
                          <a:tab pos="0" algn="l"/>
                        </a:tabLst>
                      </a:pPr>
                      <a:r>
                        <a:rPr lang="en-US" sz="1100" b="0" strike="noStrike" spc="-1">
                          <a:solidFill>
                            <a:srgbClr val="000000"/>
                          </a:solidFill>
                          <a:latin typeface="Calibri"/>
                        </a:rPr>
                        <a:t>2</a:t>
                      </a:r>
                      <a:endParaRPr lang="en-US" sz="11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1100" b="1" strike="noStrike" spc="-1">
                          <a:solidFill>
                            <a:srgbClr val="000000"/>
                          </a:solidFill>
                          <a:latin typeface="Calibri"/>
                        </a:rPr>
                        <a:t>Priority Groups</a:t>
                      </a:r>
                      <a:endParaRPr lang="en-US" sz="11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333333"/>
                          </a:solidFill>
                          <a:latin typeface="Calibri"/>
                        </a:rPr>
                        <a:t>Set activation to &lt;2. Assign .11/.12 PG10, .13 PG0. Disable .11 → .13 activates. Re-enable → .13 returns to standby.</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algn="ctr" defTabSz="914400">
                        <a:lnSpc>
                          <a:spcPct val="100000"/>
                        </a:lnSpc>
                        <a:tabLst>
                          <a:tab pos="0" algn="l"/>
                        </a:tabLst>
                      </a:pPr>
                      <a:r>
                        <a:rPr lang="en-US" sz="1000" b="0" strike="noStrike" spc="-1">
                          <a:solidFill>
                            <a:srgbClr val="666666"/>
                          </a:solidFill>
                          <a:latin typeface="Calibri"/>
                        </a:rPr>
                        <a:t>10m</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2"/>
                  </a:ext>
                </a:extLst>
              </a:tr>
              <a:tr h="502920">
                <a:tc>
                  <a:txBody>
                    <a:bodyPr/>
                    <a:lstStyle/>
                    <a:p>
                      <a:pPr algn="ctr" defTabSz="914400">
                        <a:lnSpc>
                          <a:spcPct val="100000"/>
                        </a:lnSpc>
                        <a:tabLst>
                          <a:tab pos="0" algn="l"/>
                        </a:tabLst>
                      </a:pPr>
                      <a:r>
                        <a:rPr lang="en-US" sz="1100" b="0" strike="noStrike" spc="-1">
                          <a:solidFill>
                            <a:srgbClr val="000000"/>
                          </a:solidFill>
                          <a:latin typeface="Calibri"/>
                        </a:rPr>
                        <a:t>3</a:t>
                      </a:r>
                      <a:endParaRPr lang="en-US" sz="11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1100" b="1" strike="noStrike" spc="-1">
                          <a:solidFill>
                            <a:srgbClr val="000000"/>
                          </a:solidFill>
                          <a:latin typeface="Calibri"/>
                        </a:rPr>
                        <a:t>Source Persistence</a:t>
                      </a:r>
                      <a:endParaRPr lang="en-US" sz="11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333333"/>
                          </a:solidFill>
                          <a:latin typeface="Calibri"/>
                        </a:rPr>
                        <a:t>Create my-src-persist (timeout 120s). Attach to www_vs. Observe persistence records. Test Disable vs Force Offline behavior.</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algn="ctr" defTabSz="914400">
                        <a:lnSpc>
                          <a:spcPct val="100000"/>
                        </a:lnSpc>
                        <a:tabLst>
                          <a:tab pos="0" algn="l"/>
                        </a:tabLst>
                      </a:pPr>
                      <a:r>
                        <a:rPr lang="en-US" sz="1000" b="0" strike="noStrike" spc="-1">
                          <a:solidFill>
                            <a:srgbClr val="666666"/>
                          </a:solidFill>
                          <a:latin typeface="Calibri"/>
                        </a:rPr>
                        <a:t>10m</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1555" name="Shape 8"/>
          <p:cNvSpPr/>
          <p:nvPr/>
        </p:nvSpPr>
        <p:spPr>
          <a:xfrm>
            <a:off x="365760" y="2743200"/>
            <a:ext cx="8412120" cy="411120"/>
          </a:xfrm>
          <a:prstGeom prst="rect">
            <a:avLst/>
          </a:prstGeom>
          <a:solidFill>
            <a:srgbClr val="FFF3E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556" name="Text 9"/>
          <p:cNvSpPr/>
          <p:nvPr/>
        </p:nvSpPr>
        <p:spPr>
          <a:xfrm>
            <a:off x="548640" y="2743200"/>
            <a:ext cx="80463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strike="noStrike" spc="-1">
                <a:solidFill>
                  <a:srgbClr val="F29A36"/>
                </a:solidFill>
                <a:latin typeface="Calibri"/>
                <a:ea typeface="Calibri"/>
              </a:rPr>
              <a:t>Browser tip: </a:t>
            </a:r>
            <a:r>
              <a:rPr lang="en-US" sz="900" b="0" strike="noStrike" spc="-1">
                <a:solidFill>
                  <a:srgbClr val="7A4500"/>
                </a:solidFill>
                <a:latin typeface="Calibri"/>
                <a:ea typeface="Calibri"/>
              </a:rPr>
              <a:t>Close ALL browser windows between tests. An existing connection uses the old LB settings. Open a new incognito window for each test to ensure a completely fresh connection.</a:t>
            </a:r>
            <a:endParaRPr lang="en-US" sz="900" b="0" strike="noStrike" spc="-1">
              <a:solidFill>
                <a:srgbClr val="000000"/>
              </a:solidFill>
              <a:latin typeface="Arial"/>
            </a:endParaRPr>
          </a:p>
        </p:txBody>
      </p:sp>
      <p:sp>
        <p:nvSpPr>
          <p:cNvPr id="1557" name="Shape 10"/>
          <p:cNvSpPr/>
          <p:nvPr/>
        </p:nvSpPr>
        <p:spPr>
          <a:xfrm>
            <a:off x="365760" y="3246120"/>
            <a:ext cx="8412120" cy="411120"/>
          </a:xfrm>
          <a:prstGeom prst="rect">
            <a:avLst/>
          </a:prstGeom>
          <a:solidFill>
            <a:srgbClr val="FDE8E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558" name="Text 11"/>
          <p:cNvSpPr/>
          <p:nvPr/>
        </p:nvSpPr>
        <p:spPr>
          <a:xfrm>
            <a:off x="548640" y="3246120"/>
            <a:ext cx="80463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strike="noStrike" spc="-1">
                <a:solidFill>
                  <a:srgbClr val="E4002B"/>
                </a:solidFill>
                <a:latin typeface="Calibri"/>
                <a:ea typeface="Calibri"/>
              </a:rPr>
              <a:t>Activity 3 key test: </a:t>
            </a:r>
            <a:r>
              <a:rPr lang="en-US" sz="900" b="0" strike="noStrike" spc="-1">
                <a:solidFill>
                  <a:srgbClr val="7A0000"/>
                </a:solidFill>
                <a:latin typeface="Calibri"/>
                <a:ea typeface="Calibri"/>
              </a:rPr>
              <a:t>While persisted, Disable the member → you can still access the site (persistence honored). Force Offline the member → site fails then recovers on another member (persistence broken).</a:t>
            </a:r>
            <a:endParaRPr lang="en-US" sz="900" b="0" strike="noStrike" spc="-1">
              <a:solidFill>
                <a:srgbClr val="000000"/>
              </a:solidFill>
              <a:latin typeface="Arial"/>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59"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560"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561"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562"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563"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564"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68    © 2026 F5</a:t>
            </a:r>
            <a:endParaRPr lang="en-US" sz="800" b="0" strike="noStrike" spc="-1">
              <a:solidFill>
                <a:srgbClr val="000000"/>
              </a:solidFill>
              <a:latin typeface="Arial"/>
            </a:endParaRPr>
          </a:p>
        </p:txBody>
      </p:sp>
      <p:pic>
        <p:nvPicPr>
          <p:cNvPr id="1565" name="Image 0" descr="preencoded.png"/>
          <p:cNvPicPr/>
          <p:nvPr/>
        </p:nvPicPr>
        <p:blipFill>
          <a:blip r:embed="rId3"/>
          <a:stretch/>
        </p:blipFill>
        <p:spPr>
          <a:xfrm>
            <a:off x="8458200" y="4663440"/>
            <a:ext cx="383760" cy="383760"/>
          </a:xfrm>
          <a:prstGeom prst="rect">
            <a:avLst/>
          </a:prstGeom>
          <a:ln w="0">
            <a:noFill/>
          </a:ln>
        </p:spPr>
      </p:pic>
      <p:sp>
        <p:nvSpPr>
          <p:cNvPr id="1566" name="Text 6"/>
          <p:cNvSpPr/>
          <p:nvPr/>
        </p:nvSpPr>
        <p:spPr>
          <a:xfrm>
            <a:off x="457200" y="274320"/>
            <a:ext cx="82292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Exam checkpoints</a:t>
            </a:r>
            <a:endParaRPr lang="en-US" sz="2800" b="0" strike="noStrike" spc="-1">
              <a:solidFill>
                <a:srgbClr val="000000"/>
              </a:solidFill>
              <a:latin typeface="Arial"/>
            </a:endParaRPr>
          </a:p>
        </p:txBody>
      </p:sp>
      <p:sp>
        <p:nvSpPr>
          <p:cNvPr id="1567" name="Shape 7"/>
          <p:cNvSpPr/>
          <p:nvPr/>
        </p:nvSpPr>
        <p:spPr>
          <a:xfrm>
            <a:off x="457200" y="868680"/>
            <a:ext cx="411120" cy="25560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568" name="Text 8"/>
          <p:cNvSpPr/>
          <p:nvPr/>
        </p:nvSpPr>
        <p:spPr>
          <a:xfrm>
            <a:off x="457200" y="868680"/>
            <a:ext cx="41112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rgbClr val="FFFFFF"/>
                </a:solidFill>
                <a:latin typeface="Arial"/>
                <a:ea typeface="Arial"/>
              </a:rPr>
              <a:t>Q1</a:t>
            </a:r>
            <a:endParaRPr lang="en-US" sz="1100" b="0" strike="noStrike" spc="-1">
              <a:solidFill>
                <a:srgbClr val="000000"/>
              </a:solidFill>
              <a:latin typeface="Arial"/>
            </a:endParaRPr>
          </a:p>
        </p:txBody>
      </p:sp>
      <p:sp>
        <p:nvSpPr>
          <p:cNvPr id="1569" name="Shape 9"/>
          <p:cNvSpPr/>
          <p:nvPr/>
        </p:nvSpPr>
        <p:spPr>
          <a:xfrm>
            <a:off x="960120" y="868680"/>
            <a:ext cx="365400" cy="25560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570" name="Text 10"/>
          <p:cNvSpPr/>
          <p:nvPr/>
        </p:nvSpPr>
        <p:spPr>
          <a:xfrm>
            <a:off x="960120" y="868680"/>
            <a:ext cx="3654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00" b="1" strike="noStrike" spc="-1">
                <a:solidFill>
                  <a:srgbClr val="009639"/>
                </a:solidFill>
                <a:latin typeface="Calibri"/>
              </a:rPr>
              <a:t>U/A</a:t>
            </a:r>
            <a:endParaRPr lang="en-US" sz="800" b="0" strike="noStrike" spc="-1">
              <a:solidFill>
                <a:srgbClr val="000000"/>
              </a:solidFill>
              <a:latin typeface="Arial"/>
            </a:endParaRPr>
          </a:p>
        </p:txBody>
      </p:sp>
      <p:sp>
        <p:nvSpPr>
          <p:cNvPr id="1571" name="Text 11"/>
          <p:cNvSpPr/>
          <p:nvPr/>
        </p:nvSpPr>
        <p:spPr>
          <a:xfrm>
            <a:off x="1417320" y="868680"/>
            <a:ext cx="740628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333333"/>
                </a:solidFill>
                <a:latin typeface="Calibri"/>
                <a:ea typeface="Calibri"/>
              </a:rPr>
              <a:t>You change the LB method to Ratio (Member) but forget to set ratio values on any member. How is traffic distributed?</a:t>
            </a:r>
            <a:endParaRPr lang="en-US" sz="1000" b="0" strike="noStrike" spc="-1">
              <a:solidFill>
                <a:srgbClr val="000000"/>
              </a:solidFill>
              <a:latin typeface="Arial"/>
            </a:endParaRPr>
          </a:p>
        </p:txBody>
      </p:sp>
      <p:sp>
        <p:nvSpPr>
          <p:cNvPr id="1572" name="Shape 12"/>
          <p:cNvSpPr/>
          <p:nvPr/>
        </p:nvSpPr>
        <p:spPr>
          <a:xfrm>
            <a:off x="457200" y="1737360"/>
            <a:ext cx="411120" cy="25560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573" name="Text 13"/>
          <p:cNvSpPr/>
          <p:nvPr/>
        </p:nvSpPr>
        <p:spPr>
          <a:xfrm>
            <a:off x="457200" y="1737360"/>
            <a:ext cx="41112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rgbClr val="FFFFFF"/>
                </a:solidFill>
                <a:latin typeface="Arial"/>
                <a:ea typeface="Arial"/>
              </a:rPr>
              <a:t>Q2</a:t>
            </a:r>
            <a:endParaRPr lang="en-US" sz="1100" b="0" strike="noStrike" spc="-1">
              <a:solidFill>
                <a:srgbClr val="000000"/>
              </a:solidFill>
              <a:latin typeface="Arial"/>
            </a:endParaRPr>
          </a:p>
        </p:txBody>
      </p:sp>
      <p:sp>
        <p:nvSpPr>
          <p:cNvPr id="1574" name="Shape 14"/>
          <p:cNvSpPr/>
          <p:nvPr/>
        </p:nvSpPr>
        <p:spPr>
          <a:xfrm>
            <a:off x="960120" y="1737360"/>
            <a:ext cx="365400" cy="25560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575" name="Text 15"/>
          <p:cNvSpPr/>
          <p:nvPr/>
        </p:nvSpPr>
        <p:spPr>
          <a:xfrm>
            <a:off x="960120" y="1737360"/>
            <a:ext cx="3654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00" b="1" strike="noStrike" spc="-1">
                <a:solidFill>
                  <a:srgbClr val="009639"/>
                </a:solidFill>
                <a:latin typeface="Calibri"/>
              </a:rPr>
              <a:t>U/A</a:t>
            </a:r>
            <a:endParaRPr lang="en-US" sz="800" b="0" strike="noStrike" spc="-1">
              <a:solidFill>
                <a:srgbClr val="000000"/>
              </a:solidFill>
              <a:latin typeface="Arial"/>
            </a:endParaRPr>
          </a:p>
        </p:txBody>
      </p:sp>
      <p:sp>
        <p:nvSpPr>
          <p:cNvPr id="1576" name="Text 16"/>
          <p:cNvSpPr/>
          <p:nvPr/>
        </p:nvSpPr>
        <p:spPr>
          <a:xfrm>
            <a:off x="1417320" y="1737360"/>
            <a:ext cx="740628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333333"/>
                </a:solidFill>
                <a:latin typeface="Calibri"/>
                <a:ea typeface="Calibri"/>
              </a:rPr>
              <a:t>A newly recovered pool member gets overwhelmed with connections when using Least Connections. What pool setting prevents this?</a:t>
            </a:r>
            <a:endParaRPr lang="en-US" sz="1000" b="0" strike="noStrike" spc="-1">
              <a:solidFill>
                <a:srgbClr val="000000"/>
              </a:solidFill>
              <a:latin typeface="Arial"/>
            </a:endParaRPr>
          </a:p>
        </p:txBody>
      </p:sp>
      <p:sp>
        <p:nvSpPr>
          <p:cNvPr id="1577" name="Shape 17"/>
          <p:cNvSpPr/>
          <p:nvPr/>
        </p:nvSpPr>
        <p:spPr>
          <a:xfrm>
            <a:off x="457200" y="2606040"/>
            <a:ext cx="411120" cy="25560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578" name="Text 18"/>
          <p:cNvSpPr/>
          <p:nvPr/>
        </p:nvSpPr>
        <p:spPr>
          <a:xfrm>
            <a:off x="457200" y="2606040"/>
            <a:ext cx="41112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rgbClr val="FFFFFF"/>
                </a:solidFill>
                <a:latin typeface="Arial"/>
                <a:ea typeface="Arial"/>
              </a:rPr>
              <a:t>Q3</a:t>
            </a:r>
            <a:endParaRPr lang="en-US" sz="1100" b="0" strike="noStrike" spc="-1">
              <a:solidFill>
                <a:srgbClr val="000000"/>
              </a:solidFill>
              <a:latin typeface="Arial"/>
            </a:endParaRPr>
          </a:p>
        </p:txBody>
      </p:sp>
      <p:sp>
        <p:nvSpPr>
          <p:cNvPr id="1579" name="Shape 19"/>
          <p:cNvSpPr/>
          <p:nvPr/>
        </p:nvSpPr>
        <p:spPr>
          <a:xfrm>
            <a:off x="960120" y="2606040"/>
            <a:ext cx="365400" cy="25560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580" name="Text 20"/>
          <p:cNvSpPr/>
          <p:nvPr/>
        </p:nvSpPr>
        <p:spPr>
          <a:xfrm>
            <a:off x="960120" y="2606040"/>
            <a:ext cx="3654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00" b="1" strike="noStrike" spc="-1">
                <a:solidFill>
                  <a:srgbClr val="009639"/>
                </a:solidFill>
                <a:latin typeface="Calibri"/>
              </a:rPr>
              <a:t>U/A</a:t>
            </a:r>
            <a:endParaRPr lang="en-US" sz="800" b="0" strike="noStrike" spc="-1">
              <a:solidFill>
                <a:srgbClr val="000000"/>
              </a:solidFill>
              <a:latin typeface="Arial"/>
            </a:endParaRPr>
          </a:p>
        </p:txBody>
      </p:sp>
      <p:sp>
        <p:nvSpPr>
          <p:cNvPr id="1581" name="Text 21"/>
          <p:cNvSpPr/>
          <p:nvPr/>
        </p:nvSpPr>
        <p:spPr>
          <a:xfrm>
            <a:off x="1417320" y="2606040"/>
            <a:ext cx="740628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333333"/>
                </a:solidFill>
                <a:latin typeface="Calibri"/>
                <a:ea typeface="Calibri"/>
              </a:rPr>
              <a:t>Source persistence is active. You Disable the member a client is persisted to. The client refreshes. Can they access the site? Why?</a:t>
            </a:r>
            <a:endParaRPr lang="en-US" sz="1000" b="0" strike="noStrike" spc="-1">
              <a:solidFill>
                <a:srgbClr val="000000"/>
              </a:solidFill>
              <a:latin typeface="Arial"/>
            </a:endParaRPr>
          </a:p>
        </p:txBody>
      </p:sp>
      <p:sp>
        <p:nvSpPr>
          <p:cNvPr id="1582" name="Shape 22"/>
          <p:cNvSpPr/>
          <p:nvPr/>
        </p:nvSpPr>
        <p:spPr>
          <a:xfrm>
            <a:off x="457200" y="3474720"/>
            <a:ext cx="411120" cy="25560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583" name="Text 23"/>
          <p:cNvSpPr/>
          <p:nvPr/>
        </p:nvSpPr>
        <p:spPr>
          <a:xfrm>
            <a:off x="457200" y="3474720"/>
            <a:ext cx="41112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rgbClr val="FFFFFF"/>
                </a:solidFill>
                <a:latin typeface="Arial"/>
                <a:ea typeface="Arial"/>
              </a:rPr>
              <a:t>Q4</a:t>
            </a:r>
            <a:endParaRPr lang="en-US" sz="1100" b="0" strike="noStrike" spc="-1">
              <a:solidFill>
                <a:srgbClr val="000000"/>
              </a:solidFill>
              <a:latin typeface="Arial"/>
            </a:endParaRPr>
          </a:p>
        </p:txBody>
      </p:sp>
      <p:sp>
        <p:nvSpPr>
          <p:cNvPr id="1584" name="Shape 24"/>
          <p:cNvSpPr/>
          <p:nvPr/>
        </p:nvSpPr>
        <p:spPr>
          <a:xfrm>
            <a:off x="960120" y="3474720"/>
            <a:ext cx="365400" cy="25560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585" name="Text 25"/>
          <p:cNvSpPr/>
          <p:nvPr/>
        </p:nvSpPr>
        <p:spPr>
          <a:xfrm>
            <a:off x="960120" y="3474720"/>
            <a:ext cx="3654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00" b="1" strike="noStrike" spc="-1">
                <a:solidFill>
                  <a:srgbClr val="009639"/>
                </a:solidFill>
                <a:latin typeface="Calibri"/>
              </a:rPr>
              <a:t>U/A</a:t>
            </a:r>
            <a:endParaRPr lang="en-US" sz="800" b="0" strike="noStrike" spc="-1">
              <a:solidFill>
                <a:srgbClr val="000000"/>
              </a:solidFill>
              <a:latin typeface="Arial"/>
            </a:endParaRPr>
          </a:p>
        </p:txBody>
      </p:sp>
      <p:sp>
        <p:nvSpPr>
          <p:cNvPr id="1586" name="Text 26"/>
          <p:cNvSpPr/>
          <p:nvPr/>
        </p:nvSpPr>
        <p:spPr>
          <a:xfrm>
            <a:off x="1417320" y="3474720"/>
            <a:ext cx="740628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333333"/>
                </a:solidFill>
                <a:latin typeface="Calibri"/>
                <a:ea typeface="Calibri"/>
              </a:rPr>
              <a:t>Same scenario, but you Force Offline the member instead. The client refreshes. What happens now?</a:t>
            </a:r>
            <a:endParaRPr lang="en-US" sz="1000" b="0" strike="noStrike" spc="-1">
              <a:solidFill>
                <a:srgbClr val="000000"/>
              </a:solidFill>
              <a:latin typeface="Arial"/>
            </a:endParaRPr>
          </a:p>
        </p:txBody>
      </p:sp>
      <p:sp>
        <p:nvSpPr>
          <p:cNvPr id="1587" name="Shape 27"/>
          <p:cNvSpPr/>
          <p:nvPr/>
        </p:nvSpPr>
        <p:spPr>
          <a:xfrm>
            <a:off x="365760" y="4343400"/>
            <a:ext cx="8412120" cy="273960"/>
          </a:xfrm>
          <a:prstGeom prst="rect">
            <a:avLst/>
          </a:prstGeom>
          <a:solidFill>
            <a:srgbClr val="E8F5E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588" name="Text 28"/>
          <p:cNvSpPr/>
          <p:nvPr/>
        </p:nvSpPr>
        <p:spPr>
          <a:xfrm>
            <a:off x="548640" y="4343400"/>
            <a:ext cx="80463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strike="noStrike" spc="-1">
                <a:solidFill>
                  <a:srgbClr val="1B5E20"/>
                </a:solidFill>
                <a:latin typeface="Calibri"/>
                <a:ea typeface="Calibri"/>
              </a:rPr>
              <a:t>LB method selection: Equal servers → Round Robin  |  Known capacities → Ratio  |  Varying load → Least Connections  |  DR failover → Priority Groups</a:t>
            </a:r>
            <a:endParaRPr lang="en-US" sz="900" b="0" strike="noStrike" spc="-1">
              <a:solidFill>
                <a:srgbClr val="000000"/>
              </a:solidFill>
              <a:latin typeface="Arial"/>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89"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590"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591"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592"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593"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594"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69    © 2026 F5</a:t>
            </a:r>
            <a:endParaRPr lang="en-US" sz="800" b="0" strike="noStrike" spc="-1">
              <a:solidFill>
                <a:srgbClr val="000000"/>
              </a:solidFill>
              <a:latin typeface="Arial"/>
            </a:endParaRPr>
          </a:p>
        </p:txBody>
      </p:sp>
      <p:pic>
        <p:nvPicPr>
          <p:cNvPr id="1595" name="Image 0" descr="preencoded.png"/>
          <p:cNvPicPr/>
          <p:nvPr/>
        </p:nvPicPr>
        <p:blipFill>
          <a:blip r:embed="rId3"/>
          <a:stretch/>
        </p:blipFill>
        <p:spPr>
          <a:xfrm>
            <a:off x="8458200" y="4663440"/>
            <a:ext cx="383760" cy="383760"/>
          </a:xfrm>
          <a:prstGeom prst="rect">
            <a:avLst/>
          </a:prstGeom>
          <a:ln w="0">
            <a:noFill/>
          </a:ln>
        </p:spPr>
      </p:pic>
      <p:sp>
        <p:nvSpPr>
          <p:cNvPr id="1596" name="Text 6"/>
          <p:cNvSpPr/>
          <p:nvPr/>
        </p:nvSpPr>
        <p:spPr>
          <a:xfrm>
            <a:off x="457200" y="274320"/>
            <a:ext cx="82292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Exam checkpoints (continued)</a:t>
            </a:r>
            <a:endParaRPr lang="en-US" sz="2800" b="0" strike="noStrike" spc="-1">
              <a:solidFill>
                <a:srgbClr val="000000"/>
              </a:solidFill>
              <a:latin typeface="Arial"/>
            </a:endParaRPr>
          </a:p>
        </p:txBody>
      </p:sp>
      <p:sp>
        <p:nvSpPr>
          <p:cNvPr id="1597" name="Shape 7"/>
          <p:cNvSpPr/>
          <p:nvPr/>
        </p:nvSpPr>
        <p:spPr>
          <a:xfrm>
            <a:off x="457200" y="914400"/>
            <a:ext cx="411120" cy="25560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598" name="Text 8"/>
          <p:cNvSpPr/>
          <p:nvPr/>
        </p:nvSpPr>
        <p:spPr>
          <a:xfrm>
            <a:off x="457200" y="914400"/>
            <a:ext cx="41112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rgbClr val="FFFFFF"/>
                </a:solidFill>
                <a:latin typeface="Arial"/>
                <a:ea typeface="Arial"/>
              </a:rPr>
              <a:t>Q5</a:t>
            </a:r>
            <a:endParaRPr lang="en-US" sz="1100" b="0" strike="noStrike" spc="-1">
              <a:solidFill>
                <a:srgbClr val="000000"/>
              </a:solidFill>
              <a:latin typeface="Arial"/>
            </a:endParaRPr>
          </a:p>
        </p:txBody>
      </p:sp>
      <p:sp>
        <p:nvSpPr>
          <p:cNvPr id="1599" name="Shape 9"/>
          <p:cNvSpPr/>
          <p:nvPr/>
        </p:nvSpPr>
        <p:spPr>
          <a:xfrm>
            <a:off x="960120" y="914400"/>
            <a:ext cx="365400" cy="25560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600" name="Text 10"/>
          <p:cNvSpPr/>
          <p:nvPr/>
        </p:nvSpPr>
        <p:spPr>
          <a:xfrm>
            <a:off x="960120" y="914400"/>
            <a:ext cx="3654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00" b="1" strike="noStrike" spc="-1">
                <a:solidFill>
                  <a:srgbClr val="009639"/>
                </a:solidFill>
                <a:latin typeface="Calibri"/>
              </a:rPr>
              <a:t>U/A</a:t>
            </a:r>
            <a:endParaRPr lang="en-US" sz="800" b="0" strike="noStrike" spc="-1">
              <a:solidFill>
                <a:srgbClr val="000000"/>
              </a:solidFill>
              <a:latin typeface="Arial"/>
            </a:endParaRPr>
          </a:p>
        </p:txBody>
      </p:sp>
      <p:sp>
        <p:nvSpPr>
          <p:cNvPr id="1601" name="Text 11"/>
          <p:cNvSpPr/>
          <p:nvPr/>
        </p:nvSpPr>
        <p:spPr>
          <a:xfrm>
            <a:off x="1417320" y="914400"/>
            <a:ext cx="740628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strike="noStrike" spc="-1">
                <a:solidFill>
                  <a:srgbClr val="333333"/>
                </a:solidFill>
                <a:latin typeface="Calibri"/>
                <a:ea typeface="Calibri"/>
              </a:rPr>
              <a:t>Pool has 4 members: A (PG10), B (PG10), C (PG5), D (PG5). Min-active-members is 2. Member A fails. Is PG5 activated?</a:t>
            </a:r>
            <a:endParaRPr lang="en-US" sz="1100" b="0" strike="noStrike" spc="-1">
              <a:solidFill>
                <a:srgbClr val="000000"/>
              </a:solidFill>
              <a:latin typeface="Arial"/>
            </a:endParaRPr>
          </a:p>
        </p:txBody>
      </p:sp>
      <p:sp>
        <p:nvSpPr>
          <p:cNvPr id="1602" name="Shape 12"/>
          <p:cNvSpPr/>
          <p:nvPr/>
        </p:nvSpPr>
        <p:spPr>
          <a:xfrm>
            <a:off x="457200" y="2194560"/>
            <a:ext cx="411120" cy="25560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603" name="Text 13"/>
          <p:cNvSpPr/>
          <p:nvPr/>
        </p:nvSpPr>
        <p:spPr>
          <a:xfrm>
            <a:off x="457200" y="2194560"/>
            <a:ext cx="41112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rgbClr val="FFFFFF"/>
                </a:solidFill>
                <a:latin typeface="Arial"/>
                <a:ea typeface="Arial"/>
              </a:rPr>
              <a:t>Q6</a:t>
            </a:r>
            <a:endParaRPr lang="en-US" sz="1100" b="0" strike="noStrike" spc="-1">
              <a:solidFill>
                <a:srgbClr val="000000"/>
              </a:solidFill>
              <a:latin typeface="Arial"/>
            </a:endParaRPr>
          </a:p>
        </p:txBody>
      </p:sp>
      <p:sp>
        <p:nvSpPr>
          <p:cNvPr id="1604" name="Shape 14"/>
          <p:cNvSpPr/>
          <p:nvPr/>
        </p:nvSpPr>
        <p:spPr>
          <a:xfrm>
            <a:off x="960120" y="2194560"/>
            <a:ext cx="365400" cy="25560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605" name="Text 15"/>
          <p:cNvSpPr/>
          <p:nvPr/>
        </p:nvSpPr>
        <p:spPr>
          <a:xfrm>
            <a:off x="960120" y="2194560"/>
            <a:ext cx="3654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00" b="1" strike="noStrike" spc="-1">
                <a:solidFill>
                  <a:srgbClr val="009639"/>
                </a:solidFill>
                <a:latin typeface="Calibri"/>
              </a:rPr>
              <a:t>U/A</a:t>
            </a:r>
            <a:endParaRPr lang="en-US" sz="800" b="0" strike="noStrike" spc="-1">
              <a:solidFill>
                <a:srgbClr val="000000"/>
              </a:solidFill>
              <a:latin typeface="Arial"/>
            </a:endParaRPr>
          </a:p>
        </p:txBody>
      </p:sp>
      <p:sp>
        <p:nvSpPr>
          <p:cNvPr id="1606" name="Text 16"/>
          <p:cNvSpPr/>
          <p:nvPr/>
        </p:nvSpPr>
        <p:spPr>
          <a:xfrm>
            <a:off x="1417320" y="2194560"/>
            <a:ext cx="740628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strike="noStrike" spc="-1">
                <a:solidFill>
                  <a:srgbClr val="333333"/>
                </a:solidFill>
                <a:latin typeface="Calibri"/>
                <a:ea typeface="Calibri"/>
              </a:rPr>
              <a:t>What is the difference between Least Connections (Member) and Least Connections (Node)? When does the distinction matter?</a:t>
            </a:r>
            <a:endParaRPr lang="en-US" sz="1100" b="0" strike="noStrike" spc="-1">
              <a:solidFill>
                <a:srgbClr val="000000"/>
              </a:solidFill>
              <a:latin typeface="Arial"/>
            </a:endParaRPr>
          </a:p>
        </p:txBody>
      </p:sp>
      <p:sp>
        <p:nvSpPr>
          <p:cNvPr id="1607" name="Shape 17"/>
          <p:cNvSpPr/>
          <p:nvPr/>
        </p:nvSpPr>
        <p:spPr>
          <a:xfrm>
            <a:off x="365760" y="3474720"/>
            <a:ext cx="8412120" cy="1096920"/>
          </a:xfrm>
          <a:prstGeom prst="rect">
            <a:avLst/>
          </a:prstGeom>
          <a:solidFill>
            <a:srgbClr val="E8F5E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608" name="Text 18"/>
          <p:cNvSpPr/>
          <p:nvPr/>
        </p:nvSpPr>
        <p:spPr>
          <a:xfrm>
            <a:off x="548640" y="3493080"/>
            <a:ext cx="8046360" cy="1060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1" strike="noStrike" spc="-1">
                <a:solidFill>
                  <a:srgbClr val="009639"/>
                </a:solidFill>
                <a:latin typeface="Calibri"/>
              </a:rPr>
              <a:t>Load balancing decision tree</a:t>
            </a:r>
            <a:endParaRPr lang="en-US" sz="1300" b="0" strike="noStrike" spc="-1">
              <a:solidFill>
                <a:srgbClr val="000000"/>
              </a:solidFill>
              <a:latin typeface="Arial"/>
            </a:endParaRPr>
          </a:p>
          <a:p>
            <a:pPr defTabSz="914400">
              <a:lnSpc>
                <a:spcPct val="100000"/>
              </a:lnSpc>
              <a:tabLst>
                <a:tab pos="0" algn="l"/>
              </a:tabLst>
            </a:pPr>
            <a:r>
              <a:rPr lang="en-US" sz="1000" b="0" strike="noStrike" spc="-1">
                <a:solidFill>
                  <a:srgbClr val="1B5E20"/>
                </a:solidFill>
                <a:latin typeface="Calibri"/>
                <a:ea typeface="Calibri"/>
              </a:rPr>
              <a:t>All servers equal capacity → Round Robin (default, simplest)</a:t>
            </a:r>
            <a:endParaRPr lang="en-US" sz="1000" b="0" strike="noStrike" spc="-1">
              <a:solidFill>
                <a:srgbClr val="000000"/>
              </a:solidFill>
              <a:latin typeface="Arial"/>
            </a:endParaRPr>
          </a:p>
          <a:p>
            <a:pPr defTabSz="914400">
              <a:lnSpc>
                <a:spcPct val="100000"/>
              </a:lnSpc>
              <a:tabLst>
                <a:tab pos="0" algn="l"/>
              </a:tabLst>
            </a:pPr>
            <a:r>
              <a:rPr lang="en-US" sz="1000" b="0" strike="noStrike" spc="-1">
                <a:solidFill>
                  <a:srgbClr val="1B5E20"/>
                </a:solidFill>
                <a:latin typeface="Calibri"/>
                <a:ea typeface="Calibri"/>
              </a:rPr>
              <a:t>Servers with known different capacities → Ratio (Member)</a:t>
            </a:r>
            <a:endParaRPr lang="en-US" sz="1000" b="0" strike="noStrike" spc="-1">
              <a:solidFill>
                <a:srgbClr val="000000"/>
              </a:solidFill>
              <a:latin typeface="Arial"/>
            </a:endParaRPr>
          </a:p>
          <a:p>
            <a:pPr defTabSz="914400">
              <a:lnSpc>
                <a:spcPct val="100000"/>
              </a:lnSpc>
              <a:tabLst>
                <a:tab pos="0" algn="l"/>
              </a:tabLst>
            </a:pPr>
            <a:r>
              <a:rPr lang="en-US" sz="1000" b="0" strike="noStrike" spc="-1">
                <a:solidFill>
                  <a:srgbClr val="1B5E20"/>
                </a:solidFill>
                <a:latin typeface="Calibri"/>
                <a:ea typeface="Calibri"/>
              </a:rPr>
              <a:t>Varying request duration / server load → Least Connections (most common dynamic)</a:t>
            </a:r>
            <a:endParaRPr lang="en-US" sz="1000" b="0" strike="noStrike" spc="-1">
              <a:solidFill>
                <a:srgbClr val="000000"/>
              </a:solidFill>
              <a:latin typeface="Arial"/>
            </a:endParaRPr>
          </a:p>
          <a:p>
            <a:pPr defTabSz="914400">
              <a:lnSpc>
                <a:spcPct val="100000"/>
              </a:lnSpc>
              <a:tabLst>
                <a:tab pos="0" algn="l"/>
              </a:tabLst>
            </a:pPr>
            <a:r>
              <a:rPr lang="en-US" sz="1000" b="0" strike="noStrike" spc="-1">
                <a:solidFill>
                  <a:srgbClr val="1B5E20"/>
                </a:solidFill>
                <a:latin typeface="Calibri"/>
                <a:ea typeface="Calibri"/>
              </a:rPr>
              <a:t>DR / backup site failover → Priority Groups + any LB method</a:t>
            </a:r>
            <a:endParaRPr lang="en-US" sz="1000" b="0" strike="noStrike" spc="-1">
              <a:solidFill>
                <a:srgbClr val="000000"/>
              </a:solidFill>
              <a:latin typeface="Arial"/>
            </a:endParaRPr>
          </a:p>
          <a:p>
            <a:pPr defTabSz="914400">
              <a:lnSpc>
                <a:spcPct val="100000"/>
              </a:lnSpc>
              <a:tabLst>
                <a:tab pos="0" algn="l"/>
              </a:tabLst>
            </a:pPr>
            <a:r>
              <a:rPr lang="en-US" sz="1000" b="0" strike="noStrike" spc="-1">
                <a:solidFill>
                  <a:srgbClr val="1B5E20"/>
                </a:solidFill>
                <a:latin typeface="Calibri"/>
                <a:ea typeface="Calibri"/>
              </a:rPr>
              <a:t>Newly recovered members overwhelmed → Slow Ramp Time on pool</a:t>
            </a:r>
            <a:endParaRPr lang="en-US" sz="1000" b="0" strike="noStrike" spc="-1">
              <a:solidFill>
                <a:srgbClr val="000000"/>
              </a:solidFill>
              <a:latin typeface="Arial"/>
            </a:endParaRPr>
          </a:p>
          <a:p>
            <a:pPr defTabSz="914400">
              <a:lnSpc>
                <a:spcPct val="100000"/>
              </a:lnSpc>
              <a:tabLst>
                <a:tab pos="0" algn="l"/>
              </a:tabLst>
            </a:pPr>
            <a:r>
              <a:rPr lang="en-US" sz="1000" b="0" strike="noStrike" spc="-1">
                <a:solidFill>
                  <a:srgbClr val="1B5E20"/>
                </a:solidFill>
                <a:latin typeface="Calibri"/>
                <a:ea typeface="Calibri"/>
              </a:rPr>
              <a:t>Persistence required → LB method for first connection, persistence overrides for returning clients</a:t>
            </a:r>
            <a:endParaRPr lang="en-US" sz="1000" b="0" strike="noStrike" spc="-1">
              <a:solidFill>
                <a:srgbClr val="000000"/>
              </a:solidFill>
              <a:latin typeface="Arial"/>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609" name="Shape 0"/>
          <p:cNvSpPr/>
          <p:nvPr/>
        </p:nvSpPr>
        <p:spPr>
          <a:xfrm>
            <a:off x="0" y="507024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610" name="Shape 1"/>
          <p:cNvSpPr/>
          <p:nvPr/>
        </p:nvSpPr>
        <p:spPr>
          <a:xfrm>
            <a:off x="1371600" y="507024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611" name="Shape 2"/>
          <p:cNvSpPr/>
          <p:nvPr/>
        </p:nvSpPr>
        <p:spPr>
          <a:xfrm>
            <a:off x="4114800" y="507024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612" name="Shape 3"/>
          <p:cNvSpPr/>
          <p:nvPr/>
        </p:nvSpPr>
        <p:spPr>
          <a:xfrm>
            <a:off x="5486400" y="507024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613" name="Shape 4"/>
          <p:cNvSpPr/>
          <p:nvPr/>
        </p:nvSpPr>
        <p:spPr>
          <a:xfrm>
            <a:off x="7772400" y="507024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pic>
        <p:nvPicPr>
          <p:cNvPr id="1614" name="Image 0" descr="preencoded.png"/>
          <p:cNvPicPr/>
          <p:nvPr/>
        </p:nvPicPr>
        <p:blipFill>
          <a:blip r:embed="rId3"/>
          <a:stretch/>
        </p:blipFill>
        <p:spPr>
          <a:xfrm>
            <a:off x="365760" y="274320"/>
            <a:ext cx="639720" cy="639720"/>
          </a:xfrm>
          <a:prstGeom prst="rect">
            <a:avLst/>
          </a:prstGeom>
          <a:ln w="0">
            <a:noFill/>
          </a:ln>
        </p:spPr>
      </p:pic>
      <p:graphicFrame>
        <p:nvGraphicFramePr>
          <p:cNvPr id="1615" name="Table 0"/>
          <p:cNvGraphicFramePr/>
          <p:nvPr/>
        </p:nvGraphicFramePr>
        <p:xfrm>
          <a:off x="365760" y="1051560"/>
          <a:ext cx="6675120" cy="731520"/>
        </p:xfrm>
        <a:graphic>
          <a:graphicData uri="http://schemas.openxmlformats.org/drawingml/2006/table">
            <a:tbl>
              <a:tblPr/>
              <a:tblGrid>
                <a:gridCol w="146304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gridCol w="4754880">
                  <a:extLst>
                    <a:ext uri="{9D8B030D-6E8A-4147-A177-3AD203B41FA5}">
                      <a16:colId xmlns:a16="http://schemas.microsoft.com/office/drawing/2014/main" val="20002"/>
                    </a:ext>
                  </a:extLst>
                </a:gridCol>
              </a:tblGrid>
              <a:tr h="0">
                <a:tc>
                  <a:txBody>
                    <a:bodyPr/>
                    <a:lstStyle/>
                    <a:p>
                      <a:pPr defTabSz="914400">
                        <a:lnSpc>
                          <a:spcPct val="100000"/>
                        </a:lnSpc>
                        <a:tabLst>
                          <a:tab pos="0" algn="l"/>
                        </a:tabLst>
                      </a:pPr>
                      <a:r>
                        <a:rPr lang="en-US" sz="1000" b="0" strike="noStrike" spc="-1">
                          <a:solidFill>
                            <a:srgbClr val="FFFFFF"/>
                          </a:solidFill>
                          <a:latin typeface="Courier New"/>
                          <a:ea typeface="Courier New"/>
                        </a:rPr>
                        <a:t>F5CTSLTM1.03</a:t>
                      </a:r>
                      <a:endParaRPr lang="en-US" sz="1000" b="0" strike="noStrike" spc="-1">
                        <a:solidFill>
                          <a:srgbClr val="FFFFFF"/>
                        </a:solidFill>
                        <a:latin typeface="Arial"/>
                      </a:endParaRPr>
                    </a:p>
                  </a:txBody>
                  <a:tcPr marL="75960" marR="75960">
                    <a:lnL>
                      <a:noFill/>
                    </a:lnL>
                    <a:lnR>
                      <a:noFill/>
                    </a:lnR>
                    <a:lnT>
                      <a:noFill/>
                    </a:lnT>
                    <a:lnB>
                      <a:noFill/>
                    </a:lnB>
                    <a:solidFill>
                      <a:srgbClr val="1A1A1A"/>
                    </a:solidFill>
                  </a:tcPr>
                </a:tc>
                <a:tc>
                  <a:txBody>
                    <a:bodyPr/>
                    <a:lstStyle/>
                    <a:p>
                      <a:pPr algn="ctr" defTabSz="914400">
                        <a:lnSpc>
                          <a:spcPct val="100000"/>
                        </a:lnSpc>
                        <a:tabLst>
                          <a:tab pos="0" algn="l"/>
                        </a:tabLst>
                      </a:pPr>
                      <a:r>
                        <a:rPr lang="en-US" sz="1000" b="1" strike="noStrike" spc="-1">
                          <a:solidFill>
                            <a:srgbClr val="009639"/>
                          </a:solidFill>
                          <a:latin typeface="Calibri"/>
                        </a:rPr>
                        <a:t>U/A</a:t>
                      </a:r>
                      <a:endParaRPr lang="en-US" sz="1000" b="0" strike="noStrike" spc="-1">
                        <a:solidFill>
                          <a:srgbClr val="FFFFFF"/>
                        </a:solidFill>
                        <a:latin typeface="Arial"/>
                      </a:endParaRPr>
                    </a:p>
                  </a:txBody>
                  <a:tcPr marL="75960" marR="75960">
                    <a:lnL>
                      <a:noFill/>
                    </a:lnL>
                    <a:lnR>
                      <a:noFill/>
                    </a:lnR>
                    <a:lnT>
                      <a:noFill/>
                    </a:lnT>
                    <a:lnB>
                      <a:noFill/>
                    </a:lnB>
                    <a:solidFill>
                      <a:srgbClr val="1A1A1A"/>
                    </a:solidFill>
                  </a:tcPr>
                </a:tc>
                <a:tc>
                  <a:txBody>
                    <a:bodyPr/>
                    <a:lstStyle/>
                    <a:p>
                      <a:pPr defTabSz="914400">
                        <a:lnSpc>
                          <a:spcPct val="100000"/>
                        </a:lnSpc>
                        <a:tabLst>
                          <a:tab pos="0" algn="l"/>
                        </a:tabLst>
                      </a:pPr>
                      <a:r>
                        <a:rPr lang="en-US" sz="1000" b="0" strike="noStrike" spc="-1">
                          <a:solidFill>
                            <a:srgbClr val="666666"/>
                          </a:solidFill>
                          <a:latin typeface="Calibri"/>
                        </a:rPr>
                        <a:t>Determine how to secure self IPs (port lockdown)</a:t>
                      </a:r>
                      <a:endParaRPr lang="en-US" sz="1000" b="0" strike="noStrike" spc="-1">
                        <a:solidFill>
                          <a:srgbClr val="FFFFFF"/>
                        </a:solidFill>
                        <a:latin typeface="Arial"/>
                      </a:endParaRPr>
                    </a:p>
                  </a:txBody>
                  <a:tcPr marL="75960" marR="75960">
                    <a:lnL>
                      <a:noFill/>
                    </a:lnL>
                    <a:lnR>
                      <a:noFill/>
                    </a:lnR>
                    <a:lnT>
                      <a:noFill/>
                    </a:lnT>
                    <a:lnB>
                      <a:noFill/>
                    </a:lnB>
                    <a:solidFill>
                      <a:srgbClr val="1A1A1A"/>
                    </a:solidFill>
                  </a:tcPr>
                </a:tc>
                <a:extLst>
                  <a:ext uri="{0D108BD9-81ED-4DB2-BD59-A6C34878D82A}">
                    <a16:rowId xmlns:a16="http://schemas.microsoft.com/office/drawing/2014/main" val="10000"/>
                  </a:ext>
                </a:extLst>
              </a:tr>
              <a:tr h="0">
                <a:tc>
                  <a:txBody>
                    <a:bodyPr/>
                    <a:lstStyle/>
                    <a:p>
                      <a:pPr defTabSz="914400">
                        <a:lnSpc>
                          <a:spcPct val="100000"/>
                        </a:lnSpc>
                        <a:tabLst>
                          <a:tab pos="0" algn="l"/>
                        </a:tabLst>
                      </a:pPr>
                      <a:r>
                        <a:rPr lang="en-US" sz="1000" b="0" strike="noStrike" spc="-1">
                          <a:solidFill>
                            <a:srgbClr val="FFFFFF"/>
                          </a:solidFill>
                          <a:latin typeface="Courier New"/>
                          <a:ea typeface="Courier New"/>
                        </a:rPr>
                        <a:t>F5CTSLTM1.04</a:t>
                      </a:r>
                      <a:endParaRPr lang="en-US" sz="1000" b="0" strike="noStrike" spc="-1">
                        <a:solidFill>
                          <a:srgbClr val="FFFFFF"/>
                        </a:solidFill>
                        <a:latin typeface="Arial"/>
                      </a:endParaRPr>
                    </a:p>
                  </a:txBody>
                  <a:tcPr marL="75960" marR="75960">
                    <a:lnL>
                      <a:noFill/>
                    </a:lnL>
                    <a:lnR>
                      <a:noFill/>
                    </a:lnR>
                    <a:lnT>
                      <a:noFill/>
                    </a:lnT>
                    <a:lnB>
                      <a:noFill/>
                    </a:lnB>
                    <a:solidFill>
                      <a:srgbClr val="111111"/>
                    </a:solidFill>
                  </a:tcPr>
                </a:tc>
                <a:tc>
                  <a:txBody>
                    <a:bodyPr/>
                    <a:lstStyle/>
                    <a:p>
                      <a:pPr algn="ctr" defTabSz="914400">
                        <a:lnSpc>
                          <a:spcPct val="100000"/>
                        </a:lnSpc>
                        <a:tabLst>
                          <a:tab pos="0" algn="l"/>
                        </a:tabLst>
                      </a:pPr>
                      <a:r>
                        <a:rPr lang="en-US" sz="1000" b="1" strike="noStrike" spc="-1">
                          <a:solidFill>
                            <a:srgbClr val="009639"/>
                          </a:solidFill>
                          <a:latin typeface="Calibri"/>
                        </a:rPr>
                        <a:t>U/A</a:t>
                      </a:r>
                      <a:endParaRPr lang="en-US" sz="1000" b="0" strike="noStrike" spc="-1">
                        <a:solidFill>
                          <a:srgbClr val="FFFFFF"/>
                        </a:solidFill>
                        <a:latin typeface="Arial"/>
                      </a:endParaRPr>
                    </a:p>
                  </a:txBody>
                  <a:tcPr marL="75960" marR="75960">
                    <a:lnL>
                      <a:noFill/>
                    </a:lnL>
                    <a:lnR>
                      <a:noFill/>
                    </a:lnR>
                    <a:lnT>
                      <a:noFill/>
                    </a:lnT>
                    <a:lnB>
                      <a:noFill/>
                    </a:lnB>
                    <a:solidFill>
                      <a:srgbClr val="111111"/>
                    </a:solidFill>
                  </a:tcPr>
                </a:tc>
                <a:tc>
                  <a:txBody>
                    <a:bodyPr/>
                    <a:lstStyle/>
                    <a:p>
                      <a:pPr defTabSz="914400">
                        <a:lnSpc>
                          <a:spcPct val="100000"/>
                        </a:lnSpc>
                        <a:tabLst>
                          <a:tab pos="0" algn="l"/>
                        </a:tabLst>
                      </a:pPr>
                      <a:r>
                        <a:rPr lang="en-US" sz="1000" b="0" strike="noStrike" spc="-1">
                          <a:solidFill>
                            <a:srgbClr val="666666"/>
                          </a:solidFill>
                          <a:latin typeface="Calibri"/>
                        </a:rPr>
                        <a:t>Determine how to perform basic device configuration</a:t>
                      </a:r>
                      <a:endParaRPr lang="en-US" sz="1000" b="0" strike="noStrike" spc="-1">
                        <a:solidFill>
                          <a:srgbClr val="FFFFFF"/>
                        </a:solidFill>
                        <a:latin typeface="Arial"/>
                      </a:endParaRPr>
                    </a:p>
                  </a:txBody>
                  <a:tcPr marL="75960" marR="75960">
                    <a:lnL>
                      <a:noFill/>
                    </a:lnL>
                    <a:lnR>
                      <a:noFill/>
                    </a:lnR>
                    <a:lnT>
                      <a:noFill/>
                    </a:lnT>
                    <a:lnB>
                      <a:noFill/>
                    </a:lnB>
                    <a:solidFill>
                      <a:srgbClr val="111111"/>
                    </a:solidFill>
                  </a:tcPr>
                </a:tc>
                <a:extLst>
                  <a:ext uri="{0D108BD9-81ED-4DB2-BD59-A6C34878D82A}">
                    <a16:rowId xmlns:a16="http://schemas.microsoft.com/office/drawing/2014/main" val="10001"/>
                  </a:ext>
                </a:extLst>
              </a:tr>
              <a:tr h="0">
                <a:tc>
                  <a:txBody>
                    <a:bodyPr/>
                    <a:lstStyle/>
                    <a:p>
                      <a:pPr defTabSz="914400">
                        <a:lnSpc>
                          <a:spcPct val="100000"/>
                        </a:lnSpc>
                        <a:tabLst>
                          <a:tab pos="0" algn="l"/>
                        </a:tabLst>
                      </a:pPr>
                      <a:r>
                        <a:rPr lang="en-US" sz="1000" b="0" strike="noStrike" spc="-1">
                          <a:solidFill>
                            <a:srgbClr val="FFFFFF"/>
                          </a:solidFill>
                          <a:latin typeface="Courier New"/>
                          <a:ea typeface="Courier New"/>
                        </a:rPr>
                        <a:t>F5CTSLTM1.05</a:t>
                      </a:r>
                      <a:endParaRPr lang="en-US" sz="1000" b="0" strike="noStrike" spc="-1">
                        <a:solidFill>
                          <a:srgbClr val="FFFFFF"/>
                        </a:solidFill>
                        <a:latin typeface="Arial"/>
                      </a:endParaRPr>
                    </a:p>
                  </a:txBody>
                  <a:tcPr marL="75960" marR="75960">
                    <a:lnL>
                      <a:noFill/>
                    </a:lnL>
                    <a:lnR>
                      <a:noFill/>
                    </a:lnR>
                    <a:lnT>
                      <a:noFill/>
                    </a:lnT>
                    <a:lnB>
                      <a:noFill/>
                    </a:lnB>
                    <a:solidFill>
                      <a:srgbClr val="1A1A1A"/>
                    </a:solidFill>
                  </a:tcPr>
                </a:tc>
                <a:tc>
                  <a:txBody>
                    <a:bodyPr/>
                    <a:lstStyle/>
                    <a:p>
                      <a:pPr algn="ctr" defTabSz="914400">
                        <a:lnSpc>
                          <a:spcPct val="100000"/>
                        </a:lnSpc>
                        <a:tabLst>
                          <a:tab pos="0" algn="l"/>
                        </a:tabLst>
                      </a:pPr>
                      <a:r>
                        <a:rPr lang="en-US" sz="1000" b="1" strike="noStrike" spc="-1">
                          <a:solidFill>
                            <a:srgbClr val="009639"/>
                          </a:solidFill>
                          <a:latin typeface="Calibri"/>
                        </a:rPr>
                        <a:t>U/A</a:t>
                      </a:r>
                      <a:endParaRPr lang="en-US" sz="1000" b="0" strike="noStrike" spc="-1">
                        <a:solidFill>
                          <a:srgbClr val="FFFFFF"/>
                        </a:solidFill>
                        <a:latin typeface="Arial"/>
                      </a:endParaRPr>
                    </a:p>
                  </a:txBody>
                  <a:tcPr marL="75960" marR="75960">
                    <a:lnL>
                      <a:noFill/>
                    </a:lnL>
                    <a:lnR>
                      <a:noFill/>
                    </a:lnR>
                    <a:lnT>
                      <a:noFill/>
                    </a:lnT>
                    <a:lnB>
                      <a:noFill/>
                    </a:lnB>
                    <a:solidFill>
                      <a:srgbClr val="1A1A1A"/>
                    </a:solidFill>
                  </a:tcPr>
                </a:tc>
                <a:tc>
                  <a:txBody>
                    <a:bodyPr/>
                    <a:lstStyle/>
                    <a:p>
                      <a:pPr defTabSz="914400">
                        <a:lnSpc>
                          <a:spcPct val="100000"/>
                        </a:lnSpc>
                        <a:tabLst>
                          <a:tab pos="0" algn="l"/>
                        </a:tabLst>
                      </a:pPr>
                      <a:r>
                        <a:rPr lang="en-US" sz="1000" b="0" strike="noStrike" spc="-1">
                          <a:solidFill>
                            <a:srgbClr val="666666"/>
                          </a:solidFill>
                          <a:latin typeface="Calibri"/>
                        </a:rPr>
                        <a:t>Understand route domains</a:t>
                      </a:r>
                      <a:endParaRPr lang="en-US" sz="1000" b="0" strike="noStrike" spc="-1">
                        <a:solidFill>
                          <a:srgbClr val="FFFFFF"/>
                        </a:solidFill>
                        <a:latin typeface="Arial"/>
                      </a:endParaRPr>
                    </a:p>
                  </a:txBody>
                  <a:tcPr marL="75960" marR="75960">
                    <a:lnL>
                      <a:noFill/>
                    </a:lnL>
                    <a:lnR>
                      <a:noFill/>
                    </a:lnR>
                    <a:lnT>
                      <a:noFill/>
                    </a:lnT>
                    <a:lnB>
                      <a:noFill/>
                    </a:lnB>
                    <a:solidFill>
                      <a:srgbClr val="1A1A1A"/>
                    </a:solidFill>
                  </a:tcPr>
                </a:tc>
                <a:extLst>
                  <a:ext uri="{0D108BD9-81ED-4DB2-BD59-A6C34878D82A}">
                    <a16:rowId xmlns:a16="http://schemas.microsoft.com/office/drawing/2014/main" val="10002"/>
                  </a:ext>
                </a:extLst>
              </a:tr>
            </a:tbl>
          </a:graphicData>
        </a:graphic>
      </p:graphicFrame>
      <p:sp>
        <p:nvSpPr>
          <p:cNvPr id="1616" name="Text 5"/>
          <p:cNvSpPr/>
          <p:nvPr/>
        </p:nvSpPr>
        <p:spPr>
          <a:xfrm>
            <a:off x="365760" y="2468880"/>
            <a:ext cx="7314840" cy="1005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strike="noStrike" spc="-1">
                <a:solidFill>
                  <a:srgbClr val="666666"/>
                </a:solidFill>
                <a:latin typeface="Calibri"/>
                <a:ea typeface="Calibri"/>
              </a:rPr>
              <a:t>LAB 8</a:t>
            </a:r>
            <a:endParaRPr lang="en-US" sz="1400" b="0" strike="noStrike" spc="-1">
              <a:solidFill>
                <a:srgbClr val="FFFFFF"/>
              </a:solidFill>
              <a:latin typeface="Arial"/>
            </a:endParaRPr>
          </a:p>
          <a:p>
            <a:pPr defTabSz="914400">
              <a:lnSpc>
                <a:spcPct val="100000"/>
              </a:lnSpc>
              <a:tabLst>
                <a:tab pos="0" algn="l"/>
              </a:tabLst>
            </a:pPr>
            <a:r>
              <a:rPr lang="en-US" sz="3600" b="1" strike="noStrike" spc="-1">
                <a:solidFill>
                  <a:srgbClr val="FFFFFF"/>
                </a:solidFill>
                <a:latin typeface="Arial"/>
                <a:ea typeface="Arial"/>
              </a:rPr>
              <a:t>Networking</a:t>
            </a:r>
            <a:endParaRPr lang="en-US" sz="3600" b="0" strike="noStrike" spc="-1">
              <a:solidFill>
                <a:srgbClr val="FFFFFF"/>
              </a:solidFill>
              <a:latin typeface="Arial"/>
            </a:endParaRPr>
          </a:p>
        </p:txBody>
      </p:sp>
      <p:sp>
        <p:nvSpPr>
          <p:cNvPr id="1617" name="Text 6"/>
          <p:cNvSpPr/>
          <p:nvPr/>
        </p:nvSpPr>
        <p:spPr>
          <a:xfrm>
            <a:off x="365760" y="3474720"/>
            <a:ext cx="68576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strike="noStrike" spc="-1">
                <a:solidFill>
                  <a:srgbClr val="666666"/>
                </a:solidFill>
                <a:latin typeface="Calibri"/>
                <a:ea typeface="Calibri"/>
              </a:rPr>
              <a:t>Self IP port lockdown configuration, VLANs (tagged/untagged), trunks,</a:t>
            </a:r>
            <a:endParaRPr lang="en-US" sz="1300" b="0" strike="noStrike" spc="-1">
              <a:solidFill>
                <a:srgbClr val="FFFFFF"/>
              </a:solidFill>
              <a:latin typeface="Arial"/>
            </a:endParaRPr>
          </a:p>
          <a:p>
            <a:pPr defTabSz="914400">
              <a:lnSpc>
                <a:spcPct val="100000"/>
              </a:lnSpc>
              <a:tabLst>
                <a:tab pos="0" algn="l"/>
              </a:tabLst>
            </a:pPr>
            <a:r>
              <a:rPr lang="en-US" sz="1300" b="0" strike="noStrike" spc="-1">
                <a:solidFill>
                  <a:srgbClr val="666666"/>
                </a:solidFill>
                <a:latin typeface="Calibri"/>
                <a:ea typeface="Calibri"/>
              </a:rPr>
              <a:t>route domains for multi-tenancy, management vs TMM interfaces,</a:t>
            </a:r>
            <a:endParaRPr lang="en-US" sz="1300" b="0" strike="noStrike" spc="-1">
              <a:solidFill>
                <a:srgbClr val="FFFFFF"/>
              </a:solidFill>
              <a:latin typeface="Arial"/>
            </a:endParaRPr>
          </a:p>
          <a:p>
            <a:pPr defTabSz="914400">
              <a:lnSpc>
                <a:spcPct val="100000"/>
              </a:lnSpc>
              <a:tabLst>
                <a:tab pos="0" algn="l"/>
              </a:tabLst>
            </a:pPr>
            <a:r>
              <a:rPr lang="en-US" sz="1300" b="0" strike="noStrike" spc="-1">
                <a:solidFill>
                  <a:srgbClr val="666666"/>
                </a:solidFill>
                <a:latin typeface="Calibri"/>
                <a:ea typeface="Calibri"/>
              </a:rPr>
              <a:t>DNS/NTP, and HA network preparation.</a:t>
            </a:r>
            <a:endParaRPr lang="en-US" sz="1300" b="0" strike="noStrike" spc="-1">
              <a:solidFill>
                <a:srgbClr val="FFFFFF"/>
              </a:solidFill>
              <a:latin typeface="Arial"/>
            </a:endParaRPr>
          </a:p>
        </p:txBody>
      </p:sp>
      <p:sp>
        <p:nvSpPr>
          <p:cNvPr id="1618" name="Text 7"/>
          <p:cNvSpPr/>
          <p:nvPr/>
        </p:nvSpPr>
        <p:spPr>
          <a:xfrm>
            <a:off x="365760" y="4297680"/>
            <a:ext cx="45716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strike="noStrike" spc="-1">
                <a:solidFill>
                  <a:srgbClr val="F29A36"/>
                </a:solidFill>
                <a:latin typeface="Calibri"/>
                <a:ea typeface="Calibri"/>
              </a:rPr>
              <a:t>50 min  |  20 min slides + 30 min lab</a:t>
            </a:r>
            <a:endParaRPr lang="en-US" sz="1100" b="0" strike="noStrike" spc="-1">
              <a:solidFill>
                <a:srgbClr val="FFFFFF"/>
              </a:solidFill>
              <a:latin typeface="Arial"/>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19"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620"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621"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622"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623"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624"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71    © 2026 F5</a:t>
            </a:r>
            <a:endParaRPr lang="en-US" sz="800" b="0" strike="noStrike" spc="-1">
              <a:solidFill>
                <a:srgbClr val="000000"/>
              </a:solidFill>
              <a:latin typeface="Arial"/>
            </a:endParaRPr>
          </a:p>
        </p:txBody>
      </p:sp>
      <p:pic>
        <p:nvPicPr>
          <p:cNvPr id="1625" name="Image 0" descr="preencoded.png"/>
          <p:cNvPicPr/>
          <p:nvPr/>
        </p:nvPicPr>
        <p:blipFill>
          <a:blip r:embed="rId3"/>
          <a:stretch/>
        </p:blipFill>
        <p:spPr>
          <a:xfrm>
            <a:off x="8458200" y="4663440"/>
            <a:ext cx="383760" cy="383760"/>
          </a:xfrm>
          <a:prstGeom prst="rect">
            <a:avLst/>
          </a:prstGeom>
          <a:ln w="0">
            <a:noFill/>
          </a:ln>
        </p:spPr>
      </p:pic>
      <p:sp>
        <p:nvSpPr>
          <p:cNvPr id="1626" name="Text 6"/>
          <p:cNvSpPr/>
          <p:nvPr/>
        </p:nvSpPr>
        <p:spPr>
          <a:xfrm>
            <a:off x="457200" y="274320"/>
            <a:ext cx="82292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Self IP port lockdown</a:t>
            </a:r>
            <a:endParaRPr lang="en-US" sz="2800" b="0" strike="noStrike" spc="-1">
              <a:solidFill>
                <a:srgbClr val="000000"/>
              </a:solidFill>
              <a:latin typeface="Arial"/>
            </a:endParaRPr>
          </a:p>
        </p:txBody>
      </p:sp>
      <p:sp>
        <p:nvSpPr>
          <p:cNvPr id="1627" name="Text 7"/>
          <p:cNvSpPr/>
          <p:nvPr/>
        </p:nvSpPr>
        <p:spPr>
          <a:xfrm>
            <a:off x="457200" y="658440"/>
            <a:ext cx="82292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strike="noStrike" spc="-1">
                <a:solidFill>
                  <a:srgbClr val="666666"/>
                </a:solidFill>
                <a:latin typeface="Calibri"/>
                <a:ea typeface="Calibri"/>
              </a:rPr>
              <a:t>Controls access to BIG-IP self IPs. Default is None (most secure).</a:t>
            </a:r>
            <a:endParaRPr lang="en-US" sz="1300" b="0" strike="noStrike" spc="-1">
              <a:solidFill>
                <a:srgbClr val="000000"/>
              </a:solidFill>
              <a:latin typeface="Arial"/>
            </a:endParaRPr>
          </a:p>
        </p:txBody>
      </p:sp>
      <p:sp>
        <p:nvSpPr>
          <p:cNvPr id="1628" name="Shape 8"/>
          <p:cNvSpPr/>
          <p:nvPr/>
        </p:nvSpPr>
        <p:spPr>
          <a:xfrm>
            <a:off x="365760" y="1005840"/>
            <a:ext cx="1828440" cy="319680"/>
          </a:xfrm>
          <a:prstGeom prst="rect">
            <a:avLst/>
          </a:prstGeom>
          <a:solidFill>
            <a:srgbClr val="00963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629" name="Text 9"/>
          <p:cNvSpPr/>
          <p:nvPr/>
        </p:nvSpPr>
        <p:spPr>
          <a:xfrm>
            <a:off x="365760" y="1005840"/>
            <a:ext cx="18284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rgbClr val="FFFFFF"/>
                </a:solidFill>
                <a:latin typeface="Arial"/>
                <a:ea typeface="Arial"/>
              </a:rPr>
              <a:t>None (default)</a:t>
            </a:r>
            <a:endParaRPr lang="en-US" sz="1100" b="0" strike="noStrike" spc="-1">
              <a:solidFill>
                <a:srgbClr val="000000"/>
              </a:solidFill>
              <a:latin typeface="Arial"/>
            </a:endParaRPr>
          </a:p>
        </p:txBody>
      </p:sp>
      <p:sp>
        <p:nvSpPr>
          <p:cNvPr id="1630" name="Text 10"/>
          <p:cNvSpPr/>
          <p:nvPr/>
        </p:nvSpPr>
        <p:spPr>
          <a:xfrm>
            <a:off x="365760" y="1371600"/>
            <a:ext cx="182844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strike="noStrike" spc="-1">
                <a:solidFill>
                  <a:srgbClr val="009639"/>
                </a:solidFill>
                <a:latin typeface="Calibri"/>
                <a:ea typeface="Calibri"/>
              </a:rPr>
              <a:t>Most secure</a:t>
            </a:r>
            <a:endParaRPr lang="en-US" sz="900" b="0" strike="noStrike" spc="-1">
              <a:solidFill>
                <a:srgbClr val="000000"/>
              </a:solidFill>
              <a:latin typeface="Arial"/>
            </a:endParaRPr>
          </a:p>
        </p:txBody>
      </p:sp>
      <p:sp>
        <p:nvSpPr>
          <p:cNvPr id="1631" name="Text 11"/>
          <p:cNvSpPr/>
          <p:nvPr/>
        </p:nvSpPr>
        <p:spPr>
          <a:xfrm>
            <a:off x="365760" y="1554480"/>
            <a:ext cx="18284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strike="noStrike" spc="-1">
                <a:solidFill>
                  <a:srgbClr val="333333"/>
                </a:solidFill>
                <a:latin typeface="Calibri"/>
                <a:ea typeface="Calibri"/>
              </a:rPr>
              <a:t>ICMP only</a:t>
            </a:r>
            <a:endParaRPr lang="en-US" sz="900" b="0" strike="noStrike" spc="-1">
              <a:solidFill>
                <a:srgbClr val="000000"/>
              </a:solidFill>
              <a:latin typeface="Arial"/>
            </a:endParaRPr>
          </a:p>
        </p:txBody>
      </p:sp>
      <p:sp>
        <p:nvSpPr>
          <p:cNvPr id="1632" name="Shape 12"/>
          <p:cNvSpPr/>
          <p:nvPr/>
        </p:nvSpPr>
        <p:spPr>
          <a:xfrm>
            <a:off x="365760" y="1965960"/>
            <a:ext cx="1828440" cy="639720"/>
          </a:xfrm>
          <a:prstGeom prst="rect">
            <a:avLst/>
          </a:prstGeom>
          <a:solidFill>
            <a:srgbClr val="1E293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633" name="Text 13"/>
          <p:cNvSpPr/>
          <p:nvPr/>
        </p:nvSpPr>
        <p:spPr>
          <a:xfrm>
            <a:off x="438840" y="1984320"/>
            <a:ext cx="169128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750" b="0" strike="noStrike" spc="-1">
                <a:solidFill>
                  <a:srgbClr val="A5F3FC"/>
                </a:solidFill>
                <a:latin typeface="Courier New"/>
                <a:ea typeface="Courier New"/>
              </a:rPr>
              <a:t>modify net self 10.1.10.245/24</a:t>
            </a:r>
            <a:endParaRPr lang="en-US" sz="750" b="0" strike="noStrike" spc="-1">
              <a:solidFill>
                <a:srgbClr val="000000"/>
              </a:solidFill>
              <a:latin typeface="Arial"/>
            </a:endParaRPr>
          </a:p>
          <a:p>
            <a:pPr defTabSz="914400">
              <a:lnSpc>
                <a:spcPct val="100000"/>
              </a:lnSpc>
              <a:tabLst>
                <a:tab pos="0" algn="l"/>
              </a:tabLst>
            </a:pPr>
            <a:r>
              <a:rPr lang="en-US" sz="750" b="0" strike="noStrike" spc="-1">
                <a:solidFill>
                  <a:srgbClr val="A5F3FC"/>
                </a:solidFill>
                <a:latin typeface="Courier New"/>
                <a:ea typeface="Courier New"/>
              </a:rPr>
              <a:t>  allow-service none</a:t>
            </a:r>
            <a:endParaRPr lang="en-US" sz="750" b="0" strike="noStrike" spc="-1">
              <a:solidFill>
                <a:srgbClr val="000000"/>
              </a:solidFill>
              <a:latin typeface="Arial"/>
            </a:endParaRPr>
          </a:p>
        </p:txBody>
      </p:sp>
      <p:sp>
        <p:nvSpPr>
          <p:cNvPr id="1634" name="Shape 14"/>
          <p:cNvSpPr/>
          <p:nvPr/>
        </p:nvSpPr>
        <p:spPr>
          <a:xfrm>
            <a:off x="2377440" y="1005840"/>
            <a:ext cx="1828440" cy="31968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635" name="Text 15"/>
          <p:cNvSpPr/>
          <p:nvPr/>
        </p:nvSpPr>
        <p:spPr>
          <a:xfrm>
            <a:off x="2377440" y="1005840"/>
            <a:ext cx="18284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rgbClr val="FFFFFF"/>
                </a:solidFill>
                <a:latin typeface="Arial"/>
                <a:ea typeface="Arial"/>
              </a:rPr>
              <a:t>Allow Defaults</a:t>
            </a:r>
            <a:endParaRPr lang="en-US" sz="1100" b="0" strike="noStrike" spc="-1">
              <a:solidFill>
                <a:srgbClr val="000000"/>
              </a:solidFill>
              <a:latin typeface="Arial"/>
            </a:endParaRPr>
          </a:p>
        </p:txBody>
      </p:sp>
      <p:sp>
        <p:nvSpPr>
          <p:cNvPr id="1636" name="Text 16"/>
          <p:cNvSpPr/>
          <p:nvPr/>
        </p:nvSpPr>
        <p:spPr>
          <a:xfrm>
            <a:off x="2377440" y="1371600"/>
            <a:ext cx="182844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strike="noStrike" spc="-1">
                <a:solidFill>
                  <a:srgbClr val="0E41AA"/>
                </a:solidFill>
                <a:latin typeface="Calibri"/>
                <a:ea typeface="Calibri"/>
              </a:rPr>
              <a:t>Moderate</a:t>
            </a:r>
            <a:endParaRPr lang="en-US" sz="900" b="0" strike="noStrike" spc="-1">
              <a:solidFill>
                <a:srgbClr val="000000"/>
              </a:solidFill>
              <a:latin typeface="Arial"/>
            </a:endParaRPr>
          </a:p>
        </p:txBody>
      </p:sp>
      <p:sp>
        <p:nvSpPr>
          <p:cNvPr id="1637" name="Text 17"/>
          <p:cNvSpPr/>
          <p:nvPr/>
        </p:nvSpPr>
        <p:spPr>
          <a:xfrm>
            <a:off x="2377440" y="1554480"/>
            <a:ext cx="18284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strike="noStrike" spc="-1">
                <a:solidFill>
                  <a:srgbClr val="333333"/>
                </a:solidFill>
                <a:latin typeface="Calibri"/>
                <a:ea typeface="Calibri"/>
              </a:rPr>
              <a:t>SSH, HTTPS, SNMP,</a:t>
            </a:r>
            <a:endParaRPr lang="en-US" sz="900" b="0" strike="noStrike" spc="-1">
              <a:solidFill>
                <a:srgbClr val="000000"/>
              </a:solidFill>
              <a:latin typeface="Arial"/>
            </a:endParaRPr>
          </a:p>
          <a:p>
            <a:pPr defTabSz="914400">
              <a:lnSpc>
                <a:spcPct val="100000"/>
              </a:lnSpc>
              <a:tabLst>
                <a:tab pos="0" algn="l"/>
              </a:tabLst>
            </a:pPr>
            <a:r>
              <a:rPr lang="en-US" sz="900" b="0" strike="noStrike" spc="-1">
                <a:solidFill>
                  <a:srgbClr val="333333"/>
                </a:solidFill>
                <a:latin typeface="Calibri"/>
                <a:ea typeface="Calibri"/>
              </a:rPr>
              <a:t>NTP, DNS, HA ports</a:t>
            </a:r>
            <a:endParaRPr lang="en-US" sz="900" b="0" strike="noStrike" spc="-1">
              <a:solidFill>
                <a:srgbClr val="000000"/>
              </a:solidFill>
              <a:latin typeface="Arial"/>
            </a:endParaRPr>
          </a:p>
        </p:txBody>
      </p:sp>
      <p:sp>
        <p:nvSpPr>
          <p:cNvPr id="1638" name="Shape 18"/>
          <p:cNvSpPr/>
          <p:nvPr/>
        </p:nvSpPr>
        <p:spPr>
          <a:xfrm>
            <a:off x="2377440" y="1965960"/>
            <a:ext cx="1828440" cy="639720"/>
          </a:xfrm>
          <a:prstGeom prst="rect">
            <a:avLst/>
          </a:prstGeom>
          <a:solidFill>
            <a:srgbClr val="1E293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639" name="Text 19"/>
          <p:cNvSpPr/>
          <p:nvPr/>
        </p:nvSpPr>
        <p:spPr>
          <a:xfrm>
            <a:off x="2450520" y="1984320"/>
            <a:ext cx="169128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750" b="0" strike="noStrike" spc="-1">
                <a:solidFill>
                  <a:srgbClr val="A5F3FC"/>
                </a:solidFill>
                <a:latin typeface="Courier New"/>
                <a:ea typeface="Courier New"/>
              </a:rPr>
              <a:t>modify net self 10.1.10.245/24</a:t>
            </a:r>
            <a:endParaRPr lang="en-US" sz="750" b="0" strike="noStrike" spc="-1">
              <a:solidFill>
                <a:srgbClr val="000000"/>
              </a:solidFill>
              <a:latin typeface="Arial"/>
            </a:endParaRPr>
          </a:p>
          <a:p>
            <a:pPr defTabSz="914400">
              <a:lnSpc>
                <a:spcPct val="100000"/>
              </a:lnSpc>
              <a:tabLst>
                <a:tab pos="0" algn="l"/>
              </a:tabLst>
            </a:pPr>
            <a:r>
              <a:rPr lang="en-US" sz="750" b="0" strike="noStrike" spc="-1">
                <a:solidFill>
                  <a:srgbClr val="A5F3FC"/>
                </a:solidFill>
                <a:latin typeface="Courier New"/>
                <a:ea typeface="Courier New"/>
              </a:rPr>
              <a:t>  allow-service default</a:t>
            </a:r>
            <a:endParaRPr lang="en-US" sz="750" b="0" strike="noStrike" spc="-1">
              <a:solidFill>
                <a:srgbClr val="000000"/>
              </a:solidFill>
              <a:latin typeface="Arial"/>
            </a:endParaRPr>
          </a:p>
        </p:txBody>
      </p:sp>
      <p:sp>
        <p:nvSpPr>
          <p:cNvPr id="1640" name="Shape 20"/>
          <p:cNvSpPr/>
          <p:nvPr/>
        </p:nvSpPr>
        <p:spPr>
          <a:xfrm>
            <a:off x="4389120" y="1005840"/>
            <a:ext cx="1828440" cy="31968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641" name="Text 21"/>
          <p:cNvSpPr/>
          <p:nvPr/>
        </p:nvSpPr>
        <p:spPr>
          <a:xfrm>
            <a:off x="4389120" y="1005840"/>
            <a:ext cx="18284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rgbClr val="FFFFFF"/>
                </a:solidFill>
                <a:latin typeface="Arial"/>
                <a:ea typeface="Arial"/>
              </a:rPr>
              <a:t>Allow Custom</a:t>
            </a:r>
            <a:endParaRPr lang="en-US" sz="1100" b="0" strike="noStrike" spc="-1">
              <a:solidFill>
                <a:srgbClr val="000000"/>
              </a:solidFill>
              <a:latin typeface="Arial"/>
            </a:endParaRPr>
          </a:p>
        </p:txBody>
      </p:sp>
      <p:sp>
        <p:nvSpPr>
          <p:cNvPr id="1642" name="Text 22"/>
          <p:cNvSpPr/>
          <p:nvPr/>
        </p:nvSpPr>
        <p:spPr>
          <a:xfrm>
            <a:off x="4389120" y="1371600"/>
            <a:ext cx="182844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strike="noStrike" spc="-1">
                <a:solidFill>
                  <a:srgbClr val="61228B"/>
                </a:solidFill>
                <a:latin typeface="Calibri"/>
                <a:ea typeface="Calibri"/>
              </a:rPr>
              <a:t>Targeted</a:t>
            </a:r>
            <a:endParaRPr lang="en-US" sz="900" b="0" strike="noStrike" spc="-1">
              <a:solidFill>
                <a:srgbClr val="000000"/>
              </a:solidFill>
              <a:latin typeface="Arial"/>
            </a:endParaRPr>
          </a:p>
        </p:txBody>
      </p:sp>
      <p:sp>
        <p:nvSpPr>
          <p:cNvPr id="1643" name="Text 23"/>
          <p:cNvSpPr/>
          <p:nvPr/>
        </p:nvSpPr>
        <p:spPr>
          <a:xfrm>
            <a:off x="4389120" y="1554480"/>
            <a:ext cx="18284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strike="noStrike" spc="-1">
                <a:solidFill>
                  <a:srgbClr val="333333"/>
                </a:solidFill>
                <a:latin typeface="Calibri"/>
                <a:ea typeface="Calibri"/>
              </a:rPr>
              <a:t>Only ports you specify</a:t>
            </a:r>
            <a:endParaRPr lang="en-US" sz="900" b="0" strike="noStrike" spc="-1">
              <a:solidFill>
                <a:srgbClr val="000000"/>
              </a:solidFill>
              <a:latin typeface="Arial"/>
            </a:endParaRPr>
          </a:p>
        </p:txBody>
      </p:sp>
      <p:sp>
        <p:nvSpPr>
          <p:cNvPr id="1644" name="Shape 24"/>
          <p:cNvSpPr/>
          <p:nvPr/>
        </p:nvSpPr>
        <p:spPr>
          <a:xfrm>
            <a:off x="4389120" y="1965960"/>
            <a:ext cx="1828440" cy="639720"/>
          </a:xfrm>
          <a:prstGeom prst="rect">
            <a:avLst/>
          </a:prstGeom>
          <a:solidFill>
            <a:srgbClr val="1E293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645" name="Text 25"/>
          <p:cNvSpPr/>
          <p:nvPr/>
        </p:nvSpPr>
        <p:spPr>
          <a:xfrm>
            <a:off x="4462200" y="1984320"/>
            <a:ext cx="169128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750" b="0" strike="noStrike" spc="-1">
                <a:solidFill>
                  <a:srgbClr val="A5F3FC"/>
                </a:solidFill>
                <a:latin typeface="Courier New"/>
                <a:ea typeface="Courier New"/>
              </a:rPr>
              <a:t>modify net self 10.1.10.245/24</a:t>
            </a:r>
            <a:endParaRPr lang="en-US" sz="750" b="0" strike="noStrike" spc="-1">
              <a:solidFill>
                <a:srgbClr val="000000"/>
              </a:solidFill>
              <a:latin typeface="Arial"/>
            </a:endParaRPr>
          </a:p>
          <a:p>
            <a:pPr defTabSz="914400">
              <a:lnSpc>
                <a:spcPct val="100000"/>
              </a:lnSpc>
              <a:tabLst>
                <a:tab pos="0" algn="l"/>
              </a:tabLst>
            </a:pPr>
            <a:r>
              <a:rPr lang="en-US" sz="750" b="0" strike="noStrike" spc="-1">
                <a:solidFill>
                  <a:srgbClr val="A5F3FC"/>
                </a:solidFill>
                <a:latin typeface="Courier New"/>
                <a:ea typeface="Courier New"/>
              </a:rPr>
              <a:t>  allow-service add {</a:t>
            </a:r>
            <a:endParaRPr lang="en-US" sz="750" b="0" strike="noStrike" spc="-1">
              <a:solidFill>
                <a:srgbClr val="000000"/>
              </a:solidFill>
              <a:latin typeface="Arial"/>
            </a:endParaRPr>
          </a:p>
          <a:p>
            <a:pPr defTabSz="914400">
              <a:lnSpc>
                <a:spcPct val="100000"/>
              </a:lnSpc>
              <a:tabLst>
                <a:tab pos="0" algn="l"/>
              </a:tabLst>
            </a:pPr>
            <a:r>
              <a:rPr lang="en-US" sz="750" b="0" strike="noStrike" spc="-1">
                <a:solidFill>
                  <a:srgbClr val="A5F3FC"/>
                </a:solidFill>
                <a:latin typeface="Courier New"/>
                <a:ea typeface="Courier New"/>
              </a:rPr>
              <a:t>    tcp:22 tcp:443 }</a:t>
            </a:r>
            <a:endParaRPr lang="en-US" sz="750" b="0" strike="noStrike" spc="-1">
              <a:solidFill>
                <a:srgbClr val="000000"/>
              </a:solidFill>
              <a:latin typeface="Arial"/>
            </a:endParaRPr>
          </a:p>
        </p:txBody>
      </p:sp>
      <p:sp>
        <p:nvSpPr>
          <p:cNvPr id="1646" name="Shape 26"/>
          <p:cNvSpPr/>
          <p:nvPr/>
        </p:nvSpPr>
        <p:spPr>
          <a:xfrm>
            <a:off x="6400800" y="1005840"/>
            <a:ext cx="1828440" cy="31968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647" name="Text 27"/>
          <p:cNvSpPr/>
          <p:nvPr/>
        </p:nvSpPr>
        <p:spPr>
          <a:xfrm>
            <a:off x="6400800" y="1005840"/>
            <a:ext cx="18284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rgbClr val="FFFFFF"/>
                </a:solidFill>
                <a:latin typeface="Arial"/>
                <a:ea typeface="Arial"/>
              </a:rPr>
              <a:t>Allow All</a:t>
            </a:r>
            <a:endParaRPr lang="en-US" sz="1100" b="0" strike="noStrike" spc="-1">
              <a:solidFill>
                <a:srgbClr val="000000"/>
              </a:solidFill>
              <a:latin typeface="Arial"/>
            </a:endParaRPr>
          </a:p>
        </p:txBody>
      </p:sp>
      <p:sp>
        <p:nvSpPr>
          <p:cNvPr id="1648" name="Text 28"/>
          <p:cNvSpPr/>
          <p:nvPr/>
        </p:nvSpPr>
        <p:spPr>
          <a:xfrm>
            <a:off x="6400800" y="1371600"/>
            <a:ext cx="182844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strike="noStrike" spc="-1">
                <a:solidFill>
                  <a:srgbClr val="E4002B"/>
                </a:solidFill>
                <a:latin typeface="Calibri"/>
                <a:ea typeface="Calibri"/>
              </a:rPr>
              <a:t>Least secure</a:t>
            </a:r>
            <a:endParaRPr lang="en-US" sz="900" b="0" strike="noStrike" spc="-1">
              <a:solidFill>
                <a:srgbClr val="000000"/>
              </a:solidFill>
              <a:latin typeface="Arial"/>
            </a:endParaRPr>
          </a:p>
        </p:txBody>
      </p:sp>
      <p:sp>
        <p:nvSpPr>
          <p:cNvPr id="1649" name="Text 29"/>
          <p:cNvSpPr/>
          <p:nvPr/>
        </p:nvSpPr>
        <p:spPr>
          <a:xfrm>
            <a:off x="6400800" y="1554480"/>
            <a:ext cx="18284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strike="noStrike" spc="-1">
                <a:solidFill>
                  <a:srgbClr val="333333"/>
                </a:solidFill>
                <a:latin typeface="Calibri"/>
                <a:ea typeface="Calibri"/>
              </a:rPr>
              <a:t>All TCP/UDP ports</a:t>
            </a:r>
            <a:endParaRPr lang="en-US" sz="900" b="0" strike="noStrike" spc="-1">
              <a:solidFill>
                <a:srgbClr val="000000"/>
              </a:solidFill>
              <a:latin typeface="Arial"/>
            </a:endParaRPr>
          </a:p>
        </p:txBody>
      </p:sp>
      <p:sp>
        <p:nvSpPr>
          <p:cNvPr id="1650" name="Shape 30"/>
          <p:cNvSpPr/>
          <p:nvPr/>
        </p:nvSpPr>
        <p:spPr>
          <a:xfrm>
            <a:off x="6400800" y="1965960"/>
            <a:ext cx="1828440" cy="639720"/>
          </a:xfrm>
          <a:prstGeom prst="rect">
            <a:avLst/>
          </a:prstGeom>
          <a:solidFill>
            <a:srgbClr val="1E293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651" name="Text 31"/>
          <p:cNvSpPr/>
          <p:nvPr/>
        </p:nvSpPr>
        <p:spPr>
          <a:xfrm>
            <a:off x="6473880" y="1984320"/>
            <a:ext cx="169128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750" b="0" strike="noStrike" spc="-1">
                <a:solidFill>
                  <a:srgbClr val="A5F3FC"/>
                </a:solidFill>
                <a:latin typeface="Courier New"/>
                <a:ea typeface="Courier New"/>
              </a:rPr>
              <a:t>modify net self 10.1.10.245/24</a:t>
            </a:r>
            <a:endParaRPr lang="en-US" sz="750" b="0" strike="noStrike" spc="-1">
              <a:solidFill>
                <a:srgbClr val="000000"/>
              </a:solidFill>
              <a:latin typeface="Arial"/>
            </a:endParaRPr>
          </a:p>
          <a:p>
            <a:pPr defTabSz="914400">
              <a:lnSpc>
                <a:spcPct val="100000"/>
              </a:lnSpc>
              <a:tabLst>
                <a:tab pos="0" algn="l"/>
              </a:tabLst>
            </a:pPr>
            <a:r>
              <a:rPr lang="en-US" sz="750" b="0" strike="noStrike" spc="-1">
                <a:solidFill>
                  <a:srgbClr val="A5F3FC"/>
                </a:solidFill>
                <a:latin typeface="Courier New"/>
                <a:ea typeface="Courier New"/>
              </a:rPr>
              <a:t>  allow-service all</a:t>
            </a:r>
            <a:endParaRPr lang="en-US" sz="750" b="0" strike="noStrike" spc="-1">
              <a:solidFill>
                <a:srgbClr val="000000"/>
              </a:solidFill>
              <a:latin typeface="Arial"/>
            </a:endParaRPr>
          </a:p>
        </p:txBody>
      </p:sp>
      <p:sp>
        <p:nvSpPr>
          <p:cNvPr id="1652" name="Text 32"/>
          <p:cNvSpPr/>
          <p:nvPr/>
        </p:nvSpPr>
        <p:spPr>
          <a:xfrm>
            <a:off x="457200" y="2834640"/>
            <a:ext cx="54860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0E41AA"/>
                </a:solidFill>
                <a:latin typeface="Arial"/>
                <a:ea typeface="Arial"/>
              </a:rPr>
              <a:t>Allow Defaults opens these specific ports</a:t>
            </a:r>
            <a:endParaRPr lang="en-US" sz="1400" b="0" strike="noStrike" spc="-1">
              <a:solidFill>
                <a:srgbClr val="000000"/>
              </a:solidFill>
              <a:latin typeface="Arial"/>
            </a:endParaRPr>
          </a:p>
        </p:txBody>
      </p:sp>
      <p:graphicFrame>
        <p:nvGraphicFramePr>
          <p:cNvPr id="1653" name="Table 0"/>
          <p:cNvGraphicFramePr/>
          <p:nvPr/>
        </p:nvGraphicFramePr>
        <p:xfrm>
          <a:off x="365760" y="3063240"/>
          <a:ext cx="8412480" cy="1828800"/>
        </p:xfrm>
        <a:graphic>
          <a:graphicData uri="http://schemas.openxmlformats.org/drawingml/2006/table">
            <a:tbl>
              <a:tblPr/>
              <a:tblGrid>
                <a:gridCol w="731520">
                  <a:extLst>
                    <a:ext uri="{9D8B030D-6E8A-4147-A177-3AD203B41FA5}">
                      <a16:colId xmlns:a16="http://schemas.microsoft.com/office/drawing/2014/main" val="20000"/>
                    </a:ext>
                  </a:extLst>
                </a:gridCol>
                <a:gridCol w="54864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5943600">
                  <a:extLst>
                    <a:ext uri="{9D8B030D-6E8A-4147-A177-3AD203B41FA5}">
                      <a16:colId xmlns:a16="http://schemas.microsoft.com/office/drawing/2014/main" val="20003"/>
                    </a:ext>
                  </a:extLst>
                </a:gridCol>
              </a:tblGrid>
              <a:tr h="0">
                <a:tc>
                  <a:txBody>
                    <a:bodyPr/>
                    <a:lstStyle/>
                    <a:p>
                      <a:pPr defTabSz="914400">
                        <a:lnSpc>
                          <a:spcPct val="100000"/>
                        </a:lnSpc>
                        <a:tabLst>
                          <a:tab pos="0" algn="l"/>
                        </a:tabLst>
                      </a:pPr>
                      <a:r>
                        <a:rPr lang="en-US" sz="900" b="1" strike="noStrike" spc="-1">
                          <a:solidFill>
                            <a:srgbClr val="FFFFFF"/>
                          </a:solidFill>
                          <a:latin typeface="Calibri"/>
                        </a:rPr>
                        <a:t>Protocol</a:t>
                      </a:r>
                      <a:endParaRPr lang="en-US" sz="9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E41AA"/>
                    </a:solidFill>
                  </a:tcPr>
                </a:tc>
                <a:tc>
                  <a:txBody>
                    <a:bodyPr/>
                    <a:lstStyle/>
                    <a:p>
                      <a:pPr algn="ctr" defTabSz="914400">
                        <a:lnSpc>
                          <a:spcPct val="100000"/>
                        </a:lnSpc>
                        <a:tabLst>
                          <a:tab pos="0" algn="l"/>
                        </a:tabLst>
                      </a:pPr>
                      <a:r>
                        <a:rPr lang="en-US" sz="900" b="1" strike="noStrike" spc="-1">
                          <a:solidFill>
                            <a:srgbClr val="FFFFFF"/>
                          </a:solidFill>
                          <a:latin typeface="Calibri"/>
                        </a:rPr>
                        <a:t>Port</a:t>
                      </a:r>
                      <a:endParaRPr lang="en-US" sz="9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E41AA"/>
                    </a:solidFill>
                  </a:tcPr>
                </a:tc>
                <a:tc>
                  <a:txBody>
                    <a:bodyPr/>
                    <a:lstStyle/>
                    <a:p>
                      <a:pPr defTabSz="914400">
                        <a:lnSpc>
                          <a:spcPct val="100000"/>
                        </a:lnSpc>
                        <a:tabLst>
                          <a:tab pos="0" algn="l"/>
                        </a:tabLst>
                      </a:pPr>
                      <a:r>
                        <a:rPr lang="en-US" sz="900" b="1" strike="noStrike" spc="-1">
                          <a:solidFill>
                            <a:srgbClr val="FFFFFF"/>
                          </a:solidFill>
                          <a:latin typeface="Calibri"/>
                        </a:rPr>
                        <a:t>Service</a:t>
                      </a:r>
                      <a:endParaRPr lang="en-US" sz="9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E41AA"/>
                    </a:solidFill>
                  </a:tcPr>
                </a:tc>
                <a:tc>
                  <a:txBody>
                    <a:bodyPr/>
                    <a:lstStyle/>
                    <a:p>
                      <a:pPr defTabSz="914400">
                        <a:lnSpc>
                          <a:spcPct val="100000"/>
                        </a:lnSpc>
                        <a:tabLst>
                          <a:tab pos="0" algn="l"/>
                        </a:tabLst>
                      </a:pPr>
                      <a:r>
                        <a:rPr lang="en-US" sz="900" b="1" strike="noStrike" spc="-1">
                          <a:solidFill>
                            <a:srgbClr val="FFFFFF"/>
                          </a:solidFill>
                          <a:latin typeface="Calibri"/>
                        </a:rPr>
                        <a:t>Why it's needed</a:t>
                      </a:r>
                      <a:endParaRPr lang="en-US" sz="9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E41AA"/>
                    </a:solidFill>
                  </a:tcPr>
                </a:tc>
                <a:extLst>
                  <a:ext uri="{0D108BD9-81ED-4DB2-BD59-A6C34878D82A}">
                    <a16:rowId xmlns:a16="http://schemas.microsoft.com/office/drawing/2014/main" val="10000"/>
                  </a:ext>
                </a:extLst>
              </a:tr>
              <a:tr h="0">
                <a:tc>
                  <a:txBody>
                    <a:bodyPr/>
                    <a:lstStyle/>
                    <a:p>
                      <a:pPr defTabSz="914400">
                        <a:lnSpc>
                          <a:spcPct val="100000"/>
                        </a:lnSpc>
                        <a:tabLst>
                          <a:tab pos="0" algn="l"/>
                        </a:tabLst>
                      </a:pPr>
                      <a:r>
                        <a:rPr lang="en-US" sz="900" b="0" strike="noStrike" spc="-1">
                          <a:solidFill>
                            <a:srgbClr val="000000"/>
                          </a:solidFill>
                          <a:latin typeface="Calibri"/>
                        </a:rPr>
                        <a:t>TCP</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algn="ctr" defTabSz="914400">
                        <a:lnSpc>
                          <a:spcPct val="100000"/>
                        </a:lnSpc>
                        <a:tabLst>
                          <a:tab pos="0" algn="l"/>
                        </a:tabLst>
                      </a:pPr>
                      <a:r>
                        <a:rPr lang="en-US" sz="900" b="0" strike="noStrike" spc="-1">
                          <a:solidFill>
                            <a:srgbClr val="000000"/>
                          </a:solidFill>
                          <a:latin typeface="Courier New"/>
                          <a:ea typeface="Courier New"/>
                        </a:rPr>
                        <a:t>22</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1" strike="noStrike" spc="-1">
                          <a:solidFill>
                            <a:srgbClr val="000000"/>
                          </a:solidFill>
                          <a:latin typeface="Calibri"/>
                        </a:rPr>
                        <a:t>SSH</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CLI management access to BIG-IP through TMM interface</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1"/>
                  </a:ext>
                </a:extLst>
              </a:tr>
              <a:tr h="0">
                <a:tc>
                  <a:txBody>
                    <a:bodyPr/>
                    <a:lstStyle/>
                    <a:p>
                      <a:pPr defTabSz="914400">
                        <a:lnSpc>
                          <a:spcPct val="100000"/>
                        </a:lnSpc>
                        <a:tabLst>
                          <a:tab pos="0" algn="l"/>
                        </a:tabLst>
                      </a:pPr>
                      <a:r>
                        <a:rPr lang="en-US" sz="900" b="0" strike="noStrike" spc="-1">
                          <a:solidFill>
                            <a:srgbClr val="000000"/>
                          </a:solidFill>
                          <a:latin typeface="Calibri"/>
                        </a:rPr>
                        <a:t>TCP</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algn="ctr" defTabSz="914400">
                        <a:lnSpc>
                          <a:spcPct val="100000"/>
                        </a:lnSpc>
                        <a:tabLst>
                          <a:tab pos="0" algn="l"/>
                        </a:tabLst>
                      </a:pPr>
                      <a:r>
                        <a:rPr lang="en-US" sz="900" b="0" strike="noStrike" spc="-1">
                          <a:solidFill>
                            <a:srgbClr val="000000"/>
                          </a:solidFill>
                          <a:latin typeface="Courier New"/>
                          <a:ea typeface="Courier New"/>
                        </a:rPr>
                        <a:t>443</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1" strike="noStrike" spc="-1">
                          <a:solidFill>
                            <a:srgbClr val="000000"/>
                          </a:solidFill>
                          <a:latin typeface="Calibri"/>
                        </a:rPr>
                        <a:t>HTTPS</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Configuration utility (GUI) access</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2"/>
                  </a:ext>
                </a:extLst>
              </a:tr>
              <a:tr h="0">
                <a:tc>
                  <a:txBody>
                    <a:bodyPr/>
                    <a:lstStyle/>
                    <a:p>
                      <a:pPr defTabSz="914400">
                        <a:lnSpc>
                          <a:spcPct val="100000"/>
                        </a:lnSpc>
                        <a:tabLst>
                          <a:tab pos="0" algn="l"/>
                        </a:tabLst>
                      </a:pPr>
                      <a:r>
                        <a:rPr lang="en-US" sz="900" b="0" strike="noStrike" spc="-1">
                          <a:solidFill>
                            <a:srgbClr val="000000"/>
                          </a:solidFill>
                          <a:latin typeface="Calibri"/>
                        </a:rPr>
                        <a:t>TCP</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algn="ctr" defTabSz="914400">
                        <a:lnSpc>
                          <a:spcPct val="100000"/>
                        </a:lnSpc>
                        <a:tabLst>
                          <a:tab pos="0" algn="l"/>
                        </a:tabLst>
                      </a:pPr>
                      <a:r>
                        <a:rPr lang="en-US" sz="900" b="0" strike="noStrike" spc="-1">
                          <a:solidFill>
                            <a:srgbClr val="000000"/>
                          </a:solidFill>
                          <a:latin typeface="Courier New"/>
                          <a:ea typeface="Courier New"/>
                        </a:rPr>
                        <a:t>4353</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1" strike="noStrike" spc="-1">
                          <a:solidFill>
                            <a:srgbClr val="000000"/>
                          </a:solidFill>
                          <a:latin typeface="Calibri"/>
                        </a:rPr>
                        <a:t>iQuery / CMI</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ConfigSync, GTM communication, HA state mirroring</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3"/>
                  </a:ext>
                </a:extLst>
              </a:tr>
              <a:tr h="0">
                <a:tc>
                  <a:txBody>
                    <a:bodyPr/>
                    <a:lstStyle/>
                    <a:p>
                      <a:pPr defTabSz="914400">
                        <a:lnSpc>
                          <a:spcPct val="100000"/>
                        </a:lnSpc>
                        <a:tabLst>
                          <a:tab pos="0" algn="l"/>
                        </a:tabLst>
                      </a:pPr>
                      <a:r>
                        <a:rPr lang="en-US" sz="900" b="0" strike="noStrike" spc="-1">
                          <a:solidFill>
                            <a:srgbClr val="000000"/>
                          </a:solidFill>
                          <a:latin typeface="Calibri"/>
                        </a:rPr>
                        <a:t>UDP</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algn="ctr" defTabSz="914400">
                        <a:lnSpc>
                          <a:spcPct val="100000"/>
                        </a:lnSpc>
                        <a:tabLst>
                          <a:tab pos="0" algn="l"/>
                        </a:tabLst>
                      </a:pPr>
                      <a:r>
                        <a:rPr lang="en-US" sz="900" b="0" strike="noStrike" spc="-1">
                          <a:solidFill>
                            <a:srgbClr val="000000"/>
                          </a:solidFill>
                          <a:latin typeface="Courier New"/>
                          <a:ea typeface="Courier New"/>
                        </a:rPr>
                        <a:t>1026</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1" strike="noStrike" spc="-1">
                          <a:solidFill>
                            <a:srgbClr val="000000"/>
                          </a:solidFill>
                          <a:latin typeface="Calibri"/>
                        </a:rPr>
                        <a:t>Network failover</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HA heartbeat between BIG-IP peers</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4"/>
                  </a:ext>
                </a:extLst>
              </a:tr>
              <a:tr h="0">
                <a:tc>
                  <a:txBody>
                    <a:bodyPr/>
                    <a:lstStyle/>
                    <a:p>
                      <a:pPr defTabSz="914400">
                        <a:lnSpc>
                          <a:spcPct val="100000"/>
                        </a:lnSpc>
                        <a:tabLst>
                          <a:tab pos="0" algn="l"/>
                        </a:tabLst>
                      </a:pPr>
                      <a:r>
                        <a:rPr lang="en-US" sz="900" b="0" strike="noStrike" spc="-1">
                          <a:solidFill>
                            <a:srgbClr val="000000"/>
                          </a:solidFill>
                          <a:latin typeface="Calibri"/>
                        </a:rPr>
                        <a:t>UDP</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algn="ctr" defTabSz="914400">
                        <a:lnSpc>
                          <a:spcPct val="100000"/>
                        </a:lnSpc>
                        <a:tabLst>
                          <a:tab pos="0" algn="l"/>
                        </a:tabLst>
                      </a:pPr>
                      <a:r>
                        <a:rPr lang="en-US" sz="900" b="0" strike="noStrike" spc="-1">
                          <a:solidFill>
                            <a:srgbClr val="000000"/>
                          </a:solidFill>
                          <a:latin typeface="Courier New"/>
                          <a:ea typeface="Courier New"/>
                        </a:rPr>
                        <a:t>53</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1" strike="noStrike" spc="-1">
                          <a:solidFill>
                            <a:srgbClr val="000000"/>
                          </a:solidFill>
                          <a:latin typeface="Calibri"/>
                        </a:rPr>
                        <a:t>DNS</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Name resolution through TMM interfaces</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5"/>
                  </a:ext>
                </a:extLst>
              </a:tr>
              <a:tr h="0">
                <a:tc>
                  <a:txBody>
                    <a:bodyPr/>
                    <a:lstStyle/>
                    <a:p>
                      <a:pPr defTabSz="914400">
                        <a:lnSpc>
                          <a:spcPct val="100000"/>
                        </a:lnSpc>
                        <a:tabLst>
                          <a:tab pos="0" algn="l"/>
                        </a:tabLst>
                      </a:pPr>
                      <a:r>
                        <a:rPr lang="en-US" sz="900" b="0" strike="noStrike" spc="-1">
                          <a:solidFill>
                            <a:srgbClr val="000000"/>
                          </a:solidFill>
                          <a:latin typeface="Calibri"/>
                        </a:rPr>
                        <a:t>UDP</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algn="ctr" defTabSz="914400">
                        <a:lnSpc>
                          <a:spcPct val="100000"/>
                        </a:lnSpc>
                        <a:tabLst>
                          <a:tab pos="0" algn="l"/>
                        </a:tabLst>
                      </a:pPr>
                      <a:r>
                        <a:rPr lang="en-US" sz="900" b="0" strike="noStrike" spc="-1">
                          <a:solidFill>
                            <a:srgbClr val="000000"/>
                          </a:solidFill>
                          <a:latin typeface="Courier New"/>
                          <a:ea typeface="Courier New"/>
                        </a:rPr>
                        <a:t>161</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1" strike="noStrike" spc="-1">
                          <a:solidFill>
                            <a:srgbClr val="000000"/>
                          </a:solidFill>
                          <a:latin typeface="Calibri"/>
                        </a:rPr>
                        <a:t>SNMP</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Monitoring and polling from NMS platforms</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6"/>
                  </a:ext>
                </a:extLst>
              </a:tr>
              <a:tr h="0">
                <a:tc>
                  <a:txBody>
                    <a:bodyPr/>
                    <a:lstStyle/>
                    <a:p>
                      <a:pPr defTabSz="914400">
                        <a:lnSpc>
                          <a:spcPct val="100000"/>
                        </a:lnSpc>
                        <a:tabLst>
                          <a:tab pos="0" algn="l"/>
                        </a:tabLst>
                      </a:pPr>
                      <a:r>
                        <a:rPr lang="en-US" sz="900" b="0" strike="noStrike" spc="-1">
                          <a:solidFill>
                            <a:srgbClr val="000000"/>
                          </a:solidFill>
                          <a:latin typeface="Calibri"/>
                        </a:rPr>
                        <a:t>UDP</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algn="ctr" defTabSz="914400">
                        <a:lnSpc>
                          <a:spcPct val="100000"/>
                        </a:lnSpc>
                        <a:tabLst>
                          <a:tab pos="0" algn="l"/>
                        </a:tabLst>
                      </a:pPr>
                      <a:r>
                        <a:rPr lang="en-US" sz="900" b="0" strike="noStrike" spc="-1">
                          <a:solidFill>
                            <a:srgbClr val="000000"/>
                          </a:solidFill>
                          <a:latin typeface="Courier New"/>
                          <a:ea typeface="Courier New"/>
                        </a:rPr>
                        <a:t>123</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1" strike="noStrike" spc="-1">
                          <a:solidFill>
                            <a:srgbClr val="000000"/>
                          </a:solidFill>
                          <a:latin typeface="Calibri"/>
                        </a:rPr>
                        <a:t>NTP</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Time synchronization (critical for HA)</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54"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655"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656"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657"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658"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659"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72    © 2026 F5</a:t>
            </a:r>
            <a:endParaRPr lang="en-US" sz="800" b="0" strike="noStrike" spc="-1">
              <a:solidFill>
                <a:srgbClr val="000000"/>
              </a:solidFill>
              <a:latin typeface="Arial"/>
            </a:endParaRPr>
          </a:p>
        </p:txBody>
      </p:sp>
      <p:pic>
        <p:nvPicPr>
          <p:cNvPr id="1660" name="Image 0" descr="preencoded.png"/>
          <p:cNvPicPr/>
          <p:nvPr/>
        </p:nvPicPr>
        <p:blipFill>
          <a:blip r:embed="rId3"/>
          <a:stretch/>
        </p:blipFill>
        <p:spPr>
          <a:xfrm>
            <a:off x="8458200" y="4663440"/>
            <a:ext cx="383760" cy="383760"/>
          </a:xfrm>
          <a:prstGeom prst="rect">
            <a:avLst/>
          </a:prstGeom>
          <a:ln w="0">
            <a:noFill/>
          </a:ln>
        </p:spPr>
      </p:pic>
      <p:sp>
        <p:nvSpPr>
          <p:cNvPr id="1661" name="Text 6"/>
          <p:cNvSpPr/>
          <p:nvPr/>
        </p:nvSpPr>
        <p:spPr>
          <a:xfrm>
            <a:off x="457200" y="274320"/>
            <a:ext cx="82292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Network objects overview</a:t>
            </a:r>
            <a:endParaRPr lang="en-US" sz="2800" b="0" strike="noStrike" spc="-1">
              <a:solidFill>
                <a:srgbClr val="000000"/>
              </a:solidFill>
              <a:latin typeface="Arial"/>
            </a:endParaRPr>
          </a:p>
        </p:txBody>
      </p:sp>
      <p:sp>
        <p:nvSpPr>
          <p:cNvPr id="1662" name="Text 7"/>
          <p:cNvSpPr/>
          <p:nvPr/>
        </p:nvSpPr>
        <p:spPr>
          <a:xfrm>
            <a:off x="457200" y="658440"/>
            <a:ext cx="82292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strike="noStrike" spc="-1">
                <a:solidFill>
                  <a:srgbClr val="666666"/>
                </a:solidFill>
                <a:latin typeface="Calibri"/>
                <a:ea typeface="Calibri"/>
              </a:rPr>
              <a:t>The building blocks of BIG-IP network configuration</a:t>
            </a:r>
            <a:endParaRPr lang="en-US" sz="1300" b="0" strike="noStrike" spc="-1">
              <a:solidFill>
                <a:srgbClr val="000000"/>
              </a:solidFill>
              <a:latin typeface="Arial"/>
            </a:endParaRPr>
          </a:p>
        </p:txBody>
      </p:sp>
      <p:graphicFrame>
        <p:nvGraphicFramePr>
          <p:cNvPr id="1663" name="Table 0"/>
          <p:cNvGraphicFramePr/>
          <p:nvPr/>
        </p:nvGraphicFramePr>
        <p:xfrm>
          <a:off x="365760" y="960120"/>
          <a:ext cx="8412480" cy="1584960"/>
        </p:xfrm>
        <a:graphic>
          <a:graphicData uri="http://schemas.openxmlformats.org/drawingml/2006/table">
            <a:tbl>
              <a:tblPr/>
              <a:tblGrid>
                <a:gridCol w="91440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3108960">
                  <a:extLst>
                    <a:ext uri="{9D8B030D-6E8A-4147-A177-3AD203B41FA5}">
                      <a16:colId xmlns:a16="http://schemas.microsoft.com/office/drawing/2014/main" val="20003"/>
                    </a:ext>
                  </a:extLst>
                </a:gridCol>
              </a:tblGrid>
              <a:tr h="0">
                <a:tc>
                  <a:txBody>
                    <a:bodyPr/>
                    <a:lstStyle/>
                    <a:p>
                      <a:pPr defTabSz="914400">
                        <a:lnSpc>
                          <a:spcPct val="100000"/>
                        </a:lnSpc>
                        <a:tabLst>
                          <a:tab pos="0" algn="l"/>
                        </a:tabLst>
                      </a:pPr>
                      <a:r>
                        <a:rPr lang="en-US" sz="1000" b="1" strike="noStrike" spc="-1">
                          <a:solidFill>
                            <a:srgbClr val="FFFFFF"/>
                          </a:solidFill>
                          <a:latin typeface="Calibri"/>
                        </a:rPr>
                        <a:t>Object</a:t>
                      </a:r>
                      <a:endParaRPr lang="en-US" sz="10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E41AA"/>
                    </a:solidFill>
                  </a:tcPr>
                </a:tc>
                <a:tc>
                  <a:txBody>
                    <a:bodyPr/>
                    <a:lstStyle/>
                    <a:p>
                      <a:pPr defTabSz="914400">
                        <a:lnSpc>
                          <a:spcPct val="100000"/>
                        </a:lnSpc>
                        <a:tabLst>
                          <a:tab pos="0" algn="l"/>
                        </a:tabLst>
                      </a:pPr>
                      <a:r>
                        <a:rPr lang="en-US" sz="1000" b="1" strike="noStrike" spc="-1">
                          <a:solidFill>
                            <a:srgbClr val="FFFFFF"/>
                          </a:solidFill>
                          <a:latin typeface="Calibri"/>
                        </a:rPr>
                        <a:t>What it does</a:t>
                      </a:r>
                      <a:endParaRPr lang="en-US" sz="10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E41AA"/>
                    </a:solidFill>
                  </a:tcPr>
                </a:tc>
                <a:tc>
                  <a:txBody>
                    <a:bodyPr/>
                    <a:lstStyle/>
                    <a:p>
                      <a:pPr defTabSz="914400">
                        <a:lnSpc>
                          <a:spcPct val="100000"/>
                        </a:lnSpc>
                        <a:tabLst>
                          <a:tab pos="0" algn="l"/>
                        </a:tabLst>
                      </a:pPr>
                      <a:r>
                        <a:rPr lang="en-US" sz="1000" b="1" strike="noStrike" spc="-1">
                          <a:solidFill>
                            <a:srgbClr val="FFFFFF"/>
                          </a:solidFill>
                          <a:latin typeface="Calibri"/>
                        </a:rPr>
                        <a:t>Key settings</a:t>
                      </a:r>
                      <a:endParaRPr lang="en-US" sz="10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E41AA"/>
                    </a:solidFill>
                  </a:tcPr>
                </a:tc>
                <a:tc>
                  <a:txBody>
                    <a:bodyPr/>
                    <a:lstStyle/>
                    <a:p>
                      <a:pPr defTabSz="914400">
                        <a:lnSpc>
                          <a:spcPct val="100000"/>
                        </a:lnSpc>
                        <a:tabLst>
                          <a:tab pos="0" algn="l"/>
                        </a:tabLst>
                      </a:pPr>
                      <a:r>
                        <a:rPr lang="en-US" sz="1000" b="1" strike="noStrike" spc="-1">
                          <a:solidFill>
                            <a:srgbClr val="FFFFFF"/>
                          </a:solidFill>
                          <a:latin typeface="Calibri"/>
                        </a:rPr>
                        <a:t>Exam tip</a:t>
                      </a:r>
                      <a:endParaRPr lang="en-US" sz="10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E41AA"/>
                    </a:solidFill>
                  </a:tcPr>
                </a:tc>
                <a:extLst>
                  <a:ext uri="{0D108BD9-81ED-4DB2-BD59-A6C34878D82A}">
                    <a16:rowId xmlns:a16="http://schemas.microsoft.com/office/drawing/2014/main" val="10000"/>
                  </a:ext>
                </a:extLst>
              </a:tr>
              <a:tr h="0">
                <a:tc>
                  <a:txBody>
                    <a:bodyPr/>
                    <a:lstStyle/>
                    <a:p>
                      <a:pPr defTabSz="914400">
                        <a:lnSpc>
                          <a:spcPct val="100000"/>
                        </a:lnSpc>
                        <a:tabLst>
                          <a:tab pos="0" algn="l"/>
                        </a:tabLst>
                      </a:pPr>
                      <a:r>
                        <a:rPr lang="en-US" sz="1000" b="1" strike="noStrike" spc="-1">
                          <a:solidFill>
                            <a:srgbClr val="000000"/>
                          </a:solidFill>
                          <a:latin typeface="Calibri"/>
                        </a:rPr>
                        <a:t>VLAN</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Layer 2 broadcast domain mapped to interfaces</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Name, tag (802.1Q), interface (tagged/untagged)</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Tagged = multiple VLANs per interface. Untagged = one per interface.</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1"/>
                  </a:ext>
                </a:extLst>
              </a:tr>
              <a:tr h="0">
                <a:tc>
                  <a:txBody>
                    <a:bodyPr/>
                    <a:lstStyle/>
                    <a:p>
                      <a:pPr defTabSz="914400">
                        <a:lnSpc>
                          <a:spcPct val="100000"/>
                        </a:lnSpc>
                        <a:tabLst>
                          <a:tab pos="0" algn="l"/>
                        </a:tabLst>
                      </a:pPr>
                      <a:r>
                        <a:rPr lang="en-US" sz="1000" b="1" strike="noStrike" spc="-1">
                          <a:solidFill>
                            <a:srgbClr val="000000"/>
                          </a:solidFill>
                          <a:latin typeface="Calibri"/>
                        </a:rPr>
                        <a:t>Self IP</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BIG-IP's own IP on a VLAN</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IP, mask, VLAN, port lockdown, traffic group</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Floating = moves with HA failover. Non-floating = device-specific.</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2"/>
                  </a:ext>
                </a:extLst>
              </a:tr>
              <a:tr h="0">
                <a:tc>
                  <a:txBody>
                    <a:bodyPr/>
                    <a:lstStyle/>
                    <a:p>
                      <a:pPr defTabSz="914400">
                        <a:lnSpc>
                          <a:spcPct val="100000"/>
                        </a:lnSpc>
                        <a:tabLst>
                          <a:tab pos="0" algn="l"/>
                        </a:tabLst>
                      </a:pPr>
                      <a:r>
                        <a:rPr lang="en-US" sz="1000" b="1" strike="noStrike" spc="-1">
                          <a:solidFill>
                            <a:srgbClr val="000000"/>
                          </a:solidFill>
                          <a:latin typeface="Calibri"/>
                        </a:rPr>
                        <a:t>Trunk</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Link aggregation (LACP)</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Interfaces, LACP mode, distribution hash</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Bandwidth aggregation + link redundancy. If one link fails, others continue.</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3"/>
                  </a:ext>
                </a:extLst>
              </a:tr>
              <a:tr h="0">
                <a:tc>
                  <a:txBody>
                    <a:bodyPr/>
                    <a:lstStyle/>
                    <a:p>
                      <a:pPr defTabSz="914400">
                        <a:lnSpc>
                          <a:spcPct val="100000"/>
                        </a:lnSpc>
                        <a:tabLst>
                          <a:tab pos="0" algn="l"/>
                        </a:tabLst>
                      </a:pPr>
                      <a:r>
                        <a:rPr lang="en-US" sz="1000" b="1" strike="noStrike" spc="-1">
                          <a:solidFill>
                            <a:srgbClr val="000000"/>
                          </a:solidFill>
                          <a:latin typeface="Calibri"/>
                        </a:rPr>
                        <a:t>Route</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Static route for non-connected networks</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Destination, gateway, VLAN</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TMM routes and management routes are SEPARATE tables.</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4"/>
                  </a:ext>
                </a:extLst>
              </a:tr>
            </a:tbl>
          </a:graphicData>
        </a:graphic>
      </p:graphicFrame>
      <p:sp>
        <p:nvSpPr>
          <p:cNvPr id="1664" name="Text 8"/>
          <p:cNvSpPr/>
          <p:nvPr/>
        </p:nvSpPr>
        <p:spPr>
          <a:xfrm>
            <a:off x="457200" y="2880360"/>
            <a:ext cx="54860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E4002B"/>
                </a:solidFill>
                <a:latin typeface="Arial"/>
                <a:ea typeface="Arial"/>
              </a:rPr>
              <a:t>Management interface vs TMM interfaces</a:t>
            </a:r>
            <a:endParaRPr lang="en-US" sz="1400" b="0" strike="noStrike" spc="-1">
              <a:solidFill>
                <a:srgbClr val="000000"/>
              </a:solidFill>
              <a:latin typeface="Arial"/>
            </a:endParaRPr>
          </a:p>
        </p:txBody>
      </p:sp>
      <p:graphicFrame>
        <p:nvGraphicFramePr>
          <p:cNvPr id="1665" name="Table 1"/>
          <p:cNvGraphicFramePr/>
          <p:nvPr/>
        </p:nvGraphicFramePr>
        <p:xfrm>
          <a:off x="365760" y="3108960"/>
          <a:ext cx="8412480" cy="1371600"/>
        </p:xfrm>
        <a:graphic>
          <a:graphicData uri="http://schemas.openxmlformats.org/drawingml/2006/table">
            <a:tbl>
              <a:tblPr/>
              <a:tblGrid>
                <a:gridCol w="118872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3931920">
                  <a:extLst>
                    <a:ext uri="{9D8B030D-6E8A-4147-A177-3AD203B41FA5}">
                      <a16:colId xmlns:a16="http://schemas.microsoft.com/office/drawing/2014/main" val="20002"/>
                    </a:ext>
                  </a:extLst>
                </a:gridCol>
              </a:tblGrid>
              <a:tr h="0">
                <a:tc>
                  <a:txBody>
                    <a:bodyPr/>
                    <a:lstStyle/>
                    <a:p>
                      <a:pPr defTabSz="914400">
                        <a:lnSpc>
                          <a:spcPct val="100000"/>
                        </a:lnSpc>
                        <a:tabLst>
                          <a:tab pos="0" algn="l"/>
                        </a:tabLst>
                      </a:pPr>
                      <a:endParaRPr lang="en-US" sz="900" b="0" strike="noStrike" spc="-1">
                        <a:solidFill>
                          <a:schemeClr val="dk1"/>
                        </a:solidFill>
                        <a:latin typeface="Calibri"/>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E4002B"/>
                    </a:solidFill>
                  </a:tcPr>
                </a:tc>
                <a:tc>
                  <a:txBody>
                    <a:bodyPr/>
                    <a:lstStyle/>
                    <a:p>
                      <a:pPr defTabSz="914400">
                        <a:lnSpc>
                          <a:spcPct val="100000"/>
                        </a:lnSpc>
                        <a:tabLst>
                          <a:tab pos="0" algn="l"/>
                        </a:tabLst>
                      </a:pPr>
                      <a:r>
                        <a:rPr lang="en-US" sz="900" b="1" strike="noStrike" spc="-1">
                          <a:solidFill>
                            <a:srgbClr val="FFFFFF"/>
                          </a:solidFill>
                          <a:latin typeface="Calibri"/>
                        </a:rPr>
                        <a:t>Management (MGMT port)</a:t>
                      </a:r>
                      <a:endParaRPr lang="en-US" sz="9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E4002B"/>
                    </a:solidFill>
                  </a:tcPr>
                </a:tc>
                <a:tc>
                  <a:txBody>
                    <a:bodyPr/>
                    <a:lstStyle/>
                    <a:p>
                      <a:pPr defTabSz="914400">
                        <a:lnSpc>
                          <a:spcPct val="100000"/>
                        </a:lnSpc>
                        <a:tabLst>
                          <a:tab pos="0" algn="l"/>
                        </a:tabLst>
                      </a:pPr>
                      <a:r>
                        <a:rPr lang="en-US" sz="900" b="1" strike="noStrike" spc="-1">
                          <a:solidFill>
                            <a:srgbClr val="FFFFFF"/>
                          </a:solidFill>
                          <a:latin typeface="Calibri"/>
                        </a:rPr>
                        <a:t>TMM interfaces (1.1, 1.2, etc.)</a:t>
                      </a:r>
                      <a:endParaRPr lang="en-US" sz="9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E4002B"/>
                    </a:solidFill>
                  </a:tcPr>
                </a:tc>
                <a:extLst>
                  <a:ext uri="{0D108BD9-81ED-4DB2-BD59-A6C34878D82A}">
                    <a16:rowId xmlns:a16="http://schemas.microsoft.com/office/drawing/2014/main" val="10000"/>
                  </a:ext>
                </a:extLst>
              </a:tr>
              <a:tr h="0">
                <a:tc>
                  <a:txBody>
                    <a:bodyPr/>
                    <a:lstStyle/>
                    <a:p>
                      <a:pPr defTabSz="914400">
                        <a:lnSpc>
                          <a:spcPct val="100000"/>
                        </a:lnSpc>
                        <a:tabLst>
                          <a:tab pos="0" algn="l"/>
                        </a:tabLst>
                      </a:pPr>
                      <a:r>
                        <a:rPr lang="en-US" sz="900" b="1" strike="noStrike" spc="-1">
                          <a:solidFill>
                            <a:srgbClr val="000000"/>
                          </a:solidFill>
                          <a:latin typeface="Calibri"/>
                        </a:rPr>
                        <a:t>Handled by</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Host OS (Linux)</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TMM (Traffic Management Microkernel)</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1"/>
                  </a:ext>
                </a:extLst>
              </a:tr>
              <a:tr h="0">
                <a:tc>
                  <a:txBody>
                    <a:bodyPr/>
                    <a:lstStyle/>
                    <a:p>
                      <a:pPr defTabSz="914400">
                        <a:lnSpc>
                          <a:spcPct val="100000"/>
                        </a:lnSpc>
                        <a:tabLst>
                          <a:tab pos="0" algn="l"/>
                        </a:tabLst>
                      </a:pPr>
                      <a:r>
                        <a:rPr lang="en-US" sz="900" b="1" strike="noStrike" spc="-1">
                          <a:solidFill>
                            <a:srgbClr val="000000"/>
                          </a:solidFill>
                          <a:latin typeface="Calibri"/>
                        </a:rPr>
                        <a:t>Purpose</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Device administration only</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Application traffic + management via self IPs</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2"/>
                  </a:ext>
                </a:extLst>
              </a:tr>
              <a:tr h="0">
                <a:tc>
                  <a:txBody>
                    <a:bodyPr/>
                    <a:lstStyle/>
                    <a:p>
                      <a:pPr defTabSz="914400">
                        <a:lnSpc>
                          <a:spcPct val="100000"/>
                        </a:lnSpc>
                        <a:tabLst>
                          <a:tab pos="0" algn="l"/>
                        </a:tabLst>
                      </a:pPr>
                      <a:r>
                        <a:rPr lang="en-US" sz="900" b="1" strike="noStrike" spc="-1">
                          <a:solidFill>
                            <a:srgbClr val="000000"/>
                          </a:solidFill>
                          <a:latin typeface="Calibri"/>
                        </a:rPr>
                        <a:t>Connection table</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Not visible in show sys connection</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Visible in show sys connection</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3"/>
                  </a:ext>
                </a:extLst>
              </a:tr>
              <a:tr h="0">
                <a:tc>
                  <a:txBody>
                    <a:bodyPr/>
                    <a:lstStyle/>
                    <a:p>
                      <a:pPr defTabSz="914400">
                        <a:lnSpc>
                          <a:spcPct val="100000"/>
                        </a:lnSpc>
                        <a:tabLst>
                          <a:tab pos="0" algn="l"/>
                        </a:tabLst>
                      </a:pPr>
                      <a:r>
                        <a:rPr lang="en-US" sz="900" b="1" strike="noStrike" spc="-1">
                          <a:solidFill>
                            <a:srgbClr val="000000"/>
                          </a:solidFill>
                          <a:latin typeface="Calibri"/>
                        </a:rPr>
                        <a:t>Port lockdown</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N/A — always allows SSH + HTTPS</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Controlled per self IP</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4"/>
                  </a:ext>
                </a:extLst>
              </a:tr>
              <a:tr h="0">
                <a:tc>
                  <a:txBody>
                    <a:bodyPr/>
                    <a:lstStyle/>
                    <a:p>
                      <a:pPr defTabSz="914400">
                        <a:lnSpc>
                          <a:spcPct val="100000"/>
                        </a:lnSpc>
                        <a:tabLst>
                          <a:tab pos="0" algn="l"/>
                        </a:tabLst>
                      </a:pPr>
                      <a:r>
                        <a:rPr lang="en-US" sz="900" b="1" strike="noStrike" spc="-1">
                          <a:solidFill>
                            <a:srgbClr val="000000"/>
                          </a:solidFill>
                          <a:latin typeface="Calibri"/>
                        </a:rPr>
                        <a:t>Routing table</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ourier New"/>
                          <a:ea typeface="Courier New"/>
                        </a:rPr>
                        <a:t>System &gt; Platform &gt; Routes</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ourier New"/>
                          <a:ea typeface="Courier New"/>
                        </a:rPr>
                        <a:t>Network &gt; Routes</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66"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667"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668"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669"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670"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671"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73    © 2026 F5</a:t>
            </a:r>
            <a:endParaRPr lang="en-US" sz="800" b="0" strike="noStrike" spc="-1">
              <a:solidFill>
                <a:srgbClr val="000000"/>
              </a:solidFill>
              <a:latin typeface="Arial"/>
            </a:endParaRPr>
          </a:p>
        </p:txBody>
      </p:sp>
      <p:pic>
        <p:nvPicPr>
          <p:cNvPr id="1672" name="Image 0" descr="preencoded.png"/>
          <p:cNvPicPr/>
          <p:nvPr/>
        </p:nvPicPr>
        <p:blipFill>
          <a:blip r:embed="rId3"/>
          <a:stretch/>
        </p:blipFill>
        <p:spPr>
          <a:xfrm>
            <a:off x="8458200" y="4663440"/>
            <a:ext cx="383760" cy="383760"/>
          </a:xfrm>
          <a:prstGeom prst="rect">
            <a:avLst/>
          </a:prstGeom>
          <a:ln w="0">
            <a:noFill/>
          </a:ln>
        </p:spPr>
      </p:pic>
      <p:sp>
        <p:nvSpPr>
          <p:cNvPr id="1673" name="Text 6"/>
          <p:cNvSpPr/>
          <p:nvPr/>
        </p:nvSpPr>
        <p:spPr>
          <a:xfrm>
            <a:off x="457200" y="274320"/>
            <a:ext cx="82292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Route domains</a:t>
            </a:r>
            <a:endParaRPr lang="en-US" sz="2800" b="0" strike="noStrike" spc="-1">
              <a:solidFill>
                <a:srgbClr val="000000"/>
              </a:solidFill>
              <a:latin typeface="Arial"/>
            </a:endParaRPr>
          </a:p>
        </p:txBody>
      </p:sp>
      <p:sp>
        <p:nvSpPr>
          <p:cNvPr id="1674" name="Text 7"/>
          <p:cNvSpPr/>
          <p:nvPr/>
        </p:nvSpPr>
        <p:spPr>
          <a:xfrm>
            <a:off x="457200" y="658440"/>
            <a:ext cx="82292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strike="noStrike" spc="-1">
                <a:solidFill>
                  <a:srgbClr val="666666"/>
                </a:solidFill>
                <a:latin typeface="Calibri"/>
                <a:ea typeface="Calibri"/>
              </a:rPr>
              <a:t>Segment traffic to allow overlapping IP addresses for different tenants or applications</a:t>
            </a:r>
            <a:endParaRPr lang="en-US" sz="1300" b="0" strike="noStrike" spc="-1">
              <a:solidFill>
                <a:srgbClr val="000000"/>
              </a:solidFill>
              <a:latin typeface="Arial"/>
            </a:endParaRPr>
          </a:p>
        </p:txBody>
      </p:sp>
      <p:sp>
        <p:nvSpPr>
          <p:cNvPr id="1675" name="Text 8"/>
          <p:cNvSpPr/>
          <p:nvPr/>
        </p:nvSpPr>
        <p:spPr>
          <a:xfrm>
            <a:off x="457200" y="1005840"/>
            <a:ext cx="45716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strike="noStrike" spc="-1">
                <a:solidFill>
                  <a:srgbClr val="0E41AA"/>
                </a:solidFill>
                <a:latin typeface="Arial"/>
                <a:ea typeface="Arial"/>
              </a:rPr>
              <a:t>What route domains provide</a:t>
            </a:r>
            <a:endParaRPr lang="en-US" sz="1600" b="0" strike="noStrike" spc="-1">
              <a:solidFill>
                <a:srgbClr val="000000"/>
              </a:solidFill>
              <a:latin typeface="Arial"/>
            </a:endParaRPr>
          </a:p>
        </p:txBody>
      </p:sp>
      <p:sp>
        <p:nvSpPr>
          <p:cNvPr id="1676" name="Shape 9"/>
          <p:cNvSpPr/>
          <p:nvPr/>
        </p:nvSpPr>
        <p:spPr>
          <a:xfrm>
            <a:off x="457200" y="1280160"/>
            <a:ext cx="4114440" cy="137124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677" name="Text 10"/>
          <p:cNvSpPr/>
          <p:nvPr/>
        </p:nvSpPr>
        <p:spPr>
          <a:xfrm>
            <a:off x="548640" y="1325880"/>
            <a:ext cx="3931560" cy="1279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r>
              <a:rPr lang="en-US" sz="1000" b="1" strike="noStrike" spc="-1">
                <a:solidFill>
                  <a:srgbClr val="0E41AA"/>
                </a:solidFill>
                <a:latin typeface="Calibri"/>
                <a:ea typeface="Calibri"/>
              </a:rPr>
              <a:t>Separate routing tables per domain</a:t>
            </a:r>
            <a:endParaRPr lang="en-US" sz="1000" b="0" strike="noStrike" spc="-1">
              <a:solidFill>
                <a:srgbClr val="000000"/>
              </a:solidFill>
              <a:latin typeface="Arial"/>
            </a:endParaRPr>
          </a:p>
          <a:p>
            <a:r>
              <a:rPr lang="en-US" sz="900" b="0" strike="noStrike" spc="-1">
                <a:solidFill>
                  <a:srgbClr val="333333"/>
                </a:solidFill>
                <a:latin typeface="Calibri"/>
                <a:ea typeface="Calibri"/>
              </a:rPr>
              <a:t>Each route domain has its own routing table, ARP cache, and forwarding database. Traffic in RD1 never crosses into RD2 unless explicitly routed.</a:t>
            </a:r>
            <a:endParaRPr lang="en-US" sz="900" b="0" strike="noStrike" spc="-1">
              <a:solidFill>
                <a:srgbClr val="000000"/>
              </a:solidFill>
              <a:latin typeface="Arial"/>
            </a:endParaRPr>
          </a:p>
          <a:p>
            <a:endParaRPr lang="en-US" sz="900" b="0" strike="noStrike" spc="-1">
              <a:solidFill>
                <a:srgbClr val="000000"/>
              </a:solidFill>
              <a:latin typeface="Arial"/>
            </a:endParaRPr>
          </a:p>
          <a:p>
            <a:r>
              <a:rPr lang="en-US" sz="1000" b="1" strike="noStrike" spc="-1">
                <a:solidFill>
                  <a:srgbClr val="0E41AA"/>
                </a:solidFill>
                <a:latin typeface="Calibri"/>
                <a:ea typeface="Calibri"/>
              </a:rPr>
              <a:t>Overlapping IP address spaces</a:t>
            </a:r>
            <a:endParaRPr lang="en-US" sz="1000" b="0" strike="noStrike" spc="-1">
              <a:solidFill>
                <a:srgbClr val="000000"/>
              </a:solidFill>
              <a:latin typeface="Arial"/>
            </a:endParaRPr>
          </a:p>
          <a:p>
            <a:pPr defTabSz="914400">
              <a:lnSpc>
                <a:spcPct val="100000"/>
              </a:lnSpc>
              <a:tabLst>
                <a:tab pos="0" algn="l"/>
              </a:tabLst>
            </a:pPr>
            <a:r>
              <a:rPr lang="en-US" sz="900" b="0" strike="noStrike" spc="-1">
                <a:solidFill>
                  <a:srgbClr val="333333"/>
                </a:solidFill>
                <a:latin typeface="Calibri"/>
                <a:ea typeface="Calibri"/>
              </a:rPr>
              <a:t>Tenant A and Tenant B can both use 10.10.10.0/24 without conflict. The BIG-IP distinguishes them by route domain ID.</a:t>
            </a:r>
            <a:endParaRPr lang="en-US" sz="900" b="0" strike="noStrike" spc="-1">
              <a:solidFill>
                <a:srgbClr val="000000"/>
              </a:solidFill>
              <a:latin typeface="Arial"/>
            </a:endParaRPr>
          </a:p>
        </p:txBody>
      </p:sp>
      <p:sp>
        <p:nvSpPr>
          <p:cNvPr id="1678" name="Text 11"/>
          <p:cNvSpPr/>
          <p:nvPr/>
        </p:nvSpPr>
        <p:spPr>
          <a:xfrm>
            <a:off x="4846320" y="1005840"/>
            <a:ext cx="393156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strike="noStrike" spc="-1">
                <a:solidFill>
                  <a:srgbClr val="61228B"/>
                </a:solidFill>
                <a:latin typeface="Arial"/>
                <a:ea typeface="Arial"/>
              </a:rPr>
              <a:t>When to use route domains</a:t>
            </a:r>
            <a:endParaRPr lang="en-US" sz="1600" b="0" strike="noStrike" spc="-1">
              <a:solidFill>
                <a:srgbClr val="000000"/>
              </a:solidFill>
              <a:latin typeface="Arial"/>
            </a:endParaRPr>
          </a:p>
        </p:txBody>
      </p:sp>
      <p:sp>
        <p:nvSpPr>
          <p:cNvPr id="1679" name="Shape 12"/>
          <p:cNvSpPr/>
          <p:nvPr/>
        </p:nvSpPr>
        <p:spPr>
          <a:xfrm>
            <a:off x="4846320" y="1280160"/>
            <a:ext cx="3931560" cy="137124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680" name="Text 13"/>
          <p:cNvSpPr/>
          <p:nvPr/>
        </p:nvSpPr>
        <p:spPr>
          <a:xfrm>
            <a:off x="4937760" y="1325880"/>
            <a:ext cx="3748680" cy="1279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000" b="1" strike="noStrike" spc="-1">
                <a:solidFill>
                  <a:srgbClr val="009639"/>
                </a:solidFill>
                <a:latin typeface="Calibri"/>
                <a:ea typeface="Calibri"/>
              </a:rPr>
              <a:t>✔ Multi-tenant environments</a:t>
            </a:r>
            <a:endParaRPr lang="en-US" sz="1000" b="0" strike="noStrike" spc="-1">
              <a:solidFill>
                <a:srgbClr val="000000"/>
              </a:solidFill>
              <a:latin typeface="Arial"/>
            </a:endParaRPr>
          </a:p>
          <a:p>
            <a:pPr defTabSz="914400">
              <a:lnSpc>
                <a:spcPct val="100000"/>
              </a:lnSpc>
              <a:tabLst>
                <a:tab pos="0" algn="l"/>
              </a:tabLst>
            </a:pPr>
            <a:r>
              <a:rPr lang="en-US" sz="900" b="0" strike="noStrike" spc="-1">
                <a:solidFill>
                  <a:srgbClr val="333333"/>
                </a:solidFill>
                <a:latin typeface="Calibri"/>
                <a:ea typeface="Calibri"/>
              </a:rPr>
              <a:t>Different customers on the same BIG-IP with overlapping private IPs</a:t>
            </a:r>
            <a:endParaRPr lang="en-US" sz="900" b="0" strike="noStrike" spc="-1">
              <a:solidFill>
                <a:srgbClr val="000000"/>
              </a:solidFill>
              <a:latin typeface="Arial"/>
            </a:endParaRPr>
          </a:p>
          <a:p>
            <a:pPr defTabSz="914400">
              <a:lnSpc>
                <a:spcPct val="100000"/>
              </a:lnSpc>
              <a:tabLst>
                <a:tab pos="0" algn="l"/>
              </a:tabLst>
            </a:pPr>
            <a:r>
              <a:rPr lang="en-US" sz="1000" b="1" strike="noStrike" spc="-1">
                <a:solidFill>
                  <a:srgbClr val="009639"/>
                </a:solidFill>
                <a:latin typeface="Calibri"/>
                <a:ea typeface="Calibri"/>
              </a:rPr>
              <a:t>✔ Mergers and acquisitions</a:t>
            </a:r>
            <a:endParaRPr lang="en-US" sz="1000" b="0" strike="noStrike" spc="-1">
              <a:solidFill>
                <a:srgbClr val="000000"/>
              </a:solidFill>
              <a:latin typeface="Arial"/>
            </a:endParaRPr>
          </a:p>
          <a:p>
            <a:pPr defTabSz="914400">
              <a:lnSpc>
                <a:spcPct val="100000"/>
              </a:lnSpc>
              <a:tabLst>
                <a:tab pos="0" algn="l"/>
              </a:tabLst>
            </a:pPr>
            <a:r>
              <a:rPr lang="en-US" sz="900" b="0" strike="noStrike" spc="-1">
                <a:solidFill>
                  <a:srgbClr val="333333"/>
                </a:solidFill>
                <a:latin typeface="Calibri"/>
                <a:ea typeface="Calibri"/>
              </a:rPr>
              <a:t>Two companies with conflicting IP schemes consolidated on one BIG-IP</a:t>
            </a:r>
            <a:endParaRPr lang="en-US" sz="900" b="0" strike="noStrike" spc="-1">
              <a:solidFill>
                <a:srgbClr val="000000"/>
              </a:solidFill>
              <a:latin typeface="Arial"/>
            </a:endParaRPr>
          </a:p>
          <a:p>
            <a:pPr defTabSz="914400">
              <a:lnSpc>
                <a:spcPct val="100000"/>
              </a:lnSpc>
              <a:tabLst>
                <a:tab pos="0" algn="l"/>
              </a:tabLst>
            </a:pPr>
            <a:r>
              <a:rPr lang="en-US" sz="1000" b="1" strike="noStrike" spc="-1">
                <a:solidFill>
                  <a:srgbClr val="009639"/>
                </a:solidFill>
                <a:latin typeface="Calibri"/>
                <a:ea typeface="Calibri"/>
              </a:rPr>
              <a:t>✔ Lab / dev / prod segmentation</a:t>
            </a:r>
            <a:endParaRPr lang="en-US" sz="1000" b="0" strike="noStrike" spc="-1">
              <a:solidFill>
                <a:srgbClr val="000000"/>
              </a:solidFill>
              <a:latin typeface="Arial"/>
            </a:endParaRPr>
          </a:p>
          <a:p>
            <a:pPr defTabSz="914400">
              <a:lnSpc>
                <a:spcPct val="100000"/>
              </a:lnSpc>
              <a:tabLst>
                <a:tab pos="0" algn="l"/>
              </a:tabLst>
            </a:pPr>
            <a:r>
              <a:rPr lang="en-US" sz="900" b="0" strike="noStrike" spc="-1">
                <a:solidFill>
                  <a:srgbClr val="333333"/>
                </a:solidFill>
                <a:latin typeface="Calibri"/>
                <a:ea typeface="Calibri"/>
              </a:rPr>
              <a:t>Same IP ranges for lab and prod without cross-contamination</a:t>
            </a:r>
            <a:endParaRPr lang="en-US" sz="900" b="0" strike="noStrike" spc="-1">
              <a:solidFill>
                <a:srgbClr val="000000"/>
              </a:solidFill>
              <a:latin typeface="Arial"/>
            </a:endParaRPr>
          </a:p>
          <a:p>
            <a:pPr defTabSz="914400">
              <a:lnSpc>
                <a:spcPct val="100000"/>
              </a:lnSpc>
              <a:tabLst>
                <a:tab pos="0" algn="l"/>
              </a:tabLst>
            </a:pPr>
            <a:r>
              <a:rPr lang="en-US" sz="1000" b="1" strike="noStrike" spc="-1">
                <a:solidFill>
                  <a:srgbClr val="E4002B"/>
                </a:solidFill>
                <a:latin typeface="Calibri"/>
                <a:ea typeface="Calibri"/>
              </a:rPr>
              <a:t>✘ Don't use for simple traffic separation</a:t>
            </a:r>
            <a:endParaRPr lang="en-US" sz="1000" b="0" strike="noStrike" spc="-1">
              <a:solidFill>
                <a:srgbClr val="000000"/>
              </a:solidFill>
              <a:latin typeface="Arial"/>
            </a:endParaRPr>
          </a:p>
          <a:p>
            <a:pPr defTabSz="914400">
              <a:lnSpc>
                <a:spcPct val="100000"/>
              </a:lnSpc>
              <a:tabLst>
                <a:tab pos="0" algn="l"/>
              </a:tabLst>
            </a:pPr>
            <a:r>
              <a:rPr lang="en-US" sz="900" b="0" strike="noStrike" spc="-1">
                <a:solidFill>
                  <a:srgbClr val="333333"/>
                </a:solidFill>
                <a:latin typeface="Calibri"/>
                <a:ea typeface="Calibri"/>
              </a:rPr>
              <a:t>Use partitions or VLANs if IPs don't overlap</a:t>
            </a:r>
            <a:endParaRPr lang="en-US" sz="900" b="0" strike="noStrike" spc="-1">
              <a:solidFill>
                <a:srgbClr val="000000"/>
              </a:solidFill>
              <a:latin typeface="Arial"/>
            </a:endParaRPr>
          </a:p>
        </p:txBody>
      </p:sp>
      <p:sp>
        <p:nvSpPr>
          <p:cNvPr id="1681" name="Text 14"/>
          <p:cNvSpPr/>
          <p:nvPr/>
        </p:nvSpPr>
        <p:spPr>
          <a:xfrm>
            <a:off x="457200" y="2834640"/>
            <a:ext cx="45716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strike="noStrike" spc="-1">
                <a:solidFill>
                  <a:srgbClr val="009639"/>
                </a:solidFill>
                <a:latin typeface="Arial"/>
                <a:ea typeface="Arial"/>
              </a:rPr>
              <a:t>Configuration example</a:t>
            </a:r>
            <a:endParaRPr lang="en-US" sz="1600" b="0" strike="noStrike" spc="-1">
              <a:solidFill>
                <a:srgbClr val="000000"/>
              </a:solidFill>
              <a:latin typeface="Arial"/>
            </a:endParaRPr>
          </a:p>
        </p:txBody>
      </p:sp>
      <p:sp>
        <p:nvSpPr>
          <p:cNvPr id="1682" name="Shape 15"/>
          <p:cNvSpPr/>
          <p:nvPr/>
        </p:nvSpPr>
        <p:spPr>
          <a:xfrm>
            <a:off x="457200" y="3063240"/>
            <a:ext cx="8229240" cy="1416960"/>
          </a:xfrm>
          <a:prstGeom prst="rect">
            <a:avLst/>
          </a:prstGeom>
          <a:solidFill>
            <a:srgbClr val="1E293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683" name="Text 16"/>
          <p:cNvSpPr/>
          <p:nvPr/>
        </p:nvSpPr>
        <p:spPr>
          <a:xfrm>
            <a:off x="594360" y="3081600"/>
            <a:ext cx="7954920" cy="1334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r>
              <a:rPr lang="en-US" sz="850" b="0" strike="noStrike" spc="-1">
                <a:solidFill>
                  <a:srgbClr val="666666"/>
                </a:solidFill>
                <a:latin typeface="Courier New"/>
                <a:ea typeface="Courier New"/>
              </a:rPr>
              <a:t># Create route domains</a:t>
            </a:r>
            <a:endParaRPr lang="en-US" sz="850" b="0" strike="noStrike" spc="-1">
              <a:solidFill>
                <a:srgbClr val="000000"/>
              </a:solidFill>
              <a:latin typeface="Arial"/>
            </a:endParaRPr>
          </a:p>
          <a:p>
            <a:r>
              <a:rPr lang="en-US" sz="850" b="0" strike="noStrike" spc="-1">
                <a:solidFill>
                  <a:srgbClr val="A5F3FC"/>
                </a:solidFill>
                <a:latin typeface="Courier New"/>
                <a:ea typeface="Courier New"/>
              </a:rPr>
              <a:t>create net route-domain 1 vlans add { tenant-a-vlan } strict enabled</a:t>
            </a:r>
            <a:endParaRPr lang="en-US" sz="850" b="0" strike="noStrike" spc="-1">
              <a:solidFill>
                <a:srgbClr val="000000"/>
              </a:solidFill>
              <a:latin typeface="Arial"/>
            </a:endParaRPr>
          </a:p>
          <a:p>
            <a:r>
              <a:rPr lang="en-US" sz="850" b="0" strike="noStrike" spc="-1">
                <a:solidFill>
                  <a:srgbClr val="A5F3FC"/>
                </a:solidFill>
                <a:latin typeface="Courier New"/>
                <a:ea typeface="Courier New"/>
              </a:rPr>
              <a:t>create net route-domain 2 vlans add { tenant-b-vlan } strict enabled</a:t>
            </a:r>
            <a:endParaRPr lang="en-US" sz="850" b="0" strike="noStrike" spc="-1">
              <a:solidFill>
                <a:srgbClr val="000000"/>
              </a:solidFill>
              <a:latin typeface="Arial"/>
            </a:endParaRPr>
          </a:p>
          <a:p>
            <a:endParaRPr lang="en-US" sz="850" b="0" strike="noStrike" spc="-1">
              <a:solidFill>
                <a:srgbClr val="000000"/>
              </a:solidFill>
              <a:latin typeface="Arial"/>
            </a:endParaRPr>
          </a:p>
          <a:p>
            <a:r>
              <a:rPr lang="en-US" sz="850" b="0" strike="noStrike" spc="-1">
                <a:solidFill>
                  <a:srgbClr val="666666"/>
                </a:solidFill>
                <a:latin typeface="Courier New"/>
                <a:ea typeface="Courier New"/>
              </a:rPr>
              <a:t># Create self IPs with %RD notation</a:t>
            </a:r>
            <a:endParaRPr lang="en-US" sz="850" b="0" strike="noStrike" spc="-1">
              <a:solidFill>
                <a:srgbClr val="000000"/>
              </a:solidFill>
              <a:latin typeface="Arial"/>
            </a:endParaRPr>
          </a:p>
          <a:p>
            <a:r>
              <a:rPr lang="en-US" sz="850" b="0" strike="noStrike" spc="-1">
                <a:solidFill>
                  <a:srgbClr val="A5F3FC"/>
                </a:solidFill>
                <a:latin typeface="Courier New"/>
                <a:ea typeface="Courier New"/>
              </a:rPr>
              <a:t>create net self tenant-a-self address 10.10.10.245%1/24 vlan tenant-a-vlan</a:t>
            </a:r>
            <a:endParaRPr lang="en-US" sz="850" b="0" strike="noStrike" spc="-1">
              <a:solidFill>
                <a:srgbClr val="000000"/>
              </a:solidFill>
              <a:latin typeface="Arial"/>
            </a:endParaRPr>
          </a:p>
          <a:p>
            <a:r>
              <a:rPr lang="en-US" sz="850" b="0" strike="noStrike" spc="-1">
                <a:solidFill>
                  <a:srgbClr val="A5F3FC"/>
                </a:solidFill>
                <a:latin typeface="Courier New"/>
                <a:ea typeface="Courier New"/>
              </a:rPr>
              <a:t>create net self tenant-b-self address 10.10.10.245%2/24 vlan tenant-b-vlan</a:t>
            </a:r>
            <a:endParaRPr lang="en-US" sz="850" b="0" strike="noStrike" spc="-1">
              <a:solidFill>
                <a:srgbClr val="000000"/>
              </a:solidFill>
              <a:latin typeface="Arial"/>
            </a:endParaRPr>
          </a:p>
          <a:p>
            <a:endParaRPr lang="en-US" sz="850" b="0" strike="noStrike" spc="-1">
              <a:solidFill>
                <a:srgbClr val="000000"/>
              </a:solidFill>
              <a:latin typeface="Arial"/>
            </a:endParaRPr>
          </a:p>
          <a:p>
            <a:r>
              <a:rPr lang="en-US" sz="850" b="0" strike="noStrike" spc="-1">
                <a:solidFill>
                  <a:srgbClr val="666666"/>
                </a:solidFill>
                <a:latin typeface="Courier New"/>
                <a:ea typeface="Courier New"/>
              </a:rPr>
              <a:t># Create pools and VS with %RD notation</a:t>
            </a:r>
            <a:endParaRPr lang="en-US" sz="850" b="0" strike="noStrike" spc="-1">
              <a:solidFill>
                <a:srgbClr val="000000"/>
              </a:solidFill>
              <a:latin typeface="Arial"/>
            </a:endParaRPr>
          </a:p>
          <a:p>
            <a:pPr defTabSz="914400">
              <a:lnSpc>
                <a:spcPct val="100000"/>
              </a:lnSpc>
              <a:tabLst>
                <a:tab pos="0" algn="l"/>
              </a:tabLst>
            </a:pPr>
            <a:r>
              <a:rPr lang="en-US" sz="850" b="0" strike="noStrike" spc="-1">
                <a:solidFill>
                  <a:srgbClr val="A5F3FC"/>
                </a:solidFill>
                <a:latin typeface="Courier New"/>
                <a:ea typeface="Courier New"/>
              </a:rPr>
              <a:t>create ltm pool tenant-a-pool members add { 10.10.10.11%1:80 }</a:t>
            </a:r>
            <a:endParaRPr lang="en-US" sz="850" b="0" strike="noStrike" spc="-1">
              <a:solidFill>
                <a:srgbClr val="000000"/>
              </a:solidFill>
              <a:latin typeface="Arial"/>
            </a:endParaRPr>
          </a:p>
          <a:p>
            <a:pPr defTabSz="914400">
              <a:lnSpc>
                <a:spcPct val="100000"/>
              </a:lnSpc>
              <a:tabLst>
                <a:tab pos="0" algn="l"/>
              </a:tabLst>
            </a:pPr>
            <a:r>
              <a:rPr lang="en-US" sz="850" b="0" strike="noStrike" spc="-1">
                <a:solidFill>
                  <a:srgbClr val="A5F3FC"/>
                </a:solidFill>
                <a:latin typeface="Courier New"/>
                <a:ea typeface="Courier New"/>
              </a:rPr>
              <a:t>create ltm virtual tenant-a-vs destination 10.10.10.100%1:80 pool tenant-a-pool</a:t>
            </a:r>
            <a:endParaRPr lang="en-US" sz="850" b="0" strike="noStrike" spc="-1">
              <a:solidFill>
                <a:srgbClr val="000000"/>
              </a:solidFill>
              <a:latin typeface="Arial"/>
            </a:endParaRPr>
          </a:p>
        </p:txBody>
      </p:sp>
      <p:sp>
        <p:nvSpPr>
          <p:cNvPr id="1684" name="Shape 17"/>
          <p:cNvSpPr/>
          <p:nvPr/>
        </p:nvSpPr>
        <p:spPr>
          <a:xfrm>
            <a:off x="365760" y="4526280"/>
            <a:ext cx="8412120" cy="136800"/>
          </a:xfrm>
          <a:prstGeom prst="rect">
            <a:avLst/>
          </a:prstGeom>
          <a:solidFill>
            <a:srgbClr val="E8F0F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685" name="Text 18"/>
          <p:cNvSpPr/>
          <p:nvPr/>
        </p:nvSpPr>
        <p:spPr>
          <a:xfrm>
            <a:off x="548640" y="4526280"/>
            <a:ext cx="804636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1" strike="noStrike" spc="-1">
                <a:solidFill>
                  <a:srgbClr val="0E41AA"/>
                </a:solidFill>
                <a:latin typeface="Calibri"/>
                <a:ea typeface="Calibri"/>
              </a:rPr>
              <a:t>Route domain 0 is the default. Objects without %RD notation belong to RD0. Strict isolation prevents cross-domain traffic unless parent RD is configured.</a:t>
            </a:r>
            <a:endParaRPr lang="en-US" sz="800" b="0" strike="noStrike" spc="-1">
              <a:solidFill>
                <a:srgbClr val="000000"/>
              </a:solidFill>
              <a:latin typeface="Arial"/>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86"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687"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688"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689"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690"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691"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74    © 2026 F5</a:t>
            </a:r>
            <a:endParaRPr lang="en-US" sz="800" b="0" strike="noStrike" spc="-1">
              <a:solidFill>
                <a:srgbClr val="000000"/>
              </a:solidFill>
              <a:latin typeface="Arial"/>
            </a:endParaRPr>
          </a:p>
        </p:txBody>
      </p:sp>
      <p:pic>
        <p:nvPicPr>
          <p:cNvPr id="1692" name="Image 0" descr="preencoded.png"/>
          <p:cNvPicPr/>
          <p:nvPr/>
        </p:nvPicPr>
        <p:blipFill>
          <a:blip r:embed="rId3"/>
          <a:stretch/>
        </p:blipFill>
        <p:spPr>
          <a:xfrm>
            <a:off x="8458200" y="4663440"/>
            <a:ext cx="383760" cy="383760"/>
          </a:xfrm>
          <a:prstGeom prst="rect">
            <a:avLst/>
          </a:prstGeom>
          <a:ln w="0">
            <a:noFill/>
          </a:ln>
        </p:spPr>
      </p:pic>
      <p:sp>
        <p:nvSpPr>
          <p:cNvPr id="1693" name="Text 6"/>
          <p:cNvSpPr/>
          <p:nvPr/>
        </p:nvSpPr>
        <p:spPr>
          <a:xfrm>
            <a:off x="457200" y="274320"/>
            <a:ext cx="73148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Lab 8 — Hands-on exercises</a:t>
            </a:r>
            <a:endParaRPr lang="en-US" sz="2800" b="0" strike="noStrike" spc="-1">
              <a:solidFill>
                <a:srgbClr val="000000"/>
              </a:solidFill>
              <a:latin typeface="Arial"/>
            </a:endParaRPr>
          </a:p>
        </p:txBody>
      </p:sp>
      <p:sp>
        <p:nvSpPr>
          <p:cNvPr id="1694" name="Text 7"/>
          <p:cNvSpPr/>
          <p:nvPr/>
        </p:nvSpPr>
        <p:spPr>
          <a:xfrm>
            <a:off x="457200" y="658440"/>
            <a:ext cx="73148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009639"/>
                </a:solidFill>
                <a:latin typeface="Calibri"/>
                <a:ea typeface="Calibri"/>
              </a:rPr>
              <a:t>30 minutes  |  Lab guide: Module 8</a:t>
            </a:r>
            <a:endParaRPr lang="en-US" sz="1400" b="0" strike="noStrike" spc="-1">
              <a:solidFill>
                <a:srgbClr val="000000"/>
              </a:solidFill>
              <a:latin typeface="Arial"/>
            </a:endParaRPr>
          </a:p>
        </p:txBody>
      </p:sp>
      <p:graphicFrame>
        <p:nvGraphicFramePr>
          <p:cNvPr id="1695" name="Table 0"/>
          <p:cNvGraphicFramePr/>
          <p:nvPr/>
        </p:nvGraphicFramePr>
        <p:xfrm>
          <a:off x="365760" y="960120"/>
          <a:ext cx="7772400" cy="1691640"/>
        </p:xfrm>
        <a:graphic>
          <a:graphicData uri="http://schemas.openxmlformats.org/drawingml/2006/table">
            <a:tbl>
              <a:tblPr/>
              <a:tblGrid>
                <a:gridCol w="32004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5486400">
                  <a:extLst>
                    <a:ext uri="{9D8B030D-6E8A-4147-A177-3AD203B41FA5}">
                      <a16:colId xmlns:a16="http://schemas.microsoft.com/office/drawing/2014/main" val="20002"/>
                    </a:ext>
                  </a:extLst>
                </a:gridCol>
                <a:gridCol w="594360">
                  <a:extLst>
                    <a:ext uri="{9D8B030D-6E8A-4147-A177-3AD203B41FA5}">
                      <a16:colId xmlns:a16="http://schemas.microsoft.com/office/drawing/2014/main" val="20003"/>
                    </a:ext>
                  </a:extLst>
                </a:gridCol>
              </a:tblGrid>
              <a:tr h="274320">
                <a:tc>
                  <a:txBody>
                    <a:bodyPr/>
                    <a:lstStyle/>
                    <a:p>
                      <a:pPr algn="ctr" defTabSz="914400">
                        <a:lnSpc>
                          <a:spcPct val="100000"/>
                        </a:lnSpc>
                        <a:tabLst>
                          <a:tab pos="0" algn="l"/>
                        </a:tabLst>
                      </a:pPr>
                      <a:r>
                        <a:rPr lang="en-US" sz="1000" b="1" strike="noStrike" spc="-1">
                          <a:solidFill>
                            <a:srgbClr val="FFFFFF"/>
                          </a:solidFill>
                          <a:latin typeface="Calibri"/>
                        </a:rPr>
                        <a:t>#</a:t>
                      </a:r>
                      <a:endParaRPr lang="en-US" sz="10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09639"/>
                    </a:solidFill>
                  </a:tcPr>
                </a:tc>
                <a:tc>
                  <a:txBody>
                    <a:bodyPr/>
                    <a:lstStyle/>
                    <a:p>
                      <a:pPr defTabSz="914400">
                        <a:lnSpc>
                          <a:spcPct val="100000"/>
                        </a:lnSpc>
                        <a:tabLst>
                          <a:tab pos="0" algn="l"/>
                        </a:tabLst>
                      </a:pPr>
                      <a:r>
                        <a:rPr lang="en-US" sz="1100" b="1" strike="noStrike" spc="-1">
                          <a:solidFill>
                            <a:srgbClr val="FFFFFF"/>
                          </a:solidFill>
                          <a:latin typeface="Calibri"/>
                        </a:rPr>
                        <a:t>Activity</a:t>
                      </a:r>
                      <a:endParaRPr lang="en-US" sz="11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09639"/>
                    </a:solidFill>
                  </a:tcPr>
                </a:tc>
                <a:tc>
                  <a:txBody>
                    <a:bodyPr/>
                    <a:lstStyle/>
                    <a:p>
                      <a:pPr defTabSz="914400">
                        <a:lnSpc>
                          <a:spcPct val="100000"/>
                        </a:lnSpc>
                        <a:tabLst>
                          <a:tab pos="0" algn="l"/>
                        </a:tabLst>
                      </a:pPr>
                      <a:r>
                        <a:rPr lang="en-US" sz="1100" b="1" strike="noStrike" spc="-1">
                          <a:solidFill>
                            <a:srgbClr val="FFFFFF"/>
                          </a:solidFill>
                          <a:latin typeface="Calibri"/>
                        </a:rPr>
                        <a:t>Key tasks</a:t>
                      </a:r>
                      <a:endParaRPr lang="en-US" sz="11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09639"/>
                    </a:solidFill>
                  </a:tcPr>
                </a:tc>
                <a:tc>
                  <a:txBody>
                    <a:bodyPr/>
                    <a:lstStyle/>
                    <a:p>
                      <a:pPr algn="ctr" defTabSz="914400">
                        <a:lnSpc>
                          <a:spcPct val="100000"/>
                        </a:lnSpc>
                        <a:tabLst>
                          <a:tab pos="0" algn="l"/>
                        </a:tabLst>
                      </a:pPr>
                      <a:r>
                        <a:rPr lang="en-US" sz="1000" b="1" strike="noStrike" spc="-1">
                          <a:solidFill>
                            <a:srgbClr val="FFFFFF"/>
                          </a:solidFill>
                          <a:latin typeface="Calibri"/>
                        </a:rPr>
                        <a:t>Time</a:t>
                      </a:r>
                      <a:endParaRPr lang="en-US" sz="10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09639"/>
                    </a:solidFill>
                  </a:tcPr>
                </a:tc>
                <a:extLst>
                  <a:ext uri="{0D108BD9-81ED-4DB2-BD59-A6C34878D82A}">
                    <a16:rowId xmlns:a16="http://schemas.microsoft.com/office/drawing/2014/main" val="10000"/>
                  </a:ext>
                </a:extLst>
              </a:tr>
              <a:tr h="502920">
                <a:tc>
                  <a:txBody>
                    <a:bodyPr/>
                    <a:lstStyle/>
                    <a:p>
                      <a:pPr algn="ctr" defTabSz="914400">
                        <a:lnSpc>
                          <a:spcPct val="100000"/>
                        </a:lnSpc>
                        <a:tabLst>
                          <a:tab pos="0" algn="l"/>
                        </a:tabLst>
                      </a:pPr>
                      <a:r>
                        <a:rPr lang="en-US" sz="1100" b="0" strike="noStrike" spc="-1">
                          <a:solidFill>
                            <a:srgbClr val="000000"/>
                          </a:solidFill>
                          <a:latin typeface="Calibri"/>
                        </a:rPr>
                        <a:t>1</a:t>
                      </a:r>
                      <a:endParaRPr lang="en-US" sz="11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1100" b="1" strike="noStrike" spc="-1">
                          <a:solidFill>
                            <a:srgbClr val="000000"/>
                          </a:solidFill>
                          <a:latin typeface="Calibri"/>
                        </a:rPr>
                        <a:t>Port Lockdown</a:t>
                      </a:r>
                      <a:endParaRPr lang="en-US" sz="11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333333"/>
                          </a:solidFill>
                          <a:latin typeface="Calibri"/>
                        </a:rPr>
                        <a:t>Ping self IP (works). SSH (fails — None). Change to Allow Defaults (SSH + GUI work). Allow Custom TCP 22 (SSH works, GUI blocked).</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algn="ctr" defTabSz="914400">
                        <a:lnSpc>
                          <a:spcPct val="100000"/>
                        </a:lnSpc>
                        <a:tabLst>
                          <a:tab pos="0" algn="l"/>
                        </a:tabLst>
                      </a:pPr>
                      <a:r>
                        <a:rPr lang="en-US" sz="1000" b="0" strike="noStrike" spc="-1">
                          <a:solidFill>
                            <a:srgbClr val="666666"/>
                          </a:solidFill>
                          <a:latin typeface="Calibri"/>
                        </a:rPr>
                        <a:t>10m</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1"/>
                  </a:ext>
                </a:extLst>
              </a:tr>
              <a:tr h="411480">
                <a:tc>
                  <a:txBody>
                    <a:bodyPr/>
                    <a:lstStyle/>
                    <a:p>
                      <a:pPr algn="ctr" defTabSz="914400">
                        <a:lnSpc>
                          <a:spcPct val="100000"/>
                        </a:lnSpc>
                        <a:tabLst>
                          <a:tab pos="0" algn="l"/>
                        </a:tabLst>
                      </a:pPr>
                      <a:r>
                        <a:rPr lang="en-US" sz="1100" b="0" strike="noStrike" spc="-1">
                          <a:solidFill>
                            <a:srgbClr val="000000"/>
                          </a:solidFill>
                          <a:latin typeface="Calibri"/>
                        </a:rPr>
                        <a:t>2</a:t>
                      </a:r>
                      <a:endParaRPr lang="en-US" sz="11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1100" b="1" strike="noStrike" spc="-1">
                          <a:solidFill>
                            <a:srgbClr val="000000"/>
                          </a:solidFill>
                          <a:latin typeface="Calibri"/>
                        </a:rPr>
                        <a:t>DNS and NTP</a:t>
                      </a:r>
                      <a:endParaRPr lang="en-US" sz="11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333333"/>
                          </a:solidFill>
                          <a:latin typeface="Calibri"/>
                        </a:rPr>
                        <a:t>Configure DNS (8.8.8.8). Verify with dig. Configure NTP (pool.ntp.org). Required for HA clock sync.</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algn="ctr" defTabSz="914400">
                        <a:lnSpc>
                          <a:spcPct val="100000"/>
                        </a:lnSpc>
                        <a:tabLst>
                          <a:tab pos="0" algn="l"/>
                        </a:tabLst>
                      </a:pPr>
                      <a:r>
                        <a:rPr lang="en-US" sz="1000" b="0" strike="noStrike" spc="-1">
                          <a:solidFill>
                            <a:srgbClr val="666666"/>
                          </a:solidFill>
                          <a:latin typeface="Calibri"/>
                        </a:rPr>
                        <a:t>10m</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2"/>
                  </a:ext>
                </a:extLst>
              </a:tr>
              <a:tr h="502920">
                <a:tc>
                  <a:txBody>
                    <a:bodyPr/>
                    <a:lstStyle/>
                    <a:p>
                      <a:pPr algn="ctr" defTabSz="914400">
                        <a:lnSpc>
                          <a:spcPct val="100000"/>
                        </a:lnSpc>
                        <a:tabLst>
                          <a:tab pos="0" algn="l"/>
                        </a:tabLst>
                      </a:pPr>
                      <a:r>
                        <a:rPr lang="en-US" sz="1100" b="0" strike="noStrike" spc="-1">
                          <a:solidFill>
                            <a:srgbClr val="000000"/>
                          </a:solidFill>
                          <a:latin typeface="Calibri"/>
                        </a:rPr>
                        <a:t>3</a:t>
                      </a:r>
                      <a:endParaRPr lang="en-US" sz="11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1100" b="1" strike="noStrike" spc="-1">
                          <a:solidFill>
                            <a:srgbClr val="000000"/>
                          </a:solidFill>
                          <a:latin typeface="Calibri"/>
                        </a:rPr>
                        <a:t>VLAN Tagging</a:t>
                      </a:r>
                      <a:endParaRPr lang="en-US" sz="11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333333"/>
                          </a:solidFill>
                          <a:latin typeface="Calibri"/>
                        </a:rPr>
                        <a:t>Create vlan-30 (tag 30) and vlan-40 (tag 40) on interface 1.3 (Tagged). Create HA-IP 10.1.30.245/24 on vlan-30.</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algn="ctr" defTabSz="914400">
                        <a:lnSpc>
                          <a:spcPct val="100000"/>
                        </a:lnSpc>
                        <a:tabLst>
                          <a:tab pos="0" algn="l"/>
                        </a:tabLst>
                      </a:pPr>
                      <a:r>
                        <a:rPr lang="en-US" sz="1000" b="0" strike="noStrike" spc="-1">
                          <a:solidFill>
                            <a:srgbClr val="666666"/>
                          </a:solidFill>
                          <a:latin typeface="Calibri"/>
                        </a:rPr>
                        <a:t>10m</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1696" name="Shape 8"/>
          <p:cNvSpPr/>
          <p:nvPr/>
        </p:nvSpPr>
        <p:spPr>
          <a:xfrm>
            <a:off x="365760" y="2651760"/>
            <a:ext cx="8412120" cy="411120"/>
          </a:xfrm>
          <a:prstGeom prst="rect">
            <a:avLst/>
          </a:prstGeom>
          <a:solidFill>
            <a:srgbClr val="FFF3E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697" name="Text 9"/>
          <p:cNvSpPr/>
          <p:nvPr/>
        </p:nvSpPr>
        <p:spPr>
          <a:xfrm>
            <a:off x="548640" y="2651760"/>
            <a:ext cx="80463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strike="noStrike" spc="-1">
                <a:solidFill>
                  <a:srgbClr val="F29A36"/>
                </a:solidFill>
                <a:latin typeface="Calibri"/>
                <a:ea typeface="Calibri"/>
              </a:rPr>
              <a:t>Activity 3 prepares for Lab 10 (HA): </a:t>
            </a:r>
            <a:r>
              <a:rPr lang="en-US" sz="900" b="0" strike="noStrike" spc="-1">
                <a:solidFill>
                  <a:srgbClr val="7A4500"/>
                </a:solidFill>
                <a:latin typeface="Calibri"/>
                <a:ea typeface="Calibri"/>
              </a:rPr>
              <a:t>The HA-IP on vlan-30 is used for config sync and failover in the DSC lab. Ensure the interface is in the Tagged box, not Untagged.</a:t>
            </a:r>
            <a:endParaRPr lang="en-US" sz="900" b="0" strike="noStrike" spc="-1">
              <a:solidFill>
                <a:srgbClr val="000000"/>
              </a:solidFill>
              <a:latin typeface="Arial"/>
            </a:endParaRPr>
          </a:p>
        </p:txBody>
      </p:sp>
      <p:sp>
        <p:nvSpPr>
          <p:cNvPr id="1698" name="Shape 10"/>
          <p:cNvSpPr/>
          <p:nvPr/>
        </p:nvSpPr>
        <p:spPr>
          <a:xfrm>
            <a:off x="365760" y="3154680"/>
            <a:ext cx="8412120" cy="411120"/>
          </a:xfrm>
          <a:prstGeom prst="rect">
            <a:avLst/>
          </a:prstGeom>
          <a:solidFill>
            <a:srgbClr val="E8F0F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699" name="Text 11"/>
          <p:cNvSpPr/>
          <p:nvPr/>
        </p:nvSpPr>
        <p:spPr>
          <a:xfrm>
            <a:off x="548640" y="3154680"/>
            <a:ext cx="80463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strike="noStrike" spc="-1">
                <a:solidFill>
                  <a:srgbClr val="0E41AA"/>
                </a:solidFill>
                <a:latin typeface="Calibri"/>
                <a:ea typeface="Calibri"/>
              </a:rPr>
              <a:t>NTP is critical for HA: </a:t>
            </a:r>
            <a:r>
              <a:rPr lang="en-US" sz="900" b="0" strike="noStrike" spc="-1">
                <a:solidFill>
                  <a:srgbClr val="1A3A6C"/>
                </a:solidFill>
                <a:latin typeface="Calibri"/>
                <a:ea typeface="Calibri"/>
              </a:rPr>
              <a:t>DSC requires synchronized clocks. Clock skew &gt; a few minutes breaks config sync and certificate validation. Always configure NTP before building device trust.</a:t>
            </a:r>
            <a:endParaRPr lang="en-US" sz="900" b="0" strike="noStrike" spc="-1">
              <a:solidFill>
                <a:srgbClr val="000000"/>
              </a:solidFill>
              <a:latin typeface="Arial"/>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00"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701"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702"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703"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704"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705"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75    © 2026 F5</a:t>
            </a:r>
            <a:endParaRPr lang="en-US" sz="800" b="0" strike="noStrike" spc="-1">
              <a:solidFill>
                <a:srgbClr val="000000"/>
              </a:solidFill>
              <a:latin typeface="Arial"/>
            </a:endParaRPr>
          </a:p>
        </p:txBody>
      </p:sp>
      <p:pic>
        <p:nvPicPr>
          <p:cNvPr id="1706" name="Image 0" descr="preencoded.png"/>
          <p:cNvPicPr/>
          <p:nvPr/>
        </p:nvPicPr>
        <p:blipFill>
          <a:blip r:embed="rId3"/>
          <a:stretch/>
        </p:blipFill>
        <p:spPr>
          <a:xfrm>
            <a:off x="8458200" y="4663440"/>
            <a:ext cx="383760" cy="383760"/>
          </a:xfrm>
          <a:prstGeom prst="rect">
            <a:avLst/>
          </a:prstGeom>
          <a:ln w="0">
            <a:noFill/>
          </a:ln>
        </p:spPr>
      </p:pic>
      <p:sp>
        <p:nvSpPr>
          <p:cNvPr id="1707" name="Text 6"/>
          <p:cNvSpPr/>
          <p:nvPr/>
        </p:nvSpPr>
        <p:spPr>
          <a:xfrm>
            <a:off x="457200" y="274320"/>
            <a:ext cx="82292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Exam checkpoints</a:t>
            </a:r>
            <a:endParaRPr lang="en-US" sz="2800" b="0" strike="noStrike" spc="-1">
              <a:solidFill>
                <a:srgbClr val="000000"/>
              </a:solidFill>
              <a:latin typeface="Arial"/>
            </a:endParaRPr>
          </a:p>
        </p:txBody>
      </p:sp>
      <p:sp>
        <p:nvSpPr>
          <p:cNvPr id="1708" name="Shape 7"/>
          <p:cNvSpPr/>
          <p:nvPr/>
        </p:nvSpPr>
        <p:spPr>
          <a:xfrm>
            <a:off x="457200" y="868680"/>
            <a:ext cx="411120" cy="25560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709" name="Text 8"/>
          <p:cNvSpPr/>
          <p:nvPr/>
        </p:nvSpPr>
        <p:spPr>
          <a:xfrm>
            <a:off x="457200" y="868680"/>
            <a:ext cx="41112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rgbClr val="FFFFFF"/>
                </a:solidFill>
                <a:latin typeface="Arial"/>
                <a:ea typeface="Arial"/>
              </a:rPr>
              <a:t>Q1</a:t>
            </a:r>
            <a:endParaRPr lang="en-US" sz="1100" b="0" strike="noStrike" spc="-1">
              <a:solidFill>
                <a:srgbClr val="000000"/>
              </a:solidFill>
              <a:latin typeface="Arial"/>
            </a:endParaRPr>
          </a:p>
        </p:txBody>
      </p:sp>
      <p:sp>
        <p:nvSpPr>
          <p:cNvPr id="1710" name="Shape 9"/>
          <p:cNvSpPr/>
          <p:nvPr/>
        </p:nvSpPr>
        <p:spPr>
          <a:xfrm>
            <a:off x="960120" y="868680"/>
            <a:ext cx="365400" cy="25560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711" name="Text 10"/>
          <p:cNvSpPr/>
          <p:nvPr/>
        </p:nvSpPr>
        <p:spPr>
          <a:xfrm>
            <a:off x="960120" y="868680"/>
            <a:ext cx="3654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00" b="1" strike="noStrike" spc="-1">
                <a:solidFill>
                  <a:srgbClr val="009639"/>
                </a:solidFill>
                <a:latin typeface="Calibri"/>
              </a:rPr>
              <a:t>U/A</a:t>
            </a:r>
            <a:endParaRPr lang="en-US" sz="800" b="0" strike="noStrike" spc="-1">
              <a:solidFill>
                <a:srgbClr val="000000"/>
              </a:solidFill>
              <a:latin typeface="Arial"/>
            </a:endParaRPr>
          </a:p>
        </p:txBody>
      </p:sp>
      <p:sp>
        <p:nvSpPr>
          <p:cNvPr id="1712" name="Text 11"/>
          <p:cNvSpPr/>
          <p:nvPr/>
        </p:nvSpPr>
        <p:spPr>
          <a:xfrm>
            <a:off x="1417320" y="868680"/>
            <a:ext cx="740628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333333"/>
                </a:solidFill>
                <a:latin typeface="Calibri"/>
                <a:ea typeface="Calibri"/>
              </a:rPr>
              <a:t>Self IP 10.1.10.245 responds to ping but SSH fails. What port lockdown setting is configured, and what TMSH command changes it to allow SSH?</a:t>
            </a:r>
            <a:endParaRPr lang="en-US" sz="1000" b="0" strike="noStrike" spc="-1">
              <a:solidFill>
                <a:srgbClr val="000000"/>
              </a:solidFill>
              <a:latin typeface="Arial"/>
            </a:endParaRPr>
          </a:p>
        </p:txBody>
      </p:sp>
      <p:sp>
        <p:nvSpPr>
          <p:cNvPr id="1713" name="Shape 12"/>
          <p:cNvSpPr/>
          <p:nvPr/>
        </p:nvSpPr>
        <p:spPr>
          <a:xfrm>
            <a:off x="457200" y="1737360"/>
            <a:ext cx="411120" cy="25560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714" name="Text 13"/>
          <p:cNvSpPr/>
          <p:nvPr/>
        </p:nvSpPr>
        <p:spPr>
          <a:xfrm>
            <a:off x="457200" y="1737360"/>
            <a:ext cx="41112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rgbClr val="FFFFFF"/>
                </a:solidFill>
                <a:latin typeface="Arial"/>
                <a:ea typeface="Arial"/>
              </a:rPr>
              <a:t>Q2</a:t>
            </a:r>
            <a:endParaRPr lang="en-US" sz="1100" b="0" strike="noStrike" spc="-1">
              <a:solidFill>
                <a:srgbClr val="000000"/>
              </a:solidFill>
              <a:latin typeface="Arial"/>
            </a:endParaRPr>
          </a:p>
        </p:txBody>
      </p:sp>
      <p:sp>
        <p:nvSpPr>
          <p:cNvPr id="1715" name="Shape 14"/>
          <p:cNvSpPr/>
          <p:nvPr/>
        </p:nvSpPr>
        <p:spPr>
          <a:xfrm>
            <a:off x="960120" y="1737360"/>
            <a:ext cx="365400" cy="25560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716" name="Text 15"/>
          <p:cNvSpPr/>
          <p:nvPr/>
        </p:nvSpPr>
        <p:spPr>
          <a:xfrm>
            <a:off x="960120" y="1737360"/>
            <a:ext cx="3654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00" b="1" strike="noStrike" spc="-1">
                <a:solidFill>
                  <a:srgbClr val="009639"/>
                </a:solidFill>
                <a:latin typeface="Calibri"/>
              </a:rPr>
              <a:t>U/A</a:t>
            </a:r>
            <a:endParaRPr lang="en-US" sz="800" b="0" strike="noStrike" spc="-1">
              <a:solidFill>
                <a:srgbClr val="000000"/>
              </a:solidFill>
              <a:latin typeface="Arial"/>
            </a:endParaRPr>
          </a:p>
        </p:txBody>
      </p:sp>
      <p:sp>
        <p:nvSpPr>
          <p:cNvPr id="1717" name="Text 16"/>
          <p:cNvSpPr/>
          <p:nvPr/>
        </p:nvSpPr>
        <p:spPr>
          <a:xfrm>
            <a:off x="1417320" y="1737360"/>
            <a:ext cx="740628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333333"/>
                </a:solidFill>
                <a:latin typeface="Calibri"/>
                <a:ea typeface="Calibri"/>
              </a:rPr>
              <a:t>You're building a DSC pair. The HA self IP has port lockdown None. Config sync fails. What TMSH command fixes it, and which specific ports are required?</a:t>
            </a:r>
            <a:endParaRPr lang="en-US" sz="1000" b="0" strike="noStrike" spc="-1">
              <a:solidFill>
                <a:srgbClr val="000000"/>
              </a:solidFill>
              <a:latin typeface="Arial"/>
            </a:endParaRPr>
          </a:p>
        </p:txBody>
      </p:sp>
      <p:sp>
        <p:nvSpPr>
          <p:cNvPr id="1718" name="Shape 17"/>
          <p:cNvSpPr/>
          <p:nvPr/>
        </p:nvSpPr>
        <p:spPr>
          <a:xfrm>
            <a:off x="457200" y="2606040"/>
            <a:ext cx="411120" cy="25560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719" name="Text 18"/>
          <p:cNvSpPr/>
          <p:nvPr/>
        </p:nvSpPr>
        <p:spPr>
          <a:xfrm>
            <a:off x="457200" y="2606040"/>
            <a:ext cx="41112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rgbClr val="FFFFFF"/>
                </a:solidFill>
                <a:latin typeface="Arial"/>
                <a:ea typeface="Arial"/>
              </a:rPr>
              <a:t>Q3</a:t>
            </a:r>
            <a:endParaRPr lang="en-US" sz="1100" b="0" strike="noStrike" spc="-1">
              <a:solidFill>
                <a:srgbClr val="000000"/>
              </a:solidFill>
              <a:latin typeface="Arial"/>
            </a:endParaRPr>
          </a:p>
        </p:txBody>
      </p:sp>
      <p:sp>
        <p:nvSpPr>
          <p:cNvPr id="1720" name="Shape 19"/>
          <p:cNvSpPr/>
          <p:nvPr/>
        </p:nvSpPr>
        <p:spPr>
          <a:xfrm>
            <a:off x="960120" y="2606040"/>
            <a:ext cx="365400" cy="25560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721" name="Text 20"/>
          <p:cNvSpPr/>
          <p:nvPr/>
        </p:nvSpPr>
        <p:spPr>
          <a:xfrm>
            <a:off x="960120" y="2606040"/>
            <a:ext cx="3654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00" b="1" strike="noStrike" spc="-1">
                <a:solidFill>
                  <a:srgbClr val="009639"/>
                </a:solidFill>
                <a:latin typeface="Calibri"/>
              </a:rPr>
              <a:t>U/A</a:t>
            </a:r>
            <a:endParaRPr lang="en-US" sz="800" b="0" strike="noStrike" spc="-1">
              <a:solidFill>
                <a:srgbClr val="000000"/>
              </a:solidFill>
              <a:latin typeface="Arial"/>
            </a:endParaRPr>
          </a:p>
        </p:txBody>
      </p:sp>
      <p:sp>
        <p:nvSpPr>
          <p:cNvPr id="1722" name="Text 21"/>
          <p:cNvSpPr/>
          <p:nvPr/>
        </p:nvSpPr>
        <p:spPr>
          <a:xfrm>
            <a:off x="1417320" y="2606040"/>
            <a:ext cx="740628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333333"/>
                </a:solidFill>
                <a:latin typeface="Calibri"/>
                <a:ea typeface="Calibri"/>
              </a:rPr>
              <a:t>Two tenants use 10.10.10.0/24 for their servers. How do you deploy both on one BIG-IP? What notation distinguishes the addresses?</a:t>
            </a:r>
            <a:endParaRPr lang="en-US" sz="1000" b="0" strike="noStrike" spc="-1">
              <a:solidFill>
                <a:srgbClr val="000000"/>
              </a:solidFill>
              <a:latin typeface="Arial"/>
            </a:endParaRPr>
          </a:p>
        </p:txBody>
      </p:sp>
      <p:sp>
        <p:nvSpPr>
          <p:cNvPr id="1723" name="Shape 22"/>
          <p:cNvSpPr/>
          <p:nvPr/>
        </p:nvSpPr>
        <p:spPr>
          <a:xfrm>
            <a:off x="457200" y="3474720"/>
            <a:ext cx="411120" cy="25560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724" name="Text 23"/>
          <p:cNvSpPr/>
          <p:nvPr/>
        </p:nvSpPr>
        <p:spPr>
          <a:xfrm>
            <a:off x="457200" y="3474720"/>
            <a:ext cx="41112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rgbClr val="FFFFFF"/>
                </a:solidFill>
                <a:latin typeface="Arial"/>
                <a:ea typeface="Arial"/>
              </a:rPr>
              <a:t>Q4</a:t>
            </a:r>
            <a:endParaRPr lang="en-US" sz="1100" b="0" strike="noStrike" spc="-1">
              <a:solidFill>
                <a:srgbClr val="000000"/>
              </a:solidFill>
              <a:latin typeface="Arial"/>
            </a:endParaRPr>
          </a:p>
        </p:txBody>
      </p:sp>
      <p:sp>
        <p:nvSpPr>
          <p:cNvPr id="1725" name="Shape 24"/>
          <p:cNvSpPr/>
          <p:nvPr/>
        </p:nvSpPr>
        <p:spPr>
          <a:xfrm>
            <a:off x="960120" y="3474720"/>
            <a:ext cx="365400" cy="25560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726" name="Text 25"/>
          <p:cNvSpPr/>
          <p:nvPr/>
        </p:nvSpPr>
        <p:spPr>
          <a:xfrm>
            <a:off x="960120" y="3474720"/>
            <a:ext cx="3654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00" b="1" strike="noStrike" spc="-1">
                <a:solidFill>
                  <a:srgbClr val="009639"/>
                </a:solidFill>
                <a:latin typeface="Calibri"/>
              </a:rPr>
              <a:t>U/A</a:t>
            </a:r>
            <a:endParaRPr lang="en-US" sz="800" b="0" strike="noStrike" spc="-1">
              <a:solidFill>
                <a:srgbClr val="000000"/>
              </a:solidFill>
              <a:latin typeface="Arial"/>
            </a:endParaRPr>
          </a:p>
        </p:txBody>
      </p:sp>
      <p:sp>
        <p:nvSpPr>
          <p:cNvPr id="1727" name="Text 26"/>
          <p:cNvSpPr/>
          <p:nvPr/>
        </p:nvSpPr>
        <p:spPr>
          <a:xfrm>
            <a:off x="1417320" y="3474720"/>
            <a:ext cx="740628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333333"/>
                </a:solidFill>
                <a:latin typeface="Calibri"/>
                <a:ea typeface="Calibri"/>
              </a:rPr>
              <a:t>You add a route in Network &gt; Routes for 10.1.20.0/24. SSH to the management IP can't reach 10.1.20.0/24. Why?</a:t>
            </a:r>
            <a:endParaRPr lang="en-US" sz="1000" b="0" strike="noStrike" spc="-1">
              <a:solidFill>
                <a:srgbClr val="000000"/>
              </a:solidFill>
              <a:latin typeface="Arial"/>
            </a:endParaRPr>
          </a:p>
        </p:txBody>
      </p:sp>
      <p:sp>
        <p:nvSpPr>
          <p:cNvPr id="1728" name="Shape 27"/>
          <p:cNvSpPr/>
          <p:nvPr/>
        </p:nvSpPr>
        <p:spPr>
          <a:xfrm>
            <a:off x="365760" y="4343400"/>
            <a:ext cx="8412120" cy="273960"/>
          </a:xfrm>
          <a:prstGeom prst="rect">
            <a:avLst/>
          </a:prstGeom>
          <a:solidFill>
            <a:srgbClr val="E8F5E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729" name="Text 28"/>
          <p:cNvSpPr/>
          <p:nvPr/>
        </p:nvSpPr>
        <p:spPr>
          <a:xfrm>
            <a:off x="548640" y="4343400"/>
            <a:ext cx="80463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strike="noStrike" spc="-1">
                <a:solidFill>
                  <a:srgbClr val="1B5E20"/>
                </a:solidFill>
                <a:latin typeface="Calibri"/>
                <a:ea typeface="Calibri"/>
              </a:rPr>
              <a:t>Port lockdown: None (ICMP only) → Allow Defaults (SSH+GUI+HA) → Allow Custom (specific ports) → Allow All (everything, never in prod)</a:t>
            </a:r>
            <a:endParaRPr lang="en-US" sz="900" b="0" strike="noStrike" spc="-1">
              <a:solidFill>
                <a:srgbClr val="000000"/>
              </a:solidFill>
              <a:latin typeface="Arial"/>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30"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731"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732"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733"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734"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735"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76    © 2026 F5</a:t>
            </a:r>
            <a:endParaRPr lang="en-US" sz="800" b="0" strike="noStrike" spc="-1">
              <a:solidFill>
                <a:srgbClr val="000000"/>
              </a:solidFill>
              <a:latin typeface="Arial"/>
            </a:endParaRPr>
          </a:p>
        </p:txBody>
      </p:sp>
      <p:pic>
        <p:nvPicPr>
          <p:cNvPr id="1736" name="Image 0" descr="preencoded.png"/>
          <p:cNvPicPr/>
          <p:nvPr/>
        </p:nvPicPr>
        <p:blipFill>
          <a:blip r:embed="rId3"/>
          <a:stretch/>
        </p:blipFill>
        <p:spPr>
          <a:xfrm>
            <a:off x="8458200" y="4663440"/>
            <a:ext cx="383760" cy="383760"/>
          </a:xfrm>
          <a:prstGeom prst="rect">
            <a:avLst/>
          </a:prstGeom>
          <a:ln w="0">
            <a:noFill/>
          </a:ln>
        </p:spPr>
      </p:pic>
      <p:sp>
        <p:nvSpPr>
          <p:cNvPr id="1737" name="Text 6"/>
          <p:cNvSpPr/>
          <p:nvPr/>
        </p:nvSpPr>
        <p:spPr>
          <a:xfrm>
            <a:off x="457200" y="274320"/>
            <a:ext cx="82292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Exam checkpoints (continued)</a:t>
            </a:r>
            <a:endParaRPr lang="en-US" sz="2800" b="0" strike="noStrike" spc="-1">
              <a:solidFill>
                <a:srgbClr val="000000"/>
              </a:solidFill>
              <a:latin typeface="Arial"/>
            </a:endParaRPr>
          </a:p>
        </p:txBody>
      </p:sp>
      <p:sp>
        <p:nvSpPr>
          <p:cNvPr id="1738" name="Shape 7"/>
          <p:cNvSpPr/>
          <p:nvPr/>
        </p:nvSpPr>
        <p:spPr>
          <a:xfrm>
            <a:off x="457200" y="914400"/>
            <a:ext cx="411120" cy="25560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739" name="Text 8"/>
          <p:cNvSpPr/>
          <p:nvPr/>
        </p:nvSpPr>
        <p:spPr>
          <a:xfrm>
            <a:off x="457200" y="914400"/>
            <a:ext cx="41112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rgbClr val="FFFFFF"/>
                </a:solidFill>
                <a:latin typeface="Arial"/>
                <a:ea typeface="Arial"/>
              </a:rPr>
              <a:t>Q5</a:t>
            </a:r>
            <a:endParaRPr lang="en-US" sz="1100" b="0" strike="noStrike" spc="-1">
              <a:solidFill>
                <a:srgbClr val="000000"/>
              </a:solidFill>
              <a:latin typeface="Arial"/>
            </a:endParaRPr>
          </a:p>
        </p:txBody>
      </p:sp>
      <p:sp>
        <p:nvSpPr>
          <p:cNvPr id="1740" name="Shape 9"/>
          <p:cNvSpPr/>
          <p:nvPr/>
        </p:nvSpPr>
        <p:spPr>
          <a:xfrm>
            <a:off x="960120" y="914400"/>
            <a:ext cx="365400" cy="25560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741" name="Text 10"/>
          <p:cNvSpPr/>
          <p:nvPr/>
        </p:nvSpPr>
        <p:spPr>
          <a:xfrm>
            <a:off x="960120" y="914400"/>
            <a:ext cx="3654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00" b="1" strike="noStrike" spc="-1">
                <a:solidFill>
                  <a:srgbClr val="009639"/>
                </a:solidFill>
                <a:latin typeface="Calibri"/>
              </a:rPr>
              <a:t>U/A</a:t>
            </a:r>
            <a:endParaRPr lang="en-US" sz="800" b="0" strike="noStrike" spc="-1">
              <a:solidFill>
                <a:srgbClr val="000000"/>
              </a:solidFill>
              <a:latin typeface="Arial"/>
            </a:endParaRPr>
          </a:p>
        </p:txBody>
      </p:sp>
      <p:sp>
        <p:nvSpPr>
          <p:cNvPr id="1742" name="Text 11"/>
          <p:cNvSpPr/>
          <p:nvPr/>
        </p:nvSpPr>
        <p:spPr>
          <a:xfrm>
            <a:off x="1417320" y="914400"/>
            <a:ext cx="740628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strike="noStrike" spc="-1">
                <a:solidFill>
                  <a:srgbClr val="333333"/>
                </a:solidFill>
                <a:latin typeface="Calibri"/>
                <a:ea typeface="Calibri"/>
              </a:rPr>
              <a:t>What does 'strict' mode on a route domain do? When would you disable it?</a:t>
            </a:r>
            <a:endParaRPr lang="en-US" sz="1100" b="0" strike="noStrike" spc="-1">
              <a:solidFill>
                <a:srgbClr val="000000"/>
              </a:solidFill>
              <a:latin typeface="Arial"/>
            </a:endParaRPr>
          </a:p>
        </p:txBody>
      </p:sp>
      <p:sp>
        <p:nvSpPr>
          <p:cNvPr id="1743" name="Shape 12"/>
          <p:cNvSpPr/>
          <p:nvPr/>
        </p:nvSpPr>
        <p:spPr>
          <a:xfrm>
            <a:off x="457200" y="2194560"/>
            <a:ext cx="411120" cy="25560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744" name="Text 13"/>
          <p:cNvSpPr/>
          <p:nvPr/>
        </p:nvSpPr>
        <p:spPr>
          <a:xfrm>
            <a:off x="457200" y="2194560"/>
            <a:ext cx="41112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rgbClr val="FFFFFF"/>
                </a:solidFill>
                <a:latin typeface="Arial"/>
                <a:ea typeface="Arial"/>
              </a:rPr>
              <a:t>Q6</a:t>
            </a:r>
            <a:endParaRPr lang="en-US" sz="1100" b="0" strike="noStrike" spc="-1">
              <a:solidFill>
                <a:srgbClr val="000000"/>
              </a:solidFill>
              <a:latin typeface="Arial"/>
            </a:endParaRPr>
          </a:p>
        </p:txBody>
      </p:sp>
      <p:sp>
        <p:nvSpPr>
          <p:cNvPr id="1745" name="Shape 14"/>
          <p:cNvSpPr/>
          <p:nvPr/>
        </p:nvSpPr>
        <p:spPr>
          <a:xfrm>
            <a:off x="960120" y="2194560"/>
            <a:ext cx="365400" cy="25560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746" name="Text 15"/>
          <p:cNvSpPr/>
          <p:nvPr/>
        </p:nvSpPr>
        <p:spPr>
          <a:xfrm>
            <a:off x="960120" y="2194560"/>
            <a:ext cx="3654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00" b="1" strike="noStrike" spc="-1">
                <a:solidFill>
                  <a:srgbClr val="009639"/>
                </a:solidFill>
                <a:latin typeface="Calibri"/>
              </a:rPr>
              <a:t>U/A</a:t>
            </a:r>
            <a:endParaRPr lang="en-US" sz="800" b="0" strike="noStrike" spc="-1">
              <a:solidFill>
                <a:srgbClr val="000000"/>
              </a:solidFill>
              <a:latin typeface="Arial"/>
            </a:endParaRPr>
          </a:p>
        </p:txBody>
      </p:sp>
      <p:sp>
        <p:nvSpPr>
          <p:cNvPr id="1747" name="Text 16"/>
          <p:cNvSpPr/>
          <p:nvPr/>
        </p:nvSpPr>
        <p:spPr>
          <a:xfrm>
            <a:off x="1417320" y="2194560"/>
            <a:ext cx="740628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strike="noStrike" spc="-1">
                <a:solidFill>
                  <a:srgbClr val="333333"/>
                </a:solidFill>
                <a:latin typeface="Calibri"/>
                <a:ea typeface="Calibri"/>
              </a:rPr>
              <a:t>What is the difference between a floating self IP and a non-floating self IP? Which one should servers use as their default gateway?</a:t>
            </a:r>
            <a:endParaRPr lang="en-US" sz="1100" b="0" strike="noStrike" spc="-1">
              <a:solidFill>
                <a:srgbClr val="000000"/>
              </a:solidFill>
              <a:latin typeface="Arial"/>
            </a:endParaRPr>
          </a:p>
        </p:txBody>
      </p:sp>
      <p:sp>
        <p:nvSpPr>
          <p:cNvPr id="1748" name="Shape 17"/>
          <p:cNvSpPr/>
          <p:nvPr/>
        </p:nvSpPr>
        <p:spPr>
          <a:xfrm>
            <a:off x="365760" y="3474720"/>
            <a:ext cx="8412120" cy="1096920"/>
          </a:xfrm>
          <a:prstGeom prst="rect">
            <a:avLst/>
          </a:prstGeom>
          <a:solidFill>
            <a:srgbClr val="E8F5E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749" name="Text 18"/>
          <p:cNvSpPr/>
          <p:nvPr/>
        </p:nvSpPr>
        <p:spPr>
          <a:xfrm>
            <a:off x="548640" y="3493080"/>
            <a:ext cx="8046360" cy="1060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1" strike="noStrike" spc="-1">
                <a:solidFill>
                  <a:srgbClr val="009639"/>
                </a:solidFill>
                <a:latin typeface="Calibri"/>
              </a:rPr>
              <a:t>Networking quick reference</a:t>
            </a:r>
            <a:endParaRPr lang="en-US" sz="1300" b="0" strike="noStrike" spc="-1">
              <a:solidFill>
                <a:srgbClr val="000000"/>
              </a:solidFill>
              <a:latin typeface="Arial"/>
            </a:endParaRPr>
          </a:p>
          <a:p>
            <a:pPr defTabSz="914400">
              <a:lnSpc>
                <a:spcPct val="100000"/>
              </a:lnSpc>
              <a:tabLst>
                <a:tab pos="0" algn="l"/>
              </a:tabLst>
            </a:pPr>
            <a:r>
              <a:rPr lang="en-US" sz="950" b="0" strike="noStrike" spc="-1">
                <a:solidFill>
                  <a:srgbClr val="1B5E20"/>
                </a:solidFill>
                <a:latin typeface="Calibri"/>
                <a:ea typeface="Calibri"/>
              </a:rPr>
              <a:t>Port lockdown: None (default, ICMP only) → Allow Defaults (admin + HA) → Allow Custom → Allow All</a:t>
            </a:r>
            <a:endParaRPr lang="en-US" sz="950" b="0" strike="noStrike" spc="-1">
              <a:solidFill>
                <a:srgbClr val="000000"/>
              </a:solidFill>
              <a:latin typeface="Arial"/>
            </a:endParaRPr>
          </a:p>
          <a:p>
            <a:pPr defTabSz="914400">
              <a:lnSpc>
                <a:spcPct val="100000"/>
              </a:lnSpc>
              <a:tabLst>
                <a:tab pos="0" algn="l"/>
              </a:tabLst>
            </a:pPr>
            <a:r>
              <a:rPr lang="en-US" sz="950" b="0" strike="noStrike" spc="-1">
                <a:solidFill>
                  <a:srgbClr val="1B5E20"/>
                </a:solidFill>
                <a:latin typeface="Calibri"/>
                <a:ea typeface="Calibri"/>
              </a:rPr>
              <a:t>Self IP: Floating (HA, moves with failover) vs non-floating (device-specific)</a:t>
            </a:r>
            <a:endParaRPr lang="en-US" sz="950" b="0" strike="noStrike" spc="-1">
              <a:solidFill>
                <a:srgbClr val="000000"/>
              </a:solidFill>
              <a:latin typeface="Arial"/>
            </a:endParaRPr>
          </a:p>
          <a:p>
            <a:pPr defTabSz="914400">
              <a:lnSpc>
                <a:spcPct val="100000"/>
              </a:lnSpc>
              <a:tabLst>
                <a:tab pos="0" algn="l"/>
              </a:tabLst>
            </a:pPr>
            <a:r>
              <a:rPr lang="en-US" sz="950" b="0" strike="noStrike" spc="-1">
                <a:solidFill>
                  <a:srgbClr val="1B5E20"/>
                </a:solidFill>
                <a:latin typeface="Calibri"/>
                <a:ea typeface="Calibri"/>
              </a:rPr>
              <a:t>VLAN: Tagged (802.1Q, multiple per interface) vs untagged (one per interface)</a:t>
            </a:r>
            <a:endParaRPr lang="en-US" sz="950" b="0" strike="noStrike" spc="-1">
              <a:solidFill>
                <a:srgbClr val="000000"/>
              </a:solidFill>
              <a:latin typeface="Arial"/>
            </a:endParaRPr>
          </a:p>
          <a:p>
            <a:pPr defTabSz="914400">
              <a:lnSpc>
                <a:spcPct val="100000"/>
              </a:lnSpc>
              <a:tabLst>
                <a:tab pos="0" algn="l"/>
              </a:tabLst>
            </a:pPr>
            <a:r>
              <a:rPr lang="en-US" sz="950" b="0" strike="noStrike" spc="-1">
                <a:solidFill>
                  <a:srgbClr val="1B5E20"/>
                </a:solidFill>
                <a:latin typeface="Calibri"/>
                <a:ea typeface="Calibri"/>
              </a:rPr>
              <a:t>Routes: TMM (Network &gt; Routes) and management (System &gt; Platform) are SEPARATE</a:t>
            </a:r>
            <a:endParaRPr lang="en-US" sz="950" b="0" strike="noStrike" spc="-1">
              <a:solidFill>
                <a:srgbClr val="000000"/>
              </a:solidFill>
              <a:latin typeface="Arial"/>
            </a:endParaRPr>
          </a:p>
          <a:p>
            <a:pPr defTabSz="914400">
              <a:lnSpc>
                <a:spcPct val="100000"/>
              </a:lnSpc>
              <a:tabLst>
                <a:tab pos="0" algn="l"/>
              </a:tabLst>
            </a:pPr>
            <a:r>
              <a:rPr lang="en-US" sz="950" b="0" strike="noStrike" spc="-1">
                <a:solidFill>
                  <a:srgbClr val="1B5E20"/>
                </a:solidFill>
                <a:latin typeface="Calibri"/>
                <a:ea typeface="Calibri"/>
              </a:rPr>
              <a:t>Route domain: %RD notation for overlapping IPs. RD0 = default. Strict = no cross-domain traffic.</a:t>
            </a:r>
            <a:endParaRPr lang="en-US" sz="950" b="0" strike="noStrike" spc="-1">
              <a:solidFill>
                <a:srgbClr val="000000"/>
              </a:solidFill>
              <a:latin typeface="Arial"/>
            </a:endParaRPr>
          </a:p>
          <a:p>
            <a:pPr defTabSz="914400">
              <a:lnSpc>
                <a:spcPct val="100000"/>
              </a:lnSpc>
              <a:tabLst>
                <a:tab pos="0" algn="l"/>
              </a:tabLst>
            </a:pPr>
            <a:r>
              <a:rPr lang="en-US" sz="950" b="0" strike="noStrike" spc="-1">
                <a:solidFill>
                  <a:srgbClr val="1B5E20"/>
                </a:solidFill>
                <a:latin typeface="Calibri"/>
                <a:ea typeface="Calibri"/>
              </a:rPr>
              <a:t>HA minimum ports: TCP 4353 (ConfigSync) + UDP 1026 (failover heartbeat)</a:t>
            </a:r>
            <a:endParaRPr lang="en-US" sz="950" b="0" strike="noStrike" spc="-1">
              <a:solidFill>
                <a:srgbClr val="000000"/>
              </a:solidFill>
              <a:latin typeface="Arial"/>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50"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751"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752"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753"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754"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755"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77    © 2026 F5</a:t>
            </a:r>
            <a:endParaRPr lang="en-US" sz="800" b="0" strike="noStrike" spc="-1">
              <a:solidFill>
                <a:srgbClr val="000000"/>
              </a:solidFill>
              <a:latin typeface="Arial"/>
            </a:endParaRPr>
          </a:p>
        </p:txBody>
      </p:sp>
      <p:pic>
        <p:nvPicPr>
          <p:cNvPr id="1756" name="Image 0" descr="preencoded.png"/>
          <p:cNvPicPr/>
          <p:nvPr/>
        </p:nvPicPr>
        <p:blipFill>
          <a:blip r:embed="rId3"/>
          <a:stretch/>
        </p:blipFill>
        <p:spPr>
          <a:xfrm>
            <a:off x="8458200" y="4663440"/>
            <a:ext cx="383760" cy="383760"/>
          </a:xfrm>
          <a:prstGeom prst="rect">
            <a:avLst/>
          </a:prstGeom>
          <a:ln w="0">
            <a:noFill/>
          </a:ln>
        </p:spPr>
      </p:pic>
      <p:sp>
        <p:nvSpPr>
          <p:cNvPr id="1757" name="Text 6"/>
          <p:cNvSpPr/>
          <p:nvPr/>
        </p:nvSpPr>
        <p:spPr>
          <a:xfrm>
            <a:off x="457200" y="274320"/>
            <a:ext cx="82292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Networking TMSH reference</a:t>
            </a:r>
            <a:endParaRPr lang="en-US" sz="2800" b="0" strike="noStrike" spc="-1">
              <a:solidFill>
                <a:srgbClr val="000000"/>
              </a:solidFill>
              <a:latin typeface="Arial"/>
            </a:endParaRPr>
          </a:p>
        </p:txBody>
      </p:sp>
      <p:graphicFrame>
        <p:nvGraphicFramePr>
          <p:cNvPr id="1758" name="Table 0"/>
          <p:cNvGraphicFramePr/>
          <p:nvPr/>
        </p:nvGraphicFramePr>
        <p:xfrm>
          <a:off x="365760" y="777240"/>
          <a:ext cx="8412480" cy="2971800"/>
        </p:xfrm>
        <a:graphic>
          <a:graphicData uri="http://schemas.openxmlformats.org/drawingml/2006/table">
            <a:tbl>
              <a:tblPr/>
              <a:tblGrid>
                <a:gridCol w="1645920">
                  <a:extLst>
                    <a:ext uri="{9D8B030D-6E8A-4147-A177-3AD203B41FA5}">
                      <a16:colId xmlns:a16="http://schemas.microsoft.com/office/drawing/2014/main" val="20000"/>
                    </a:ext>
                  </a:extLst>
                </a:gridCol>
                <a:gridCol w="6766560">
                  <a:extLst>
                    <a:ext uri="{9D8B030D-6E8A-4147-A177-3AD203B41FA5}">
                      <a16:colId xmlns:a16="http://schemas.microsoft.com/office/drawing/2014/main" val="20001"/>
                    </a:ext>
                  </a:extLst>
                </a:gridCol>
              </a:tblGrid>
              <a:tr h="0">
                <a:tc>
                  <a:txBody>
                    <a:bodyPr/>
                    <a:lstStyle/>
                    <a:p>
                      <a:pPr defTabSz="914400">
                        <a:lnSpc>
                          <a:spcPct val="100000"/>
                        </a:lnSpc>
                        <a:tabLst>
                          <a:tab pos="0" algn="l"/>
                        </a:tabLst>
                      </a:pPr>
                      <a:r>
                        <a:rPr lang="en-US" sz="900" b="1" strike="noStrike" spc="-1">
                          <a:solidFill>
                            <a:srgbClr val="FFFFFF"/>
                          </a:solidFill>
                          <a:latin typeface="Calibri"/>
                        </a:rPr>
                        <a:t>Task</a:t>
                      </a:r>
                      <a:endParaRPr lang="en-US" sz="9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E41AA"/>
                    </a:solidFill>
                  </a:tcPr>
                </a:tc>
                <a:tc>
                  <a:txBody>
                    <a:bodyPr/>
                    <a:lstStyle/>
                    <a:p>
                      <a:pPr defTabSz="914400">
                        <a:lnSpc>
                          <a:spcPct val="100000"/>
                        </a:lnSpc>
                        <a:tabLst>
                          <a:tab pos="0" algn="l"/>
                        </a:tabLst>
                      </a:pPr>
                      <a:r>
                        <a:rPr lang="en-US" sz="900" b="1" strike="noStrike" spc="-1">
                          <a:solidFill>
                            <a:srgbClr val="FFFFFF"/>
                          </a:solidFill>
                          <a:latin typeface="Calibri"/>
                        </a:rPr>
                        <a:t>TMSH command</a:t>
                      </a:r>
                      <a:endParaRPr lang="en-US" sz="9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E41AA"/>
                    </a:solidFill>
                  </a:tcPr>
                </a:tc>
                <a:extLst>
                  <a:ext uri="{0D108BD9-81ED-4DB2-BD59-A6C34878D82A}">
                    <a16:rowId xmlns:a16="http://schemas.microsoft.com/office/drawing/2014/main" val="10000"/>
                  </a:ext>
                </a:extLst>
              </a:tr>
              <a:tr h="0">
                <a:tc>
                  <a:txBody>
                    <a:bodyPr/>
                    <a:lstStyle/>
                    <a:p>
                      <a:pPr defTabSz="914400">
                        <a:lnSpc>
                          <a:spcPct val="100000"/>
                        </a:lnSpc>
                        <a:tabLst>
                          <a:tab pos="0" algn="l"/>
                        </a:tabLst>
                      </a:pPr>
                      <a:r>
                        <a:rPr lang="en-US" sz="900" b="0" strike="noStrike" spc="-1">
                          <a:solidFill>
                            <a:srgbClr val="000000"/>
                          </a:solidFill>
                          <a:latin typeface="Calibri"/>
                        </a:rPr>
                        <a:t>Create tagged VLAN</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850" b="0" strike="noStrike" spc="-1">
                          <a:solidFill>
                            <a:srgbClr val="000000"/>
                          </a:solidFill>
                          <a:latin typeface="Courier New"/>
                          <a:ea typeface="Courier New"/>
                        </a:rPr>
                        <a:t>create net vlan vlan-30 tag 30 interfaces add { 1.3 { tagged } }</a:t>
                      </a:r>
                      <a:endParaRPr lang="en-US" sz="85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1"/>
                  </a:ext>
                </a:extLst>
              </a:tr>
              <a:tr h="0">
                <a:tc>
                  <a:txBody>
                    <a:bodyPr/>
                    <a:lstStyle/>
                    <a:p>
                      <a:pPr defTabSz="914400">
                        <a:lnSpc>
                          <a:spcPct val="100000"/>
                        </a:lnSpc>
                        <a:tabLst>
                          <a:tab pos="0" algn="l"/>
                        </a:tabLst>
                      </a:pPr>
                      <a:r>
                        <a:rPr lang="en-US" sz="900" b="0" strike="noStrike" spc="-1">
                          <a:solidFill>
                            <a:srgbClr val="000000"/>
                          </a:solidFill>
                          <a:latin typeface="Calibri"/>
                        </a:rPr>
                        <a:t>Create self IP</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850" b="0" strike="noStrike" spc="-1">
                          <a:solidFill>
                            <a:srgbClr val="000000"/>
                          </a:solidFill>
                          <a:latin typeface="Courier New"/>
                          <a:ea typeface="Courier New"/>
                        </a:rPr>
                        <a:t>create net self HA-IP address 10.1.30.245/24 vlan vlan-30 allow-service default</a:t>
                      </a:r>
                      <a:endParaRPr lang="en-US" sz="85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2"/>
                  </a:ext>
                </a:extLst>
              </a:tr>
              <a:tr h="0">
                <a:tc>
                  <a:txBody>
                    <a:bodyPr/>
                    <a:lstStyle/>
                    <a:p>
                      <a:pPr defTabSz="914400">
                        <a:lnSpc>
                          <a:spcPct val="100000"/>
                        </a:lnSpc>
                        <a:tabLst>
                          <a:tab pos="0" algn="l"/>
                        </a:tabLst>
                      </a:pPr>
                      <a:r>
                        <a:rPr lang="en-US" sz="900" b="0" strike="noStrike" spc="-1">
                          <a:solidFill>
                            <a:srgbClr val="000000"/>
                          </a:solidFill>
                          <a:latin typeface="Calibri"/>
                        </a:rPr>
                        <a:t>Port lockdown: None</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850" b="0" strike="noStrike" spc="-1">
                          <a:solidFill>
                            <a:srgbClr val="000000"/>
                          </a:solidFill>
                          <a:latin typeface="Courier New"/>
                          <a:ea typeface="Courier New"/>
                        </a:rPr>
                        <a:t>modify net self 10.1.10.245/24 allow-service none</a:t>
                      </a:r>
                      <a:endParaRPr lang="en-US" sz="85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3"/>
                  </a:ext>
                </a:extLst>
              </a:tr>
              <a:tr h="0">
                <a:tc>
                  <a:txBody>
                    <a:bodyPr/>
                    <a:lstStyle/>
                    <a:p>
                      <a:pPr defTabSz="914400">
                        <a:lnSpc>
                          <a:spcPct val="100000"/>
                        </a:lnSpc>
                        <a:tabLst>
                          <a:tab pos="0" algn="l"/>
                        </a:tabLst>
                      </a:pPr>
                      <a:r>
                        <a:rPr lang="en-US" sz="900" b="0" strike="noStrike" spc="-1">
                          <a:solidFill>
                            <a:srgbClr val="000000"/>
                          </a:solidFill>
                          <a:latin typeface="Calibri"/>
                        </a:rPr>
                        <a:t>Port lockdown: Defaults</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850" b="0" strike="noStrike" spc="-1">
                          <a:solidFill>
                            <a:srgbClr val="000000"/>
                          </a:solidFill>
                          <a:latin typeface="Courier New"/>
                          <a:ea typeface="Courier New"/>
                        </a:rPr>
                        <a:t>modify net self 10.1.10.245/24 allow-service default</a:t>
                      </a:r>
                      <a:endParaRPr lang="en-US" sz="85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4"/>
                  </a:ext>
                </a:extLst>
              </a:tr>
              <a:tr h="0">
                <a:tc>
                  <a:txBody>
                    <a:bodyPr/>
                    <a:lstStyle/>
                    <a:p>
                      <a:pPr defTabSz="914400">
                        <a:lnSpc>
                          <a:spcPct val="100000"/>
                        </a:lnSpc>
                        <a:tabLst>
                          <a:tab pos="0" algn="l"/>
                        </a:tabLst>
                      </a:pPr>
                      <a:r>
                        <a:rPr lang="en-US" sz="900" b="0" strike="noStrike" spc="-1">
                          <a:solidFill>
                            <a:srgbClr val="000000"/>
                          </a:solidFill>
                          <a:latin typeface="Calibri"/>
                        </a:rPr>
                        <a:t>Port lockdown: Custom</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850" b="0" strike="noStrike" spc="-1">
                          <a:solidFill>
                            <a:srgbClr val="000000"/>
                          </a:solidFill>
                          <a:latin typeface="Courier New"/>
                          <a:ea typeface="Courier New"/>
                        </a:rPr>
                        <a:t>modify net self 10.1.10.245/24 allow-service add { tcp:22 tcp:443 tcp:4353 udp:1026 }</a:t>
                      </a:r>
                      <a:endParaRPr lang="en-US" sz="85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5"/>
                  </a:ext>
                </a:extLst>
              </a:tr>
              <a:tr h="0">
                <a:tc>
                  <a:txBody>
                    <a:bodyPr/>
                    <a:lstStyle/>
                    <a:p>
                      <a:pPr defTabSz="914400">
                        <a:lnSpc>
                          <a:spcPct val="100000"/>
                        </a:lnSpc>
                        <a:tabLst>
                          <a:tab pos="0" algn="l"/>
                        </a:tabLst>
                      </a:pPr>
                      <a:r>
                        <a:rPr lang="en-US" sz="900" b="0" strike="noStrike" spc="-1">
                          <a:solidFill>
                            <a:srgbClr val="000000"/>
                          </a:solidFill>
                          <a:latin typeface="Calibri"/>
                        </a:rPr>
                        <a:t>Create route domain</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850" b="0" strike="noStrike" spc="-1">
                          <a:solidFill>
                            <a:srgbClr val="000000"/>
                          </a:solidFill>
                          <a:latin typeface="Courier New"/>
                          <a:ea typeface="Courier New"/>
                        </a:rPr>
                        <a:t>create net route-domain 1 vlans add { tenant-a-vlan } strict enabled</a:t>
                      </a:r>
                      <a:endParaRPr lang="en-US" sz="85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6"/>
                  </a:ext>
                </a:extLst>
              </a:tr>
              <a:tr h="0">
                <a:tc>
                  <a:txBody>
                    <a:bodyPr/>
                    <a:lstStyle/>
                    <a:p>
                      <a:pPr defTabSz="914400">
                        <a:lnSpc>
                          <a:spcPct val="100000"/>
                        </a:lnSpc>
                        <a:tabLst>
                          <a:tab pos="0" algn="l"/>
                        </a:tabLst>
                      </a:pPr>
                      <a:r>
                        <a:rPr lang="en-US" sz="900" b="0" strike="noStrike" spc="-1">
                          <a:solidFill>
                            <a:srgbClr val="000000"/>
                          </a:solidFill>
                          <a:latin typeface="Calibri"/>
                        </a:rPr>
                        <a:t>Self IP in route domain</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850" b="0" strike="noStrike" spc="-1">
                          <a:solidFill>
                            <a:srgbClr val="000000"/>
                          </a:solidFill>
                          <a:latin typeface="Courier New"/>
                          <a:ea typeface="Courier New"/>
                        </a:rPr>
                        <a:t>create net self rd1-self address 10.10.10.245%1/24 vlan tenant-a-vlan</a:t>
                      </a:r>
                      <a:endParaRPr lang="en-US" sz="85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7"/>
                  </a:ext>
                </a:extLst>
              </a:tr>
              <a:tr h="0">
                <a:tc>
                  <a:txBody>
                    <a:bodyPr/>
                    <a:lstStyle/>
                    <a:p>
                      <a:pPr defTabSz="914400">
                        <a:lnSpc>
                          <a:spcPct val="100000"/>
                        </a:lnSpc>
                        <a:tabLst>
                          <a:tab pos="0" algn="l"/>
                        </a:tabLst>
                      </a:pPr>
                      <a:r>
                        <a:rPr lang="en-US" sz="900" b="0" strike="noStrike" spc="-1">
                          <a:solidFill>
                            <a:srgbClr val="000000"/>
                          </a:solidFill>
                          <a:latin typeface="Calibri"/>
                        </a:rPr>
                        <a:t>Add static route</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850" b="0" strike="noStrike" spc="-1">
                          <a:solidFill>
                            <a:srgbClr val="000000"/>
                          </a:solidFill>
                          <a:latin typeface="Courier New"/>
                          <a:ea typeface="Courier New"/>
                        </a:rPr>
                        <a:t>create net route my-route network 10.1.20.0/24 gw 10.1.10.1</a:t>
                      </a:r>
                      <a:endParaRPr lang="en-US" sz="85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8"/>
                  </a:ext>
                </a:extLst>
              </a:tr>
              <a:tr h="0">
                <a:tc>
                  <a:txBody>
                    <a:bodyPr/>
                    <a:lstStyle/>
                    <a:p>
                      <a:pPr defTabSz="914400">
                        <a:lnSpc>
                          <a:spcPct val="100000"/>
                        </a:lnSpc>
                        <a:tabLst>
                          <a:tab pos="0" algn="l"/>
                        </a:tabLst>
                      </a:pPr>
                      <a:r>
                        <a:rPr lang="en-US" sz="900" b="0" strike="noStrike" spc="-1">
                          <a:solidFill>
                            <a:srgbClr val="000000"/>
                          </a:solidFill>
                          <a:latin typeface="Calibri"/>
                        </a:rPr>
                        <a:t>Configure DNS</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850" b="0" strike="noStrike" spc="-1">
                          <a:solidFill>
                            <a:srgbClr val="000000"/>
                          </a:solidFill>
                          <a:latin typeface="Courier New"/>
                          <a:ea typeface="Courier New"/>
                        </a:rPr>
                        <a:t>modify sys dns name-servers add { 8.8.8.8 }</a:t>
                      </a:r>
                      <a:endParaRPr lang="en-US" sz="85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9"/>
                  </a:ext>
                </a:extLst>
              </a:tr>
              <a:tr h="0">
                <a:tc>
                  <a:txBody>
                    <a:bodyPr/>
                    <a:lstStyle/>
                    <a:p>
                      <a:pPr defTabSz="914400">
                        <a:lnSpc>
                          <a:spcPct val="100000"/>
                        </a:lnSpc>
                        <a:tabLst>
                          <a:tab pos="0" algn="l"/>
                        </a:tabLst>
                      </a:pPr>
                      <a:r>
                        <a:rPr lang="en-US" sz="900" b="0" strike="noStrike" spc="-1">
                          <a:solidFill>
                            <a:srgbClr val="000000"/>
                          </a:solidFill>
                          <a:latin typeface="Calibri"/>
                        </a:rPr>
                        <a:t>Configure NTP</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850" b="0" strike="noStrike" spc="-1">
                          <a:solidFill>
                            <a:srgbClr val="000000"/>
                          </a:solidFill>
                          <a:latin typeface="Courier New"/>
                          <a:ea typeface="Courier New"/>
                        </a:rPr>
                        <a:t>modify sys ntp servers add { pool.ntp.org }</a:t>
                      </a:r>
                      <a:endParaRPr lang="en-US" sz="85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10"/>
                  </a:ext>
                </a:extLst>
              </a:tr>
              <a:tr h="0">
                <a:tc>
                  <a:txBody>
                    <a:bodyPr/>
                    <a:lstStyle/>
                    <a:p>
                      <a:pPr defTabSz="914400">
                        <a:lnSpc>
                          <a:spcPct val="100000"/>
                        </a:lnSpc>
                        <a:tabLst>
                          <a:tab pos="0" algn="l"/>
                        </a:tabLst>
                      </a:pPr>
                      <a:r>
                        <a:rPr lang="en-US" sz="900" b="0" strike="noStrike" spc="-1">
                          <a:solidFill>
                            <a:srgbClr val="000000"/>
                          </a:solidFill>
                          <a:latin typeface="Calibri"/>
                        </a:rPr>
                        <a:t>Show interfaces</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850" b="0" strike="noStrike" spc="-1">
                          <a:solidFill>
                            <a:srgbClr val="000000"/>
                          </a:solidFill>
                          <a:latin typeface="Courier New"/>
                          <a:ea typeface="Courier New"/>
                        </a:rPr>
                        <a:t>show net interface</a:t>
                      </a:r>
                      <a:endParaRPr lang="en-US" sz="85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11"/>
                  </a:ext>
                </a:extLst>
              </a:tr>
              <a:tr h="0">
                <a:tc>
                  <a:txBody>
                    <a:bodyPr/>
                    <a:lstStyle/>
                    <a:p>
                      <a:pPr defTabSz="914400">
                        <a:lnSpc>
                          <a:spcPct val="100000"/>
                        </a:lnSpc>
                        <a:tabLst>
                          <a:tab pos="0" algn="l"/>
                        </a:tabLst>
                      </a:pPr>
                      <a:r>
                        <a:rPr lang="en-US" sz="900" b="0" strike="noStrike" spc="-1">
                          <a:solidFill>
                            <a:srgbClr val="000000"/>
                          </a:solidFill>
                          <a:latin typeface="Calibri"/>
                        </a:rPr>
                        <a:t>List route domains</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850" b="0" strike="noStrike" spc="-1">
                          <a:solidFill>
                            <a:srgbClr val="000000"/>
                          </a:solidFill>
                          <a:latin typeface="Courier New"/>
                          <a:ea typeface="Courier New"/>
                        </a:rPr>
                        <a:t>list net route-domain</a:t>
                      </a:r>
                      <a:endParaRPr lang="en-US" sz="85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12"/>
                  </a:ext>
                </a:extLst>
              </a:tr>
            </a:tbl>
          </a:graphicData>
        </a:graphic>
      </p:graphicFrame>
      <p:sp>
        <p:nvSpPr>
          <p:cNvPr id="1759" name="Shape 7"/>
          <p:cNvSpPr/>
          <p:nvPr/>
        </p:nvSpPr>
        <p:spPr>
          <a:xfrm>
            <a:off x="365760" y="4434840"/>
            <a:ext cx="8412120" cy="228240"/>
          </a:xfrm>
          <a:prstGeom prst="rect">
            <a:avLst/>
          </a:prstGeom>
          <a:solidFill>
            <a:srgbClr val="E8F0F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760" name="Text 8"/>
          <p:cNvSpPr/>
          <p:nvPr/>
        </p:nvSpPr>
        <p:spPr>
          <a:xfrm>
            <a:off x="548640" y="4434840"/>
            <a:ext cx="804636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1" strike="noStrike" spc="-1">
                <a:solidFill>
                  <a:srgbClr val="0E41AA"/>
                </a:solidFill>
                <a:latin typeface="Courier New"/>
                <a:ea typeface="Courier New"/>
              </a:rPr>
              <a:t>allow-service values: none | default | all | add { tcp:22 tcp:443 udp:1026 tcp:4353 }    |    %RD notation: 10.10.10.1%1 = RD1, 10.10.10.1%2 = RD2</a:t>
            </a:r>
            <a:endParaRPr lang="en-US" sz="800" b="0" strike="noStrike" spc="-1">
              <a:solidFill>
                <a:srgbClr val="000000"/>
              </a:solidFill>
              <a:latin typeface="Arial"/>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761" name="Shape 0"/>
          <p:cNvSpPr/>
          <p:nvPr/>
        </p:nvSpPr>
        <p:spPr>
          <a:xfrm>
            <a:off x="0" y="507024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762" name="Shape 1"/>
          <p:cNvSpPr/>
          <p:nvPr/>
        </p:nvSpPr>
        <p:spPr>
          <a:xfrm>
            <a:off x="1371600" y="507024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763" name="Shape 2"/>
          <p:cNvSpPr/>
          <p:nvPr/>
        </p:nvSpPr>
        <p:spPr>
          <a:xfrm>
            <a:off x="4114800" y="507024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764" name="Shape 3"/>
          <p:cNvSpPr/>
          <p:nvPr/>
        </p:nvSpPr>
        <p:spPr>
          <a:xfrm>
            <a:off x="5486400" y="507024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765" name="Shape 4"/>
          <p:cNvSpPr/>
          <p:nvPr/>
        </p:nvSpPr>
        <p:spPr>
          <a:xfrm>
            <a:off x="7772400" y="507024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pic>
        <p:nvPicPr>
          <p:cNvPr id="1766" name="Image 0" descr="preencoded.png"/>
          <p:cNvPicPr/>
          <p:nvPr/>
        </p:nvPicPr>
        <p:blipFill>
          <a:blip r:embed="rId3"/>
          <a:stretch/>
        </p:blipFill>
        <p:spPr>
          <a:xfrm>
            <a:off x="365760" y="274320"/>
            <a:ext cx="639720" cy="639720"/>
          </a:xfrm>
          <a:prstGeom prst="rect">
            <a:avLst/>
          </a:prstGeom>
          <a:ln w="0">
            <a:noFill/>
          </a:ln>
        </p:spPr>
      </p:pic>
      <p:graphicFrame>
        <p:nvGraphicFramePr>
          <p:cNvPr id="1767" name="Table 0"/>
          <p:cNvGraphicFramePr/>
          <p:nvPr/>
        </p:nvGraphicFramePr>
        <p:xfrm>
          <a:off x="365760" y="1097280"/>
          <a:ext cx="6675120" cy="487680"/>
        </p:xfrm>
        <a:graphic>
          <a:graphicData uri="http://schemas.openxmlformats.org/drawingml/2006/table">
            <a:tbl>
              <a:tblPr/>
              <a:tblGrid>
                <a:gridCol w="146304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gridCol w="4754880">
                  <a:extLst>
                    <a:ext uri="{9D8B030D-6E8A-4147-A177-3AD203B41FA5}">
                      <a16:colId xmlns:a16="http://schemas.microsoft.com/office/drawing/2014/main" val="20002"/>
                    </a:ext>
                  </a:extLst>
                </a:gridCol>
              </a:tblGrid>
              <a:tr h="0">
                <a:tc>
                  <a:txBody>
                    <a:bodyPr/>
                    <a:lstStyle/>
                    <a:p>
                      <a:pPr defTabSz="914400">
                        <a:lnSpc>
                          <a:spcPct val="100000"/>
                        </a:lnSpc>
                        <a:tabLst>
                          <a:tab pos="0" algn="l"/>
                        </a:tabLst>
                      </a:pPr>
                      <a:r>
                        <a:rPr lang="en-US" sz="1000" b="0" strike="noStrike" spc="-1">
                          <a:solidFill>
                            <a:srgbClr val="FFFFFF"/>
                          </a:solidFill>
                          <a:latin typeface="Courier New"/>
                          <a:ea typeface="Courier New"/>
                        </a:rPr>
                        <a:t>F5CTSLTM4.03</a:t>
                      </a:r>
                      <a:endParaRPr lang="en-US" sz="1000" b="0" strike="noStrike" spc="-1">
                        <a:solidFill>
                          <a:srgbClr val="FFFFFF"/>
                        </a:solidFill>
                        <a:latin typeface="Arial"/>
                      </a:endParaRPr>
                    </a:p>
                  </a:txBody>
                  <a:tcPr marL="75960" marR="75960">
                    <a:lnL>
                      <a:noFill/>
                    </a:lnL>
                    <a:lnR>
                      <a:noFill/>
                    </a:lnR>
                    <a:lnT>
                      <a:noFill/>
                    </a:lnT>
                    <a:lnB>
                      <a:noFill/>
                    </a:lnB>
                    <a:solidFill>
                      <a:srgbClr val="1A1A1A"/>
                    </a:solidFill>
                  </a:tcPr>
                </a:tc>
                <a:tc>
                  <a:txBody>
                    <a:bodyPr/>
                    <a:lstStyle/>
                    <a:p>
                      <a:pPr algn="ctr" defTabSz="914400">
                        <a:lnSpc>
                          <a:spcPct val="100000"/>
                        </a:lnSpc>
                        <a:tabLst>
                          <a:tab pos="0" algn="l"/>
                        </a:tabLst>
                      </a:pPr>
                      <a:r>
                        <a:rPr lang="en-US" sz="1000" b="1" strike="noStrike" spc="-1">
                          <a:solidFill>
                            <a:srgbClr val="009639"/>
                          </a:solidFill>
                          <a:latin typeface="Calibri"/>
                        </a:rPr>
                        <a:t>U/A</a:t>
                      </a:r>
                      <a:endParaRPr lang="en-US" sz="1000" b="0" strike="noStrike" spc="-1">
                        <a:solidFill>
                          <a:srgbClr val="FFFFFF"/>
                        </a:solidFill>
                        <a:latin typeface="Arial"/>
                      </a:endParaRPr>
                    </a:p>
                  </a:txBody>
                  <a:tcPr marL="75960" marR="75960">
                    <a:lnL>
                      <a:noFill/>
                    </a:lnL>
                    <a:lnR>
                      <a:noFill/>
                    </a:lnR>
                    <a:lnT>
                      <a:noFill/>
                    </a:lnT>
                    <a:lnB>
                      <a:noFill/>
                    </a:lnB>
                    <a:solidFill>
                      <a:srgbClr val="1A1A1A"/>
                    </a:solidFill>
                  </a:tcPr>
                </a:tc>
                <a:tc>
                  <a:txBody>
                    <a:bodyPr/>
                    <a:lstStyle/>
                    <a:p>
                      <a:pPr defTabSz="914400">
                        <a:lnSpc>
                          <a:spcPct val="100000"/>
                        </a:lnSpc>
                        <a:tabLst>
                          <a:tab pos="0" algn="l"/>
                        </a:tabLst>
                      </a:pPr>
                      <a:r>
                        <a:rPr lang="en-US" sz="1000" b="0" strike="noStrike" spc="-1">
                          <a:solidFill>
                            <a:srgbClr val="666666"/>
                          </a:solidFill>
                          <a:latin typeface="Calibri"/>
                        </a:rPr>
                        <a:t>Explain the uses of user roles and administrative partitions</a:t>
                      </a:r>
                      <a:endParaRPr lang="en-US" sz="1000" b="0" strike="noStrike" spc="-1">
                        <a:solidFill>
                          <a:srgbClr val="FFFFFF"/>
                        </a:solidFill>
                        <a:latin typeface="Arial"/>
                      </a:endParaRPr>
                    </a:p>
                  </a:txBody>
                  <a:tcPr marL="75960" marR="75960">
                    <a:lnL>
                      <a:noFill/>
                    </a:lnL>
                    <a:lnR>
                      <a:noFill/>
                    </a:lnR>
                    <a:lnT>
                      <a:noFill/>
                    </a:lnT>
                    <a:lnB>
                      <a:noFill/>
                    </a:lnB>
                    <a:solidFill>
                      <a:srgbClr val="1A1A1A"/>
                    </a:solidFill>
                  </a:tcPr>
                </a:tc>
                <a:extLst>
                  <a:ext uri="{0D108BD9-81ED-4DB2-BD59-A6C34878D82A}">
                    <a16:rowId xmlns:a16="http://schemas.microsoft.com/office/drawing/2014/main" val="10000"/>
                  </a:ext>
                </a:extLst>
              </a:tr>
              <a:tr h="0">
                <a:tc>
                  <a:txBody>
                    <a:bodyPr/>
                    <a:lstStyle/>
                    <a:p>
                      <a:pPr defTabSz="914400">
                        <a:lnSpc>
                          <a:spcPct val="100000"/>
                        </a:lnSpc>
                        <a:tabLst>
                          <a:tab pos="0" algn="l"/>
                        </a:tabLst>
                      </a:pPr>
                      <a:r>
                        <a:rPr lang="en-US" sz="1000" b="0" strike="noStrike" spc="-1">
                          <a:solidFill>
                            <a:srgbClr val="FFFFFF"/>
                          </a:solidFill>
                          <a:latin typeface="Courier New"/>
                          <a:ea typeface="Courier New"/>
                        </a:rPr>
                        <a:t>F5CTSLTM1.04</a:t>
                      </a:r>
                      <a:endParaRPr lang="en-US" sz="1000" b="0" strike="noStrike" spc="-1">
                        <a:solidFill>
                          <a:srgbClr val="FFFFFF"/>
                        </a:solidFill>
                        <a:latin typeface="Arial"/>
                      </a:endParaRPr>
                    </a:p>
                  </a:txBody>
                  <a:tcPr marL="75960" marR="75960">
                    <a:lnL>
                      <a:noFill/>
                    </a:lnL>
                    <a:lnR>
                      <a:noFill/>
                    </a:lnR>
                    <a:lnT>
                      <a:noFill/>
                    </a:lnT>
                    <a:lnB>
                      <a:noFill/>
                    </a:lnB>
                    <a:solidFill>
                      <a:srgbClr val="111111"/>
                    </a:solidFill>
                  </a:tcPr>
                </a:tc>
                <a:tc>
                  <a:txBody>
                    <a:bodyPr/>
                    <a:lstStyle/>
                    <a:p>
                      <a:pPr algn="ctr" defTabSz="914400">
                        <a:lnSpc>
                          <a:spcPct val="100000"/>
                        </a:lnSpc>
                        <a:tabLst>
                          <a:tab pos="0" algn="l"/>
                        </a:tabLst>
                      </a:pPr>
                      <a:r>
                        <a:rPr lang="en-US" sz="1000" b="1" strike="noStrike" spc="-1">
                          <a:solidFill>
                            <a:srgbClr val="009639"/>
                          </a:solidFill>
                          <a:latin typeface="Calibri"/>
                        </a:rPr>
                        <a:t>U/A</a:t>
                      </a:r>
                      <a:endParaRPr lang="en-US" sz="1000" b="0" strike="noStrike" spc="-1">
                        <a:solidFill>
                          <a:srgbClr val="FFFFFF"/>
                        </a:solidFill>
                        <a:latin typeface="Arial"/>
                      </a:endParaRPr>
                    </a:p>
                  </a:txBody>
                  <a:tcPr marL="75960" marR="75960">
                    <a:lnL>
                      <a:noFill/>
                    </a:lnL>
                    <a:lnR>
                      <a:noFill/>
                    </a:lnR>
                    <a:lnT>
                      <a:noFill/>
                    </a:lnT>
                    <a:lnB>
                      <a:noFill/>
                    </a:lnB>
                    <a:solidFill>
                      <a:srgbClr val="111111"/>
                    </a:solidFill>
                  </a:tcPr>
                </a:tc>
                <a:tc>
                  <a:txBody>
                    <a:bodyPr/>
                    <a:lstStyle/>
                    <a:p>
                      <a:pPr defTabSz="914400">
                        <a:lnSpc>
                          <a:spcPct val="100000"/>
                        </a:lnSpc>
                        <a:tabLst>
                          <a:tab pos="0" algn="l"/>
                        </a:tabLst>
                      </a:pPr>
                      <a:r>
                        <a:rPr lang="en-US" sz="1000" b="0" strike="noStrike" spc="-1">
                          <a:solidFill>
                            <a:srgbClr val="666666"/>
                          </a:solidFill>
                          <a:latin typeface="Calibri"/>
                        </a:rPr>
                        <a:t>Determine how to limit administrative access to LTM (GUI/CLI)</a:t>
                      </a:r>
                      <a:endParaRPr lang="en-US" sz="1000" b="0" strike="noStrike" spc="-1">
                        <a:solidFill>
                          <a:srgbClr val="FFFFFF"/>
                        </a:solidFill>
                        <a:latin typeface="Arial"/>
                      </a:endParaRPr>
                    </a:p>
                  </a:txBody>
                  <a:tcPr marL="75960" marR="75960">
                    <a:lnL>
                      <a:noFill/>
                    </a:lnL>
                    <a:lnR>
                      <a:noFill/>
                    </a:lnR>
                    <a:lnT>
                      <a:noFill/>
                    </a:lnT>
                    <a:lnB>
                      <a:noFill/>
                    </a:lnB>
                    <a:solidFill>
                      <a:srgbClr val="111111"/>
                    </a:solidFill>
                  </a:tcPr>
                </a:tc>
                <a:extLst>
                  <a:ext uri="{0D108BD9-81ED-4DB2-BD59-A6C34878D82A}">
                    <a16:rowId xmlns:a16="http://schemas.microsoft.com/office/drawing/2014/main" val="10001"/>
                  </a:ext>
                </a:extLst>
              </a:tr>
            </a:tbl>
          </a:graphicData>
        </a:graphic>
      </p:graphicFrame>
      <p:sp>
        <p:nvSpPr>
          <p:cNvPr id="1768" name="Text 5"/>
          <p:cNvSpPr/>
          <p:nvPr/>
        </p:nvSpPr>
        <p:spPr>
          <a:xfrm>
            <a:off x="365760" y="2286000"/>
            <a:ext cx="7314840" cy="1005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strike="noStrike" spc="-1">
                <a:solidFill>
                  <a:srgbClr val="666666"/>
                </a:solidFill>
                <a:latin typeface="Calibri"/>
                <a:ea typeface="Calibri"/>
              </a:rPr>
              <a:t>LAB 9</a:t>
            </a:r>
            <a:endParaRPr lang="en-US" sz="1400" b="0" strike="noStrike" spc="-1">
              <a:solidFill>
                <a:srgbClr val="FFFFFF"/>
              </a:solidFill>
              <a:latin typeface="Arial"/>
            </a:endParaRPr>
          </a:p>
          <a:p>
            <a:pPr defTabSz="914400">
              <a:lnSpc>
                <a:spcPct val="100000"/>
              </a:lnSpc>
              <a:tabLst>
                <a:tab pos="0" algn="l"/>
              </a:tabLst>
            </a:pPr>
            <a:r>
              <a:rPr lang="en-US" sz="3600" b="1" strike="noStrike" spc="-1">
                <a:solidFill>
                  <a:srgbClr val="FFFFFF"/>
                </a:solidFill>
                <a:latin typeface="Arial"/>
                <a:ea typeface="Arial"/>
              </a:rPr>
              <a:t>Roles and Partitions</a:t>
            </a:r>
            <a:endParaRPr lang="en-US" sz="3600" b="0" strike="noStrike" spc="-1">
              <a:solidFill>
                <a:srgbClr val="FFFFFF"/>
              </a:solidFill>
              <a:latin typeface="Arial"/>
            </a:endParaRPr>
          </a:p>
        </p:txBody>
      </p:sp>
      <p:sp>
        <p:nvSpPr>
          <p:cNvPr id="1769" name="Text 6"/>
          <p:cNvSpPr/>
          <p:nvPr/>
        </p:nvSpPr>
        <p:spPr>
          <a:xfrm>
            <a:off x="365760" y="3383280"/>
            <a:ext cx="685764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strike="noStrike" spc="-1">
                <a:solidFill>
                  <a:srgbClr val="666666"/>
                </a:solidFill>
                <a:latin typeface="Calibri"/>
                <a:ea typeface="Calibri"/>
              </a:rPr>
              <a:t>User roles control what actions a user can perform. Partitions control</a:t>
            </a:r>
            <a:endParaRPr lang="en-US" sz="1300" b="0" strike="noStrike" spc="-1">
              <a:solidFill>
                <a:srgbClr val="FFFFFF"/>
              </a:solidFill>
              <a:latin typeface="Arial"/>
            </a:endParaRPr>
          </a:p>
          <a:p>
            <a:pPr defTabSz="914400">
              <a:lnSpc>
                <a:spcPct val="100000"/>
              </a:lnSpc>
              <a:tabLst>
                <a:tab pos="0" algn="l"/>
              </a:tabLst>
            </a:pPr>
            <a:r>
              <a:rPr lang="en-US" sz="1300" b="0" strike="noStrike" spc="-1">
                <a:solidFill>
                  <a:srgbClr val="666666"/>
                </a:solidFill>
                <a:latin typeface="Calibri"/>
                <a:ea typeface="Calibri"/>
              </a:rPr>
              <a:t>which objects a user can see and modify. Local and remote</a:t>
            </a:r>
            <a:endParaRPr lang="en-US" sz="1300" b="0" strike="noStrike" spc="-1">
              <a:solidFill>
                <a:srgbClr val="FFFFFF"/>
              </a:solidFill>
              <a:latin typeface="Arial"/>
            </a:endParaRPr>
          </a:p>
          <a:p>
            <a:pPr defTabSz="914400">
              <a:lnSpc>
                <a:spcPct val="100000"/>
              </a:lnSpc>
              <a:tabLst>
                <a:tab pos="0" algn="l"/>
              </a:tabLst>
            </a:pPr>
            <a:r>
              <a:rPr lang="en-US" sz="1300" b="0" strike="noStrike" spc="-1">
                <a:solidFill>
                  <a:srgbClr val="666666"/>
                </a:solidFill>
                <a:latin typeface="Calibri"/>
                <a:ea typeface="Calibri"/>
              </a:rPr>
              <a:t>authentication manage how users are validated.</a:t>
            </a:r>
            <a:endParaRPr lang="en-US" sz="1300" b="0" strike="noStrike" spc="-1">
              <a:solidFill>
                <a:srgbClr val="FFFFFF"/>
              </a:solidFill>
              <a:latin typeface="Arial"/>
            </a:endParaRPr>
          </a:p>
        </p:txBody>
      </p:sp>
      <p:sp>
        <p:nvSpPr>
          <p:cNvPr id="1770" name="Text 7"/>
          <p:cNvSpPr/>
          <p:nvPr/>
        </p:nvSpPr>
        <p:spPr>
          <a:xfrm>
            <a:off x="365760" y="4297680"/>
            <a:ext cx="45716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strike="noStrike" spc="-1">
                <a:solidFill>
                  <a:srgbClr val="F29A36"/>
                </a:solidFill>
                <a:latin typeface="Calibri"/>
                <a:ea typeface="Calibri"/>
              </a:rPr>
              <a:t>50 min  |  20 min slides + 30 min lab</a:t>
            </a:r>
            <a:endParaRPr lang="en-US" sz="1100" b="0" strike="noStrike" spc="-1">
              <a:solidFill>
                <a:srgbClr val="FFFFFF"/>
              </a:solidFill>
              <a:latin typeface="Arial"/>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71"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772"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773"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774"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775"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776"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79    © 2026 F5</a:t>
            </a:r>
            <a:endParaRPr lang="en-US" sz="800" b="0" strike="noStrike" spc="-1">
              <a:solidFill>
                <a:srgbClr val="000000"/>
              </a:solidFill>
              <a:latin typeface="Arial"/>
            </a:endParaRPr>
          </a:p>
        </p:txBody>
      </p:sp>
      <p:pic>
        <p:nvPicPr>
          <p:cNvPr id="1777" name="Image 0" descr="preencoded.png"/>
          <p:cNvPicPr/>
          <p:nvPr/>
        </p:nvPicPr>
        <p:blipFill>
          <a:blip r:embed="rId3"/>
          <a:stretch/>
        </p:blipFill>
        <p:spPr>
          <a:xfrm>
            <a:off x="8458200" y="4663440"/>
            <a:ext cx="383760" cy="383760"/>
          </a:xfrm>
          <a:prstGeom prst="rect">
            <a:avLst/>
          </a:prstGeom>
          <a:ln w="0">
            <a:noFill/>
          </a:ln>
        </p:spPr>
      </p:pic>
      <p:sp>
        <p:nvSpPr>
          <p:cNvPr id="1778" name="Text 6"/>
          <p:cNvSpPr/>
          <p:nvPr/>
        </p:nvSpPr>
        <p:spPr>
          <a:xfrm>
            <a:off x="457200" y="274320"/>
            <a:ext cx="82292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Default user roles</a:t>
            </a:r>
            <a:endParaRPr lang="en-US" sz="2800" b="0" strike="noStrike" spc="-1">
              <a:solidFill>
                <a:srgbClr val="000000"/>
              </a:solidFill>
              <a:latin typeface="Arial"/>
            </a:endParaRPr>
          </a:p>
        </p:txBody>
      </p:sp>
      <p:sp>
        <p:nvSpPr>
          <p:cNvPr id="1779" name="Text 7"/>
          <p:cNvSpPr/>
          <p:nvPr/>
        </p:nvSpPr>
        <p:spPr>
          <a:xfrm>
            <a:off x="457200" y="658440"/>
            <a:ext cx="82292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strike="noStrike" spc="-1">
                <a:solidFill>
                  <a:srgbClr val="666666"/>
                </a:solidFill>
                <a:latin typeface="Calibri"/>
                <a:ea typeface="Calibri"/>
              </a:rPr>
              <a:t>Eight built-in roles assigned per user, per partition</a:t>
            </a:r>
            <a:endParaRPr lang="en-US" sz="1300" b="0" strike="noStrike" spc="-1">
              <a:solidFill>
                <a:srgbClr val="000000"/>
              </a:solidFill>
              <a:latin typeface="Arial"/>
            </a:endParaRPr>
          </a:p>
        </p:txBody>
      </p:sp>
      <p:graphicFrame>
        <p:nvGraphicFramePr>
          <p:cNvPr id="1780" name="Table 0"/>
          <p:cNvGraphicFramePr/>
          <p:nvPr/>
        </p:nvGraphicFramePr>
        <p:xfrm>
          <a:off x="365760" y="914400"/>
          <a:ext cx="8412480" cy="2301240"/>
        </p:xfrm>
        <a:graphic>
          <a:graphicData uri="http://schemas.openxmlformats.org/drawingml/2006/table">
            <a:tbl>
              <a:tblPr/>
              <a:tblGrid>
                <a:gridCol w="960120">
                  <a:extLst>
                    <a:ext uri="{9D8B030D-6E8A-4147-A177-3AD203B41FA5}">
                      <a16:colId xmlns:a16="http://schemas.microsoft.com/office/drawing/2014/main" val="20000"/>
                    </a:ext>
                  </a:extLst>
                </a:gridCol>
                <a:gridCol w="502920">
                  <a:extLst>
                    <a:ext uri="{9D8B030D-6E8A-4147-A177-3AD203B41FA5}">
                      <a16:colId xmlns:a16="http://schemas.microsoft.com/office/drawing/2014/main" val="20001"/>
                    </a:ext>
                  </a:extLst>
                </a:gridCol>
                <a:gridCol w="1051560">
                  <a:extLst>
                    <a:ext uri="{9D8B030D-6E8A-4147-A177-3AD203B41FA5}">
                      <a16:colId xmlns:a16="http://schemas.microsoft.com/office/drawing/2014/main" val="20002"/>
                    </a:ext>
                  </a:extLst>
                </a:gridCol>
                <a:gridCol w="502920">
                  <a:extLst>
                    <a:ext uri="{9D8B030D-6E8A-4147-A177-3AD203B41FA5}">
                      <a16:colId xmlns:a16="http://schemas.microsoft.com/office/drawing/2014/main" val="20003"/>
                    </a:ext>
                  </a:extLst>
                </a:gridCol>
                <a:gridCol w="640080">
                  <a:extLst>
                    <a:ext uri="{9D8B030D-6E8A-4147-A177-3AD203B41FA5}">
                      <a16:colId xmlns:a16="http://schemas.microsoft.com/office/drawing/2014/main" val="20004"/>
                    </a:ext>
                  </a:extLst>
                </a:gridCol>
                <a:gridCol w="4754880">
                  <a:extLst>
                    <a:ext uri="{9D8B030D-6E8A-4147-A177-3AD203B41FA5}">
                      <a16:colId xmlns:a16="http://schemas.microsoft.com/office/drawing/2014/main" val="20005"/>
                    </a:ext>
                  </a:extLst>
                </a:gridCol>
              </a:tblGrid>
              <a:tr h="0">
                <a:tc>
                  <a:txBody>
                    <a:bodyPr/>
                    <a:lstStyle/>
                    <a:p>
                      <a:pPr defTabSz="914400">
                        <a:lnSpc>
                          <a:spcPct val="100000"/>
                        </a:lnSpc>
                        <a:tabLst>
                          <a:tab pos="0" algn="l"/>
                        </a:tabLst>
                      </a:pPr>
                      <a:r>
                        <a:rPr lang="en-US" sz="900" b="1" strike="noStrike" spc="-1">
                          <a:solidFill>
                            <a:srgbClr val="FFFFFF"/>
                          </a:solidFill>
                          <a:latin typeface="Calibri"/>
                        </a:rPr>
                        <a:t>Role</a:t>
                      </a:r>
                      <a:endParaRPr lang="en-US" sz="900" b="0" strike="noStrike" spc="-1">
                        <a:solidFill>
                          <a:srgbClr val="FFFFFF"/>
                        </a:solidFill>
                        <a:latin typeface="Arial"/>
                      </a:endParaRPr>
                    </a:p>
                  </a:txBody>
                  <a:tcPr marL="37800" marR="3780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E41AA"/>
                    </a:solidFill>
                  </a:tcPr>
                </a:tc>
                <a:tc>
                  <a:txBody>
                    <a:bodyPr/>
                    <a:lstStyle/>
                    <a:p>
                      <a:pPr algn="ctr" defTabSz="914400">
                        <a:lnSpc>
                          <a:spcPct val="100000"/>
                        </a:lnSpc>
                        <a:tabLst>
                          <a:tab pos="0" algn="l"/>
                        </a:tabLst>
                      </a:pPr>
                      <a:r>
                        <a:rPr lang="en-US" sz="900" b="1" strike="noStrike" spc="-1">
                          <a:solidFill>
                            <a:srgbClr val="FFFFFF"/>
                          </a:solidFill>
                          <a:latin typeface="Calibri"/>
                        </a:rPr>
                        <a:t>Read</a:t>
                      </a:r>
                      <a:endParaRPr lang="en-US" sz="900" b="0" strike="noStrike" spc="-1">
                        <a:solidFill>
                          <a:srgbClr val="FFFFFF"/>
                        </a:solidFill>
                        <a:latin typeface="Arial"/>
                      </a:endParaRPr>
                    </a:p>
                  </a:txBody>
                  <a:tcPr marL="37800" marR="3780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E41AA"/>
                    </a:solidFill>
                  </a:tcPr>
                </a:tc>
                <a:tc>
                  <a:txBody>
                    <a:bodyPr/>
                    <a:lstStyle/>
                    <a:p>
                      <a:pPr algn="ctr" defTabSz="914400">
                        <a:lnSpc>
                          <a:spcPct val="100000"/>
                        </a:lnSpc>
                        <a:tabLst>
                          <a:tab pos="0" algn="l"/>
                        </a:tabLst>
                      </a:pPr>
                      <a:r>
                        <a:rPr lang="en-US" sz="900" b="1" strike="noStrike" spc="-1">
                          <a:solidFill>
                            <a:srgbClr val="FFFFFF"/>
                          </a:solidFill>
                          <a:latin typeface="Calibri"/>
                        </a:rPr>
                        <a:t>Create / Modify</a:t>
                      </a:r>
                      <a:endParaRPr lang="en-US" sz="900" b="0" strike="noStrike" spc="-1">
                        <a:solidFill>
                          <a:srgbClr val="FFFFFF"/>
                        </a:solidFill>
                        <a:latin typeface="Arial"/>
                      </a:endParaRPr>
                    </a:p>
                  </a:txBody>
                  <a:tcPr marL="37800" marR="3780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E41AA"/>
                    </a:solidFill>
                  </a:tcPr>
                </a:tc>
                <a:tc>
                  <a:txBody>
                    <a:bodyPr/>
                    <a:lstStyle/>
                    <a:p>
                      <a:pPr algn="ctr" defTabSz="914400">
                        <a:lnSpc>
                          <a:spcPct val="100000"/>
                        </a:lnSpc>
                        <a:tabLst>
                          <a:tab pos="0" algn="l"/>
                        </a:tabLst>
                      </a:pPr>
                      <a:r>
                        <a:rPr lang="en-US" sz="900" b="1" strike="noStrike" spc="-1">
                          <a:solidFill>
                            <a:srgbClr val="FFFFFF"/>
                          </a:solidFill>
                          <a:latin typeface="Calibri"/>
                        </a:rPr>
                        <a:t>Users</a:t>
                      </a:r>
                      <a:endParaRPr lang="en-US" sz="900" b="0" strike="noStrike" spc="-1">
                        <a:solidFill>
                          <a:srgbClr val="FFFFFF"/>
                        </a:solidFill>
                        <a:latin typeface="Arial"/>
                      </a:endParaRPr>
                    </a:p>
                  </a:txBody>
                  <a:tcPr marL="37800" marR="3780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E41AA"/>
                    </a:solidFill>
                  </a:tcPr>
                </a:tc>
                <a:tc>
                  <a:txBody>
                    <a:bodyPr/>
                    <a:lstStyle/>
                    <a:p>
                      <a:pPr algn="ctr" defTabSz="914400">
                        <a:lnSpc>
                          <a:spcPct val="100000"/>
                        </a:lnSpc>
                        <a:tabLst>
                          <a:tab pos="0" algn="l"/>
                        </a:tabLst>
                      </a:pPr>
                      <a:r>
                        <a:rPr lang="en-US" sz="900" b="1" strike="noStrike" spc="-1">
                          <a:solidFill>
                            <a:srgbClr val="FFFFFF"/>
                          </a:solidFill>
                          <a:latin typeface="Calibri"/>
                        </a:rPr>
                        <a:t>Shell</a:t>
                      </a:r>
                      <a:endParaRPr lang="en-US" sz="900" b="0" strike="noStrike" spc="-1">
                        <a:solidFill>
                          <a:srgbClr val="FFFFFF"/>
                        </a:solidFill>
                        <a:latin typeface="Arial"/>
                      </a:endParaRPr>
                    </a:p>
                  </a:txBody>
                  <a:tcPr marL="37800" marR="3780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E41AA"/>
                    </a:solidFill>
                  </a:tcPr>
                </a:tc>
                <a:tc>
                  <a:txBody>
                    <a:bodyPr/>
                    <a:lstStyle/>
                    <a:p>
                      <a:pPr defTabSz="914400">
                        <a:lnSpc>
                          <a:spcPct val="100000"/>
                        </a:lnSpc>
                        <a:tabLst>
                          <a:tab pos="0" algn="l"/>
                        </a:tabLst>
                      </a:pPr>
                      <a:r>
                        <a:rPr lang="en-US" sz="900" b="1" strike="noStrike" spc="-1">
                          <a:solidFill>
                            <a:srgbClr val="FFFFFF"/>
                          </a:solidFill>
                          <a:latin typeface="Calibri"/>
                        </a:rPr>
                        <a:t>Description</a:t>
                      </a:r>
                      <a:endParaRPr lang="en-US" sz="900" b="0" strike="noStrike" spc="-1">
                        <a:solidFill>
                          <a:srgbClr val="FFFFFF"/>
                        </a:solidFill>
                        <a:latin typeface="Arial"/>
                      </a:endParaRPr>
                    </a:p>
                  </a:txBody>
                  <a:tcPr marL="37800" marR="3780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E41AA"/>
                    </a:solidFill>
                  </a:tcPr>
                </a:tc>
                <a:extLst>
                  <a:ext uri="{0D108BD9-81ED-4DB2-BD59-A6C34878D82A}">
                    <a16:rowId xmlns:a16="http://schemas.microsoft.com/office/drawing/2014/main" val="10000"/>
                  </a:ext>
                </a:extLst>
              </a:tr>
              <a:tr h="0">
                <a:tc>
                  <a:txBody>
                    <a:bodyPr/>
                    <a:lstStyle/>
                    <a:p>
                      <a:pPr defTabSz="914400">
                        <a:lnSpc>
                          <a:spcPct val="100000"/>
                        </a:lnSpc>
                        <a:tabLst>
                          <a:tab pos="0" algn="l"/>
                        </a:tabLst>
                      </a:pPr>
                      <a:r>
                        <a:rPr lang="en-US" sz="900" b="1" strike="noStrike" spc="-1">
                          <a:solidFill>
                            <a:srgbClr val="000000"/>
                          </a:solidFill>
                          <a:latin typeface="Calibri"/>
                        </a:rPr>
                        <a:t>Administrator</a:t>
                      </a:r>
                      <a:endParaRPr lang="en-US" sz="900" b="0" strike="noStrike" spc="-1">
                        <a:solidFill>
                          <a:srgbClr val="000000"/>
                        </a:solidFill>
                        <a:latin typeface="Arial"/>
                      </a:endParaRPr>
                    </a:p>
                  </a:txBody>
                  <a:tcPr marL="37800" marR="3780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algn="ctr" defTabSz="914400">
                        <a:lnSpc>
                          <a:spcPct val="100000"/>
                        </a:lnSpc>
                        <a:tabLst>
                          <a:tab pos="0" algn="l"/>
                        </a:tabLst>
                      </a:pPr>
                      <a:r>
                        <a:rPr lang="en-US" sz="1100" b="0" strike="noStrike" spc="-1">
                          <a:solidFill>
                            <a:srgbClr val="009639"/>
                          </a:solidFill>
                          <a:latin typeface="Calibri"/>
                        </a:rPr>
                        <a:t>✔</a:t>
                      </a:r>
                      <a:endParaRPr lang="en-US" sz="1100" b="0" strike="noStrike" spc="-1">
                        <a:solidFill>
                          <a:srgbClr val="000000"/>
                        </a:solidFill>
                        <a:latin typeface="Arial"/>
                      </a:endParaRPr>
                    </a:p>
                  </a:txBody>
                  <a:tcPr marL="37800" marR="3780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algn="ctr" defTabSz="914400">
                        <a:lnSpc>
                          <a:spcPct val="100000"/>
                        </a:lnSpc>
                        <a:tabLst>
                          <a:tab pos="0" algn="l"/>
                        </a:tabLst>
                      </a:pPr>
                      <a:r>
                        <a:rPr lang="en-US" sz="800" b="0" strike="noStrike" spc="-1">
                          <a:solidFill>
                            <a:srgbClr val="009639"/>
                          </a:solidFill>
                          <a:latin typeface="Calibri"/>
                        </a:rPr>
                        <a:t>✔ All partitions</a:t>
                      </a:r>
                      <a:endParaRPr lang="en-US" sz="800" b="0" strike="noStrike" spc="-1">
                        <a:solidFill>
                          <a:srgbClr val="000000"/>
                        </a:solidFill>
                        <a:latin typeface="Arial"/>
                      </a:endParaRPr>
                    </a:p>
                  </a:txBody>
                  <a:tcPr marL="37800" marR="3780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algn="ctr" defTabSz="914400">
                        <a:lnSpc>
                          <a:spcPct val="100000"/>
                        </a:lnSpc>
                        <a:tabLst>
                          <a:tab pos="0" algn="l"/>
                        </a:tabLst>
                      </a:pPr>
                      <a:r>
                        <a:rPr lang="en-US" sz="1100" b="0" strike="noStrike" spc="-1">
                          <a:solidFill>
                            <a:srgbClr val="009639"/>
                          </a:solidFill>
                          <a:latin typeface="Calibri"/>
                        </a:rPr>
                        <a:t>✔</a:t>
                      </a:r>
                      <a:endParaRPr lang="en-US" sz="1100" b="0" strike="noStrike" spc="-1">
                        <a:solidFill>
                          <a:srgbClr val="000000"/>
                        </a:solidFill>
                        <a:latin typeface="Arial"/>
                      </a:endParaRPr>
                    </a:p>
                  </a:txBody>
                  <a:tcPr marL="37800" marR="3780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algn="ctr" defTabSz="914400">
                        <a:lnSpc>
                          <a:spcPct val="100000"/>
                        </a:lnSpc>
                        <a:tabLst>
                          <a:tab pos="0" algn="l"/>
                        </a:tabLst>
                      </a:pPr>
                      <a:r>
                        <a:rPr lang="en-US" sz="800" b="0" strike="noStrike" spc="-1">
                          <a:solidFill>
                            <a:srgbClr val="000000"/>
                          </a:solidFill>
                          <a:latin typeface="Calibri"/>
                        </a:rPr>
                        <a:t>bash+tmsh</a:t>
                      </a:r>
                      <a:endParaRPr lang="en-US" sz="800" b="0" strike="noStrike" spc="-1">
                        <a:solidFill>
                          <a:srgbClr val="000000"/>
                        </a:solidFill>
                        <a:latin typeface="Arial"/>
                      </a:endParaRPr>
                    </a:p>
                  </a:txBody>
                  <a:tcPr marL="37800" marR="3780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800" b="0" strike="noStrike" spc="-1">
                          <a:solidFill>
                            <a:srgbClr val="000000"/>
                          </a:solidFill>
                          <a:latin typeface="Calibri"/>
                        </a:rPr>
                        <a:t>Full unrestricted access. Users, system, all LTM objects.</a:t>
                      </a:r>
                      <a:endParaRPr lang="en-US" sz="800" b="0" strike="noStrike" spc="-1">
                        <a:solidFill>
                          <a:srgbClr val="000000"/>
                        </a:solidFill>
                        <a:latin typeface="Arial"/>
                      </a:endParaRPr>
                    </a:p>
                  </a:txBody>
                  <a:tcPr marL="37800" marR="3780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1"/>
                  </a:ext>
                </a:extLst>
              </a:tr>
              <a:tr h="0">
                <a:tc>
                  <a:txBody>
                    <a:bodyPr/>
                    <a:lstStyle/>
                    <a:p>
                      <a:pPr defTabSz="914400">
                        <a:lnSpc>
                          <a:spcPct val="100000"/>
                        </a:lnSpc>
                        <a:tabLst>
                          <a:tab pos="0" algn="l"/>
                        </a:tabLst>
                      </a:pPr>
                      <a:r>
                        <a:rPr lang="en-US" sz="900" b="1" strike="noStrike" spc="-1">
                          <a:solidFill>
                            <a:srgbClr val="000000"/>
                          </a:solidFill>
                          <a:latin typeface="Calibri"/>
                        </a:rPr>
                        <a:t>Resource Admin</a:t>
                      </a:r>
                      <a:endParaRPr lang="en-US" sz="900" b="0" strike="noStrike" spc="-1">
                        <a:solidFill>
                          <a:srgbClr val="000000"/>
                        </a:solidFill>
                        <a:latin typeface="Arial"/>
                      </a:endParaRPr>
                    </a:p>
                  </a:txBody>
                  <a:tcPr marL="37800" marR="3780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algn="ctr" defTabSz="914400">
                        <a:lnSpc>
                          <a:spcPct val="100000"/>
                        </a:lnSpc>
                        <a:tabLst>
                          <a:tab pos="0" algn="l"/>
                        </a:tabLst>
                      </a:pPr>
                      <a:r>
                        <a:rPr lang="en-US" sz="1100" b="0" strike="noStrike" spc="-1">
                          <a:solidFill>
                            <a:srgbClr val="009639"/>
                          </a:solidFill>
                          <a:latin typeface="Calibri"/>
                        </a:rPr>
                        <a:t>✔</a:t>
                      </a:r>
                      <a:endParaRPr lang="en-US" sz="1100" b="0" strike="noStrike" spc="-1">
                        <a:solidFill>
                          <a:srgbClr val="000000"/>
                        </a:solidFill>
                        <a:latin typeface="Arial"/>
                      </a:endParaRPr>
                    </a:p>
                  </a:txBody>
                  <a:tcPr marL="37800" marR="3780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algn="ctr" defTabSz="914400">
                        <a:lnSpc>
                          <a:spcPct val="100000"/>
                        </a:lnSpc>
                        <a:tabLst>
                          <a:tab pos="0" algn="l"/>
                        </a:tabLst>
                      </a:pPr>
                      <a:r>
                        <a:rPr lang="en-US" sz="800" b="0" strike="noStrike" spc="-1">
                          <a:solidFill>
                            <a:srgbClr val="009639"/>
                          </a:solidFill>
                          <a:latin typeface="Calibri"/>
                        </a:rPr>
                        <a:t>✔ All LTM</a:t>
                      </a:r>
                      <a:endParaRPr lang="en-US" sz="800" b="0" strike="noStrike" spc="-1">
                        <a:solidFill>
                          <a:srgbClr val="000000"/>
                        </a:solidFill>
                        <a:latin typeface="Arial"/>
                      </a:endParaRPr>
                    </a:p>
                  </a:txBody>
                  <a:tcPr marL="37800" marR="3780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algn="ctr" defTabSz="914400">
                        <a:lnSpc>
                          <a:spcPct val="100000"/>
                        </a:lnSpc>
                        <a:tabLst>
                          <a:tab pos="0" algn="l"/>
                        </a:tabLst>
                      </a:pPr>
                      <a:r>
                        <a:rPr lang="en-US" sz="1100" b="0" strike="noStrike" spc="-1">
                          <a:solidFill>
                            <a:srgbClr val="E4002B"/>
                          </a:solidFill>
                          <a:latin typeface="Calibri"/>
                        </a:rPr>
                        <a:t>✘</a:t>
                      </a:r>
                      <a:endParaRPr lang="en-US" sz="1100" b="0" strike="noStrike" spc="-1">
                        <a:solidFill>
                          <a:srgbClr val="000000"/>
                        </a:solidFill>
                        <a:latin typeface="Arial"/>
                      </a:endParaRPr>
                    </a:p>
                  </a:txBody>
                  <a:tcPr marL="37800" marR="3780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algn="ctr" defTabSz="914400">
                        <a:lnSpc>
                          <a:spcPct val="100000"/>
                        </a:lnSpc>
                        <a:tabLst>
                          <a:tab pos="0" algn="l"/>
                        </a:tabLst>
                      </a:pPr>
                      <a:r>
                        <a:rPr lang="en-US" sz="800" b="0" strike="noStrike" spc="-1">
                          <a:solidFill>
                            <a:srgbClr val="000000"/>
                          </a:solidFill>
                          <a:latin typeface="Calibri"/>
                        </a:rPr>
                        <a:t>tmsh</a:t>
                      </a:r>
                      <a:endParaRPr lang="en-US" sz="800" b="0" strike="noStrike" spc="-1">
                        <a:solidFill>
                          <a:srgbClr val="000000"/>
                        </a:solidFill>
                        <a:latin typeface="Arial"/>
                      </a:endParaRPr>
                    </a:p>
                  </a:txBody>
                  <a:tcPr marL="37800" marR="3780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800" b="0" strike="noStrike" spc="-1">
                          <a:solidFill>
                            <a:srgbClr val="000000"/>
                          </a:solidFill>
                          <a:latin typeface="Calibri"/>
                        </a:rPr>
                        <a:t>All LTM config. No user management or system settings.</a:t>
                      </a:r>
                      <a:endParaRPr lang="en-US" sz="800" b="0" strike="noStrike" spc="-1">
                        <a:solidFill>
                          <a:srgbClr val="000000"/>
                        </a:solidFill>
                        <a:latin typeface="Arial"/>
                      </a:endParaRPr>
                    </a:p>
                  </a:txBody>
                  <a:tcPr marL="37800" marR="3780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2"/>
                  </a:ext>
                </a:extLst>
              </a:tr>
              <a:tr h="0">
                <a:tc>
                  <a:txBody>
                    <a:bodyPr/>
                    <a:lstStyle/>
                    <a:p>
                      <a:pPr defTabSz="914400">
                        <a:lnSpc>
                          <a:spcPct val="100000"/>
                        </a:lnSpc>
                        <a:tabLst>
                          <a:tab pos="0" algn="l"/>
                        </a:tabLst>
                      </a:pPr>
                      <a:r>
                        <a:rPr lang="en-US" sz="900" b="1" strike="noStrike" spc="-1">
                          <a:solidFill>
                            <a:srgbClr val="000000"/>
                          </a:solidFill>
                          <a:latin typeface="Calibri"/>
                        </a:rPr>
                        <a:t>Manager</a:t>
                      </a:r>
                      <a:endParaRPr lang="en-US" sz="900" b="0" strike="noStrike" spc="-1">
                        <a:solidFill>
                          <a:srgbClr val="000000"/>
                        </a:solidFill>
                        <a:latin typeface="Arial"/>
                      </a:endParaRPr>
                    </a:p>
                  </a:txBody>
                  <a:tcPr marL="37800" marR="3780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algn="ctr" defTabSz="914400">
                        <a:lnSpc>
                          <a:spcPct val="100000"/>
                        </a:lnSpc>
                        <a:tabLst>
                          <a:tab pos="0" algn="l"/>
                        </a:tabLst>
                      </a:pPr>
                      <a:r>
                        <a:rPr lang="en-US" sz="1100" b="0" strike="noStrike" spc="-1">
                          <a:solidFill>
                            <a:srgbClr val="009639"/>
                          </a:solidFill>
                          <a:latin typeface="Calibri"/>
                        </a:rPr>
                        <a:t>✔</a:t>
                      </a:r>
                      <a:endParaRPr lang="en-US" sz="1100" b="0" strike="noStrike" spc="-1">
                        <a:solidFill>
                          <a:srgbClr val="000000"/>
                        </a:solidFill>
                        <a:latin typeface="Arial"/>
                      </a:endParaRPr>
                    </a:p>
                  </a:txBody>
                  <a:tcPr marL="37800" marR="3780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algn="ctr" defTabSz="914400">
                        <a:lnSpc>
                          <a:spcPct val="100000"/>
                        </a:lnSpc>
                        <a:tabLst>
                          <a:tab pos="0" algn="l"/>
                        </a:tabLst>
                      </a:pPr>
                      <a:r>
                        <a:rPr lang="en-US" sz="800" b="0" strike="noStrike" spc="-1">
                          <a:solidFill>
                            <a:srgbClr val="0E41AA"/>
                          </a:solidFill>
                          <a:latin typeface="Calibri"/>
                        </a:rPr>
                        <a:t>✔ Own partition</a:t>
                      </a:r>
                      <a:endParaRPr lang="en-US" sz="800" b="0" strike="noStrike" spc="-1">
                        <a:solidFill>
                          <a:srgbClr val="000000"/>
                        </a:solidFill>
                        <a:latin typeface="Arial"/>
                      </a:endParaRPr>
                    </a:p>
                  </a:txBody>
                  <a:tcPr marL="37800" marR="3780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algn="ctr" defTabSz="914400">
                        <a:lnSpc>
                          <a:spcPct val="100000"/>
                        </a:lnSpc>
                        <a:tabLst>
                          <a:tab pos="0" algn="l"/>
                        </a:tabLst>
                      </a:pPr>
                      <a:r>
                        <a:rPr lang="en-US" sz="1100" b="0" strike="noStrike" spc="-1">
                          <a:solidFill>
                            <a:srgbClr val="E4002B"/>
                          </a:solidFill>
                          <a:latin typeface="Calibri"/>
                        </a:rPr>
                        <a:t>✘</a:t>
                      </a:r>
                      <a:endParaRPr lang="en-US" sz="1100" b="0" strike="noStrike" spc="-1">
                        <a:solidFill>
                          <a:srgbClr val="000000"/>
                        </a:solidFill>
                        <a:latin typeface="Arial"/>
                      </a:endParaRPr>
                    </a:p>
                  </a:txBody>
                  <a:tcPr marL="37800" marR="3780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algn="ctr" defTabSz="914400">
                        <a:lnSpc>
                          <a:spcPct val="100000"/>
                        </a:lnSpc>
                        <a:tabLst>
                          <a:tab pos="0" algn="l"/>
                        </a:tabLst>
                      </a:pPr>
                      <a:r>
                        <a:rPr lang="en-US" sz="800" b="0" strike="noStrike" spc="-1">
                          <a:solidFill>
                            <a:srgbClr val="000000"/>
                          </a:solidFill>
                          <a:latin typeface="Calibri"/>
                        </a:rPr>
                        <a:t>tmsh</a:t>
                      </a:r>
                      <a:endParaRPr lang="en-US" sz="800" b="0" strike="noStrike" spc="-1">
                        <a:solidFill>
                          <a:srgbClr val="000000"/>
                        </a:solidFill>
                        <a:latin typeface="Arial"/>
                      </a:endParaRPr>
                    </a:p>
                  </a:txBody>
                  <a:tcPr marL="37800" marR="3780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800" b="0" strike="noStrike" spc="-1">
                          <a:solidFill>
                            <a:srgbClr val="000000"/>
                          </a:solidFill>
                          <a:latin typeface="Calibri"/>
                        </a:rPr>
                        <a:t>Full LTM in assigned partition. Read-only /Common.</a:t>
                      </a:r>
                      <a:endParaRPr lang="en-US" sz="800" b="0" strike="noStrike" spc="-1">
                        <a:solidFill>
                          <a:srgbClr val="000000"/>
                        </a:solidFill>
                        <a:latin typeface="Arial"/>
                      </a:endParaRPr>
                    </a:p>
                  </a:txBody>
                  <a:tcPr marL="37800" marR="3780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3"/>
                  </a:ext>
                </a:extLst>
              </a:tr>
              <a:tr h="0">
                <a:tc>
                  <a:txBody>
                    <a:bodyPr/>
                    <a:lstStyle/>
                    <a:p>
                      <a:pPr defTabSz="914400">
                        <a:lnSpc>
                          <a:spcPct val="100000"/>
                        </a:lnSpc>
                        <a:tabLst>
                          <a:tab pos="0" algn="l"/>
                        </a:tabLst>
                      </a:pPr>
                      <a:r>
                        <a:rPr lang="en-US" sz="900" b="1" strike="noStrike" spc="-1">
                          <a:solidFill>
                            <a:srgbClr val="000000"/>
                          </a:solidFill>
                          <a:latin typeface="Calibri"/>
                        </a:rPr>
                        <a:t>Cert Manager</a:t>
                      </a:r>
                      <a:endParaRPr lang="en-US" sz="900" b="0" strike="noStrike" spc="-1">
                        <a:solidFill>
                          <a:srgbClr val="000000"/>
                        </a:solidFill>
                        <a:latin typeface="Arial"/>
                      </a:endParaRPr>
                    </a:p>
                  </a:txBody>
                  <a:tcPr marL="37800" marR="3780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algn="ctr" defTabSz="914400">
                        <a:lnSpc>
                          <a:spcPct val="100000"/>
                        </a:lnSpc>
                        <a:tabLst>
                          <a:tab pos="0" algn="l"/>
                        </a:tabLst>
                      </a:pPr>
                      <a:r>
                        <a:rPr lang="en-US" sz="1100" b="0" strike="noStrike" spc="-1">
                          <a:solidFill>
                            <a:srgbClr val="009639"/>
                          </a:solidFill>
                          <a:latin typeface="Calibri"/>
                        </a:rPr>
                        <a:t>✔</a:t>
                      </a:r>
                      <a:endParaRPr lang="en-US" sz="1100" b="0" strike="noStrike" spc="-1">
                        <a:solidFill>
                          <a:srgbClr val="000000"/>
                        </a:solidFill>
                        <a:latin typeface="Arial"/>
                      </a:endParaRPr>
                    </a:p>
                  </a:txBody>
                  <a:tcPr marL="37800" marR="3780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algn="ctr" defTabSz="914400">
                        <a:lnSpc>
                          <a:spcPct val="100000"/>
                        </a:lnSpc>
                        <a:tabLst>
                          <a:tab pos="0" algn="l"/>
                        </a:tabLst>
                      </a:pPr>
                      <a:r>
                        <a:rPr lang="en-US" sz="800" b="0" strike="noStrike" spc="-1">
                          <a:solidFill>
                            <a:srgbClr val="F29A36"/>
                          </a:solidFill>
                          <a:latin typeface="Calibri"/>
                        </a:rPr>
                        <a:t>Certs only</a:t>
                      </a:r>
                      <a:endParaRPr lang="en-US" sz="800" b="0" strike="noStrike" spc="-1">
                        <a:solidFill>
                          <a:srgbClr val="000000"/>
                        </a:solidFill>
                        <a:latin typeface="Arial"/>
                      </a:endParaRPr>
                    </a:p>
                  </a:txBody>
                  <a:tcPr marL="37800" marR="3780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algn="ctr" defTabSz="914400">
                        <a:lnSpc>
                          <a:spcPct val="100000"/>
                        </a:lnSpc>
                        <a:tabLst>
                          <a:tab pos="0" algn="l"/>
                        </a:tabLst>
                      </a:pPr>
                      <a:r>
                        <a:rPr lang="en-US" sz="1100" b="0" strike="noStrike" spc="-1">
                          <a:solidFill>
                            <a:srgbClr val="E4002B"/>
                          </a:solidFill>
                          <a:latin typeface="Calibri"/>
                        </a:rPr>
                        <a:t>✘</a:t>
                      </a:r>
                      <a:endParaRPr lang="en-US" sz="1100" b="0" strike="noStrike" spc="-1">
                        <a:solidFill>
                          <a:srgbClr val="000000"/>
                        </a:solidFill>
                        <a:latin typeface="Arial"/>
                      </a:endParaRPr>
                    </a:p>
                  </a:txBody>
                  <a:tcPr marL="37800" marR="3780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algn="ctr" defTabSz="914400">
                        <a:lnSpc>
                          <a:spcPct val="100000"/>
                        </a:lnSpc>
                        <a:tabLst>
                          <a:tab pos="0" algn="l"/>
                        </a:tabLst>
                      </a:pPr>
                      <a:r>
                        <a:rPr lang="en-US" sz="800" b="0" strike="noStrike" spc="-1">
                          <a:solidFill>
                            <a:srgbClr val="000000"/>
                          </a:solidFill>
                          <a:latin typeface="Calibri"/>
                        </a:rPr>
                        <a:t>tmsh</a:t>
                      </a:r>
                      <a:endParaRPr lang="en-US" sz="800" b="0" strike="noStrike" spc="-1">
                        <a:solidFill>
                          <a:srgbClr val="000000"/>
                        </a:solidFill>
                        <a:latin typeface="Arial"/>
                      </a:endParaRPr>
                    </a:p>
                  </a:txBody>
                  <a:tcPr marL="37800" marR="3780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800" b="0" strike="noStrike" spc="-1">
                          <a:solidFill>
                            <a:srgbClr val="000000"/>
                          </a:solidFill>
                          <a:latin typeface="Calibri"/>
                        </a:rPr>
                        <a:t>Manage SSL certificates/keys only.</a:t>
                      </a:r>
                      <a:endParaRPr lang="en-US" sz="800" b="0" strike="noStrike" spc="-1">
                        <a:solidFill>
                          <a:srgbClr val="000000"/>
                        </a:solidFill>
                        <a:latin typeface="Arial"/>
                      </a:endParaRPr>
                    </a:p>
                  </a:txBody>
                  <a:tcPr marL="37800" marR="3780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4"/>
                  </a:ext>
                </a:extLst>
              </a:tr>
              <a:tr h="0">
                <a:tc>
                  <a:txBody>
                    <a:bodyPr/>
                    <a:lstStyle/>
                    <a:p>
                      <a:pPr defTabSz="914400">
                        <a:lnSpc>
                          <a:spcPct val="100000"/>
                        </a:lnSpc>
                        <a:tabLst>
                          <a:tab pos="0" algn="l"/>
                        </a:tabLst>
                      </a:pPr>
                      <a:r>
                        <a:rPr lang="en-US" sz="900" b="1" strike="noStrike" spc="-1">
                          <a:solidFill>
                            <a:srgbClr val="000000"/>
                          </a:solidFill>
                          <a:latin typeface="Calibri"/>
                        </a:rPr>
                        <a:t>iRule Manager</a:t>
                      </a:r>
                      <a:endParaRPr lang="en-US" sz="900" b="0" strike="noStrike" spc="-1">
                        <a:solidFill>
                          <a:srgbClr val="000000"/>
                        </a:solidFill>
                        <a:latin typeface="Arial"/>
                      </a:endParaRPr>
                    </a:p>
                  </a:txBody>
                  <a:tcPr marL="37800" marR="3780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algn="ctr" defTabSz="914400">
                        <a:lnSpc>
                          <a:spcPct val="100000"/>
                        </a:lnSpc>
                        <a:tabLst>
                          <a:tab pos="0" algn="l"/>
                        </a:tabLst>
                      </a:pPr>
                      <a:r>
                        <a:rPr lang="en-US" sz="1100" b="0" strike="noStrike" spc="-1">
                          <a:solidFill>
                            <a:srgbClr val="009639"/>
                          </a:solidFill>
                          <a:latin typeface="Calibri"/>
                        </a:rPr>
                        <a:t>✔</a:t>
                      </a:r>
                      <a:endParaRPr lang="en-US" sz="1100" b="0" strike="noStrike" spc="-1">
                        <a:solidFill>
                          <a:srgbClr val="000000"/>
                        </a:solidFill>
                        <a:latin typeface="Arial"/>
                      </a:endParaRPr>
                    </a:p>
                  </a:txBody>
                  <a:tcPr marL="37800" marR="3780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algn="ctr" defTabSz="914400">
                        <a:lnSpc>
                          <a:spcPct val="100000"/>
                        </a:lnSpc>
                        <a:tabLst>
                          <a:tab pos="0" algn="l"/>
                        </a:tabLst>
                      </a:pPr>
                      <a:r>
                        <a:rPr lang="en-US" sz="800" b="0" strike="noStrike" spc="-1">
                          <a:solidFill>
                            <a:srgbClr val="F29A36"/>
                          </a:solidFill>
                          <a:latin typeface="Calibri"/>
                        </a:rPr>
                        <a:t>iRules only</a:t>
                      </a:r>
                      <a:endParaRPr lang="en-US" sz="800" b="0" strike="noStrike" spc="-1">
                        <a:solidFill>
                          <a:srgbClr val="000000"/>
                        </a:solidFill>
                        <a:latin typeface="Arial"/>
                      </a:endParaRPr>
                    </a:p>
                  </a:txBody>
                  <a:tcPr marL="37800" marR="3780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algn="ctr" defTabSz="914400">
                        <a:lnSpc>
                          <a:spcPct val="100000"/>
                        </a:lnSpc>
                        <a:tabLst>
                          <a:tab pos="0" algn="l"/>
                        </a:tabLst>
                      </a:pPr>
                      <a:r>
                        <a:rPr lang="en-US" sz="1100" b="0" strike="noStrike" spc="-1">
                          <a:solidFill>
                            <a:srgbClr val="E4002B"/>
                          </a:solidFill>
                          <a:latin typeface="Calibri"/>
                        </a:rPr>
                        <a:t>✘</a:t>
                      </a:r>
                      <a:endParaRPr lang="en-US" sz="1100" b="0" strike="noStrike" spc="-1">
                        <a:solidFill>
                          <a:srgbClr val="000000"/>
                        </a:solidFill>
                        <a:latin typeface="Arial"/>
                      </a:endParaRPr>
                    </a:p>
                  </a:txBody>
                  <a:tcPr marL="37800" marR="3780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algn="ctr" defTabSz="914400">
                        <a:lnSpc>
                          <a:spcPct val="100000"/>
                        </a:lnSpc>
                        <a:tabLst>
                          <a:tab pos="0" algn="l"/>
                        </a:tabLst>
                      </a:pPr>
                      <a:r>
                        <a:rPr lang="en-US" sz="800" b="0" strike="noStrike" spc="-1">
                          <a:solidFill>
                            <a:srgbClr val="000000"/>
                          </a:solidFill>
                          <a:latin typeface="Calibri"/>
                        </a:rPr>
                        <a:t>tmsh</a:t>
                      </a:r>
                      <a:endParaRPr lang="en-US" sz="800" b="0" strike="noStrike" spc="-1">
                        <a:solidFill>
                          <a:srgbClr val="000000"/>
                        </a:solidFill>
                        <a:latin typeface="Arial"/>
                      </a:endParaRPr>
                    </a:p>
                  </a:txBody>
                  <a:tcPr marL="37800" marR="3780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800" b="0" strike="noStrike" spc="-1">
                          <a:solidFill>
                            <a:srgbClr val="000000"/>
                          </a:solidFill>
                          <a:latin typeface="Calibri"/>
                        </a:rPr>
                        <a:t>Create/modify/delete iRules only.</a:t>
                      </a:r>
                      <a:endParaRPr lang="en-US" sz="800" b="0" strike="noStrike" spc="-1">
                        <a:solidFill>
                          <a:srgbClr val="000000"/>
                        </a:solidFill>
                        <a:latin typeface="Arial"/>
                      </a:endParaRPr>
                    </a:p>
                  </a:txBody>
                  <a:tcPr marL="37800" marR="3780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5"/>
                  </a:ext>
                </a:extLst>
              </a:tr>
              <a:tr h="0">
                <a:tc>
                  <a:txBody>
                    <a:bodyPr/>
                    <a:lstStyle/>
                    <a:p>
                      <a:pPr defTabSz="914400">
                        <a:lnSpc>
                          <a:spcPct val="100000"/>
                        </a:lnSpc>
                        <a:tabLst>
                          <a:tab pos="0" algn="l"/>
                        </a:tabLst>
                      </a:pPr>
                      <a:r>
                        <a:rPr lang="en-US" sz="900" b="1" strike="noStrike" spc="-1">
                          <a:solidFill>
                            <a:srgbClr val="000000"/>
                          </a:solidFill>
                          <a:latin typeface="Calibri"/>
                        </a:rPr>
                        <a:t>Operator</a:t>
                      </a:r>
                      <a:endParaRPr lang="en-US" sz="900" b="0" strike="noStrike" spc="-1">
                        <a:solidFill>
                          <a:srgbClr val="000000"/>
                        </a:solidFill>
                        <a:latin typeface="Arial"/>
                      </a:endParaRPr>
                    </a:p>
                  </a:txBody>
                  <a:tcPr marL="37800" marR="3780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algn="ctr" defTabSz="914400">
                        <a:lnSpc>
                          <a:spcPct val="100000"/>
                        </a:lnSpc>
                        <a:tabLst>
                          <a:tab pos="0" algn="l"/>
                        </a:tabLst>
                      </a:pPr>
                      <a:r>
                        <a:rPr lang="en-US" sz="1100" b="0" strike="noStrike" spc="-1">
                          <a:solidFill>
                            <a:srgbClr val="009639"/>
                          </a:solidFill>
                          <a:latin typeface="Calibri"/>
                        </a:rPr>
                        <a:t>✔</a:t>
                      </a:r>
                      <a:endParaRPr lang="en-US" sz="1100" b="0" strike="noStrike" spc="-1">
                        <a:solidFill>
                          <a:srgbClr val="000000"/>
                        </a:solidFill>
                        <a:latin typeface="Arial"/>
                      </a:endParaRPr>
                    </a:p>
                  </a:txBody>
                  <a:tcPr marL="37800" marR="3780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algn="ctr" defTabSz="914400">
                        <a:lnSpc>
                          <a:spcPct val="100000"/>
                        </a:lnSpc>
                        <a:tabLst>
                          <a:tab pos="0" algn="l"/>
                        </a:tabLst>
                      </a:pPr>
                      <a:r>
                        <a:rPr lang="en-US" sz="800" b="0" strike="noStrike" spc="-1">
                          <a:solidFill>
                            <a:srgbClr val="F29A36"/>
                          </a:solidFill>
                          <a:latin typeface="Calibri"/>
                        </a:rPr>
                        <a:t>Enable/disable</a:t>
                      </a:r>
                      <a:endParaRPr lang="en-US" sz="800" b="0" strike="noStrike" spc="-1">
                        <a:solidFill>
                          <a:srgbClr val="000000"/>
                        </a:solidFill>
                        <a:latin typeface="Arial"/>
                      </a:endParaRPr>
                    </a:p>
                  </a:txBody>
                  <a:tcPr marL="37800" marR="3780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algn="ctr" defTabSz="914400">
                        <a:lnSpc>
                          <a:spcPct val="100000"/>
                        </a:lnSpc>
                        <a:tabLst>
                          <a:tab pos="0" algn="l"/>
                        </a:tabLst>
                      </a:pPr>
                      <a:r>
                        <a:rPr lang="en-US" sz="1100" b="0" strike="noStrike" spc="-1">
                          <a:solidFill>
                            <a:srgbClr val="E4002B"/>
                          </a:solidFill>
                          <a:latin typeface="Calibri"/>
                        </a:rPr>
                        <a:t>✘</a:t>
                      </a:r>
                      <a:endParaRPr lang="en-US" sz="1100" b="0" strike="noStrike" spc="-1">
                        <a:solidFill>
                          <a:srgbClr val="000000"/>
                        </a:solidFill>
                        <a:latin typeface="Arial"/>
                      </a:endParaRPr>
                    </a:p>
                  </a:txBody>
                  <a:tcPr marL="37800" marR="3780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algn="ctr" defTabSz="914400">
                        <a:lnSpc>
                          <a:spcPct val="100000"/>
                        </a:lnSpc>
                        <a:tabLst>
                          <a:tab pos="0" algn="l"/>
                        </a:tabLst>
                      </a:pPr>
                      <a:r>
                        <a:rPr lang="en-US" sz="800" b="0" strike="noStrike" spc="-1">
                          <a:solidFill>
                            <a:srgbClr val="000000"/>
                          </a:solidFill>
                          <a:latin typeface="Calibri"/>
                        </a:rPr>
                        <a:t>tmsh</a:t>
                      </a:r>
                      <a:endParaRPr lang="en-US" sz="800" b="0" strike="noStrike" spc="-1">
                        <a:solidFill>
                          <a:srgbClr val="000000"/>
                        </a:solidFill>
                        <a:latin typeface="Arial"/>
                      </a:endParaRPr>
                    </a:p>
                  </a:txBody>
                  <a:tcPr marL="37800" marR="3780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800" b="0" strike="noStrike" spc="-1">
                          <a:solidFill>
                            <a:srgbClr val="000000"/>
                          </a:solidFill>
                          <a:latin typeface="Calibri"/>
                        </a:rPr>
                        <a:t>Enable/disable VS, members, nodes. NOC ops.</a:t>
                      </a:r>
                      <a:endParaRPr lang="en-US" sz="800" b="0" strike="noStrike" spc="-1">
                        <a:solidFill>
                          <a:srgbClr val="000000"/>
                        </a:solidFill>
                        <a:latin typeface="Arial"/>
                      </a:endParaRPr>
                    </a:p>
                  </a:txBody>
                  <a:tcPr marL="37800" marR="3780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6"/>
                  </a:ext>
                </a:extLst>
              </a:tr>
              <a:tr h="0">
                <a:tc>
                  <a:txBody>
                    <a:bodyPr/>
                    <a:lstStyle/>
                    <a:p>
                      <a:pPr defTabSz="914400">
                        <a:lnSpc>
                          <a:spcPct val="100000"/>
                        </a:lnSpc>
                        <a:tabLst>
                          <a:tab pos="0" algn="l"/>
                        </a:tabLst>
                      </a:pPr>
                      <a:r>
                        <a:rPr lang="en-US" sz="900" b="1" strike="noStrike" spc="-1">
                          <a:solidFill>
                            <a:srgbClr val="000000"/>
                          </a:solidFill>
                          <a:latin typeface="Calibri"/>
                        </a:rPr>
                        <a:t>Guest</a:t>
                      </a:r>
                      <a:endParaRPr lang="en-US" sz="900" b="0" strike="noStrike" spc="-1">
                        <a:solidFill>
                          <a:srgbClr val="000000"/>
                        </a:solidFill>
                        <a:latin typeface="Arial"/>
                      </a:endParaRPr>
                    </a:p>
                  </a:txBody>
                  <a:tcPr marL="37800" marR="3780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algn="ctr" defTabSz="914400">
                        <a:lnSpc>
                          <a:spcPct val="100000"/>
                        </a:lnSpc>
                        <a:tabLst>
                          <a:tab pos="0" algn="l"/>
                        </a:tabLst>
                      </a:pPr>
                      <a:r>
                        <a:rPr lang="en-US" sz="800" b="0" strike="noStrike" spc="-1">
                          <a:solidFill>
                            <a:srgbClr val="0E41AA"/>
                          </a:solidFill>
                          <a:latin typeface="Calibri"/>
                        </a:rPr>
                        <a:t>Read-only</a:t>
                      </a:r>
                      <a:endParaRPr lang="en-US" sz="800" b="0" strike="noStrike" spc="-1">
                        <a:solidFill>
                          <a:srgbClr val="000000"/>
                        </a:solidFill>
                        <a:latin typeface="Arial"/>
                      </a:endParaRPr>
                    </a:p>
                  </a:txBody>
                  <a:tcPr marL="37800" marR="3780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algn="ctr" defTabSz="914400">
                        <a:lnSpc>
                          <a:spcPct val="100000"/>
                        </a:lnSpc>
                        <a:tabLst>
                          <a:tab pos="0" algn="l"/>
                        </a:tabLst>
                      </a:pPr>
                      <a:r>
                        <a:rPr lang="en-US" sz="1100" b="0" strike="noStrike" spc="-1">
                          <a:solidFill>
                            <a:srgbClr val="E4002B"/>
                          </a:solidFill>
                          <a:latin typeface="Calibri"/>
                        </a:rPr>
                        <a:t>✘</a:t>
                      </a:r>
                      <a:endParaRPr lang="en-US" sz="1100" b="0" strike="noStrike" spc="-1">
                        <a:solidFill>
                          <a:srgbClr val="000000"/>
                        </a:solidFill>
                        <a:latin typeface="Arial"/>
                      </a:endParaRPr>
                    </a:p>
                  </a:txBody>
                  <a:tcPr marL="37800" marR="3780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algn="ctr" defTabSz="914400">
                        <a:lnSpc>
                          <a:spcPct val="100000"/>
                        </a:lnSpc>
                        <a:tabLst>
                          <a:tab pos="0" algn="l"/>
                        </a:tabLst>
                      </a:pPr>
                      <a:r>
                        <a:rPr lang="en-US" sz="1100" b="0" strike="noStrike" spc="-1">
                          <a:solidFill>
                            <a:srgbClr val="E4002B"/>
                          </a:solidFill>
                          <a:latin typeface="Calibri"/>
                        </a:rPr>
                        <a:t>✘</a:t>
                      </a:r>
                      <a:endParaRPr lang="en-US" sz="1100" b="0" strike="noStrike" spc="-1">
                        <a:solidFill>
                          <a:srgbClr val="000000"/>
                        </a:solidFill>
                        <a:latin typeface="Arial"/>
                      </a:endParaRPr>
                    </a:p>
                  </a:txBody>
                  <a:tcPr marL="37800" marR="3780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algn="ctr" defTabSz="914400">
                        <a:lnSpc>
                          <a:spcPct val="100000"/>
                        </a:lnSpc>
                        <a:tabLst>
                          <a:tab pos="0" algn="l"/>
                        </a:tabLst>
                      </a:pPr>
                      <a:r>
                        <a:rPr lang="en-US" sz="800" b="0" strike="noStrike" spc="-1">
                          <a:solidFill>
                            <a:srgbClr val="000000"/>
                          </a:solidFill>
                          <a:latin typeface="Calibri"/>
                        </a:rPr>
                        <a:t>None</a:t>
                      </a:r>
                      <a:endParaRPr lang="en-US" sz="800" b="0" strike="noStrike" spc="-1">
                        <a:solidFill>
                          <a:srgbClr val="000000"/>
                        </a:solidFill>
                        <a:latin typeface="Arial"/>
                      </a:endParaRPr>
                    </a:p>
                  </a:txBody>
                  <a:tcPr marL="37800" marR="3780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800" b="0" strike="noStrike" spc="-1">
                          <a:solidFill>
                            <a:srgbClr val="000000"/>
                          </a:solidFill>
                          <a:latin typeface="Calibri"/>
                        </a:rPr>
                        <a:t>View-only. Auditors, support.</a:t>
                      </a:r>
                      <a:endParaRPr lang="en-US" sz="800" b="0" strike="noStrike" spc="-1">
                        <a:solidFill>
                          <a:srgbClr val="000000"/>
                        </a:solidFill>
                        <a:latin typeface="Arial"/>
                      </a:endParaRPr>
                    </a:p>
                  </a:txBody>
                  <a:tcPr marL="37800" marR="3780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7"/>
                  </a:ext>
                </a:extLst>
              </a:tr>
              <a:tr h="0">
                <a:tc>
                  <a:txBody>
                    <a:bodyPr/>
                    <a:lstStyle/>
                    <a:p>
                      <a:pPr defTabSz="914400">
                        <a:lnSpc>
                          <a:spcPct val="100000"/>
                        </a:lnSpc>
                        <a:tabLst>
                          <a:tab pos="0" algn="l"/>
                        </a:tabLst>
                      </a:pPr>
                      <a:r>
                        <a:rPr lang="en-US" sz="900" b="1" strike="noStrike" spc="-1">
                          <a:solidFill>
                            <a:srgbClr val="000000"/>
                          </a:solidFill>
                          <a:latin typeface="Calibri"/>
                        </a:rPr>
                        <a:t>No Access</a:t>
                      </a:r>
                      <a:endParaRPr lang="en-US" sz="900" b="0" strike="noStrike" spc="-1">
                        <a:solidFill>
                          <a:srgbClr val="000000"/>
                        </a:solidFill>
                        <a:latin typeface="Arial"/>
                      </a:endParaRPr>
                    </a:p>
                  </a:txBody>
                  <a:tcPr marL="37800" marR="3780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algn="ctr" defTabSz="914400">
                        <a:lnSpc>
                          <a:spcPct val="100000"/>
                        </a:lnSpc>
                        <a:tabLst>
                          <a:tab pos="0" algn="l"/>
                        </a:tabLst>
                      </a:pPr>
                      <a:r>
                        <a:rPr lang="en-US" sz="1100" b="0" strike="noStrike" spc="-1">
                          <a:solidFill>
                            <a:srgbClr val="E4002B"/>
                          </a:solidFill>
                          <a:latin typeface="Calibri"/>
                        </a:rPr>
                        <a:t>✘</a:t>
                      </a:r>
                      <a:endParaRPr lang="en-US" sz="1100" b="0" strike="noStrike" spc="-1">
                        <a:solidFill>
                          <a:srgbClr val="000000"/>
                        </a:solidFill>
                        <a:latin typeface="Arial"/>
                      </a:endParaRPr>
                    </a:p>
                  </a:txBody>
                  <a:tcPr marL="37800" marR="3780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algn="ctr" defTabSz="914400">
                        <a:lnSpc>
                          <a:spcPct val="100000"/>
                        </a:lnSpc>
                        <a:tabLst>
                          <a:tab pos="0" algn="l"/>
                        </a:tabLst>
                      </a:pPr>
                      <a:r>
                        <a:rPr lang="en-US" sz="1100" b="0" strike="noStrike" spc="-1">
                          <a:solidFill>
                            <a:srgbClr val="E4002B"/>
                          </a:solidFill>
                          <a:latin typeface="Calibri"/>
                        </a:rPr>
                        <a:t>✘</a:t>
                      </a:r>
                      <a:endParaRPr lang="en-US" sz="1100" b="0" strike="noStrike" spc="-1">
                        <a:solidFill>
                          <a:srgbClr val="000000"/>
                        </a:solidFill>
                        <a:latin typeface="Arial"/>
                      </a:endParaRPr>
                    </a:p>
                  </a:txBody>
                  <a:tcPr marL="37800" marR="3780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algn="ctr" defTabSz="914400">
                        <a:lnSpc>
                          <a:spcPct val="100000"/>
                        </a:lnSpc>
                        <a:tabLst>
                          <a:tab pos="0" algn="l"/>
                        </a:tabLst>
                      </a:pPr>
                      <a:r>
                        <a:rPr lang="en-US" sz="1100" b="0" strike="noStrike" spc="-1">
                          <a:solidFill>
                            <a:srgbClr val="E4002B"/>
                          </a:solidFill>
                          <a:latin typeface="Calibri"/>
                        </a:rPr>
                        <a:t>✘</a:t>
                      </a:r>
                      <a:endParaRPr lang="en-US" sz="1100" b="0" strike="noStrike" spc="-1">
                        <a:solidFill>
                          <a:srgbClr val="000000"/>
                        </a:solidFill>
                        <a:latin typeface="Arial"/>
                      </a:endParaRPr>
                    </a:p>
                  </a:txBody>
                  <a:tcPr marL="37800" marR="3780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algn="ctr" defTabSz="914400">
                        <a:lnSpc>
                          <a:spcPct val="100000"/>
                        </a:lnSpc>
                        <a:tabLst>
                          <a:tab pos="0" algn="l"/>
                        </a:tabLst>
                      </a:pPr>
                      <a:r>
                        <a:rPr lang="en-US" sz="800" b="0" strike="noStrike" spc="-1">
                          <a:solidFill>
                            <a:srgbClr val="000000"/>
                          </a:solidFill>
                          <a:latin typeface="Calibri"/>
                        </a:rPr>
                        <a:t>None</a:t>
                      </a:r>
                      <a:endParaRPr lang="en-US" sz="800" b="0" strike="noStrike" spc="-1">
                        <a:solidFill>
                          <a:srgbClr val="000000"/>
                        </a:solidFill>
                        <a:latin typeface="Arial"/>
                      </a:endParaRPr>
                    </a:p>
                  </a:txBody>
                  <a:tcPr marL="37800" marR="3780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800" b="0" strike="noStrike" spc="-1">
                          <a:solidFill>
                            <a:srgbClr val="000000"/>
                          </a:solidFill>
                          <a:latin typeface="Calibri"/>
                        </a:rPr>
                        <a:t>Block access to a specific partition.</a:t>
                      </a:r>
                      <a:endParaRPr lang="en-US" sz="800" b="0" strike="noStrike" spc="-1">
                        <a:solidFill>
                          <a:srgbClr val="000000"/>
                        </a:solidFill>
                        <a:latin typeface="Arial"/>
                      </a:endParaRPr>
                    </a:p>
                  </a:txBody>
                  <a:tcPr marL="37800" marR="3780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8"/>
                  </a:ext>
                </a:extLst>
              </a:tr>
            </a:tbl>
          </a:graphicData>
        </a:graphic>
      </p:graphicFrame>
      <p:sp>
        <p:nvSpPr>
          <p:cNvPr id="1781" name="Shape 8"/>
          <p:cNvSpPr/>
          <p:nvPr/>
        </p:nvSpPr>
        <p:spPr>
          <a:xfrm>
            <a:off x="365760" y="3840480"/>
            <a:ext cx="8412120" cy="77688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782" name="Text 9"/>
          <p:cNvSpPr/>
          <p:nvPr/>
        </p:nvSpPr>
        <p:spPr>
          <a:xfrm>
            <a:off x="457200" y="3858840"/>
            <a:ext cx="822924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r>
              <a:rPr lang="en-US" sz="1100" b="1" strike="noStrike" spc="-1">
                <a:solidFill>
                  <a:srgbClr val="61228B"/>
                </a:solidFill>
                <a:latin typeface="Calibri"/>
                <a:ea typeface="Calibri"/>
              </a:rPr>
              <a:t>Terminal access (independent of role, set per user)</a:t>
            </a:r>
            <a:endParaRPr lang="en-US" sz="1100" b="0" strike="noStrike" spc="-1">
              <a:solidFill>
                <a:srgbClr val="000000"/>
              </a:solidFill>
              <a:latin typeface="Arial"/>
            </a:endParaRPr>
          </a:p>
          <a:p>
            <a:pPr defTabSz="914400">
              <a:lnSpc>
                <a:spcPct val="100000"/>
              </a:lnSpc>
              <a:tabLst>
                <a:tab pos="0" algn="l"/>
              </a:tabLst>
            </a:pPr>
            <a:r>
              <a:rPr lang="en-US" sz="900" b="1" strike="noStrike" spc="-1">
                <a:solidFill>
                  <a:srgbClr val="E4002B"/>
                </a:solidFill>
                <a:latin typeface="Calibri"/>
                <a:ea typeface="Calibri"/>
              </a:rPr>
              <a:t>Disabled: </a:t>
            </a:r>
            <a:r>
              <a:rPr lang="en-US" sz="900" b="0" strike="noStrike" spc="-1">
                <a:solidFill>
                  <a:srgbClr val="333333"/>
                </a:solidFill>
                <a:latin typeface="Calibri"/>
                <a:ea typeface="Calibri"/>
              </a:rPr>
              <a:t>GUI only. No SSH.    </a:t>
            </a:r>
            <a:r>
              <a:rPr lang="en-US" sz="900" b="1" strike="noStrike" spc="-1">
                <a:solidFill>
                  <a:srgbClr val="0E41AA"/>
                </a:solidFill>
                <a:latin typeface="Calibri"/>
                <a:ea typeface="Calibri"/>
              </a:rPr>
              <a:t>tmsh: </a:t>
            </a:r>
            <a:r>
              <a:rPr lang="en-US" sz="900" b="0" strike="noStrike" spc="-1">
                <a:solidFill>
                  <a:srgbClr val="333333"/>
                </a:solidFill>
                <a:latin typeface="Calibri"/>
                <a:ea typeface="Calibri"/>
              </a:rPr>
              <a:t>SSH → TMSH. Cannot escape to bash. 'exit' logs out.    </a:t>
            </a:r>
            <a:r>
              <a:rPr lang="en-US" sz="900" b="1" strike="noStrike" spc="-1">
                <a:solidFill>
                  <a:srgbClr val="009639"/>
                </a:solidFill>
                <a:latin typeface="Calibri"/>
                <a:ea typeface="Calibri"/>
              </a:rPr>
              <a:t>Advanced shell: </a:t>
            </a:r>
            <a:r>
              <a:rPr lang="en-US" sz="900" b="0" strike="noStrike" spc="-1">
                <a:solidFill>
                  <a:srgbClr val="333333"/>
                </a:solidFill>
                <a:latin typeface="Calibri"/>
                <a:ea typeface="Calibri"/>
              </a:rPr>
              <a:t>Full bash. Admin only.</a:t>
            </a:r>
            <a:endParaRPr lang="en-US" sz="900" b="0" strike="noStrike" spc="-1">
              <a:solidFill>
                <a:srgbClr val="000000"/>
              </a:solidFill>
              <a:latin typeface="Arial"/>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83"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784"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785"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786"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787"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788"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80    © 2026 F5</a:t>
            </a:r>
            <a:endParaRPr lang="en-US" sz="800" b="0" strike="noStrike" spc="-1">
              <a:solidFill>
                <a:srgbClr val="000000"/>
              </a:solidFill>
              <a:latin typeface="Arial"/>
            </a:endParaRPr>
          </a:p>
        </p:txBody>
      </p:sp>
      <p:pic>
        <p:nvPicPr>
          <p:cNvPr id="1789" name="Image 0" descr="preencoded.png"/>
          <p:cNvPicPr/>
          <p:nvPr/>
        </p:nvPicPr>
        <p:blipFill>
          <a:blip r:embed="rId3"/>
          <a:stretch/>
        </p:blipFill>
        <p:spPr>
          <a:xfrm>
            <a:off x="8458200" y="4663440"/>
            <a:ext cx="383760" cy="383760"/>
          </a:xfrm>
          <a:prstGeom prst="rect">
            <a:avLst/>
          </a:prstGeom>
          <a:ln w="0">
            <a:noFill/>
          </a:ln>
        </p:spPr>
      </p:pic>
      <p:sp>
        <p:nvSpPr>
          <p:cNvPr id="1790" name="Text 6"/>
          <p:cNvSpPr/>
          <p:nvPr/>
        </p:nvSpPr>
        <p:spPr>
          <a:xfrm>
            <a:off x="457200" y="274320"/>
            <a:ext cx="82292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/Common vs created partitions</a:t>
            </a:r>
            <a:endParaRPr lang="en-US" sz="2800" b="0" strike="noStrike" spc="-1">
              <a:solidFill>
                <a:srgbClr val="000000"/>
              </a:solidFill>
              <a:latin typeface="Arial"/>
            </a:endParaRPr>
          </a:p>
        </p:txBody>
      </p:sp>
      <p:sp>
        <p:nvSpPr>
          <p:cNvPr id="1791" name="Text 7"/>
          <p:cNvSpPr/>
          <p:nvPr/>
        </p:nvSpPr>
        <p:spPr>
          <a:xfrm>
            <a:off x="457200" y="658440"/>
            <a:ext cx="82292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strike="noStrike" spc="-1">
                <a:solidFill>
                  <a:srgbClr val="666666"/>
                </a:solidFill>
                <a:latin typeface="Calibri"/>
                <a:ea typeface="Calibri"/>
              </a:rPr>
              <a:t>Every BIG-IP has /Common. Created partitions reference /Common but cannot modify it.</a:t>
            </a:r>
            <a:endParaRPr lang="en-US" sz="1300" b="0" strike="noStrike" spc="-1">
              <a:solidFill>
                <a:srgbClr val="000000"/>
              </a:solidFill>
              <a:latin typeface="Arial"/>
            </a:endParaRPr>
          </a:p>
        </p:txBody>
      </p:sp>
      <p:sp>
        <p:nvSpPr>
          <p:cNvPr id="1792" name="Shape 8"/>
          <p:cNvSpPr/>
          <p:nvPr/>
        </p:nvSpPr>
        <p:spPr>
          <a:xfrm>
            <a:off x="365760" y="1005840"/>
            <a:ext cx="3931560" cy="36540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793" name="Text 9"/>
          <p:cNvSpPr/>
          <p:nvPr/>
        </p:nvSpPr>
        <p:spPr>
          <a:xfrm>
            <a:off x="365760" y="1005840"/>
            <a:ext cx="39315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strike="noStrike" spc="-1">
                <a:solidFill>
                  <a:srgbClr val="FFFFFF"/>
                </a:solidFill>
                <a:latin typeface="Arial"/>
                <a:ea typeface="Arial"/>
              </a:rPr>
              <a:t>/Common partition</a:t>
            </a:r>
            <a:endParaRPr lang="en-US" sz="1600" b="0" strike="noStrike" spc="-1">
              <a:solidFill>
                <a:srgbClr val="000000"/>
              </a:solidFill>
              <a:latin typeface="Arial"/>
            </a:endParaRPr>
          </a:p>
        </p:txBody>
      </p:sp>
      <p:sp>
        <p:nvSpPr>
          <p:cNvPr id="1794" name="Shape 10"/>
          <p:cNvSpPr/>
          <p:nvPr/>
        </p:nvSpPr>
        <p:spPr>
          <a:xfrm>
            <a:off x="365760" y="1371600"/>
            <a:ext cx="3931560" cy="210276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795" name="Text 11"/>
          <p:cNvSpPr/>
          <p:nvPr/>
        </p:nvSpPr>
        <p:spPr>
          <a:xfrm>
            <a:off x="457200" y="1417320"/>
            <a:ext cx="3748680" cy="2011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r>
              <a:rPr lang="en-US" sz="1000" b="1" strike="noStrike" spc="-1">
                <a:solidFill>
                  <a:srgbClr val="0E41AA"/>
                </a:solidFill>
                <a:latin typeface="Calibri"/>
                <a:ea typeface="Calibri"/>
              </a:rPr>
              <a:t>Always exists — cannot be deleted</a:t>
            </a:r>
            <a:endParaRPr lang="en-US" sz="1000" b="0" strike="noStrike" spc="-1">
              <a:solidFill>
                <a:srgbClr val="000000"/>
              </a:solidFill>
              <a:latin typeface="Arial"/>
            </a:endParaRPr>
          </a:p>
          <a:p>
            <a:endParaRPr lang="en-US" sz="1000" b="0" strike="noStrike" spc="-1">
              <a:solidFill>
                <a:srgbClr val="000000"/>
              </a:solidFill>
              <a:latin typeface="Arial"/>
            </a:endParaRPr>
          </a:p>
          <a:p>
            <a:r>
              <a:rPr lang="en-US" sz="1000" b="1" strike="noStrike" spc="-1">
                <a:solidFill>
                  <a:srgbClr val="333333"/>
                </a:solidFill>
                <a:latin typeface="Calibri"/>
                <a:ea typeface="Calibri"/>
              </a:rPr>
              <a:t>Default partition for all objects</a:t>
            </a:r>
            <a:endParaRPr lang="en-US" sz="1000" b="0" strike="noStrike" spc="-1">
              <a:solidFill>
                <a:srgbClr val="000000"/>
              </a:solidFill>
              <a:latin typeface="Arial"/>
            </a:endParaRPr>
          </a:p>
          <a:p>
            <a:r>
              <a:rPr lang="en-US" sz="900" b="0" strike="noStrike" spc="-1">
                <a:solidFill>
                  <a:srgbClr val="333333"/>
                </a:solidFill>
                <a:latin typeface="Calibri"/>
                <a:ea typeface="Calibri"/>
              </a:rPr>
              <a:t>Objects without a partition go here.</a:t>
            </a:r>
            <a:endParaRPr lang="en-US" sz="900" b="0" strike="noStrike" spc="-1">
              <a:solidFill>
                <a:srgbClr val="000000"/>
              </a:solidFill>
              <a:latin typeface="Arial"/>
            </a:endParaRPr>
          </a:p>
          <a:p>
            <a:endParaRPr lang="en-US" sz="900" b="0" strike="noStrike" spc="-1">
              <a:solidFill>
                <a:srgbClr val="000000"/>
              </a:solidFill>
              <a:latin typeface="Arial"/>
            </a:endParaRPr>
          </a:p>
          <a:p>
            <a:r>
              <a:rPr lang="en-US" sz="1000" b="1" strike="noStrike" spc="-1">
                <a:solidFill>
                  <a:srgbClr val="333333"/>
                </a:solidFill>
                <a:latin typeface="Calibri"/>
                <a:ea typeface="Calibri"/>
              </a:rPr>
              <a:t>Visible to ALL users (read-only)</a:t>
            </a:r>
            <a:endParaRPr lang="en-US" sz="1000" b="0" strike="noStrike" spc="-1">
              <a:solidFill>
                <a:srgbClr val="000000"/>
              </a:solidFill>
              <a:latin typeface="Arial"/>
            </a:endParaRPr>
          </a:p>
          <a:p>
            <a:r>
              <a:rPr lang="en-US" sz="900" b="0" strike="noStrike" spc="-1">
                <a:solidFill>
                  <a:srgbClr val="333333"/>
                </a:solidFill>
                <a:latin typeface="Calibri"/>
                <a:ea typeface="Calibri"/>
              </a:rPr>
              <a:t>Every user sees /Common. Greyed out in GUI.</a:t>
            </a:r>
            <a:endParaRPr lang="en-US" sz="900" b="0" strike="noStrike" spc="-1">
              <a:solidFill>
                <a:srgbClr val="000000"/>
              </a:solidFill>
              <a:latin typeface="Arial"/>
            </a:endParaRPr>
          </a:p>
          <a:p>
            <a:endParaRPr lang="en-US" sz="900" b="0" strike="noStrike" spc="-1">
              <a:solidFill>
                <a:srgbClr val="000000"/>
              </a:solidFill>
              <a:latin typeface="Arial"/>
            </a:endParaRPr>
          </a:p>
          <a:p>
            <a:r>
              <a:rPr lang="en-US" sz="1000" b="1" strike="noStrike" spc="-1">
                <a:solidFill>
                  <a:srgbClr val="333333"/>
                </a:solidFill>
                <a:latin typeface="Calibri"/>
                <a:ea typeface="Calibri"/>
              </a:rPr>
              <a:t>Shared infrastructure lives here</a:t>
            </a:r>
            <a:endParaRPr lang="en-US" sz="1000" b="0" strike="noStrike" spc="-1">
              <a:solidFill>
                <a:srgbClr val="000000"/>
              </a:solidFill>
              <a:latin typeface="Arial"/>
            </a:endParaRPr>
          </a:p>
          <a:p>
            <a:pPr defTabSz="914400">
              <a:lnSpc>
                <a:spcPct val="100000"/>
              </a:lnSpc>
              <a:tabLst>
                <a:tab pos="0" algn="l"/>
              </a:tabLst>
            </a:pPr>
            <a:r>
              <a:rPr lang="en-US" sz="900" b="0" strike="noStrike" spc="-1">
                <a:solidFill>
                  <a:srgbClr val="333333"/>
                </a:solidFill>
                <a:latin typeface="Calibri"/>
                <a:ea typeface="Calibri"/>
              </a:rPr>
              <a:t>VLANs, self IPs, routes, shared pools, profiles, iRules, monitors, certs.</a:t>
            </a:r>
            <a:endParaRPr lang="en-US" sz="900" b="0" strike="noStrike" spc="-1">
              <a:solidFill>
                <a:srgbClr val="000000"/>
              </a:solidFill>
              <a:latin typeface="Arial"/>
            </a:endParaRPr>
          </a:p>
        </p:txBody>
      </p:sp>
      <p:sp>
        <p:nvSpPr>
          <p:cNvPr id="1796" name="Shape 12"/>
          <p:cNvSpPr/>
          <p:nvPr/>
        </p:nvSpPr>
        <p:spPr>
          <a:xfrm>
            <a:off x="4846320" y="1005840"/>
            <a:ext cx="3931560" cy="36540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797" name="Text 13"/>
          <p:cNvSpPr/>
          <p:nvPr/>
        </p:nvSpPr>
        <p:spPr>
          <a:xfrm>
            <a:off x="4846320" y="1005840"/>
            <a:ext cx="39315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strike="noStrike" spc="-1">
                <a:solidFill>
                  <a:srgbClr val="FFFFFF"/>
                </a:solidFill>
                <a:latin typeface="Arial"/>
                <a:ea typeface="Arial"/>
              </a:rPr>
              <a:t>User-created partition</a:t>
            </a:r>
            <a:endParaRPr lang="en-US" sz="1600" b="0" strike="noStrike" spc="-1">
              <a:solidFill>
                <a:srgbClr val="000000"/>
              </a:solidFill>
              <a:latin typeface="Arial"/>
            </a:endParaRPr>
          </a:p>
        </p:txBody>
      </p:sp>
      <p:sp>
        <p:nvSpPr>
          <p:cNvPr id="1798" name="Shape 14"/>
          <p:cNvSpPr/>
          <p:nvPr/>
        </p:nvSpPr>
        <p:spPr>
          <a:xfrm>
            <a:off x="4846320" y="1371600"/>
            <a:ext cx="3931560" cy="210276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799" name="Text 15"/>
          <p:cNvSpPr/>
          <p:nvPr/>
        </p:nvSpPr>
        <p:spPr>
          <a:xfrm>
            <a:off x="4937760" y="1417320"/>
            <a:ext cx="3748680" cy="2011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r>
              <a:rPr lang="en-US" sz="1000" b="1" strike="noStrike" spc="-1">
                <a:solidFill>
                  <a:srgbClr val="61228B"/>
                </a:solidFill>
                <a:latin typeface="Calibri"/>
                <a:ea typeface="Calibri"/>
              </a:rPr>
              <a:t>Created by administrators</a:t>
            </a:r>
            <a:endParaRPr lang="en-US" sz="1000" b="0" strike="noStrike" spc="-1">
              <a:solidFill>
                <a:srgbClr val="000000"/>
              </a:solidFill>
              <a:latin typeface="Arial"/>
            </a:endParaRPr>
          </a:p>
          <a:p>
            <a:endParaRPr lang="en-US" sz="1000" b="0" strike="noStrike" spc="-1">
              <a:solidFill>
                <a:srgbClr val="000000"/>
              </a:solidFill>
              <a:latin typeface="Arial"/>
            </a:endParaRPr>
          </a:p>
          <a:p>
            <a:r>
              <a:rPr lang="en-US" sz="1000" b="1" strike="noStrike" spc="-1">
                <a:solidFill>
                  <a:srgbClr val="333333"/>
                </a:solidFill>
                <a:latin typeface="Calibri"/>
                <a:ea typeface="Calibri"/>
              </a:rPr>
              <a:t>Isolated container</a:t>
            </a:r>
            <a:endParaRPr lang="en-US" sz="1000" b="0" strike="noStrike" spc="-1">
              <a:solidFill>
                <a:srgbClr val="000000"/>
              </a:solidFill>
              <a:latin typeface="Arial"/>
            </a:endParaRPr>
          </a:p>
          <a:p>
            <a:r>
              <a:rPr lang="en-US" sz="900" b="0" strike="noStrike" spc="-1">
                <a:solidFill>
                  <a:srgbClr val="333333"/>
                </a:solidFill>
                <a:latin typeface="Calibri"/>
                <a:ea typeface="Calibri"/>
              </a:rPr>
              <a:t>Invisible to other partition users.</a:t>
            </a:r>
            <a:endParaRPr lang="en-US" sz="900" b="0" strike="noStrike" spc="-1">
              <a:solidFill>
                <a:srgbClr val="000000"/>
              </a:solidFill>
              <a:latin typeface="Arial"/>
            </a:endParaRPr>
          </a:p>
          <a:p>
            <a:endParaRPr lang="en-US" sz="900" b="0" strike="noStrike" spc="-1">
              <a:solidFill>
                <a:srgbClr val="000000"/>
              </a:solidFill>
              <a:latin typeface="Arial"/>
            </a:endParaRPr>
          </a:p>
          <a:p>
            <a:r>
              <a:rPr lang="en-US" sz="1000" b="1" strike="noStrike" spc="-1">
                <a:solidFill>
                  <a:srgbClr val="009639"/>
                </a:solidFill>
                <a:latin typeface="Calibri"/>
                <a:ea typeface="Calibri"/>
              </a:rPr>
              <a:t>Can REFERENCE /Common objects</a:t>
            </a:r>
            <a:endParaRPr lang="en-US" sz="1000" b="0" strike="noStrike" spc="-1">
              <a:solidFill>
                <a:srgbClr val="000000"/>
              </a:solidFill>
              <a:latin typeface="Arial"/>
            </a:endParaRPr>
          </a:p>
          <a:p>
            <a:r>
              <a:rPr lang="en-US" sz="800" b="0" strike="noStrike" spc="-1">
                <a:solidFill>
                  <a:srgbClr val="333333"/>
                </a:solidFill>
                <a:latin typeface="Courier New"/>
                <a:ea typeface="Courier New"/>
              </a:rPr>
              <a:t>create ltm virtual test_vs</a:t>
            </a:r>
            <a:endParaRPr lang="en-US" sz="800" b="0" strike="noStrike" spc="-1">
              <a:solidFill>
                <a:srgbClr val="000000"/>
              </a:solidFill>
              <a:latin typeface="Arial"/>
            </a:endParaRPr>
          </a:p>
          <a:p>
            <a:r>
              <a:rPr lang="en-US" sz="800" b="0" strike="noStrike" spc="-1">
                <a:solidFill>
                  <a:srgbClr val="333333"/>
                </a:solidFill>
                <a:latin typeface="Courier New"/>
                <a:ea typeface="Courier New"/>
              </a:rPr>
              <a:t>  pool /Common/www_pool</a:t>
            </a:r>
            <a:endParaRPr lang="en-US" sz="800" b="0" strike="noStrike" spc="-1">
              <a:solidFill>
                <a:srgbClr val="000000"/>
              </a:solidFill>
              <a:latin typeface="Arial"/>
            </a:endParaRPr>
          </a:p>
          <a:p>
            <a:r>
              <a:rPr lang="en-US" sz="900" b="0" strike="noStrike" spc="-1">
                <a:solidFill>
                  <a:srgbClr val="333333"/>
                </a:solidFill>
                <a:latin typeface="Calibri"/>
                <a:ea typeface="Calibri"/>
              </a:rPr>
              <a:t>Live reference — /Common changes propagate.</a:t>
            </a:r>
            <a:endParaRPr lang="en-US" sz="900" b="0" strike="noStrike" spc="-1">
              <a:solidFill>
                <a:srgbClr val="000000"/>
              </a:solidFill>
              <a:latin typeface="Arial"/>
            </a:endParaRPr>
          </a:p>
          <a:p>
            <a:endParaRPr lang="en-US" sz="900" b="0" strike="noStrike" spc="-1">
              <a:solidFill>
                <a:srgbClr val="000000"/>
              </a:solidFill>
              <a:latin typeface="Arial"/>
            </a:endParaRPr>
          </a:p>
          <a:p>
            <a:r>
              <a:rPr lang="en-US" sz="1000" b="1" strike="noStrike" spc="-1">
                <a:solidFill>
                  <a:srgbClr val="333333"/>
                </a:solidFill>
                <a:latin typeface="Calibri"/>
                <a:ea typeface="Calibri"/>
              </a:rPr>
              <a:t>Separate config file</a:t>
            </a:r>
            <a:endParaRPr lang="en-US" sz="1000" b="0" strike="noStrike" spc="-1">
              <a:solidFill>
                <a:srgbClr val="000000"/>
              </a:solidFill>
              <a:latin typeface="Arial"/>
            </a:endParaRPr>
          </a:p>
          <a:p>
            <a:pPr defTabSz="914400">
              <a:lnSpc>
                <a:spcPct val="100000"/>
              </a:lnSpc>
              <a:tabLst>
                <a:tab pos="0" algn="l"/>
              </a:tabLst>
            </a:pPr>
            <a:r>
              <a:rPr lang="en-US" sz="900" b="0" strike="noStrike" spc="-1">
                <a:solidFill>
                  <a:srgbClr val="333333"/>
                </a:solidFill>
                <a:latin typeface="Courier New"/>
                <a:ea typeface="Courier New"/>
              </a:rPr>
              <a:t>/config/partitions/[name]/bigip.conf</a:t>
            </a:r>
            <a:endParaRPr lang="en-US" sz="900" b="0" strike="noStrike" spc="-1">
              <a:solidFill>
                <a:srgbClr val="000000"/>
              </a:solidFill>
              <a:latin typeface="Arial"/>
            </a:endParaRPr>
          </a:p>
        </p:txBody>
      </p:sp>
      <p:sp>
        <p:nvSpPr>
          <p:cNvPr id="1800" name="Text 16"/>
          <p:cNvSpPr/>
          <p:nvPr/>
        </p:nvSpPr>
        <p:spPr>
          <a:xfrm>
            <a:off x="457200" y="3657600"/>
            <a:ext cx="45716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009639"/>
                </a:solidFill>
                <a:latin typeface="Arial"/>
                <a:ea typeface="Arial"/>
              </a:rPr>
              <a:t>How they relate</a:t>
            </a:r>
            <a:endParaRPr lang="en-US" sz="1400" b="0" strike="noStrike" spc="-1">
              <a:solidFill>
                <a:srgbClr val="000000"/>
              </a:solidFill>
              <a:latin typeface="Arial"/>
            </a:endParaRPr>
          </a:p>
        </p:txBody>
      </p:sp>
      <p:sp>
        <p:nvSpPr>
          <p:cNvPr id="1801" name="Shape 17"/>
          <p:cNvSpPr/>
          <p:nvPr/>
        </p:nvSpPr>
        <p:spPr>
          <a:xfrm>
            <a:off x="457200" y="3931920"/>
            <a:ext cx="8229240" cy="685440"/>
          </a:xfrm>
          <a:prstGeom prst="rect">
            <a:avLst/>
          </a:prstGeom>
          <a:solidFill>
            <a:srgbClr val="E8F5E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802" name="Text 18"/>
          <p:cNvSpPr/>
          <p:nvPr/>
        </p:nvSpPr>
        <p:spPr>
          <a:xfrm>
            <a:off x="548640" y="3950280"/>
            <a:ext cx="804636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r>
              <a:rPr lang="en-US" sz="1000" b="1" strike="noStrike" spc="-1">
                <a:solidFill>
                  <a:srgbClr val="0E41AA"/>
                </a:solidFill>
                <a:latin typeface="Courier New"/>
                <a:ea typeface="Courier New"/>
              </a:rPr>
              <a:t>/Common  ──┬──┬──  referenced by all partitions (read-only)</a:t>
            </a:r>
            <a:endParaRPr lang="en-US" sz="1000" b="0" strike="noStrike" spc="-1">
              <a:solidFill>
                <a:srgbClr val="000000"/>
              </a:solidFill>
              <a:latin typeface="Arial"/>
            </a:endParaRPr>
          </a:p>
          <a:p>
            <a:r>
              <a:rPr lang="en-US" sz="800" b="0" strike="noStrike" spc="-1">
                <a:solidFill>
                  <a:srgbClr val="D9D9D9"/>
                </a:solidFill>
                <a:latin typeface="Courier New"/>
                <a:ea typeface="Courier New"/>
              </a:rPr>
              <a:t>          │      │</a:t>
            </a:r>
            <a:endParaRPr lang="en-US" sz="800" b="0" strike="noStrike" spc="-1">
              <a:solidFill>
                <a:srgbClr val="000000"/>
              </a:solidFill>
              <a:latin typeface="Arial"/>
            </a:endParaRPr>
          </a:p>
          <a:p>
            <a:r>
              <a:rPr lang="en-US" sz="1000" b="0" strike="noStrike" spc="-1">
                <a:solidFill>
                  <a:srgbClr val="61228B"/>
                </a:solidFill>
                <a:latin typeface="Courier New"/>
                <a:ea typeface="Courier New"/>
              </a:rPr>
              <a:t>    /web_part  /api_part  (isolated from each other)</a:t>
            </a:r>
            <a:endParaRPr lang="en-US" sz="1000" b="0" strike="noStrike" spc="-1">
              <a:solidFill>
                <a:srgbClr val="000000"/>
              </a:solidFill>
              <a:latin typeface="Arial"/>
            </a:endParaRPr>
          </a:p>
          <a:p>
            <a:pPr defTabSz="914400">
              <a:lnSpc>
                <a:spcPct val="100000"/>
              </a:lnSpc>
              <a:tabLst>
                <a:tab pos="0" algn="l"/>
              </a:tabLst>
            </a:pPr>
            <a:r>
              <a:rPr lang="en-US" sz="900" b="0" strike="noStrike" spc="-1">
                <a:solidFill>
                  <a:srgbClr val="1B5E20"/>
                </a:solidFill>
                <a:latin typeface="Calibri"/>
                <a:ea typeface="Calibri"/>
              </a:rPr>
              <a:t>Admin modifies /Common → all partitions see the change immediately.</a:t>
            </a:r>
            <a:endParaRPr lang="en-US" sz="900" b="0" strike="noStrike" spc="-1">
              <a:solidFill>
                <a:srgbClr val="000000"/>
              </a:solidFill>
              <a:latin typeface="Arial"/>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03"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804"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805"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806"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807"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808"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81    © 2026 F5</a:t>
            </a:r>
            <a:endParaRPr lang="en-US" sz="800" b="0" strike="noStrike" spc="-1">
              <a:solidFill>
                <a:srgbClr val="000000"/>
              </a:solidFill>
              <a:latin typeface="Arial"/>
            </a:endParaRPr>
          </a:p>
        </p:txBody>
      </p:sp>
      <p:pic>
        <p:nvPicPr>
          <p:cNvPr id="1809" name="Image 0" descr="preencoded.png"/>
          <p:cNvPicPr/>
          <p:nvPr/>
        </p:nvPicPr>
        <p:blipFill>
          <a:blip r:embed="rId3"/>
          <a:stretch/>
        </p:blipFill>
        <p:spPr>
          <a:xfrm>
            <a:off x="8458200" y="4663440"/>
            <a:ext cx="383760" cy="383760"/>
          </a:xfrm>
          <a:prstGeom prst="rect">
            <a:avLst/>
          </a:prstGeom>
          <a:ln w="0">
            <a:noFill/>
          </a:ln>
        </p:spPr>
      </p:pic>
      <p:sp>
        <p:nvSpPr>
          <p:cNvPr id="1810" name="Text 6"/>
          <p:cNvSpPr/>
          <p:nvPr/>
        </p:nvSpPr>
        <p:spPr>
          <a:xfrm>
            <a:off x="457200" y="274320"/>
            <a:ext cx="82292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GUI configuration walkthrough</a:t>
            </a:r>
            <a:endParaRPr lang="en-US" sz="2800" b="0" strike="noStrike" spc="-1">
              <a:solidFill>
                <a:srgbClr val="000000"/>
              </a:solidFill>
              <a:latin typeface="Arial"/>
            </a:endParaRPr>
          </a:p>
        </p:txBody>
      </p:sp>
      <p:sp>
        <p:nvSpPr>
          <p:cNvPr id="1811" name="Text 7"/>
          <p:cNvSpPr/>
          <p:nvPr/>
        </p:nvSpPr>
        <p:spPr>
          <a:xfrm>
            <a:off x="457200" y="658440"/>
            <a:ext cx="82292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strike="noStrike" spc="-1">
                <a:solidFill>
                  <a:srgbClr val="666666"/>
                </a:solidFill>
                <a:latin typeface="Calibri"/>
                <a:ea typeface="Calibri"/>
              </a:rPr>
              <a:t>Creating partitions and local users in the BIG-IP Configuration Utility</a:t>
            </a:r>
            <a:endParaRPr lang="en-US" sz="1300" b="0" strike="noStrike" spc="-1">
              <a:solidFill>
                <a:srgbClr val="000000"/>
              </a:solidFill>
              <a:latin typeface="Arial"/>
            </a:endParaRPr>
          </a:p>
        </p:txBody>
      </p:sp>
      <p:sp>
        <p:nvSpPr>
          <p:cNvPr id="1812" name="Shape 8"/>
          <p:cNvSpPr/>
          <p:nvPr/>
        </p:nvSpPr>
        <p:spPr>
          <a:xfrm>
            <a:off x="365760" y="1005840"/>
            <a:ext cx="3931560" cy="31968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813" name="Text 9"/>
          <p:cNvSpPr/>
          <p:nvPr/>
        </p:nvSpPr>
        <p:spPr>
          <a:xfrm>
            <a:off x="365760" y="1005840"/>
            <a:ext cx="39315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FFFFFF"/>
                </a:solidFill>
                <a:latin typeface="Arial"/>
                <a:ea typeface="Arial"/>
              </a:rPr>
              <a:t>Create Partition</a:t>
            </a:r>
            <a:endParaRPr lang="en-US" sz="1400" b="0" strike="noStrike" spc="-1">
              <a:solidFill>
                <a:srgbClr val="000000"/>
              </a:solidFill>
              <a:latin typeface="Arial"/>
            </a:endParaRPr>
          </a:p>
        </p:txBody>
      </p:sp>
      <p:sp>
        <p:nvSpPr>
          <p:cNvPr id="1814" name="Shape 13"/>
          <p:cNvSpPr/>
          <p:nvPr/>
        </p:nvSpPr>
        <p:spPr>
          <a:xfrm>
            <a:off x="398160" y="3840480"/>
            <a:ext cx="3931560" cy="319680"/>
          </a:xfrm>
          <a:prstGeom prst="rect">
            <a:avLst/>
          </a:prstGeom>
          <a:solidFill>
            <a:srgbClr val="1E293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815" name="Text 14"/>
          <p:cNvSpPr/>
          <p:nvPr/>
        </p:nvSpPr>
        <p:spPr>
          <a:xfrm>
            <a:off x="489600" y="3858840"/>
            <a:ext cx="374868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strike="noStrike" spc="-1">
                <a:solidFill>
                  <a:srgbClr val="A5F3FC"/>
                </a:solidFill>
                <a:latin typeface="Courier New"/>
                <a:ea typeface="Courier New"/>
              </a:rPr>
              <a:t>create auth partition test_partition</a:t>
            </a:r>
            <a:endParaRPr lang="en-US" sz="900" b="0" strike="noStrike" spc="-1">
              <a:solidFill>
                <a:srgbClr val="000000"/>
              </a:solidFill>
              <a:latin typeface="Arial"/>
            </a:endParaRPr>
          </a:p>
        </p:txBody>
      </p:sp>
      <p:sp>
        <p:nvSpPr>
          <p:cNvPr id="1816" name="Shape 15"/>
          <p:cNvSpPr/>
          <p:nvPr/>
        </p:nvSpPr>
        <p:spPr>
          <a:xfrm>
            <a:off x="4846320" y="1005840"/>
            <a:ext cx="3931560" cy="31968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817" name="Text 16"/>
          <p:cNvSpPr/>
          <p:nvPr/>
        </p:nvSpPr>
        <p:spPr>
          <a:xfrm>
            <a:off x="4846320" y="1005840"/>
            <a:ext cx="39315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FFFFFF"/>
                </a:solidFill>
                <a:latin typeface="Arial"/>
                <a:ea typeface="Arial"/>
              </a:rPr>
              <a:t>Create Local User</a:t>
            </a:r>
            <a:endParaRPr lang="en-US" sz="1400" b="0" strike="noStrike" spc="-1">
              <a:solidFill>
                <a:srgbClr val="000000"/>
              </a:solidFill>
              <a:latin typeface="Arial"/>
            </a:endParaRPr>
          </a:p>
        </p:txBody>
      </p:sp>
      <p:sp>
        <p:nvSpPr>
          <p:cNvPr id="1818" name="Shape 20"/>
          <p:cNvSpPr/>
          <p:nvPr/>
        </p:nvSpPr>
        <p:spPr>
          <a:xfrm>
            <a:off x="4910400" y="3669480"/>
            <a:ext cx="3931560" cy="502560"/>
          </a:xfrm>
          <a:prstGeom prst="rect">
            <a:avLst/>
          </a:prstGeom>
          <a:solidFill>
            <a:srgbClr val="1E293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819" name="Text 21"/>
          <p:cNvSpPr/>
          <p:nvPr/>
        </p:nvSpPr>
        <p:spPr>
          <a:xfrm>
            <a:off x="5001840" y="3687840"/>
            <a:ext cx="374868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A5F3FC"/>
                </a:solidFill>
                <a:latin typeface="Courier New"/>
                <a:ea typeface="Courier New"/>
              </a:rPr>
              <a:t>create auth user testuser {</a:t>
            </a:r>
            <a:endParaRPr lang="en-US" sz="800" b="0" strike="noStrike" spc="-1">
              <a:solidFill>
                <a:srgbClr val="000000"/>
              </a:solidFill>
              <a:latin typeface="Arial"/>
            </a:endParaRPr>
          </a:p>
          <a:p>
            <a:pPr defTabSz="914400">
              <a:lnSpc>
                <a:spcPct val="100000"/>
              </a:lnSpc>
              <a:tabLst>
                <a:tab pos="0" algn="l"/>
              </a:tabLst>
            </a:pPr>
            <a:r>
              <a:rPr lang="en-US" sz="800" b="0" strike="noStrike" spc="-1">
                <a:solidFill>
                  <a:srgbClr val="A5F3FC"/>
                </a:solidFill>
                <a:latin typeface="Courier New"/>
                <a:ea typeface="Courier New"/>
              </a:rPr>
              <a:t>  password testpass shell tmsh</a:t>
            </a:r>
            <a:endParaRPr lang="en-US" sz="800" b="0" strike="noStrike" spc="-1">
              <a:solidFill>
                <a:srgbClr val="000000"/>
              </a:solidFill>
              <a:latin typeface="Arial"/>
            </a:endParaRPr>
          </a:p>
          <a:p>
            <a:pPr defTabSz="914400">
              <a:lnSpc>
                <a:spcPct val="100000"/>
              </a:lnSpc>
              <a:tabLst>
                <a:tab pos="0" algn="l"/>
              </a:tabLst>
            </a:pPr>
            <a:r>
              <a:rPr lang="en-US" sz="800" b="0" strike="noStrike" spc="-1">
                <a:solidFill>
                  <a:srgbClr val="A5F3FC"/>
                </a:solidFill>
                <a:latin typeface="Courier New"/>
                <a:ea typeface="Courier New"/>
              </a:rPr>
              <a:t>  partition-access add {</a:t>
            </a:r>
            <a:endParaRPr lang="en-US" sz="800" b="0" strike="noStrike" spc="-1">
              <a:solidFill>
                <a:srgbClr val="000000"/>
              </a:solidFill>
              <a:latin typeface="Arial"/>
            </a:endParaRPr>
          </a:p>
          <a:p>
            <a:pPr defTabSz="914400">
              <a:lnSpc>
                <a:spcPct val="100000"/>
              </a:lnSpc>
              <a:tabLst>
                <a:tab pos="0" algn="l"/>
              </a:tabLst>
            </a:pPr>
            <a:r>
              <a:rPr lang="en-US" sz="800" b="0" strike="noStrike" spc="-1">
                <a:solidFill>
                  <a:srgbClr val="A5F3FC"/>
                </a:solidFill>
                <a:latin typeface="Courier New"/>
                <a:ea typeface="Courier New"/>
              </a:rPr>
              <a:t>    test_partition { role manager } } }</a:t>
            </a:r>
            <a:endParaRPr lang="en-US" sz="800" b="0" strike="noStrike" spc="-1">
              <a:solidFill>
                <a:srgbClr val="000000"/>
              </a:solidFill>
              <a:latin typeface="Arial"/>
            </a:endParaRPr>
          </a:p>
        </p:txBody>
      </p:sp>
      <p:sp>
        <p:nvSpPr>
          <p:cNvPr id="1820" name="Shape 22"/>
          <p:cNvSpPr/>
          <p:nvPr/>
        </p:nvSpPr>
        <p:spPr>
          <a:xfrm>
            <a:off x="365760" y="4206240"/>
            <a:ext cx="8412120" cy="411120"/>
          </a:xfrm>
          <a:prstGeom prst="rect">
            <a:avLst/>
          </a:prstGeom>
          <a:solidFill>
            <a:srgbClr val="E8F0F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821" name="Text 23"/>
          <p:cNvSpPr/>
          <p:nvPr/>
        </p:nvSpPr>
        <p:spPr>
          <a:xfrm>
            <a:off x="548640" y="4224600"/>
            <a:ext cx="80463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strike="noStrike" spc="-1">
                <a:solidFill>
                  <a:srgbClr val="0E41AA"/>
                </a:solidFill>
                <a:latin typeface="Calibri"/>
                <a:ea typeface="Calibri"/>
              </a:rPr>
              <a:t>After creation: </a:t>
            </a:r>
            <a:r>
              <a:rPr lang="en-US" sz="900" b="0" strike="noStrike" spc="-1">
                <a:solidFill>
                  <a:srgbClr val="1A3A6C"/>
                </a:solidFill>
                <a:latin typeface="Calibri"/>
                <a:ea typeface="Calibri"/>
              </a:rPr>
              <a:t>Partition appears in upper-right dropdown. User can log in immediately. Role + Partition are paired — select role first, then assign to partition. Can add multiple role/partition pairs per user.</a:t>
            </a:r>
            <a:endParaRPr lang="en-US" sz="900" b="0" strike="noStrike" spc="-1">
              <a:solidFill>
                <a:srgbClr val="000000"/>
              </a:solidFill>
              <a:latin typeface="Arial"/>
            </a:endParaRPr>
          </a:p>
        </p:txBody>
      </p:sp>
      <p:pic>
        <p:nvPicPr>
          <p:cNvPr id="1822" name="Picture 31"/>
          <p:cNvPicPr/>
          <p:nvPr/>
        </p:nvPicPr>
        <p:blipFill>
          <a:blip r:embed="rId4"/>
          <a:stretch/>
        </p:blipFill>
        <p:spPr>
          <a:xfrm>
            <a:off x="945360" y="1344240"/>
            <a:ext cx="2318040" cy="2387160"/>
          </a:xfrm>
          <a:prstGeom prst="rect">
            <a:avLst/>
          </a:prstGeom>
          <a:ln w="0">
            <a:noFill/>
          </a:ln>
        </p:spPr>
      </p:pic>
      <p:pic>
        <p:nvPicPr>
          <p:cNvPr id="1823" name="Picture 33"/>
          <p:cNvPicPr/>
          <p:nvPr/>
        </p:nvPicPr>
        <p:blipFill>
          <a:blip r:embed="rId5"/>
          <a:stretch/>
        </p:blipFill>
        <p:spPr>
          <a:xfrm>
            <a:off x="5203440" y="1371600"/>
            <a:ext cx="2901960" cy="2194200"/>
          </a:xfrm>
          <a:prstGeom prst="rect">
            <a:avLst/>
          </a:prstGeom>
          <a:ln w="0">
            <a:noFill/>
          </a:ln>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24"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825"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826"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827"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828"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829"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82    © 2026 F5</a:t>
            </a:r>
            <a:endParaRPr lang="en-US" sz="800" b="0" strike="noStrike" spc="-1">
              <a:solidFill>
                <a:srgbClr val="000000"/>
              </a:solidFill>
              <a:latin typeface="Arial"/>
            </a:endParaRPr>
          </a:p>
        </p:txBody>
      </p:sp>
      <p:pic>
        <p:nvPicPr>
          <p:cNvPr id="1830" name="Image 0" descr="preencoded.png"/>
          <p:cNvPicPr/>
          <p:nvPr/>
        </p:nvPicPr>
        <p:blipFill>
          <a:blip r:embed="rId3"/>
          <a:stretch/>
        </p:blipFill>
        <p:spPr>
          <a:xfrm>
            <a:off x="8458200" y="4663440"/>
            <a:ext cx="383760" cy="383760"/>
          </a:xfrm>
          <a:prstGeom prst="rect">
            <a:avLst/>
          </a:prstGeom>
          <a:ln w="0">
            <a:noFill/>
          </a:ln>
        </p:spPr>
      </p:pic>
      <p:sp>
        <p:nvSpPr>
          <p:cNvPr id="1831" name="Text 6"/>
          <p:cNvSpPr/>
          <p:nvPr/>
        </p:nvSpPr>
        <p:spPr>
          <a:xfrm>
            <a:off x="457200" y="274320"/>
            <a:ext cx="82292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User access within a partition</a:t>
            </a:r>
            <a:endParaRPr lang="en-US" sz="2800" b="0" strike="noStrike" spc="-1">
              <a:solidFill>
                <a:srgbClr val="000000"/>
              </a:solidFill>
              <a:latin typeface="Arial"/>
            </a:endParaRPr>
          </a:p>
        </p:txBody>
      </p:sp>
      <p:sp>
        <p:nvSpPr>
          <p:cNvPr id="1832" name="Text 7"/>
          <p:cNvSpPr/>
          <p:nvPr/>
        </p:nvSpPr>
        <p:spPr>
          <a:xfrm>
            <a:off x="457200" y="658440"/>
            <a:ext cx="82292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strike="noStrike" spc="-1">
                <a:solidFill>
                  <a:srgbClr val="666666"/>
                </a:solidFill>
                <a:latin typeface="Calibri"/>
                <a:ea typeface="Calibri"/>
              </a:rPr>
              <a:t>What a partition user can see, use, create, and modify</a:t>
            </a:r>
            <a:endParaRPr lang="en-US" sz="1300" b="0" strike="noStrike" spc="-1">
              <a:solidFill>
                <a:srgbClr val="000000"/>
              </a:solidFill>
              <a:latin typeface="Arial"/>
            </a:endParaRPr>
          </a:p>
        </p:txBody>
      </p:sp>
      <p:graphicFrame>
        <p:nvGraphicFramePr>
          <p:cNvPr id="1833" name="Table 0"/>
          <p:cNvGraphicFramePr/>
          <p:nvPr/>
        </p:nvGraphicFramePr>
        <p:xfrm>
          <a:off x="365760" y="1005840"/>
          <a:ext cx="8412480" cy="1463040"/>
        </p:xfrm>
        <a:graphic>
          <a:graphicData uri="http://schemas.openxmlformats.org/drawingml/2006/table">
            <a:tbl>
              <a:tblPr/>
              <a:tblGrid>
                <a:gridCol w="137160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gridCol w="2468880">
                  <a:extLst>
                    <a:ext uri="{9D8B030D-6E8A-4147-A177-3AD203B41FA5}">
                      <a16:colId xmlns:a16="http://schemas.microsoft.com/office/drawing/2014/main" val="20003"/>
                    </a:ext>
                  </a:extLst>
                </a:gridCol>
              </a:tblGrid>
              <a:tr h="0">
                <a:tc>
                  <a:txBody>
                    <a:bodyPr/>
                    <a:lstStyle/>
                    <a:p>
                      <a:pPr defTabSz="914400">
                        <a:lnSpc>
                          <a:spcPct val="100000"/>
                        </a:lnSpc>
                        <a:tabLst>
                          <a:tab pos="0" algn="l"/>
                        </a:tabLst>
                      </a:pPr>
                      <a:r>
                        <a:rPr lang="en-US" sz="1000" b="1" strike="noStrike" spc="-1">
                          <a:solidFill>
                            <a:srgbClr val="FFFFFF"/>
                          </a:solidFill>
                          <a:latin typeface="Calibri"/>
                        </a:rPr>
                        <a:t>Action</a:t>
                      </a:r>
                      <a:endParaRPr lang="en-US" sz="10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E41AA"/>
                    </a:solidFill>
                  </a:tcPr>
                </a:tc>
                <a:tc>
                  <a:txBody>
                    <a:bodyPr/>
                    <a:lstStyle/>
                    <a:p>
                      <a:pPr defTabSz="914400">
                        <a:lnSpc>
                          <a:spcPct val="100000"/>
                        </a:lnSpc>
                        <a:tabLst>
                          <a:tab pos="0" algn="l"/>
                        </a:tabLst>
                      </a:pPr>
                      <a:r>
                        <a:rPr lang="en-US" sz="1000" b="1" strike="noStrike" spc="-1">
                          <a:solidFill>
                            <a:srgbClr val="FFFFFF"/>
                          </a:solidFill>
                          <a:latin typeface="Calibri"/>
                        </a:rPr>
                        <a:t>Own partition</a:t>
                      </a:r>
                      <a:endParaRPr lang="en-US" sz="10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E41AA"/>
                    </a:solidFill>
                  </a:tcPr>
                </a:tc>
                <a:tc>
                  <a:txBody>
                    <a:bodyPr/>
                    <a:lstStyle/>
                    <a:p>
                      <a:pPr defTabSz="914400">
                        <a:lnSpc>
                          <a:spcPct val="100000"/>
                        </a:lnSpc>
                        <a:tabLst>
                          <a:tab pos="0" algn="l"/>
                        </a:tabLst>
                      </a:pPr>
                      <a:r>
                        <a:rPr lang="en-US" sz="1000" b="1" strike="noStrike" spc="-1">
                          <a:solidFill>
                            <a:srgbClr val="FFFFFF"/>
                          </a:solidFill>
                          <a:latin typeface="Calibri"/>
                        </a:rPr>
                        <a:t>/Common partition</a:t>
                      </a:r>
                      <a:endParaRPr lang="en-US" sz="10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E41AA"/>
                    </a:solidFill>
                  </a:tcPr>
                </a:tc>
                <a:tc>
                  <a:txBody>
                    <a:bodyPr/>
                    <a:lstStyle/>
                    <a:p>
                      <a:pPr defTabSz="914400">
                        <a:lnSpc>
                          <a:spcPct val="100000"/>
                        </a:lnSpc>
                        <a:tabLst>
                          <a:tab pos="0" algn="l"/>
                        </a:tabLst>
                      </a:pPr>
                      <a:r>
                        <a:rPr lang="en-US" sz="1000" b="1" strike="noStrike" spc="-1">
                          <a:solidFill>
                            <a:srgbClr val="FFFFFF"/>
                          </a:solidFill>
                          <a:latin typeface="Calibri"/>
                        </a:rPr>
                        <a:t>Other partitions</a:t>
                      </a:r>
                      <a:endParaRPr lang="en-US" sz="10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E41AA"/>
                    </a:solidFill>
                  </a:tcPr>
                </a:tc>
                <a:extLst>
                  <a:ext uri="{0D108BD9-81ED-4DB2-BD59-A6C34878D82A}">
                    <a16:rowId xmlns:a16="http://schemas.microsoft.com/office/drawing/2014/main" val="10000"/>
                  </a:ext>
                </a:extLst>
              </a:tr>
              <a:tr h="0">
                <a:tc>
                  <a:txBody>
                    <a:bodyPr/>
                    <a:lstStyle/>
                    <a:p>
                      <a:pPr defTabSz="914400">
                        <a:lnSpc>
                          <a:spcPct val="100000"/>
                        </a:lnSpc>
                        <a:tabLst>
                          <a:tab pos="0" algn="l"/>
                        </a:tabLst>
                      </a:pPr>
                      <a:r>
                        <a:rPr lang="en-US" sz="1000" b="1" strike="noStrike" spc="-1">
                          <a:solidFill>
                            <a:srgbClr val="000000"/>
                          </a:solidFill>
                          <a:latin typeface="Calibri"/>
                        </a:rPr>
                        <a:t>View objects</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1000" b="0" strike="noStrike" spc="-1">
                          <a:solidFill>
                            <a:srgbClr val="009639"/>
                          </a:solidFill>
                          <a:latin typeface="Calibri"/>
                        </a:rPr>
                        <a:t>✔ Full visibility</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1000" b="0" strike="noStrike" spc="-1">
                          <a:solidFill>
                            <a:srgbClr val="009639"/>
                          </a:solidFill>
                          <a:latin typeface="Calibri"/>
                        </a:rPr>
                        <a:t>✔ Full visibility</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1000" b="0" strike="noStrike" spc="-1">
                          <a:solidFill>
                            <a:srgbClr val="E4002B"/>
                          </a:solidFill>
                          <a:latin typeface="Calibri"/>
                        </a:rPr>
                        <a:t>✘ Not visible</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1"/>
                  </a:ext>
                </a:extLst>
              </a:tr>
              <a:tr h="0">
                <a:tc>
                  <a:txBody>
                    <a:bodyPr/>
                    <a:lstStyle/>
                    <a:p>
                      <a:pPr defTabSz="914400">
                        <a:lnSpc>
                          <a:spcPct val="100000"/>
                        </a:lnSpc>
                        <a:tabLst>
                          <a:tab pos="0" algn="l"/>
                        </a:tabLst>
                      </a:pPr>
                      <a:r>
                        <a:rPr lang="en-US" sz="1000" b="1" strike="noStrike" spc="-1">
                          <a:solidFill>
                            <a:srgbClr val="000000"/>
                          </a:solidFill>
                          <a:latin typeface="Calibri"/>
                        </a:rPr>
                        <a:t>Create objects</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1000" b="0" strike="noStrike" spc="-1">
                          <a:solidFill>
                            <a:srgbClr val="009639"/>
                          </a:solidFill>
                          <a:latin typeface="Calibri"/>
                        </a:rPr>
                        <a:t>✔ Full create</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1000" b="0" strike="noStrike" spc="-1">
                          <a:solidFill>
                            <a:srgbClr val="E4002B"/>
                          </a:solidFill>
                          <a:latin typeface="Calibri"/>
                        </a:rPr>
                        <a:t>✘ Cannot create</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1000" b="0" strike="noStrike" spc="-1">
                          <a:solidFill>
                            <a:srgbClr val="E4002B"/>
                          </a:solidFill>
                          <a:latin typeface="Calibri"/>
                        </a:rPr>
                        <a:t>✘ Cannot create</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2"/>
                  </a:ext>
                </a:extLst>
              </a:tr>
              <a:tr h="0">
                <a:tc>
                  <a:txBody>
                    <a:bodyPr/>
                    <a:lstStyle/>
                    <a:p>
                      <a:pPr defTabSz="914400">
                        <a:lnSpc>
                          <a:spcPct val="100000"/>
                        </a:lnSpc>
                        <a:tabLst>
                          <a:tab pos="0" algn="l"/>
                        </a:tabLst>
                      </a:pPr>
                      <a:r>
                        <a:rPr lang="en-US" sz="1000" b="1" strike="noStrike" spc="-1">
                          <a:solidFill>
                            <a:srgbClr val="000000"/>
                          </a:solidFill>
                          <a:latin typeface="Calibri"/>
                        </a:rPr>
                        <a:t>Modify objects</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1000" b="0" strike="noStrike" spc="-1">
                          <a:solidFill>
                            <a:srgbClr val="009639"/>
                          </a:solidFill>
                          <a:latin typeface="Calibri"/>
                        </a:rPr>
                        <a:t>✔ Full modify</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1000" b="0" strike="noStrike" spc="-1">
                          <a:solidFill>
                            <a:srgbClr val="E4002B"/>
                          </a:solidFill>
                          <a:latin typeface="Calibri"/>
                        </a:rPr>
                        <a:t>✘ Greyed out (read-only)</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1000" b="0" strike="noStrike" spc="-1">
                          <a:solidFill>
                            <a:srgbClr val="E4002B"/>
                          </a:solidFill>
                          <a:latin typeface="Calibri"/>
                        </a:rPr>
                        <a:t>✘ Not accessible</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3"/>
                  </a:ext>
                </a:extLst>
              </a:tr>
              <a:tr h="0">
                <a:tc>
                  <a:txBody>
                    <a:bodyPr/>
                    <a:lstStyle/>
                    <a:p>
                      <a:pPr defTabSz="914400">
                        <a:lnSpc>
                          <a:spcPct val="100000"/>
                        </a:lnSpc>
                        <a:tabLst>
                          <a:tab pos="0" algn="l"/>
                        </a:tabLst>
                      </a:pPr>
                      <a:r>
                        <a:rPr lang="en-US" sz="1000" b="1" strike="noStrike" spc="-1">
                          <a:solidFill>
                            <a:srgbClr val="000000"/>
                          </a:solidFill>
                          <a:latin typeface="Calibri"/>
                        </a:rPr>
                        <a:t>Delete objects</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1000" b="0" strike="noStrike" spc="-1">
                          <a:solidFill>
                            <a:srgbClr val="009639"/>
                          </a:solidFill>
                          <a:latin typeface="Calibri"/>
                        </a:rPr>
                        <a:t>✔ Full delete</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1000" b="0" strike="noStrike" spc="-1">
                          <a:solidFill>
                            <a:srgbClr val="E4002B"/>
                          </a:solidFill>
                          <a:latin typeface="Calibri"/>
                        </a:rPr>
                        <a:t>✘ Cannot delete</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1000" b="0" strike="noStrike" spc="-1">
                          <a:solidFill>
                            <a:srgbClr val="E4002B"/>
                          </a:solidFill>
                          <a:latin typeface="Calibri"/>
                        </a:rPr>
                        <a:t>✘ Not accessible</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4"/>
                  </a:ext>
                </a:extLst>
              </a:tr>
              <a:tr h="0">
                <a:tc>
                  <a:txBody>
                    <a:bodyPr/>
                    <a:lstStyle/>
                    <a:p>
                      <a:pPr defTabSz="914400">
                        <a:lnSpc>
                          <a:spcPct val="100000"/>
                        </a:lnSpc>
                        <a:tabLst>
                          <a:tab pos="0" algn="l"/>
                        </a:tabLst>
                      </a:pPr>
                      <a:r>
                        <a:rPr lang="en-US" sz="1000" b="1" strike="noStrike" spc="-1">
                          <a:solidFill>
                            <a:srgbClr val="000000"/>
                          </a:solidFill>
                          <a:latin typeface="Calibri"/>
                        </a:rPr>
                        <a:t>Reference objects</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1000" b="0" strike="noStrike" spc="-1">
                          <a:solidFill>
                            <a:srgbClr val="009639"/>
                          </a:solidFill>
                          <a:latin typeface="Calibri"/>
                        </a:rPr>
                        <a:t>✔ Direct reference</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1000" b="0" strike="noStrike" spc="-1">
                          <a:solidFill>
                            <a:srgbClr val="009639"/>
                          </a:solidFill>
                          <a:latin typeface="Calibri"/>
                        </a:rPr>
                        <a:t>✔ Can use in own partition</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1000" b="0" strike="noStrike" spc="-1">
                          <a:solidFill>
                            <a:srgbClr val="E4002B"/>
                          </a:solidFill>
                          <a:latin typeface="Calibri"/>
                        </a:rPr>
                        <a:t>✘ Cannot reference</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1834" name="Text 8"/>
          <p:cNvSpPr/>
          <p:nvPr/>
        </p:nvSpPr>
        <p:spPr>
          <a:xfrm>
            <a:off x="457200" y="3200400"/>
            <a:ext cx="54860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61228B"/>
                </a:solidFill>
                <a:latin typeface="Arial"/>
                <a:ea typeface="Arial"/>
              </a:rPr>
              <a:t>Example: Manager in test_partition</a:t>
            </a:r>
            <a:endParaRPr lang="en-US" sz="1400" b="0" strike="noStrike" spc="-1">
              <a:solidFill>
                <a:srgbClr val="000000"/>
              </a:solidFill>
              <a:latin typeface="Arial"/>
            </a:endParaRPr>
          </a:p>
        </p:txBody>
      </p:sp>
      <p:sp>
        <p:nvSpPr>
          <p:cNvPr id="1835" name="Shape 9"/>
          <p:cNvSpPr/>
          <p:nvPr/>
        </p:nvSpPr>
        <p:spPr>
          <a:xfrm>
            <a:off x="457200" y="3429000"/>
            <a:ext cx="8229240" cy="114264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836" name="Text 10"/>
          <p:cNvSpPr/>
          <p:nvPr/>
        </p:nvSpPr>
        <p:spPr>
          <a:xfrm>
            <a:off x="548640" y="3456360"/>
            <a:ext cx="8046360" cy="1078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r>
              <a:rPr lang="en-US" sz="1000" b="1" strike="noStrike" spc="-1">
                <a:solidFill>
                  <a:srgbClr val="009639"/>
                </a:solidFill>
                <a:latin typeface="Calibri"/>
                <a:ea typeface="Calibri"/>
              </a:rPr>
              <a:t>✔ Create test_vs referencing /Common pool:</a:t>
            </a:r>
            <a:endParaRPr lang="en-US" sz="1000" b="0" strike="noStrike" spc="-1">
              <a:solidFill>
                <a:srgbClr val="000000"/>
              </a:solidFill>
              <a:latin typeface="Arial"/>
            </a:endParaRPr>
          </a:p>
          <a:p>
            <a:r>
              <a:rPr lang="en-US" sz="900" b="0" strike="noStrike" spc="-1">
                <a:solidFill>
                  <a:srgbClr val="333333"/>
                </a:solidFill>
                <a:latin typeface="Courier New"/>
                <a:ea typeface="Courier New"/>
              </a:rPr>
              <a:t>create ltm virtual test_vs destination 10.1.10.120:80 pool /Common/www_pool</a:t>
            </a:r>
            <a:endParaRPr lang="en-US" sz="900" b="0" strike="noStrike" spc="-1">
              <a:solidFill>
                <a:srgbClr val="000000"/>
              </a:solidFill>
              <a:latin typeface="Arial"/>
            </a:endParaRPr>
          </a:p>
          <a:p>
            <a:r>
              <a:rPr lang="en-US" sz="900" b="0" strike="noStrike" spc="-1">
                <a:solidFill>
                  <a:srgbClr val="333333"/>
                </a:solidFill>
                <a:latin typeface="Calibri"/>
                <a:ea typeface="Calibri"/>
              </a:rPr>
              <a:t>Works: VS in own partition, pool is a read-only REFERENCE (not copy). Pool changes propagate.</a:t>
            </a:r>
            <a:endParaRPr lang="en-US" sz="900" b="0" strike="noStrike" spc="-1">
              <a:solidFill>
                <a:srgbClr val="000000"/>
              </a:solidFill>
              <a:latin typeface="Arial"/>
            </a:endParaRPr>
          </a:p>
          <a:p>
            <a:endParaRPr lang="en-US" sz="900" b="0" strike="noStrike" spc="-1">
              <a:solidFill>
                <a:srgbClr val="000000"/>
              </a:solidFill>
              <a:latin typeface="Arial"/>
            </a:endParaRPr>
          </a:p>
          <a:p>
            <a:r>
              <a:rPr lang="en-US" sz="1000" b="1" strike="noStrike" spc="-1">
                <a:solidFill>
                  <a:srgbClr val="E4002B"/>
                </a:solidFill>
                <a:latin typeface="Calibri"/>
                <a:ea typeface="Calibri"/>
              </a:rPr>
              <a:t>✘ Attempt to modify /Common pool:</a:t>
            </a:r>
            <a:endParaRPr lang="en-US" sz="1000" b="0" strike="noStrike" spc="-1">
              <a:solidFill>
                <a:srgbClr val="000000"/>
              </a:solidFill>
              <a:latin typeface="Arial"/>
            </a:endParaRPr>
          </a:p>
          <a:p>
            <a:r>
              <a:rPr lang="en-US" sz="900" b="0" strike="noStrike" spc="-1">
                <a:solidFill>
                  <a:srgbClr val="333333"/>
                </a:solidFill>
                <a:latin typeface="Courier New"/>
                <a:ea typeface="Courier New"/>
              </a:rPr>
              <a:t>modify ltm pool /Common/www_pool members add { 10.1.20.14:80 }</a:t>
            </a:r>
            <a:endParaRPr lang="en-US" sz="900" b="0" strike="noStrike" spc="-1">
              <a:solidFill>
                <a:srgbClr val="000000"/>
              </a:solidFill>
              <a:latin typeface="Arial"/>
            </a:endParaRPr>
          </a:p>
          <a:p>
            <a:pPr defTabSz="914400">
              <a:lnSpc>
                <a:spcPct val="100000"/>
              </a:lnSpc>
              <a:tabLst>
                <a:tab pos="0" algn="l"/>
              </a:tabLst>
            </a:pPr>
            <a:r>
              <a:rPr lang="en-US" sz="900" b="0" strike="noStrike" spc="-1">
                <a:solidFill>
                  <a:srgbClr val="E4002B"/>
                </a:solidFill>
                <a:latin typeface="Calibri"/>
                <a:ea typeface="Calibri"/>
              </a:rPr>
              <a:t>FAILS: No modify access to /Common. Only administrators can change Common objects.</a:t>
            </a:r>
            <a:endParaRPr lang="en-US" sz="900" b="0" strike="noStrike" spc="-1">
              <a:solidFill>
                <a:srgbClr val="000000"/>
              </a:solidFill>
              <a:latin typeface="Arial"/>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37"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838"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839"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840"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841"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842"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83    © 2026 F5</a:t>
            </a:r>
            <a:endParaRPr lang="en-US" sz="800" b="0" strike="noStrike" spc="-1">
              <a:solidFill>
                <a:srgbClr val="000000"/>
              </a:solidFill>
              <a:latin typeface="Arial"/>
            </a:endParaRPr>
          </a:p>
        </p:txBody>
      </p:sp>
      <p:pic>
        <p:nvPicPr>
          <p:cNvPr id="1843" name="Image 0" descr="preencoded.png"/>
          <p:cNvPicPr/>
          <p:nvPr/>
        </p:nvPicPr>
        <p:blipFill>
          <a:blip r:embed="rId3"/>
          <a:stretch/>
        </p:blipFill>
        <p:spPr>
          <a:xfrm>
            <a:off x="8458200" y="4663440"/>
            <a:ext cx="383760" cy="383760"/>
          </a:xfrm>
          <a:prstGeom prst="rect">
            <a:avLst/>
          </a:prstGeom>
          <a:ln w="0">
            <a:noFill/>
          </a:ln>
        </p:spPr>
      </p:pic>
      <p:sp>
        <p:nvSpPr>
          <p:cNvPr id="1844" name="Text 6"/>
          <p:cNvSpPr/>
          <p:nvPr/>
        </p:nvSpPr>
        <p:spPr>
          <a:xfrm>
            <a:off x="457200" y="274320"/>
            <a:ext cx="82292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Remote user authentication</a:t>
            </a:r>
            <a:endParaRPr lang="en-US" sz="2800" b="0" strike="noStrike" spc="-1">
              <a:solidFill>
                <a:srgbClr val="000000"/>
              </a:solidFill>
              <a:latin typeface="Arial"/>
            </a:endParaRPr>
          </a:p>
        </p:txBody>
      </p:sp>
      <p:sp>
        <p:nvSpPr>
          <p:cNvPr id="1845" name="Text 7"/>
          <p:cNvSpPr/>
          <p:nvPr/>
        </p:nvSpPr>
        <p:spPr>
          <a:xfrm>
            <a:off x="457200" y="658440"/>
            <a:ext cx="82292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strike="noStrike" spc="-1">
                <a:solidFill>
                  <a:srgbClr val="666666"/>
                </a:solidFill>
                <a:latin typeface="Calibri"/>
                <a:ea typeface="Calibri"/>
              </a:rPr>
              <a:t>Offload user management to external directories. Configure under System &gt; Users &gt; Authentication.</a:t>
            </a:r>
            <a:endParaRPr lang="en-US" sz="1300" b="0" strike="noStrike" spc="-1">
              <a:solidFill>
                <a:srgbClr val="000000"/>
              </a:solidFill>
              <a:latin typeface="Arial"/>
            </a:endParaRPr>
          </a:p>
        </p:txBody>
      </p:sp>
      <p:sp>
        <p:nvSpPr>
          <p:cNvPr id="1846" name="Shape 8"/>
          <p:cNvSpPr/>
          <p:nvPr/>
        </p:nvSpPr>
        <p:spPr>
          <a:xfrm>
            <a:off x="365760" y="1005840"/>
            <a:ext cx="2559960" cy="31968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847" name="Text 9"/>
          <p:cNvSpPr/>
          <p:nvPr/>
        </p:nvSpPr>
        <p:spPr>
          <a:xfrm>
            <a:off x="365760" y="1005840"/>
            <a:ext cx="25599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rgbClr val="FFFFFF"/>
                </a:solidFill>
                <a:latin typeface="Arial"/>
                <a:ea typeface="Arial"/>
              </a:rPr>
              <a:t>LDAP (TCP 389 / 636 (SSL))</a:t>
            </a:r>
            <a:endParaRPr lang="en-US" sz="1100" b="0" strike="noStrike" spc="-1">
              <a:solidFill>
                <a:srgbClr val="000000"/>
              </a:solidFill>
              <a:latin typeface="Arial"/>
            </a:endParaRPr>
          </a:p>
        </p:txBody>
      </p:sp>
      <p:sp>
        <p:nvSpPr>
          <p:cNvPr id="1848" name="Shape 10"/>
          <p:cNvSpPr/>
          <p:nvPr/>
        </p:nvSpPr>
        <p:spPr>
          <a:xfrm>
            <a:off x="365760" y="1371600"/>
            <a:ext cx="2559960" cy="132552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849" name="Text 11"/>
          <p:cNvSpPr/>
          <p:nvPr/>
        </p:nvSpPr>
        <p:spPr>
          <a:xfrm>
            <a:off x="438840" y="1398960"/>
            <a:ext cx="2413800" cy="1261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750" b="0" strike="noStrike" spc="-1">
                <a:solidFill>
                  <a:srgbClr val="333333"/>
                </a:solidFill>
                <a:latin typeface="Calibri"/>
                <a:ea typeface="Calibri"/>
              </a:rPr>
              <a:t>Host: 10.1.20.252</a:t>
            </a:r>
            <a:endParaRPr lang="en-US" sz="750" b="0" strike="noStrike" spc="-1">
              <a:solidFill>
                <a:srgbClr val="000000"/>
              </a:solidFill>
              <a:latin typeface="Arial"/>
            </a:endParaRPr>
          </a:p>
          <a:p>
            <a:pPr defTabSz="914400">
              <a:lnSpc>
                <a:spcPct val="100000"/>
              </a:lnSpc>
              <a:tabLst>
                <a:tab pos="0" algn="l"/>
              </a:tabLst>
            </a:pPr>
            <a:r>
              <a:rPr lang="en-US" sz="750" b="0" strike="noStrike" spc="-1">
                <a:solidFill>
                  <a:srgbClr val="333333"/>
                </a:solidFill>
                <a:latin typeface="Calibri"/>
                <a:ea typeface="Calibri"/>
              </a:rPr>
              <a:t>Port: 389</a:t>
            </a:r>
            <a:endParaRPr lang="en-US" sz="750" b="0" strike="noStrike" spc="-1">
              <a:solidFill>
                <a:srgbClr val="000000"/>
              </a:solidFill>
              <a:latin typeface="Arial"/>
            </a:endParaRPr>
          </a:p>
          <a:p>
            <a:pPr defTabSz="914400">
              <a:lnSpc>
                <a:spcPct val="100000"/>
              </a:lnSpc>
              <a:tabLst>
                <a:tab pos="0" algn="l"/>
              </a:tabLst>
            </a:pPr>
            <a:r>
              <a:rPr lang="en-US" sz="750" b="0" strike="noStrike" spc="-1">
                <a:solidFill>
                  <a:srgbClr val="333333"/>
                </a:solidFill>
                <a:latin typeface="Calibri"/>
                <a:ea typeface="Calibri"/>
              </a:rPr>
              <a:t>Remote Directory Tree:</a:t>
            </a:r>
            <a:endParaRPr lang="en-US" sz="750" b="0" strike="noStrike" spc="-1">
              <a:solidFill>
                <a:srgbClr val="000000"/>
              </a:solidFill>
              <a:latin typeface="Arial"/>
            </a:endParaRPr>
          </a:p>
          <a:p>
            <a:pPr defTabSz="914400">
              <a:lnSpc>
                <a:spcPct val="100000"/>
              </a:lnSpc>
              <a:tabLst>
                <a:tab pos="0" algn="l"/>
              </a:tabLst>
            </a:pPr>
            <a:r>
              <a:rPr lang="en-US" sz="750" b="0" strike="noStrike" spc="-1">
                <a:solidFill>
                  <a:srgbClr val="333333"/>
                </a:solidFill>
                <a:latin typeface="Calibri"/>
                <a:ea typeface="Calibri"/>
              </a:rPr>
              <a:t>  dc=f5demo,dc=com</a:t>
            </a:r>
            <a:endParaRPr lang="en-US" sz="750" b="0" strike="noStrike" spc="-1">
              <a:solidFill>
                <a:srgbClr val="000000"/>
              </a:solidFill>
              <a:latin typeface="Arial"/>
            </a:endParaRPr>
          </a:p>
          <a:p>
            <a:pPr defTabSz="914400">
              <a:lnSpc>
                <a:spcPct val="100000"/>
              </a:lnSpc>
              <a:tabLst>
                <a:tab pos="0" algn="l"/>
              </a:tabLst>
            </a:pPr>
            <a:r>
              <a:rPr lang="en-US" sz="750" b="0" strike="noStrike" spc="-1">
                <a:solidFill>
                  <a:srgbClr val="333333"/>
                </a:solidFill>
                <a:latin typeface="Calibri"/>
                <a:ea typeface="Calibri"/>
              </a:rPr>
              <a:t>Bind DN:</a:t>
            </a:r>
            <a:endParaRPr lang="en-US" sz="750" b="0" strike="noStrike" spc="-1">
              <a:solidFill>
                <a:srgbClr val="000000"/>
              </a:solidFill>
              <a:latin typeface="Arial"/>
            </a:endParaRPr>
          </a:p>
          <a:p>
            <a:pPr defTabSz="914400">
              <a:lnSpc>
                <a:spcPct val="100000"/>
              </a:lnSpc>
              <a:tabLst>
                <a:tab pos="0" algn="l"/>
              </a:tabLst>
            </a:pPr>
            <a:r>
              <a:rPr lang="en-US" sz="750" b="0" strike="noStrike" spc="-1">
                <a:solidFill>
                  <a:srgbClr val="333333"/>
                </a:solidFill>
                <a:latin typeface="Calibri"/>
                <a:ea typeface="Calibri"/>
              </a:rPr>
              <a:t>  cn=Directory Manager</a:t>
            </a:r>
            <a:endParaRPr lang="en-US" sz="750" b="0" strike="noStrike" spc="-1">
              <a:solidFill>
                <a:srgbClr val="000000"/>
              </a:solidFill>
              <a:latin typeface="Arial"/>
            </a:endParaRPr>
          </a:p>
          <a:p>
            <a:pPr defTabSz="914400">
              <a:lnSpc>
                <a:spcPct val="100000"/>
              </a:lnSpc>
              <a:tabLst>
                <a:tab pos="0" algn="l"/>
              </a:tabLst>
            </a:pPr>
            <a:r>
              <a:rPr lang="en-US" sz="750" b="0" strike="noStrike" spc="-1">
                <a:solidFill>
                  <a:srgbClr val="333333"/>
                </a:solidFill>
                <a:latin typeface="Calibri"/>
                <a:ea typeface="Calibri"/>
              </a:rPr>
              <a:t>Bind Password: default</a:t>
            </a:r>
            <a:endParaRPr lang="en-US" sz="750" b="0" strike="noStrike" spc="-1">
              <a:solidFill>
                <a:srgbClr val="000000"/>
              </a:solidFill>
              <a:latin typeface="Arial"/>
            </a:endParaRPr>
          </a:p>
          <a:p>
            <a:pPr defTabSz="914400">
              <a:lnSpc>
                <a:spcPct val="100000"/>
              </a:lnSpc>
              <a:tabLst>
                <a:tab pos="0" algn="l"/>
              </a:tabLst>
            </a:pPr>
            <a:r>
              <a:rPr lang="en-US" sz="750" b="0" strike="noStrike" spc="-1">
                <a:solidFill>
                  <a:srgbClr val="333333"/>
                </a:solidFill>
                <a:latin typeface="Calibri"/>
                <a:ea typeface="Calibri"/>
              </a:rPr>
              <a:t>SSL: Disabled</a:t>
            </a:r>
            <a:endParaRPr lang="en-US" sz="750" b="0" strike="noStrike" spc="-1">
              <a:solidFill>
                <a:srgbClr val="000000"/>
              </a:solidFill>
              <a:latin typeface="Arial"/>
            </a:endParaRPr>
          </a:p>
          <a:p>
            <a:pPr defTabSz="914400">
              <a:lnSpc>
                <a:spcPct val="100000"/>
              </a:lnSpc>
              <a:tabLst>
                <a:tab pos="0" algn="l"/>
              </a:tabLst>
            </a:pPr>
            <a:r>
              <a:rPr lang="en-US" sz="750" b="0" strike="noStrike" spc="-1">
                <a:solidFill>
                  <a:srgbClr val="333333"/>
                </a:solidFill>
                <a:latin typeface="Calibri"/>
                <a:ea typeface="Calibri"/>
              </a:rPr>
              <a:t>Default Role: Administrator</a:t>
            </a:r>
            <a:endParaRPr lang="en-US" sz="750" b="0" strike="noStrike" spc="-1">
              <a:solidFill>
                <a:srgbClr val="000000"/>
              </a:solidFill>
              <a:latin typeface="Arial"/>
            </a:endParaRPr>
          </a:p>
        </p:txBody>
      </p:sp>
      <p:sp>
        <p:nvSpPr>
          <p:cNvPr id="1850" name="Shape 12"/>
          <p:cNvSpPr/>
          <p:nvPr/>
        </p:nvSpPr>
        <p:spPr>
          <a:xfrm>
            <a:off x="365760" y="2743200"/>
            <a:ext cx="2559960" cy="1051200"/>
          </a:xfrm>
          <a:prstGeom prst="rect">
            <a:avLst/>
          </a:prstGeom>
          <a:solidFill>
            <a:srgbClr val="1E293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851" name="Text 13"/>
          <p:cNvSpPr/>
          <p:nvPr/>
        </p:nvSpPr>
        <p:spPr>
          <a:xfrm>
            <a:off x="438840" y="2761560"/>
            <a:ext cx="2413800" cy="1005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650" b="0" strike="noStrike" spc="-1">
                <a:solidFill>
                  <a:srgbClr val="A5F3FC"/>
                </a:solidFill>
                <a:latin typeface="Courier New"/>
                <a:ea typeface="Courier New"/>
              </a:rPr>
              <a:t>modify auth source type ldap</a:t>
            </a:r>
            <a:endParaRPr lang="en-US" sz="650" b="0" strike="noStrike" spc="-1">
              <a:solidFill>
                <a:srgbClr val="000000"/>
              </a:solidFill>
              <a:latin typeface="Arial"/>
            </a:endParaRPr>
          </a:p>
          <a:p>
            <a:pPr defTabSz="914400">
              <a:lnSpc>
                <a:spcPct val="100000"/>
              </a:lnSpc>
              <a:tabLst>
                <a:tab pos="0" algn="l"/>
              </a:tabLst>
            </a:pPr>
            <a:r>
              <a:rPr lang="en-US" sz="650" b="0" strike="noStrike" spc="-1">
                <a:solidFill>
                  <a:srgbClr val="A5F3FC"/>
                </a:solidFill>
                <a:latin typeface="Courier New"/>
                <a:ea typeface="Courier New"/>
              </a:rPr>
              <a:t>modify auth ldap system-auth {</a:t>
            </a:r>
            <a:endParaRPr lang="en-US" sz="650" b="0" strike="noStrike" spc="-1">
              <a:solidFill>
                <a:srgbClr val="000000"/>
              </a:solidFill>
              <a:latin typeface="Arial"/>
            </a:endParaRPr>
          </a:p>
          <a:p>
            <a:pPr defTabSz="914400">
              <a:lnSpc>
                <a:spcPct val="100000"/>
              </a:lnSpc>
              <a:tabLst>
                <a:tab pos="0" algn="l"/>
              </a:tabLst>
            </a:pPr>
            <a:r>
              <a:rPr lang="en-US" sz="650" b="0" strike="noStrike" spc="-1">
                <a:solidFill>
                  <a:srgbClr val="A5F3FC"/>
                </a:solidFill>
                <a:latin typeface="Courier New"/>
                <a:ea typeface="Courier New"/>
              </a:rPr>
              <a:t>  servers add { 10.1.20.252 }</a:t>
            </a:r>
            <a:endParaRPr lang="en-US" sz="650" b="0" strike="noStrike" spc="-1">
              <a:solidFill>
                <a:srgbClr val="000000"/>
              </a:solidFill>
              <a:latin typeface="Arial"/>
            </a:endParaRPr>
          </a:p>
          <a:p>
            <a:pPr defTabSz="914400">
              <a:lnSpc>
                <a:spcPct val="100000"/>
              </a:lnSpc>
              <a:tabLst>
                <a:tab pos="0" algn="l"/>
              </a:tabLst>
            </a:pPr>
            <a:r>
              <a:rPr lang="en-US" sz="650" b="0" strike="noStrike" spc="-1">
                <a:solidFill>
                  <a:srgbClr val="A5F3FC"/>
                </a:solidFill>
                <a:latin typeface="Courier New"/>
                <a:ea typeface="Courier New"/>
              </a:rPr>
              <a:t>  search-base-dn</a:t>
            </a:r>
            <a:endParaRPr lang="en-US" sz="650" b="0" strike="noStrike" spc="-1">
              <a:solidFill>
                <a:srgbClr val="000000"/>
              </a:solidFill>
              <a:latin typeface="Arial"/>
            </a:endParaRPr>
          </a:p>
          <a:p>
            <a:pPr defTabSz="914400">
              <a:lnSpc>
                <a:spcPct val="100000"/>
              </a:lnSpc>
              <a:tabLst>
                <a:tab pos="0" algn="l"/>
              </a:tabLst>
            </a:pPr>
            <a:r>
              <a:rPr lang="en-US" sz="650" b="0" strike="noStrike" spc="-1">
                <a:solidFill>
                  <a:srgbClr val="A5F3FC"/>
                </a:solidFill>
                <a:latin typeface="Courier New"/>
                <a:ea typeface="Courier New"/>
              </a:rPr>
              <a:t>    dc=f5demo,dc=com</a:t>
            </a:r>
            <a:endParaRPr lang="en-US" sz="650" b="0" strike="noStrike" spc="-1">
              <a:solidFill>
                <a:srgbClr val="000000"/>
              </a:solidFill>
              <a:latin typeface="Arial"/>
            </a:endParaRPr>
          </a:p>
          <a:p>
            <a:pPr defTabSz="914400">
              <a:lnSpc>
                <a:spcPct val="100000"/>
              </a:lnSpc>
              <a:tabLst>
                <a:tab pos="0" algn="l"/>
              </a:tabLst>
            </a:pPr>
            <a:r>
              <a:rPr lang="en-US" sz="650" b="0" strike="noStrike" spc="-1">
                <a:solidFill>
                  <a:srgbClr val="A5F3FC"/>
                </a:solidFill>
                <a:latin typeface="Courier New"/>
                <a:ea typeface="Courier New"/>
              </a:rPr>
              <a:t>  bind-dn</a:t>
            </a:r>
            <a:endParaRPr lang="en-US" sz="650" b="0" strike="noStrike" spc="-1">
              <a:solidFill>
                <a:srgbClr val="000000"/>
              </a:solidFill>
              <a:latin typeface="Arial"/>
            </a:endParaRPr>
          </a:p>
          <a:p>
            <a:pPr defTabSz="914400">
              <a:lnSpc>
                <a:spcPct val="100000"/>
              </a:lnSpc>
              <a:tabLst>
                <a:tab pos="0" algn="l"/>
              </a:tabLst>
            </a:pPr>
            <a:r>
              <a:rPr lang="en-US" sz="650" b="0" strike="noStrike" spc="-1">
                <a:solidFill>
                  <a:srgbClr val="A5F3FC"/>
                </a:solidFill>
                <a:latin typeface="Courier New"/>
                <a:ea typeface="Courier New"/>
              </a:rPr>
              <a:t>    cn=Directory Manager</a:t>
            </a:r>
            <a:endParaRPr lang="en-US" sz="650" b="0" strike="noStrike" spc="-1">
              <a:solidFill>
                <a:srgbClr val="000000"/>
              </a:solidFill>
              <a:latin typeface="Arial"/>
            </a:endParaRPr>
          </a:p>
          <a:p>
            <a:pPr defTabSz="914400">
              <a:lnSpc>
                <a:spcPct val="100000"/>
              </a:lnSpc>
              <a:tabLst>
                <a:tab pos="0" algn="l"/>
              </a:tabLst>
            </a:pPr>
            <a:r>
              <a:rPr lang="en-US" sz="650" b="0" strike="noStrike" spc="-1">
                <a:solidFill>
                  <a:srgbClr val="A5F3FC"/>
                </a:solidFill>
                <a:latin typeface="Courier New"/>
                <a:ea typeface="Courier New"/>
              </a:rPr>
              <a:t>  bind-pw default</a:t>
            </a:r>
            <a:endParaRPr lang="en-US" sz="650" b="0" strike="noStrike" spc="-1">
              <a:solidFill>
                <a:srgbClr val="000000"/>
              </a:solidFill>
              <a:latin typeface="Arial"/>
            </a:endParaRPr>
          </a:p>
          <a:p>
            <a:pPr defTabSz="914400">
              <a:lnSpc>
                <a:spcPct val="100000"/>
              </a:lnSpc>
              <a:tabLst>
                <a:tab pos="0" algn="l"/>
              </a:tabLst>
            </a:pPr>
            <a:r>
              <a:rPr lang="en-US" sz="650" b="0" strike="noStrike" spc="-1">
                <a:solidFill>
                  <a:srgbClr val="A5F3FC"/>
                </a:solidFill>
                <a:latin typeface="Courier New"/>
                <a:ea typeface="Courier New"/>
              </a:rPr>
              <a:t>}</a:t>
            </a:r>
            <a:endParaRPr lang="en-US" sz="650" b="0" strike="noStrike" spc="-1">
              <a:solidFill>
                <a:srgbClr val="000000"/>
              </a:solidFill>
              <a:latin typeface="Arial"/>
            </a:endParaRPr>
          </a:p>
        </p:txBody>
      </p:sp>
      <p:sp>
        <p:nvSpPr>
          <p:cNvPr id="1852" name="Shape 14"/>
          <p:cNvSpPr/>
          <p:nvPr/>
        </p:nvSpPr>
        <p:spPr>
          <a:xfrm>
            <a:off x="3108960" y="1005840"/>
            <a:ext cx="2559960" cy="31968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853" name="Text 15"/>
          <p:cNvSpPr/>
          <p:nvPr/>
        </p:nvSpPr>
        <p:spPr>
          <a:xfrm>
            <a:off x="3108960" y="1005840"/>
            <a:ext cx="25599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rgbClr val="FFFFFF"/>
                </a:solidFill>
                <a:latin typeface="Arial"/>
                <a:ea typeface="Arial"/>
              </a:rPr>
              <a:t>RADIUS (UDP 1812)</a:t>
            </a:r>
            <a:endParaRPr lang="en-US" sz="1100" b="0" strike="noStrike" spc="-1">
              <a:solidFill>
                <a:srgbClr val="000000"/>
              </a:solidFill>
              <a:latin typeface="Arial"/>
            </a:endParaRPr>
          </a:p>
        </p:txBody>
      </p:sp>
      <p:sp>
        <p:nvSpPr>
          <p:cNvPr id="1854" name="Shape 16"/>
          <p:cNvSpPr/>
          <p:nvPr/>
        </p:nvSpPr>
        <p:spPr>
          <a:xfrm>
            <a:off x="3108960" y="1371600"/>
            <a:ext cx="2559960" cy="132552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855" name="Text 17"/>
          <p:cNvSpPr/>
          <p:nvPr/>
        </p:nvSpPr>
        <p:spPr>
          <a:xfrm>
            <a:off x="3182040" y="1398960"/>
            <a:ext cx="2413800" cy="1261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750" b="0" strike="noStrike" spc="-1">
                <a:solidFill>
                  <a:srgbClr val="333333"/>
                </a:solidFill>
                <a:latin typeface="Calibri"/>
                <a:ea typeface="Calibri"/>
              </a:rPr>
              <a:t>Server: 10.1.20.253</a:t>
            </a:r>
            <a:endParaRPr lang="en-US" sz="750" b="0" strike="noStrike" spc="-1">
              <a:solidFill>
                <a:srgbClr val="000000"/>
              </a:solidFill>
              <a:latin typeface="Arial"/>
            </a:endParaRPr>
          </a:p>
          <a:p>
            <a:pPr defTabSz="914400">
              <a:lnSpc>
                <a:spcPct val="100000"/>
              </a:lnSpc>
              <a:tabLst>
                <a:tab pos="0" algn="l"/>
              </a:tabLst>
            </a:pPr>
            <a:r>
              <a:rPr lang="en-US" sz="750" b="0" strike="noStrike" spc="-1">
                <a:solidFill>
                  <a:srgbClr val="333333"/>
                </a:solidFill>
                <a:latin typeface="Calibri"/>
                <a:ea typeface="Calibri"/>
              </a:rPr>
              <a:t>Port: 1812</a:t>
            </a:r>
            <a:endParaRPr lang="en-US" sz="750" b="0" strike="noStrike" spc="-1">
              <a:solidFill>
                <a:srgbClr val="000000"/>
              </a:solidFill>
              <a:latin typeface="Arial"/>
            </a:endParaRPr>
          </a:p>
          <a:p>
            <a:pPr defTabSz="914400">
              <a:lnSpc>
                <a:spcPct val="100000"/>
              </a:lnSpc>
              <a:tabLst>
                <a:tab pos="0" algn="l"/>
              </a:tabLst>
            </a:pPr>
            <a:r>
              <a:rPr lang="en-US" sz="750" b="0" strike="noStrike" spc="-1">
                <a:solidFill>
                  <a:srgbClr val="333333"/>
                </a:solidFill>
                <a:latin typeface="Calibri"/>
                <a:ea typeface="Calibri"/>
              </a:rPr>
              <a:t>Secret: shared_secret</a:t>
            </a:r>
            <a:endParaRPr lang="en-US" sz="750" b="0" strike="noStrike" spc="-1">
              <a:solidFill>
                <a:srgbClr val="000000"/>
              </a:solidFill>
              <a:latin typeface="Arial"/>
            </a:endParaRPr>
          </a:p>
          <a:p>
            <a:pPr defTabSz="914400">
              <a:lnSpc>
                <a:spcPct val="100000"/>
              </a:lnSpc>
              <a:tabLst>
                <a:tab pos="0" algn="l"/>
              </a:tabLst>
            </a:pPr>
            <a:r>
              <a:rPr lang="en-US" sz="750" b="0" strike="noStrike" spc="-1">
                <a:solidFill>
                  <a:srgbClr val="333333"/>
                </a:solidFill>
                <a:latin typeface="Calibri"/>
                <a:ea typeface="Calibri"/>
              </a:rPr>
              <a:t>Default Role: Operator</a:t>
            </a:r>
            <a:endParaRPr lang="en-US" sz="750" b="0" strike="noStrike" spc="-1">
              <a:solidFill>
                <a:srgbClr val="000000"/>
              </a:solidFill>
              <a:latin typeface="Arial"/>
            </a:endParaRPr>
          </a:p>
          <a:p>
            <a:pPr defTabSz="914400">
              <a:lnSpc>
                <a:spcPct val="100000"/>
              </a:lnSpc>
              <a:tabLst>
                <a:tab pos="0" algn="l"/>
              </a:tabLst>
            </a:pPr>
            <a:r>
              <a:rPr lang="en-US" sz="750" b="0" strike="noStrike" spc="-1">
                <a:solidFill>
                  <a:srgbClr val="333333"/>
                </a:solidFill>
                <a:latin typeface="Calibri"/>
                <a:ea typeface="Calibri"/>
              </a:rPr>
              <a:t>Role assignment via</a:t>
            </a:r>
            <a:endParaRPr lang="en-US" sz="750" b="0" strike="noStrike" spc="-1">
              <a:solidFill>
                <a:srgbClr val="000000"/>
              </a:solidFill>
              <a:latin typeface="Arial"/>
            </a:endParaRPr>
          </a:p>
          <a:p>
            <a:pPr defTabSz="914400">
              <a:lnSpc>
                <a:spcPct val="100000"/>
              </a:lnSpc>
              <a:tabLst>
                <a:tab pos="0" algn="l"/>
              </a:tabLst>
            </a:pPr>
            <a:r>
              <a:rPr lang="en-US" sz="750" b="0" strike="noStrike" spc="-1">
                <a:solidFill>
                  <a:srgbClr val="333333"/>
                </a:solidFill>
                <a:latin typeface="Calibri"/>
                <a:ea typeface="Calibri"/>
              </a:rPr>
              <a:t>F5 VSA attributes</a:t>
            </a:r>
            <a:endParaRPr lang="en-US" sz="750" b="0" strike="noStrike" spc="-1">
              <a:solidFill>
                <a:srgbClr val="000000"/>
              </a:solidFill>
              <a:latin typeface="Arial"/>
            </a:endParaRPr>
          </a:p>
          <a:p>
            <a:pPr defTabSz="914400">
              <a:lnSpc>
                <a:spcPct val="100000"/>
              </a:lnSpc>
              <a:tabLst>
                <a:tab pos="0" algn="l"/>
              </a:tabLst>
            </a:pPr>
            <a:r>
              <a:rPr lang="en-US" sz="750" b="0" strike="noStrike" spc="-1">
                <a:solidFill>
                  <a:srgbClr val="333333"/>
                </a:solidFill>
                <a:latin typeface="Calibri"/>
                <a:ea typeface="Calibri"/>
              </a:rPr>
              <a:t>in RADIUS response</a:t>
            </a:r>
            <a:endParaRPr lang="en-US" sz="750" b="0" strike="noStrike" spc="-1">
              <a:solidFill>
                <a:srgbClr val="000000"/>
              </a:solidFill>
              <a:latin typeface="Arial"/>
            </a:endParaRPr>
          </a:p>
        </p:txBody>
      </p:sp>
      <p:sp>
        <p:nvSpPr>
          <p:cNvPr id="1856" name="Shape 18"/>
          <p:cNvSpPr/>
          <p:nvPr/>
        </p:nvSpPr>
        <p:spPr>
          <a:xfrm>
            <a:off x="3108960" y="2743200"/>
            <a:ext cx="2559960" cy="1051200"/>
          </a:xfrm>
          <a:prstGeom prst="rect">
            <a:avLst/>
          </a:prstGeom>
          <a:solidFill>
            <a:srgbClr val="1E293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857" name="Text 19"/>
          <p:cNvSpPr/>
          <p:nvPr/>
        </p:nvSpPr>
        <p:spPr>
          <a:xfrm>
            <a:off x="3182040" y="2761560"/>
            <a:ext cx="2413800" cy="1005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650" b="0" strike="noStrike" spc="-1">
                <a:solidFill>
                  <a:srgbClr val="A5F3FC"/>
                </a:solidFill>
                <a:latin typeface="Courier New"/>
                <a:ea typeface="Courier New"/>
              </a:rPr>
              <a:t>modify auth source type radius</a:t>
            </a:r>
            <a:endParaRPr lang="en-US" sz="650" b="0" strike="noStrike" spc="-1">
              <a:solidFill>
                <a:srgbClr val="000000"/>
              </a:solidFill>
              <a:latin typeface="Arial"/>
            </a:endParaRPr>
          </a:p>
          <a:p>
            <a:pPr defTabSz="914400">
              <a:lnSpc>
                <a:spcPct val="100000"/>
              </a:lnSpc>
              <a:tabLst>
                <a:tab pos="0" algn="l"/>
              </a:tabLst>
            </a:pPr>
            <a:r>
              <a:rPr lang="en-US" sz="650" b="0" strike="noStrike" spc="-1">
                <a:solidFill>
                  <a:srgbClr val="A5F3FC"/>
                </a:solidFill>
                <a:latin typeface="Courier New"/>
                <a:ea typeface="Courier New"/>
              </a:rPr>
              <a:t>modify auth radius</a:t>
            </a:r>
            <a:endParaRPr lang="en-US" sz="650" b="0" strike="noStrike" spc="-1">
              <a:solidFill>
                <a:srgbClr val="000000"/>
              </a:solidFill>
              <a:latin typeface="Arial"/>
            </a:endParaRPr>
          </a:p>
          <a:p>
            <a:pPr defTabSz="914400">
              <a:lnSpc>
                <a:spcPct val="100000"/>
              </a:lnSpc>
              <a:tabLst>
                <a:tab pos="0" algn="l"/>
              </a:tabLst>
            </a:pPr>
            <a:r>
              <a:rPr lang="en-US" sz="650" b="0" strike="noStrike" spc="-1">
                <a:solidFill>
                  <a:srgbClr val="A5F3FC"/>
                </a:solidFill>
                <a:latin typeface="Courier New"/>
                <a:ea typeface="Courier New"/>
              </a:rPr>
              <a:t>  system-auth {</a:t>
            </a:r>
            <a:endParaRPr lang="en-US" sz="650" b="0" strike="noStrike" spc="-1">
              <a:solidFill>
                <a:srgbClr val="000000"/>
              </a:solidFill>
              <a:latin typeface="Arial"/>
            </a:endParaRPr>
          </a:p>
          <a:p>
            <a:pPr defTabSz="914400">
              <a:lnSpc>
                <a:spcPct val="100000"/>
              </a:lnSpc>
              <a:tabLst>
                <a:tab pos="0" algn="l"/>
              </a:tabLst>
            </a:pPr>
            <a:r>
              <a:rPr lang="en-US" sz="650" b="0" strike="noStrike" spc="-1">
                <a:solidFill>
                  <a:srgbClr val="A5F3FC"/>
                </a:solidFill>
                <a:latin typeface="Courier New"/>
                <a:ea typeface="Courier New"/>
              </a:rPr>
              <a:t>  servers add {</a:t>
            </a:r>
            <a:endParaRPr lang="en-US" sz="650" b="0" strike="noStrike" spc="-1">
              <a:solidFill>
                <a:srgbClr val="000000"/>
              </a:solidFill>
              <a:latin typeface="Arial"/>
            </a:endParaRPr>
          </a:p>
          <a:p>
            <a:pPr defTabSz="914400">
              <a:lnSpc>
                <a:spcPct val="100000"/>
              </a:lnSpc>
              <a:tabLst>
                <a:tab pos="0" algn="l"/>
              </a:tabLst>
            </a:pPr>
            <a:r>
              <a:rPr lang="en-US" sz="650" b="0" strike="noStrike" spc="-1">
                <a:solidFill>
                  <a:srgbClr val="A5F3FC"/>
                </a:solidFill>
                <a:latin typeface="Courier New"/>
                <a:ea typeface="Courier New"/>
              </a:rPr>
              <a:t>    10.1.20.253 {</a:t>
            </a:r>
            <a:endParaRPr lang="en-US" sz="650" b="0" strike="noStrike" spc="-1">
              <a:solidFill>
                <a:srgbClr val="000000"/>
              </a:solidFill>
              <a:latin typeface="Arial"/>
            </a:endParaRPr>
          </a:p>
          <a:p>
            <a:pPr defTabSz="914400">
              <a:lnSpc>
                <a:spcPct val="100000"/>
              </a:lnSpc>
              <a:tabLst>
                <a:tab pos="0" algn="l"/>
              </a:tabLst>
            </a:pPr>
            <a:r>
              <a:rPr lang="en-US" sz="650" b="0" strike="noStrike" spc="-1">
                <a:solidFill>
                  <a:srgbClr val="A5F3FC"/>
                </a:solidFill>
                <a:latin typeface="Courier New"/>
                <a:ea typeface="Courier New"/>
              </a:rPr>
              <a:t>      secret shared_secret</a:t>
            </a:r>
            <a:endParaRPr lang="en-US" sz="650" b="0" strike="noStrike" spc="-1">
              <a:solidFill>
                <a:srgbClr val="000000"/>
              </a:solidFill>
              <a:latin typeface="Arial"/>
            </a:endParaRPr>
          </a:p>
          <a:p>
            <a:pPr defTabSz="914400">
              <a:lnSpc>
                <a:spcPct val="100000"/>
              </a:lnSpc>
              <a:tabLst>
                <a:tab pos="0" algn="l"/>
              </a:tabLst>
            </a:pPr>
            <a:r>
              <a:rPr lang="en-US" sz="650" b="0" strike="noStrike" spc="-1">
                <a:solidFill>
                  <a:srgbClr val="A5F3FC"/>
                </a:solidFill>
                <a:latin typeface="Courier New"/>
                <a:ea typeface="Courier New"/>
              </a:rPr>
              <a:t>  } } }</a:t>
            </a:r>
            <a:endParaRPr lang="en-US" sz="650" b="0" strike="noStrike" spc="-1">
              <a:solidFill>
                <a:srgbClr val="000000"/>
              </a:solidFill>
              <a:latin typeface="Arial"/>
            </a:endParaRPr>
          </a:p>
        </p:txBody>
      </p:sp>
      <p:sp>
        <p:nvSpPr>
          <p:cNvPr id="1858" name="Shape 20"/>
          <p:cNvSpPr/>
          <p:nvPr/>
        </p:nvSpPr>
        <p:spPr>
          <a:xfrm>
            <a:off x="5852160" y="1005840"/>
            <a:ext cx="2925720" cy="31968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859" name="Text 21"/>
          <p:cNvSpPr/>
          <p:nvPr/>
        </p:nvSpPr>
        <p:spPr>
          <a:xfrm>
            <a:off x="5852160" y="1005840"/>
            <a:ext cx="292572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rgbClr val="FFFFFF"/>
                </a:solidFill>
                <a:latin typeface="Arial"/>
                <a:ea typeface="Arial"/>
              </a:rPr>
              <a:t>TACACS+ (TCP 49)</a:t>
            </a:r>
            <a:endParaRPr lang="en-US" sz="1100" b="0" strike="noStrike" spc="-1">
              <a:solidFill>
                <a:srgbClr val="000000"/>
              </a:solidFill>
              <a:latin typeface="Arial"/>
            </a:endParaRPr>
          </a:p>
        </p:txBody>
      </p:sp>
      <p:sp>
        <p:nvSpPr>
          <p:cNvPr id="1860" name="Shape 22"/>
          <p:cNvSpPr/>
          <p:nvPr/>
        </p:nvSpPr>
        <p:spPr>
          <a:xfrm>
            <a:off x="5852160" y="1371600"/>
            <a:ext cx="2925720" cy="132552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861" name="Text 23"/>
          <p:cNvSpPr/>
          <p:nvPr/>
        </p:nvSpPr>
        <p:spPr>
          <a:xfrm>
            <a:off x="5925240" y="1398960"/>
            <a:ext cx="2779560" cy="1261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750" b="0" strike="noStrike" spc="-1">
                <a:solidFill>
                  <a:srgbClr val="333333"/>
                </a:solidFill>
                <a:latin typeface="Calibri"/>
                <a:ea typeface="Calibri"/>
              </a:rPr>
              <a:t>Server: 10.1.20.254</a:t>
            </a:r>
            <a:endParaRPr lang="en-US" sz="750" b="0" strike="noStrike" spc="-1">
              <a:solidFill>
                <a:srgbClr val="000000"/>
              </a:solidFill>
              <a:latin typeface="Arial"/>
            </a:endParaRPr>
          </a:p>
          <a:p>
            <a:pPr defTabSz="914400">
              <a:lnSpc>
                <a:spcPct val="100000"/>
              </a:lnSpc>
              <a:tabLst>
                <a:tab pos="0" algn="l"/>
              </a:tabLst>
            </a:pPr>
            <a:r>
              <a:rPr lang="en-US" sz="750" b="0" strike="noStrike" spc="-1">
                <a:solidFill>
                  <a:srgbClr val="333333"/>
                </a:solidFill>
                <a:latin typeface="Calibri"/>
                <a:ea typeface="Calibri"/>
              </a:rPr>
              <a:t>Port: 49</a:t>
            </a:r>
            <a:endParaRPr lang="en-US" sz="750" b="0" strike="noStrike" spc="-1">
              <a:solidFill>
                <a:srgbClr val="000000"/>
              </a:solidFill>
              <a:latin typeface="Arial"/>
            </a:endParaRPr>
          </a:p>
          <a:p>
            <a:pPr defTabSz="914400">
              <a:lnSpc>
                <a:spcPct val="100000"/>
              </a:lnSpc>
              <a:tabLst>
                <a:tab pos="0" algn="l"/>
              </a:tabLst>
            </a:pPr>
            <a:r>
              <a:rPr lang="en-US" sz="750" b="0" strike="noStrike" spc="-1">
                <a:solidFill>
                  <a:srgbClr val="333333"/>
                </a:solidFill>
                <a:latin typeface="Calibri"/>
                <a:ea typeface="Calibri"/>
              </a:rPr>
              <a:t>Secret: shared_secret</a:t>
            </a:r>
            <a:endParaRPr lang="en-US" sz="750" b="0" strike="noStrike" spc="-1">
              <a:solidFill>
                <a:srgbClr val="000000"/>
              </a:solidFill>
              <a:latin typeface="Arial"/>
            </a:endParaRPr>
          </a:p>
          <a:p>
            <a:pPr defTabSz="914400">
              <a:lnSpc>
                <a:spcPct val="100000"/>
              </a:lnSpc>
              <a:tabLst>
                <a:tab pos="0" algn="l"/>
              </a:tabLst>
            </a:pPr>
            <a:r>
              <a:rPr lang="en-US" sz="750" b="0" strike="noStrike" spc="-1">
                <a:solidFill>
                  <a:srgbClr val="333333"/>
                </a:solidFill>
                <a:latin typeface="Calibri"/>
                <a:ea typeface="Calibri"/>
              </a:rPr>
              <a:t>Service: ppp</a:t>
            </a:r>
            <a:endParaRPr lang="en-US" sz="750" b="0" strike="noStrike" spc="-1">
              <a:solidFill>
                <a:srgbClr val="000000"/>
              </a:solidFill>
              <a:latin typeface="Arial"/>
            </a:endParaRPr>
          </a:p>
          <a:p>
            <a:pPr defTabSz="914400">
              <a:lnSpc>
                <a:spcPct val="100000"/>
              </a:lnSpc>
              <a:tabLst>
                <a:tab pos="0" algn="l"/>
              </a:tabLst>
            </a:pPr>
            <a:r>
              <a:rPr lang="en-US" sz="750" b="0" strike="noStrike" spc="-1">
                <a:solidFill>
                  <a:srgbClr val="333333"/>
                </a:solidFill>
                <a:latin typeface="Calibri"/>
                <a:ea typeface="Calibri"/>
              </a:rPr>
              <a:t>Protocol: ip</a:t>
            </a:r>
            <a:endParaRPr lang="en-US" sz="750" b="0" strike="noStrike" spc="-1">
              <a:solidFill>
                <a:srgbClr val="000000"/>
              </a:solidFill>
              <a:latin typeface="Arial"/>
            </a:endParaRPr>
          </a:p>
          <a:p>
            <a:pPr defTabSz="914400">
              <a:lnSpc>
                <a:spcPct val="100000"/>
              </a:lnSpc>
              <a:tabLst>
                <a:tab pos="0" algn="l"/>
              </a:tabLst>
            </a:pPr>
            <a:r>
              <a:rPr lang="en-US" sz="750" b="0" strike="noStrike" spc="-1">
                <a:solidFill>
                  <a:srgbClr val="333333"/>
                </a:solidFill>
                <a:latin typeface="Calibri"/>
                <a:ea typeface="Calibri"/>
              </a:rPr>
              <a:t>Default Role: Operator</a:t>
            </a:r>
            <a:endParaRPr lang="en-US" sz="750" b="0" strike="noStrike" spc="-1">
              <a:solidFill>
                <a:srgbClr val="000000"/>
              </a:solidFill>
              <a:latin typeface="Arial"/>
            </a:endParaRPr>
          </a:p>
          <a:p>
            <a:pPr defTabSz="914400">
              <a:lnSpc>
                <a:spcPct val="100000"/>
              </a:lnSpc>
              <a:tabLst>
                <a:tab pos="0" algn="l"/>
              </a:tabLst>
            </a:pPr>
            <a:r>
              <a:rPr lang="en-US" sz="750" b="0" strike="noStrike" spc="-1">
                <a:solidFill>
                  <a:srgbClr val="333333"/>
                </a:solidFill>
                <a:latin typeface="Calibri"/>
                <a:ea typeface="Calibri"/>
              </a:rPr>
              <a:t>Per-command authorization</a:t>
            </a:r>
            <a:endParaRPr lang="en-US" sz="750" b="0" strike="noStrike" spc="-1">
              <a:solidFill>
                <a:srgbClr val="000000"/>
              </a:solidFill>
              <a:latin typeface="Arial"/>
            </a:endParaRPr>
          </a:p>
          <a:p>
            <a:pPr defTabSz="914400">
              <a:lnSpc>
                <a:spcPct val="100000"/>
              </a:lnSpc>
              <a:tabLst>
                <a:tab pos="0" algn="l"/>
              </a:tabLst>
            </a:pPr>
            <a:r>
              <a:rPr lang="en-US" sz="750" b="0" strike="noStrike" spc="-1">
                <a:solidFill>
                  <a:srgbClr val="333333"/>
                </a:solidFill>
                <a:latin typeface="Calibri"/>
                <a:ea typeface="Calibri"/>
              </a:rPr>
              <a:t>supported (audit every cmd)</a:t>
            </a:r>
            <a:endParaRPr lang="en-US" sz="750" b="0" strike="noStrike" spc="-1">
              <a:solidFill>
                <a:srgbClr val="000000"/>
              </a:solidFill>
              <a:latin typeface="Arial"/>
            </a:endParaRPr>
          </a:p>
        </p:txBody>
      </p:sp>
      <p:sp>
        <p:nvSpPr>
          <p:cNvPr id="1862" name="Shape 24"/>
          <p:cNvSpPr/>
          <p:nvPr/>
        </p:nvSpPr>
        <p:spPr>
          <a:xfrm>
            <a:off x="5852160" y="2743200"/>
            <a:ext cx="2925720" cy="1051200"/>
          </a:xfrm>
          <a:prstGeom prst="rect">
            <a:avLst/>
          </a:prstGeom>
          <a:solidFill>
            <a:srgbClr val="1E293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863" name="Text 25"/>
          <p:cNvSpPr/>
          <p:nvPr/>
        </p:nvSpPr>
        <p:spPr>
          <a:xfrm>
            <a:off x="5925240" y="2761560"/>
            <a:ext cx="2779560" cy="1005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650" b="0" strike="noStrike" spc="-1">
                <a:solidFill>
                  <a:srgbClr val="A5F3FC"/>
                </a:solidFill>
                <a:latin typeface="Courier New"/>
                <a:ea typeface="Courier New"/>
              </a:rPr>
              <a:t>modify auth source type tacacs</a:t>
            </a:r>
            <a:endParaRPr lang="en-US" sz="650" b="0" strike="noStrike" spc="-1">
              <a:solidFill>
                <a:srgbClr val="000000"/>
              </a:solidFill>
              <a:latin typeface="Arial"/>
            </a:endParaRPr>
          </a:p>
          <a:p>
            <a:pPr defTabSz="914400">
              <a:lnSpc>
                <a:spcPct val="100000"/>
              </a:lnSpc>
              <a:tabLst>
                <a:tab pos="0" algn="l"/>
              </a:tabLst>
            </a:pPr>
            <a:r>
              <a:rPr lang="en-US" sz="650" b="0" strike="noStrike" spc="-1">
                <a:solidFill>
                  <a:srgbClr val="A5F3FC"/>
                </a:solidFill>
                <a:latin typeface="Courier New"/>
                <a:ea typeface="Courier New"/>
              </a:rPr>
              <a:t>modify auth tacacs</a:t>
            </a:r>
            <a:endParaRPr lang="en-US" sz="650" b="0" strike="noStrike" spc="-1">
              <a:solidFill>
                <a:srgbClr val="000000"/>
              </a:solidFill>
              <a:latin typeface="Arial"/>
            </a:endParaRPr>
          </a:p>
          <a:p>
            <a:pPr defTabSz="914400">
              <a:lnSpc>
                <a:spcPct val="100000"/>
              </a:lnSpc>
              <a:tabLst>
                <a:tab pos="0" algn="l"/>
              </a:tabLst>
            </a:pPr>
            <a:r>
              <a:rPr lang="en-US" sz="650" b="0" strike="noStrike" spc="-1">
                <a:solidFill>
                  <a:srgbClr val="A5F3FC"/>
                </a:solidFill>
                <a:latin typeface="Courier New"/>
                <a:ea typeface="Courier New"/>
              </a:rPr>
              <a:t>  system-auth {</a:t>
            </a:r>
            <a:endParaRPr lang="en-US" sz="650" b="0" strike="noStrike" spc="-1">
              <a:solidFill>
                <a:srgbClr val="000000"/>
              </a:solidFill>
              <a:latin typeface="Arial"/>
            </a:endParaRPr>
          </a:p>
          <a:p>
            <a:pPr defTabSz="914400">
              <a:lnSpc>
                <a:spcPct val="100000"/>
              </a:lnSpc>
              <a:tabLst>
                <a:tab pos="0" algn="l"/>
              </a:tabLst>
            </a:pPr>
            <a:r>
              <a:rPr lang="en-US" sz="650" b="0" strike="noStrike" spc="-1">
                <a:solidFill>
                  <a:srgbClr val="A5F3FC"/>
                </a:solidFill>
                <a:latin typeface="Courier New"/>
                <a:ea typeface="Courier New"/>
              </a:rPr>
              <a:t>  servers add {</a:t>
            </a:r>
            <a:endParaRPr lang="en-US" sz="650" b="0" strike="noStrike" spc="-1">
              <a:solidFill>
                <a:srgbClr val="000000"/>
              </a:solidFill>
              <a:latin typeface="Arial"/>
            </a:endParaRPr>
          </a:p>
          <a:p>
            <a:pPr defTabSz="914400">
              <a:lnSpc>
                <a:spcPct val="100000"/>
              </a:lnSpc>
              <a:tabLst>
                <a:tab pos="0" algn="l"/>
              </a:tabLst>
            </a:pPr>
            <a:r>
              <a:rPr lang="en-US" sz="650" b="0" strike="noStrike" spc="-1">
                <a:solidFill>
                  <a:srgbClr val="A5F3FC"/>
                </a:solidFill>
                <a:latin typeface="Courier New"/>
                <a:ea typeface="Courier New"/>
              </a:rPr>
              <a:t>    10.1.20.254 }</a:t>
            </a:r>
            <a:endParaRPr lang="en-US" sz="650" b="0" strike="noStrike" spc="-1">
              <a:solidFill>
                <a:srgbClr val="000000"/>
              </a:solidFill>
              <a:latin typeface="Arial"/>
            </a:endParaRPr>
          </a:p>
          <a:p>
            <a:pPr defTabSz="914400">
              <a:lnSpc>
                <a:spcPct val="100000"/>
              </a:lnSpc>
              <a:tabLst>
                <a:tab pos="0" algn="l"/>
              </a:tabLst>
            </a:pPr>
            <a:r>
              <a:rPr lang="en-US" sz="650" b="0" strike="noStrike" spc="-1">
                <a:solidFill>
                  <a:srgbClr val="A5F3FC"/>
                </a:solidFill>
                <a:latin typeface="Courier New"/>
                <a:ea typeface="Courier New"/>
              </a:rPr>
              <a:t>  secret shared_secret</a:t>
            </a:r>
            <a:endParaRPr lang="en-US" sz="650" b="0" strike="noStrike" spc="-1">
              <a:solidFill>
                <a:srgbClr val="000000"/>
              </a:solidFill>
              <a:latin typeface="Arial"/>
            </a:endParaRPr>
          </a:p>
          <a:p>
            <a:pPr defTabSz="914400">
              <a:lnSpc>
                <a:spcPct val="100000"/>
              </a:lnSpc>
              <a:tabLst>
                <a:tab pos="0" algn="l"/>
              </a:tabLst>
            </a:pPr>
            <a:r>
              <a:rPr lang="en-US" sz="650" b="0" strike="noStrike" spc="-1">
                <a:solidFill>
                  <a:srgbClr val="A5F3FC"/>
                </a:solidFill>
                <a:latin typeface="Courier New"/>
                <a:ea typeface="Courier New"/>
              </a:rPr>
              <a:t>  service ppp</a:t>
            </a:r>
            <a:endParaRPr lang="en-US" sz="650" b="0" strike="noStrike" spc="-1">
              <a:solidFill>
                <a:srgbClr val="000000"/>
              </a:solidFill>
              <a:latin typeface="Arial"/>
            </a:endParaRPr>
          </a:p>
          <a:p>
            <a:pPr defTabSz="914400">
              <a:lnSpc>
                <a:spcPct val="100000"/>
              </a:lnSpc>
              <a:tabLst>
                <a:tab pos="0" algn="l"/>
              </a:tabLst>
            </a:pPr>
            <a:r>
              <a:rPr lang="en-US" sz="650" b="0" strike="noStrike" spc="-1">
                <a:solidFill>
                  <a:srgbClr val="A5F3FC"/>
                </a:solidFill>
                <a:latin typeface="Courier New"/>
                <a:ea typeface="Courier New"/>
              </a:rPr>
              <a:t>  protocol ip</a:t>
            </a:r>
            <a:endParaRPr lang="en-US" sz="650" b="0" strike="noStrike" spc="-1">
              <a:solidFill>
                <a:srgbClr val="000000"/>
              </a:solidFill>
              <a:latin typeface="Arial"/>
            </a:endParaRPr>
          </a:p>
          <a:p>
            <a:pPr defTabSz="914400">
              <a:lnSpc>
                <a:spcPct val="100000"/>
              </a:lnSpc>
              <a:tabLst>
                <a:tab pos="0" algn="l"/>
              </a:tabLst>
            </a:pPr>
            <a:r>
              <a:rPr lang="en-US" sz="650" b="0" strike="noStrike" spc="-1">
                <a:solidFill>
                  <a:srgbClr val="A5F3FC"/>
                </a:solidFill>
                <a:latin typeface="Courier New"/>
                <a:ea typeface="Courier New"/>
              </a:rPr>
              <a:t>}</a:t>
            </a:r>
            <a:endParaRPr lang="en-US" sz="650" b="0" strike="noStrike" spc="-1">
              <a:solidFill>
                <a:srgbClr val="000000"/>
              </a:solidFill>
              <a:latin typeface="Arial"/>
            </a:endParaRPr>
          </a:p>
        </p:txBody>
      </p:sp>
      <p:sp>
        <p:nvSpPr>
          <p:cNvPr id="1864" name="Shape 26"/>
          <p:cNvSpPr/>
          <p:nvPr/>
        </p:nvSpPr>
        <p:spPr>
          <a:xfrm>
            <a:off x="365760" y="3931920"/>
            <a:ext cx="8412120" cy="319680"/>
          </a:xfrm>
          <a:prstGeom prst="rect">
            <a:avLst/>
          </a:prstGeom>
          <a:solidFill>
            <a:srgbClr val="FDE8E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865" name="Text 27"/>
          <p:cNvSpPr/>
          <p:nvPr/>
        </p:nvSpPr>
        <p:spPr>
          <a:xfrm>
            <a:off x="548640" y="3950280"/>
            <a:ext cx="80463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strike="noStrike" spc="-1">
                <a:solidFill>
                  <a:srgbClr val="E4002B"/>
                </a:solidFill>
                <a:latin typeface="Calibri"/>
                <a:ea typeface="Calibri"/>
              </a:rPr>
              <a:t>Auth fallback: </a:t>
            </a:r>
            <a:r>
              <a:rPr lang="en-US" sz="900" b="0" strike="noStrike" spc="-1">
                <a:solidFill>
                  <a:srgbClr val="7A0000"/>
                </a:solidFill>
                <a:latin typeface="Calibri"/>
                <a:ea typeface="Calibri"/>
              </a:rPr>
              <a:t>Remote REJECTS user → denied (no fallback). Remote UNREACHABLE → falls back to local auth. Always keep a local admin account as backup.</a:t>
            </a:r>
            <a:endParaRPr lang="en-US" sz="900" b="0" strike="noStrike" spc="-1">
              <a:solidFill>
                <a:srgbClr val="000000"/>
              </a:solidFill>
              <a:latin typeface="Arial"/>
            </a:endParaRPr>
          </a:p>
        </p:txBody>
      </p:sp>
      <p:sp>
        <p:nvSpPr>
          <p:cNvPr id="1866" name="Shape 28"/>
          <p:cNvSpPr/>
          <p:nvPr/>
        </p:nvSpPr>
        <p:spPr>
          <a:xfrm>
            <a:off x="365760" y="4343400"/>
            <a:ext cx="8412120" cy="273960"/>
          </a:xfrm>
          <a:prstGeom prst="rect">
            <a:avLst/>
          </a:prstGeom>
          <a:solidFill>
            <a:srgbClr val="E8F0F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867" name="Text 29"/>
          <p:cNvSpPr/>
          <p:nvPr/>
        </p:nvSpPr>
        <p:spPr>
          <a:xfrm>
            <a:off x="548640" y="4361760"/>
            <a:ext cx="804636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strike="noStrike" spc="-1">
                <a:solidFill>
                  <a:srgbClr val="0E41AA"/>
                </a:solidFill>
                <a:latin typeface="Calibri"/>
                <a:ea typeface="Calibri"/>
              </a:rPr>
              <a:t>Revert to local: </a:t>
            </a:r>
            <a:r>
              <a:rPr lang="en-US" sz="900" b="0" strike="noStrike" spc="-1">
                <a:solidFill>
                  <a:srgbClr val="1A3A6C"/>
                </a:solidFill>
                <a:latin typeface="Courier New"/>
                <a:ea typeface="Courier New"/>
              </a:rPr>
              <a:t>modify auth source type local    |    GUI: System &gt; Users &gt; Authentication &gt; Change &gt; Local</a:t>
            </a:r>
            <a:endParaRPr lang="en-US" sz="900" b="0" strike="noStrike" spc="-1">
              <a:solidFill>
                <a:srgbClr val="000000"/>
              </a:solidFill>
              <a:latin typeface="Arial"/>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68"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869"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870"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871"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872"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873"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84    © 2026 F5</a:t>
            </a:r>
            <a:endParaRPr lang="en-US" sz="800" b="0" strike="noStrike" spc="-1">
              <a:solidFill>
                <a:srgbClr val="000000"/>
              </a:solidFill>
              <a:latin typeface="Arial"/>
            </a:endParaRPr>
          </a:p>
        </p:txBody>
      </p:sp>
      <p:pic>
        <p:nvPicPr>
          <p:cNvPr id="1874" name="Image 0" descr="preencoded.png"/>
          <p:cNvPicPr/>
          <p:nvPr/>
        </p:nvPicPr>
        <p:blipFill>
          <a:blip r:embed="rId3"/>
          <a:stretch/>
        </p:blipFill>
        <p:spPr>
          <a:xfrm>
            <a:off x="8458200" y="4663440"/>
            <a:ext cx="383760" cy="383760"/>
          </a:xfrm>
          <a:prstGeom prst="rect">
            <a:avLst/>
          </a:prstGeom>
          <a:ln w="0">
            <a:noFill/>
          </a:ln>
        </p:spPr>
      </p:pic>
      <p:sp>
        <p:nvSpPr>
          <p:cNvPr id="1875" name="Text 6"/>
          <p:cNvSpPr/>
          <p:nvPr/>
        </p:nvSpPr>
        <p:spPr>
          <a:xfrm>
            <a:off x="457200" y="274320"/>
            <a:ext cx="73148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Lab 9 — Hands-on exercises</a:t>
            </a:r>
            <a:endParaRPr lang="en-US" sz="2800" b="0" strike="noStrike" spc="-1">
              <a:solidFill>
                <a:srgbClr val="000000"/>
              </a:solidFill>
              <a:latin typeface="Arial"/>
            </a:endParaRPr>
          </a:p>
        </p:txBody>
      </p:sp>
      <p:sp>
        <p:nvSpPr>
          <p:cNvPr id="1876" name="Text 7"/>
          <p:cNvSpPr/>
          <p:nvPr/>
        </p:nvSpPr>
        <p:spPr>
          <a:xfrm>
            <a:off x="457200" y="658440"/>
            <a:ext cx="73148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009639"/>
                </a:solidFill>
                <a:latin typeface="Calibri"/>
                <a:ea typeface="Calibri"/>
              </a:rPr>
              <a:t>30 minutes  |  Lab guide: Module 9</a:t>
            </a:r>
            <a:endParaRPr lang="en-US" sz="1400" b="0" strike="noStrike" spc="-1">
              <a:solidFill>
                <a:srgbClr val="000000"/>
              </a:solidFill>
              <a:latin typeface="Arial"/>
            </a:endParaRPr>
          </a:p>
        </p:txBody>
      </p:sp>
      <p:graphicFrame>
        <p:nvGraphicFramePr>
          <p:cNvPr id="1877" name="Table 0"/>
          <p:cNvGraphicFramePr/>
          <p:nvPr/>
        </p:nvGraphicFramePr>
        <p:xfrm>
          <a:off x="365760" y="960120"/>
          <a:ext cx="7772400" cy="1325880"/>
        </p:xfrm>
        <a:graphic>
          <a:graphicData uri="http://schemas.openxmlformats.org/drawingml/2006/table">
            <a:tbl>
              <a:tblPr/>
              <a:tblGrid>
                <a:gridCol w="32004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5486400">
                  <a:extLst>
                    <a:ext uri="{9D8B030D-6E8A-4147-A177-3AD203B41FA5}">
                      <a16:colId xmlns:a16="http://schemas.microsoft.com/office/drawing/2014/main" val="20002"/>
                    </a:ext>
                  </a:extLst>
                </a:gridCol>
                <a:gridCol w="594360">
                  <a:extLst>
                    <a:ext uri="{9D8B030D-6E8A-4147-A177-3AD203B41FA5}">
                      <a16:colId xmlns:a16="http://schemas.microsoft.com/office/drawing/2014/main" val="20003"/>
                    </a:ext>
                  </a:extLst>
                </a:gridCol>
              </a:tblGrid>
              <a:tr h="274320">
                <a:tc>
                  <a:txBody>
                    <a:bodyPr/>
                    <a:lstStyle/>
                    <a:p>
                      <a:pPr algn="ctr" defTabSz="914400">
                        <a:lnSpc>
                          <a:spcPct val="100000"/>
                        </a:lnSpc>
                        <a:tabLst>
                          <a:tab pos="0" algn="l"/>
                        </a:tabLst>
                      </a:pPr>
                      <a:r>
                        <a:rPr lang="en-US" sz="1000" b="1" strike="noStrike" spc="-1">
                          <a:solidFill>
                            <a:srgbClr val="FFFFFF"/>
                          </a:solidFill>
                          <a:latin typeface="Calibri"/>
                        </a:rPr>
                        <a:t>#</a:t>
                      </a:r>
                      <a:endParaRPr lang="en-US" sz="10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09639"/>
                    </a:solidFill>
                  </a:tcPr>
                </a:tc>
                <a:tc>
                  <a:txBody>
                    <a:bodyPr/>
                    <a:lstStyle/>
                    <a:p>
                      <a:pPr defTabSz="914400">
                        <a:lnSpc>
                          <a:spcPct val="100000"/>
                        </a:lnSpc>
                        <a:tabLst>
                          <a:tab pos="0" algn="l"/>
                        </a:tabLst>
                      </a:pPr>
                      <a:r>
                        <a:rPr lang="en-US" sz="1100" b="1" strike="noStrike" spc="-1">
                          <a:solidFill>
                            <a:srgbClr val="FFFFFF"/>
                          </a:solidFill>
                          <a:latin typeface="Calibri"/>
                        </a:rPr>
                        <a:t>Activity</a:t>
                      </a:r>
                      <a:endParaRPr lang="en-US" sz="11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09639"/>
                    </a:solidFill>
                  </a:tcPr>
                </a:tc>
                <a:tc>
                  <a:txBody>
                    <a:bodyPr/>
                    <a:lstStyle/>
                    <a:p>
                      <a:pPr defTabSz="914400">
                        <a:lnSpc>
                          <a:spcPct val="100000"/>
                        </a:lnSpc>
                        <a:tabLst>
                          <a:tab pos="0" algn="l"/>
                        </a:tabLst>
                      </a:pPr>
                      <a:r>
                        <a:rPr lang="en-US" sz="1100" b="1" strike="noStrike" spc="-1">
                          <a:solidFill>
                            <a:srgbClr val="FFFFFF"/>
                          </a:solidFill>
                          <a:latin typeface="Calibri"/>
                        </a:rPr>
                        <a:t>Key tasks</a:t>
                      </a:r>
                      <a:endParaRPr lang="en-US" sz="11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09639"/>
                    </a:solidFill>
                  </a:tcPr>
                </a:tc>
                <a:tc>
                  <a:txBody>
                    <a:bodyPr/>
                    <a:lstStyle/>
                    <a:p>
                      <a:pPr algn="ctr" defTabSz="914400">
                        <a:lnSpc>
                          <a:spcPct val="100000"/>
                        </a:lnSpc>
                        <a:tabLst>
                          <a:tab pos="0" algn="l"/>
                        </a:tabLst>
                      </a:pPr>
                      <a:r>
                        <a:rPr lang="en-US" sz="1000" b="1" strike="noStrike" spc="-1">
                          <a:solidFill>
                            <a:srgbClr val="FFFFFF"/>
                          </a:solidFill>
                          <a:latin typeface="Calibri"/>
                        </a:rPr>
                        <a:t>Time</a:t>
                      </a:r>
                      <a:endParaRPr lang="en-US" sz="10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09639"/>
                    </a:solidFill>
                  </a:tcPr>
                </a:tc>
                <a:extLst>
                  <a:ext uri="{0D108BD9-81ED-4DB2-BD59-A6C34878D82A}">
                    <a16:rowId xmlns:a16="http://schemas.microsoft.com/office/drawing/2014/main" val="10000"/>
                  </a:ext>
                </a:extLst>
              </a:tr>
              <a:tr h="594360">
                <a:tc>
                  <a:txBody>
                    <a:bodyPr/>
                    <a:lstStyle/>
                    <a:p>
                      <a:pPr algn="ctr" defTabSz="914400">
                        <a:lnSpc>
                          <a:spcPct val="100000"/>
                        </a:lnSpc>
                        <a:tabLst>
                          <a:tab pos="0" algn="l"/>
                        </a:tabLst>
                      </a:pPr>
                      <a:r>
                        <a:rPr lang="en-US" sz="1100" b="0" strike="noStrike" spc="-1">
                          <a:solidFill>
                            <a:srgbClr val="000000"/>
                          </a:solidFill>
                          <a:latin typeface="Calibri"/>
                        </a:rPr>
                        <a:t>1</a:t>
                      </a:r>
                      <a:endParaRPr lang="en-US" sz="11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1100" b="1" strike="noStrike" spc="-1">
                          <a:solidFill>
                            <a:srgbClr val="000000"/>
                          </a:solidFill>
                          <a:latin typeface="Calibri"/>
                        </a:rPr>
                        <a:t>Roles + Partitions</a:t>
                      </a:r>
                      <a:endParaRPr lang="en-US" sz="11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333333"/>
                          </a:solidFill>
                          <a:latin typeface="Calibri"/>
                        </a:rPr>
                        <a:t>Create test_partition. Create testuser (Manager, tmsh). Log in — view Common (greyed), create test_vs. SSH test. Check /config/partitions/ file.</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algn="ctr" defTabSz="914400">
                        <a:lnSpc>
                          <a:spcPct val="100000"/>
                        </a:lnSpc>
                        <a:tabLst>
                          <a:tab pos="0" algn="l"/>
                        </a:tabLst>
                      </a:pPr>
                      <a:r>
                        <a:rPr lang="en-US" sz="1000" b="0" strike="noStrike" spc="-1">
                          <a:solidFill>
                            <a:srgbClr val="666666"/>
                          </a:solidFill>
                          <a:latin typeface="Calibri"/>
                        </a:rPr>
                        <a:t>20m</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1"/>
                  </a:ext>
                </a:extLst>
              </a:tr>
              <a:tr h="457200">
                <a:tc>
                  <a:txBody>
                    <a:bodyPr/>
                    <a:lstStyle/>
                    <a:p>
                      <a:pPr algn="ctr" defTabSz="914400">
                        <a:lnSpc>
                          <a:spcPct val="100000"/>
                        </a:lnSpc>
                        <a:tabLst>
                          <a:tab pos="0" algn="l"/>
                        </a:tabLst>
                      </a:pPr>
                      <a:r>
                        <a:rPr lang="en-US" sz="1100" b="0" strike="noStrike" spc="-1">
                          <a:solidFill>
                            <a:srgbClr val="000000"/>
                          </a:solidFill>
                          <a:latin typeface="Calibri"/>
                        </a:rPr>
                        <a:t>2</a:t>
                      </a:r>
                      <a:endParaRPr lang="en-US" sz="11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1100" b="1" strike="noStrike" spc="-1">
                          <a:solidFill>
                            <a:srgbClr val="000000"/>
                          </a:solidFill>
                          <a:latin typeface="Calibri"/>
                        </a:rPr>
                        <a:t>Remote Auth</a:t>
                      </a:r>
                      <a:endParaRPr lang="en-US" sz="11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333333"/>
                          </a:solidFill>
                          <a:latin typeface="Calibri"/>
                        </a:rPr>
                        <a:t>Configure LDAP (10.1.20.252, dc=f5demo,dc=com). Test adminuser/password. Verify local testuser still works. Revert to local.</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algn="ctr" defTabSz="914400">
                        <a:lnSpc>
                          <a:spcPct val="100000"/>
                        </a:lnSpc>
                        <a:tabLst>
                          <a:tab pos="0" algn="l"/>
                        </a:tabLst>
                      </a:pPr>
                      <a:r>
                        <a:rPr lang="en-US" sz="1000" b="0" strike="noStrike" spc="-1">
                          <a:solidFill>
                            <a:srgbClr val="666666"/>
                          </a:solidFill>
                          <a:latin typeface="Calibri"/>
                        </a:rPr>
                        <a:t>10m</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2"/>
                  </a:ext>
                </a:extLst>
              </a:tr>
            </a:tbl>
          </a:graphicData>
        </a:graphic>
      </p:graphicFrame>
      <p:sp>
        <p:nvSpPr>
          <p:cNvPr id="1878" name="Shape 8"/>
          <p:cNvSpPr/>
          <p:nvPr/>
        </p:nvSpPr>
        <p:spPr>
          <a:xfrm>
            <a:off x="365760" y="2423160"/>
            <a:ext cx="8412120" cy="365400"/>
          </a:xfrm>
          <a:prstGeom prst="rect">
            <a:avLst/>
          </a:prstGeom>
          <a:solidFill>
            <a:srgbClr val="FFF3E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879" name="Text 9"/>
          <p:cNvSpPr/>
          <p:nvPr/>
        </p:nvSpPr>
        <p:spPr>
          <a:xfrm>
            <a:off x="548640" y="2441520"/>
            <a:ext cx="80463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strike="noStrike" spc="-1">
                <a:solidFill>
                  <a:srgbClr val="F29A36"/>
                </a:solidFill>
                <a:latin typeface="Calibri"/>
                <a:ea typeface="Calibri"/>
              </a:rPr>
              <a:t>Activity 1 discovery: </a:t>
            </a:r>
            <a:r>
              <a:rPr lang="en-US" sz="900" b="0" strike="noStrike" spc="-1">
                <a:solidFill>
                  <a:srgbClr val="7A4500"/>
                </a:solidFill>
                <a:latin typeface="Calibri"/>
                <a:ea typeface="Calibri"/>
              </a:rPr>
              <a:t>testuser sees /Common objects (greyed out), creates test_vs in test_partition using /Common/www_pool. Config in /config/partitions/test_partition/bigip.conf.</a:t>
            </a:r>
            <a:endParaRPr lang="en-US" sz="900" b="0" strike="noStrike" spc="-1">
              <a:solidFill>
                <a:srgbClr val="000000"/>
              </a:solidFill>
              <a:latin typeface="Arial"/>
            </a:endParaRPr>
          </a:p>
        </p:txBody>
      </p:sp>
      <p:sp>
        <p:nvSpPr>
          <p:cNvPr id="1880" name="Shape 10"/>
          <p:cNvSpPr/>
          <p:nvPr/>
        </p:nvSpPr>
        <p:spPr>
          <a:xfrm>
            <a:off x="365760" y="2880360"/>
            <a:ext cx="8412120" cy="365400"/>
          </a:xfrm>
          <a:prstGeom prst="rect">
            <a:avLst/>
          </a:prstGeom>
          <a:solidFill>
            <a:srgbClr val="FDE8E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881" name="Text 11"/>
          <p:cNvSpPr/>
          <p:nvPr/>
        </p:nvSpPr>
        <p:spPr>
          <a:xfrm>
            <a:off x="548640" y="2898720"/>
            <a:ext cx="80463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strike="noStrike" spc="-1">
                <a:solidFill>
                  <a:srgbClr val="E4002B"/>
                </a:solidFill>
                <a:latin typeface="Calibri"/>
                <a:ea typeface="Calibri"/>
              </a:rPr>
              <a:t>Activity 2 key test: </a:t>
            </a:r>
            <a:r>
              <a:rPr lang="en-US" sz="900" b="0" strike="noStrike" spc="-1">
                <a:solidFill>
                  <a:srgbClr val="7A0000"/>
                </a:solidFill>
                <a:latin typeface="Calibri"/>
                <a:ea typeface="Calibri"/>
              </a:rPr>
              <a:t>With LDAP active: LDAP user adminuser works. Local testuser works ONLY because LDAP server is UP but doesn't know testuser (falls through). If LDAP rejects → denied.</a:t>
            </a:r>
            <a:endParaRPr lang="en-US" sz="900" b="0" strike="noStrike" spc="-1">
              <a:solidFill>
                <a:srgbClr val="000000"/>
              </a:solidFill>
              <a:latin typeface="Arial"/>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82"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883"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884"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885"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886"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887"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85    © 2026 F5</a:t>
            </a:r>
            <a:endParaRPr lang="en-US" sz="800" b="0" strike="noStrike" spc="-1">
              <a:solidFill>
                <a:srgbClr val="000000"/>
              </a:solidFill>
              <a:latin typeface="Arial"/>
            </a:endParaRPr>
          </a:p>
        </p:txBody>
      </p:sp>
      <p:pic>
        <p:nvPicPr>
          <p:cNvPr id="1888" name="Image 0" descr="preencoded.png"/>
          <p:cNvPicPr/>
          <p:nvPr/>
        </p:nvPicPr>
        <p:blipFill>
          <a:blip r:embed="rId3"/>
          <a:stretch/>
        </p:blipFill>
        <p:spPr>
          <a:xfrm>
            <a:off x="8458200" y="4663440"/>
            <a:ext cx="383760" cy="383760"/>
          </a:xfrm>
          <a:prstGeom prst="rect">
            <a:avLst/>
          </a:prstGeom>
          <a:ln w="0">
            <a:noFill/>
          </a:ln>
        </p:spPr>
      </p:pic>
      <p:sp>
        <p:nvSpPr>
          <p:cNvPr id="1889" name="Text 6"/>
          <p:cNvSpPr/>
          <p:nvPr/>
        </p:nvSpPr>
        <p:spPr>
          <a:xfrm>
            <a:off x="457200" y="274320"/>
            <a:ext cx="82292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Exam checkpoints</a:t>
            </a:r>
            <a:endParaRPr lang="en-US" sz="2800" b="0" strike="noStrike" spc="-1">
              <a:solidFill>
                <a:srgbClr val="000000"/>
              </a:solidFill>
              <a:latin typeface="Arial"/>
            </a:endParaRPr>
          </a:p>
        </p:txBody>
      </p:sp>
      <p:sp>
        <p:nvSpPr>
          <p:cNvPr id="1890" name="Shape 7"/>
          <p:cNvSpPr/>
          <p:nvPr/>
        </p:nvSpPr>
        <p:spPr>
          <a:xfrm>
            <a:off x="457200" y="868680"/>
            <a:ext cx="411120" cy="25560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891" name="Text 8"/>
          <p:cNvSpPr/>
          <p:nvPr/>
        </p:nvSpPr>
        <p:spPr>
          <a:xfrm>
            <a:off x="457200" y="868680"/>
            <a:ext cx="41112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rgbClr val="FFFFFF"/>
                </a:solidFill>
                <a:latin typeface="Arial"/>
                <a:ea typeface="Arial"/>
              </a:rPr>
              <a:t>Q1</a:t>
            </a:r>
            <a:endParaRPr lang="en-US" sz="1100" b="0" strike="noStrike" spc="-1">
              <a:solidFill>
                <a:srgbClr val="000000"/>
              </a:solidFill>
              <a:latin typeface="Arial"/>
            </a:endParaRPr>
          </a:p>
        </p:txBody>
      </p:sp>
      <p:sp>
        <p:nvSpPr>
          <p:cNvPr id="1892" name="Shape 9"/>
          <p:cNvSpPr/>
          <p:nvPr/>
        </p:nvSpPr>
        <p:spPr>
          <a:xfrm>
            <a:off x="960120" y="868680"/>
            <a:ext cx="365400" cy="25560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893" name="Text 10"/>
          <p:cNvSpPr/>
          <p:nvPr/>
        </p:nvSpPr>
        <p:spPr>
          <a:xfrm>
            <a:off x="960120" y="868680"/>
            <a:ext cx="3654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00" b="1" strike="noStrike" spc="-1">
                <a:solidFill>
                  <a:srgbClr val="009639"/>
                </a:solidFill>
                <a:latin typeface="Calibri"/>
              </a:rPr>
              <a:t>U/A</a:t>
            </a:r>
            <a:endParaRPr lang="en-US" sz="800" b="0" strike="noStrike" spc="-1">
              <a:solidFill>
                <a:srgbClr val="000000"/>
              </a:solidFill>
              <a:latin typeface="Arial"/>
            </a:endParaRPr>
          </a:p>
        </p:txBody>
      </p:sp>
      <p:sp>
        <p:nvSpPr>
          <p:cNvPr id="1894" name="Text 11"/>
          <p:cNvSpPr/>
          <p:nvPr/>
        </p:nvSpPr>
        <p:spPr>
          <a:xfrm>
            <a:off x="1417320" y="868680"/>
            <a:ext cx="740628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333333"/>
                </a:solidFill>
                <a:latin typeface="Calibri"/>
                <a:ea typeface="Calibri"/>
              </a:rPr>
              <a:t>A Manager in test_partition sees /Common/www_pool but settings are greyed out. They create test_vs using www_pool. Expected?</a:t>
            </a:r>
            <a:endParaRPr lang="en-US" sz="1000" b="0" strike="noStrike" spc="-1">
              <a:solidFill>
                <a:srgbClr val="000000"/>
              </a:solidFill>
              <a:latin typeface="Arial"/>
            </a:endParaRPr>
          </a:p>
        </p:txBody>
      </p:sp>
      <p:sp>
        <p:nvSpPr>
          <p:cNvPr id="1895" name="Shape 12"/>
          <p:cNvSpPr/>
          <p:nvPr/>
        </p:nvSpPr>
        <p:spPr>
          <a:xfrm>
            <a:off x="457200" y="1645920"/>
            <a:ext cx="411120" cy="25560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896" name="Text 13"/>
          <p:cNvSpPr/>
          <p:nvPr/>
        </p:nvSpPr>
        <p:spPr>
          <a:xfrm>
            <a:off x="457200" y="1645920"/>
            <a:ext cx="41112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rgbClr val="FFFFFF"/>
                </a:solidFill>
                <a:latin typeface="Arial"/>
                <a:ea typeface="Arial"/>
              </a:rPr>
              <a:t>Q2</a:t>
            </a:r>
            <a:endParaRPr lang="en-US" sz="1100" b="0" strike="noStrike" spc="-1">
              <a:solidFill>
                <a:srgbClr val="000000"/>
              </a:solidFill>
              <a:latin typeface="Arial"/>
            </a:endParaRPr>
          </a:p>
        </p:txBody>
      </p:sp>
      <p:sp>
        <p:nvSpPr>
          <p:cNvPr id="1897" name="Shape 14"/>
          <p:cNvSpPr/>
          <p:nvPr/>
        </p:nvSpPr>
        <p:spPr>
          <a:xfrm>
            <a:off x="960120" y="1645920"/>
            <a:ext cx="365400" cy="25560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898" name="Text 15"/>
          <p:cNvSpPr/>
          <p:nvPr/>
        </p:nvSpPr>
        <p:spPr>
          <a:xfrm>
            <a:off x="960120" y="1645920"/>
            <a:ext cx="3654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00" b="1" strike="noStrike" spc="-1">
                <a:solidFill>
                  <a:srgbClr val="009639"/>
                </a:solidFill>
                <a:latin typeface="Calibri"/>
              </a:rPr>
              <a:t>U/A</a:t>
            </a:r>
            <a:endParaRPr lang="en-US" sz="800" b="0" strike="noStrike" spc="-1">
              <a:solidFill>
                <a:srgbClr val="000000"/>
              </a:solidFill>
              <a:latin typeface="Arial"/>
            </a:endParaRPr>
          </a:p>
        </p:txBody>
      </p:sp>
      <p:sp>
        <p:nvSpPr>
          <p:cNvPr id="1899" name="Text 16"/>
          <p:cNvSpPr/>
          <p:nvPr/>
        </p:nvSpPr>
        <p:spPr>
          <a:xfrm>
            <a:off x="1417320" y="1645920"/>
            <a:ext cx="740628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333333"/>
                </a:solidFill>
                <a:latin typeface="Calibri"/>
                <a:ea typeface="Calibri"/>
              </a:rPr>
              <a:t>Which role can manage SSL certificates but cannot create or modify virtual servers?</a:t>
            </a:r>
            <a:endParaRPr lang="en-US" sz="1000" b="0" strike="noStrike" spc="-1">
              <a:solidFill>
                <a:srgbClr val="000000"/>
              </a:solidFill>
              <a:latin typeface="Arial"/>
            </a:endParaRPr>
          </a:p>
        </p:txBody>
      </p:sp>
      <p:sp>
        <p:nvSpPr>
          <p:cNvPr id="1900" name="Shape 17"/>
          <p:cNvSpPr/>
          <p:nvPr/>
        </p:nvSpPr>
        <p:spPr>
          <a:xfrm>
            <a:off x="457200" y="2423160"/>
            <a:ext cx="411120" cy="25560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901" name="Text 18"/>
          <p:cNvSpPr/>
          <p:nvPr/>
        </p:nvSpPr>
        <p:spPr>
          <a:xfrm>
            <a:off x="457200" y="2423160"/>
            <a:ext cx="41112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rgbClr val="FFFFFF"/>
                </a:solidFill>
                <a:latin typeface="Arial"/>
                <a:ea typeface="Arial"/>
              </a:rPr>
              <a:t>Q3</a:t>
            </a:r>
            <a:endParaRPr lang="en-US" sz="1100" b="0" strike="noStrike" spc="-1">
              <a:solidFill>
                <a:srgbClr val="000000"/>
              </a:solidFill>
              <a:latin typeface="Arial"/>
            </a:endParaRPr>
          </a:p>
        </p:txBody>
      </p:sp>
      <p:sp>
        <p:nvSpPr>
          <p:cNvPr id="1902" name="Shape 19"/>
          <p:cNvSpPr/>
          <p:nvPr/>
        </p:nvSpPr>
        <p:spPr>
          <a:xfrm>
            <a:off x="960120" y="2423160"/>
            <a:ext cx="365400" cy="25560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903" name="Text 20"/>
          <p:cNvSpPr/>
          <p:nvPr/>
        </p:nvSpPr>
        <p:spPr>
          <a:xfrm>
            <a:off x="960120" y="2423160"/>
            <a:ext cx="3654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00" b="1" strike="noStrike" spc="-1">
                <a:solidFill>
                  <a:srgbClr val="009639"/>
                </a:solidFill>
                <a:latin typeface="Calibri"/>
              </a:rPr>
              <a:t>U/A</a:t>
            </a:r>
            <a:endParaRPr lang="en-US" sz="800" b="0" strike="noStrike" spc="-1">
              <a:solidFill>
                <a:srgbClr val="000000"/>
              </a:solidFill>
              <a:latin typeface="Arial"/>
            </a:endParaRPr>
          </a:p>
        </p:txBody>
      </p:sp>
      <p:sp>
        <p:nvSpPr>
          <p:cNvPr id="1904" name="Text 21"/>
          <p:cNvSpPr/>
          <p:nvPr/>
        </p:nvSpPr>
        <p:spPr>
          <a:xfrm>
            <a:off x="1417320" y="2423160"/>
            <a:ext cx="740628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333333"/>
                </a:solidFill>
                <a:latin typeface="Calibri"/>
                <a:ea typeface="Calibri"/>
              </a:rPr>
              <a:t>LDAP is configured. Server is UP. An LDAP user enters the wrong password. Does the BIG-IP fall back to local authentication?</a:t>
            </a:r>
            <a:endParaRPr lang="en-US" sz="1000" b="0" strike="noStrike" spc="-1">
              <a:solidFill>
                <a:srgbClr val="000000"/>
              </a:solidFill>
              <a:latin typeface="Arial"/>
            </a:endParaRPr>
          </a:p>
        </p:txBody>
      </p:sp>
      <p:sp>
        <p:nvSpPr>
          <p:cNvPr id="1905" name="Shape 22"/>
          <p:cNvSpPr/>
          <p:nvPr/>
        </p:nvSpPr>
        <p:spPr>
          <a:xfrm>
            <a:off x="457200" y="3200400"/>
            <a:ext cx="411120" cy="25560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906" name="Text 23"/>
          <p:cNvSpPr/>
          <p:nvPr/>
        </p:nvSpPr>
        <p:spPr>
          <a:xfrm>
            <a:off x="457200" y="3200400"/>
            <a:ext cx="41112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rgbClr val="FFFFFF"/>
                </a:solidFill>
                <a:latin typeface="Arial"/>
                <a:ea typeface="Arial"/>
              </a:rPr>
              <a:t>Q4</a:t>
            </a:r>
            <a:endParaRPr lang="en-US" sz="1100" b="0" strike="noStrike" spc="-1">
              <a:solidFill>
                <a:srgbClr val="000000"/>
              </a:solidFill>
              <a:latin typeface="Arial"/>
            </a:endParaRPr>
          </a:p>
        </p:txBody>
      </p:sp>
      <p:sp>
        <p:nvSpPr>
          <p:cNvPr id="1907" name="Shape 24"/>
          <p:cNvSpPr/>
          <p:nvPr/>
        </p:nvSpPr>
        <p:spPr>
          <a:xfrm>
            <a:off x="960120" y="3200400"/>
            <a:ext cx="365400" cy="25560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908" name="Text 25"/>
          <p:cNvSpPr/>
          <p:nvPr/>
        </p:nvSpPr>
        <p:spPr>
          <a:xfrm>
            <a:off x="960120" y="3200400"/>
            <a:ext cx="3654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00" b="1" strike="noStrike" spc="-1">
                <a:solidFill>
                  <a:srgbClr val="009639"/>
                </a:solidFill>
                <a:latin typeface="Calibri"/>
              </a:rPr>
              <a:t>U/A</a:t>
            </a:r>
            <a:endParaRPr lang="en-US" sz="800" b="0" strike="noStrike" spc="-1">
              <a:solidFill>
                <a:srgbClr val="000000"/>
              </a:solidFill>
              <a:latin typeface="Arial"/>
            </a:endParaRPr>
          </a:p>
        </p:txBody>
      </p:sp>
      <p:sp>
        <p:nvSpPr>
          <p:cNvPr id="1909" name="Text 26"/>
          <p:cNvSpPr/>
          <p:nvPr/>
        </p:nvSpPr>
        <p:spPr>
          <a:xfrm>
            <a:off x="1417320" y="3200400"/>
            <a:ext cx="740628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333333"/>
                </a:solidFill>
                <a:latin typeface="Calibri"/>
                <a:ea typeface="Calibri"/>
              </a:rPr>
              <a:t>Which remote auth method supports per-command authorization, controlling which TMSH commands a user can execute?</a:t>
            </a:r>
            <a:endParaRPr lang="en-US" sz="1000" b="0" strike="noStrike" spc="-1">
              <a:solidFill>
                <a:srgbClr val="000000"/>
              </a:solidFill>
              <a:latin typeface="Arial"/>
            </a:endParaRPr>
          </a:p>
        </p:txBody>
      </p:sp>
      <p:sp>
        <p:nvSpPr>
          <p:cNvPr id="1910" name="Shape 27"/>
          <p:cNvSpPr/>
          <p:nvPr/>
        </p:nvSpPr>
        <p:spPr>
          <a:xfrm>
            <a:off x="365760" y="4023360"/>
            <a:ext cx="8412120" cy="594000"/>
          </a:xfrm>
          <a:prstGeom prst="rect">
            <a:avLst/>
          </a:prstGeom>
          <a:solidFill>
            <a:srgbClr val="E8F5E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911" name="Text 28"/>
          <p:cNvSpPr/>
          <p:nvPr/>
        </p:nvSpPr>
        <p:spPr>
          <a:xfrm>
            <a:off x="548640" y="4041720"/>
            <a:ext cx="804636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r>
              <a:rPr lang="en-US" sz="1100" b="1" strike="noStrike" spc="-1">
                <a:solidFill>
                  <a:srgbClr val="009639"/>
                </a:solidFill>
                <a:latin typeface="Calibri"/>
                <a:ea typeface="Calibri"/>
              </a:rPr>
              <a:t>Key facts to memorize</a:t>
            </a:r>
            <a:endParaRPr lang="en-US" sz="1100" b="0" strike="noStrike" spc="-1">
              <a:solidFill>
                <a:srgbClr val="000000"/>
              </a:solidFill>
              <a:latin typeface="Arial"/>
            </a:endParaRPr>
          </a:p>
          <a:p>
            <a:pPr defTabSz="914400">
              <a:lnSpc>
                <a:spcPct val="100000"/>
              </a:lnSpc>
              <a:tabLst>
                <a:tab pos="0" algn="l"/>
              </a:tabLst>
            </a:pPr>
            <a:r>
              <a:rPr lang="en-US" sz="900" b="0" strike="noStrike" spc="-1">
                <a:solidFill>
                  <a:srgbClr val="1B5E20"/>
                </a:solidFill>
                <a:latin typeface="Calibri"/>
                <a:ea typeface="Calibri"/>
              </a:rPr>
              <a:t>8 roles: Administrator &gt; Resource Admin &gt; Manager &gt; Cert Manager &gt; iRule Manager &gt; Operator &gt; Guest &gt; No Access</a:t>
            </a:r>
            <a:endParaRPr lang="en-US" sz="900" b="0" strike="noStrike" spc="-1">
              <a:solidFill>
                <a:srgbClr val="000000"/>
              </a:solidFill>
              <a:latin typeface="Arial"/>
            </a:endParaRPr>
          </a:p>
          <a:p>
            <a:pPr defTabSz="914400">
              <a:lnSpc>
                <a:spcPct val="100000"/>
              </a:lnSpc>
              <a:tabLst>
                <a:tab pos="0" algn="l"/>
              </a:tabLst>
            </a:pPr>
            <a:r>
              <a:rPr lang="en-US" sz="900" b="0" strike="noStrike" spc="-1">
                <a:solidFill>
                  <a:srgbClr val="1B5E20"/>
                </a:solidFill>
                <a:latin typeface="Calibri"/>
                <a:ea typeface="Calibri"/>
              </a:rPr>
              <a:t>Auth fallback: Rejected = denied. Unreachable = fallback to local. TACACS+ = per-command auth.</a:t>
            </a:r>
            <a:endParaRPr lang="en-US" sz="900" b="0" strike="noStrike" spc="-1">
              <a:solidFill>
                <a:srgbClr val="000000"/>
              </a:solidFill>
              <a:latin typeface="Arial"/>
            </a:endParaRPr>
          </a:p>
          <a:p>
            <a:pPr defTabSz="914400">
              <a:lnSpc>
                <a:spcPct val="100000"/>
              </a:lnSpc>
              <a:tabLst>
                <a:tab pos="0" algn="l"/>
              </a:tabLst>
            </a:pPr>
            <a:r>
              <a:rPr lang="en-US" sz="900" b="0" strike="noStrike" spc="-1">
                <a:solidFill>
                  <a:srgbClr val="1B5E20"/>
                </a:solidFill>
                <a:latin typeface="Calibri"/>
                <a:ea typeface="Calibri"/>
              </a:rPr>
              <a:t>/Common: visible to all (read-only). Partitions: isolated. References to /Common are live.</a:t>
            </a:r>
            <a:endParaRPr lang="en-US" sz="900" b="0" strike="noStrike" spc="-1">
              <a:solidFill>
                <a:srgbClr val="000000"/>
              </a:solidFill>
              <a:latin typeface="Arial"/>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12"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913"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914"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915"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916"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917"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86    © 2026 F5</a:t>
            </a:r>
            <a:endParaRPr lang="en-US" sz="800" b="0" strike="noStrike" spc="-1">
              <a:solidFill>
                <a:srgbClr val="000000"/>
              </a:solidFill>
              <a:latin typeface="Arial"/>
            </a:endParaRPr>
          </a:p>
        </p:txBody>
      </p:sp>
      <p:pic>
        <p:nvPicPr>
          <p:cNvPr id="1918" name="Image 0" descr="preencoded.png"/>
          <p:cNvPicPr/>
          <p:nvPr/>
        </p:nvPicPr>
        <p:blipFill>
          <a:blip r:embed="rId3"/>
          <a:stretch/>
        </p:blipFill>
        <p:spPr>
          <a:xfrm>
            <a:off x="8458200" y="4663440"/>
            <a:ext cx="383760" cy="383760"/>
          </a:xfrm>
          <a:prstGeom prst="rect">
            <a:avLst/>
          </a:prstGeom>
          <a:ln w="0">
            <a:noFill/>
          </a:ln>
        </p:spPr>
      </p:pic>
      <p:sp>
        <p:nvSpPr>
          <p:cNvPr id="1919" name="Text 6"/>
          <p:cNvSpPr/>
          <p:nvPr/>
        </p:nvSpPr>
        <p:spPr>
          <a:xfrm>
            <a:off x="457200" y="274320"/>
            <a:ext cx="82292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TMSH reference</a:t>
            </a:r>
            <a:endParaRPr lang="en-US" sz="2800" b="0" strike="noStrike" spc="-1">
              <a:solidFill>
                <a:srgbClr val="000000"/>
              </a:solidFill>
              <a:latin typeface="Arial"/>
            </a:endParaRPr>
          </a:p>
        </p:txBody>
      </p:sp>
      <p:graphicFrame>
        <p:nvGraphicFramePr>
          <p:cNvPr id="1920" name="Table 0"/>
          <p:cNvGraphicFramePr/>
          <p:nvPr/>
        </p:nvGraphicFramePr>
        <p:xfrm>
          <a:off x="365760" y="731520"/>
          <a:ext cx="8412480" cy="2697480"/>
        </p:xfrm>
        <a:graphic>
          <a:graphicData uri="http://schemas.openxmlformats.org/drawingml/2006/table">
            <a:tbl>
              <a:tblPr/>
              <a:tblGrid>
                <a:gridCol w="1645920">
                  <a:extLst>
                    <a:ext uri="{9D8B030D-6E8A-4147-A177-3AD203B41FA5}">
                      <a16:colId xmlns:a16="http://schemas.microsoft.com/office/drawing/2014/main" val="20000"/>
                    </a:ext>
                  </a:extLst>
                </a:gridCol>
                <a:gridCol w="6766560">
                  <a:extLst>
                    <a:ext uri="{9D8B030D-6E8A-4147-A177-3AD203B41FA5}">
                      <a16:colId xmlns:a16="http://schemas.microsoft.com/office/drawing/2014/main" val="20001"/>
                    </a:ext>
                  </a:extLst>
                </a:gridCol>
              </a:tblGrid>
              <a:tr h="0">
                <a:tc>
                  <a:txBody>
                    <a:bodyPr/>
                    <a:lstStyle/>
                    <a:p>
                      <a:pPr defTabSz="914400">
                        <a:lnSpc>
                          <a:spcPct val="100000"/>
                        </a:lnSpc>
                        <a:tabLst>
                          <a:tab pos="0" algn="l"/>
                        </a:tabLst>
                      </a:pPr>
                      <a:r>
                        <a:rPr lang="en-US" sz="900" b="1" strike="noStrike" spc="-1">
                          <a:solidFill>
                            <a:srgbClr val="FFFFFF"/>
                          </a:solidFill>
                          <a:latin typeface="Calibri"/>
                        </a:rPr>
                        <a:t>Task</a:t>
                      </a:r>
                      <a:endParaRPr lang="en-US" sz="9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E41AA"/>
                    </a:solidFill>
                  </a:tcPr>
                </a:tc>
                <a:tc>
                  <a:txBody>
                    <a:bodyPr/>
                    <a:lstStyle/>
                    <a:p>
                      <a:pPr defTabSz="914400">
                        <a:lnSpc>
                          <a:spcPct val="100000"/>
                        </a:lnSpc>
                        <a:tabLst>
                          <a:tab pos="0" algn="l"/>
                        </a:tabLst>
                      </a:pPr>
                      <a:r>
                        <a:rPr lang="en-US" sz="900" b="1" strike="noStrike" spc="-1">
                          <a:solidFill>
                            <a:srgbClr val="FFFFFF"/>
                          </a:solidFill>
                          <a:latin typeface="Calibri"/>
                        </a:rPr>
                        <a:t>Command</a:t>
                      </a:r>
                      <a:endParaRPr lang="en-US" sz="9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E41AA"/>
                    </a:solidFill>
                  </a:tcPr>
                </a:tc>
                <a:extLst>
                  <a:ext uri="{0D108BD9-81ED-4DB2-BD59-A6C34878D82A}">
                    <a16:rowId xmlns:a16="http://schemas.microsoft.com/office/drawing/2014/main" val="10000"/>
                  </a:ext>
                </a:extLst>
              </a:tr>
              <a:tr h="0">
                <a:tc>
                  <a:txBody>
                    <a:bodyPr/>
                    <a:lstStyle/>
                    <a:p>
                      <a:pPr defTabSz="914400">
                        <a:lnSpc>
                          <a:spcPct val="100000"/>
                        </a:lnSpc>
                        <a:tabLst>
                          <a:tab pos="0" algn="l"/>
                        </a:tabLst>
                      </a:pPr>
                      <a:r>
                        <a:rPr lang="en-US" sz="900" b="1" strike="noStrike" spc="-1">
                          <a:solidFill>
                            <a:srgbClr val="000000"/>
                          </a:solidFill>
                          <a:latin typeface="Calibri"/>
                        </a:rPr>
                        <a:t>Create partition</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850" b="0" strike="noStrike" spc="-1">
                          <a:solidFill>
                            <a:srgbClr val="000000"/>
                          </a:solidFill>
                          <a:latin typeface="Courier New"/>
                          <a:ea typeface="Courier New"/>
                        </a:rPr>
                        <a:t>create auth partition test_partition</a:t>
                      </a:r>
                      <a:endParaRPr lang="en-US" sz="85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1"/>
                  </a:ext>
                </a:extLst>
              </a:tr>
              <a:tr h="0">
                <a:tc>
                  <a:txBody>
                    <a:bodyPr/>
                    <a:lstStyle/>
                    <a:p>
                      <a:pPr defTabSz="914400">
                        <a:lnSpc>
                          <a:spcPct val="100000"/>
                        </a:lnSpc>
                        <a:tabLst>
                          <a:tab pos="0" algn="l"/>
                        </a:tabLst>
                      </a:pPr>
                      <a:r>
                        <a:rPr lang="en-US" sz="900" b="1" strike="noStrike" spc="-1">
                          <a:solidFill>
                            <a:srgbClr val="000000"/>
                          </a:solidFill>
                          <a:latin typeface="Calibri"/>
                        </a:rPr>
                        <a:t>Create local user</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750" b="0" strike="noStrike" spc="-1">
                          <a:solidFill>
                            <a:srgbClr val="000000"/>
                          </a:solidFill>
                          <a:latin typeface="Courier New"/>
                          <a:ea typeface="Courier New"/>
                        </a:rPr>
                        <a:t>create auth user testuser password testpass partition-access add { test_partition { role manager } } shell tmsh</a:t>
                      </a:r>
                      <a:endParaRPr lang="en-US" sz="75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2"/>
                  </a:ext>
                </a:extLst>
              </a:tr>
              <a:tr h="0">
                <a:tc>
                  <a:txBody>
                    <a:bodyPr/>
                    <a:lstStyle/>
                    <a:p>
                      <a:pPr defTabSz="914400">
                        <a:lnSpc>
                          <a:spcPct val="100000"/>
                        </a:lnSpc>
                        <a:tabLst>
                          <a:tab pos="0" algn="l"/>
                        </a:tabLst>
                      </a:pPr>
                      <a:r>
                        <a:rPr lang="en-US" sz="900" b="0" strike="noStrike" spc="-1">
                          <a:solidFill>
                            <a:srgbClr val="000000"/>
                          </a:solidFill>
                          <a:latin typeface="Calibri"/>
                        </a:rPr>
                        <a:t>Assign multi-partition roles</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800" b="0" strike="noStrike" spc="-1">
                          <a:solidFill>
                            <a:srgbClr val="000000"/>
                          </a:solidFill>
                          <a:latin typeface="Courier New"/>
                          <a:ea typeface="Courier New"/>
                        </a:rPr>
                        <a:t>modify auth user testuser partition-access add { prod_partition { role guest } }</a:t>
                      </a:r>
                      <a:endParaRPr lang="en-US" sz="8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3"/>
                  </a:ext>
                </a:extLst>
              </a:tr>
              <a:tr h="0">
                <a:tc>
                  <a:txBody>
                    <a:bodyPr/>
                    <a:lstStyle/>
                    <a:p>
                      <a:pPr defTabSz="914400">
                        <a:lnSpc>
                          <a:spcPct val="100000"/>
                        </a:lnSpc>
                        <a:tabLst>
                          <a:tab pos="0" algn="l"/>
                        </a:tabLst>
                      </a:pPr>
                      <a:r>
                        <a:rPr lang="en-US" sz="900" b="0" strike="noStrike" spc="-1">
                          <a:solidFill>
                            <a:srgbClr val="000000"/>
                          </a:solidFill>
                          <a:latin typeface="Calibri"/>
                        </a:rPr>
                        <a:t>Switch partition (TMSH)</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850" b="0" strike="noStrike" spc="-1">
                          <a:solidFill>
                            <a:srgbClr val="000000"/>
                          </a:solidFill>
                          <a:latin typeface="Courier New"/>
                          <a:ea typeface="Courier New"/>
                        </a:rPr>
                        <a:t>cd /test_partition</a:t>
                      </a:r>
                      <a:endParaRPr lang="en-US" sz="85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4"/>
                  </a:ext>
                </a:extLst>
              </a:tr>
              <a:tr h="0">
                <a:tc>
                  <a:txBody>
                    <a:bodyPr/>
                    <a:lstStyle/>
                    <a:p>
                      <a:pPr defTabSz="914400">
                        <a:lnSpc>
                          <a:spcPct val="100000"/>
                        </a:lnSpc>
                        <a:tabLst>
                          <a:tab pos="0" algn="l"/>
                        </a:tabLst>
                      </a:pPr>
                      <a:r>
                        <a:rPr lang="en-US" sz="900" b="1" strike="noStrike" spc="-1">
                          <a:solidFill>
                            <a:srgbClr val="000000"/>
                          </a:solidFill>
                          <a:latin typeface="Calibri"/>
                        </a:rPr>
                        <a:t>Configure LDAP</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750" b="0" strike="noStrike" spc="-1">
                          <a:solidFill>
                            <a:srgbClr val="000000"/>
                          </a:solidFill>
                          <a:latin typeface="Courier New"/>
                          <a:ea typeface="Courier New"/>
                        </a:rPr>
                        <a:t>modify auth source type ldap; modify auth ldap system-auth servers add { 10.1.20.252 } search-base-dn dc=f5demo,dc=com</a:t>
                      </a:r>
                      <a:endParaRPr lang="en-US" sz="75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5"/>
                  </a:ext>
                </a:extLst>
              </a:tr>
              <a:tr h="0">
                <a:tc>
                  <a:txBody>
                    <a:bodyPr/>
                    <a:lstStyle/>
                    <a:p>
                      <a:pPr defTabSz="914400">
                        <a:lnSpc>
                          <a:spcPct val="100000"/>
                        </a:lnSpc>
                        <a:tabLst>
                          <a:tab pos="0" algn="l"/>
                        </a:tabLst>
                      </a:pPr>
                      <a:r>
                        <a:rPr lang="en-US" sz="900" b="1" strike="noStrike" spc="-1">
                          <a:solidFill>
                            <a:srgbClr val="000000"/>
                          </a:solidFill>
                          <a:latin typeface="Calibri"/>
                        </a:rPr>
                        <a:t>Configure RADIUS</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750" b="0" strike="noStrike" spc="-1">
                          <a:solidFill>
                            <a:srgbClr val="000000"/>
                          </a:solidFill>
                          <a:latin typeface="Courier New"/>
                          <a:ea typeface="Courier New"/>
                        </a:rPr>
                        <a:t>modify auth source type radius; modify auth radius system-auth servers add { 10.1.20.253 { secret s3cret } }</a:t>
                      </a:r>
                      <a:endParaRPr lang="en-US" sz="75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6"/>
                  </a:ext>
                </a:extLst>
              </a:tr>
              <a:tr h="0">
                <a:tc>
                  <a:txBody>
                    <a:bodyPr/>
                    <a:lstStyle/>
                    <a:p>
                      <a:pPr defTabSz="914400">
                        <a:lnSpc>
                          <a:spcPct val="100000"/>
                        </a:lnSpc>
                        <a:tabLst>
                          <a:tab pos="0" algn="l"/>
                        </a:tabLst>
                      </a:pPr>
                      <a:r>
                        <a:rPr lang="en-US" sz="900" b="1" strike="noStrike" spc="-1">
                          <a:solidFill>
                            <a:srgbClr val="000000"/>
                          </a:solidFill>
                          <a:latin typeface="Calibri"/>
                        </a:rPr>
                        <a:t>Configure TACACS+</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750" b="0" strike="noStrike" spc="-1">
                          <a:solidFill>
                            <a:srgbClr val="000000"/>
                          </a:solidFill>
                          <a:latin typeface="Courier New"/>
                          <a:ea typeface="Courier New"/>
                        </a:rPr>
                        <a:t>modify auth source type tacacs; modify auth tacacs system-auth servers add { 10.1.20.254 } secret s3cret service ppp protocol ip</a:t>
                      </a:r>
                      <a:endParaRPr lang="en-US" sz="75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7"/>
                  </a:ext>
                </a:extLst>
              </a:tr>
              <a:tr h="0">
                <a:tc>
                  <a:txBody>
                    <a:bodyPr/>
                    <a:lstStyle/>
                    <a:p>
                      <a:pPr defTabSz="914400">
                        <a:lnSpc>
                          <a:spcPct val="100000"/>
                        </a:lnSpc>
                        <a:tabLst>
                          <a:tab pos="0" algn="l"/>
                        </a:tabLst>
                      </a:pPr>
                      <a:r>
                        <a:rPr lang="en-US" sz="900" b="1" strike="noStrike" spc="-1">
                          <a:solidFill>
                            <a:srgbClr val="000000"/>
                          </a:solidFill>
                          <a:latin typeface="Calibri"/>
                        </a:rPr>
                        <a:t>Revert to local auth</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850" b="0" strike="noStrike" spc="-1">
                          <a:solidFill>
                            <a:srgbClr val="000000"/>
                          </a:solidFill>
                          <a:latin typeface="Courier New"/>
                          <a:ea typeface="Courier New"/>
                        </a:rPr>
                        <a:t>modify auth source type local</a:t>
                      </a:r>
                      <a:endParaRPr lang="en-US" sz="85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8"/>
                  </a:ext>
                </a:extLst>
              </a:tr>
              <a:tr h="0">
                <a:tc>
                  <a:txBody>
                    <a:bodyPr/>
                    <a:lstStyle/>
                    <a:p>
                      <a:pPr defTabSz="914400">
                        <a:lnSpc>
                          <a:spcPct val="100000"/>
                        </a:lnSpc>
                        <a:tabLst>
                          <a:tab pos="0" algn="l"/>
                        </a:tabLst>
                      </a:pPr>
                      <a:r>
                        <a:rPr lang="en-US" sz="900" b="0" strike="noStrike" spc="-1">
                          <a:solidFill>
                            <a:srgbClr val="000000"/>
                          </a:solidFill>
                          <a:latin typeface="Calibri"/>
                        </a:rPr>
                        <a:t>List users</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850" b="0" strike="noStrike" spc="-1">
                          <a:solidFill>
                            <a:srgbClr val="000000"/>
                          </a:solidFill>
                          <a:latin typeface="Courier New"/>
                          <a:ea typeface="Courier New"/>
                        </a:rPr>
                        <a:t>list auth user</a:t>
                      </a:r>
                      <a:endParaRPr lang="en-US" sz="85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9"/>
                  </a:ext>
                </a:extLst>
              </a:tr>
              <a:tr h="0">
                <a:tc>
                  <a:txBody>
                    <a:bodyPr/>
                    <a:lstStyle/>
                    <a:p>
                      <a:pPr defTabSz="914400">
                        <a:lnSpc>
                          <a:spcPct val="100000"/>
                        </a:lnSpc>
                        <a:tabLst>
                          <a:tab pos="0" algn="l"/>
                        </a:tabLst>
                      </a:pPr>
                      <a:r>
                        <a:rPr lang="en-US" sz="900" b="0" strike="noStrike" spc="-1">
                          <a:solidFill>
                            <a:srgbClr val="000000"/>
                          </a:solidFill>
                          <a:latin typeface="Calibri"/>
                        </a:rPr>
                        <a:t>View partition config</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850" b="0" strike="noStrike" spc="-1">
                          <a:solidFill>
                            <a:srgbClr val="000000"/>
                          </a:solidFill>
                          <a:latin typeface="Courier New"/>
                          <a:ea typeface="Courier New"/>
                        </a:rPr>
                        <a:t>cat /config/partitions/test_partition/bigip.conf</a:t>
                      </a:r>
                      <a:endParaRPr lang="en-US" sz="85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10"/>
                  </a:ext>
                </a:extLst>
              </a:tr>
            </a:tbl>
          </a:graphicData>
        </a:graphic>
      </p:graphicFrame>
      <p:sp>
        <p:nvSpPr>
          <p:cNvPr id="1921" name="Shape 7"/>
          <p:cNvSpPr/>
          <p:nvPr/>
        </p:nvSpPr>
        <p:spPr>
          <a:xfrm>
            <a:off x="365760" y="4023360"/>
            <a:ext cx="8412120" cy="594000"/>
          </a:xfrm>
          <a:prstGeom prst="rect">
            <a:avLst/>
          </a:prstGeom>
          <a:solidFill>
            <a:srgbClr val="E8F5E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922" name="Text 8"/>
          <p:cNvSpPr/>
          <p:nvPr/>
        </p:nvSpPr>
        <p:spPr>
          <a:xfrm>
            <a:off x="548640" y="4041720"/>
            <a:ext cx="804636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r>
              <a:rPr lang="en-US" sz="1100" b="1" strike="noStrike" spc="-1">
                <a:solidFill>
                  <a:srgbClr val="009639"/>
                </a:solidFill>
                <a:latin typeface="Calibri"/>
                <a:ea typeface="Calibri"/>
              </a:rPr>
              <a:t>Decision tree</a:t>
            </a:r>
            <a:endParaRPr lang="en-US" sz="1100" b="0" strike="noStrike" spc="-1">
              <a:solidFill>
                <a:srgbClr val="000000"/>
              </a:solidFill>
              <a:latin typeface="Arial"/>
            </a:endParaRPr>
          </a:p>
          <a:p>
            <a:pPr defTabSz="914400">
              <a:lnSpc>
                <a:spcPct val="100000"/>
              </a:lnSpc>
              <a:tabLst>
                <a:tab pos="0" algn="l"/>
              </a:tabLst>
            </a:pPr>
            <a:r>
              <a:rPr lang="en-US" sz="900" b="0" strike="noStrike" spc="-1">
                <a:solidFill>
                  <a:srgbClr val="1B5E20"/>
                </a:solidFill>
                <a:latin typeface="Calibri"/>
                <a:ea typeface="Calibri"/>
              </a:rPr>
              <a:t>Full access + users → Administrator  |  Full LTM only → Resource Admin  |  One partition → Manager</a:t>
            </a:r>
            <a:endParaRPr lang="en-US" sz="900" b="0" strike="noStrike" spc="-1">
              <a:solidFill>
                <a:srgbClr val="000000"/>
              </a:solidFill>
              <a:latin typeface="Arial"/>
            </a:endParaRPr>
          </a:p>
          <a:p>
            <a:pPr defTabSz="914400">
              <a:lnSpc>
                <a:spcPct val="100000"/>
              </a:lnSpc>
              <a:tabLst>
                <a:tab pos="0" algn="l"/>
              </a:tabLst>
            </a:pPr>
            <a:r>
              <a:rPr lang="en-US" sz="900" b="0" strike="noStrike" spc="-1">
                <a:solidFill>
                  <a:srgbClr val="1B5E20"/>
                </a:solidFill>
                <a:latin typeface="Calibri"/>
                <a:ea typeface="Calibri"/>
              </a:rPr>
              <a:t>Certs only → Cert Manager  |  iRules only → iRule Manager  |  Enable/disable → Operator  |  View-only → Guest</a:t>
            </a:r>
            <a:endParaRPr lang="en-US" sz="900" b="0" strike="noStrike" spc="-1">
              <a:solidFill>
                <a:srgbClr val="000000"/>
              </a:solidFill>
              <a:latin typeface="Arial"/>
            </a:endParaRPr>
          </a:p>
          <a:p>
            <a:pPr defTabSz="914400">
              <a:lnSpc>
                <a:spcPct val="100000"/>
              </a:lnSpc>
              <a:tabLst>
                <a:tab pos="0" algn="l"/>
              </a:tabLst>
            </a:pPr>
            <a:r>
              <a:rPr lang="en-US" sz="900" b="0" strike="noStrike" spc="-1">
                <a:solidFill>
                  <a:srgbClr val="1B5E20"/>
                </a:solidFill>
                <a:latin typeface="Calibri"/>
                <a:ea typeface="Calibri"/>
              </a:rPr>
              <a:t>Remote users → LDAP (AD/OpenLDAP) or RADIUS (ISP) or TACACS+ (per-command auth, Cisco)</a:t>
            </a:r>
            <a:endParaRPr lang="en-US" sz="900" b="0" strike="noStrike" spc="-1">
              <a:solidFill>
                <a:srgbClr val="000000"/>
              </a:solidFill>
              <a:latin typeface="Arial"/>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923" name="Shape 0"/>
          <p:cNvSpPr/>
          <p:nvPr/>
        </p:nvSpPr>
        <p:spPr>
          <a:xfrm>
            <a:off x="0" y="507024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924" name="Shape 1"/>
          <p:cNvSpPr/>
          <p:nvPr/>
        </p:nvSpPr>
        <p:spPr>
          <a:xfrm>
            <a:off x="1371600" y="507024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925" name="Shape 2"/>
          <p:cNvSpPr/>
          <p:nvPr/>
        </p:nvSpPr>
        <p:spPr>
          <a:xfrm>
            <a:off x="4114800" y="507024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926" name="Shape 3"/>
          <p:cNvSpPr/>
          <p:nvPr/>
        </p:nvSpPr>
        <p:spPr>
          <a:xfrm>
            <a:off x="5486400" y="507024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927" name="Shape 4"/>
          <p:cNvSpPr/>
          <p:nvPr/>
        </p:nvSpPr>
        <p:spPr>
          <a:xfrm>
            <a:off x="7772400" y="507024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pic>
        <p:nvPicPr>
          <p:cNvPr id="1928" name="Image 0" descr="preencoded.png"/>
          <p:cNvPicPr/>
          <p:nvPr/>
        </p:nvPicPr>
        <p:blipFill>
          <a:blip r:embed="rId3"/>
          <a:stretch/>
        </p:blipFill>
        <p:spPr>
          <a:xfrm>
            <a:off x="365760" y="274320"/>
            <a:ext cx="639720" cy="639720"/>
          </a:xfrm>
          <a:prstGeom prst="rect">
            <a:avLst/>
          </a:prstGeom>
          <a:ln w="0">
            <a:noFill/>
          </a:ln>
        </p:spPr>
      </p:pic>
      <p:graphicFrame>
        <p:nvGraphicFramePr>
          <p:cNvPr id="1929" name="Table 0"/>
          <p:cNvGraphicFramePr/>
          <p:nvPr/>
        </p:nvGraphicFramePr>
        <p:xfrm>
          <a:off x="365760" y="1005840"/>
          <a:ext cx="6675120" cy="883920"/>
        </p:xfrm>
        <a:graphic>
          <a:graphicData uri="http://schemas.openxmlformats.org/drawingml/2006/table">
            <a:tbl>
              <a:tblPr/>
              <a:tblGrid>
                <a:gridCol w="146304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gridCol w="4754880">
                  <a:extLst>
                    <a:ext uri="{9D8B030D-6E8A-4147-A177-3AD203B41FA5}">
                      <a16:colId xmlns:a16="http://schemas.microsoft.com/office/drawing/2014/main" val="20002"/>
                    </a:ext>
                  </a:extLst>
                </a:gridCol>
              </a:tblGrid>
              <a:tr h="0">
                <a:tc>
                  <a:txBody>
                    <a:bodyPr/>
                    <a:lstStyle/>
                    <a:p>
                      <a:pPr defTabSz="914400">
                        <a:lnSpc>
                          <a:spcPct val="100000"/>
                        </a:lnSpc>
                        <a:tabLst>
                          <a:tab pos="0" algn="l"/>
                        </a:tabLst>
                      </a:pPr>
                      <a:r>
                        <a:rPr lang="en-US" sz="1000" b="0" strike="noStrike" spc="-1">
                          <a:solidFill>
                            <a:srgbClr val="FFFFFF"/>
                          </a:solidFill>
                          <a:latin typeface="Courier New"/>
                          <a:ea typeface="Courier New"/>
                        </a:rPr>
                        <a:t>F5CTSLTM4.02</a:t>
                      </a:r>
                      <a:endParaRPr lang="en-US" sz="1000" b="0" strike="noStrike" spc="-1">
                        <a:solidFill>
                          <a:srgbClr val="FFFFFF"/>
                        </a:solidFill>
                        <a:latin typeface="Arial"/>
                      </a:endParaRPr>
                    </a:p>
                  </a:txBody>
                  <a:tcPr marL="75960" marR="75960">
                    <a:lnL>
                      <a:noFill/>
                    </a:lnL>
                    <a:lnR>
                      <a:noFill/>
                    </a:lnR>
                    <a:lnT>
                      <a:noFill/>
                    </a:lnT>
                    <a:lnB>
                      <a:noFill/>
                    </a:lnB>
                    <a:solidFill>
                      <a:srgbClr val="1A1A1A"/>
                    </a:solidFill>
                  </a:tcPr>
                </a:tc>
                <a:tc>
                  <a:txBody>
                    <a:bodyPr/>
                    <a:lstStyle/>
                    <a:p>
                      <a:pPr algn="ctr" defTabSz="914400">
                        <a:lnSpc>
                          <a:spcPct val="100000"/>
                        </a:lnSpc>
                        <a:tabLst>
                          <a:tab pos="0" algn="l"/>
                        </a:tabLst>
                      </a:pPr>
                      <a:r>
                        <a:rPr lang="en-US" sz="1000" b="1" strike="noStrike" spc="-1">
                          <a:solidFill>
                            <a:srgbClr val="009639"/>
                          </a:solidFill>
                          <a:latin typeface="Calibri"/>
                        </a:rPr>
                        <a:t>U/A</a:t>
                      </a:r>
                      <a:endParaRPr lang="en-US" sz="1000" b="0" strike="noStrike" spc="-1">
                        <a:solidFill>
                          <a:srgbClr val="FFFFFF"/>
                        </a:solidFill>
                        <a:latin typeface="Arial"/>
                      </a:endParaRPr>
                    </a:p>
                  </a:txBody>
                  <a:tcPr marL="75960" marR="75960">
                    <a:lnL>
                      <a:noFill/>
                    </a:lnL>
                    <a:lnR>
                      <a:noFill/>
                    </a:lnR>
                    <a:lnT>
                      <a:noFill/>
                    </a:lnT>
                    <a:lnB>
                      <a:noFill/>
                    </a:lnB>
                    <a:solidFill>
                      <a:srgbClr val="1A1A1A"/>
                    </a:solidFill>
                  </a:tcPr>
                </a:tc>
                <a:tc>
                  <a:txBody>
                    <a:bodyPr/>
                    <a:lstStyle/>
                    <a:p>
                      <a:pPr defTabSz="914400">
                        <a:lnSpc>
                          <a:spcPct val="100000"/>
                        </a:lnSpc>
                        <a:tabLst>
                          <a:tab pos="0" algn="l"/>
                        </a:tabLst>
                      </a:pPr>
                      <a:r>
                        <a:rPr lang="en-US" sz="1000" b="0" strike="noStrike" spc="-1">
                          <a:solidFill>
                            <a:srgbClr val="666666"/>
                          </a:solidFill>
                          <a:latin typeface="Calibri"/>
                        </a:rPr>
                        <a:t>Configure HA — traffic groups vs HA groups, failover prevention, network failover components</a:t>
                      </a:r>
                      <a:endParaRPr lang="en-US" sz="1000" b="0" strike="noStrike" spc="-1">
                        <a:solidFill>
                          <a:srgbClr val="FFFFFF"/>
                        </a:solidFill>
                        <a:latin typeface="Arial"/>
                      </a:endParaRPr>
                    </a:p>
                  </a:txBody>
                  <a:tcPr marL="75960" marR="75960">
                    <a:lnL>
                      <a:noFill/>
                    </a:lnL>
                    <a:lnR>
                      <a:noFill/>
                    </a:lnR>
                    <a:lnT>
                      <a:noFill/>
                    </a:lnT>
                    <a:lnB>
                      <a:noFill/>
                    </a:lnB>
                    <a:solidFill>
                      <a:srgbClr val="1A1A1A"/>
                    </a:solidFill>
                  </a:tcPr>
                </a:tc>
                <a:extLst>
                  <a:ext uri="{0D108BD9-81ED-4DB2-BD59-A6C34878D82A}">
                    <a16:rowId xmlns:a16="http://schemas.microsoft.com/office/drawing/2014/main" val="10000"/>
                  </a:ext>
                </a:extLst>
              </a:tr>
              <a:tr h="0">
                <a:tc>
                  <a:txBody>
                    <a:bodyPr/>
                    <a:lstStyle/>
                    <a:p>
                      <a:pPr defTabSz="914400">
                        <a:lnSpc>
                          <a:spcPct val="100000"/>
                        </a:lnSpc>
                        <a:tabLst>
                          <a:tab pos="0" algn="l"/>
                        </a:tabLst>
                      </a:pPr>
                      <a:r>
                        <a:rPr lang="en-US" sz="1000" b="0" strike="noStrike" spc="-1">
                          <a:solidFill>
                            <a:srgbClr val="FFFFFF"/>
                          </a:solidFill>
                          <a:latin typeface="Courier New"/>
                          <a:ea typeface="Courier New"/>
                        </a:rPr>
                        <a:t>F5CTSLTM4.11</a:t>
                      </a:r>
                      <a:endParaRPr lang="en-US" sz="1000" b="0" strike="noStrike" spc="-1">
                        <a:solidFill>
                          <a:srgbClr val="FFFFFF"/>
                        </a:solidFill>
                        <a:latin typeface="Arial"/>
                      </a:endParaRPr>
                    </a:p>
                  </a:txBody>
                  <a:tcPr marL="75960" marR="75960">
                    <a:lnL>
                      <a:noFill/>
                    </a:lnL>
                    <a:lnR>
                      <a:noFill/>
                    </a:lnR>
                    <a:lnT>
                      <a:noFill/>
                    </a:lnT>
                    <a:lnB>
                      <a:noFill/>
                    </a:lnB>
                    <a:solidFill>
                      <a:srgbClr val="111111"/>
                    </a:solidFill>
                  </a:tcPr>
                </a:tc>
                <a:tc>
                  <a:txBody>
                    <a:bodyPr/>
                    <a:lstStyle/>
                    <a:p>
                      <a:pPr algn="ctr" defTabSz="914400">
                        <a:lnSpc>
                          <a:spcPct val="100000"/>
                        </a:lnSpc>
                        <a:tabLst>
                          <a:tab pos="0" algn="l"/>
                        </a:tabLst>
                      </a:pPr>
                      <a:r>
                        <a:rPr lang="en-US" sz="1000" b="1" strike="noStrike" spc="-1">
                          <a:solidFill>
                            <a:srgbClr val="009639"/>
                          </a:solidFill>
                          <a:latin typeface="Calibri"/>
                        </a:rPr>
                        <a:t>U/A</a:t>
                      </a:r>
                      <a:endParaRPr lang="en-US" sz="1000" b="0" strike="noStrike" spc="-1">
                        <a:solidFill>
                          <a:srgbClr val="FFFFFF"/>
                        </a:solidFill>
                        <a:latin typeface="Arial"/>
                      </a:endParaRPr>
                    </a:p>
                  </a:txBody>
                  <a:tcPr marL="75960" marR="75960">
                    <a:lnL>
                      <a:noFill/>
                    </a:lnL>
                    <a:lnR>
                      <a:noFill/>
                    </a:lnR>
                    <a:lnT>
                      <a:noFill/>
                    </a:lnT>
                    <a:lnB>
                      <a:noFill/>
                    </a:lnB>
                    <a:solidFill>
                      <a:srgbClr val="111111"/>
                    </a:solidFill>
                  </a:tcPr>
                </a:tc>
                <a:tc>
                  <a:txBody>
                    <a:bodyPr/>
                    <a:lstStyle/>
                    <a:p>
                      <a:pPr defTabSz="914400">
                        <a:lnSpc>
                          <a:spcPct val="100000"/>
                        </a:lnSpc>
                        <a:tabLst>
                          <a:tab pos="0" algn="l"/>
                        </a:tabLst>
                      </a:pPr>
                      <a:r>
                        <a:rPr lang="en-US" sz="1000" b="0" strike="noStrike" spc="-1">
                          <a:solidFill>
                            <a:srgbClr val="666666"/>
                          </a:solidFill>
                          <a:latin typeface="Calibri"/>
                        </a:rPr>
                        <a:t>Determine failover cause — network failover settings, unicast vs multicast, logs</a:t>
                      </a:r>
                      <a:endParaRPr lang="en-US" sz="1000" b="0" strike="noStrike" spc="-1">
                        <a:solidFill>
                          <a:srgbClr val="FFFFFF"/>
                        </a:solidFill>
                        <a:latin typeface="Arial"/>
                      </a:endParaRPr>
                    </a:p>
                  </a:txBody>
                  <a:tcPr marL="75960" marR="75960">
                    <a:lnL>
                      <a:noFill/>
                    </a:lnL>
                    <a:lnR>
                      <a:noFill/>
                    </a:lnR>
                    <a:lnT>
                      <a:noFill/>
                    </a:lnT>
                    <a:lnB>
                      <a:noFill/>
                    </a:lnB>
                    <a:solidFill>
                      <a:srgbClr val="111111"/>
                    </a:solidFill>
                  </a:tcPr>
                </a:tc>
                <a:extLst>
                  <a:ext uri="{0D108BD9-81ED-4DB2-BD59-A6C34878D82A}">
                    <a16:rowId xmlns:a16="http://schemas.microsoft.com/office/drawing/2014/main" val="10001"/>
                  </a:ext>
                </a:extLst>
              </a:tr>
              <a:tr h="0">
                <a:tc>
                  <a:txBody>
                    <a:bodyPr/>
                    <a:lstStyle/>
                    <a:p>
                      <a:pPr defTabSz="914400">
                        <a:lnSpc>
                          <a:spcPct val="100000"/>
                        </a:lnSpc>
                        <a:tabLst>
                          <a:tab pos="0" algn="l"/>
                        </a:tabLst>
                      </a:pPr>
                      <a:r>
                        <a:rPr lang="en-US" sz="1000" b="0" strike="noStrike" spc="-1">
                          <a:solidFill>
                            <a:srgbClr val="FFFFFF"/>
                          </a:solidFill>
                          <a:latin typeface="Courier New"/>
                          <a:ea typeface="Courier New"/>
                        </a:rPr>
                        <a:t>F5CTSLTM4.12</a:t>
                      </a:r>
                      <a:endParaRPr lang="en-US" sz="1000" b="0" strike="noStrike" spc="-1">
                        <a:solidFill>
                          <a:srgbClr val="FFFFFF"/>
                        </a:solidFill>
                        <a:latin typeface="Arial"/>
                      </a:endParaRPr>
                    </a:p>
                  </a:txBody>
                  <a:tcPr marL="75960" marR="75960">
                    <a:lnL>
                      <a:noFill/>
                    </a:lnL>
                    <a:lnR>
                      <a:noFill/>
                    </a:lnR>
                    <a:lnT>
                      <a:noFill/>
                    </a:lnT>
                    <a:lnB>
                      <a:noFill/>
                    </a:lnB>
                    <a:solidFill>
                      <a:srgbClr val="1A1A1A"/>
                    </a:solidFill>
                  </a:tcPr>
                </a:tc>
                <a:tc>
                  <a:txBody>
                    <a:bodyPr/>
                    <a:lstStyle/>
                    <a:p>
                      <a:pPr algn="ctr" defTabSz="914400">
                        <a:lnSpc>
                          <a:spcPct val="100000"/>
                        </a:lnSpc>
                        <a:tabLst>
                          <a:tab pos="0" algn="l"/>
                        </a:tabLst>
                      </a:pPr>
                      <a:r>
                        <a:rPr lang="en-US" sz="1000" b="1" strike="noStrike" spc="-1">
                          <a:solidFill>
                            <a:srgbClr val="009639"/>
                          </a:solidFill>
                          <a:latin typeface="Calibri"/>
                        </a:rPr>
                        <a:t>U/A</a:t>
                      </a:r>
                      <a:endParaRPr lang="en-US" sz="1000" b="0" strike="noStrike" spc="-1">
                        <a:solidFill>
                          <a:srgbClr val="FFFFFF"/>
                        </a:solidFill>
                        <a:latin typeface="Arial"/>
                      </a:endParaRPr>
                    </a:p>
                  </a:txBody>
                  <a:tcPr marL="75960" marR="75960">
                    <a:lnL>
                      <a:noFill/>
                    </a:lnL>
                    <a:lnR>
                      <a:noFill/>
                    </a:lnR>
                    <a:lnT>
                      <a:noFill/>
                    </a:lnT>
                    <a:lnB>
                      <a:noFill/>
                    </a:lnB>
                    <a:solidFill>
                      <a:srgbClr val="1A1A1A"/>
                    </a:solidFill>
                  </a:tcPr>
                </a:tc>
                <a:tc>
                  <a:txBody>
                    <a:bodyPr/>
                    <a:lstStyle/>
                    <a:p>
                      <a:pPr defTabSz="914400">
                        <a:lnSpc>
                          <a:spcPct val="100000"/>
                        </a:lnSpc>
                        <a:tabLst>
                          <a:tab pos="0" algn="l"/>
                        </a:tabLst>
                      </a:pPr>
                      <a:r>
                        <a:rPr lang="en-US" sz="1000" b="0" strike="noStrike" spc="-1">
                          <a:solidFill>
                            <a:srgbClr val="666666"/>
                          </a:solidFill>
                          <a:latin typeface="Calibri"/>
                        </a:rPr>
                        <a:t>Determine loss of HA / sync failure — trust, groups, traffic groups, log interpretation</a:t>
                      </a:r>
                      <a:endParaRPr lang="en-US" sz="1000" b="0" strike="noStrike" spc="-1">
                        <a:solidFill>
                          <a:srgbClr val="FFFFFF"/>
                        </a:solidFill>
                        <a:latin typeface="Arial"/>
                      </a:endParaRPr>
                    </a:p>
                  </a:txBody>
                  <a:tcPr marL="75960" marR="75960">
                    <a:lnL>
                      <a:noFill/>
                    </a:lnL>
                    <a:lnR>
                      <a:noFill/>
                    </a:lnR>
                    <a:lnT>
                      <a:noFill/>
                    </a:lnT>
                    <a:lnB>
                      <a:noFill/>
                    </a:lnB>
                    <a:solidFill>
                      <a:srgbClr val="1A1A1A"/>
                    </a:solidFill>
                  </a:tcPr>
                </a:tc>
                <a:extLst>
                  <a:ext uri="{0D108BD9-81ED-4DB2-BD59-A6C34878D82A}">
                    <a16:rowId xmlns:a16="http://schemas.microsoft.com/office/drawing/2014/main" val="10002"/>
                  </a:ext>
                </a:extLst>
              </a:tr>
            </a:tbl>
          </a:graphicData>
        </a:graphic>
      </p:graphicFrame>
      <p:sp>
        <p:nvSpPr>
          <p:cNvPr id="1930" name="Text 5"/>
          <p:cNvSpPr/>
          <p:nvPr/>
        </p:nvSpPr>
        <p:spPr>
          <a:xfrm>
            <a:off x="365760" y="2377440"/>
            <a:ext cx="7314840" cy="1188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strike="noStrike" spc="-1">
                <a:solidFill>
                  <a:srgbClr val="666666"/>
                </a:solidFill>
                <a:latin typeface="Calibri"/>
                <a:ea typeface="Calibri"/>
              </a:rPr>
              <a:t>LAB 10</a:t>
            </a:r>
            <a:endParaRPr lang="en-US" sz="1400" b="0" strike="noStrike" spc="-1">
              <a:solidFill>
                <a:srgbClr val="FFFFFF"/>
              </a:solidFill>
              <a:latin typeface="Arial"/>
            </a:endParaRPr>
          </a:p>
          <a:p>
            <a:pPr defTabSz="914400">
              <a:lnSpc>
                <a:spcPct val="100000"/>
              </a:lnSpc>
              <a:tabLst>
                <a:tab pos="0" algn="l"/>
              </a:tabLst>
            </a:pPr>
            <a:r>
              <a:rPr lang="en-US" sz="3200" b="1" strike="noStrike" spc="-1">
                <a:solidFill>
                  <a:srgbClr val="FFFFFF"/>
                </a:solidFill>
                <a:latin typeface="Arial"/>
                <a:ea typeface="Arial"/>
              </a:rPr>
              <a:t>Device Service Clusters</a:t>
            </a:r>
            <a:endParaRPr lang="en-US" sz="3200" b="0" strike="noStrike" spc="-1">
              <a:solidFill>
                <a:srgbClr val="FFFFFF"/>
              </a:solidFill>
              <a:latin typeface="Arial"/>
            </a:endParaRPr>
          </a:p>
          <a:p>
            <a:pPr defTabSz="914400">
              <a:lnSpc>
                <a:spcPct val="100000"/>
              </a:lnSpc>
              <a:tabLst>
                <a:tab pos="0" algn="l"/>
              </a:tabLst>
            </a:pPr>
            <a:r>
              <a:rPr lang="en-US" sz="3200" b="1" strike="noStrike" spc="-1">
                <a:solidFill>
                  <a:srgbClr val="FFFFFF"/>
                </a:solidFill>
                <a:latin typeface="Arial"/>
                <a:ea typeface="Arial"/>
              </a:rPr>
              <a:t>and High Availability</a:t>
            </a:r>
            <a:endParaRPr lang="en-US" sz="3200" b="0" strike="noStrike" spc="-1">
              <a:solidFill>
                <a:srgbClr val="FFFFFF"/>
              </a:solidFill>
              <a:latin typeface="Arial"/>
            </a:endParaRPr>
          </a:p>
        </p:txBody>
      </p:sp>
      <p:sp>
        <p:nvSpPr>
          <p:cNvPr id="1931" name="Text 6"/>
          <p:cNvSpPr/>
          <p:nvPr/>
        </p:nvSpPr>
        <p:spPr>
          <a:xfrm>
            <a:off x="365760" y="3566160"/>
            <a:ext cx="68576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strike="noStrike" spc="-1">
                <a:solidFill>
                  <a:srgbClr val="666666"/>
                </a:solidFill>
                <a:latin typeface="Calibri"/>
                <a:ea typeface="Calibri"/>
              </a:rPr>
              <a:t>Build device trust, sync-failover groups, traffic groups, and HA groups.</a:t>
            </a:r>
            <a:endParaRPr lang="en-US" sz="1300" b="0" strike="noStrike" spc="-1">
              <a:solidFill>
                <a:srgbClr val="FFFFFF"/>
              </a:solidFill>
              <a:latin typeface="Arial"/>
            </a:endParaRPr>
          </a:p>
          <a:p>
            <a:pPr defTabSz="914400">
              <a:lnSpc>
                <a:spcPct val="100000"/>
              </a:lnSpc>
              <a:tabLst>
                <a:tab pos="0" algn="l"/>
              </a:tabLst>
            </a:pPr>
            <a:r>
              <a:rPr lang="en-US" sz="1300" b="0" strike="noStrike" spc="-1">
                <a:solidFill>
                  <a:srgbClr val="666666"/>
                </a:solidFill>
                <a:latin typeface="Calibri"/>
                <a:ea typeface="Calibri"/>
              </a:rPr>
              <a:t>Configure failover (unicast/multicast), mirroring, and active/active.</a:t>
            </a:r>
            <a:endParaRPr lang="en-US" sz="1300" b="0" strike="noStrike" spc="-1">
              <a:solidFill>
                <a:srgbClr val="FFFFFF"/>
              </a:solidFill>
              <a:latin typeface="Arial"/>
            </a:endParaRPr>
          </a:p>
          <a:p>
            <a:pPr defTabSz="914400">
              <a:lnSpc>
                <a:spcPct val="100000"/>
              </a:lnSpc>
              <a:tabLst>
                <a:tab pos="0" algn="l"/>
              </a:tabLst>
            </a:pPr>
            <a:r>
              <a:rPr lang="en-US" sz="1300" b="0" strike="noStrike" spc="-1">
                <a:solidFill>
                  <a:srgbClr val="666666"/>
                </a:solidFill>
                <a:latin typeface="Calibri"/>
                <a:ea typeface="Calibri"/>
              </a:rPr>
              <a:t>Troubleshoot sync failures and failover using logs.</a:t>
            </a:r>
            <a:endParaRPr lang="en-US" sz="1300" b="0" strike="noStrike" spc="-1">
              <a:solidFill>
                <a:srgbClr val="FFFFFF"/>
              </a:solidFill>
              <a:latin typeface="Arial"/>
            </a:endParaRPr>
          </a:p>
        </p:txBody>
      </p:sp>
      <p:sp>
        <p:nvSpPr>
          <p:cNvPr id="1932" name="Text 7"/>
          <p:cNvSpPr/>
          <p:nvPr/>
        </p:nvSpPr>
        <p:spPr>
          <a:xfrm>
            <a:off x="365760" y="4297680"/>
            <a:ext cx="45716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strike="noStrike" spc="-1">
                <a:solidFill>
                  <a:srgbClr val="F29A36"/>
                </a:solidFill>
                <a:latin typeface="Calibri"/>
                <a:ea typeface="Calibri"/>
              </a:rPr>
              <a:t>60 min  |  15 min slides + 45 min lab</a:t>
            </a:r>
            <a:endParaRPr lang="en-US" sz="1100" b="0" strike="noStrike" spc="-1">
              <a:solidFill>
                <a:srgbClr val="FFFFFF"/>
              </a:solidFill>
              <a:latin typeface="Arial"/>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33"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934"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935"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936"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937"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938"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88    © 2026 F5</a:t>
            </a:r>
            <a:endParaRPr lang="en-US" sz="800" b="0" strike="noStrike" spc="-1">
              <a:solidFill>
                <a:srgbClr val="000000"/>
              </a:solidFill>
              <a:latin typeface="Arial"/>
            </a:endParaRPr>
          </a:p>
        </p:txBody>
      </p:sp>
      <p:pic>
        <p:nvPicPr>
          <p:cNvPr id="1939" name="Image 0" descr="preencoded.png"/>
          <p:cNvPicPr/>
          <p:nvPr/>
        </p:nvPicPr>
        <p:blipFill>
          <a:blip r:embed="rId3"/>
          <a:stretch/>
        </p:blipFill>
        <p:spPr>
          <a:xfrm>
            <a:off x="8458200" y="4663440"/>
            <a:ext cx="383760" cy="383760"/>
          </a:xfrm>
          <a:prstGeom prst="rect">
            <a:avLst/>
          </a:prstGeom>
          <a:ln w="0">
            <a:noFill/>
          </a:ln>
        </p:spPr>
      </p:pic>
      <p:sp>
        <p:nvSpPr>
          <p:cNvPr id="1940" name="Text 6"/>
          <p:cNvSpPr/>
          <p:nvPr/>
        </p:nvSpPr>
        <p:spPr>
          <a:xfrm>
            <a:off x="457200" y="274320"/>
            <a:ext cx="82292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DSC building blocks</a:t>
            </a:r>
            <a:endParaRPr lang="en-US" sz="2800" b="0" strike="noStrike" spc="-1">
              <a:solidFill>
                <a:srgbClr val="000000"/>
              </a:solidFill>
              <a:latin typeface="Arial"/>
            </a:endParaRPr>
          </a:p>
        </p:txBody>
      </p:sp>
      <p:sp>
        <p:nvSpPr>
          <p:cNvPr id="1941" name="Text 7"/>
          <p:cNvSpPr/>
          <p:nvPr/>
        </p:nvSpPr>
        <p:spPr>
          <a:xfrm>
            <a:off x="457200" y="658440"/>
            <a:ext cx="82292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strike="noStrike" spc="-1">
                <a:solidFill>
                  <a:srgbClr val="666666"/>
                </a:solidFill>
                <a:latin typeface="Calibri"/>
                <a:ea typeface="Calibri"/>
              </a:rPr>
              <a:t>Device Service Clusters require these components configured in order</a:t>
            </a:r>
            <a:endParaRPr lang="en-US" sz="1300" b="0" strike="noStrike" spc="-1">
              <a:solidFill>
                <a:srgbClr val="000000"/>
              </a:solidFill>
              <a:latin typeface="Arial"/>
            </a:endParaRPr>
          </a:p>
        </p:txBody>
      </p:sp>
      <p:sp>
        <p:nvSpPr>
          <p:cNvPr id="1942" name="Shape 8"/>
          <p:cNvSpPr/>
          <p:nvPr/>
        </p:nvSpPr>
        <p:spPr>
          <a:xfrm>
            <a:off x="365760" y="1005840"/>
            <a:ext cx="319680" cy="31968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943" name="Text 9"/>
          <p:cNvSpPr/>
          <p:nvPr/>
        </p:nvSpPr>
        <p:spPr>
          <a:xfrm>
            <a:off x="365760" y="1005840"/>
            <a:ext cx="31968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FFFFFF"/>
                </a:solidFill>
                <a:latin typeface="Arial"/>
                <a:ea typeface="Arial"/>
              </a:rPr>
              <a:t>1</a:t>
            </a:r>
            <a:endParaRPr lang="en-US" sz="1400" b="0" strike="noStrike" spc="-1">
              <a:solidFill>
                <a:srgbClr val="000000"/>
              </a:solidFill>
              <a:latin typeface="Arial"/>
            </a:endParaRPr>
          </a:p>
        </p:txBody>
      </p:sp>
      <p:sp>
        <p:nvSpPr>
          <p:cNvPr id="1944" name="Text 10"/>
          <p:cNvSpPr/>
          <p:nvPr/>
        </p:nvSpPr>
        <p:spPr>
          <a:xfrm>
            <a:off x="731520" y="1005840"/>
            <a:ext cx="146268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
                <a:solidFill>
                  <a:srgbClr val="0E41AA"/>
                </a:solidFill>
                <a:latin typeface="Arial"/>
                <a:ea typeface="Arial"/>
              </a:rPr>
              <a:t>Device trust</a:t>
            </a:r>
            <a:endParaRPr lang="en-US" sz="1200" b="0" strike="noStrike" spc="-1">
              <a:solidFill>
                <a:srgbClr val="000000"/>
              </a:solidFill>
              <a:latin typeface="Arial"/>
            </a:endParaRPr>
          </a:p>
        </p:txBody>
      </p:sp>
      <p:sp>
        <p:nvSpPr>
          <p:cNvPr id="1945" name="Text 11"/>
          <p:cNvSpPr/>
          <p:nvPr/>
        </p:nvSpPr>
        <p:spPr>
          <a:xfrm>
            <a:off x="731520" y="1325880"/>
            <a:ext cx="384012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strike="noStrike" spc="-1">
                <a:solidFill>
                  <a:srgbClr val="333333"/>
                </a:solidFill>
                <a:latin typeface="Calibri"/>
                <a:ea typeface="Calibri"/>
              </a:rPr>
              <a:t>Certificate-based trust between BIG-IPs. Foundation for all HA. Built using peer's mgmt IP + admin creds. Creates hidden device-trust-group for cert sync.</a:t>
            </a:r>
            <a:endParaRPr lang="en-US" sz="850" b="0" strike="noStrike" spc="-1">
              <a:solidFill>
                <a:srgbClr val="000000"/>
              </a:solidFill>
              <a:latin typeface="Arial"/>
            </a:endParaRPr>
          </a:p>
        </p:txBody>
      </p:sp>
      <p:sp>
        <p:nvSpPr>
          <p:cNvPr id="1946" name="Shape 12"/>
          <p:cNvSpPr/>
          <p:nvPr/>
        </p:nvSpPr>
        <p:spPr>
          <a:xfrm>
            <a:off x="4663440" y="1005840"/>
            <a:ext cx="319680" cy="31968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947" name="Text 13"/>
          <p:cNvSpPr/>
          <p:nvPr/>
        </p:nvSpPr>
        <p:spPr>
          <a:xfrm>
            <a:off x="4663440" y="1005840"/>
            <a:ext cx="31968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FFFFFF"/>
                </a:solidFill>
                <a:latin typeface="Arial"/>
                <a:ea typeface="Arial"/>
              </a:rPr>
              <a:t>2</a:t>
            </a:r>
            <a:endParaRPr lang="en-US" sz="1400" b="0" strike="noStrike" spc="-1">
              <a:solidFill>
                <a:srgbClr val="000000"/>
              </a:solidFill>
              <a:latin typeface="Arial"/>
            </a:endParaRPr>
          </a:p>
        </p:txBody>
      </p:sp>
      <p:sp>
        <p:nvSpPr>
          <p:cNvPr id="1948" name="Text 14"/>
          <p:cNvSpPr/>
          <p:nvPr/>
        </p:nvSpPr>
        <p:spPr>
          <a:xfrm>
            <a:off x="5029200" y="1005840"/>
            <a:ext cx="146268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
                <a:solidFill>
                  <a:srgbClr val="61228B"/>
                </a:solidFill>
                <a:latin typeface="Arial"/>
                <a:ea typeface="Arial"/>
              </a:rPr>
              <a:t>Device group</a:t>
            </a:r>
            <a:endParaRPr lang="en-US" sz="1200" b="0" strike="noStrike" spc="-1">
              <a:solidFill>
                <a:srgbClr val="000000"/>
              </a:solidFill>
              <a:latin typeface="Arial"/>
            </a:endParaRPr>
          </a:p>
        </p:txBody>
      </p:sp>
      <p:sp>
        <p:nvSpPr>
          <p:cNvPr id="1949" name="Text 15"/>
          <p:cNvSpPr/>
          <p:nvPr/>
        </p:nvSpPr>
        <p:spPr>
          <a:xfrm>
            <a:off x="5029200" y="1325880"/>
            <a:ext cx="384012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strike="noStrike" spc="-1">
                <a:solidFill>
                  <a:srgbClr val="333333"/>
                </a:solidFill>
                <a:latin typeface="Calibri"/>
                <a:ea typeface="Calibri"/>
              </a:rPr>
              <a:t>Trusted devices that sync and/or fail over. Sync-Only: config only. Sync-Failover: config + failover. Up to 8 devices. Network Failover checkbox required.</a:t>
            </a:r>
            <a:endParaRPr lang="en-US" sz="850" b="0" strike="noStrike" spc="-1">
              <a:solidFill>
                <a:srgbClr val="000000"/>
              </a:solidFill>
              <a:latin typeface="Arial"/>
            </a:endParaRPr>
          </a:p>
        </p:txBody>
      </p:sp>
      <p:sp>
        <p:nvSpPr>
          <p:cNvPr id="1950" name="Shape 16"/>
          <p:cNvSpPr/>
          <p:nvPr/>
        </p:nvSpPr>
        <p:spPr>
          <a:xfrm>
            <a:off x="365760" y="2057400"/>
            <a:ext cx="319680" cy="319680"/>
          </a:xfrm>
          <a:prstGeom prst="rect">
            <a:avLst/>
          </a:prstGeom>
          <a:solidFill>
            <a:srgbClr val="00963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951" name="Text 17"/>
          <p:cNvSpPr/>
          <p:nvPr/>
        </p:nvSpPr>
        <p:spPr>
          <a:xfrm>
            <a:off x="365760" y="2057400"/>
            <a:ext cx="31968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FFFFFF"/>
                </a:solidFill>
                <a:latin typeface="Arial"/>
                <a:ea typeface="Arial"/>
              </a:rPr>
              <a:t>3</a:t>
            </a:r>
            <a:endParaRPr lang="en-US" sz="1400" b="0" strike="noStrike" spc="-1">
              <a:solidFill>
                <a:srgbClr val="000000"/>
              </a:solidFill>
              <a:latin typeface="Arial"/>
            </a:endParaRPr>
          </a:p>
        </p:txBody>
      </p:sp>
      <p:sp>
        <p:nvSpPr>
          <p:cNvPr id="1952" name="Text 18"/>
          <p:cNvSpPr/>
          <p:nvPr/>
        </p:nvSpPr>
        <p:spPr>
          <a:xfrm>
            <a:off x="731520" y="2057400"/>
            <a:ext cx="146268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
                <a:solidFill>
                  <a:srgbClr val="009639"/>
                </a:solidFill>
                <a:latin typeface="Arial"/>
                <a:ea typeface="Arial"/>
              </a:rPr>
              <a:t>Traffic group</a:t>
            </a:r>
            <a:endParaRPr lang="en-US" sz="1200" b="0" strike="noStrike" spc="-1">
              <a:solidFill>
                <a:srgbClr val="000000"/>
              </a:solidFill>
              <a:latin typeface="Arial"/>
            </a:endParaRPr>
          </a:p>
        </p:txBody>
      </p:sp>
      <p:sp>
        <p:nvSpPr>
          <p:cNvPr id="1953" name="Text 19"/>
          <p:cNvSpPr/>
          <p:nvPr/>
        </p:nvSpPr>
        <p:spPr>
          <a:xfrm>
            <a:off x="731520" y="2377440"/>
            <a:ext cx="384012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strike="noStrike" spc="-1">
                <a:solidFill>
                  <a:srgbClr val="333333"/>
                </a:solidFill>
                <a:latin typeface="Calibri"/>
                <a:ea typeface="Calibri"/>
              </a:rPr>
              <a:t>Container for floating objects (virtual addresses, floating self IPs, SNAT translations). Determines which BIG-IP is active for a set of traffic.</a:t>
            </a:r>
            <a:endParaRPr lang="en-US" sz="850" b="0" strike="noStrike" spc="-1">
              <a:solidFill>
                <a:srgbClr val="000000"/>
              </a:solidFill>
              <a:latin typeface="Arial"/>
            </a:endParaRPr>
          </a:p>
        </p:txBody>
      </p:sp>
      <p:sp>
        <p:nvSpPr>
          <p:cNvPr id="1954" name="Shape 20"/>
          <p:cNvSpPr/>
          <p:nvPr/>
        </p:nvSpPr>
        <p:spPr>
          <a:xfrm>
            <a:off x="4663440" y="2057400"/>
            <a:ext cx="319680" cy="31968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955" name="Text 21"/>
          <p:cNvSpPr/>
          <p:nvPr/>
        </p:nvSpPr>
        <p:spPr>
          <a:xfrm>
            <a:off x="4663440" y="2057400"/>
            <a:ext cx="31968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FFFFFF"/>
                </a:solidFill>
                <a:latin typeface="Arial"/>
                <a:ea typeface="Arial"/>
              </a:rPr>
              <a:t>4</a:t>
            </a:r>
            <a:endParaRPr lang="en-US" sz="1400" b="0" strike="noStrike" spc="-1">
              <a:solidFill>
                <a:srgbClr val="000000"/>
              </a:solidFill>
              <a:latin typeface="Arial"/>
            </a:endParaRPr>
          </a:p>
        </p:txBody>
      </p:sp>
      <p:sp>
        <p:nvSpPr>
          <p:cNvPr id="1956" name="Text 22"/>
          <p:cNvSpPr/>
          <p:nvPr/>
        </p:nvSpPr>
        <p:spPr>
          <a:xfrm>
            <a:off x="5029200" y="2057400"/>
            <a:ext cx="146268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
                <a:solidFill>
                  <a:srgbClr val="F29A36"/>
                </a:solidFill>
                <a:latin typeface="Arial"/>
                <a:ea typeface="Arial"/>
              </a:rPr>
              <a:t>Config sync</a:t>
            </a:r>
            <a:endParaRPr lang="en-US" sz="1200" b="0" strike="noStrike" spc="-1">
              <a:solidFill>
                <a:srgbClr val="000000"/>
              </a:solidFill>
              <a:latin typeface="Arial"/>
            </a:endParaRPr>
          </a:p>
        </p:txBody>
      </p:sp>
      <p:sp>
        <p:nvSpPr>
          <p:cNvPr id="1957" name="Text 23"/>
          <p:cNvSpPr/>
          <p:nvPr/>
        </p:nvSpPr>
        <p:spPr>
          <a:xfrm>
            <a:off x="5029200" y="2377440"/>
            <a:ext cx="384012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strike="noStrike" spc="-1">
                <a:solidFill>
                  <a:srgbClr val="333333"/>
                </a:solidFill>
                <a:latin typeface="Calibri"/>
                <a:ea typeface="Calibri"/>
              </a:rPr>
              <a:t>Pushes config via CMI (TCP 4353). Initial sync: push or pull. After: changes trigger 'Changes Pending'. Full overwrite or incremental.</a:t>
            </a:r>
            <a:endParaRPr lang="en-US" sz="850" b="0" strike="noStrike" spc="-1">
              <a:solidFill>
                <a:srgbClr val="000000"/>
              </a:solidFill>
              <a:latin typeface="Arial"/>
            </a:endParaRPr>
          </a:p>
        </p:txBody>
      </p:sp>
      <p:sp>
        <p:nvSpPr>
          <p:cNvPr id="1958" name="Shape 24"/>
          <p:cNvSpPr/>
          <p:nvPr/>
        </p:nvSpPr>
        <p:spPr>
          <a:xfrm>
            <a:off x="365760" y="3108960"/>
            <a:ext cx="319680" cy="31968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959" name="Text 25"/>
          <p:cNvSpPr/>
          <p:nvPr/>
        </p:nvSpPr>
        <p:spPr>
          <a:xfrm>
            <a:off x="365760" y="3108960"/>
            <a:ext cx="31968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FFFFFF"/>
                </a:solidFill>
                <a:latin typeface="Arial"/>
                <a:ea typeface="Arial"/>
              </a:rPr>
              <a:t>5</a:t>
            </a:r>
            <a:endParaRPr lang="en-US" sz="1400" b="0" strike="noStrike" spc="-1">
              <a:solidFill>
                <a:srgbClr val="000000"/>
              </a:solidFill>
              <a:latin typeface="Arial"/>
            </a:endParaRPr>
          </a:p>
        </p:txBody>
      </p:sp>
      <p:sp>
        <p:nvSpPr>
          <p:cNvPr id="1960" name="Text 26"/>
          <p:cNvSpPr/>
          <p:nvPr/>
        </p:nvSpPr>
        <p:spPr>
          <a:xfrm>
            <a:off x="731520" y="3108960"/>
            <a:ext cx="146268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
                <a:solidFill>
                  <a:srgbClr val="E4002B"/>
                </a:solidFill>
                <a:latin typeface="Arial"/>
                <a:ea typeface="Arial"/>
              </a:rPr>
              <a:t>Network failover</a:t>
            </a:r>
            <a:endParaRPr lang="en-US" sz="1200" b="0" strike="noStrike" spc="-1">
              <a:solidFill>
                <a:srgbClr val="000000"/>
              </a:solidFill>
              <a:latin typeface="Arial"/>
            </a:endParaRPr>
          </a:p>
        </p:txBody>
      </p:sp>
      <p:sp>
        <p:nvSpPr>
          <p:cNvPr id="1961" name="Text 27"/>
          <p:cNvSpPr/>
          <p:nvPr/>
        </p:nvSpPr>
        <p:spPr>
          <a:xfrm>
            <a:off x="731520" y="3429000"/>
            <a:ext cx="384012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strike="noStrike" spc="-1">
                <a:solidFill>
                  <a:srgbClr val="333333"/>
                </a:solidFill>
                <a:latin typeface="Calibri"/>
                <a:ea typeface="Calibri"/>
              </a:rPr>
              <a:t>Heartbeat (UDP 1026). Lost heartbeat → standby promotes. Unicast (standard) or multicast (Viprion). Multiple unicast: ANY failure triggers failover.</a:t>
            </a:r>
            <a:endParaRPr lang="en-US" sz="850" b="0" strike="noStrike" spc="-1">
              <a:solidFill>
                <a:srgbClr val="000000"/>
              </a:solidFill>
              <a:latin typeface="Arial"/>
            </a:endParaRPr>
          </a:p>
        </p:txBody>
      </p:sp>
      <p:sp>
        <p:nvSpPr>
          <p:cNvPr id="1962" name="Shape 28"/>
          <p:cNvSpPr/>
          <p:nvPr/>
        </p:nvSpPr>
        <p:spPr>
          <a:xfrm>
            <a:off x="4663440" y="3108960"/>
            <a:ext cx="319680" cy="31968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963" name="Text 29"/>
          <p:cNvSpPr/>
          <p:nvPr/>
        </p:nvSpPr>
        <p:spPr>
          <a:xfrm>
            <a:off x="4663440" y="3108960"/>
            <a:ext cx="31968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FFFFFF"/>
                </a:solidFill>
                <a:latin typeface="Arial"/>
                <a:ea typeface="Arial"/>
              </a:rPr>
              <a:t>6</a:t>
            </a:r>
            <a:endParaRPr lang="en-US" sz="1400" b="0" strike="noStrike" spc="-1">
              <a:solidFill>
                <a:srgbClr val="000000"/>
              </a:solidFill>
              <a:latin typeface="Arial"/>
            </a:endParaRPr>
          </a:p>
        </p:txBody>
      </p:sp>
      <p:sp>
        <p:nvSpPr>
          <p:cNvPr id="1964" name="Text 30"/>
          <p:cNvSpPr/>
          <p:nvPr/>
        </p:nvSpPr>
        <p:spPr>
          <a:xfrm>
            <a:off x="5029200" y="3108960"/>
            <a:ext cx="146268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
                <a:solidFill>
                  <a:srgbClr val="AB2782"/>
                </a:solidFill>
                <a:latin typeface="Arial"/>
                <a:ea typeface="Arial"/>
              </a:rPr>
              <a:t>Mirroring</a:t>
            </a:r>
            <a:endParaRPr lang="en-US" sz="1200" b="0" strike="noStrike" spc="-1">
              <a:solidFill>
                <a:srgbClr val="000000"/>
              </a:solidFill>
              <a:latin typeface="Arial"/>
            </a:endParaRPr>
          </a:p>
        </p:txBody>
      </p:sp>
      <p:sp>
        <p:nvSpPr>
          <p:cNvPr id="1965" name="Text 31"/>
          <p:cNvSpPr/>
          <p:nvPr/>
        </p:nvSpPr>
        <p:spPr>
          <a:xfrm>
            <a:off x="5029200" y="3429000"/>
            <a:ext cx="384012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strike="noStrike" spc="-1">
                <a:solidFill>
                  <a:srgbClr val="333333"/>
                </a:solidFill>
                <a:latin typeface="Calibri"/>
                <a:ea typeface="Calibri"/>
              </a:rPr>
              <a:t>Replicates connections + persistence to standby (TCP 1028). Without it, failover drops all state. Only mirrors records created AFTER enablement.</a:t>
            </a:r>
            <a:endParaRPr lang="en-US" sz="850" b="0" strike="noStrike" spc="-1">
              <a:solidFill>
                <a:srgbClr val="000000"/>
              </a:solidFill>
              <a:latin typeface="Arial"/>
            </a:endParaRPr>
          </a:p>
        </p:txBody>
      </p:sp>
      <p:sp>
        <p:nvSpPr>
          <p:cNvPr id="1966" name="Shape 32"/>
          <p:cNvSpPr/>
          <p:nvPr/>
        </p:nvSpPr>
        <p:spPr>
          <a:xfrm>
            <a:off x="365760" y="4206240"/>
            <a:ext cx="8412120" cy="411120"/>
          </a:xfrm>
          <a:prstGeom prst="rect">
            <a:avLst/>
          </a:prstGeom>
          <a:solidFill>
            <a:srgbClr val="FDE8E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967" name="Text 33"/>
          <p:cNvSpPr/>
          <p:nvPr/>
        </p:nvSpPr>
        <p:spPr>
          <a:xfrm>
            <a:off x="548640" y="4224600"/>
            <a:ext cx="80463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strike="noStrike" spc="-1">
                <a:solidFill>
                  <a:srgbClr val="E4002B"/>
                </a:solidFill>
                <a:latin typeface="Calibri"/>
                <a:ea typeface="Calibri"/>
              </a:rPr>
              <a:t>Prerequisites: </a:t>
            </a:r>
            <a:r>
              <a:rPr lang="en-US" sz="900" b="0" strike="noStrike" spc="-1">
                <a:solidFill>
                  <a:srgbClr val="7A0000"/>
                </a:solidFill>
                <a:latin typeface="Calibri"/>
                <a:ea typeface="Calibri"/>
              </a:rPr>
              <a:t>Matching provisioning (LTM+AVR on both). NTP synced. HA VLAN with Allow Defaults (TCP 4353, UDP 1026). Device certs renewed (3650 days).</a:t>
            </a:r>
            <a:endParaRPr lang="en-US" sz="900" b="0" strike="noStrike" spc="-1">
              <a:solidFill>
                <a:srgbClr val="000000"/>
              </a:solidFill>
              <a:latin typeface="Arial"/>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68"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969"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970"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971"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972"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973"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89    © 2026 F5</a:t>
            </a:r>
            <a:endParaRPr lang="en-US" sz="800" b="0" strike="noStrike" spc="-1">
              <a:solidFill>
                <a:srgbClr val="000000"/>
              </a:solidFill>
              <a:latin typeface="Arial"/>
            </a:endParaRPr>
          </a:p>
        </p:txBody>
      </p:sp>
      <p:pic>
        <p:nvPicPr>
          <p:cNvPr id="1974" name="Image 0" descr="preencoded.png"/>
          <p:cNvPicPr/>
          <p:nvPr/>
        </p:nvPicPr>
        <p:blipFill>
          <a:blip r:embed="rId3"/>
          <a:stretch/>
        </p:blipFill>
        <p:spPr>
          <a:xfrm>
            <a:off x="8458200" y="4663440"/>
            <a:ext cx="383760" cy="383760"/>
          </a:xfrm>
          <a:prstGeom prst="rect">
            <a:avLst/>
          </a:prstGeom>
          <a:ln w="0">
            <a:noFill/>
          </a:ln>
        </p:spPr>
      </p:pic>
      <p:sp>
        <p:nvSpPr>
          <p:cNvPr id="1975" name="Text 6"/>
          <p:cNvSpPr/>
          <p:nvPr/>
        </p:nvSpPr>
        <p:spPr>
          <a:xfrm>
            <a:off x="457200" y="274320"/>
            <a:ext cx="82292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Building a DSC step-by-step</a:t>
            </a:r>
            <a:endParaRPr lang="en-US" sz="2800" b="0" strike="noStrike" spc="-1">
              <a:solidFill>
                <a:srgbClr val="000000"/>
              </a:solidFill>
              <a:latin typeface="Arial"/>
            </a:endParaRPr>
          </a:p>
        </p:txBody>
      </p:sp>
      <p:sp>
        <p:nvSpPr>
          <p:cNvPr id="1976" name="Text 7"/>
          <p:cNvSpPr/>
          <p:nvPr/>
        </p:nvSpPr>
        <p:spPr>
          <a:xfrm>
            <a:off x="457200" y="658440"/>
            <a:ext cx="82292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strike="noStrike" spc="-1">
                <a:solidFill>
                  <a:srgbClr val="666666"/>
                </a:solidFill>
                <a:latin typeface="Calibri"/>
                <a:ea typeface="Calibri"/>
              </a:rPr>
              <a:t>Complete workflow from standalone to synchronized HA pair</a:t>
            </a:r>
            <a:endParaRPr lang="en-US" sz="1300" b="0" strike="noStrike" spc="-1">
              <a:solidFill>
                <a:srgbClr val="000000"/>
              </a:solidFill>
              <a:latin typeface="Arial"/>
            </a:endParaRPr>
          </a:p>
        </p:txBody>
      </p:sp>
      <p:sp>
        <p:nvSpPr>
          <p:cNvPr id="1977" name="Shape 8"/>
          <p:cNvSpPr/>
          <p:nvPr/>
        </p:nvSpPr>
        <p:spPr>
          <a:xfrm>
            <a:off x="365760" y="1005840"/>
            <a:ext cx="319680" cy="27396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978" name="Text 9"/>
          <p:cNvSpPr/>
          <p:nvPr/>
        </p:nvSpPr>
        <p:spPr>
          <a:xfrm>
            <a:off x="365760" y="1005840"/>
            <a:ext cx="31968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strike="noStrike" spc="-1">
                <a:solidFill>
                  <a:srgbClr val="FFFFFF"/>
                </a:solidFill>
                <a:latin typeface="Arial"/>
                <a:ea typeface="Arial"/>
              </a:rPr>
              <a:t>1</a:t>
            </a:r>
            <a:endParaRPr lang="en-US" sz="1200" b="0" strike="noStrike" spc="-1">
              <a:solidFill>
                <a:srgbClr val="000000"/>
              </a:solidFill>
              <a:latin typeface="Arial"/>
            </a:endParaRPr>
          </a:p>
        </p:txBody>
      </p:sp>
      <p:sp>
        <p:nvSpPr>
          <p:cNvPr id="1979" name="Text 10"/>
          <p:cNvSpPr/>
          <p:nvPr/>
        </p:nvSpPr>
        <p:spPr>
          <a:xfrm>
            <a:off x="777240" y="1005840"/>
            <a:ext cx="1828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strike="noStrike" spc="-1">
                <a:solidFill>
                  <a:srgbClr val="0E41AA"/>
                </a:solidFill>
                <a:latin typeface="Arial"/>
                <a:ea typeface="Arial"/>
              </a:rPr>
              <a:t>Prepare both devices</a:t>
            </a:r>
            <a:endParaRPr lang="en-US" sz="1100" b="0" strike="noStrike" spc="-1">
              <a:solidFill>
                <a:srgbClr val="000000"/>
              </a:solidFill>
              <a:latin typeface="Arial"/>
            </a:endParaRPr>
          </a:p>
        </p:txBody>
      </p:sp>
      <p:sp>
        <p:nvSpPr>
          <p:cNvPr id="1980" name="Text 11"/>
          <p:cNvSpPr/>
          <p:nvPr/>
        </p:nvSpPr>
        <p:spPr>
          <a:xfrm>
            <a:off x="2651760" y="1005840"/>
            <a:ext cx="61261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strike="noStrike" spc="-1">
                <a:solidFill>
                  <a:srgbClr val="333333"/>
                </a:solidFill>
                <a:latin typeface="Calibri"/>
                <a:ea typeface="Calibri"/>
              </a:rPr>
              <a:t>Matching provisioning. HA VLAN + self IP (Allow Defaults). NTP synced. Renew device cert (3650 days). Reset device trust cert.</a:t>
            </a:r>
            <a:endParaRPr lang="en-US" sz="850" b="0" strike="noStrike" spc="-1">
              <a:solidFill>
                <a:srgbClr val="000000"/>
              </a:solidFill>
              <a:latin typeface="Arial"/>
            </a:endParaRPr>
          </a:p>
        </p:txBody>
      </p:sp>
      <p:sp>
        <p:nvSpPr>
          <p:cNvPr id="1981" name="Shape 12"/>
          <p:cNvSpPr/>
          <p:nvPr/>
        </p:nvSpPr>
        <p:spPr>
          <a:xfrm>
            <a:off x="365760" y="1581840"/>
            <a:ext cx="319680" cy="27396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982" name="Text 13"/>
          <p:cNvSpPr/>
          <p:nvPr/>
        </p:nvSpPr>
        <p:spPr>
          <a:xfrm>
            <a:off x="365760" y="1581840"/>
            <a:ext cx="31968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strike="noStrike" spc="-1">
                <a:solidFill>
                  <a:srgbClr val="FFFFFF"/>
                </a:solidFill>
                <a:latin typeface="Arial"/>
                <a:ea typeface="Arial"/>
              </a:rPr>
              <a:t>2</a:t>
            </a:r>
            <a:endParaRPr lang="en-US" sz="1200" b="0" strike="noStrike" spc="-1">
              <a:solidFill>
                <a:srgbClr val="000000"/>
              </a:solidFill>
              <a:latin typeface="Arial"/>
            </a:endParaRPr>
          </a:p>
        </p:txBody>
      </p:sp>
      <p:sp>
        <p:nvSpPr>
          <p:cNvPr id="1983" name="Text 14"/>
          <p:cNvSpPr/>
          <p:nvPr/>
        </p:nvSpPr>
        <p:spPr>
          <a:xfrm>
            <a:off x="777240" y="1581840"/>
            <a:ext cx="1828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strike="noStrike" spc="-1">
                <a:solidFill>
                  <a:srgbClr val="61228B"/>
                </a:solidFill>
                <a:latin typeface="Arial"/>
                <a:ea typeface="Arial"/>
              </a:rPr>
              <a:t>Configure device settings</a:t>
            </a:r>
            <a:endParaRPr lang="en-US" sz="1100" b="0" strike="noStrike" spc="-1">
              <a:solidFill>
                <a:srgbClr val="000000"/>
              </a:solidFill>
              <a:latin typeface="Arial"/>
            </a:endParaRPr>
          </a:p>
        </p:txBody>
      </p:sp>
      <p:sp>
        <p:nvSpPr>
          <p:cNvPr id="1984" name="Text 15"/>
          <p:cNvSpPr/>
          <p:nvPr/>
        </p:nvSpPr>
        <p:spPr>
          <a:xfrm>
            <a:off x="2651760" y="1581840"/>
            <a:ext cx="61261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strike="noStrike" spc="-1">
                <a:solidFill>
                  <a:srgbClr val="333333"/>
                </a:solidFill>
                <a:latin typeface="Calibri"/>
                <a:ea typeface="Calibri"/>
              </a:rPr>
              <a:t>On EACH: Device Mgmt &gt; Devices &gt; (Self). ConfigSync = HA IP. Failover Unicast = HA IP:1026. Mirror primary = HA IP.</a:t>
            </a:r>
            <a:endParaRPr lang="en-US" sz="850" b="0" strike="noStrike" spc="-1">
              <a:solidFill>
                <a:srgbClr val="000000"/>
              </a:solidFill>
              <a:latin typeface="Arial"/>
            </a:endParaRPr>
          </a:p>
        </p:txBody>
      </p:sp>
      <p:sp>
        <p:nvSpPr>
          <p:cNvPr id="1985" name="Shape 16"/>
          <p:cNvSpPr/>
          <p:nvPr/>
        </p:nvSpPr>
        <p:spPr>
          <a:xfrm>
            <a:off x="365760" y="2157840"/>
            <a:ext cx="319680" cy="273960"/>
          </a:xfrm>
          <a:prstGeom prst="rect">
            <a:avLst/>
          </a:prstGeom>
          <a:solidFill>
            <a:srgbClr val="00963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986" name="Text 17"/>
          <p:cNvSpPr/>
          <p:nvPr/>
        </p:nvSpPr>
        <p:spPr>
          <a:xfrm>
            <a:off x="365760" y="2157840"/>
            <a:ext cx="31968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strike="noStrike" spc="-1">
                <a:solidFill>
                  <a:srgbClr val="FFFFFF"/>
                </a:solidFill>
                <a:latin typeface="Arial"/>
                <a:ea typeface="Arial"/>
              </a:rPr>
              <a:t>3</a:t>
            </a:r>
            <a:endParaRPr lang="en-US" sz="1200" b="0" strike="noStrike" spc="-1">
              <a:solidFill>
                <a:srgbClr val="000000"/>
              </a:solidFill>
              <a:latin typeface="Arial"/>
            </a:endParaRPr>
          </a:p>
        </p:txBody>
      </p:sp>
      <p:sp>
        <p:nvSpPr>
          <p:cNvPr id="1987" name="Text 18"/>
          <p:cNvSpPr/>
          <p:nvPr/>
        </p:nvSpPr>
        <p:spPr>
          <a:xfrm>
            <a:off x="777240" y="2157840"/>
            <a:ext cx="1828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strike="noStrike" spc="-1">
                <a:solidFill>
                  <a:srgbClr val="009639"/>
                </a:solidFill>
                <a:latin typeface="Arial"/>
                <a:ea typeface="Arial"/>
              </a:rPr>
              <a:t>Build device trust</a:t>
            </a:r>
            <a:endParaRPr lang="en-US" sz="1100" b="0" strike="noStrike" spc="-1">
              <a:solidFill>
                <a:srgbClr val="000000"/>
              </a:solidFill>
              <a:latin typeface="Arial"/>
            </a:endParaRPr>
          </a:p>
        </p:txBody>
      </p:sp>
      <p:sp>
        <p:nvSpPr>
          <p:cNvPr id="1988" name="Text 19"/>
          <p:cNvSpPr/>
          <p:nvPr/>
        </p:nvSpPr>
        <p:spPr>
          <a:xfrm>
            <a:off x="2651760" y="2157840"/>
            <a:ext cx="61261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strike="noStrike" spc="-1">
                <a:solidFill>
                  <a:srgbClr val="333333"/>
                </a:solidFill>
                <a:latin typeface="Calibri"/>
                <a:ea typeface="Calibri"/>
              </a:rPr>
              <a:t>On ONE: Device Mgmt &gt; Device Trust &gt; Add. Peer mgmt IP + admin creds. Retrieve Info &gt; Finished. Verify Peer Authorities.</a:t>
            </a:r>
            <a:endParaRPr lang="en-US" sz="850" b="0" strike="noStrike" spc="-1">
              <a:solidFill>
                <a:srgbClr val="000000"/>
              </a:solidFill>
              <a:latin typeface="Arial"/>
            </a:endParaRPr>
          </a:p>
        </p:txBody>
      </p:sp>
      <p:sp>
        <p:nvSpPr>
          <p:cNvPr id="1989" name="Shape 20"/>
          <p:cNvSpPr/>
          <p:nvPr/>
        </p:nvSpPr>
        <p:spPr>
          <a:xfrm>
            <a:off x="365760" y="2734200"/>
            <a:ext cx="319680" cy="27396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990" name="Text 21"/>
          <p:cNvSpPr/>
          <p:nvPr/>
        </p:nvSpPr>
        <p:spPr>
          <a:xfrm>
            <a:off x="365760" y="2734200"/>
            <a:ext cx="31968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strike="noStrike" spc="-1">
                <a:solidFill>
                  <a:srgbClr val="FFFFFF"/>
                </a:solidFill>
                <a:latin typeface="Arial"/>
                <a:ea typeface="Arial"/>
              </a:rPr>
              <a:t>4</a:t>
            </a:r>
            <a:endParaRPr lang="en-US" sz="1200" b="0" strike="noStrike" spc="-1">
              <a:solidFill>
                <a:srgbClr val="000000"/>
              </a:solidFill>
              <a:latin typeface="Arial"/>
            </a:endParaRPr>
          </a:p>
        </p:txBody>
      </p:sp>
      <p:sp>
        <p:nvSpPr>
          <p:cNvPr id="1991" name="Text 22"/>
          <p:cNvSpPr/>
          <p:nvPr/>
        </p:nvSpPr>
        <p:spPr>
          <a:xfrm>
            <a:off x="777240" y="2734200"/>
            <a:ext cx="1828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strike="noStrike" spc="-1">
                <a:solidFill>
                  <a:srgbClr val="F29A36"/>
                </a:solidFill>
                <a:latin typeface="Arial"/>
                <a:ea typeface="Arial"/>
              </a:rPr>
              <a:t>Create device group</a:t>
            </a:r>
            <a:endParaRPr lang="en-US" sz="1100" b="0" strike="noStrike" spc="-1">
              <a:solidFill>
                <a:srgbClr val="000000"/>
              </a:solidFill>
              <a:latin typeface="Arial"/>
            </a:endParaRPr>
          </a:p>
        </p:txBody>
      </p:sp>
      <p:sp>
        <p:nvSpPr>
          <p:cNvPr id="1992" name="Text 23"/>
          <p:cNvSpPr/>
          <p:nvPr/>
        </p:nvSpPr>
        <p:spPr>
          <a:xfrm>
            <a:off x="2651760" y="2734200"/>
            <a:ext cx="61261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strike="noStrike" spc="-1">
                <a:solidFill>
                  <a:srgbClr val="333333"/>
                </a:solidFill>
                <a:latin typeface="Calibri"/>
                <a:ea typeface="Calibri"/>
              </a:rPr>
              <a:t>On ONE: Device Mgmt &gt; Device Groups &gt; Create. Type: Sync-Failover. Add both devices. Check Network Failover.</a:t>
            </a:r>
            <a:endParaRPr lang="en-US" sz="850" b="0" strike="noStrike" spc="-1">
              <a:solidFill>
                <a:srgbClr val="000000"/>
              </a:solidFill>
              <a:latin typeface="Arial"/>
            </a:endParaRPr>
          </a:p>
        </p:txBody>
      </p:sp>
      <p:sp>
        <p:nvSpPr>
          <p:cNvPr id="1993" name="Shape 24"/>
          <p:cNvSpPr/>
          <p:nvPr/>
        </p:nvSpPr>
        <p:spPr>
          <a:xfrm>
            <a:off x="365760" y="3310200"/>
            <a:ext cx="319680" cy="27396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994" name="Text 25"/>
          <p:cNvSpPr/>
          <p:nvPr/>
        </p:nvSpPr>
        <p:spPr>
          <a:xfrm>
            <a:off x="365760" y="3310200"/>
            <a:ext cx="31968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strike="noStrike" spc="-1">
                <a:solidFill>
                  <a:srgbClr val="FFFFFF"/>
                </a:solidFill>
                <a:latin typeface="Arial"/>
                <a:ea typeface="Arial"/>
              </a:rPr>
              <a:t>5</a:t>
            </a:r>
            <a:endParaRPr lang="en-US" sz="1200" b="0" strike="noStrike" spc="-1">
              <a:solidFill>
                <a:srgbClr val="000000"/>
              </a:solidFill>
              <a:latin typeface="Arial"/>
            </a:endParaRPr>
          </a:p>
        </p:txBody>
      </p:sp>
      <p:sp>
        <p:nvSpPr>
          <p:cNvPr id="1995" name="Text 26"/>
          <p:cNvSpPr/>
          <p:nvPr/>
        </p:nvSpPr>
        <p:spPr>
          <a:xfrm>
            <a:off x="777240" y="3310200"/>
            <a:ext cx="1828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strike="noStrike" spc="-1">
                <a:solidFill>
                  <a:srgbClr val="E4002B"/>
                </a:solidFill>
                <a:latin typeface="Arial"/>
                <a:ea typeface="Arial"/>
              </a:rPr>
              <a:t>Initial sync</a:t>
            </a:r>
            <a:endParaRPr lang="en-US" sz="1100" b="0" strike="noStrike" spc="-1">
              <a:solidFill>
                <a:srgbClr val="000000"/>
              </a:solidFill>
              <a:latin typeface="Arial"/>
            </a:endParaRPr>
          </a:p>
        </p:txBody>
      </p:sp>
      <p:sp>
        <p:nvSpPr>
          <p:cNvPr id="1996" name="Text 27"/>
          <p:cNvSpPr/>
          <p:nvPr/>
        </p:nvSpPr>
        <p:spPr>
          <a:xfrm>
            <a:off x="2651760" y="3310200"/>
            <a:ext cx="61261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strike="noStrike" spc="-1">
                <a:solidFill>
                  <a:srgbClr val="333333"/>
                </a:solidFill>
                <a:latin typeface="Calibri"/>
                <a:ea typeface="Calibri"/>
              </a:rPr>
              <a:t>Device with good config: Overview &gt; select device &gt; Sync Device to Group. Wait 30s. WARNING: either device can sync during initial phase.</a:t>
            </a:r>
            <a:endParaRPr lang="en-US" sz="850" b="0" strike="noStrike" spc="-1">
              <a:solidFill>
                <a:srgbClr val="000000"/>
              </a:solidFill>
              <a:latin typeface="Arial"/>
            </a:endParaRPr>
          </a:p>
        </p:txBody>
      </p:sp>
      <p:sp>
        <p:nvSpPr>
          <p:cNvPr id="1997" name="Shape 28"/>
          <p:cNvSpPr/>
          <p:nvPr/>
        </p:nvSpPr>
        <p:spPr>
          <a:xfrm>
            <a:off x="365760" y="3886200"/>
            <a:ext cx="319680" cy="27396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998" name="Text 29"/>
          <p:cNvSpPr/>
          <p:nvPr/>
        </p:nvSpPr>
        <p:spPr>
          <a:xfrm>
            <a:off x="365760" y="3886200"/>
            <a:ext cx="31968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strike="noStrike" spc="-1">
                <a:solidFill>
                  <a:srgbClr val="FFFFFF"/>
                </a:solidFill>
                <a:latin typeface="Arial"/>
                <a:ea typeface="Arial"/>
              </a:rPr>
              <a:t>6</a:t>
            </a:r>
            <a:endParaRPr lang="en-US" sz="1200" b="0" strike="noStrike" spc="-1">
              <a:solidFill>
                <a:srgbClr val="000000"/>
              </a:solidFill>
              <a:latin typeface="Arial"/>
            </a:endParaRPr>
          </a:p>
        </p:txBody>
      </p:sp>
      <p:sp>
        <p:nvSpPr>
          <p:cNvPr id="1999" name="Text 30"/>
          <p:cNvSpPr/>
          <p:nvPr/>
        </p:nvSpPr>
        <p:spPr>
          <a:xfrm>
            <a:off x="777240" y="3886200"/>
            <a:ext cx="1828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strike="noStrike" spc="-1">
                <a:solidFill>
                  <a:srgbClr val="AB2782"/>
                </a:solidFill>
                <a:latin typeface="Arial"/>
                <a:ea typeface="Arial"/>
              </a:rPr>
              <a:t>Verify HA</a:t>
            </a:r>
            <a:endParaRPr lang="en-US" sz="1100" b="0" strike="noStrike" spc="-1">
              <a:solidFill>
                <a:srgbClr val="000000"/>
              </a:solidFill>
              <a:latin typeface="Arial"/>
            </a:endParaRPr>
          </a:p>
        </p:txBody>
      </p:sp>
      <p:sp>
        <p:nvSpPr>
          <p:cNvPr id="2000" name="Text 31"/>
          <p:cNvSpPr/>
          <p:nvPr/>
        </p:nvSpPr>
        <p:spPr>
          <a:xfrm>
            <a:off x="2651760" y="3886200"/>
            <a:ext cx="61261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strike="noStrike" spc="-1">
                <a:solidFill>
                  <a:srgbClr val="333333"/>
                </a:solidFill>
                <a:latin typeface="Calibri"/>
                <a:ea typeface="Calibri"/>
              </a:rPr>
              <a:t>Both: In Sync, Active/Standby. Test: browse VIP. Force failover: Devices &gt; (Self) &gt; Force to Standby. Browse again.</a:t>
            </a:r>
            <a:endParaRPr lang="en-US" sz="850" b="0" strike="noStrike" spc="-1">
              <a:solidFill>
                <a:srgbClr val="000000"/>
              </a:solidFill>
              <a:latin typeface="Arial"/>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01"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002"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003"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004"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005"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006"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90    © 2026 F5</a:t>
            </a:r>
            <a:endParaRPr lang="en-US" sz="800" b="0" strike="noStrike" spc="-1">
              <a:solidFill>
                <a:srgbClr val="000000"/>
              </a:solidFill>
              <a:latin typeface="Arial"/>
            </a:endParaRPr>
          </a:p>
        </p:txBody>
      </p:sp>
      <p:pic>
        <p:nvPicPr>
          <p:cNvPr id="2007" name="Image 0" descr="preencoded.png"/>
          <p:cNvPicPr/>
          <p:nvPr/>
        </p:nvPicPr>
        <p:blipFill>
          <a:blip r:embed="rId3"/>
          <a:stretch/>
        </p:blipFill>
        <p:spPr>
          <a:xfrm>
            <a:off x="8458200" y="4663440"/>
            <a:ext cx="383760" cy="383760"/>
          </a:xfrm>
          <a:prstGeom prst="rect">
            <a:avLst/>
          </a:prstGeom>
          <a:ln w="0">
            <a:noFill/>
          </a:ln>
        </p:spPr>
      </p:pic>
      <p:sp>
        <p:nvSpPr>
          <p:cNvPr id="2008" name="Text 6"/>
          <p:cNvSpPr/>
          <p:nvPr/>
        </p:nvSpPr>
        <p:spPr>
          <a:xfrm>
            <a:off x="457200" y="274320"/>
            <a:ext cx="82292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Traffic groups vs HA groups</a:t>
            </a:r>
            <a:endParaRPr lang="en-US" sz="2800" b="0" strike="noStrike" spc="-1">
              <a:solidFill>
                <a:srgbClr val="000000"/>
              </a:solidFill>
              <a:latin typeface="Arial"/>
            </a:endParaRPr>
          </a:p>
        </p:txBody>
      </p:sp>
      <p:sp>
        <p:nvSpPr>
          <p:cNvPr id="2009" name="Text 7"/>
          <p:cNvSpPr/>
          <p:nvPr/>
        </p:nvSpPr>
        <p:spPr>
          <a:xfrm>
            <a:off x="457200" y="658440"/>
            <a:ext cx="82292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strike="noStrike" spc="-1">
                <a:solidFill>
                  <a:srgbClr val="666666"/>
                </a:solidFill>
                <a:latin typeface="Calibri"/>
                <a:ea typeface="Calibri"/>
              </a:rPr>
              <a:t>Two different mechanisms: traffic groups control WHERE traffic goes, HA groups control WHICH device is preferred</a:t>
            </a:r>
            <a:endParaRPr lang="en-US" sz="1300" b="0" strike="noStrike" spc="-1">
              <a:solidFill>
                <a:srgbClr val="000000"/>
              </a:solidFill>
              <a:latin typeface="Arial"/>
            </a:endParaRPr>
          </a:p>
        </p:txBody>
      </p:sp>
      <p:sp>
        <p:nvSpPr>
          <p:cNvPr id="2010" name="Shape 8"/>
          <p:cNvSpPr/>
          <p:nvPr/>
        </p:nvSpPr>
        <p:spPr>
          <a:xfrm>
            <a:off x="365760" y="1005840"/>
            <a:ext cx="3931560" cy="36540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011" name="Text 9"/>
          <p:cNvSpPr/>
          <p:nvPr/>
        </p:nvSpPr>
        <p:spPr>
          <a:xfrm>
            <a:off x="365760" y="1005840"/>
            <a:ext cx="39315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strike="noStrike" spc="-1">
                <a:solidFill>
                  <a:srgbClr val="FFFFFF"/>
                </a:solidFill>
                <a:latin typeface="Arial"/>
                <a:ea typeface="Arial"/>
              </a:rPr>
              <a:t>Traffic groups</a:t>
            </a:r>
            <a:endParaRPr lang="en-US" sz="1600" b="0" strike="noStrike" spc="-1">
              <a:solidFill>
                <a:srgbClr val="000000"/>
              </a:solidFill>
              <a:latin typeface="Arial"/>
            </a:endParaRPr>
          </a:p>
        </p:txBody>
      </p:sp>
      <p:sp>
        <p:nvSpPr>
          <p:cNvPr id="2012" name="Shape 10"/>
          <p:cNvSpPr/>
          <p:nvPr/>
        </p:nvSpPr>
        <p:spPr>
          <a:xfrm>
            <a:off x="365760" y="1371600"/>
            <a:ext cx="3931560" cy="182844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013" name="Text 11"/>
          <p:cNvSpPr/>
          <p:nvPr/>
        </p:nvSpPr>
        <p:spPr>
          <a:xfrm>
            <a:off x="457200" y="1417320"/>
            <a:ext cx="3748680" cy="1737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r>
              <a:rPr lang="en-US" sz="1000" b="1" strike="noStrike" spc="-1">
                <a:solidFill>
                  <a:srgbClr val="0E41AA"/>
                </a:solidFill>
                <a:latin typeface="Calibri"/>
                <a:ea typeface="Calibri"/>
              </a:rPr>
              <a:t>Purpose: </a:t>
            </a:r>
            <a:r>
              <a:rPr lang="en-US" sz="900" b="0" strike="noStrike" spc="-1">
                <a:solidFill>
                  <a:srgbClr val="333333"/>
                </a:solidFill>
                <a:latin typeface="Calibri"/>
                <a:ea typeface="Calibri"/>
              </a:rPr>
              <a:t>Container for floating objects. Determines which BIG-IP is ACTIVE for a set of traffic.</a:t>
            </a:r>
            <a:endParaRPr lang="en-US" sz="900" b="0" strike="noStrike" spc="-1">
              <a:solidFill>
                <a:srgbClr val="000000"/>
              </a:solidFill>
              <a:latin typeface="Arial"/>
            </a:endParaRPr>
          </a:p>
          <a:p>
            <a:endParaRPr lang="en-US" sz="900" b="0" strike="noStrike" spc="-1">
              <a:solidFill>
                <a:srgbClr val="000000"/>
              </a:solidFill>
              <a:latin typeface="Arial"/>
            </a:endParaRPr>
          </a:p>
          <a:p>
            <a:r>
              <a:rPr lang="en-US" sz="1000" b="1" strike="noStrike" spc="-1">
                <a:solidFill>
                  <a:srgbClr val="333333"/>
                </a:solidFill>
                <a:latin typeface="Calibri"/>
                <a:ea typeface="Calibri"/>
              </a:rPr>
              <a:t>Contains:</a:t>
            </a:r>
            <a:endParaRPr lang="en-US" sz="1000" b="0" strike="noStrike" spc="-1">
              <a:solidFill>
                <a:srgbClr val="000000"/>
              </a:solidFill>
              <a:latin typeface="Arial"/>
            </a:endParaRPr>
          </a:p>
          <a:p>
            <a:r>
              <a:rPr lang="en-US" sz="900" b="0" strike="noStrike" spc="-1">
                <a:solidFill>
                  <a:srgbClr val="333333"/>
                </a:solidFill>
                <a:latin typeface="Calibri"/>
                <a:ea typeface="Calibri"/>
              </a:rPr>
              <a:t>• Virtual addresses (NOT virtual servers)</a:t>
            </a:r>
            <a:endParaRPr lang="en-US" sz="900" b="0" strike="noStrike" spc="-1">
              <a:solidFill>
                <a:srgbClr val="000000"/>
              </a:solidFill>
              <a:latin typeface="Arial"/>
            </a:endParaRPr>
          </a:p>
          <a:p>
            <a:r>
              <a:rPr lang="en-US" sz="900" b="0" strike="noStrike" spc="-1">
                <a:solidFill>
                  <a:srgbClr val="333333"/>
                </a:solidFill>
                <a:latin typeface="Calibri"/>
                <a:ea typeface="Calibri"/>
              </a:rPr>
              <a:t>• Floating self IPs (server gateway)</a:t>
            </a:r>
            <a:endParaRPr lang="en-US" sz="900" b="0" strike="noStrike" spc="-1">
              <a:solidFill>
                <a:srgbClr val="000000"/>
              </a:solidFill>
              <a:latin typeface="Arial"/>
            </a:endParaRPr>
          </a:p>
          <a:p>
            <a:r>
              <a:rPr lang="en-US" sz="900" b="0" strike="noStrike" spc="-1">
                <a:solidFill>
                  <a:srgbClr val="333333"/>
                </a:solidFill>
                <a:latin typeface="Calibri"/>
                <a:ea typeface="Calibri"/>
              </a:rPr>
              <a:t>• SNAT translation addresses</a:t>
            </a:r>
            <a:endParaRPr lang="en-US" sz="900" b="0" strike="noStrike" spc="-1">
              <a:solidFill>
                <a:srgbClr val="000000"/>
              </a:solidFill>
              <a:latin typeface="Arial"/>
            </a:endParaRPr>
          </a:p>
          <a:p>
            <a:endParaRPr lang="en-US" sz="900" b="0" strike="noStrike" spc="-1">
              <a:solidFill>
                <a:srgbClr val="000000"/>
              </a:solidFill>
              <a:latin typeface="Arial"/>
            </a:endParaRPr>
          </a:p>
          <a:p>
            <a:r>
              <a:rPr lang="en-US" sz="900" b="1" strike="noStrike" spc="-1">
                <a:solidFill>
                  <a:srgbClr val="0E41AA"/>
                </a:solidFill>
                <a:latin typeface="Calibri"/>
                <a:ea typeface="Calibri"/>
              </a:rPr>
              <a:t>Active/Standby: </a:t>
            </a:r>
            <a:r>
              <a:rPr lang="en-US" sz="900" b="0" strike="noStrike" spc="-1">
                <a:solidFill>
                  <a:srgbClr val="333333"/>
                </a:solidFill>
                <a:latin typeface="Calibri"/>
                <a:ea typeface="Calibri"/>
              </a:rPr>
              <a:t>one TG, one active device.</a:t>
            </a:r>
            <a:endParaRPr lang="en-US" sz="900" b="0" strike="noStrike" spc="-1">
              <a:solidFill>
                <a:srgbClr val="000000"/>
              </a:solidFill>
              <a:latin typeface="Arial"/>
            </a:endParaRPr>
          </a:p>
          <a:p>
            <a:r>
              <a:rPr lang="en-US" sz="900" b="1" strike="noStrike" spc="-1">
                <a:solidFill>
                  <a:srgbClr val="61228B"/>
                </a:solidFill>
                <a:latin typeface="Calibri"/>
                <a:ea typeface="Calibri"/>
              </a:rPr>
              <a:t>Active/Active: </a:t>
            </a:r>
            <a:r>
              <a:rPr lang="en-US" sz="900" b="0" strike="noStrike" spc="-1">
                <a:solidFill>
                  <a:srgbClr val="333333"/>
                </a:solidFill>
                <a:latin typeface="Calibri"/>
                <a:ea typeface="Calibri"/>
              </a:rPr>
              <a:t>multiple TGs on different devices.</a:t>
            </a:r>
            <a:endParaRPr lang="en-US" sz="900" b="0" strike="noStrike" spc="-1">
              <a:solidFill>
                <a:srgbClr val="000000"/>
              </a:solidFill>
              <a:latin typeface="Arial"/>
            </a:endParaRPr>
          </a:p>
          <a:p>
            <a:pPr defTabSz="914400">
              <a:lnSpc>
                <a:spcPct val="100000"/>
              </a:lnSpc>
              <a:tabLst>
                <a:tab pos="0" algn="l"/>
              </a:tabLst>
            </a:pPr>
            <a:r>
              <a:rPr lang="en-US" sz="900" b="1" strike="noStrike" spc="-1">
                <a:solidFill>
                  <a:srgbClr val="E4002B"/>
                </a:solidFill>
                <a:latin typeface="Calibri"/>
                <a:ea typeface="Calibri"/>
              </a:rPr>
              <a:t>Rule: </a:t>
            </a:r>
            <a:r>
              <a:rPr lang="en-US" sz="900" b="0" strike="noStrike" spc="-1">
                <a:solidFill>
                  <a:srgbClr val="E4002B"/>
                </a:solidFill>
                <a:latin typeface="Calibri"/>
                <a:ea typeface="Calibri"/>
              </a:rPr>
              <a:t>All objects for one app in SAME TG.</a:t>
            </a:r>
            <a:endParaRPr lang="en-US" sz="900" b="0" strike="noStrike" spc="-1">
              <a:solidFill>
                <a:srgbClr val="000000"/>
              </a:solidFill>
              <a:latin typeface="Arial"/>
            </a:endParaRPr>
          </a:p>
        </p:txBody>
      </p:sp>
      <p:sp>
        <p:nvSpPr>
          <p:cNvPr id="2014" name="Shape 12"/>
          <p:cNvSpPr/>
          <p:nvPr/>
        </p:nvSpPr>
        <p:spPr>
          <a:xfrm>
            <a:off x="4846320" y="1005840"/>
            <a:ext cx="3931560" cy="36540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015" name="Text 13"/>
          <p:cNvSpPr/>
          <p:nvPr/>
        </p:nvSpPr>
        <p:spPr>
          <a:xfrm>
            <a:off x="4846320" y="1005840"/>
            <a:ext cx="39315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strike="noStrike" spc="-1">
                <a:solidFill>
                  <a:srgbClr val="FFFFFF"/>
                </a:solidFill>
                <a:latin typeface="Arial"/>
                <a:ea typeface="Arial"/>
              </a:rPr>
              <a:t>HA groups</a:t>
            </a:r>
            <a:endParaRPr lang="en-US" sz="1600" b="0" strike="noStrike" spc="-1">
              <a:solidFill>
                <a:srgbClr val="000000"/>
              </a:solidFill>
              <a:latin typeface="Arial"/>
            </a:endParaRPr>
          </a:p>
        </p:txBody>
      </p:sp>
      <p:sp>
        <p:nvSpPr>
          <p:cNvPr id="2016" name="Shape 14"/>
          <p:cNvSpPr/>
          <p:nvPr/>
        </p:nvSpPr>
        <p:spPr>
          <a:xfrm>
            <a:off x="4846320" y="1371600"/>
            <a:ext cx="3931560" cy="182844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017" name="Text 15"/>
          <p:cNvSpPr/>
          <p:nvPr/>
        </p:nvSpPr>
        <p:spPr>
          <a:xfrm>
            <a:off x="4937760" y="1417320"/>
            <a:ext cx="3748680" cy="1737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r>
              <a:rPr lang="en-US" sz="1000" b="1" strike="noStrike" spc="-1">
                <a:solidFill>
                  <a:srgbClr val="F29A36"/>
                </a:solidFill>
                <a:latin typeface="Calibri"/>
                <a:ea typeface="Calibri"/>
              </a:rPr>
              <a:t>Purpose: </a:t>
            </a:r>
            <a:r>
              <a:rPr lang="en-US" sz="900" b="0" strike="noStrike" spc="-1">
                <a:solidFill>
                  <a:srgbClr val="333333"/>
                </a:solidFill>
                <a:latin typeface="Calibri"/>
                <a:ea typeface="Calibri"/>
              </a:rPr>
              <a:t>Scoring system that determines which device SHOULD be active based on health.</a:t>
            </a:r>
            <a:endParaRPr lang="en-US" sz="900" b="0" strike="noStrike" spc="-1">
              <a:solidFill>
                <a:srgbClr val="000000"/>
              </a:solidFill>
              <a:latin typeface="Arial"/>
            </a:endParaRPr>
          </a:p>
          <a:p>
            <a:endParaRPr lang="en-US" sz="900" b="0" strike="noStrike" spc="-1">
              <a:solidFill>
                <a:srgbClr val="000000"/>
              </a:solidFill>
              <a:latin typeface="Arial"/>
            </a:endParaRPr>
          </a:p>
          <a:p>
            <a:r>
              <a:rPr lang="en-US" sz="1000" b="1" strike="noStrike" spc="-1">
                <a:solidFill>
                  <a:srgbClr val="333333"/>
                </a:solidFill>
                <a:latin typeface="Calibri"/>
                <a:ea typeface="Calibri"/>
              </a:rPr>
              <a:t>Health score based on:</a:t>
            </a:r>
            <a:endParaRPr lang="en-US" sz="1000" b="0" strike="noStrike" spc="-1">
              <a:solidFill>
                <a:srgbClr val="000000"/>
              </a:solidFill>
              <a:latin typeface="Arial"/>
            </a:endParaRPr>
          </a:p>
          <a:p>
            <a:r>
              <a:rPr lang="en-US" sz="900" b="0" strike="noStrike" spc="-1">
                <a:solidFill>
                  <a:srgbClr val="333333"/>
                </a:solidFill>
                <a:latin typeface="Calibri"/>
                <a:ea typeface="Calibri"/>
              </a:rPr>
              <a:t>• Pools (weight per pool based on available members)</a:t>
            </a:r>
            <a:endParaRPr lang="en-US" sz="900" b="0" strike="noStrike" spc="-1">
              <a:solidFill>
                <a:srgbClr val="000000"/>
              </a:solidFill>
              <a:latin typeface="Arial"/>
            </a:endParaRPr>
          </a:p>
          <a:p>
            <a:r>
              <a:rPr lang="en-US" sz="900" b="0" strike="noStrike" spc="-1">
                <a:solidFill>
                  <a:srgbClr val="333333"/>
                </a:solidFill>
                <a:latin typeface="Calibri"/>
                <a:ea typeface="Calibri"/>
              </a:rPr>
              <a:t>• Trunks (weight per trunk based on active links)</a:t>
            </a:r>
            <a:endParaRPr lang="en-US" sz="900" b="0" strike="noStrike" spc="-1">
              <a:solidFill>
                <a:srgbClr val="000000"/>
              </a:solidFill>
              <a:latin typeface="Arial"/>
            </a:endParaRPr>
          </a:p>
          <a:p>
            <a:r>
              <a:rPr lang="en-US" sz="900" b="0" strike="noStrike" spc="-1">
                <a:solidFill>
                  <a:srgbClr val="333333"/>
                </a:solidFill>
                <a:latin typeface="Calibri"/>
                <a:ea typeface="Calibri"/>
              </a:rPr>
              <a:t>• VLANs (weight per VLAN based on link status)</a:t>
            </a:r>
            <a:endParaRPr lang="en-US" sz="900" b="0" strike="noStrike" spc="-1">
              <a:solidFill>
                <a:srgbClr val="000000"/>
              </a:solidFill>
              <a:latin typeface="Arial"/>
            </a:endParaRPr>
          </a:p>
          <a:p>
            <a:endParaRPr lang="en-US" sz="900" b="0" strike="noStrike" spc="-1">
              <a:solidFill>
                <a:srgbClr val="000000"/>
              </a:solidFill>
              <a:latin typeface="Arial"/>
            </a:endParaRPr>
          </a:p>
          <a:p>
            <a:r>
              <a:rPr lang="en-US" sz="900" b="1" strike="noStrike" spc="-1">
                <a:solidFill>
                  <a:srgbClr val="F29A36"/>
                </a:solidFill>
                <a:latin typeface="Calibri"/>
                <a:ea typeface="Calibri"/>
              </a:rPr>
              <a:t>How it works: </a:t>
            </a:r>
            <a:r>
              <a:rPr lang="en-US" sz="900" b="0" strike="noStrike" spc="-1">
                <a:solidFill>
                  <a:srgbClr val="333333"/>
                </a:solidFill>
                <a:latin typeface="Calibri"/>
                <a:ea typeface="Calibri"/>
              </a:rPr>
              <a:t>Each device calculates a score. If active device's score drops below standby's score → failover.</a:t>
            </a:r>
            <a:endParaRPr lang="en-US" sz="900" b="0" strike="noStrike" spc="-1">
              <a:solidFill>
                <a:srgbClr val="000000"/>
              </a:solidFill>
              <a:latin typeface="Arial"/>
            </a:endParaRPr>
          </a:p>
          <a:p>
            <a:endParaRPr lang="en-US" sz="900" b="0" strike="noStrike" spc="-1">
              <a:solidFill>
                <a:srgbClr val="000000"/>
              </a:solidFill>
              <a:latin typeface="Arial"/>
            </a:endParaRPr>
          </a:p>
          <a:p>
            <a:pPr defTabSz="914400">
              <a:lnSpc>
                <a:spcPct val="100000"/>
              </a:lnSpc>
              <a:tabLst>
                <a:tab pos="0" algn="l"/>
              </a:tabLst>
            </a:pPr>
            <a:r>
              <a:rPr lang="en-US" sz="900" b="1" strike="noStrike" spc="-1">
                <a:solidFill>
                  <a:srgbClr val="009639"/>
                </a:solidFill>
                <a:latin typeface="Calibri"/>
                <a:ea typeface="Calibri"/>
              </a:rPr>
              <a:t>Use case: </a:t>
            </a:r>
            <a:r>
              <a:rPr lang="en-US" sz="900" b="0" strike="noStrike" spc="-1">
                <a:solidFill>
                  <a:srgbClr val="333333"/>
                </a:solidFill>
                <a:latin typeface="Calibri"/>
                <a:ea typeface="Calibri"/>
              </a:rPr>
              <a:t>Ensure the healthier device is always active.</a:t>
            </a:r>
            <a:endParaRPr lang="en-US" sz="900" b="0" strike="noStrike" spc="-1">
              <a:solidFill>
                <a:srgbClr val="000000"/>
              </a:solidFill>
              <a:latin typeface="Arial"/>
            </a:endParaRPr>
          </a:p>
        </p:txBody>
      </p:sp>
      <p:sp>
        <p:nvSpPr>
          <p:cNvPr id="2018" name="Text 16"/>
          <p:cNvSpPr/>
          <p:nvPr/>
        </p:nvSpPr>
        <p:spPr>
          <a:xfrm>
            <a:off x="457200" y="3383280"/>
            <a:ext cx="45716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009639"/>
                </a:solidFill>
                <a:latin typeface="Arial"/>
                <a:ea typeface="Arial"/>
              </a:rPr>
              <a:t>Head-to-head comparison</a:t>
            </a:r>
            <a:endParaRPr lang="en-US" sz="1400" b="0" strike="noStrike" spc="-1">
              <a:solidFill>
                <a:srgbClr val="000000"/>
              </a:solidFill>
              <a:latin typeface="Arial"/>
            </a:endParaRPr>
          </a:p>
        </p:txBody>
      </p:sp>
      <p:graphicFrame>
        <p:nvGraphicFramePr>
          <p:cNvPr id="2019" name="Table 0"/>
          <p:cNvGraphicFramePr/>
          <p:nvPr/>
        </p:nvGraphicFramePr>
        <p:xfrm>
          <a:off x="365760" y="3611880"/>
          <a:ext cx="8412480" cy="914400"/>
        </p:xfrm>
        <a:graphic>
          <a:graphicData uri="http://schemas.openxmlformats.org/drawingml/2006/table">
            <a:tbl>
              <a:tblPr/>
              <a:tblGrid>
                <a:gridCol w="118872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gridCol w="3840480">
                  <a:extLst>
                    <a:ext uri="{9D8B030D-6E8A-4147-A177-3AD203B41FA5}">
                      <a16:colId xmlns:a16="http://schemas.microsoft.com/office/drawing/2014/main" val="20002"/>
                    </a:ext>
                  </a:extLst>
                </a:gridCol>
              </a:tblGrid>
              <a:tr h="0">
                <a:tc>
                  <a:txBody>
                    <a:bodyPr/>
                    <a:lstStyle/>
                    <a:p>
                      <a:pPr defTabSz="914400">
                        <a:lnSpc>
                          <a:spcPct val="100000"/>
                        </a:lnSpc>
                        <a:tabLst>
                          <a:tab pos="0" algn="l"/>
                        </a:tabLst>
                      </a:pPr>
                      <a:endParaRPr lang="en-US" sz="900" b="0" strike="noStrike" spc="-1">
                        <a:solidFill>
                          <a:schemeClr val="dk1"/>
                        </a:solidFill>
                        <a:latin typeface="Calibri"/>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09639"/>
                    </a:solidFill>
                  </a:tcPr>
                </a:tc>
                <a:tc>
                  <a:txBody>
                    <a:bodyPr/>
                    <a:lstStyle/>
                    <a:p>
                      <a:pPr defTabSz="914400">
                        <a:lnSpc>
                          <a:spcPct val="100000"/>
                        </a:lnSpc>
                        <a:tabLst>
                          <a:tab pos="0" algn="l"/>
                        </a:tabLst>
                      </a:pPr>
                      <a:r>
                        <a:rPr lang="en-US" sz="900" b="1" strike="noStrike" spc="-1">
                          <a:solidFill>
                            <a:srgbClr val="FFFFFF"/>
                          </a:solidFill>
                          <a:latin typeface="Calibri"/>
                        </a:rPr>
                        <a:t>Traffic group</a:t>
                      </a:r>
                      <a:endParaRPr lang="en-US" sz="9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09639"/>
                    </a:solidFill>
                  </a:tcPr>
                </a:tc>
                <a:tc>
                  <a:txBody>
                    <a:bodyPr/>
                    <a:lstStyle/>
                    <a:p>
                      <a:pPr defTabSz="914400">
                        <a:lnSpc>
                          <a:spcPct val="100000"/>
                        </a:lnSpc>
                        <a:tabLst>
                          <a:tab pos="0" algn="l"/>
                        </a:tabLst>
                      </a:pPr>
                      <a:r>
                        <a:rPr lang="en-US" sz="900" b="1" strike="noStrike" spc="-1">
                          <a:solidFill>
                            <a:srgbClr val="FFFFFF"/>
                          </a:solidFill>
                          <a:latin typeface="Calibri"/>
                        </a:rPr>
                        <a:t>HA group</a:t>
                      </a:r>
                      <a:endParaRPr lang="en-US" sz="9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09639"/>
                    </a:solidFill>
                  </a:tcPr>
                </a:tc>
                <a:extLst>
                  <a:ext uri="{0D108BD9-81ED-4DB2-BD59-A6C34878D82A}">
                    <a16:rowId xmlns:a16="http://schemas.microsoft.com/office/drawing/2014/main" val="10000"/>
                  </a:ext>
                </a:extLst>
              </a:tr>
              <a:tr h="0">
                <a:tc>
                  <a:txBody>
                    <a:bodyPr/>
                    <a:lstStyle/>
                    <a:p>
                      <a:pPr defTabSz="914400">
                        <a:lnSpc>
                          <a:spcPct val="100000"/>
                        </a:lnSpc>
                        <a:tabLst>
                          <a:tab pos="0" algn="l"/>
                        </a:tabLst>
                      </a:pPr>
                      <a:r>
                        <a:rPr lang="en-US" sz="900" b="1" strike="noStrike" spc="-1">
                          <a:solidFill>
                            <a:srgbClr val="000000"/>
                          </a:solidFill>
                          <a:latin typeface="Calibri"/>
                        </a:rPr>
                        <a:t>Controls</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Which device is active for specific traffic</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Which device SHOULD be active based on health</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1"/>
                  </a:ext>
                </a:extLst>
              </a:tr>
              <a:tr h="0">
                <a:tc>
                  <a:txBody>
                    <a:bodyPr/>
                    <a:lstStyle/>
                    <a:p>
                      <a:pPr defTabSz="914400">
                        <a:lnSpc>
                          <a:spcPct val="100000"/>
                        </a:lnSpc>
                        <a:tabLst>
                          <a:tab pos="0" algn="l"/>
                        </a:tabLst>
                      </a:pPr>
                      <a:r>
                        <a:rPr lang="en-US" sz="900" b="1" strike="noStrike" spc="-1">
                          <a:solidFill>
                            <a:srgbClr val="000000"/>
                          </a:solidFill>
                          <a:latin typeface="Calibri"/>
                        </a:rPr>
                        <a:t>Contains</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Floating objects (VIPs, self IPs, SNATs)</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Health scores (pools, trunks, VLANs with weights)</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2"/>
                  </a:ext>
                </a:extLst>
              </a:tr>
              <a:tr h="0">
                <a:tc>
                  <a:txBody>
                    <a:bodyPr/>
                    <a:lstStyle/>
                    <a:p>
                      <a:pPr defTabSz="914400">
                        <a:lnSpc>
                          <a:spcPct val="100000"/>
                        </a:lnSpc>
                        <a:tabLst>
                          <a:tab pos="0" algn="l"/>
                        </a:tabLst>
                      </a:pPr>
                      <a:r>
                        <a:rPr lang="en-US" sz="900" b="1" strike="noStrike" spc="-1">
                          <a:solidFill>
                            <a:srgbClr val="000000"/>
                          </a:solidFill>
                          <a:latin typeface="Calibri"/>
                        </a:rPr>
                        <a:t>Triggers failover?</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No — moved by failover, doesn't cause it</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E4002B"/>
                          </a:solidFill>
                          <a:latin typeface="Calibri"/>
                        </a:rPr>
                        <a:t>Yes — score drop below peer triggers failover</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20"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021"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022"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023"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024"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025" name="Text 5"/>
          <p:cNvSpPr/>
          <p:nvPr/>
        </p:nvSpPr>
        <p:spPr>
          <a:xfrm>
            <a:off x="365760" y="47088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91    © 2026 F5</a:t>
            </a:r>
            <a:endParaRPr lang="en-US" sz="800" b="0" strike="noStrike" spc="-1">
              <a:solidFill>
                <a:srgbClr val="000000"/>
              </a:solidFill>
              <a:latin typeface="Arial"/>
            </a:endParaRPr>
          </a:p>
        </p:txBody>
      </p:sp>
      <p:pic>
        <p:nvPicPr>
          <p:cNvPr id="2026" name="Image 0" descr="preencoded.png"/>
          <p:cNvPicPr/>
          <p:nvPr/>
        </p:nvPicPr>
        <p:blipFill>
          <a:blip r:embed="rId3"/>
          <a:stretch/>
        </p:blipFill>
        <p:spPr>
          <a:xfrm>
            <a:off x="8458200" y="4571640"/>
            <a:ext cx="383760" cy="383760"/>
          </a:xfrm>
          <a:prstGeom prst="rect">
            <a:avLst/>
          </a:prstGeom>
          <a:ln w="0">
            <a:noFill/>
          </a:ln>
        </p:spPr>
      </p:pic>
      <p:sp>
        <p:nvSpPr>
          <p:cNvPr id="2027" name="Text 6"/>
          <p:cNvSpPr/>
          <p:nvPr/>
        </p:nvSpPr>
        <p:spPr>
          <a:xfrm>
            <a:off x="457200" y="274320"/>
            <a:ext cx="82292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HA groups and failsafe</a:t>
            </a:r>
            <a:endParaRPr lang="en-US" sz="2800" b="0" strike="noStrike" spc="-1">
              <a:solidFill>
                <a:srgbClr val="000000"/>
              </a:solidFill>
              <a:latin typeface="Arial"/>
            </a:endParaRPr>
          </a:p>
        </p:txBody>
      </p:sp>
      <p:sp>
        <p:nvSpPr>
          <p:cNvPr id="2028" name="Text 7"/>
          <p:cNvSpPr/>
          <p:nvPr/>
        </p:nvSpPr>
        <p:spPr>
          <a:xfrm>
            <a:off x="457200" y="658440"/>
            <a:ext cx="82292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strike="noStrike" spc="-1">
                <a:solidFill>
                  <a:srgbClr val="666666"/>
                </a:solidFill>
                <a:latin typeface="Calibri"/>
                <a:ea typeface="Calibri"/>
              </a:rPr>
              <a:t>Two mechanisms that trigger failover based on device health — not just heartbeat loss</a:t>
            </a:r>
            <a:endParaRPr lang="en-US" sz="1300" b="0" strike="noStrike" spc="-1">
              <a:solidFill>
                <a:srgbClr val="000000"/>
              </a:solidFill>
              <a:latin typeface="Arial"/>
            </a:endParaRPr>
          </a:p>
        </p:txBody>
      </p:sp>
      <p:sp>
        <p:nvSpPr>
          <p:cNvPr id="2029" name="Shape 8"/>
          <p:cNvSpPr/>
          <p:nvPr/>
        </p:nvSpPr>
        <p:spPr>
          <a:xfrm>
            <a:off x="365760" y="1005840"/>
            <a:ext cx="3931560" cy="31968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030" name="Text 9"/>
          <p:cNvSpPr/>
          <p:nvPr/>
        </p:nvSpPr>
        <p:spPr>
          <a:xfrm>
            <a:off x="365760" y="1005840"/>
            <a:ext cx="39315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FFFFFF"/>
                </a:solidFill>
                <a:latin typeface="Arial"/>
                <a:ea typeface="Arial"/>
              </a:rPr>
              <a:t>HA group scoring</a:t>
            </a:r>
            <a:endParaRPr lang="en-US" sz="1400" b="0" strike="noStrike" spc="-1">
              <a:solidFill>
                <a:srgbClr val="000000"/>
              </a:solidFill>
              <a:latin typeface="Arial"/>
            </a:endParaRPr>
          </a:p>
        </p:txBody>
      </p:sp>
      <p:sp>
        <p:nvSpPr>
          <p:cNvPr id="2031" name="Shape 10"/>
          <p:cNvSpPr/>
          <p:nvPr/>
        </p:nvSpPr>
        <p:spPr>
          <a:xfrm>
            <a:off x="365760" y="1325880"/>
            <a:ext cx="3931560" cy="237708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032" name="Text 11"/>
          <p:cNvSpPr/>
          <p:nvPr/>
        </p:nvSpPr>
        <p:spPr>
          <a:xfrm>
            <a:off x="457200" y="1371600"/>
            <a:ext cx="3748680" cy="228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r>
              <a:rPr lang="en-US" sz="1000" b="1" strike="noStrike" spc="-1">
                <a:solidFill>
                  <a:srgbClr val="F29A36"/>
                </a:solidFill>
                <a:latin typeface="Calibri"/>
                <a:ea typeface="Calibri"/>
              </a:rPr>
              <a:t>Each device calculates a health score:</a:t>
            </a:r>
            <a:endParaRPr lang="en-US" sz="1000" b="0" strike="noStrike" spc="-1">
              <a:solidFill>
                <a:srgbClr val="000000"/>
              </a:solidFill>
              <a:latin typeface="Arial"/>
            </a:endParaRPr>
          </a:p>
          <a:p>
            <a:endParaRPr lang="en-US" sz="1000" b="0" strike="noStrike" spc="-1">
              <a:solidFill>
                <a:srgbClr val="000000"/>
              </a:solidFill>
              <a:latin typeface="Arial"/>
            </a:endParaRPr>
          </a:p>
          <a:p>
            <a:r>
              <a:rPr lang="en-US" sz="900" b="0" strike="noStrike" spc="-1">
                <a:solidFill>
                  <a:srgbClr val="333333"/>
                </a:solidFill>
                <a:latin typeface="Courier New"/>
                <a:ea typeface="Courier New"/>
              </a:rPr>
              <a:t>Score = Σ (available/total × weight) per object</a:t>
            </a:r>
            <a:endParaRPr lang="en-US" sz="900" b="0" strike="noStrike" spc="-1">
              <a:solidFill>
                <a:srgbClr val="000000"/>
              </a:solidFill>
              <a:latin typeface="Arial"/>
            </a:endParaRPr>
          </a:p>
          <a:p>
            <a:endParaRPr lang="en-US" sz="900" b="0" strike="noStrike" spc="-1">
              <a:solidFill>
                <a:srgbClr val="000000"/>
              </a:solidFill>
              <a:latin typeface="Arial"/>
            </a:endParaRPr>
          </a:p>
          <a:p>
            <a:r>
              <a:rPr lang="en-US" sz="1000" b="1" strike="noStrike" spc="-1">
                <a:solidFill>
                  <a:srgbClr val="333333"/>
                </a:solidFill>
                <a:latin typeface="Calibri"/>
                <a:ea typeface="Calibri"/>
              </a:rPr>
              <a:t>Scored objects and weights:</a:t>
            </a:r>
            <a:endParaRPr lang="en-US" sz="1000" b="0" strike="noStrike" spc="-1">
              <a:solidFill>
                <a:srgbClr val="000000"/>
              </a:solidFill>
              <a:latin typeface="Arial"/>
            </a:endParaRPr>
          </a:p>
          <a:p>
            <a:r>
              <a:rPr lang="en-US" sz="900" b="0" strike="noStrike" spc="-1">
                <a:solidFill>
                  <a:srgbClr val="333333"/>
                </a:solidFill>
                <a:latin typeface="Calibri"/>
                <a:ea typeface="Calibri"/>
              </a:rPr>
              <a:t>• Pools: available members / total members × weight</a:t>
            </a:r>
            <a:endParaRPr lang="en-US" sz="900" b="0" strike="noStrike" spc="-1">
              <a:solidFill>
                <a:srgbClr val="000000"/>
              </a:solidFill>
              <a:latin typeface="Arial"/>
            </a:endParaRPr>
          </a:p>
          <a:p>
            <a:r>
              <a:rPr lang="en-US" sz="900" b="0" strike="noStrike" spc="-1">
                <a:solidFill>
                  <a:srgbClr val="333333"/>
                </a:solidFill>
                <a:latin typeface="Calibri"/>
                <a:ea typeface="Calibri"/>
              </a:rPr>
              <a:t>• Trunks: active links / total links × weight</a:t>
            </a:r>
            <a:endParaRPr lang="en-US" sz="900" b="0" strike="noStrike" spc="-1">
              <a:solidFill>
                <a:srgbClr val="000000"/>
              </a:solidFill>
              <a:latin typeface="Arial"/>
            </a:endParaRPr>
          </a:p>
          <a:p>
            <a:r>
              <a:rPr lang="en-US" sz="900" b="0" strike="noStrike" spc="-1">
                <a:solidFill>
                  <a:srgbClr val="333333"/>
                </a:solidFill>
                <a:latin typeface="Calibri"/>
                <a:ea typeface="Calibri"/>
              </a:rPr>
              <a:t>• VLANs: link up/down × weight</a:t>
            </a:r>
            <a:endParaRPr lang="en-US" sz="900" b="0" strike="noStrike" spc="-1">
              <a:solidFill>
                <a:srgbClr val="000000"/>
              </a:solidFill>
              <a:latin typeface="Arial"/>
            </a:endParaRPr>
          </a:p>
          <a:p>
            <a:endParaRPr lang="en-US" sz="900" b="0" strike="noStrike" spc="-1">
              <a:solidFill>
                <a:srgbClr val="000000"/>
              </a:solidFill>
              <a:latin typeface="Arial"/>
            </a:endParaRPr>
          </a:p>
          <a:p>
            <a:r>
              <a:rPr lang="en-US" sz="1000" b="1" strike="noStrike" spc="-1">
                <a:solidFill>
                  <a:srgbClr val="61228B"/>
                </a:solidFill>
                <a:latin typeface="Calibri"/>
                <a:ea typeface="Calibri"/>
              </a:rPr>
              <a:t>Example:</a:t>
            </a:r>
            <a:endParaRPr lang="en-US" sz="1000" b="0" strike="noStrike" spc="-1">
              <a:solidFill>
                <a:srgbClr val="000000"/>
              </a:solidFill>
              <a:latin typeface="Arial"/>
            </a:endParaRPr>
          </a:p>
          <a:p>
            <a:r>
              <a:rPr lang="en-US" sz="800" b="0" strike="noStrike" spc="-1">
                <a:solidFill>
                  <a:srgbClr val="333333"/>
                </a:solidFill>
                <a:latin typeface="Courier New"/>
                <a:ea typeface="Courier New"/>
              </a:rPr>
              <a:t>www_pool weight=100: 3/3 up = 100 pts</a:t>
            </a:r>
            <a:endParaRPr lang="en-US" sz="800" b="0" strike="noStrike" spc="-1">
              <a:solidFill>
                <a:srgbClr val="000000"/>
              </a:solidFill>
              <a:latin typeface="Arial"/>
            </a:endParaRPr>
          </a:p>
          <a:p>
            <a:r>
              <a:rPr lang="en-US" sz="800" b="0" strike="noStrike" spc="-1">
                <a:solidFill>
                  <a:srgbClr val="333333"/>
                </a:solidFill>
                <a:latin typeface="Courier New"/>
                <a:ea typeface="Courier New"/>
              </a:rPr>
              <a:t>trunk1 weight=50: 2/2 links = 50 pts</a:t>
            </a:r>
            <a:endParaRPr lang="en-US" sz="800" b="0" strike="noStrike" spc="-1">
              <a:solidFill>
                <a:srgbClr val="000000"/>
              </a:solidFill>
              <a:latin typeface="Arial"/>
            </a:endParaRPr>
          </a:p>
          <a:p>
            <a:r>
              <a:rPr lang="en-US" sz="800" b="0" strike="noStrike" spc="-1">
                <a:solidFill>
                  <a:srgbClr val="333333"/>
                </a:solidFill>
                <a:latin typeface="Courier New"/>
                <a:ea typeface="Courier New"/>
              </a:rPr>
              <a:t>Total score = 150</a:t>
            </a:r>
            <a:endParaRPr lang="en-US" sz="800" b="0" strike="noStrike" spc="-1">
              <a:solidFill>
                <a:srgbClr val="000000"/>
              </a:solidFill>
              <a:latin typeface="Arial"/>
            </a:endParaRPr>
          </a:p>
          <a:p>
            <a:endParaRPr lang="en-US" sz="800" b="0" strike="noStrike" spc="-1">
              <a:solidFill>
                <a:srgbClr val="000000"/>
              </a:solidFill>
              <a:latin typeface="Arial"/>
            </a:endParaRPr>
          </a:p>
          <a:p>
            <a:r>
              <a:rPr lang="en-US" sz="800" b="0" strike="noStrike" spc="-1">
                <a:solidFill>
                  <a:srgbClr val="E4002B"/>
                </a:solidFill>
                <a:latin typeface="Courier New"/>
                <a:ea typeface="Courier New"/>
              </a:rPr>
              <a:t>Pool member fails → 2/3 = 67 pts</a:t>
            </a:r>
            <a:endParaRPr lang="en-US" sz="800" b="0" strike="noStrike" spc="-1">
              <a:solidFill>
                <a:srgbClr val="000000"/>
              </a:solidFill>
              <a:latin typeface="Arial"/>
            </a:endParaRPr>
          </a:p>
          <a:p>
            <a:r>
              <a:rPr lang="en-US" sz="800" b="0" strike="noStrike" spc="-1">
                <a:solidFill>
                  <a:srgbClr val="E4002B"/>
                </a:solidFill>
                <a:latin typeface="Courier New"/>
                <a:ea typeface="Courier New"/>
              </a:rPr>
              <a:t>New score = 117. Peer score = 150.</a:t>
            </a:r>
            <a:endParaRPr lang="en-US" sz="800" b="0" strike="noStrike" spc="-1">
              <a:solidFill>
                <a:srgbClr val="000000"/>
              </a:solidFill>
              <a:latin typeface="Arial"/>
            </a:endParaRPr>
          </a:p>
          <a:p>
            <a:pPr defTabSz="914400">
              <a:lnSpc>
                <a:spcPct val="100000"/>
              </a:lnSpc>
              <a:tabLst>
                <a:tab pos="0" algn="l"/>
              </a:tabLst>
            </a:pPr>
            <a:r>
              <a:rPr lang="en-US" sz="900" b="1" strike="noStrike" spc="-1">
                <a:solidFill>
                  <a:srgbClr val="E4002B"/>
                </a:solidFill>
                <a:latin typeface="Calibri"/>
                <a:ea typeface="Calibri"/>
              </a:rPr>
              <a:t>150 &gt; 117 → failover to healthier device</a:t>
            </a:r>
            <a:endParaRPr lang="en-US" sz="900" b="0" strike="noStrike" spc="-1">
              <a:solidFill>
                <a:srgbClr val="000000"/>
              </a:solidFill>
              <a:latin typeface="Arial"/>
            </a:endParaRPr>
          </a:p>
        </p:txBody>
      </p:sp>
      <p:sp>
        <p:nvSpPr>
          <p:cNvPr id="2033" name="Shape 12"/>
          <p:cNvSpPr/>
          <p:nvPr/>
        </p:nvSpPr>
        <p:spPr>
          <a:xfrm>
            <a:off x="4846320" y="1005840"/>
            <a:ext cx="3931560" cy="31968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034" name="Text 13"/>
          <p:cNvSpPr/>
          <p:nvPr/>
        </p:nvSpPr>
        <p:spPr>
          <a:xfrm>
            <a:off x="4846320" y="1005840"/>
            <a:ext cx="39315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FFFFFF"/>
                </a:solidFill>
                <a:latin typeface="Arial"/>
                <a:ea typeface="Arial"/>
              </a:rPr>
              <a:t>Failsafe mechanisms</a:t>
            </a:r>
            <a:endParaRPr lang="en-US" sz="1400" b="0" strike="noStrike" spc="-1">
              <a:solidFill>
                <a:srgbClr val="000000"/>
              </a:solidFill>
              <a:latin typeface="Arial"/>
            </a:endParaRPr>
          </a:p>
        </p:txBody>
      </p:sp>
      <p:sp>
        <p:nvSpPr>
          <p:cNvPr id="2035" name="Shape 14"/>
          <p:cNvSpPr/>
          <p:nvPr/>
        </p:nvSpPr>
        <p:spPr>
          <a:xfrm>
            <a:off x="4846320" y="1325880"/>
            <a:ext cx="3931560" cy="237708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036" name="Text 15"/>
          <p:cNvSpPr/>
          <p:nvPr/>
        </p:nvSpPr>
        <p:spPr>
          <a:xfrm>
            <a:off x="4937760" y="1371600"/>
            <a:ext cx="3748680" cy="228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r>
              <a:rPr lang="en-US" sz="1000" b="1" strike="noStrike" spc="-1">
                <a:solidFill>
                  <a:srgbClr val="E4002B"/>
                </a:solidFill>
                <a:latin typeface="Calibri"/>
                <a:ea typeface="Calibri"/>
              </a:rPr>
              <a:t>VLAN failsafe</a:t>
            </a:r>
            <a:endParaRPr lang="en-US" sz="1000" b="0" strike="noStrike" spc="-1">
              <a:solidFill>
                <a:srgbClr val="000000"/>
              </a:solidFill>
              <a:latin typeface="Arial"/>
            </a:endParaRPr>
          </a:p>
          <a:p>
            <a:r>
              <a:rPr lang="en-US" sz="900" b="0" strike="noStrike" spc="-1">
                <a:solidFill>
                  <a:srgbClr val="333333"/>
                </a:solidFill>
                <a:latin typeface="Calibri"/>
                <a:ea typeface="Calibri"/>
              </a:rPr>
              <a:t>Monitors traffic on a VLAN. If no traffic is received for the timeout period, failsafe triggers. Catches: upstream switch failure, cable pull, silent VLAN death.</a:t>
            </a:r>
            <a:endParaRPr lang="en-US" sz="900" b="0" strike="noStrike" spc="-1">
              <a:solidFill>
                <a:srgbClr val="000000"/>
              </a:solidFill>
              <a:latin typeface="Arial"/>
            </a:endParaRPr>
          </a:p>
          <a:p>
            <a:r>
              <a:rPr lang="en-US" sz="800" b="0" strike="noStrike" spc="-1">
                <a:solidFill>
                  <a:srgbClr val="333333"/>
                </a:solidFill>
                <a:latin typeface="Courier New"/>
                <a:ea typeface="Courier New"/>
              </a:rPr>
              <a:t>Config: Network &gt; VLANs &gt; [vlan] &gt; Failsafe</a:t>
            </a:r>
            <a:endParaRPr lang="en-US" sz="800" b="0" strike="noStrike" spc="-1">
              <a:solidFill>
                <a:srgbClr val="000000"/>
              </a:solidFill>
              <a:latin typeface="Arial"/>
            </a:endParaRPr>
          </a:p>
          <a:p>
            <a:r>
              <a:rPr lang="en-US" sz="800" b="0" strike="noStrike" spc="-1">
                <a:solidFill>
                  <a:srgbClr val="333333"/>
                </a:solidFill>
                <a:latin typeface="Courier New"/>
                <a:ea typeface="Courier New"/>
              </a:rPr>
              <a:t>Timeout: 90 sec (default). Action: failover.</a:t>
            </a:r>
            <a:endParaRPr lang="en-US" sz="800" b="0" strike="noStrike" spc="-1">
              <a:solidFill>
                <a:srgbClr val="000000"/>
              </a:solidFill>
              <a:latin typeface="Arial"/>
            </a:endParaRPr>
          </a:p>
          <a:p>
            <a:endParaRPr lang="en-US" sz="800" b="0" strike="noStrike" spc="-1">
              <a:solidFill>
                <a:srgbClr val="000000"/>
              </a:solidFill>
              <a:latin typeface="Arial"/>
            </a:endParaRPr>
          </a:p>
          <a:p>
            <a:r>
              <a:rPr lang="en-US" sz="1000" b="1" strike="noStrike" spc="-1">
                <a:solidFill>
                  <a:srgbClr val="E4002B"/>
                </a:solidFill>
                <a:latin typeface="Calibri"/>
                <a:ea typeface="Calibri"/>
              </a:rPr>
              <a:t>Gateway failsafe</a:t>
            </a:r>
            <a:endParaRPr lang="en-US" sz="1000" b="0" strike="noStrike" spc="-1">
              <a:solidFill>
                <a:srgbClr val="000000"/>
              </a:solidFill>
              <a:latin typeface="Arial"/>
            </a:endParaRPr>
          </a:p>
          <a:p>
            <a:r>
              <a:rPr lang="en-US" sz="900" b="0" strike="noStrike" spc="-1">
                <a:solidFill>
                  <a:srgbClr val="333333"/>
                </a:solidFill>
                <a:latin typeface="Calibri"/>
                <a:ea typeface="Calibri"/>
              </a:rPr>
              <a:t>Pings the default gateway. If the gateway becomes unreachable, the BIG-IP cannot route traffic → failsafe triggers. Catches: router failure.</a:t>
            </a:r>
            <a:endParaRPr lang="en-US" sz="900" b="0" strike="noStrike" spc="-1">
              <a:solidFill>
                <a:srgbClr val="000000"/>
              </a:solidFill>
              <a:latin typeface="Arial"/>
            </a:endParaRPr>
          </a:p>
          <a:p>
            <a:r>
              <a:rPr lang="en-US" sz="800" b="0" strike="noStrike" spc="-1">
                <a:solidFill>
                  <a:srgbClr val="333333"/>
                </a:solidFill>
                <a:latin typeface="Courier New"/>
                <a:ea typeface="Courier New"/>
              </a:rPr>
              <a:t>Config: System &gt; HA &gt; Gateway Failsafe</a:t>
            </a:r>
            <a:endParaRPr lang="en-US" sz="800" b="0" strike="noStrike" spc="-1">
              <a:solidFill>
                <a:srgbClr val="000000"/>
              </a:solidFill>
              <a:latin typeface="Arial"/>
            </a:endParaRPr>
          </a:p>
          <a:p>
            <a:r>
              <a:rPr lang="en-US" sz="800" b="0" strike="noStrike" spc="-1">
                <a:solidFill>
                  <a:srgbClr val="333333"/>
                </a:solidFill>
                <a:latin typeface="Courier New"/>
                <a:ea typeface="Courier New"/>
              </a:rPr>
              <a:t>Interval + Timeout settings.</a:t>
            </a:r>
            <a:endParaRPr lang="en-US" sz="800" b="0" strike="noStrike" spc="-1">
              <a:solidFill>
                <a:srgbClr val="000000"/>
              </a:solidFill>
              <a:latin typeface="Arial"/>
            </a:endParaRPr>
          </a:p>
          <a:p>
            <a:endParaRPr lang="en-US" sz="800" b="0" strike="noStrike" spc="-1">
              <a:solidFill>
                <a:srgbClr val="000000"/>
              </a:solidFill>
              <a:latin typeface="Arial"/>
            </a:endParaRPr>
          </a:p>
          <a:p>
            <a:r>
              <a:rPr lang="en-US" sz="1000" b="1" strike="noStrike" spc="-1">
                <a:solidFill>
                  <a:srgbClr val="E4002B"/>
                </a:solidFill>
                <a:latin typeface="Calibri"/>
                <a:ea typeface="Calibri"/>
              </a:rPr>
              <a:t>Hardware watchdog</a:t>
            </a:r>
            <a:endParaRPr lang="en-US" sz="1000" b="0" strike="noStrike" spc="-1">
              <a:solidFill>
                <a:srgbClr val="000000"/>
              </a:solidFill>
              <a:latin typeface="Arial"/>
            </a:endParaRPr>
          </a:p>
          <a:p>
            <a:pPr defTabSz="914400">
              <a:lnSpc>
                <a:spcPct val="100000"/>
              </a:lnSpc>
              <a:tabLst>
                <a:tab pos="0" algn="l"/>
              </a:tabLst>
            </a:pPr>
            <a:r>
              <a:rPr lang="en-US" sz="900" b="0" strike="noStrike" spc="-1">
                <a:solidFill>
                  <a:srgbClr val="333333"/>
                </a:solidFill>
                <a:latin typeface="Calibri"/>
                <a:ea typeface="Calibri"/>
              </a:rPr>
              <a:t>TMM heartbeat monitored by host OS. If TMM stops responding (crash/hang), hardware watchdog triggers failover automatically.</a:t>
            </a:r>
            <a:endParaRPr lang="en-US" sz="900" b="0" strike="noStrike" spc="-1">
              <a:solidFill>
                <a:srgbClr val="000000"/>
              </a:solidFill>
              <a:latin typeface="Arial"/>
            </a:endParaRPr>
          </a:p>
        </p:txBody>
      </p:sp>
      <p:sp>
        <p:nvSpPr>
          <p:cNvPr id="2037" name="Text 16"/>
          <p:cNvSpPr/>
          <p:nvPr/>
        </p:nvSpPr>
        <p:spPr>
          <a:xfrm>
            <a:off x="457200" y="3748680"/>
            <a:ext cx="45716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009639"/>
                </a:solidFill>
                <a:latin typeface="Arial"/>
                <a:ea typeface="Arial"/>
              </a:rPr>
              <a:t>When to use each</a:t>
            </a:r>
            <a:endParaRPr lang="en-US" sz="1400" b="0" strike="noStrike" spc="-1">
              <a:solidFill>
                <a:srgbClr val="000000"/>
              </a:solidFill>
              <a:latin typeface="Arial"/>
            </a:endParaRPr>
          </a:p>
        </p:txBody>
      </p:sp>
      <p:graphicFrame>
        <p:nvGraphicFramePr>
          <p:cNvPr id="2038" name="Table 0"/>
          <p:cNvGraphicFramePr/>
          <p:nvPr>
            <p:extLst>
              <p:ext uri="{D42A27DB-BD31-4B8C-83A1-F6EECF244321}">
                <p14:modId xmlns:p14="http://schemas.microsoft.com/office/powerpoint/2010/main" val="1127250320"/>
              </p:ext>
            </p:extLst>
          </p:nvPr>
        </p:nvGraphicFramePr>
        <p:xfrm>
          <a:off x="365760" y="3977280"/>
          <a:ext cx="8412480" cy="1143000"/>
        </p:xfrm>
        <a:graphic>
          <a:graphicData uri="http://schemas.openxmlformats.org/drawingml/2006/table">
            <a:tbl>
              <a:tblPr/>
              <a:tblGrid>
                <a:gridCol w="118872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468880">
                  <a:extLst>
                    <a:ext uri="{9D8B030D-6E8A-4147-A177-3AD203B41FA5}">
                      <a16:colId xmlns:a16="http://schemas.microsoft.com/office/drawing/2014/main" val="20002"/>
                    </a:ext>
                  </a:extLst>
                </a:gridCol>
                <a:gridCol w="2560320">
                  <a:extLst>
                    <a:ext uri="{9D8B030D-6E8A-4147-A177-3AD203B41FA5}">
                      <a16:colId xmlns:a16="http://schemas.microsoft.com/office/drawing/2014/main" val="20003"/>
                    </a:ext>
                  </a:extLst>
                </a:gridCol>
              </a:tblGrid>
              <a:tr h="0">
                <a:tc>
                  <a:txBody>
                    <a:bodyPr/>
                    <a:lstStyle/>
                    <a:p>
                      <a:pPr defTabSz="914400">
                        <a:lnSpc>
                          <a:spcPct val="100000"/>
                        </a:lnSpc>
                        <a:tabLst>
                          <a:tab pos="0" algn="l"/>
                        </a:tabLst>
                      </a:pPr>
                      <a:r>
                        <a:rPr lang="en-US" sz="900" b="1" strike="noStrike" spc="-1">
                          <a:solidFill>
                            <a:srgbClr val="FFFFFF"/>
                          </a:solidFill>
                          <a:latin typeface="Calibri"/>
                        </a:rPr>
                        <a:t>Mechanism</a:t>
                      </a:r>
                      <a:endParaRPr lang="en-US" sz="900" b="0" strike="noStrike" spc="-1">
                        <a:solidFill>
                          <a:srgbClr val="FFFFFF"/>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09639"/>
                    </a:solidFill>
                  </a:tcPr>
                </a:tc>
                <a:tc>
                  <a:txBody>
                    <a:bodyPr/>
                    <a:lstStyle/>
                    <a:p>
                      <a:pPr defTabSz="914400">
                        <a:lnSpc>
                          <a:spcPct val="100000"/>
                        </a:lnSpc>
                        <a:tabLst>
                          <a:tab pos="0" algn="l"/>
                        </a:tabLst>
                      </a:pPr>
                      <a:r>
                        <a:rPr lang="en-US" sz="900" b="1" strike="noStrike" spc="-1">
                          <a:solidFill>
                            <a:srgbClr val="FFFFFF"/>
                          </a:solidFill>
                          <a:latin typeface="Calibri"/>
                        </a:rPr>
                        <a:t>Triggers on</a:t>
                      </a:r>
                      <a:endParaRPr lang="en-US" sz="900" b="0" strike="noStrike" spc="-1">
                        <a:solidFill>
                          <a:srgbClr val="FFFFFF"/>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09639"/>
                    </a:solidFill>
                  </a:tcPr>
                </a:tc>
                <a:tc>
                  <a:txBody>
                    <a:bodyPr/>
                    <a:lstStyle/>
                    <a:p>
                      <a:pPr defTabSz="914400">
                        <a:lnSpc>
                          <a:spcPct val="100000"/>
                        </a:lnSpc>
                        <a:tabLst>
                          <a:tab pos="0" algn="l"/>
                        </a:tabLst>
                      </a:pPr>
                      <a:r>
                        <a:rPr lang="en-US" sz="900" b="1" strike="noStrike" spc="-1">
                          <a:solidFill>
                            <a:srgbClr val="FFFFFF"/>
                          </a:solidFill>
                          <a:latin typeface="Calibri"/>
                        </a:rPr>
                        <a:t>Use case</a:t>
                      </a:r>
                      <a:endParaRPr lang="en-US" sz="900" b="0" strike="noStrike" spc="-1">
                        <a:solidFill>
                          <a:srgbClr val="FFFFFF"/>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09639"/>
                    </a:solidFill>
                  </a:tcPr>
                </a:tc>
                <a:tc>
                  <a:txBody>
                    <a:bodyPr/>
                    <a:lstStyle/>
                    <a:p>
                      <a:pPr defTabSz="914400">
                        <a:lnSpc>
                          <a:spcPct val="100000"/>
                        </a:lnSpc>
                        <a:tabLst>
                          <a:tab pos="0" algn="l"/>
                        </a:tabLst>
                      </a:pPr>
                      <a:r>
                        <a:rPr lang="en-US" sz="900" b="1" strike="noStrike" spc="-1">
                          <a:solidFill>
                            <a:srgbClr val="FFFFFF"/>
                          </a:solidFill>
                          <a:latin typeface="Calibri"/>
                        </a:rPr>
                        <a:t>Configuration</a:t>
                      </a:r>
                      <a:endParaRPr lang="en-US" sz="900" b="0" strike="noStrike" spc="-1">
                        <a:solidFill>
                          <a:srgbClr val="FFFFFF"/>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09639"/>
                    </a:solidFill>
                  </a:tcPr>
                </a:tc>
                <a:extLst>
                  <a:ext uri="{0D108BD9-81ED-4DB2-BD59-A6C34878D82A}">
                    <a16:rowId xmlns:a16="http://schemas.microsoft.com/office/drawing/2014/main" val="10000"/>
                  </a:ext>
                </a:extLst>
              </a:tr>
              <a:tr h="0">
                <a:tc>
                  <a:txBody>
                    <a:bodyPr/>
                    <a:lstStyle/>
                    <a:p>
                      <a:pPr defTabSz="914400">
                        <a:lnSpc>
                          <a:spcPct val="100000"/>
                        </a:lnSpc>
                        <a:tabLst>
                          <a:tab pos="0" algn="l"/>
                        </a:tabLst>
                      </a:pPr>
                      <a:r>
                        <a:rPr lang="en-US" sz="900" b="1" strike="noStrike" spc="-1">
                          <a:solidFill>
                            <a:srgbClr val="000000"/>
                          </a:solidFill>
                          <a:latin typeface="Calibri"/>
                        </a:rPr>
                        <a:t>HA group</a:t>
                      </a:r>
                      <a:endParaRPr lang="en-US" sz="9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800" b="0" strike="noStrike" spc="-1">
                          <a:solidFill>
                            <a:srgbClr val="000000"/>
                          </a:solidFill>
                          <a:latin typeface="Calibri"/>
                        </a:rPr>
                        <a:t>Pool member loss, trunk link loss, VLAN failure</a:t>
                      </a:r>
                      <a:endParaRPr lang="en-US" sz="8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800" b="0" strike="noStrike" spc="-1">
                          <a:solidFill>
                            <a:srgbClr val="000000"/>
                          </a:solidFill>
                          <a:latin typeface="Calibri"/>
                        </a:rPr>
                        <a:t>Fail over to healthier device when resources degrade</a:t>
                      </a:r>
                      <a:endParaRPr lang="en-US" sz="8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750" b="0" strike="noStrike" spc="-1">
                          <a:solidFill>
                            <a:srgbClr val="000000"/>
                          </a:solidFill>
                          <a:latin typeface="Calibri"/>
                        </a:rPr>
                        <a:t>Traffic group &gt; HA Group &gt; Enable &gt; Add pools/trunks/VLANs</a:t>
                      </a:r>
                      <a:endParaRPr lang="en-US" sz="75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1"/>
                  </a:ext>
                </a:extLst>
              </a:tr>
              <a:tr h="0">
                <a:tc>
                  <a:txBody>
                    <a:bodyPr/>
                    <a:lstStyle/>
                    <a:p>
                      <a:pPr defTabSz="914400">
                        <a:lnSpc>
                          <a:spcPct val="100000"/>
                        </a:lnSpc>
                        <a:tabLst>
                          <a:tab pos="0" algn="l"/>
                        </a:tabLst>
                      </a:pPr>
                      <a:r>
                        <a:rPr lang="en-US" sz="900" b="1" strike="noStrike" spc="-1">
                          <a:solidFill>
                            <a:srgbClr val="000000"/>
                          </a:solidFill>
                          <a:latin typeface="Calibri"/>
                        </a:rPr>
                        <a:t>VLAN failsafe</a:t>
                      </a:r>
                      <a:endParaRPr lang="en-US" sz="9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800" b="0" strike="noStrike" spc="-1">
                          <a:solidFill>
                            <a:srgbClr val="000000"/>
                          </a:solidFill>
                          <a:latin typeface="Calibri"/>
                        </a:rPr>
                        <a:t>No traffic on VLAN for timeout period</a:t>
                      </a:r>
                      <a:endParaRPr lang="en-US" sz="8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800" b="0" strike="noStrike" spc="-1">
                          <a:solidFill>
                            <a:srgbClr val="000000"/>
                          </a:solidFill>
                          <a:latin typeface="Calibri"/>
                        </a:rPr>
                        <a:t>Detect silent VLAN failure (switch crash, cable pull)</a:t>
                      </a:r>
                      <a:endParaRPr lang="en-US" sz="8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750" b="0" strike="noStrike" spc="-1">
                          <a:solidFill>
                            <a:srgbClr val="000000"/>
                          </a:solidFill>
                          <a:latin typeface="Calibri"/>
                        </a:rPr>
                        <a:t>Network &gt; VLANs &gt; [vlan] &gt; Failsafe &gt; Enable</a:t>
                      </a:r>
                      <a:endParaRPr lang="en-US" sz="75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2"/>
                  </a:ext>
                </a:extLst>
              </a:tr>
              <a:tr h="0">
                <a:tc>
                  <a:txBody>
                    <a:bodyPr/>
                    <a:lstStyle/>
                    <a:p>
                      <a:pPr defTabSz="914400">
                        <a:lnSpc>
                          <a:spcPct val="100000"/>
                        </a:lnSpc>
                        <a:tabLst>
                          <a:tab pos="0" algn="l"/>
                        </a:tabLst>
                      </a:pPr>
                      <a:r>
                        <a:rPr lang="en-US" sz="900" b="1" strike="noStrike" spc="-1">
                          <a:solidFill>
                            <a:srgbClr val="000000"/>
                          </a:solidFill>
                          <a:latin typeface="Calibri"/>
                        </a:rPr>
                        <a:t>Gateway failsafe</a:t>
                      </a:r>
                      <a:endParaRPr lang="en-US" sz="9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800" b="0" strike="noStrike" spc="-1">
                          <a:solidFill>
                            <a:srgbClr val="000000"/>
                          </a:solidFill>
                          <a:latin typeface="Calibri"/>
                        </a:rPr>
                        <a:t>Default gateway unreachable</a:t>
                      </a:r>
                      <a:endParaRPr lang="en-US" sz="8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800" b="0" strike="noStrike" spc="-1">
                          <a:solidFill>
                            <a:srgbClr val="000000"/>
                          </a:solidFill>
                          <a:latin typeface="Calibri"/>
                        </a:rPr>
                        <a:t>Detect upstream router failure</a:t>
                      </a:r>
                      <a:endParaRPr lang="en-US" sz="8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750" b="0" strike="noStrike" spc="-1">
                          <a:solidFill>
                            <a:srgbClr val="000000"/>
                          </a:solidFill>
                          <a:latin typeface="Calibri"/>
                        </a:rPr>
                        <a:t>System &gt; HA &gt; Gateway Failsafe</a:t>
                      </a:r>
                      <a:endParaRPr lang="en-US" sz="75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3"/>
                  </a:ext>
                </a:extLst>
              </a:tr>
              <a:tr h="0">
                <a:tc>
                  <a:txBody>
                    <a:bodyPr/>
                    <a:lstStyle/>
                    <a:p>
                      <a:pPr defTabSz="914400">
                        <a:lnSpc>
                          <a:spcPct val="100000"/>
                        </a:lnSpc>
                        <a:tabLst>
                          <a:tab pos="0" algn="l"/>
                        </a:tabLst>
                      </a:pPr>
                      <a:r>
                        <a:rPr lang="en-US" sz="900" b="1" strike="noStrike" spc="-1">
                          <a:solidFill>
                            <a:srgbClr val="000000"/>
                          </a:solidFill>
                          <a:latin typeface="Calibri"/>
                        </a:rPr>
                        <a:t>Hardware watchdog</a:t>
                      </a:r>
                      <a:endParaRPr lang="en-US" sz="9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800" b="0" strike="noStrike" spc="-1">
                          <a:solidFill>
                            <a:srgbClr val="000000"/>
                          </a:solidFill>
                          <a:latin typeface="Calibri"/>
                        </a:rPr>
                        <a:t>TMM stops responding</a:t>
                      </a:r>
                      <a:endParaRPr lang="en-US" sz="8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800" b="0" strike="noStrike" spc="-1">
                          <a:solidFill>
                            <a:srgbClr val="000000"/>
                          </a:solidFill>
                          <a:latin typeface="Calibri"/>
                        </a:rPr>
                        <a:t>TMM crash or hang recovery</a:t>
                      </a:r>
                      <a:endParaRPr lang="en-US" sz="8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750" b="0" strike="noStrike" spc="-1">
                          <a:solidFill>
                            <a:srgbClr val="000000"/>
                          </a:solidFill>
                          <a:latin typeface="Calibri"/>
                        </a:rPr>
                        <a:t>Automatic (always enabled)</a:t>
                      </a:r>
                      <a:endParaRPr lang="en-US" sz="75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39"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040"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041"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042"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043"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044"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92    © 2026 F5</a:t>
            </a:r>
            <a:endParaRPr lang="en-US" sz="800" b="0" strike="noStrike" spc="-1">
              <a:solidFill>
                <a:srgbClr val="000000"/>
              </a:solidFill>
              <a:latin typeface="Arial"/>
            </a:endParaRPr>
          </a:p>
        </p:txBody>
      </p:sp>
      <p:pic>
        <p:nvPicPr>
          <p:cNvPr id="2045" name="Image 0" descr="preencoded.png"/>
          <p:cNvPicPr/>
          <p:nvPr/>
        </p:nvPicPr>
        <p:blipFill>
          <a:blip r:embed="rId3"/>
          <a:stretch/>
        </p:blipFill>
        <p:spPr>
          <a:xfrm>
            <a:off x="8458200" y="4663440"/>
            <a:ext cx="383760" cy="383760"/>
          </a:xfrm>
          <a:prstGeom prst="rect">
            <a:avLst/>
          </a:prstGeom>
          <a:ln w="0">
            <a:noFill/>
          </a:ln>
        </p:spPr>
      </p:pic>
      <p:sp>
        <p:nvSpPr>
          <p:cNvPr id="2046" name="Text 6"/>
          <p:cNvSpPr/>
          <p:nvPr/>
        </p:nvSpPr>
        <p:spPr>
          <a:xfrm>
            <a:off x="457200" y="274320"/>
            <a:ext cx="82292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Network failover and mirroring</a:t>
            </a:r>
            <a:endParaRPr lang="en-US" sz="2800" b="0" strike="noStrike" spc="-1">
              <a:solidFill>
                <a:srgbClr val="000000"/>
              </a:solidFill>
              <a:latin typeface="Arial"/>
            </a:endParaRPr>
          </a:p>
        </p:txBody>
      </p:sp>
      <p:sp>
        <p:nvSpPr>
          <p:cNvPr id="2047" name="Text 7"/>
          <p:cNvSpPr/>
          <p:nvPr/>
        </p:nvSpPr>
        <p:spPr>
          <a:xfrm>
            <a:off x="457200" y="658440"/>
            <a:ext cx="82292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strike="noStrike" spc="-1">
                <a:solidFill>
                  <a:srgbClr val="666666"/>
                </a:solidFill>
                <a:latin typeface="Calibri"/>
                <a:ea typeface="Calibri"/>
              </a:rPr>
              <a:t>How devices detect failure, how state is preserved, and unicast vs multicast</a:t>
            </a:r>
            <a:endParaRPr lang="en-US" sz="1300" b="0" strike="noStrike" spc="-1">
              <a:solidFill>
                <a:srgbClr val="000000"/>
              </a:solidFill>
              <a:latin typeface="Arial"/>
            </a:endParaRPr>
          </a:p>
        </p:txBody>
      </p:sp>
      <p:sp>
        <p:nvSpPr>
          <p:cNvPr id="2048" name="Text 8"/>
          <p:cNvSpPr/>
          <p:nvPr/>
        </p:nvSpPr>
        <p:spPr>
          <a:xfrm>
            <a:off x="457200" y="1005840"/>
            <a:ext cx="45716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strike="noStrike" spc="-1">
                <a:solidFill>
                  <a:srgbClr val="E4002B"/>
                </a:solidFill>
                <a:latin typeface="Arial"/>
                <a:ea typeface="Arial"/>
              </a:rPr>
              <a:t>Unicast vs multicast failover</a:t>
            </a:r>
            <a:endParaRPr lang="en-US" sz="1600" b="0" strike="noStrike" spc="-1">
              <a:solidFill>
                <a:srgbClr val="000000"/>
              </a:solidFill>
              <a:latin typeface="Arial"/>
            </a:endParaRPr>
          </a:p>
        </p:txBody>
      </p:sp>
      <p:graphicFrame>
        <p:nvGraphicFramePr>
          <p:cNvPr id="2049" name="Table 0"/>
          <p:cNvGraphicFramePr/>
          <p:nvPr/>
        </p:nvGraphicFramePr>
        <p:xfrm>
          <a:off x="365760" y="1234440"/>
          <a:ext cx="8412480" cy="1371600"/>
        </p:xfrm>
        <a:graphic>
          <a:graphicData uri="http://schemas.openxmlformats.org/drawingml/2006/table">
            <a:tbl>
              <a:tblPr/>
              <a:tblGrid>
                <a:gridCol w="118872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gridCol w="3840480">
                  <a:extLst>
                    <a:ext uri="{9D8B030D-6E8A-4147-A177-3AD203B41FA5}">
                      <a16:colId xmlns:a16="http://schemas.microsoft.com/office/drawing/2014/main" val="20002"/>
                    </a:ext>
                  </a:extLst>
                </a:gridCol>
              </a:tblGrid>
              <a:tr h="0">
                <a:tc>
                  <a:txBody>
                    <a:bodyPr/>
                    <a:lstStyle/>
                    <a:p>
                      <a:pPr defTabSz="914400">
                        <a:lnSpc>
                          <a:spcPct val="100000"/>
                        </a:lnSpc>
                        <a:tabLst>
                          <a:tab pos="0" algn="l"/>
                        </a:tabLst>
                      </a:pPr>
                      <a:endParaRPr lang="en-US" sz="900" b="0" strike="noStrike" spc="-1">
                        <a:solidFill>
                          <a:schemeClr val="dk1"/>
                        </a:solidFill>
                        <a:latin typeface="Calibri"/>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E4002B"/>
                    </a:solidFill>
                  </a:tcPr>
                </a:tc>
                <a:tc>
                  <a:txBody>
                    <a:bodyPr/>
                    <a:lstStyle/>
                    <a:p>
                      <a:pPr defTabSz="914400">
                        <a:lnSpc>
                          <a:spcPct val="100000"/>
                        </a:lnSpc>
                        <a:tabLst>
                          <a:tab pos="0" algn="l"/>
                        </a:tabLst>
                      </a:pPr>
                      <a:r>
                        <a:rPr lang="en-US" sz="900" b="1" strike="noStrike" spc="-1">
                          <a:solidFill>
                            <a:srgbClr val="FFFFFF"/>
                          </a:solidFill>
                          <a:latin typeface="Calibri"/>
                        </a:rPr>
                        <a:t>Unicast (standard)</a:t>
                      </a:r>
                      <a:endParaRPr lang="en-US" sz="9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E4002B"/>
                    </a:solidFill>
                  </a:tcPr>
                </a:tc>
                <a:tc>
                  <a:txBody>
                    <a:bodyPr/>
                    <a:lstStyle/>
                    <a:p>
                      <a:pPr defTabSz="914400">
                        <a:lnSpc>
                          <a:spcPct val="100000"/>
                        </a:lnSpc>
                        <a:tabLst>
                          <a:tab pos="0" algn="l"/>
                        </a:tabLst>
                      </a:pPr>
                      <a:r>
                        <a:rPr lang="en-US" sz="900" b="1" strike="noStrike" spc="-1">
                          <a:solidFill>
                            <a:srgbClr val="FFFFFF"/>
                          </a:solidFill>
                          <a:latin typeface="Calibri"/>
                        </a:rPr>
                        <a:t>Multicast (Viprion only)</a:t>
                      </a:r>
                      <a:endParaRPr lang="en-US" sz="9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E4002B"/>
                    </a:solidFill>
                  </a:tcPr>
                </a:tc>
                <a:extLst>
                  <a:ext uri="{0D108BD9-81ED-4DB2-BD59-A6C34878D82A}">
                    <a16:rowId xmlns:a16="http://schemas.microsoft.com/office/drawing/2014/main" val="10000"/>
                  </a:ext>
                </a:extLst>
              </a:tr>
              <a:tr h="0">
                <a:tc>
                  <a:txBody>
                    <a:bodyPr/>
                    <a:lstStyle/>
                    <a:p>
                      <a:pPr defTabSz="914400">
                        <a:lnSpc>
                          <a:spcPct val="100000"/>
                        </a:lnSpc>
                        <a:tabLst>
                          <a:tab pos="0" algn="l"/>
                        </a:tabLst>
                      </a:pPr>
                      <a:r>
                        <a:rPr lang="en-US" sz="900" b="1" strike="noStrike" spc="-1">
                          <a:solidFill>
                            <a:srgbClr val="000000"/>
                          </a:solidFill>
                          <a:latin typeface="Calibri"/>
                        </a:rPr>
                        <a:t>Transport</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UDP 1026 — direct IP-to-IP between peers</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UDP 1026 — multicast group 224.0.0.245</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1"/>
                  </a:ext>
                </a:extLst>
              </a:tr>
              <a:tr h="0">
                <a:tc>
                  <a:txBody>
                    <a:bodyPr/>
                    <a:lstStyle/>
                    <a:p>
                      <a:pPr defTabSz="914400">
                        <a:lnSpc>
                          <a:spcPct val="100000"/>
                        </a:lnSpc>
                        <a:tabLst>
                          <a:tab pos="0" algn="l"/>
                        </a:tabLst>
                      </a:pPr>
                      <a:r>
                        <a:rPr lang="en-US" sz="900" b="1" strike="noStrike" spc="-1">
                          <a:solidFill>
                            <a:srgbClr val="000000"/>
                          </a:solidFill>
                          <a:latin typeface="Calibri"/>
                        </a:rPr>
                        <a:t>Platform</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All BIG-IP platforms (appliance, VE, Viprion)</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Viprion chassis ONLY (inter-blade failover)</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2"/>
                  </a:ext>
                </a:extLst>
              </a:tr>
              <a:tr h="0">
                <a:tc>
                  <a:txBody>
                    <a:bodyPr/>
                    <a:lstStyle/>
                    <a:p>
                      <a:pPr defTabSz="914400">
                        <a:lnSpc>
                          <a:spcPct val="100000"/>
                        </a:lnSpc>
                        <a:tabLst>
                          <a:tab pos="0" algn="l"/>
                        </a:tabLst>
                      </a:pPr>
                      <a:r>
                        <a:rPr lang="en-US" sz="900" b="1" strike="noStrike" spc="-1">
                          <a:solidFill>
                            <a:srgbClr val="000000"/>
                          </a:solidFill>
                          <a:latin typeface="Calibri"/>
                        </a:rPr>
                        <a:t>Configuration</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Per device: add HA self IP + port 1026</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Enabled globally on Viprion cluster</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3"/>
                  </a:ext>
                </a:extLst>
              </a:tr>
              <a:tr h="0">
                <a:tc>
                  <a:txBody>
                    <a:bodyPr/>
                    <a:lstStyle/>
                    <a:p>
                      <a:pPr defTabSz="914400">
                        <a:lnSpc>
                          <a:spcPct val="100000"/>
                        </a:lnSpc>
                        <a:tabLst>
                          <a:tab pos="0" algn="l"/>
                        </a:tabLst>
                      </a:pPr>
                      <a:r>
                        <a:rPr lang="en-US" sz="900" b="1" strike="noStrike" spc="-1">
                          <a:solidFill>
                            <a:srgbClr val="000000"/>
                          </a:solidFill>
                          <a:latin typeface="Calibri"/>
                        </a:rPr>
                        <a:t>Multiple addresses</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E4002B"/>
                          </a:solidFill>
                          <a:latin typeface="Calibri"/>
                        </a:rPr>
                        <a:t>Can add multiple — ANY failure triggers failover</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Single multicast group — all blades participate</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4"/>
                  </a:ext>
                </a:extLst>
              </a:tr>
              <a:tr h="0">
                <a:tc>
                  <a:txBody>
                    <a:bodyPr/>
                    <a:lstStyle/>
                    <a:p>
                      <a:pPr defTabSz="914400">
                        <a:lnSpc>
                          <a:spcPct val="100000"/>
                        </a:lnSpc>
                        <a:tabLst>
                          <a:tab pos="0" algn="l"/>
                        </a:tabLst>
                      </a:pPr>
                      <a:r>
                        <a:rPr lang="en-US" sz="900" b="1" strike="noStrike" spc="-1">
                          <a:solidFill>
                            <a:srgbClr val="000000"/>
                          </a:solidFill>
                          <a:latin typeface="Calibri"/>
                        </a:rPr>
                        <a:t>Use case</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Standard HA pairs and clusters</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Viprion chassis redundancy</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2050" name="Text 9"/>
          <p:cNvSpPr/>
          <p:nvPr/>
        </p:nvSpPr>
        <p:spPr>
          <a:xfrm>
            <a:off x="457200" y="2971800"/>
            <a:ext cx="27428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0E41AA"/>
                </a:solidFill>
                <a:latin typeface="Arial"/>
                <a:ea typeface="Arial"/>
              </a:rPr>
              <a:t>Failover triggers</a:t>
            </a:r>
            <a:endParaRPr lang="en-US" sz="1400" b="0" strike="noStrike" spc="-1">
              <a:solidFill>
                <a:srgbClr val="000000"/>
              </a:solidFill>
              <a:latin typeface="Arial"/>
            </a:endParaRPr>
          </a:p>
        </p:txBody>
      </p:sp>
      <p:sp>
        <p:nvSpPr>
          <p:cNvPr id="2051" name="Shape 10"/>
          <p:cNvSpPr/>
          <p:nvPr/>
        </p:nvSpPr>
        <p:spPr>
          <a:xfrm>
            <a:off x="457200" y="3200400"/>
            <a:ext cx="4114440" cy="95976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052" name="Text 11"/>
          <p:cNvSpPr/>
          <p:nvPr/>
        </p:nvSpPr>
        <p:spPr>
          <a:xfrm>
            <a:off x="548640" y="3227760"/>
            <a:ext cx="393156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900" b="0" strike="noStrike" spc="-1">
                <a:solidFill>
                  <a:srgbClr val="333333"/>
                </a:solidFill>
                <a:latin typeface="Calibri"/>
                <a:ea typeface="Calibri"/>
              </a:rPr>
              <a:t>• Network failover heartbeat lost (UDP 1026)</a:t>
            </a:r>
            <a:endParaRPr lang="en-US" sz="900" b="0" strike="noStrike" spc="-1">
              <a:solidFill>
                <a:srgbClr val="000000"/>
              </a:solidFill>
              <a:latin typeface="Arial"/>
            </a:endParaRPr>
          </a:p>
          <a:p>
            <a:pPr defTabSz="914400">
              <a:lnSpc>
                <a:spcPct val="100000"/>
              </a:lnSpc>
              <a:tabLst>
                <a:tab pos="0" algn="l"/>
              </a:tabLst>
            </a:pPr>
            <a:r>
              <a:rPr lang="en-US" sz="900" b="0" strike="noStrike" spc="-1">
                <a:solidFill>
                  <a:srgbClr val="333333"/>
                </a:solidFill>
                <a:latin typeface="Calibri"/>
                <a:ea typeface="Calibri"/>
              </a:rPr>
              <a:t>• Manual: Force to Standby</a:t>
            </a:r>
            <a:endParaRPr lang="en-US" sz="900" b="0" strike="noStrike" spc="-1">
              <a:solidFill>
                <a:srgbClr val="000000"/>
              </a:solidFill>
              <a:latin typeface="Arial"/>
            </a:endParaRPr>
          </a:p>
          <a:p>
            <a:pPr defTabSz="914400">
              <a:lnSpc>
                <a:spcPct val="100000"/>
              </a:lnSpc>
              <a:tabLst>
                <a:tab pos="0" algn="l"/>
              </a:tabLst>
            </a:pPr>
            <a:r>
              <a:rPr lang="en-US" sz="900" b="0" strike="noStrike" spc="-1">
                <a:solidFill>
                  <a:srgbClr val="333333"/>
                </a:solidFill>
                <a:latin typeface="Calibri"/>
                <a:ea typeface="Calibri"/>
              </a:rPr>
              <a:t>• HA group score drops below peer</a:t>
            </a:r>
            <a:endParaRPr lang="en-US" sz="900" b="0" strike="noStrike" spc="-1">
              <a:solidFill>
                <a:srgbClr val="000000"/>
              </a:solidFill>
              <a:latin typeface="Arial"/>
            </a:endParaRPr>
          </a:p>
          <a:p>
            <a:pPr defTabSz="914400">
              <a:lnSpc>
                <a:spcPct val="100000"/>
              </a:lnSpc>
              <a:tabLst>
                <a:tab pos="0" algn="l"/>
              </a:tabLst>
            </a:pPr>
            <a:r>
              <a:rPr lang="en-US" sz="900" b="0" strike="noStrike" spc="-1">
                <a:solidFill>
                  <a:srgbClr val="333333"/>
                </a:solidFill>
                <a:latin typeface="Calibri"/>
                <a:ea typeface="Calibri"/>
              </a:rPr>
              <a:t>• Failsafe: VLAN/interface failure</a:t>
            </a:r>
            <a:endParaRPr lang="en-US" sz="900" b="0" strike="noStrike" spc="-1">
              <a:solidFill>
                <a:srgbClr val="000000"/>
              </a:solidFill>
              <a:latin typeface="Arial"/>
            </a:endParaRPr>
          </a:p>
          <a:p>
            <a:pPr defTabSz="914400">
              <a:lnSpc>
                <a:spcPct val="100000"/>
              </a:lnSpc>
              <a:tabLst>
                <a:tab pos="0" algn="l"/>
              </a:tabLst>
            </a:pPr>
            <a:r>
              <a:rPr lang="en-US" sz="900" b="0" strike="noStrike" spc="-1">
                <a:solidFill>
                  <a:srgbClr val="333333"/>
                </a:solidFill>
                <a:latin typeface="Calibri"/>
                <a:ea typeface="Calibri"/>
              </a:rPr>
              <a:t>• System failure (TMM crash, power loss)</a:t>
            </a:r>
            <a:endParaRPr lang="en-US" sz="900" b="0" strike="noStrike" spc="-1">
              <a:solidFill>
                <a:srgbClr val="000000"/>
              </a:solidFill>
              <a:latin typeface="Arial"/>
            </a:endParaRPr>
          </a:p>
        </p:txBody>
      </p:sp>
      <p:sp>
        <p:nvSpPr>
          <p:cNvPr id="2053" name="Text 12"/>
          <p:cNvSpPr/>
          <p:nvPr/>
        </p:nvSpPr>
        <p:spPr>
          <a:xfrm>
            <a:off x="4846320" y="2971800"/>
            <a:ext cx="27428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61228B"/>
                </a:solidFill>
                <a:latin typeface="Arial"/>
                <a:ea typeface="Arial"/>
              </a:rPr>
              <a:t>Mirroring</a:t>
            </a:r>
            <a:endParaRPr lang="en-US" sz="1400" b="0" strike="noStrike" spc="-1">
              <a:solidFill>
                <a:srgbClr val="000000"/>
              </a:solidFill>
              <a:latin typeface="Arial"/>
            </a:endParaRPr>
          </a:p>
        </p:txBody>
      </p:sp>
      <p:sp>
        <p:nvSpPr>
          <p:cNvPr id="2054" name="Shape 13"/>
          <p:cNvSpPr/>
          <p:nvPr/>
        </p:nvSpPr>
        <p:spPr>
          <a:xfrm>
            <a:off x="4846320" y="3200400"/>
            <a:ext cx="3931560" cy="95976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055" name="Text 14"/>
          <p:cNvSpPr/>
          <p:nvPr/>
        </p:nvSpPr>
        <p:spPr>
          <a:xfrm>
            <a:off x="4937760" y="3227760"/>
            <a:ext cx="374868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r>
              <a:rPr lang="en-US" sz="900" b="0" strike="noStrike" spc="-1">
                <a:solidFill>
                  <a:srgbClr val="333333"/>
                </a:solidFill>
                <a:latin typeface="Calibri"/>
                <a:ea typeface="Calibri"/>
              </a:rPr>
              <a:t>• Persistence: profile &gt; Mirror Persistence ✔</a:t>
            </a:r>
            <a:endParaRPr lang="en-US" sz="900" b="0" strike="noStrike" spc="-1">
              <a:solidFill>
                <a:srgbClr val="000000"/>
              </a:solidFill>
              <a:latin typeface="Arial"/>
            </a:endParaRPr>
          </a:p>
          <a:p>
            <a:r>
              <a:rPr lang="en-US" sz="900" b="0" strike="noStrike" spc="-1">
                <a:solidFill>
                  <a:srgbClr val="333333"/>
                </a:solidFill>
                <a:latin typeface="Calibri"/>
                <a:ea typeface="Calibri"/>
              </a:rPr>
              <a:t>• Connections: VS &gt; Connection Mirroring ✔</a:t>
            </a:r>
            <a:endParaRPr lang="en-US" sz="900" b="0" strike="noStrike" spc="-1">
              <a:solidFill>
                <a:srgbClr val="000000"/>
              </a:solidFill>
              <a:latin typeface="Arial"/>
            </a:endParaRPr>
          </a:p>
          <a:p>
            <a:r>
              <a:rPr lang="en-US" sz="900" b="0" strike="noStrike" spc="-1">
                <a:solidFill>
                  <a:srgbClr val="333333"/>
                </a:solidFill>
                <a:latin typeface="Calibri"/>
                <a:ea typeface="Calibri"/>
              </a:rPr>
              <a:t>• SNAT: SNAT &gt; Connection Mirroring ✔</a:t>
            </a:r>
            <a:endParaRPr lang="en-US" sz="900" b="0" strike="noStrike" spc="-1">
              <a:solidFill>
                <a:srgbClr val="000000"/>
              </a:solidFill>
              <a:latin typeface="Arial"/>
            </a:endParaRPr>
          </a:p>
          <a:p>
            <a:endParaRPr lang="en-US" sz="900" b="0" strike="noStrike" spc="-1">
              <a:solidFill>
                <a:srgbClr val="000000"/>
              </a:solidFill>
              <a:latin typeface="Arial"/>
            </a:endParaRPr>
          </a:p>
          <a:p>
            <a:r>
              <a:rPr lang="en-US" sz="900" b="1" strike="noStrike" spc="-1">
                <a:solidFill>
                  <a:srgbClr val="E4002B"/>
                </a:solidFill>
                <a:latin typeface="Calibri"/>
                <a:ea typeface="Calibri"/>
              </a:rPr>
              <a:t>Only mirrors records created AFTER enablement.</a:t>
            </a:r>
            <a:endParaRPr lang="en-US" sz="900" b="0" strike="noStrike" spc="-1">
              <a:solidFill>
                <a:srgbClr val="000000"/>
              </a:solidFill>
              <a:latin typeface="Arial"/>
            </a:endParaRPr>
          </a:p>
          <a:p>
            <a:pPr defTabSz="914400">
              <a:lnSpc>
                <a:spcPct val="100000"/>
              </a:lnSpc>
              <a:tabLst>
                <a:tab pos="0" algn="l"/>
              </a:tabLst>
            </a:pPr>
            <a:r>
              <a:rPr lang="en-US" sz="900" b="0" strike="noStrike" spc="-1">
                <a:solidFill>
                  <a:srgbClr val="333333"/>
                </a:solidFill>
                <a:latin typeface="Calibri"/>
                <a:ea typeface="Calibri"/>
              </a:rPr>
              <a:t>Mirror address = HA self IP. Uses TCP 1028.</a:t>
            </a:r>
            <a:endParaRPr lang="en-US" sz="900" b="0" strike="noStrike" spc="-1">
              <a:solidFill>
                <a:srgbClr val="000000"/>
              </a:solidFill>
              <a:latin typeface="Arial"/>
            </a:endParaRPr>
          </a:p>
        </p:txBody>
      </p:sp>
      <p:sp>
        <p:nvSpPr>
          <p:cNvPr id="2056" name="Shape 15"/>
          <p:cNvSpPr/>
          <p:nvPr/>
        </p:nvSpPr>
        <p:spPr>
          <a:xfrm>
            <a:off x="365760" y="4251960"/>
            <a:ext cx="8412120" cy="365400"/>
          </a:xfrm>
          <a:prstGeom prst="rect">
            <a:avLst/>
          </a:prstGeom>
          <a:solidFill>
            <a:srgbClr val="E8F0F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057" name="Text 16"/>
          <p:cNvSpPr/>
          <p:nvPr/>
        </p:nvSpPr>
        <p:spPr>
          <a:xfrm>
            <a:off x="548640" y="4270320"/>
            <a:ext cx="80463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strike="noStrike" spc="-1">
                <a:solidFill>
                  <a:srgbClr val="E4002B"/>
                </a:solidFill>
                <a:latin typeface="Calibri"/>
                <a:ea typeface="Calibri"/>
              </a:rPr>
              <a:t>Without mirroring: </a:t>
            </a:r>
            <a:r>
              <a:rPr lang="en-US" sz="900" b="0" strike="noStrike" spc="-1">
                <a:solidFill>
                  <a:srgbClr val="333333"/>
                </a:solidFill>
                <a:latin typeface="Calibri"/>
                <a:ea typeface="Calibri"/>
              </a:rPr>
              <a:t>failover drops ALL connections and persistence. </a:t>
            </a:r>
            <a:r>
              <a:rPr lang="en-US" sz="1000" b="1" strike="noStrike" spc="-1">
                <a:solidFill>
                  <a:srgbClr val="009639"/>
                </a:solidFill>
                <a:latin typeface="Calibri"/>
                <a:ea typeface="Calibri"/>
              </a:rPr>
              <a:t>With mirroring: </a:t>
            </a:r>
            <a:r>
              <a:rPr lang="en-US" sz="900" b="0" strike="noStrike" spc="-1">
                <a:solidFill>
                  <a:srgbClr val="333333"/>
                </a:solidFill>
                <a:latin typeface="Calibri"/>
                <a:ea typeface="Calibri"/>
              </a:rPr>
              <a:t>connections continue seamlessly on the new active device.</a:t>
            </a:r>
            <a:endParaRPr lang="en-US" sz="900" b="0" strike="noStrike" spc="-1">
              <a:solidFill>
                <a:srgbClr val="000000"/>
              </a:solidFill>
              <a:latin typeface="Arial"/>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059"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060"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061"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062"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063"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93    © 2026 F5</a:t>
            </a:r>
            <a:endParaRPr lang="en-US" sz="800" b="0" strike="noStrike" spc="-1">
              <a:solidFill>
                <a:srgbClr val="000000"/>
              </a:solidFill>
              <a:latin typeface="Arial"/>
            </a:endParaRPr>
          </a:p>
        </p:txBody>
      </p:sp>
      <p:pic>
        <p:nvPicPr>
          <p:cNvPr id="2064" name="Image 0" descr="preencoded.png"/>
          <p:cNvPicPr/>
          <p:nvPr/>
        </p:nvPicPr>
        <p:blipFill>
          <a:blip r:embed="rId3"/>
          <a:stretch/>
        </p:blipFill>
        <p:spPr>
          <a:xfrm>
            <a:off x="8458200" y="4663440"/>
            <a:ext cx="383760" cy="383760"/>
          </a:xfrm>
          <a:prstGeom prst="rect">
            <a:avLst/>
          </a:prstGeom>
          <a:ln w="0">
            <a:noFill/>
          </a:ln>
        </p:spPr>
      </p:pic>
      <p:sp>
        <p:nvSpPr>
          <p:cNvPr id="2065" name="Text 6"/>
          <p:cNvSpPr/>
          <p:nvPr/>
        </p:nvSpPr>
        <p:spPr>
          <a:xfrm>
            <a:off x="457200" y="274320"/>
            <a:ext cx="82292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HA logs and troubleshooting</a:t>
            </a:r>
            <a:endParaRPr lang="en-US" sz="2800" b="0" strike="noStrike" spc="-1">
              <a:solidFill>
                <a:srgbClr val="000000"/>
              </a:solidFill>
              <a:latin typeface="Arial"/>
            </a:endParaRPr>
          </a:p>
        </p:txBody>
      </p:sp>
      <p:sp>
        <p:nvSpPr>
          <p:cNvPr id="2066" name="Text 7"/>
          <p:cNvSpPr/>
          <p:nvPr/>
        </p:nvSpPr>
        <p:spPr>
          <a:xfrm>
            <a:off x="457200" y="658440"/>
            <a:ext cx="82292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strike="noStrike" spc="-1">
                <a:solidFill>
                  <a:srgbClr val="666666"/>
                </a:solidFill>
                <a:latin typeface="Calibri"/>
                <a:ea typeface="Calibri"/>
              </a:rPr>
              <a:t>Identify failover causes and sync failures from logs and TMSH commands</a:t>
            </a:r>
            <a:endParaRPr lang="en-US" sz="1300" b="0" strike="noStrike" spc="-1">
              <a:solidFill>
                <a:srgbClr val="000000"/>
              </a:solidFill>
              <a:latin typeface="Arial"/>
            </a:endParaRPr>
          </a:p>
        </p:txBody>
      </p:sp>
      <p:sp>
        <p:nvSpPr>
          <p:cNvPr id="2067" name="Text 8"/>
          <p:cNvSpPr/>
          <p:nvPr/>
        </p:nvSpPr>
        <p:spPr>
          <a:xfrm>
            <a:off x="457200" y="1005840"/>
            <a:ext cx="45716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E4002B"/>
                </a:solidFill>
                <a:latin typeface="Arial"/>
                <a:ea typeface="Arial"/>
              </a:rPr>
              <a:t>Common /var/log/ltm messages</a:t>
            </a:r>
            <a:endParaRPr lang="en-US" sz="1400" b="0" strike="noStrike" spc="-1">
              <a:solidFill>
                <a:srgbClr val="000000"/>
              </a:solidFill>
              <a:latin typeface="Arial"/>
            </a:endParaRPr>
          </a:p>
        </p:txBody>
      </p:sp>
      <p:graphicFrame>
        <p:nvGraphicFramePr>
          <p:cNvPr id="2068" name="Table 0"/>
          <p:cNvGraphicFramePr/>
          <p:nvPr/>
        </p:nvGraphicFramePr>
        <p:xfrm>
          <a:off x="365760" y="1234440"/>
          <a:ext cx="8412480" cy="1386840"/>
        </p:xfrm>
        <a:graphic>
          <a:graphicData uri="http://schemas.openxmlformats.org/drawingml/2006/table">
            <a:tbl>
              <a:tblPr/>
              <a:tblGrid>
                <a:gridCol w="274320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tblGrid>
              <a:tr h="0">
                <a:tc>
                  <a:txBody>
                    <a:bodyPr/>
                    <a:lstStyle/>
                    <a:p>
                      <a:pPr defTabSz="914400">
                        <a:lnSpc>
                          <a:spcPct val="100000"/>
                        </a:lnSpc>
                        <a:tabLst>
                          <a:tab pos="0" algn="l"/>
                        </a:tabLst>
                      </a:pPr>
                      <a:r>
                        <a:rPr lang="en-US" sz="800" b="1" strike="noStrike" spc="-1">
                          <a:solidFill>
                            <a:srgbClr val="FFFFFF"/>
                          </a:solidFill>
                          <a:latin typeface="Calibri"/>
                        </a:rPr>
                        <a:t>Log message pattern</a:t>
                      </a:r>
                      <a:endParaRPr lang="en-US" sz="800" b="0" strike="noStrike" spc="-1">
                        <a:solidFill>
                          <a:srgbClr val="FFFFFF"/>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E4002B"/>
                    </a:solidFill>
                  </a:tcPr>
                </a:tc>
                <a:tc>
                  <a:txBody>
                    <a:bodyPr/>
                    <a:lstStyle/>
                    <a:p>
                      <a:pPr defTabSz="914400">
                        <a:lnSpc>
                          <a:spcPct val="100000"/>
                        </a:lnSpc>
                        <a:tabLst>
                          <a:tab pos="0" algn="l"/>
                        </a:tabLst>
                      </a:pPr>
                      <a:r>
                        <a:rPr lang="en-US" sz="800" b="1" strike="noStrike" spc="-1">
                          <a:solidFill>
                            <a:srgbClr val="FFFFFF"/>
                          </a:solidFill>
                          <a:latin typeface="Calibri"/>
                        </a:rPr>
                        <a:t>Cause</a:t>
                      </a:r>
                      <a:endParaRPr lang="en-US" sz="800" b="0" strike="noStrike" spc="-1">
                        <a:solidFill>
                          <a:srgbClr val="FFFFFF"/>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E4002B"/>
                    </a:solidFill>
                  </a:tcPr>
                </a:tc>
                <a:tc>
                  <a:txBody>
                    <a:bodyPr/>
                    <a:lstStyle/>
                    <a:p>
                      <a:pPr defTabSz="914400">
                        <a:lnSpc>
                          <a:spcPct val="100000"/>
                        </a:lnSpc>
                        <a:tabLst>
                          <a:tab pos="0" algn="l"/>
                        </a:tabLst>
                      </a:pPr>
                      <a:r>
                        <a:rPr lang="en-US" sz="800" b="1" strike="noStrike" spc="-1">
                          <a:solidFill>
                            <a:srgbClr val="FFFFFF"/>
                          </a:solidFill>
                          <a:latin typeface="Calibri"/>
                        </a:rPr>
                        <a:t>Fix</a:t>
                      </a:r>
                      <a:endParaRPr lang="en-US" sz="800" b="0" strike="noStrike" spc="-1">
                        <a:solidFill>
                          <a:srgbClr val="FFFFFF"/>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E4002B"/>
                    </a:solidFill>
                  </a:tcPr>
                </a:tc>
                <a:extLst>
                  <a:ext uri="{0D108BD9-81ED-4DB2-BD59-A6C34878D82A}">
                    <a16:rowId xmlns:a16="http://schemas.microsoft.com/office/drawing/2014/main" val="10000"/>
                  </a:ext>
                </a:extLst>
              </a:tr>
              <a:tr h="0">
                <a:tc>
                  <a:txBody>
                    <a:bodyPr/>
                    <a:lstStyle/>
                    <a:p>
                      <a:pPr defTabSz="914400">
                        <a:lnSpc>
                          <a:spcPct val="100000"/>
                        </a:lnSpc>
                        <a:tabLst>
                          <a:tab pos="0" algn="l"/>
                        </a:tabLst>
                      </a:pPr>
                      <a:r>
                        <a:rPr lang="en-US" sz="750" b="0" strike="noStrike" spc="-1">
                          <a:solidFill>
                            <a:srgbClr val="000000"/>
                          </a:solidFill>
                          <a:latin typeface="Courier New"/>
                          <a:ea typeface="Courier New"/>
                        </a:rPr>
                        <a:t>01071681:5: ... ACTIVE for traffic group</a:t>
                      </a:r>
                      <a:endParaRPr lang="en-US" sz="75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800" b="0" strike="noStrike" spc="-1">
                          <a:solidFill>
                            <a:srgbClr val="000000"/>
                          </a:solidFill>
                          <a:latin typeface="Calibri"/>
                        </a:rPr>
                        <a:t>Device became active for a traffic group (normal failover)</a:t>
                      </a:r>
                      <a:endParaRPr lang="en-US" sz="8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800" b="0" strike="noStrike" spc="-1">
                          <a:solidFill>
                            <a:srgbClr val="000000"/>
                          </a:solidFill>
                          <a:latin typeface="Calibri"/>
                        </a:rPr>
                        <a:t>Verify: intended failover or investigate trigger</a:t>
                      </a:r>
                      <a:endParaRPr lang="en-US" sz="8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1"/>
                  </a:ext>
                </a:extLst>
              </a:tr>
              <a:tr h="0">
                <a:tc>
                  <a:txBody>
                    <a:bodyPr/>
                    <a:lstStyle/>
                    <a:p>
                      <a:pPr defTabSz="914400">
                        <a:lnSpc>
                          <a:spcPct val="100000"/>
                        </a:lnSpc>
                        <a:tabLst>
                          <a:tab pos="0" algn="l"/>
                        </a:tabLst>
                      </a:pPr>
                      <a:r>
                        <a:rPr lang="en-US" sz="750" b="0" strike="noStrike" spc="-1">
                          <a:solidFill>
                            <a:srgbClr val="000000"/>
                          </a:solidFill>
                          <a:latin typeface="Courier New"/>
                          <a:ea typeface="Courier New"/>
                        </a:rPr>
                        <a:t>01140029:5: HA daemon ... no longer hearing</a:t>
                      </a:r>
                      <a:endParaRPr lang="en-US" sz="75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800" b="0" strike="noStrike" spc="-1">
                          <a:solidFill>
                            <a:srgbClr val="000000"/>
                          </a:solidFill>
                          <a:latin typeface="Calibri"/>
                        </a:rPr>
                        <a:t>Network failover heartbeat lost from peer</a:t>
                      </a:r>
                      <a:endParaRPr lang="en-US" sz="8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800" b="0" strike="noStrike" spc="-1">
                          <a:solidFill>
                            <a:srgbClr val="000000"/>
                          </a:solidFill>
                          <a:latin typeface="Calibri"/>
                        </a:rPr>
                        <a:t>Check: HA VLAN, port lockdown, cables, peer status</a:t>
                      </a:r>
                      <a:endParaRPr lang="en-US" sz="8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2"/>
                  </a:ext>
                </a:extLst>
              </a:tr>
              <a:tr h="0">
                <a:tc>
                  <a:txBody>
                    <a:bodyPr/>
                    <a:lstStyle/>
                    <a:p>
                      <a:pPr defTabSz="914400">
                        <a:lnSpc>
                          <a:spcPct val="100000"/>
                        </a:lnSpc>
                        <a:tabLst>
                          <a:tab pos="0" algn="l"/>
                        </a:tabLst>
                      </a:pPr>
                      <a:r>
                        <a:rPr lang="en-US" sz="750" b="0" strike="noStrike" spc="-1">
                          <a:solidFill>
                            <a:srgbClr val="000000"/>
                          </a:solidFill>
                          <a:latin typeface="Courier New"/>
                          <a:ea typeface="Courier New"/>
                        </a:rPr>
                        <a:t>01071431:4: ... is not in sync</a:t>
                      </a:r>
                      <a:endParaRPr lang="en-US" sz="75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800" b="0" strike="noStrike" spc="-1">
                          <a:solidFill>
                            <a:srgbClr val="000000"/>
                          </a:solidFill>
                          <a:latin typeface="Calibri"/>
                        </a:rPr>
                        <a:t>Config sync out of sync (Changes Pending)</a:t>
                      </a:r>
                      <a:endParaRPr lang="en-US" sz="8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800" b="0" strike="noStrike" spc="-1">
                          <a:solidFill>
                            <a:srgbClr val="000000"/>
                          </a:solidFill>
                          <a:latin typeface="Calibri"/>
                        </a:rPr>
                        <a:t>Run config sync from correct device</a:t>
                      </a:r>
                      <a:endParaRPr lang="en-US" sz="8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3"/>
                  </a:ext>
                </a:extLst>
              </a:tr>
              <a:tr h="0">
                <a:tc>
                  <a:txBody>
                    <a:bodyPr/>
                    <a:lstStyle/>
                    <a:p>
                      <a:pPr defTabSz="914400">
                        <a:lnSpc>
                          <a:spcPct val="100000"/>
                        </a:lnSpc>
                        <a:tabLst>
                          <a:tab pos="0" algn="l"/>
                        </a:tabLst>
                      </a:pPr>
                      <a:r>
                        <a:rPr lang="en-US" sz="750" b="0" strike="noStrike" spc="-1">
                          <a:solidFill>
                            <a:srgbClr val="000000"/>
                          </a:solidFill>
                          <a:latin typeface="Courier New"/>
                          <a:ea typeface="Courier New"/>
                        </a:rPr>
                        <a:t>01070712:4: ... config sync failed</a:t>
                      </a:r>
                      <a:endParaRPr lang="en-US" sz="75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800" b="0" strike="noStrike" spc="-1">
                          <a:solidFill>
                            <a:srgbClr val="000000"/>
                          </a:solidFill>
                          <a:latin typeface="Calibri"/>
                        </a:rPr>
                        <a:t>Sync failed — dependency error, cert issue, or port blocked</a:t>
                      </a:r>
                      <a:endParaRPr lang="en-US" sz="8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800" b="0" strike="noStrike" spc="-1">
                          <a:solidFill>
                            <a:srgbClr val="000000"/>
                          </a:solidFill>
                          <a:latin typeface="Calibri"/>
                        </a:rPr>
                        <a:t>Check TCP 4353, resolve dependencies, try full overwrite</a:t>
                      </a:r>
                      <a:endParaRPr lang="en-US" sz="8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4"/>
                  </a:ext>
                </a:extLst>
              </a:tr>
              <a:tr h="0">
                <a:tc>
                  <a:txBody>
                    <a:bodyPr/>
                    <a:lstStyle/>
                    <a:p>
                      <a:pPr defTabSz="914400">
                        <a:lnSpc>
                          <a:spcPct val="100000"/>
                        </a:lnSpc>
                        <a:tabLst>
                          <a:tab pos="0" algn="l"/>
                        </a:tabLst>
                      </a:pPr>
                      <a:r>
                        <a:rPr lang="en-US" sz="750" b="0" strike="noStrike" spc="-1">
                          <a:solidFill>
                            <a:srgbClr val="000000"/>
                          </a:solidFill>
                          <a:latin typeface="Courier New"/>
                          <a:ea typeface="Courier New"/>
                        </a:rPr>
                        <a:t>01071406:1: ... device trust certificate expired</a:t>
                      </a:r>
                      <a:endParaRPr lang="en-US" sz="75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800" b="0" strike="noStrike" spc="-1">
                          <a:solidFill>
                            <a:srgbClr val="E4002B"/>
                          </a:solidFill>
                          <a:latin typeface="Calibri"/>
                        </a:rPr>
                        <a:t>Device trust cert expired → all HA communication fails</a:t>
                      </a:r>
                      <a:endParaRPr lang="en-US" sz="8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800" b="0" strike="noStrike" spc="-1">
                          <a:solidFill>
                            <a:srgbClr val="000000"/>
                          </a:solidFill>
                          <a:latin typeface="Calibri"/>
                        </a:rPr>
                        <a:t>Renew cert (3650 days), reset device trust</a:t>
                      </a:r>
                      <a:endParaRPr lang="en-US" sz="8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2069" name="Text 9"/>
          <p:cNvSpPr/>
          <p:nvPr/>
        </p:nvSpPr>
        <p:spPr>
          <a:xfrm>
            <a:off x="540757" y="2639640"/>
            <a:ext cx="45716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0E41AA"/>
                </a:solidFill>
                <a:latin typeface="Arial"/>
                <a:ea typeface="Arial"/>
              </a:rPr>
              <a:t>TMSH troubleshooting commands</a:t>
            </a:r>
            <a:endParaRPr lang="en-US" sz="1400" b="0" strike="noStrike" spc="-1">
              <a:solidFill>
                <a:srgbClr val="000000"/>
              </a:solidFill>
              <a:latin typeface="Arial"/>
            </a:endParaRPr>
          </a:p>
        </p:txBody>
      </p:sp>
      <p:sp>
        <p:nvSpPr>
          <p:cNvPr id="2070" name="Shape 10"/>
          <p:cNvSpPr/>
          <p:nvPr/>
        </p:nvSpPr>
        <p:spPr>
          <a:xfrm>
            <a:off x="428822" y="2892417"/>
            <a:ext cx="8229240" cy="1953903"/>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071" name="Text 11"/>
          <p:cNvSpPr/>
          <p:nvPr/>
        </p:nvSpPr>
        <p:spPr>
          <a:xfrm>
            <a:off x="565982" y="2910777"/>
            <a:ext cx="7954920" cy="2011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ts val="1199"/>
              </a:lnSpc>
            </a:pPr>
            <a:r>
              <a:rPr lang="en-US" sz="1000" b="0" strike="noStrike" spc="-1">
                <a:solidFill>
                  <a:schemeClr val="dk1"/>
                </a:solidFill>
                <a:latin typeface="Courier New"/>
              </a:rPr>
              <a:t># Check sync status (In Sync / Changes Pending / Awaiting Initial Sync)</a:t>
            </a:r>
            <a:endParaRPr lang="en-US" sz="1000" b="0" strike="noStrike" spc="-1">
              <a:solidFill>
                <a:srgbClr val="000000"/>
              </a:solidFill>
              <a:latin typeface="Arial"/>
            </a:endParaRPr>
          </a:p>
          <a:p>
            <a:pPr defTabSz="914400">
              <a:lnSpc>
                <a:spcPts val="1199"/>
              </a:lnSpc>
            </a:pPr>
            <a:r>
              <a:rPr lang="en-US" sz="1000" b="0" strike="noStrike" spc="-1">
                <a:solidFill>
                  <a:schemeClr val="dk1"/>
                </a:solidFill>
                <a:latin typeface="Courier New"/>
              </a:rPr>
              <a:t>show cm sync-status</a:t>
            </a:r>
            <a:endParaRPr lang="en-US" sz="1000" b="0" strike="noStrike" spc="-1">
              <a:solidFill>
                <a:srgbClr val="000000"/>
              </a:solidFill>
              <a:latin typeface="Arial"/>
            </a:endParaRPr>
          </a:p>
          <a:p>
            <a:pPr defTabSz="914400">
              <a:lnSpc>
                <a:spcPts val="400"/>
              </a:lnSpc>
            </a:pPr>
            <a:endParaRPr lang="en-US" sz="400" b="0" strike="noStrike" spc="-1">
              <a:solidFill>
                <a:srgbClr val="000000"/>
              </a:solidFill>
              <a:latin typeface="Arial"/>
            </a:endParaRPr>
          </a:p>
          <a:p>
            <a:pPr defTabSz="914400">
              <a:lnSpc>
                <a:spcPts val="1199"/>
              </a:lnSpc>
            </a:pPr>
            <a:r>
              <a:rPr lang="en-US" sz="1000" b="0" strike="noStrike" spc="-1">
                <a:solidFill>
                  <a:schemeClr val="dk1"/>
                </a:solidFill>
                <a:latin typeface="Courier New"/>
              </a:rPr>
              <a:t># Check failover status (active / standby / offline)</a:t>
            </a:r>
            <a:endParaRPr lang="en-US" sz="1000" b="0" strike="noStrike" spc="-1">
              <a:solidFill>
                <a:srgbClr val="000000"/>
              </a:solidFill>
              <a:latin typeface="Arial"/>
            </a:endParaRPr>
          </a:p>
          <a:p>
            <a:pPr defTabSz="914400">
              <a:lnSpc>
                <a:spcPts val="1199"/>
              </a:lnSpc>
            </a:pPr>
            <a:r>
              <a:rPr lang="en-US" sz="1000" b="0" strike="noStrike" spc="-1">
                <a:solidFill>
                  <a:schemeClr val="dk1"/>
                </a:solidFill>
                <a:latin typeface="Courier New"/>
              </a:rPr>
              <a:t>show sys failover</a:t>
            </a:r>
            <a:endParaRPr lang="en-US" sz="1000" b="0" strike="noStrike" spc="-1">
              <a:solidFill>
                <a:srgbClr val="000000"/>
              </a:solidFill>
              <a:latin typeface="Arial"/>
            </a:endParaRPr>
          </a:p>
          <a:p>
            <a:pPr defTabSz="914400">
              <a:lnSpc>
                <a:spcPts val="400"/>
              </a:lnSpc>
            </a:pPr>
            <a:endParaRPr lang="en-US" sz="400" b="0" strike="noStrike" spc="-1">
              <a:solidFill>
                <a:srgbClr val="000000"/>
              </a:solidFill>
              <a:latin typeface="Arial"/>
            </a:endParaRPr>
          </a:p>
          <a:p>
            <a:pPr defTabSz="914400">
              <a:lnSpc>
                <a:spcPts val="1199"/>
              </a:lnSpc>
            </a:pPr>
            <a:r>
              <a:rPr lang="en-US" sz="1000" b="0" strike="noStrike" spc="-1">
                <a:solidFill>
                  <a:schemeClr val="dk1"/>
                </a:solidFill>
                <a:latin typeface="Courier New"/>
              </a:rPr>
              <a:t># Check device group status and members</a:t>
            </a:r>
            <a:endParaRPr lang="en-US" sz="1000" b="0" strike="noStrike" spc="-1">
              <a:solidFill>
                <a:srgbClr val="000000"/>
              </a:solidFill>
              <a:latin typeface="Arial"/>
            </a:endParaRPr>
          </a:p>
          <a:p>
            <a:pPr defTabSz="914400">
              <a:lnSpc>
                <a:spcPts val="1199"/>
              </a:lnSpc>
            </a:pPr>
            <a:r>
              <a:rPr lang="en-US" sz="1000" b="0" strike="noStrike" spc="-1">
                <a:solidFill>
                  <a:schemeClr val="dk1"/>
                </a:solidFill>
                <a:latin typeface="Courier New"/>
              </a:rPr>
              <a:t>show cm device-group</a:t>
            </a:r>
            <a:endParaRPr lang="en-US" sz="1000" b="0" strike="noStrike" spc="-1">
              <a:solidFill>
                <a:srgbClr val="000000"/>
              </a:solidFill>
              <a:latin typeface="Arial"/>
            </a:endParaRPr>
          </a:p>
          <a:p>
            <a:pPr defTabSz="914400">
              <a:lnSpc>
                <a:spcPts val="400"/>
              </a:lnSpc>
            </a:pPr>
            <a:endParaRPr lang="en-US" sz="400" b="0" strike="noStrike" spc="-1">
              <a:solidFill>
                <a:srgbClr val="000000"/>
              </a:solidFill>
              <a:latin typeface="Arial"/>
            </a:endParaRPr>
          </a:p>
          <a:p>
            <a:pPr defTabSz="914400">
              <a:lnSpc>
                <a:spcPts val="1199"/>
              </a:lnSpc>
            </a:pPr>
            <a:r>
              <a:rPr lang="en-US" sz="1000" b="0" strike="noStrike" spc="-1">
                <a:solidFill>
                  <a:schemeClr val="dk1"/>
                </a:solidFill>
                <a:latin typeface="Courier New"/>
              </a:rPr>
              <a:t># Check traffic group status (which device owns which TG)</a:t>
            </a:r>
            <a:endParaRPr lang="en-US" sz="1000" b="0" strike="noStrike" spc="-1">
              <a:solidFill>
                <a:srgbClr val="000000"/>
              </a:solidFill>
              <a:latin typeface="Arial"/>
            </a:endParaRPr>
          </a:p>
          <a:p>
            <a:pPr defTabSz="914400">
              <a:lnSpc>
                <a:spcPts val="1199"/>
              </a:lnSpc>
            </a:pPr>
            <a:r>
              <a:rPr lang="en-US" sz="1000" b="0" strike="noStrike" spc="-1">
                <a:solidFill>
                  <a:schemeClr val="dk1"/>
                </a:solidFill>
                <a:latin typeface="Courier New"/>
              </a:rPr>
              <a:t>show cm traffic-group</a:t>
            </a:r>
            <a:endParaRPr lang="en-US" sz="1000" b="0" strike="noStrike" spc="-1">
              <a:solidFill>
                <a:srgbClr val="000000"/>
              </a:solidFill>
              <a:latin typeface="Arial"/>
            </a:endParaRPr>
          </a:p>
          <a:p>
            <a:pPr defTabSz="914400">
              <a:lnSpc>
                <a:spcPts val="400"/>
              </a:lnSpc>
            </a:pPr>
            <a:endParaRPr lang="en-US" sz="400" b="0" strike="noStrike" spc="-1">
              <a:solidFill>
                <a:srgbClr val="000000"/>
              </a:solidFill>
              <a:latin typeface="Arial"/>
            </a:endParaRPr>
          </a:p>
          <a:p>
            <a:pPr defTabSz="914400">
              <a:lnSpc>
                <a:spcPts val="1199"/>
              </a:lnSpc>
            </a:pPr>
            <a:r>
              <a:rPr lang="en-US" sz="1000" b="0" strike="noStrike" spc="-1">
                <a:solidFill>
                  <a:schemeClr val="dk1"/>
                </a:solidFill>
                <a:latin typeface="Courier New"/>
              </a:rPr>
              <a:t># View failover and HA log messages</a:t>
            </a:r>
            <a:endParaRPr lang="en-US" sz="1000" b="0" strike="noStrike" spc="-1">
              <a:solidFill>
                <a:srgbClr val="000000"/>
              </a:solidFill>
              <a:latin typeface="Arial"/>
            </a:endParaRPr>
          </a:p>
          <a:p>
            <a:pPr defTabSz="914400">
              <a:lnSpc>
                <a:spcPts val="1199"/>
              </a:lnSpc>
            </a:pPr>
            <a:r>
              <a:rPr lang="en-US" sz="1000" b="0" strike="noStrike" spc="-1">
                <a:solidFill>
                  <a:schemeClr val="dk1"/>
                </a:solidFill>
                <a:latin typeface="Courier New"/>
              </a:rPr>
              <a:t>tail -f /var/log/</a:t>
            </a:r>
            <a:r>
              <a:rPr lang="en-US" sz="1000" b="0" strike="noStrike" spc="-1" err="1">
                <a:solidFill>
                  <a:schemeClr val="dk1"/>
                </a:solidFill>
                <a:latin typeface="Courier New"/>
              </a:rPr>
              <a:t>ltm</a:t>
            </a:r>
            <a:r>
              <a:rPr lang="en-US" sz="1000" b="0" strike="noStrike" spc="-1">
                <a:solidFill>
                  <a:schemeClr val="dk1"/>
                </a:solidFill>
                <a:latin typeface="Courier New"/>
              </a:rPr>
              <a:t> | grep -</a:t>
            </a:r>
            <a:r>
              <a:rPr lang="en-US" sz="1000" b="0" strike="noStrike" spc="-1" err="1">
                <a:solidFill>
                  <a:schemeClr val="dk1"/>
                </a:solidFill>
                <a:latin typeface="Courier New"/>
              </a:rPr>
              <a:t>iE</a:t>
            </a:r>
            <a:r>
              <a:rPr lang="en-US" sz="1000" b="0" strike="noStrike" spc="-1">
                <a:solidFill>
                  <a:schemeClr val="dk1"/>
                </a:solidFill>
                <a:latin typeface="Courier New"/>
              </a:rPr>
              <a:t> '</a:t>
            </a:r>
            <a:r>
              <a:rPr lang="en-US" sz="1000" b="0" strike="noStrike" spc="-1" err="1">
                <a:solidFill>
                  <a:schemeClr val="dk1"/>
                </a:solidFill>
                <a:latin typeface="Courier New"/>
              </a:rPr>
              <a:t>failover|sync|trust|HA</a:t>
            </a:r>
            <a:r>
              <a:rPr lang="en-US" sz="1000" b="0" strike="noStrike" spc="-1">
                <a:solidFill>
                  <a:schemeClr val="dk1"/>
                </a:solidFill>
                <a:latin typeface="Courier New"/>
              </a:rPr>
              <a:t>'</a:t>
            </a:r>
            <a:endParaRPr lang="en-US" sz="1000" b="0" strike="noStrike" spc="-1">
              <a:solidFill>
                <a:srgbClr val="000000"/>
              </a:solidFill>
              <a:latin typeface="Arial"/>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72"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073"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074"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075"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076"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077"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94    © 2026 F5</a:t>
            </a:r>
            <a:endParaRPr lang="en-US" sz="800" b="0" strike="noStrike" spc="-1">
              <a:solidFill>
                <a:srgbClr val="000000"/>
              </a:solidFill>
              <a:latin typeface="Arial"/>
            </a:endParaRPr>
          </a:p>
        </p:txBody>
      </p:sp>
      <p:pic>
        <p:nvPicPr>
          <p:cNvPr id="2078" name="Image 0" descr="preencoded.png"/>
          <p:cNvPicPr/>
          <p:nvPr/>
        </p:nvPicPr>
        <p:blipFill>
          <a:blip r:embed="rId3"/>
          <a:stretch/>
        </p:blipFill>
        <p:spPr>
          <a:xfrm>
            <a:off x="8458200" y="4663440"/>
            <a:ext cx="383760" cy="383760"/>
          </a:xfrm>
          <a:prstGeom prst="rect">
            <a:avLst/>
          </a:prstGeom>
          <a:ln w="0">
            <a:noFill/>
          </a:ln>
        </p:spPr>
      </p:pic>
      <p:sp>
        <p:nvSpPr>
          <p:cNvPr id="2079" name="Text 6"/>
          <p:cNvSpPr/>
          <p:nvPr/>
        </p:nvSpPr>
        <p:spPr>
          <a:xfrm>
            <a:off x="457200" y="274320"/>
            <a:ext cx="73148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Lab 10 — Hands-on exercises</a:t>
            </a:r>
            <a:endParaRPr lang="en-US" sz="2800" b="0" strike="noStrike" spc="-1">
              <a:solidFill>
                <a:srgbClr val="000000"/>
              </a:solidFill>
              <a:latin typeface="Arial"/>
            </a:endParaRPr>
          </a:p>
        </p:txBody>
      </p:sp>
      <p:sp>
        <p:nvSpPr>
          <p:cNvPr id="2080" name="Text 7"/>
          <p:cNvSpPr/>
          <p:nvPr/>
        </p:nvSpPr>
        <p:spPr>
          <a:xfrm>
            <a:off x="457200" y="658440"/>
            <a:ext cx="73148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009639"/>
                </a:solidFill>
                <a:latin typeface="Calibri"/>
                <a:ea typeface="Calibri"/>
              </a:rPr>
              <a:t>45 minutes  |  Lab guide: Module 10</a:t>
            </a:r>
            <a:endParaRPr lang="en-US" sz="1400" b="0" strike="noStrike" spc="-1">
              <a:solidFill>
                <a:srgbClr val="000000"/>
              </a:solidFill>
              <a:latin typeface="Arial"/>
            </a:endParaRPr>
          </a:p>
        </p:txBody>
      </p:sp>
      <p:graphicFrame>
        <p:nvGraphicFramePr>
          <p:cNvPr id="2081" name="Table 0"/>
          <p:cNvGraphicFramePr/>
          <p:nvPr/>
        </p:nvGraphicFramePr>
        <p:xfrm>
          <a:off x="365760" y="960120"/>
          <a:ext cx="7772400" cy="1874520"/>
        </p:xfrm>
        <a:graphic>
          <a:graphicData uri="http://schemas.openxmlformats.org/drawingml/2006/table">
            <a:tbl>
              <a:tblPr/>
              <a:tblGrid>
                <a:gridCol w="32004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5486400">
                  <a:extLst>
                    <a:ext uri="{9D8B030D-6E8A-4147-A177-3AD203B41FA5}">
                      <a16:colId xmlns:a16="http://schemas.microsoft.com/office/drawing/2014/main" val="20002"/>
                    </a:ext>
                  </a:extLst>
                </a:gridCol>
                <a:gridCol w="594360">
                  <a:extLst>
                    <a:ext uri="{9D8B030D-6E8A-4147-A177-3AD203B41FA5}">
                      <a16:colId xmlns:a16="http://schemas.microsoft.com/office/drawing/2014/main" val="20003"/>
                    </a:ext>
                  </a:extLst>
                </a:gridCol>
              </a:tblGrid>
              <a:tr h="274320">
                <a:tc>
                  <a:txBody>
                    <a:bodyPr/>
                    <a:lstStyle/>
                    <a:p>
                      <a:pPr algn="ctr" defTabSz="914400">
                        <a:lnSpc>
                          <a:spcPct val="100000"/>
                        </a:lnSpc>
                        <a:tabLst>
                          <a:tab pos="0" algn="l"/>
                        </a:tabLst>
                      </a:pPr>
                      <a:r>
                        <a:rPr lang="en-US" sz="1000" b="1" strike="noStrike" spc="-1">
                          <a:solidFill>
                            <a:srgbClr val="FFFFFF"/>
                          </a:solidFill>
                          <a:latin typeface="Calibri"/>
                        </a:rPr>
                        <a:t>#</a:t>
                      </a:r>
                      <a:endParaRPr lang="en-US" sz="10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09639"/>
                    </a:solidFill>
                  </a:tcPr>
                </a:tc>
                <a:tc>
                  <a:txBody>
                    <a:bodyPr/>
                    <a:lstStyle/>
                    <a:p>
                      <a:pPr defTabSz="914400">
                        <a:lnSpc>
                          <a:spcPct val="100000"/>
                        </a:lnSpc>
                        <a:tabLst>
                          <a:tab pos="0" algn="l"/>
                        </a:tabLst>
                      </a:pPr>
                      <a:r>
                        <a:rPr lang="en-US" sz="1100" b="1" strike="noStrike" spc="-1">
                          <a:solidFill>
                            <a:srgbClr val="FFFFFF"/>
                          </a:solidFill>
                          <a:latin typeface="Calibri"/>
                        </a:rPr>
                        <a:t>Activity</a:t>
                      </a:r>
                      <a:endParaRPr lang="en-US" sz="11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09639"/>
                    </a:solidFill>
                  </a:tcPr>
                </a:tc>
                <a:tc>
                  <a:txBody>
                    <a:bodyPr/>
                    <a:lstStyle/>
                    <a:p>
                      <a:pPr defTabSz="914400">
                        <a:lnSpc>
                          <a:spcPct val="100000"/>
                        </a:lnSpc>
                        <a:tabLst>
                          <a:tab pos="0" algn="l"/>
                        </a:tabLst>
                      </a:pPr>
                      <a:r>
                        <a:rPr lang="en-US" sz="1100" b="1" strike="noStrike" spc="-1">
                          <a:solidFill>
                            <a:srgbClr val="FFFFFF"/>
                          </a:solidFill>
                          <a:latin typeface="Calibri"/>
                        </a:rPr>
                        <a:t>Key tasks</a:t>
                      </a:r>
                      <a:endParaRPr lang="en-US" sz="11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09639"/>
                    </a:solidFill>
                  </a:tcPr>
                </a:tc>
                <a:tc>
                  <a:txBody>
                    <a:bodyPr/>
                    <a:lstStyle/>
                    <a:p>
                      <a:pPr algn="ctr" defTabSz="914400">
                        <a:lnSpc>
                          <a:spcPct val="100000"/>
                        </a:lnSpc>
                        <a:tabLst>
                          <a:tab pos="0" algn="l"/>
                        </a:tabLst>
                      </a:pPr>
                      <a:r>
                        <a:rPr lang="en-US" sz="1000" b="1" strike="noStrike" spc="-1">
                          <a:solidFill>
                            <a:srgbClr val="FFFFFF"/>
                          </a:solidFill>
                          <a:latin typeface="Calibri"/>
                        </a:rPr>
                        <a:t>Time</a:t>
                      </a:r>
                      <a:endParaRPr lang="en-US" sz="10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09639"/>
                    </a:solidFill>
                  </a:tcPr>
                </a:tc>
                <a:extLst>
                  <a:ext uri="{0D108BD9-81ED-4DB2-BD59-A6C34878D82A}">
                    <a16:rowId xmlns:a16="http://schemas.microsoft.com/office/drawing/2014/main" val="10000"/>
                  </a:ext>
                </a:extLst>
              </a:tr>
              <a:tr h="548640">
                <a:tc>
                  <a:txBody>
                    <a:bodyPr/>
                    <a:lstStyle/>
                    <a:p>
                      <a:pPr algn="ctr" defTabSz="914400">
                        <a:lnSpc>
                          <a:spcPct val="100000"/>
                        </a:lnSpc>
                        <a:tabLst>
                          <a:tab pos="0" algn="l"/>
                        </a:tabLst>
                      </a:pPr>
                      <a:r>
                        <a:rPr lang="en-US" sz="1100" b="0" strike="noStrike" spc="-1">
                          <a:solidFill>
                            <a:srgbClr val="000000"/>
                          </a:solidFill>
                          <a:latin typeface="Calibri"/>
                        </a:rPr>
                        <a:t>1</a:t>
                      </a:r>
                      <a:endParaRPr lang="en-US" sz="11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1100" b="1" strike="noStrike" spc="-1">
                          <a:solidFill>
                            <a:srgbClr val="000000"/>
                          </a:solidFill>
                          <a:latin typeface="Calibri"/>
                        </a:rPr>
                        <a:t>Building a DSC</a:t>
                      </a:r>
                      <a:endParaRPr lang="en-US" sz="11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800" b="0" strike="noStrike" spc="-1">
                          <a:solidFill>
                            <a:srgbClr val="333333"/>
                          </a:solidFill>
                          <a:latin typeface="Calibri"/>
                        </a:rPr>
                        <a:t>Prep both devices. Configure ConfigSync/Failover/Mirror addresses. Build trust. Create Sync-Failover group. Resolve avr dependency. Initial sync.</a:t>
                      </a:r>
                      <a:endParaRPr lang="en-US" sz="8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algn="ctr" defTabSz="914400">
                        <a:lnSpc>
                          <a:spcPct val="100000"/>
                        </a:lnSpc>
                        <a:tabLst>
                          <a:tab pos="0" algn="l"/>
                        </a:tabLst>
                      </a:pPr>
                      <a:r>
                        <a:rPr lang="en-US" sz="1000" b="0" strike="noStrike" spc="-1">
                          <a:solidFill>
                            <a:srgbClr val="666666"/>
                          </a:solidFill>
                          <a:latin typeface="Calibri"/>
                        </a:rPr>
                        <a:t>20m</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1"/>
                  </a:ext>
                </a:extLst>
              </a:tr>
              <a:tr h="548640">
                <a:tc>
                  <a:txBody>
                    <a:bodyPr/>
                    <a:lstStyle/>
                    <a:p>
                      <a:pPr algn="ctr" defTabSz="914400">
                        <a:lnSpc>
                          <a:spcPct val="100000"/>
                        </a:lnSpc>
                        <a:tabLst>
                          <a:tab pos="0" algn="l"/>
                        </a:tabLst>
                      </a:pPr>
                      <a:r>
                        <a:rPr lang="en-US" sz="1100" b="0" strike="noStrike" spc="-1">
                          <a:solidFill>
                            <a:srgbClr val="000000"/>
                          </a:solidFill>
                          <a:latin typeface="Calibri"/>
                        </a:rPr>
                        <a:t>2</a:t>
                      </a:r>
                      <a:endParaRPr lang="en-US" sz="11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1100" b="1" strike="noStrike" spc="-1">
                          <a:solidFill>
                            <a:srgbClr val="000000"/>
                          </a:solidFill>
                          <a:latin typeface="Calibri"/>
                        </a:rPr>
                        <a:t>Failover + Mirroring</a:t>
                      </a:r>
                      <a:endParaRPr lang="en-US" sz="11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800" b="0" strike="noStrike" spc="-1">
                          <a:solidFill>
                            <a:srgbClr val="333333"/>
                          </a:solidFill>
                          <a:latin typeface="Calibri"/>
                        </a:rPr>
                        <a:t>Make server gateway (10.1.20.240) floating. Test failover. Enable persistence mirroring. Verify records replicate. Failover → confirm persistence survives.</a:t>
                      </a:r>
                      <a:endParaRPr lang="en-US" sz="8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algn="ctr" defTabSz="914400">
                        <a:lnSpc>
                          <a:spcPct val="100000"/>
                        </a:lnSpc>
                        <a:tabLst>
                          <a:tab pos="0" algn="l"/>
                        </a:tabLst>
                      </a:pPr>
                      <a:r>
                        <a:rPr lang="en-US" sz="1000" b="0" strike="noStrike" spc="-1">
                          <a:solidFill>
                            <a:srgbClr val="666666"/>
                          </a:solidFill>
                          <a:latin typeface="Calibri"/>
                        </a:rPr>
                        <a:t>15m</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2"/>
                  </a:ext>
                </a:extLst>
              </a:tr>
              <a:tr h="502920">
                <a:tc>
                  <a:txBody>
                    <a:bodyPr/>
                    <a:lstStyle/>
                    <a:p>
                      <a:pPr algn="ctr" defTabSz="914400">
                        <a:lnSpc>
                          <a:spcPct val="100000"/>
                        </a:lnSpc>
                        <a:tabLst>
                          <a:tab pos="0" algn="l"/>
                        </a:tabLst>
                      </a:pPr>
                      <a:r>
                        <a:rPr lang="en-US" sz="1100" b="0" strike="noStrike" spc="-1">
                          <a:solidFill>
                            <a:srgbClr val="000000"/>
                          </a:solidFill>
                          <a:latin typeface="Calibri"/>
                        </a:rPr>
                        <a:t>3</a:t>
                      </a:r>
                      <a:endParaRPr lang="en-US" sz="11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1100" b="1" strike="noStrike" spc="-1">
                          <a:solidFill>
                            <a:srgbClr val="000000"/>
                          </a:solidFill>
                          <a:latin typeface="Calibri"/>
                        </a:rPr>
                        <a:t>Traffic Groups</a:t>
                      </a:r>
                      <a:endParaRPr lang="en-US" sz="11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800" b="0" strike="noStrike" spc="-1">
                          <a:solidFill>
                            <a:srgbClr val="333333"/>
                          </a:solidFill>
                          <a:latin typeface="Calibri"/>
                        </a:rPr>
                        <a:t>Create tg-2. Move www_vs virtual address to tg-2. Force to standby → active/active. Fix broken FTP by moving SNAT to tg-2.</a:t>
                      </a:r>
                      <a:endParaRPr lang="en-US" sz="8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algn="ctr" defTabSz="914400">
                        <a:lnSpc>
                          <a:spcPct val="100000"/>
                        </a:lnSpc>
                        <a:tabLst>
                          <a:tab pos="0" algn="l"/>
                        </a:tabLst>
                      </a:pPr>
                      <a:r>
                        <a:rPr lang="en-US" sz="1000" b="0" strike="noStrike" spc="-1">
                          <a:solidFill>
                            <a:srgbClr val="666666"/>
                          </a:solidFill>
                          <a:latin typeface="Calibri"/>
                        </a:rPr>
                        <a:t>10m</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2082" name="Shape 8"/>
          <p:cNvSpPr/>
          <p:nvPr/>
        </p:nvSpPr>
        <p:spPr>
          <a:xfrm>
            <a:off x="365760" y="3063240"/>
            <a:ext cx="8412120" cy="319680"/>
          </a:xfrm>
          <a:prstGeom prst="rect">
            <a:avLst/>
          </a:prstGeom>
          <a:solidFill>
            <a:srgbClr val="FFF3E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083" name="Text 9"/>
          <p:cNvSpPr/>
          <p:nvPr/>
        </p:nvSpPr>
        <p:spPr>
          <a:xfrm>
            <a:off x="548640" y="3081600"/>
            <a:ext cx="80463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strike="noStrike" spc="-1">
                <a:solidFill>
                  <a:srgbClr val="F29A36"/>
                </a:solidFill>
                <a:latin typeface="Calibri"/>
                <a:ea typeface="Calibri"/>
              </a:rPr>
              <a:t>Activity 1: </a:t>
            </a:r>
            <a:r>
              <a:rPr lang="en-US" sz="800" b="0" strike="noStrike" spc="-1">
                <a:solidFill>
                  <a:srgbClr val="7A4500"/>
                </a:solidFill>
                <a:latin typeface="Calibri"/>
                <a:ea typeface="Calibri"/>
              </a:rPr>
              <a:t>Initial sync fails on avr_virtual2 dependency. Remove iRule from avr_virtual1, sync, re-add. Teaches: config sync validates object dependencies.</a:t>
            </a:r>
            <a:endParaRPr lang="en-US" sz="800" b="0" strike="noStrike" spc="-1">
              <a:solidFill>
                <a:srgbClr val="000000"/>
              </a:solidFill>
              <a:latin typeface="Arial"/>
            </a:endParaRPr>
          </a:p>
        </p:txBody>
      </p:sp>
      <p:sp>
        <p:nvSpPr>
          <p:cNvPr id="2084" name="Shape 10"/>
          <p:cNvSpPr/>
          <p:nvPr/>
        </p:nvSpPr>
        <p:spPr>
          <a:xfrm>
            <a:off x="365760" y="3474720"/>
            <a:ext cx="8412120" cy="319680"/>
          </a:xfrm>
          <a:prstGeom prst="rect">
            <a:avLst/>
          </a:prstGeom>
          <a:solidFill>
            <a:srgbClr val="FDE8E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085" name="Text 11"/>
          <p:cNvSpPr/>
          <p:nvPr/>
        </p:nvSpPr>
        <p:spPr>
          <a:xfrm>
            <a:off x="548640" y="3493080"/>
            <a:ext cx="80463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strike="noStrike" spc="-1">
                <a:solidFill>
                  <a:srgbClr val="E4002B"/>
                </a:solidFill>
                <a:latin typeface="Calibri"/>
                <a:ea typeface="Calibri"/>
              </a:rPr>
              <a:t>Activity 2: </a:t>
            </a:r>
            <a:r>
              <a:rPr lang="en-US" sz="800" b="0" strike="noStrike" spc="-1">
                <a:solidFill>
                  <a:srgbClr val="7A0000"/>
                </a:solidFill>
                <a:latin typeface="Calibri"/>
                <a:ea typeface="Calibri"/>
              </a:rPr>
              <a:t>Server gateway 10.1.20.240 must float (traffic-group-1). Without it, server responses go to wrong BIG-IP after failover.</a:t>
            </a:r>
            <a:endParaRPr lang="en-US" sz="800" b="0" strike="noStrike" spc="-1">
              <a:solidFill>
                <a:srgbClr val="000000"/>
              </a:solidFill>
              <a:latin typeface="Arial"/>
            </a:endParaRPr>
          </a:p>
        </p:txBody>
      </p:sp>
      <p:sp>
        <p:nvSpPr>
          <p:cNvPr id="2086" name="Shape 12"/>
          <p:cNvSpPr/>
          <p:nvPr/>
        </p:nvSpPr>
        <p:spPr>
          <a:xfrm>
            <a:off x="365760" y="3886200"/>
            <a:ext cx="8412120" cy="319680"/>
          </a:xfrm>
          <a:prstGeom prst="rect">
            <a:avLst/>
          </a:prstGeom>
          <a:solidFill>
            <a:srgbClr val="E8F0F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087" name="Text 13"/>
          <p:cNvSpPr/>
          <p:nvPr/>
        </p:nvSpPr>
        <p:spPr>
          <a:xfrm>
            <a:off x="548640" y="3904560"/>
            <a:ext cx="80463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strike="noStrike" spc="-1">
                <a:solidFill>
                  <a:srgbClr val="0E41AA"/>
                </a:solidFill>
                <a:latin typeface="Calibri"/>
                <a:ea typeface="Calibri"/>
              </a:rPr>
              <a:t>Activity 3: </a:t>
            </a:r>
            <a:r>
              <a:rPr lang="en-US" sz="800" b="0" strike="noStrike" spc="-1">
                <a:solidFill>
                  <a:srgbClr val="1A3A6C"/>
                </a:solidFill>
                <a:latin typeface="Calibri"/>
                <a:ea typeface="Calibri"/>
              </a:rPr>
              <a:t>All objects for one app SAME traffic group. Moving VIP to tg-2 without SNAT breaks FTP. Move SNAT translation to tg-2 to fix.</a:t>
            </a:r>
            <a:endParaRPr lang="en-US" sz="800" b="0" strike="noStrike" spc="-1">
              <a:solidFill>
                <a:srgbClr val="000000"/>
              </a:solidFill>
              <a:latin typeface="Arial"/>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88"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089"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090"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091"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092"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093"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95    © 2026 F5</a:t>
            </a:r>
            <a:endParaRPr lang="en-US" sz="800" b="0" strike="noStrike" spc="-1">
              <a:solidFill>
                <a:srgbClr val="000000"/>
              </a:solidFill>
              <a:latin typeface="Arial"/>
            </a:endParaRPr>
          </a:p>
        </p:txBody>
      </p:sp>
      <p:pic>
        <p:nvPicPr>
          <p:cNvPr id="2094" name="Image 0" descr="preencoded.png"/>
          <p:cNvPicPr/>
          <p:nvPr/>
        </p:nvPicPr>
        <p:blipFill>
          <a:blip r:embed="rId3"/>
          <a:stretch/>
        </p:blipFill>
        <p:spPr>
          <a:xfrm>
            <a:off x="8458200" y="4663440"/>
            <a:ext cx="383760" cy="383760"/>
          </a:xfrm>
          <a:prstGeom prst="rect">
            <a:avLst/>
          </a:prstGeom>
          <a:ln w="0">
            <a:noFill/>
          </a:ln>
        </p:spPr>
      </p:pic>
      <p:sp>
        <p:nvSpPr>
          <p:cNvPr id="2095" name="Text 6"/>
          <p:cNvSpPr/>
          <p:nvPr/>
        </p:nvSpPr>
        <p:spPr>
          <a:xfrm>
            <a:off x="457200" y="274320"/>
            <a:ext cx="82292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Exam checkpoints</a:t>
            </a:r>
            <a:endParaRPr lang="en-US" sz="2800" b="0" strike="noStrike" spc="-1">
              <a:solidFill>
                <a:srgbClr val="000000"/>
              </a:solidFill>
              <a:latin typeface="Arial"/>
            </a:endParaRPr>
          </a:p>
        </p:txBody>
      </p:sp>
      <p:sp>
        <p:nvSpPr>
          <p:cNvPr id="2096" name="Shape 7"/>
          <p:cNvSpPr/>
          <p:nvPr/>
        </p:nvSpPr>
        <p:spPr>
          <a:xfrm>
            <a:off x="457200" y="777240"/>
            <a:ext cx="365400" cy="22824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097" name="Text 8"/>
          <p:cNvSpPr/>
          <p:nvPr/>
        </p:nvSpPr>
        <p:spPr>
          <a:xfrm>
            <a:off x="457200" y="777240"/>
            <a:ext cx="3654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strike="noStrike" spc="-1">
                <a:solidFill>
                  <a:srgbClr val="FFFFFF"/>
                </a:solidFill>
                <a:latin typeface="Arial"/>
                <a:ea typeface="Arial"/>
              </a:rPr>
              <a:t>Q1</a:t>
            </a:r>
            <a:endParaRPr lang="en-US" sz="1000" b="0" strike="noStrike" spc="-1">
              <a:solidFill>
                <a:srgbClr val="000000"/>
              </a:solidFill>
              <a:latin typeface="Arial"/>
            </a:endParaRPr>
          </a:p>
        </p:txBody>
      </p:sp>
      <p:sp>
        <p:nvSpPr>
          <p:cNvPr id="2098" name="Text 9"/>
          <p:cNvSpPr/>
          <p:nvPr/>
        </p:nvSpPr>
        <p:spPr>
          <a:xfrm>
            <a:off x="914400" y="777240"/>
            <a:ext cx="786348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333333"/>
                </a:solidFill>
                <a:latin typeface="Calibri"/>
                <a:ea typeface="Calibri"/>
              </a:rPr>
              <a:t>What is the difference between a traffic group and an HA group? Which one TRIGGERS failover?</a:t>
            </a:r>
            <a:endParaRPr lang="en-US" sz="1000" b="0" strike="noStrike" spc="-1">
              <a:solidFill>
                <a:srgbClr val="000000"/>
              </a:solidFill>
              <a:latin typeface="Arial"/>
            </a:endParaRPr>
          </a:p>
        </p:txBody>
      </p:sp>
      <p:sp>
        <p:nvSpPr>
          <p:cNvPr id="2099" name="Shape 10"/>
          <p:cNvSpPr/>
          <p:nvPr/>
        </p:nvSpPr>
        <p:spPr>
          <a:xfrm>
            <a:off x="457200" y="1463040"/>
            <a:ext cx="365400" cy="22824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100" name="Text 11"/>
          <p:cNvSpPr/>
          <p:nvPr/>
        </p:nvSpPr>
        <p:spPr>
          <a:xfrm>
            <a:off x="457200" y="1463040"/>
            <a:ext cx="3654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strike="noStrike" spc="-1">
                <a:solidFill>
                  <a:srgbClr val="FFFFFF"/>
                </a:solidFill>
                <a:latin typeface="Arial"/>
                <a:ea typeface="Arial"/>
              </a:rPr>
              <a:t>Q2</a:t>
            </a:r>
            <a:endParaRPr lang="en-US" sz="1000" b="0" strike="noStrike" spc="-1">
              <a:solidFill>
                <a:srgbClr val="000000"/>
              </a:solidFill>
              <a:latin typeface="Arial"/>
            </a:endParaRPr>
          </a:p>
        </p:txBody>
      </p:sp>
      <p:sp>
        <p:nvSpPr>
          <p:cNvPr id="2101" name="Text 12"/>
          <p:cNvSpPr/>
          <p:nvPr/>
        </p:nvSpPr>
        <p:spPr>
          <a:xfrm>
            <a:off x="914400" y="1463040"/>
            <a:ext cx="786348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333333"/>
                </a:solidFill>
                <a:latin typeface="Calibri"/>
                <a:ea typeface="Calibri"/>
              </a:rPr>
              <a:t>You configure two unicast failover addresses. One becomes unreachable but the peer is still alive. Does failover occur? Why?</a:t>
            </a:r>
            <a:endParaRPr lang="en-US" sz="1000" b="0" strike="noStrike" spc="-1">
              <a:solidFill>
                <a:srgbClr val="000000"/>
              </a:solidFill>
              <a:latin typeface="Arial"/>
            </a:endParaRPr>
          </a:p>
        </p:txBody>
      </p:sp>
      <p:sp>
        <p:nvSpPr>
          <p:cNvPr id="2102" name="Shape 13"/>
          <p:cNvSpPr/>
          <p:nvPr/>
        </p:nvSpPr>
        <p:spPr>
          <a:xfrm>
            <a:off x="457200" y="2148840"/>
            <a:ext cx="365400" cy="22824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103" name="Text 14"/>
          <p:cNvSpPr/>
          <p:nvPr/>
        </p:nvSpPr>
        <p:spPr>
          <a:xfrm>
            <a:off x="457200" y="2148840"/>
            <a:ext cx="3654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strike="noStrike" spc="-1">
                <a:solidFill>
                  <a:srgbClr val="FFFFFF"/>
                </a:solidFill>
                <a:latin typeface="Arial"/>
                <a:ea typeface="Arial"/>
              </a:rPr>
              <a:t>Q3</a:t>
            </a:r>
            <a:endParaRPr lang="en-US" sz="1000" b="0" strike="noStrike" spc="-1">
              <a:solidFill>
                <a:srgbClr val="000000"/>
              </a:solidFill>
              <a:latin typeface="Arial"/>
            </a:endParaRPr>
          </a:p>
        </p:txBody>
      </p:sp>
      <p:sp>
        <p:nvSpPr>
          <p:cNvPr id="2104" name="Text 15"/>
          <p:cNvSpPr/>
          <p:nvPr/>
        </p:nvSpPr>
        <p:spPr>
          <a:xfrm>
            <a:off x="914400" y="2148840"/>
            <a:ext cx="786348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333333"/>
                </a:solidFill>
                <a:latin typeface="Calibri"/>
                <a:ea typeface="Calibri"/>
              </a:rPr>
              <a:t>show cm sync-status reports 'Disconnected'. /var/log/ltm shows 'config sync failed'. What do you check first?</a:t>
            </a:r>
            <a:endParaRPr lang="en-US" sz="1000" b="0" strike="noStrike" spc="-1">
              <a:solidFill>
                <a:srgbClr val="000000"/>
              </a:solidFill>
              <a:latin typeface="Arial"/>
            </a:endParaRPr>
          </a:p>
        </p:txBody>
      </p:sp>
      <p:sp>
        <p:nvSpPr>
          <p:cNvPr id="2105" name="Shape 16"/>
          <p:cNvSpPr/>
          <p:nvPr/>
        </p:nvSpPr>
        <p:spPr>
          <a:xfrm>
            <a:off x="457200" y="2834640"/>
            <a:ext cx="365400" cy="22824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106" name="Text 17"/>
          <p:cNvSpPr/>
          <p:nvPr/>
        </p:nvSpPr>
        <p:spPr>
          <a:xfrm>
            <a:off x="457200" y="2834640"/>
            <a:ext cx="3654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strike="noStrike" spc="-1">
                <a:solidFill>
                  <a:srgbClr val="FFFFFF"/>
                </a:solidFill>
                <a:latin typeface="Arial"/>
                <a:ea typeface="Arial"/>
              </a:rPr>
              <a:t>Q4</a:t>
            </a:r>
            <a:endParaRPr lang="en-US" sz="1000" b="0" strike="noStrike" spc="-1">
              <a:solidFill>
                <a:srgbClr val="000000"/>
              </a:solidFill>
              <a:latin typeface="Arial"/>
            </a:endParaRPr>
          </a:p>
        </p:txBody>
      </p:sp>
      <p:sp>
        <p:nvSpPr>
          <p:cNvPr id="2107" name="Text 18"/>
          <p:cNvSpPr/>
          <p:nvPr/>
        </p:nvSpPr>
        <p:spPr>
          <a:xfrm>
            <a:off x="914400" y="2834640"/>
            <a:ext cx="786348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333333"/>
                </a:solidFill>
                <a:latin typeface="Calibri"/>
                <a:ea typeface="Calibri"/>
              </a:rPr>
              <a:t>The log shows 'device trust certificate expired'. What is the impact, and how do you fix it?</a:t>
            </a:r>
            <a:endParaRPr lang="en-US" sz="1000" b="0" strike="noStrike" spc="-1">
              <a:solidFill>
                <a:srgbClr val="000000"/>
              </a:solidFill>
              <a:latin typeface="Arial"/>
            </a:endParaRPr>
          </a:p>
        </p:txBody>
      </p:sp>
      <p:sp>
        <p:nvSpPr>
          <p:cNvPr id="2108" name="Shape 19"/>
          <p:cNvSpPr/>
          <p:nvPr/>
        </p:nvSpPr>
        <p:spPr>
          <a:xfrm>
            <a:off x="457200" y="3520440"/>
            <a:ext cx="365400" cy="22824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109" name="Text 20"/>
          <p:cNvSpPr/>
          <p:nvPr/>
        </p:nvSpPr>
        <p:spPr>
          <a:xfrm>
            <a:off x="457200" y="3520440"/>
            <a:ext cx="3654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strike="noStrike" spc="-1">
                <a:solidFill>
                  <a:srgbClr val="FFFFFF"/>
                </a:solidFill>
                <a:latin typeface="Arial"/>
                <a:ea typeface="Arial"/>
              </a:rPr>
              <a:t>Q5</a:t>
            </a:r>
            <a:endParaRPr lang="en-US" sz="1000" b="0" strike="noStrike" spc="-1">
              <a:solidFill>
                <a:srgbClr val="000000"/>
              </a:solidFill>
              <a:latin typeface="Arial"/>
            </a:endParaRPr>
          </a:p>
        </p:txBody>
      </p:sp>
      <p:sp>
        <p:nvSpPr>
          <p:cNvPr id="2110" name="Text 21"/>
          <p:cNvSpPr/>
          <p:nvPr/>
        </p:nvSpPr>
        <p:spPr>
          <a:xfrm>
            <a:off x="914400" y="3520440"/>
            <a:ext cx="786348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333333"/>
                </a:solidFill>
                <a:latin typeface="Calibri"/>
                <a:ea typeface="Calibri"/>
              </a:rPr>
              <a:t>You move www_vs virtual address to tg-2 and force tg-2 to standby. FTP through the same VIP breaks. Why?</a:t>
            </a:r>
            <a:endParaRPr lang="en-US" sz="1000" b="0" strike="noStrike" spc="-1">
              <a:solidFill>
                <a:srgbClr val="000000"/>
              </a:solidFill>
              <a:latin typeface="Arial"/>
            </a:endParaRPr>
          </a:p>
        </p:txBody>
      </p:sp>
      <p:sp>
        <p:nvSpPr>
          <p:cNvPr id="2111" name="Shape 22"/>
          <p:cNvSpPr/>
          <p:nvPr/>
        </p:nvSpPr>
        <p:spPr>
          <a:xfrm>
            <a:off x="365760" y="4206240"/>
            <a:ext cx="8412120" cy="411120"/>
          </a:xfrm>
          <a:prstGeom prst="rect">
            <a:avLst/>
          </a:prstGeom>
          <a:solidFill>
            <a:srgbClr val="E8F5E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112" name="Text 23"/>
          <p:cNvSpPr/>
          <p:nvPr/>
        </p:nvSpPr>
        <p:spPr>
          <a:xfrm>
            <a:off x="548640" y="4224600"/>
            <a:ext cx="80463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strike="noStrike" spc="-1">
                <a:solidFill>
                  <a:srgbClr val="1B5E20"/>
                </a:solidFill>
                <a:latin typeface="Calibri"/>
                <a:ea typeface="Calibri"/>
              </a:rPr>
              <a:t>TG = what moves during failover. HA group = when to fail over (health score). Unicast: ANY failure = failover. Logs: /var/log/ltm. Commands: show cm sync-status, show sys failover, show cm traffic-group.</a:t>
            </a:r>
            <a:endParaRPr lang="en-US" sz="900" b="0" strike="noStrike" spc="-1">
              <a:solidFill>
                <a:srgbClr val="000000"/>
              </a:solidFill>
              <a:latin typeface="Arial"/>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13"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114"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115"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116"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117"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118"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96    © 2026 F5</a:t>
            </a:r>
            <a:endParaRPr lang="en-US" sz="800" b="0" strike="noStrike" spc="-1">
              <a:solidFill>
                <a:srgbClr val="000000"/>
              </a:solidFill>
              <a:latin typeface="Arial"/>
            </a:endParaRPr>
          </a:p>
        </p:txBody>
      </p:sp>
      <p:pic>
        <p:nvPicPr>
          <p:cNvPr id="2119" name="Image 0" descr="preencoded.png"/>
          <p:cNvPicPr/>
          <p:nvPr/>
        </p:nvPicPr>
        <p:blipFill>
          <a:blip r:embed="rId3"/>
          <a:stretch/>
        </p:blipFill>
        <p:spPr>
          <a:xfrm>
            <a:off x="8458200" y="4663440"/>
            <a:ext cx="383760" cy="383760"/>
          </a:xfrm>
          <a:prstGeom prst="rect">
            <a:avLst/>
          </a:prstGeom>
          <a:ln w="0">
            <a:noFill/>
          </a:ln>
        </p:spPr>
      </p:pic>
      <p:sp>
        <p:nvSpPr>
          <p:cNvPr id="2120" name="Text 6"/>
          <p:cNvSpPr/>
          <p:nvPr/>
        </p:nvSpPr>
        <p:spPr>
          <a:xfrm>
            <a:off x="457200" y="274320"/>
            <a:ext cx="82292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DSC TMSH reference</a:t>
            </a:r>
            <a:endParaRPr lang="en-US" sz="2800" b="0" strike="noStrike" spc="-1">
              <a:solidFill>
                <a:srgbClr val="000000"/>
              </a:solidFill>
              <a:latin typeface="Arial"/>
            </a:endParaRPr>
          </a:p>
        </p:txBody>
      </p:sp>
      <p:graphicFrame>
        <p:nvGraphicFramePr>
          <p:cNvPr id="2121" name="Table 0"/>
          <p:cNvGraphicFramePr/>
          <p:nvPr/>
        </p:nvGraphicFramePr>
        <p:xfrm>
          <a:off x="365760" y="731520"/>
          <a:ext cx="8412480" cy="2987040"/>
        </p:xfrm>
        <a:graphic>
          <a:graphicData uri="http://schemas.openxmlformats.org/drawingml/2006/table">
            <a:tbl>
              <a:tblPr/>
              <a:tblGrid>
                <a:gridCol w="1463040">
                  <a:extLst>
                    <a:ext uri="{9D8B030D-6E8A-4147-A177-3AD203B41FA5}">
                      <a16:colId xmlns:a16="http://schemas.microsoft.com/office/drawing/2014/main" val="20000"/>
                    </a:ext>
                  </a:extLst>
                </a:gridCol>
                <a:gridCol w="6949440">
                  <a:extLst>
                    <a:ext uri="{9D8B030D-6E8A-4147-A177-3AD203B41FA5}">
                      <a16:colId xmlns:a16="http://schemas.microsoft.com/office/drawing/2014/main" val="20001"/>
                    </a:ext>
                  </a:extLst>
                </a:gridCol>
              </a:tblGrid>
              <a:tr h="0">
                <a:tc>
                  <a:txBody>
                    <a:bodyPr/>
                    <a:lstStyle/>
                    <a:p>
                      <a:pPr defTabSz="914400">
                        <a:lnSpc>
                          <a:spcPct val="100000"/>
                        </a:lnSpc>
                        <a:tabLst>
                          <a:tab pos="0" algn="l"/>
                        </a:tabLst>
                      </a:pPr>
                      <a:r>
                        <a:rPr lang="en-US" sz="800" b="1" strike="noStrike" spc="-1">
                          <a:solidFill>
                            <a:srgbClr val="FFFFFF"/>
                          </a:solidFill>
                          <a:latin typeface="Calibri"/>
                        </a:rPr>
                        <a:t>Task</a:t>
                      </a:r>
                      <a:endParaRPr lang="en-US" sz="800" b="0" strike="noStrike" spc="-1">
                        <a:solidFill>
                          <a:srgbClr val="FFFFFF"/>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E41AA"/>
                    </a:solidFill>
                  </a:tcPr>
                </a:tc>
                <a:tc>
                  <a:txBody>
                    <a:bodyPr/>
                    <a:lstStyle/>
                    <a:p>
                      <a:pPr defTabSz="914400">
                        <a:lnSpc>
                          <a:spcPct val="100000"/>
                        </a:lnSpc>
                        <a:tabLst>
                          <a:tab pos="0" algn="l"/>
                        </a:tabLst>
                      </a:pPr>
                      <a:r>
                        <a:rPr lang="en-US" sz="800" b="1" strike="noStrike" spc="-1">
                          <a:solidFill>
                            <a:srgbClr val="FFFFFF"/>
                          </a:solidFill>
                          <a:latin typeface="Calibri"/>
                        </a:rPr>
                        <a:t>Command</a:t>
                      </a:r>
                      <a:endParaRPr lang="en-US" sz="800" b="0" strike="noStrike" spc="-1">
                        <a:solidFill>
                          <a:srgbClr val="FFFFFF"/>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E41AA"/>
                    </a:solidFill>
                  </a:tcPr>
                </a:tc>
                <a:extLst>
                  <a:ext uri="{0D108BD9-81ED-4DB2-BD59-A6C34878D82A}">
                    <a16:rowId xmlns:a16="http://schemas.microsoft.com/office/drawing/2014/main" val="10000"/>
                  </a:ext>
                </a:extLst>
              </a:tr>
              <a:tr h="0">
                <a:tc>
                  <a:txBody>
                    <a:bodyPr/>
                    <a:lstStyle/>
                    <a:p>
                      <a:pPr defTabSz="914400">
                        <a:lnSpc>
                          <a:spcPct val="100000"/>
                        </a:lnSpc>
                        <a:tabLst>
                          <a:tab pos="0" algn="l"/>
                        </a:tabLst>
                      </a:pPr>
                      <a:r>
                        <a:rPr lang="en-US" sz="800" b="0" strike="noStrike" spc="-1">
                          <a:solidFill>
                            <a:srgbClr val="000000"/>
                          </a:solidFill>
                          <a:latin typeface="Calibri"/>
                        </a:rPr>
                        <a:t>ConfigSync address</a:t>
                      </a:r>
                      <a:endParaRPr lang="en-US" sz="8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750" b="0" strike="noStrike" spc="-1">
                          <a:solidFill>
                            <a:srgbClr val="000000"/>
                          </a:solidFill>
                          <a:latin typeface="Courier New"/>
                          <a:ea typeface="Courier New"/>
                        </a:rPr>
                        <a:t>modify cm device bigip01 configsync-ip 10.1.30.245</a:t>
                      </a:r>
                      <a:endParaRPr lang="en-US" sz="75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1"/>
                  </a:ext>
                </a:extLst>
              </a:tr>
              <a:tr h="0">
                <a:tc>
                  <a:txBody>
                    <a:bodyPr/>
                    <a:lstStyle/>
                    <a:p>
                      <a:pPr defTabSz="914400">
                        <a:lnSpc>
                          <a:spcPct val="100000"/>
                        </a:lnSpc>
                        <a:tabLst>
                          <a:tab pos="0" algn="l"/>
                        </a:tabLst>
                      </a:pPr>
                      <a:r>
                        <a:rPr lang="en-US" sz="800" b="0" strike="noStrike" spc="-1">
                          <a:solidFill>
                            <a:srgbClr val="000000"/>
                          </a:solidFill>
                          <a:latin typeface="Calibri"/>
                        </a:rPr>
                        <a:t>Failover unicast</a:t>
                      </a:r>
                      <a:endParaRPr lang="en-US" sz="8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750" b="0" strike="noStrike" spc="-1">
                          <a:solidFill>
                            <a:srgbClr val="000000"/>
                          </a:solidFill>
                          <a:latin typeface="Courier New"/>
                          <a:ea typeface="Courier New"/>
                        </a:rPr>
                        <a:t>modify cm device bigip01 unicast-address { { ip 10.1.30.245 port 1026 } }</a:t>
                      </a:r>
                      <a:endParaRPr lang="en-US" sz="75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2"/>
                  </a:ext>
                </a:extLst>
              </a:tr>
              <a:tr h="0">
                <a:tc>
                  <a:txBody>
                    <a:bodyPr/>
                    <a:lstStyle/>
                    <a:p>
                      <a:pPr defTabSz="914400">
                        <a:lnSpc>
                          <a:spcPct val="100000"/>
                        </a:lnSpc>
                        <a:tabLst>
                          <a:tab pos="0" algn="l"/>
                        </a:tabLst>
                      </a:pPr>
                      <a:r>
                        <a:rPr lang="en-US" sz="800" b="0" strike="noStrike" spc="-1">
                          <a:solidFill>
                            <a:srgbClr val="000000"/>
                          </a:solidFill>
                          <a:latin typeface="Calibri"/>
                        </a:rPr>
                        <a:t>Mirror address</a:t>
                      </a:r>
                      <a:endParaRPr lang="en-US" sz="8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750" b="0" strike="noStrike" spc="-1">
                          <a:solidFill>
                            <a:srgbClr val="000000"/>
                          </a:solidFill>
                          <a:latin typeface="Courier New"/>
                          <a:ea typeface="Courier New"/>
                        </a:rPr>
                        <a:t>modify cm device bigip01 mirror-ip 10.1.30.245</a:t>
                      </a:r>
                      <a:endParaRPr lang="en-US" sz="75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3"/>
                  </a:ext>
                </a:extLst>
              </a:tr>
              <a:tr h="0">
                <a:tc>
                  <a:txBody>
                    <a:bodyPr/>
                    <a:lstStyle/>
                    <a:p>
                      <a:pPr defTabSz="914400">
                        <a:lnSpc>
                          <a:spcPct val="100000"/>
                        </a:lnSpc>
                        <a:tabLst>
                          <a:tab pos="0" algn="l"/>
                        </a:tabLst>
                      </a:pPr>
                      <a:r>
                        <a:rPr lang="en-US" sz="800" b="0" strike="noStrike" spc="-1">
                          <a:solidFill>
                            <a:srgbClr val="000000"/>
                          </a:solidFill>
                          <a:latin typeface="Calibri"/>
                        </a:rPr>
                        <a:t>Build trust</a:t>
                      </a:r>
                      <a:endParaRPr lang="en-US" sz="8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700" b="0" strike="noStrike" spc="-1">
                          <a:solidFill>
                            <a:srgbClr val="000000"/>
                          </a:solidFill>
                          <a:latin typeface="Courier New"/>
                          <a:ea typeface="Courier New"/>
                        </a:rPr>
                        <a:t>modify cm trust-domain Root add-device { device-ip 10.1.1.246 device-name bigip02 username admin password [pw] }</a:t>
                      </a:r>
                      <a:endParaRPr lang="en-US" sz="7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4"/>
                  </a:ext>
                </a:extLst>
              </a:tr>
              <a:tr h="0">
                <a:tc>
                  <a:txBody>
                    <a:bodyPr/>
                    <a:lstStyle/>
                    <a:p>
                      <a:pPr defTabSz="914400">
                        <a:lnSpc>
                          <a:spcPct val="100000"/>
                        </a:lnSpc>
                        <a:tabLst>
                          <a:tab pos="0" algn="l"/>
                        </a:tabLst>
                      </a:pPr>
                      <a:r>
                        <a:rPr lang="en-US" sz="800" b="0" strike="noStrike" spc="-1">
                          <a:solidFill>
                            <a:srgbClr val="000000"/>
                          </a:solidFill>
                          <a:latin typeface="Calibri"/>
                        </a:rPr>
                        <a:t>Create device group</a:t>
                      </a:r>
                      <a:endParaRPr lang="en-US" sz="8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700" b="0" strike="noStrike" spc="-1">
                          <a:solidFill>
                            <a:srgbClr val="000000"/>
                          </a:solidFill>
                          <a:latin typeface="Courier New"/>
                          <a:ea typeface="Courier New"/>
                        </a:rPr>
                        <a:t>create cm device-group my_dg type sync-failover devices add { bigip01 bigip02 } network-failover enabled</a:t>
                      </a:r>
                      <a:endParaRPr lang="en-US" sz="7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5"/>
                  </a:ext>
                </a:extLst>
              </a:tr>
              <a:tr h="0">
                <a:tc>
                  <a:txBody>
                    <a:bodyPr/>
                    <a:lstStyle/>
                    <a:p>
                      <a:pPr defTabSz="914400">
                        <a:lnSpc>
                          <a:spcPct val="100000"/>
                        </a:lnSpc>
                        <a:tabLst>
                          <a:tab pos="0" algn="l"/>
                        </a:tabLst>
                      </a:pPr>
                      <a:r>
                        <a:rPr lang="en-US" sz="800" b="0" strike="noStrike" spc="-1">
                          <a:solidFill>
                            <a:srgbClr val="000000"/>
                          </a:solidFill>
                          <a:latin typeface="Calibri"/>
                        </a:rPr>
                        <a:t>Sync to group</a:t>
                      </a:r>
                      <a:endParaRPr lang="en-US" sz="8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750" b="0" strike="noStrike" spc="-1">
                          <a:solidFill>
                            <a:srgbClr val="000000"/>
                          </a:solidFill>
                          <a:latin typeface="Courier New"/>
                          <a:ea typeface="Courier New"/>
                        </a:rPr>
                        <a:t>run cm config-sync to-group my_device_group</a:t>
                      </a:r>
                      <a:endParaRPr lang="en-US" sz="75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6"/>
                  </a:ext>
                </a:extLst>
              </a:tr>
              <a:tr h="0">
                <a:tc>
                  <a:txBody>
                    <a:bodyPr/>
                    <a:lstStyle/>
                    <a:p>
                      <a:pPr defTabSz="914400">
                        <a:lnSpc>
                          <a:spcPct val="100000"/>
                        </a:lnSpc>
                        <a:tabLst>
                          <a:tab pos="0" algn="l"/>
                        </a:tabLst>
                      </a:pPr>
                      <a:r>
                        <a:rPr lang="en-US" sz="800" b="0" strike="noStrike" spc="-1">
                          <a:solidFill>
                            <a:srgbClr val="000000"/>
                          </a:solidFill>
                          <a:latin typeface="Calibri"/>
                        </a:rPr>
                        <a:t>Force failover</a:t>
                      </a:r>
                      <a:endParaRPr lang="en-US" sz="8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750" b="0" strike="noStrike" spc="-1">
                          <a:solidFill>
                            <a:srgbClr val="000000"/>
                          </a:solidFill>
                          <a:latin typeface="Courier New"/>
                          <a:ea typeface="Courier New"/>
                        </a:rPr>
                        <a:t>run sys failover standby</a:t>
                      </a:r>
                      <a:endParaRPr lang="en-US" sz="75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7"/>
                  </a:ext>
                </a:extLst>
              </a:tr>
              <a:tr h="0">
                <a:tc>
                  <a:txBody>
                    <a:bodyPr/>
                    <a:lstStyle/>
                    <a:p>
                      <a:pPr defTabSz="914400">
                        <a:lnSpc>
                          <a:spcPct val="100000"/>
                        </a:lnSpc>
                        <a:tabLst>
                          <a:tab pos="0" algn="l"/>
                        </a:tabLst>
                      </a:pPr>
                      <a:r>
                        <a:rPr lang="en-US" sz="800" b="1" strike="noStrike" spc="-1">
                          <a:solidFill>
                            <a:srgbClr val="000000"/>
                          </a:solidFill>
                          <a:latin typeface="Calibri"/>
                        </a:rPr>
                        <a:t>Check sync status</a:t>
                      </a:r>
                      <a:endParaRPr lang="en-US" sz="8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750" b="0" strike="noStrike" spc="-1">
                          <a:solidFill>
                            <a:srgbClr val="000000"/>
                          </a:solidFill>
                          <a:latin typeface="Courier New"/>
                          <a:ea typeface="Courier New"/>
                        </a:rPr>
                        <a:t>show cm sync-status</a:t>
                      </a:r>
                      <a:endParaRPr lang="en-US" sz="75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8"/>
                  </a:ext>
                </a:extLst>
              </a:tr>
              <a:tr h="0">
                <a:tc>
                  <a:txBody>
                    <a:bodyPr/>
                    <a:lstStyle/>
                    <a:p>
                      <a:pPr defTabSz="914400">
                        <a:lnSpc>
                          <a:spcPct val="100000"/>
                        </a:lnSpc>
                        <a:tabLst>
                          <a:tab pos="0" algn="l"/>
                        </a:tabLst>
                      </a:pPr>
                      <a:r>
                        <a:rPr lang="en-US" sz="800" b="1" strike="noStrike" spc="-1">
                          <a:solidFill>
                            <a:srgbClr val="000000"/>
                          </a:solidFill>
                          <a:latin typeface="Calibri"/>
                        </a:rPr>
                        <a:t>Check failover status</a:t>
                      </a:r>
                      <a:endParaRPr lang="en-US" sz="8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750" b="0" strike="noStrike" spc="-1">
                          <a:solidFill>
                            <a:srgbClr val="000000"/>
                          </a:solidFill>
                          <a:latin typeface="Courier New"/>
                          <a:ea typeface="Courier New"/>
                        </a:rPr>
                        <a:t>show sys failover</a:t>
                      </a:r>
                      <a:endParaRPr lang="en-US" sz="75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9"/>
                  </a:ext>
                </a:extLst>
              </a:tr>
              <a:tr h="0">
                <a:tc>
                  <a:txBody>
                    <a:bodyPr/>
                    <a:lstStyle/>
                    <a:p>
                      <a:pPr defTabSz="914400">
                        <a:lnSpc>
                          <a:spcPct val="100000"/>
                        </a:lnSpc>
                        <a:tabLst>
                          <a:tab pos="0" algn="l"/>
                        </a:tabLst>
                      </a:pPr>
                      <a:r>
                        <a:rPr lang="en-US" sz="800" b="1" strike="noStrike" spc="-1">
                          <a:solidFill>
                            <a:srgbClr val="000000"/>
                          </a:solidFill>
                          <a:latin typeface="Calibri"/>
                        </a:rPr>
                        <a:t>Check traffic groups</a:t>
                      </a:r>
                      <a:endParaRPr lang="en-US" sz="8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750" b="0" strike="noStrike" spc="-1">
                          <a:solidFill>
                            <a:srgbClr val="000000"/>
                          </a:solidFill>
                          <a:latin typeface="Courier New"/>
                          <a:ea typeface="Courier New"/>
                        </a:rPr>
                        <a:t>show cm traffic-group</a:t>
                      </a:r>
                      <a:endParaRPr lang="en-US" sz="75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10"/>
                  </a:ext>
                </a:extLst>
              </a:tr>
              <a:tr h="0">
                <a:tc>
                  <a:txBody>
                    <a:bodyPr/>
                    <a:lstStyle/>
                    <a:p>
                      <a:pPr defTabSz="914400">
                        <a:lnSpc>
                          <a:spcPct val="100000"/>
                        </a:lnSpc>
                        <a:tabLst>
                          <a:tab pos="0" algn="l"/>
                        </a:tabLst>
                      </a:pPr>
                      <a:r>
                        <a:rPr lang="en-US" sz="800" b="1" strike="noStrike" spc="-1">
                          <a:solidFill>
                            <a:srgbClr val="000000"/>
                          </a:solidFill>
                          <a:latin typeface="Calibri"/>
                        </a:rPr>
                        <a:t>Check device groups</a:t>
                      </a:r>
                      <a:endParaRPr lang="en-US" sz="8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750" b="0" strike="noStrike" spc="-1">
                          <a:solidFill>
                            <a:srgbClr val="000000"/>
                          </a:solidFill>
                          <a:latin typeface="Courier New"/>
                          <a:ea typeface="Courier New"/>
                        </a:rPr>
                        <a:t>show cm device-group</a:t>
                      </a:r>
                      <a:endParaRPr lang="en-US" sz="75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11"/>
                  </a:ext>
                </a:extLst>
              </a:tr>
              <a:tr h="0">
                <a:tc>
                  <a:txBody>
                    <a:bodyPr/>
                    <a:lstStyle/>
                    <a:p>
                      <a:pPr defTabSz="914400">
                        <a:lnSpc>
                          <a:spcPct val="100000"/>
                        </a:lnSpc>
                        <a:tabLst>
                          <a:tab pos="0" algn="l"/>
                        </a:tabLst>
                      </a:pPr>
                      <a:r>
                        <a:rPr lang="en-US" sz="800" b="0" strike="noStrike" spc="-1">
                          <a:solidFill>
                            <a:srgbClr val="000000"/>
                          </a:solidFill>
                          <a:latin typeface="Calibri"/>
                        </a:rPr>
                        <a:t>Move VIP to TG</a:t>
                      </a:r>
                      <a:endParaRPr lang="en-US" sz="8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750" b="0" strike="noStrike" spc="-1">
                          <a:solidFill>
                            <a:srgbClr val="000000"/>
                          </a:solidFill>
                          <a:latin typeface="Courier New"/>
                          <a:ea typeface="Courier New"/>
                        </a:rPr>
                        <a:t>modify ltm virtual-address 10.1.10.100 traffic-group traffic-group-2</a:t>
                      </a:r>
                      <a:endParaRPr lang="en-US" sz="75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12"/>
                  </a:ext>
                </a:extLst>
              </a:tr>
              <a:tr h="0">
                <a:tc>
                  <a:txBody>
                    <a:bodyPr/>
                    <a:lstStyle/>
                    <a:p>
                      <a:pPr defTabSz="914400">
                        <a:lnSpc>
                          <a:spcPct val="100000"/>
                        </a:lnSpc>
                        <a:tabLst>
                          <a:tab pos="0" algn="l"/>
                        </a:tabLst>
                      </a:pPr>
                      <a:r>
                        <a:rPr lang="en-US" sz="800" b="1" strike="noStrike" spc="-1">
                          <a:solidFill>
                            <a:srgbClr val="000000"/>
                          </a:solidFill>
                          <a:latin typeface="Calibri"/>
                        </a:rPr>
                        <a:t>View HA logs</a:t>
                      </a:r>
                      <a:endParaRPr lang="en-US" sz="8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750" b="0" strike="noStrike" spc="-1">
                          <a:solidFill>
                            <a:srgbClr val="000000"/>
                          </a:solidFill>
                          <a:latin typeface="Courier New"/>
                          <a:ea typeface="Courier New"/>
                        </a:rPr>
                        <a:t>tail -f /var/log/ltm | grep -iE 'failover|sync|trust|HA'</a:t>
                      </a:r>
                      <a:endParaRPr lang="en-US" sz="75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13"/>
                  </a:ext>
                </a:extLst>
              </a:tr>
            </a:tbl>
          </a:graphicData>
        </a:graphic>
      </p:graphicFrame>
      <p:sp>
        <p:nvSpPr>
          <p:cNvPr id="2122" name="Shape 7"/>
          <p:cNvSpPr/>
          <p:nvPr/>
        </p:nvSpPr>
        <p:spPr>
          <a:xfrm>
            <a:off x="365760" y="4251960"/>
            <a:ext cx="8412120" cy="365400"/>
          </a:xfrm>
          <a:prstGeom prst="rect">
            <a:avLst/>
          </a:prstGeom>
          <a:solidFill>
            <a:srgbClr val="E8F0F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123" name="Text 8"/>
          <p:cNvSpPr/>
          <p:nvPr/>
        </p:nvSpPr>
        <p:spPr>
          <a:xfrm>
            <a:off x="548640" y="4270320"/>
            <a:ext cx="80463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strike="noStrike" spc="-1">
                <a:solidFill>
                  <a:srgbClr val="0E41AA"/>
                </a:solidFill>
                <a:latin typeface="Calibri"/>
                <a:ea typeface="Calibri"/>
              </a:rPr>
              <a:t>HA ports: </a:t>
            </a:r>
            <a:r>
              <a:rPr lang="en-US" sz="900" b="0" strike="noStrike" spc="-1">
                <a:solidFill>
                  <a:srgbClr val="1A3A6C"/>
                </a:solidFill>
                <a:latin typeface="Calibri"/>
                <a:ea typeface="Calibri"/>
              </a:rPr>
              <a:t>TCP 4353 (ConfigSync) + UDP 1026 (failover) + TCP 1028 (mirroring) + TCP 6699 (MCP). All opened by Allow Defaults.</a:t>
            </a:r>
            <a:endParaRPr lang="en-US" sz="900" b="0" strike="noStrike" spc="-1">
              <a:solidFill>
                <a:srgbClr val="000000"/>
              </a:solidFill>
              <a:latin typeface="Arial"/>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124" name="Shape 0"/>
          <p:cNvSpPr/>
          <p:nvPr/>
        </p:nvSpPr>
        <p:spPr>
          <a:xfrm>
            <a:off x="0" y="507024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125" name="Shape 1"/>
          <p:cNvSpPr/>
          <p:nvPr/>
        </p:nvSpPr>
        <p:spPr>
          <a:xfrm>
            <a:off x="1371600" y="507024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126" name="Shape 2"/>
          <p:cNvSpPr/>
          <p:nvPr/>
        </p:nvSpPr>
        <p:spPr>
          <a:xfrm>
            <a:off x="4114800" y="507024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127" name="Shape 3"/>
          <p:cNvSpPr/>
          <p:nvPr/>
        </p:nvSpPr>
        <p:spPr>
          <a:xfrm>
            <a:off x="5486400" y="507024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128" name="Shape 4"/>
          <p:cNvSpPr/>
          <p:nvPr/>
        </p:nvSpPr>
        <p:spPr>
          <a:xfrm>
            <a:off x="7772400" y="507024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pic>
        <p:nvPicPr>
          <p:cNvPr id="2129" name="Image 0" descr="preencoded.png"/>
          <p:cNvPicPr/>
          <p:nvPr/>
        </p:nvPicPr>
        <p:blipFill>
          <a:blip r:embed="rId3"/>
          <a:stretch/>
        </p:blipFill>
        <p:spPr>
          <a:xfrm>
            <a:off x="365760" y="274320"/>
            <a:ext cx="639720" cy="639720"/>
          </a:xfrm>
          <a:prstGeom prst="rect">
            <a:avLst/>
          </a:prstGeom>
          <a:ln w="0">
            <a:noFill/>
          </a:ln>
        </p:spPr>
      </p:pic>
      <p:graphicFrame>
        <p:nvGraphicFramePr>
          <p:cNvPr id="2130" name="Table 0"/>
          <p:cNvGraphicFramePr/>
          <p:nvPr/>
        </p:nvGraphicFramePr>
        <p:xfrm>
          <a:off x="365760" y="914400"/>
          <a:ext cx="6675120" cy="975360"/>
        </p:xfrm>
        <a:graphic>
          <a:graphicData uri="http://schemas.openxmlformats.org/drawingml/2006/table">
            <a:tbl>
              <a:tblPr/>
              <a:tblGrid>
                <a:gridCol w="146304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gridCol w="4754880">
                  <a:extLst>
                    <a:ext uri="{9D8B030D-6E8A-4147-A177-3AD203B41FA5}">
                      <a16:colId xmlns:a16="http://schemas.microsoft.com/office/drawing/2014/main" val="20002"/>
                    </a:ext>
                  </a:extLst>
                </a:gridCol>
              </a:tblGrid>
              <a:tr h="0">
                <a:tc>
                  <a:txBody>
                    <a:bodyPr/>
                    <a:lstStyle/>
                    <a:p>
                      <a:pPr defTabSz="914400">
                        <a:lnSpc>
                          <a:spcPct val="100000"/>
                        </a:lnSpc>
                        <a:tabLst>
                          <a:tab pos="0" algn="l"/>
                        </a:tabLst>
                      </a:pPr>
                      <a:r>
                        <a:rPr lang="en-US" sz="1000" b="0" strike="noStrike" spc="-1">
                          <a:solidFill>
                            <a:srgbClr val="FFFFFF"/>
                          </a:solidFill>
                          <a:latin typeface="Courier New"/>
                          <a:ea typeface="Courier New"/>
                        </a:rPr>
                        <a:t>F5CTSLTM4.07</a:t>
                      </a:r>
                      <a:endParaRPr lang="en-US" sz="1000" b="0" strike="noStrike" spc="-1">
                        <a:solidFill>
                          <a:srgbClr val="FFFFFF"/>
                        </a:solidFill>
                        <a:latin typeface="Arial"/>
                      </a:endParaRPr>
                    </a:p>
                  </a:txBody>
                  <a:tcPr marL="75960" marR="75960">
                    <a:lnL>
                      <a:noFill/>
                    </a:lnL>
                    <a:lnR>
                      <a:noFill/>
                    </a:lnR>
                    <a:lnT>
                      <a:noFill/>
                    </a:lnT>
                    <a:lnB>
                      <a:noFill/>
                    </a:lnB>
                    <a:solidFill>
                      <a:srgbClr val="1A1A1A"/>
                    </a:solidFill>
                  </a:tcPr>
                </a:tc>
                <a:tc>
                  <a:txBody>
                    <a:bodyPr/>
                    <a:lstStyle/>
                    <a:p>
                      <a:pPr algn="ctr" defTabSz="914400">
                        <a:lnSpc>
                          <a:spcPct val="100000"/>
                        </a:lnSpc>
                        <a:tabLst>
                          <a:tab pos="0" algn="l"/>
                        </a:tabLst>
                      </a:pPr>
                      <a:r>
                        <a:rPr lang="en-US" sz="1000" b="1" strike="noStrike" spc="-1">
                          <a:solidFill>
                            <a:srgbClr val="009639"/>
                          </a:solidFill>
                          <a:latin typeface="Calibri"/>
                        </a:rPr>
                        <a:t>U/A</a:t>
                      </a:r>
                      <a:endParaRPr lang="en-US" sz="1000" b="0" strike="noStrike" spc="-1">
                        <a:solidFill>
                          <a:srgbClr val="FFFFFF"/>
                        </a:solidFill>
                        <a:latin typeface="Arial"/>
                      </a:endParaRPr>
                    </a:p>
                  </a:txBody>
                  <a:tcPr marL="75960" marR="75960">
                    <a:lnL>
                      <a:noFill/>
                    </a:lnL>
                    <a:lnR>
                      <a:noFill/>
                    </a:lnR>
                    <a:lnT>
                      <a:noFill/>
                    </a:lnT>
                    <a:lnB>
                      <a:noFill/>
                    </a:lnB>
                    <a:solidFill>
                      <a:srgbClr val="1A1A1A"/>
                    </a:solidFill>
                  </a:tcPr>
                </a:tc>
                <a:tc>
                  <a:txBody>
                    <a:bodyPr/>
                    <a:lstStyle/>
                    <a:p>
                      <a:pPr defTabSz="914400">
                        <a:lnSpc>
                          <a:spcPct val="100000"/>
                        </a:lnSpc>
                        <a:tabLst>
                          <a:tab pos="0" algn="l"/>
                        </a:tabLst>
                      </a:pPr>
                      <a:r>
                        <a:rPr lang="en-US" sz="1000" b="0" strike="noStrike" spc="-1">
                          <a:solidFill>
                            <a:srgbClr val="666666"/>
                          </a:solidFill>
                          <a:latin typeface="Calibri"/>
                        </a:rPr>
                        <a:t>Describe benefits of custom alerting (OIDs, log levels, triggers)</a:t>
                      </a:r>
                      <a:endParaRPr lang="en-US" sz="1000" b="0" strike="noStrike" spc="-1">
                        <a:solidFill>
                          <a:srgbClr val="FFFFFF"/>
                        </a:solidFill>
                        <a:latin typeface="Arial"/>
                      </a:endParaRPr>
                    </a:p>
                  </a:txBody>
                  <a:tcPr marL="75960" marR="75960">
                    <a:lnL>
                      <a:noFill/>
                    </a:lnL>
                    <a:lnR>
                      <a:noFill/>
                    </a:lnR>
                    <a:lnT>
                      <a:noFill/>
                    </a:lnT>
                    <a:lnB>
                      <a:noFill/>
                    </a:lnB>
                    <a:solidFill>
                      <a:srgbClr val="1A1A1A"/>
                    </a:solidFill>
                  </a:tcPr>
                </a:tc>
                <a:extLst>
                  <a:ext uri="{0D108BD9-81ED-4DB2-BD59-A6C34878D82A}">
                    <a16:rowId xmlns:a16="http://schemas.microsoft.com/office/drawing/2014/main" val="10000"/>
                  </a:ext>
                </a:extLst>
              </a:tr>
              <a:tr h="0">
                <a:tc>
                  <a:txBody>
                    <a:bodyPr/>
                    <a:lstStyle/>
                    <a:p>
                      <a:pPr defTabSz="914400">
                        <a:lnSpc>
                          <a:spcPct val="100000"/>
                        </a:lnSpc>
                        <a:tabLst>
                          <a:tab pos="0" algn="l"/>
                        </a:tabLst>
                      </a:pPr>
                      <a:r>
                        <a:rPr lang="en-US" sz="1000" b="0" strike="noStrike" spc="-1">
                          <a:solidFill>
                            <a:srgbClr val="FFFFFF"/>
                          </a:solidFill>
                          <a:latin typeface="Courier New"/>
                          <a:ea typeface="Courier New"/>
                        </a:rPr>
                        <a:t>F5CTSLTM4.08</a:t>
                      </a:r>
                      <a:endParaRPr lang="en-US" sz="1000" b="0" strike="noStrike" spc="-1">
                        <a:solidFill>
                          <a:srgbClr val="FFFFFF"/>
                        </a:solidFill>
                        <a:latin typeface="Arial"/>
                      </a:endParaRPr>
                    </a:p>
                  </a:txBody>
                  <a:tcPr marL="75960" marR="75960">
                    <a:lnL>
                      <a:noFill/>
                    </a:lnL>
                    <a:lnR>
                      <a:noFill/>
                    </a:lnR>
                    <a:lnT>
                      <a:noFill/>
                    </a:lnT>
                    <a:lnB>
                      <a:noFill/>
                    </a:lnB>
                    <a:solidFill>
                      <a:srgbClr val="111111"/>
                    </a:solidFill>
                  </a:tcPr>
                </a:tc>
                <a:tc>
                  <a:txBody>
                    <a:bodyPr/>
                    <a:lstStyle/>
                    <a:p>
                      <a:pPr algn="ctr" defTabSz="914400">
                        <a:lnSpc>
                          <a:spcPct val="100000"/>
                        </a:lnSpc>
                        <a:tabLst>
                          <a:tab pos="0" algn="l"/>
                        </a:tabLst>
                      </a:pPr>
                      <a:r>
                        <a:rPr lang="en-US" sz="1000" b="1" strike="noStrike" spc="-1">
                          <a:solidFill>
                            <a:srgbClr val="F29A36"/>
                          </a:solidFill>
                          <a:latin typeface="Calibri"/>
                        </a:rPr>
                        <a:t>R</a:t>
                      </a:r>
                      <a:endParaRPr lang="en-US" sz="1000" b="0" strike="noStrike" spc="-1">
                        <a:solidFill>
                          <a:srgbClr val="FFFFFF"/>
                        </a:solidFill>
                        <a:latin typeface="Arial"/>
                      </a:endParaRPr>
                    </a:p>
                  </a:txBody>
                  <a:tcPr marL="75960" marR="75960">
                    <a:lnL>
                      <a:noFill/>
                    </a:lnL>
                    <a:lnR>
                      <a:noFill/>
                    </a:lnR>
                    <a:lnT>
                      <a:noFill/>
                    </a:lnT>
                    <a:lnB>
                      <a:noFill/>
                    </a:lnB>
                    <a:solidFill>
                      <a:srgbClr val="111111"/>
                    </a:solidFill>
                  </a:tcPr>
                </a:tc>
                <a:tc>
                  <a:txBody>
                    <a:bodyPr/>
                    <a:lstStyle/>
                    <a:p>
                      <a:pPr defTabSz="914400">
                        <a:lnSpc>
                          <a:spcPct val="100000"/>
                        </a:lnSpc>
                        <a:tabLst>
                          <a:tab pos="0" algn="l"/>
                        </a:tabLst>
                      </a:pPr>
                      <a:r>
                        <a:rPr lang="en-US" sz="1000" b="0" strike="noStrike" spc="-1">
                          <a:solidFill>
                            <a:srgbClr val="666666"/>
                          </a:solidFill>
                          <a:latin typeface="Calibri"/>
                        </a:rPr>
                        <a:t>Set up custom alerting: SNMP, email, Remote Syslog, config files, log levels</a:t>
                      </a:r>
                      <a:endParaRPr lang="en-US" sz="1000" b="0" strike="noStrike" spc="-1">
                        <a:solidFill>
                          <a:srgbClr val="FFFFFF"/>
                        </a:solidFill>
                        <a:latin typeface="Arial"/>
                      </a:endParaRPr>
                    </a:p>
                  </a:txBody>
                  <a:tcPr marL="75960" marR="75960">
                    <a:lnL>
                      <a:noFill/>
                    </a:lnL>
                    <a:lnR>
                      <a:noFill/>
                    </a:lnR>
                    <a:lnT>
                      <a:noFill/>
                    </a:lnT>
                    <a:lnB>
                      <a:noFill/>
                    </a:lnB>
                    <a:solidFill>
                      <a:srgbClr val="111111"/>
                    </a:solidFill>
                  </a:tcPr>
                </a:tc>
                <a:extLst>
                  <a:ext uri="{0D108BD9-81ED-4DB2-BD59-A6C34878D82A}">
                    <a16:rowId xmlns:a16="http://schemas.microsoft.com/office/drawing/2014/main" val="10001"/>
                  </a:ext>
                </a:extLst>
              </a:tr>
              <a:tr h="0">
                <a:tc>
                  <a:txBody>
                    <a:bodyPr/>
                    <a:lstStyle/>
                    <a:p>
                      <a:pPr defTabSz="914400">
                        <a:lnSpc>
                          <a:spcPct val="100000"/>
                        </a:lnSpc>
                        <a:tabLst>
                          <a:tab pos="0" algn="l"/>
                        </a:tabLst>
                      </a:pPr>
                      <a:r>
                        <a:rPr lang="en-US" sz="1000" b="0" strike="noStrike" spc="-1">
                          <a:solidFill>
                            <a:srgbClr val="FFFFFF"/>
                          </a:solidFill>
                          <a:latin typeface="Courier New"/>
                          <a:ea typeface="Courier New"/>
                        </a:rPr>
                        <a:t>F5CTSLTM4.09</a:t>
                      </a:r>
                      <a:endParaRPr lang="en-US" sz="1000" b="0" strike="noStrike" spc="-1">
                        <a:solidFill>
                          <a:srgbClr val="FFFFFF"/>
                        </a:solidFill>
                        <a:latin typeface="Arial"/>
                      </a:endParaRPr>
                    </a:p>
                  </a:txBody>
                  <a:tcPr marL="75960" marR="75960">
                    <a:lnL>
                      <a:noFill/>
                    </a:lnL>
                    <a:lnR>
                      <a:noFill/>
                    </a:lnR>
                    <a:lnT>
                      <a:noFill/>
                    </a:lnT>
                    <a:lnB>
                      <a:noFill/>
                    </a:lnB>
                    <a:solidFill>
                      <a:srgbClr val="1A1A1A"/>
                    </a:solidFill>
                  </a:tcPr>
                </a:tc>
                <a:tc>
                  <a:txBody>
                    <a:bodyPr/>
                    <a:lstStyle/>
                    <a:p>
                      <a:pPr algn="ctr" defTabSz="914400">
                        <a:lnSpc>
                          <a:spcPct val="100000"/>
                        </a:lnSpc>
                        <a:tabLst>
                          <a:tab pos="0" algn="l"/>
                        </a:tabLst>
                      </a:pPr>
                      <a:r>
                        <a:rPr lang="en-US" sz="1000" b="1" strike="noStrike" spc="-1">
                          <a:solidFill>
                            <a:srgbClr val="009639"/>
                          </a:solidFill>
                          <a:latin typeface="Calibri"/>
                        </a:rPr>
                        <a:t>U/A</a:t>
                      </a:r>
                      <a:endParaRPr lang="en-US" sz="1000" b="0" strike="noStrike" spc="-1">
                        <a:solidFill>
                          <a:srgbClr val="FFFFFF"/>
                        </a:solidFill>
                        <a:latin typeface="Arial"/>
                      </a:endParaRPr>
                    </a:p>
                  </a:txBody>
                  <a:tcPr marL="75960" marR="75960">
                    <a:lnL>
                      <a:noFill/>
                    </a:lnL>
                    <a:lnR>
                      <a:noFill/>
                    </a:lnR>
                    <a:lnT>
                      <a:noFill/>
                    </a:lnT>
                    <a:lnB>
                      <a:noFill/>
                    </a:lnB>
                    <a:solidFill>
                      <a:srgbClr val="1A1A1A"/>
                    </a:solidFill>
                  </a:tcPr>
                </a:tc>
                <a:tc>
                  <a:txBody>
                    <a:bodyPr/>
                    <a:lstStyle/>
                    <a:p>
                      <a:pPr defTabSz="914400">
                        <a:lnSpc>
                          <a:spcPct val="100000"/>
                        </a:lnSpc>
                        <a:tabLst>
                          <a:tab pos="0" algn="l"/>
                        </a:tabLst>
                      </a:pPr>
                      <a:r>
                        <a:rPr lang="en-US" sz="1000" b="0" strike="noStrike" spc="-1">
                          <a:solidFill>
                            <a:srgbClr val="666666"/>
                          </a:solidFill>
                          <a:latin typeface="Calibri"/>
                        </a:rPr>
                        <a:t>Identify appropriate command for LTM device problem (logs, stats, files)</a:t>
                      </a:r>
                      <a:endParaRPr lang="en-US" sz="1000" b="0" strike="noStrike" spc="-1">
                        <a:solidFill>
                          <a:srgbClr val="FFFFFF"/>
                        </a:solidFill>
                        <a:latin typeface="Arial"/>
                      </a:endParaRPr>
                    </a:p>
                  </a:txBody>
                  <a:tcPr marL="75960" marR="75960">
                    <a:lnL>
                      <a:noFill/>
                    </a:lnL>
                    <a:lnR>
                      <a:noFill/>
                    </a:lnR>
                    <a:lnT>
                      <a:noFill/>
                    </a:lnT>
                    <a:lnB>
                      <a:noFill/>
                    </a:lnB>
                    <a:solidFill>
                      <a:srgbClr val="1A1A1A"/>
                    </a:solidFill>
                  </a:tcPr>
                </a:tc>
                <a:extLst>
                  <a:ext uri="{0D108BD9-81ED-4DB2-BD59-A6C34878D82A}">
                    <a16:rowId xmlns:a16="http://schemas.microsoft.com/office/drawing/2014/main" val="10002"/>
                  </a:ext>
                </a:extLst>
              </a:tr>
              <a:tr h="0">
                <a:tc>
                  <a:txBody>
                    <a:bodyPr/>
                    <a:lstStyle/>
                    <a:p>
                      <a:pPr defTabSz="914400">
                        <a:lnSpc>
                          <a:spcPct val="100000"/>
                        </a:lnSpc>
                        <a:tabLst>
                          <a:tab pos="0" algn="l"/>
                        </a:tabLst>
                      </a:pPr>
                      <a:r>
                        <a:rPr lang="en-US" sz="1000" b="0" strike="noStrike" spc="-1">
                          <a:solidFill>
                            <a:srgbClr val="FFFFFF"/>
                          </a:solidFill>
                          <a:latin typeface="Courier New"/>
                          <a:ea typeface="Courier New"/>
                        </a:rPr>
                        <a:t>F5CTSLTM1.06</a:t>
                      </a:r>
                      <a:endParaRPr lang="en-US" sz="1000" b="0" strike="noStrike" spc="-1">
                        <a:solidFill>
                          <a:srgbClr val="FFFFFF"/>
                        </a:solidFill>
                        <a:latin typeface="Arial"/>
                      </a:endParaRPr>
                    </a:p>
                  </a:txBody>
                  <a:tcPr marL="75960" marR="75960">
                    <a:lnL>
                      <a:noFill/>
                    </a:lnL>
                    <a:lnR>
                      <a:noFill/>
                    </a:lnR>
                    <a:lnT>
                      <a:noFill/>
                    </a:lnT>
                    <a:lnB>
                      <a:noFill/>
                    </a:lnB>
                    <a:solidFill>
                      <a:srgbClr val="111111"/>
                    </a:solidFill>
                  </a:tcPr>
                </a:tc>
                <a:tc>
                  <a:txBody>
                    <a:bodyPr/>
                    <a:lstStyle/>
                    <a:p>
                      <a:pPr algn="ctr" defTabSz="914400">
                        <a:lnSpc>
                          <a:spcPct val="100000"/>
                        </a:lnSpc>
                        <a:tabLst>
                          <a:tab pos="0" algn="l"/>
                        </a:tabLst>
                      </a:pPr>
                      <a:r>
                        <a:rPr lang="en-US" sz="1000" b="1" strike="noStrike" spc="-1">
                          <a:solidFill>
                            <a:srgbClr val="009639"/>
                          </a:solidFill>
                          <a:latin typeface="Calibri"/>
                        </a:rPr>
                        <a:t>U/A</a:t>
                      </a:r>
                      <a:endParaRPr lang="en-US" sz="1000" b="0" strike="noStrike" spc="-1">
                        <a:solidFill>
                          <a:srgbClr val="FFFFFF"/>
                        </a:solidFill>
                        <a:latin typeface="Arial"/>
                      </a:endParaRPr>
                    </a:p>
                  </a:txBody>
                  <a:tcPr marL="75960" marR="75960">
                    <a:lnL>
                      <a:noFill/>
                    </a:lnL>
                    <a:lnR>
                      <a:noFill/>
                    </a:lnR>
                    <a:lnT>
                      <a:noFill/>
                    </a:lnT>
                    <a:lnB>
                      <a:noFill/>
                    </a:lnB>
                    <a:solidFill>
                      <a:srgbClr val="111111"/>
                    </a:solidFill>
                  </a:tcPr>
                </a:tc>
                <a:tc>
                  <a:txBody>
                    <a:bodyPr/>
                    <a:lstStyle/>
                    <a:p>
                      <a:pPr defTabSz="914400">
                        <a:lnSpc>
                          <a:spcPct val="100000"/>
                        </a:lnSpc>
                        <a:tabLst>
                          <a:tab pos="0" algn="l"/>
                        </a:tabLst>
                      </a:pPr>
                      <a:r>
                        <a:rPr lang="en-US" sz="1000" b="0" strike="noStrike" spc="-1">
                          <a:solidFill>
                            <a:srgbClr val="666666"/>
                          </a:solidFill>
                          <a:latin typeface="Calibri"/>
                        </a:rPr>
                        <a:t>Interpret log file messages to identify LTM device issues</a:t>
                      </a:r>
                      <a:endParaRPr lang="en-US" sz="1000" b="0" strike="noStrike" spc="-1">
                        <a:solidFill>
                          <a:srgbClr val="FFFFFF"/>
                        </a:solidFill>
                        <a:latin typeface="Arial"/>
                      </a:endParaRPr>
                    </a:p>
                  </a:txBody>
                  <a:tcPr marL="75960" marR="75960">
                    <a:lnL>
                      <a:noFill/>
                    </a:lnL>
                    <a:lnR>
                      <a:noFill/>
                    </a:lnR>
                    <a:lnT>
                      <a:noFill/>
                    </a:lnT>
                    <a:lnB>
                      <a:noFill/>
                    </a:lnB>
                    <a:solidFill>
                      <a:srgbClr val="111111"/>
                    </a:solidFill>
                  </a:tcPr>
                </a:tc>
                <a:extLst>
                  <a:ext uri="{0D108BD9-81ED-4DB2-BD59-A6C34878D82A}">
                    <a16:rowId xmlns:a16="http://schemas.microsoft.com/office/drawing/2014/main" val="10003"/>
                  </a:ext>
                </a:extLst>
              </a:tr>
            </a:tbl>
          </a:graphicData>
        </a:graphic>
      </p:graphicFrame>
      <p:sp>
        <p:nvSpPr>
          <p:cNvPr id="2131" name="Text 5"/>
          <p:cNvSpPr/>
          <p:nvPr/>
        </p:nvSpPr>
        <p:spPr>
          <a:xfrm>
            <a:off x="365760" y="2560320"/>
            <a:ext cx="731484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strike="noStrike" spc="-1">
                <a:solidFill>
                  <a:srgbClr val="666666"/>
                </a:solidFill>
                <a:latin typeface="Calibri"/>
                <a:ea typeface="Calibri"/>
              </a:rPr>
              <a:t>LAB 11</a:t>
            </a:r>
            <a:endParaRPr lang="en-US" sz="1400" b="0" strike="noStrike" spc="-1">
              <a:solidFill>
                <a:srgbClr val="FFFFFF"/>
              </a:solidFill>
              <a:latin typeface="Arial"/>
            </a:endParaRPr>
          </a:p>
          <a:p>
            <a:pPr defTabSz="914400">
              <a:lnSpc>
                <a:spcPct val="100000"/>
              </a:lnSpc>
              <a:tabLst>
                <a:tab pos="0" algn="l"/>
              </a:tabLst>
            </a:pPr>
            <a:r>
              <a:rPr lang="en-US" sz="3600" b="1" strike="noStrike" spc="-1">
                <a:solidFill>
                  <a:srgbClr val="FFFFFF"/>
                </a:solidFill>
                <a:latin typeface="Arial"/>
                <a:ea typeface="Arial"/>
              </a:rPr>
              <a:t>Security and Logging</a:t>
            </a:r>
            <a:endParaRPr lang="en-US" sz="3600" b="0" strike="noStrike" spc="-1">
              <a:solidFill>
                <a:srgbClr val="FFFFFF"/>
              </a:solidFill>
              <a:latin typeface="Arial"/>
            </a:endParaRPr>
          </a:p>
        </p:txBody>
      </p:sp>
      <p:sp>
        <p:nvSpPr>
          <p:cNvPr id="2132" name="Text 6"/>
          <p:cNvSpPr/>
          <p:nvPr/>
        </p:nvSpPr>
        <p:spPr>
          <a:xfrm>
            <a:off x="365760" y="3474720"/>
            <a:ext cx="68576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strike="noStrike" spc="-1">
                <a:solidFill>
                  <a:srgbClr val="666666"/>
                </a:solidFill>
                <a:latin typeface="Calibri"/>
                <a:ea typeface="Calibri"/>
              </a:rPr>
              <a:t>Audit logging, SSH access control, High Speed Logging (HSL)</a:t>
            </a:r>
            <a:endParaRPr lang="en-US" sz="1300" b="0" strike="noStrike" spc="-1">
              <a:solidFill>
                <a:srgbClr val="FFFFFF"/>
              </a:solidFill>
              <a:latin typeface="Arial"/>
            </a:endParaRPr>
          </a:p>
          <a:p>
            <a:pPr defTabSz="914400">
              <a:lnSpc>
                <a:spcPct val="100000"/>
              </a:lnSpc>
              <a:tabLst>
                <a:tab pos="0" algn="l"/>
              </a:tabLst>
            </a:pPr>
            <a:r>
              <a:rPr lang="en-US" sz="1300" b="0" strike="noStrike" spc="-1">
                <a:solidFill>
                  <a:srgbClr val="666666"/>
                </a:solidFill>
                <a:latin typeface="Calibri"/>
                <a:ea typeface="Calibri"/>
              </a:rPr>
              <a:t>to remote syslog, custom SNMP alerting, log file analysis,</a:t>
            </a:r>
            <a:endParaRPr lang="en-US" sz="1300" b="0" strike="noStrike" spc="-1">
              <a:solidFill>
                <a:srgbClr val="FFFFFF"/>
              </a:solidFill>
              <a:latin typeface="Arial"/>
            </a:endParaRPr>
          </a:p>
          <a:p>
            <a:pPr defTabSz="914400">
              <a:lnSpc>
                <a:spcPct val="100000"/>
              </a:lnSpc>
              <a:tabLst>
                <a:tab pos="0" algn="l"/>
              </a:tabLst>
            </a:pPr>
            <a:r>
              <a:rPr lang="en-US" sz="1300" b="0" strike="noStrike" spc="-1">
                <a:solidFill>
                  <a:srgbClr val="666666"/>
                </a:solidFill>
                <a:latin typeface="Calibri"/>
                <a:ea typeface="Calibri"/>
              </a:rPr>
              <a:t>and troubleshooting commands.</a:t>
            </a:r>
            <a:endParaRPr lang="en-US" sz="1300" b="0" strike="noStrike" spc="-1">
              <a:solidFill>
                <a:srgbClr val="FFFFFF"/>
              </a:solidFill>
              <a:latin typeface="Arial"/>
            </a:endParaRPr>
          </a:p>
        </p:txBody>
      </p:sp>
      <p:sp>
        <p:nvSpPr>
          <p:cNvPr id="2133" name="Text 7"/>
          <p:cNvSpPr/>
          <p:nvPr/>
        </p:nvSpPr>
        <p:spPr>
          <a:xfrm>
            <a:off x="365760" y="4297680"/>
            <a:ext cx="45716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strike="noStrike" spc="-1">
                <a:solidFill>
                  <a:srgbClr val="F29A36"/>
                </a:solidFill>
                <a:latin typeface="Calibri"/>
                <a:ea typeface="Calibri"/>
              </a:rPr>
              <a:t>45 min  |  15 min slides + 30 min lab</a:t>
            </a:r>
            <a:endParaRPr lang="en-US" sz="1100" b="0" strike="noStrike" spc="-1">
              <a:solidFill>
                <a:srgbClr val="FFFFFF"/>
              </a:solidFill>
              <a:latin typeface="Arial"/>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34"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135"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136"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137"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138"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139" name="Text 5"/>
          <p:cNvSpPr/>
          <p:nvPr/>
        </p:nvSpPr>
        <p:spPr>
          <a:xfrm>
            <a:off x="302040" y="4210969"/>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98    © 2026 F5</a:t>
            </a:r>
            <a:endParaRPr lang="en-US" sz="800" b="0" strike="noStrike" spc="-1">
              <a:solidFill>
                <a:srgbClr val="000000"/>
              </a:solidFill>
              <a:latin typeface="Arial"/>
            </a:endParaRPr>
          </a:p>
        </p:txBody>
      </p:sp>
      <p:pic>
        <p:nvPicPr>
          <p:cNvPr id="2140" name="Image 0" descr="preencoded.png"/>
          <p:cNvPicPr/>
          <p:nvPr/>
        </p:nvPicPr>
        <p:blipFill>
          <a:blip r:embed="rId3"/>
          <a:stretch/>
        </p:blipFill>
        <p:spPr>
          <a:xfrm>
            <a:off x="8394480" y="4073809"/>
            <a:ext cx="383760" cy="383760"/>
          </a:xfrm>
          <a:prstGeom prst="rect">
            <a:avLst/>
          </a:prstGeom>
          <a:ln w="0">
            <a:noFill/>
          </a:ln>
        </p:spPr>
      </p:pic>
      <p:sp>
        <p:nvSpPr>
          <p:cNvPr id="2141" name="Text 6"/>
          <p:cNvSpPr/>
          <p:nvPr/>
        </p:nvSpPr>
        <p:spPr>
          <a:xfrm>
            <a:off x="457200" y="274320"/>
            <a:ext cx="82292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BIG-IP log files and severity levels</a:t>
            </a:r>
            <a:endParaRPr lang="en-US" sz="2800" b="0" strike="noStrike" spc="-1">
              <a:solidFill>
                <a:srgbClr val="000000"/>
              </a:solidFill>
              <a:latin typeface="Arial"/>
            </a:endParaRPr>
          </a:p>
        </p:txBody>
      </p:sp>
      <p:sp>
        <p:nvSpPr>
          <p:cNvPr id="2142" name="Text 7"/>
          <p:cNvSpPr/>
          <p:nvPr/>
        </p:nvSpPr>
        <p:spPr>
          <a:xfrm>
            <a:off x="457200" y="658440"/>
            <a:ext cx="82292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strike="noStrike" spc="-1">
                <a:solidFill>
                  <a:srgbClr val="666666"/>
                </a:solidFill>
                <a:latin typeface="Calibri"/>
                <a:ea typeface="Calibri"/>
              </a:rPr>
              <a:t>Know which log file to check for each type of problem</a:t>
            </a:r>
            <a:endParaRPr lang="en-US" sz="1300" b="0" strike="noStrike" spc="-1">
              <a:solidFill>
                <a:srgbClr val="000000"/>
              </a:solidFill>
              <a:latin typeface="Arial"/>
            </a:endParaRPr>
          </a:p>
        </p:txBody>
      </p:sp>
      <p:graphicFrame>
        <p:nvGraphicFramePr>
          <p:cNvPr id="2143" name="Table 0"/>
          <p:cNvGraphicFramePr/>
          <p:nvPr/>
        </p:nvGraphicFramePr>
        <p:xfrm>
          <a:off x="365760" y="960120"/>
          <a:ext cx="8412480" cy="1371600"/>
        </p:xfrm>
        <a:graphic>
          <a:graphicData uri="http://schemas.openxmlformats.org/drawingml/2006/table">
            <a:tbl>
              <a:tblPr/>
              <a:tblGrid>
                <a:gridCol w="64008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gridCol w="3200400">
                  <a:extLst>
                    <a:ext uri="{9D8B030D-6E8A-4147-A177-3AD203B41FA5}">
                      <a16:colId xmlns:a16="http://schemas.microsoft.com/office/drawing/2014/main" val="20003"/>
                    </a:ext>
                  </a:extLst>
                </a:gridCol>
              </a:tblGrid>
              <a:tr h="0">
                <a:tc>
                  <a:txBody>
                    <a:bodyPr/>
                    <a:lstStyle/>
                    <a:p>
                      <a:pPr defTabSz="914400">
                        <a:lnSpc>
                          <a:spcPct val="100000"/>
                        </a:lnSpc>
                        <a:tabLst>
                          <a:tab pos="0" algn="l"/>
                        </a:tabLst>
                      </a:pPr>
                      <a:r>
                        <a:rPr lang="en-US" sz="900" b="1" strike="noStrike" spc="-1">
                          <a:solidFill>
                            <a:srgbClr val="FFFFFF"/>
                          </a:solidFill>
                          <a:latin typeface="Calibri"/>
                        </a:rPr>
                        <a:t>Log file</a:t>
                      </a:r>
                      <a:endParaRPr lang="en-US" sz="9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E41AA"/>
                    </a:solidFill>
                  </a:tcPr>
                </a:tc>
                <a:tc>
                  <a:txBody>
                    <a:bodyPr/>
                    <a:lstStyle/>
                    <a:p>
                      <a:pPr defTabSz="914400">
                        <a:lnSpc>
                          <a:spcPct val="100000"/>
                        </a:lnSpc>
                        <a:tabLst>
                          <a:tab pos="0" algn="l"/>
                        </a:tabLst>
                      </a:pPr>
                      <a:r>
                        <a:rPr lang="en-US" sz="900" b="1" strike="noStrike" spc="-1">
                          <a:solidFill>
                            <a:srgbClr val="FFFFFF"/>
                          </a:solidFill>
                          <a:latin typeface="Calibri"/>
                        </a:rPr>
                        <a:t>Path</a:t>
                      </a:r>
                      <a:endParaRPr lang="en-US" sz="9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E41AA"/>
                    </a:solidFill>
                  </a:tcPr>
                </a:tc>
                <a:tc>
                  <a:txBody>
                    <a:bodyPr/>
                    <a:lstStyle/>
                    <a:p>
                      <a:pPr defTabSz="914400">
                        <a:lnSpc>
                          <a:spcPct val="100000"/>
                        </a:lnSpc>
                        <a:tabLst>
                          <a:tab pos="0" algn="l"/>
                        </a:tabLst>
                      </a:pPr>
                      <a:r>
                        <a:rPr lang="en-US" sz="900" b="1" strike="noStrike" spc="-1">
                          <a:solidFill>
                            <a:srgbClr val="FFFFFF"/>
                          </a:solidFill>
                          <a:latin typeface="Calibri"/>
                        </a:rPr>
                        <a:t>Contains</a:t>
                      </a:r>
                      <a:endParaRPr lang="en-US" sz="9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E41AA"/>
                    </a:solidFill>
                  </a:tcPr>
                </a:tc>
                <a:tc>
                  <a:txBody>
                    <a:bodyPr/>
                    <a:lstStyle/>
                    <a:p>
                      <a:pPr defTabSz="914400">
                        <a:lnSpc>
                          <a:spcPct val="100000"/>
                        </a:lnSpc>
                        <a:tabLst>
                          <a:tab pos="0" algn="l"/>
                        </a:tabLst>
                      </a:pPr>
                      <a:r>
                        <a:rPr lang="en-US" sz="900" b="1" strike="noStrike" spc="-1">
                          <a:solidFill>
                            <a:srgbClr val="FFFFFF"/>
                          </a:solidFill>
                          <a:latin typeface="Calibri"/>
                        </a:rPr>
                        <a:t>Check when</a:t>
                      </a:r>
                      <a:endParaRPr lang="en-US" sz="9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E41AA"/>
                    </a:solidFill>
                  </a:tcPr>
                </a:tc>
                <a:extLst>
                  <a:ext uri="{0D108BD9-81ED-4DB2-BD59-A6C34878D82A}">
                    <a16:rowId xmlns:a16="http://schemas.microsoft.com/office/drawing/2014/main" val="10000"/>
                  </a:ext>
                </a:extLst>
              </a:tr>
              <a:tr h="0">
                <a:tc>
                  <a:txBody>
                    <a:bodyPr/>
                    <a:lstStyle/>
                    <a:p>
                      <a:pPr defTabSz="914400">
                        <a:lnSpc>
                          <a:spcPct val="100000"/>
                        </a:lnSpc>
                        <a:tabLst>
                          <a:tab pos="0" algn="l"/>
                        </a:tabLst>
                      </a:pPr>
                      <a:r>
                        <a:rPr lang="en-US" sz="900" b="1" strike="noStrike" spc="-1">
                          <a:solidFill>
                            <a:srgbClr val="000000"/>
                          </a:solidFill>
                          <a:latin typeface="Calibri"/>
                        </a:rPr>
                        <a:t>ltm</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800" b="0" strike="noStrike" spc="-1">
                          <a:solidFill>
                            <a:srgbClr val="000000"/>
                          </a:solidFill>
                          <a:latin typeface="Courier New"/>
                          <a:ea typeface="Courier New"/>
                        </a:rPr>
                        <a:t>/var/log/ltm</a:t>
                      </a:r>
                      <a:endParaRPr lang="en-US" sz="8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800" b="0" strike="noStrike" spc="-1">
                          <a:solidFill>
                            <a:srgbClr val="000000"/>
                          </a:solidFill>
                          <a:latin typeface="Calibri"/>
                        </a:rPr>
                        <a:t>LTM-specific: VS, pool, monitor, SSL, HA, failover events</a:t>
                      </a:r>
                      <a:endParaRPr lang="en-US" sz="8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800" b="0" strike="noStrike" spc="-1">
                          <a:solidFill>
                            <a:srgbClr val="000000"/>
                          </a:solidFill>
                          <a:latin typeface="Calibri"/>
                        </a:rPr>
                        <a:t>Traffic issues, pool member down, SSL errors, failover</a:t>
                      </a:r>
                      <a:endParaRPr lang="en-US" sz="8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1"/>
                  </a:ext>
                </a:extLst>
              </a:tr>
              <a:tr h="0">
                <a:tc>
                  <a:txBody>
                    <a:bodyPr/>
                    <a:lstStyle/>
                    <a:p>
                      <a:pPr defTabSz="914400">
                        <a:lnSpc>
                          <a:spcPct val="100000"/>
                        </a:lnSpc>
                        <a:tabLst>
                          <a:tab pos="0" algn="l"/>
                        </a:tabLst>
                      </a:pPr>
                      <a:r>
                        <a:rPr lang="en-US" sz="900" b="1" strike="noStrike" spc="-1">
                          <a:solidFill>
                            <a:srgbClr val="000000"/>
                          </a:solidFill>
                          <a:latin typeface="Calibri"/>
                        </a:rPr>
                        <a:t>audit</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800" b="0" strike="noStrike" spc="-1">
                          <a:solidFill>
                            <a:srgbClr val="000000"/>
                          </a:solidFill>
                          <a:latin typeface="Courier New"/>
                          <a:ea typeface="Courier New"/>
                        </a:rPr>
                        <a:t>/var/log/audit</a:t>
                      </a:r>
                      <a:endParaRPr lang="en-US" sz="8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800" b="0" strike="noStrike" spc="-1">
                          <a:solidFill>
                            <a:srgbClr val="000000"/>
                          </a:solidFill>
                          <a:latin typeface="Calibri"/>
                        </a:rPr>
                        <a:t>Admin actions: config changes, logins, GUI/TMSH commands</a:t>
                      </a:r>
                      <a:endParaRPr lang="en-US" sz="8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800" b="0" strike="noStrike" spc="-1">
                          <a:solidFill>
                            <a:srgbClr val="000000"/>
                          </a:solidFill>
                          <a:latin typeface="Calibri"/>
                        </a:rPr>
                        <a:t>Who changed what, unauthorized access attempts</a:t>
                      </a:r>
                      <a:endParaRPr lang="en-US" sz="8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2"/>
                  </a:ext>
                </a:extLst>
              </a:tr>
              <a:tr h="0">
                <a:tc>
                  <a:txBody>
                    <a:bodyPr/>
                    <a:lstStyle/>
                    <a:p>
                      <a:pPr defTabSz="914400">
                        <a:lnSpc>
                          <a:spcPct val="100000"/>
                        </a:lnSpc>
                        <a:tabLst>
                          <a:tab pos="0" algn="l"/>
                        </a:tabLst>
                      </a:pPr>
                      <a:r>
                        <a:rPr lang="en-US" sz="900" b="1" strike="noStrike" spc="-1">
                          <a:solidFill>
                            <a:srgbClr val="000000"/>
                          </a:solidFill>
                          <a:latin typeface="Calibri"/>
                        </a:rPr>
                        <a:t>daemon</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800" b="0" strike="noStrike" spc="-1">
                          <a:solidFill>
                            <a:srgbClr val="000000"/>
                          </a:solidFill>
                          <a:latin typeface="Courier New"/>
                          <a:ea typeface="Courier New"/>
                        </a:rPr>
                        <a:t>/var/log/daemon.log</a:t>
                      </a:r>
                      <a:endParaRPr lang="en-US" sz="8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800" b="0" strike="noStrike" spc="-1">
                          <a:solidFill>
                            <a:srgbClr val="000000"/>
                          </a:solidFill>
                          <a:latin typeface="Calibri"/>
                        </a:rPr>
                        <a:t>System daemons: mcpd, tmm, named, ntpd, snmpd</a:t>
                      </a:r>
                      <a:endParaRPr lang="en-US" sz="8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800" b="0" strike="noStrike" spc="-1">
                          <a:solidFill>
                            <a:srgbClr val="000000"/>
                          </a:solidFill>
                          <a:latin typeface="Calibri"/>
                        </a:rPr>
                        <a:t>TMM crashes, daemon failures, NTP/DNS issues</a:t>
                      </a:r>
                      <a:endParaRPr lang="en-US" sz="8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3"/>
                  </a:ext>
                </a:extLst>
              </a:tr>
              <a:tr h="0">
                <a:tc>
                  <a:txBody>
                    <a:bodyPr/>
                    <a:lstStyle/>
                    <a:p>
                      <a:pPr defTabSz="914400">
                        <a:lnSpc>
                          <a:spcPct val="100000"/>
                        </a:lnSpc>
                        <a:tabLst>
                          <a:tab pos="0" algn="l"/>
                        </a:tabLst>
                      </a:pPr>
                      <a:r>
                        <a:rPr lang="en-US" sz="900" b="1" strike="noStrike" spc="-1">
                          <a:solidFill>
                            <a:srgbClr val="000000"/>
                          </a:solidFill>
                          <a:latin typeface="Calibri"/>
                        </a:rPr>
                        <a:t>boot</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800" b="0" strike="noStrike" spc="-1">
                          <a:solidFill>
                            <a:srgbClr val="000000"/>
                          </a:solidFill>
                          <a:latin typeface="Courier New"/>
                          <a:ea typeface="Courier New"/>
                        </a:rPr>
                        <a:t>/var/log/boot.log</a:t>
                      </a:r>
                      <a:endParaRPr lang="en-US" sz="8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800" b="0" strike="noStrike" spc="-1">
                          <a:solidFill>
                            <a:srgbClr val="000000"/>
                          </a:solidFill>
                          <a:latin typeface="Calibri"/>
                        </a:rPr>
                        <a:t>Boot sequence, provisioning, license loading</a:t>
                      </a:r>
                      <a:endParaRPr lang="en-US" sz="8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800" b="0" strike="noStrike" spc="-1">
                          <a:solidFill>
                            <a:srgbClr val="000000"/>
                          </a:solidFill>
                          <a:latin typeface="Calibri"/>
                        </a:rPr>
                        <a:t>Boot failures, license problems, provisioning errors</a:t>
                      </a:r>
                      <a:endParaRPr lang="en-US" sz="8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4"/>
                  </a:ext>
                </a:extLst>
              </a:tr>
              <a:tr h="0">
                <a:tc>
                  <a:txBody>
                    <a:bodyPr/>
                    <a:lstStyle/>
                    <a:p>
                      <a:pPr defTabSz="914400">
                        <a:lnSpc>
                          <a:spcPct val="100000"/>
                        </a:lnSpc>
                        <a:tabLst>
                          <a:tab pos="0" algn="l"/>
                        </a:tabLst>
                      </a:pPr>
                      <a:r>
                        <a:rPr lang="en-US" sz="900" b="1" strike="noStrike" spc="-1">
                          <a:solidFill>
                            <a:srgbClr val="000000"/>
                          </a:solidFill>
                          <a:latin typeface="Calibri"/>
                        </a:rPr>
                        <a:t>kern</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800" b="0" strike="noStrike" spc="-1">
                          <a:solidFill>
                            <a:srgbClr val="000000"/>
                          </a:solidFill>
                          <a:latin typeface="Courier New"/>
                          <a:ea typeface="Courier New"/>
                        </a:rPr>
                        <a:t>/var/log/kern.log</a:t>
                      </a:r>
                      <a:endParaRPr lang="en-US" sz="8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800" b="0" strike="noStrike" spc="-1">
                          <a:solidFill>
                            <a:srgbClr val="000000"/>
                          </a:solidFill>
                          <a:latin typeface="Calibri"/>
                        </a:rPr>
                        <a:t>Kernel messages: hardware, drivers, interfaces</a:t>
                      </a:r>
                      <a:endParaRPr lang="en-US" sz="8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800" b="0" strike="noStrike" spc="-1">
                          <a:solidFill>
                            <a:srgbClr val="000000"/>
                          </a:solidFill>
                          <a:latin typeface="Calibri"/>
                        </a:rPr>
                        <a:t>Interface failures, hardware errors, memory issues</a:t>
                      </a:r>
                      <a:endParaRPr lang="en-US" sz="8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2144" name="Text 8"/>
          <p:cNvSpPr/>
          <p:nvPr/>
        </p:nvSpPr>
        <p:spPr>
          <a:xfrm>
            <a:off x="393480" y="2473609"/>
            <a:ext cx="45716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61228B"/>
                </a:solidFill>
                <a:latin typeface="Arial"/>
                <a:ea typeface="Arial"/>
              </a:rPr>
              <a:t>Syslog severity levels (0–7)</a:t>
            </a:r>
            <a:endParaRPr lang="en-US" sz="1400" b="0" strike="noStrike" spc="-1">
              <a:solidFill>
                <a:srgbClr val="000000"/>
              </a:solidFill>
              <a:latin typeface="Arial"/>
            </a:endParaRPr>
          </a:p>
        </p:txBody>
      </p:sp>
      <p:graphicFrame>
        <p:nvGraphicFramePr>
          <p:cNvPr id="2145" name="Table 1"/>
          <p:cNvGraphicFramePr/>
          <p:nvPr>
            <p:extLst>
              <p:ext uri="{D42A27DB-BD31-4B8C-83A1-F6EECF244321}">
                <p14:modId xmlns:p14="http://schemas.microsoft.com/office/powerpoint/2010/main" val="1151975221"/>
              </p:ext>
            </p:extLst>
          </p:nvPr>
        </p:nvGraphicFramePr>
        <p:xfrm>
          <a:off x="302040" y="2702209"/>
          <a:ext cx="8412480" cy="2057400"/>
        </p:xfrm>
        <a:graphic>
          <a:graphicData uri="http://schemas.openxmlformats.org/drawingml/2006/table">
            <a:tbl>
              <a:tblPr/>
              <a:tblGrid>
                <a:gridCol w="4572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5486400">
                  <a:extLst>
                    <a:ext uri="{9D8B030D-6E8A-4147-A177-3AD203B41FA5}">
                      <a16:colId xmlns:a16="http://schemas.microsoft.com/office/drawing/2014/main" val="20003"/>
                    </a:ext>
                  </a:extLst>
                </a:gridCol>
              </a:tblGrid>
              <a:tr h="0">
                <a:tc>
                  <a:txBody>
                    <a:bodyPr/>
                    <a:lstStyle/>
                    <a:p>
                      <a:pPr algn="ctr" defTabSz="914400">
                        <a:lnSpc>
                          <a:spcPct val="100000"/>
                        </a:lnSpc>
                        <a:tabLst>
                          <a:tab pos="0" algn="l"/>
                        </a:tabLst>
                      </a:pPr>
                      <a:r>
                        <a:rPr lang="en-US" sz="900" b="1" strike="noStrike" spc="-1">
                          <a:solidFill>
                            <a:srgbClr val="FFFFFF"/>
                          </a:solidFill>
                          <a:latin typeface="Calibri"/>
                        </a:rPr>
                        <a:t>Level</a:t>
                      </a:r>
                      <a:endParaRPr lang="en-US" sz="900" b="0" strike="noStrike" spc="-1">
                        <a:solidFill>
                          <a:srgbClr val="FFFFFF"/>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61228B"/>
                    </a:solidFill>
                  </a:tcPr>
                </a:tc>
                <a:tc>
                  <a:txBody>
                    <a:bodyPr/>
                    <a:lstStyle/>
                    <a:p>
                      <a:pPr defTabSz="914400">
                        <a:lnSpc>
                          <a:spcPct val="100000"/>
                        </a:lnSpc>
                        <a:tabLst>
                          <a:tab pos="0" algn="l"/>
                        </a:tabLst>
                      </a:pPr>
                      <a:r>
                        <a:rPr lang="en-US" sz="900" b="1" strike="noStrike" spc="-1">
                          <a:solidFill>
                            <a:srgbClr val="FFFFFF"/>
                          </a:solidFill>
                          <a:latin typeface="Calibri"/>
                        </a:rPr>
                        <a:t>Name</a:t>
                      </a:r>
                      <a:endParaRPr lang="en-US" sz="900" b="0" strike="noStrike" spc="-1">
                        <a:solidFill>
                          <a:srgbClr val="FFFFFF"/>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61228B"/>
                    </a:solidFill>
                  </a:tcPr>
                </a:tc>
                <a:tc>
                  <a:txBody>
                    <a:bodyPr/>
                    <a:lstStyle/>
                    <a:p>
                      <a:pPr defTabSz="914400">
                        <a:lnSpc>
                          <a:spcPct val="100000"/>
                        </a:lnSpc>
                        <a:tabLst>
                          <a:tab pos="0" algn="l"/>
                        </a:tabLst>
                      </a:pPr>
                      <a:r>
                        <a:rPr lang="en-US" sz="900" b="1" strike="noStrike" spc="-1">
                          <a:solidFill>
                            <a:srgbClr val="FFFFFF"/>
                          </a:solidFill>
                          <a:latin typeface="Calibri"/>
                        </a:rPr>
                        <a:t>Meaning</a:t>
                      </a:r>
                      <a:endParaRPr lang="en-US" sz="900" b="0" strike="noStrike" spc="-1">
                        <a:solidFill>
                          <a:srgbClr val="FFFFFF"/>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61228B"/>
                    </a:solidFill>
                  </a:tcPr>
                </a:tc>
                <a:tc>
                  <a:txBody>
                    <a:bodyPr/>
                    <a:lstStyle/>
                    <a:p>
                      <a:pPr defTabSz="914400">
                        <a:lnSpc>
                          <a:spcPct val="100000"/>
                        </a:lnSpc>
                        <a:tabLst>
                          <a:tab pos="0" algn="l"/>
                        </a:tabLst>
                      </a:pPr>
                      <a:r>
                        <a:rPr lang="en-US" sz="900" b="1" strike="noStrike" spc="-1">
                          <a:solidFill>
                            <a:srgbClr val="FFFFFF"/>
                          </a:solidFill>
                          <a:latin typeface="Calibri"/>
                        </a:rPr>
                        <a:t>Action</a:t>
                      </a:r>
                      <a:endParaRPr lang="en-US" sz="900" b="0" strike="noStrike" spc="-1">
                        <a:solidFill>
                          <a:srgbClr val="FFFFFF"/>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61228B"/>
                    </a:solidFill>
                  </a:tcPr>
                </a:tc>
                <a:extLst>
                  <a:ext uri="{0D108BD9-81ED-4DB2-BD59-A6C34878D82A}">
                    <a16:rowId xmlns:a16="http://schemas.microsoft.com/office/drawing/2014/main" val="10000"/>
                  </a:ext>
                </a:extLst>
              </a:tr>
              <a:tr h="0">
                <a:tc>
                  <a:txBody>
                    <a:bodyPr/>
                    <a:lstStyle/>
                    <a:p>
                      <a:pPr algn="ctr" defTabSz="914400">
                        <a:lnSpc>
                          <a:spcPct val="100000"/>
                        </a:lnSpc>
                        <a:tabLst>
                          <a:tab pos="0" algn="l"/>
                        </a:tabLst>
                      </a:pPr>
                      <a:r>
                        <a:rPr lang="en-US" sz="900" b="0" strike="noStrike" spc="-1">
                          <a:solidFill>
                            <a:srgbClr val="000000"/>
                          </a:solidFill>
                          <a:latin typeface="Calibri"/>
                        </a:rPr>
                        <a:t>0</a:t>
                      </a:r>
                      <a:endParaRPr lang="en-US" sz="9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1" strike="noStrike" spc="-1">
                          <a:solidFill>
                            <a:srgbClr val="E4002B"/>
                          </a:solidFill>
                          <a:latin typeface="Calibri"/>
                        </a:rPr>
                        <a:t>Emergency</a:t>
                      </a:r>
                      <a:endParaRPr lang="en-US" sz="9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System unusable</a:t>
                      </a:r>
                      <a:endParaRPr lang="en-US" sz="9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Immediate action required</a:t>
                      </a:r>
                      <a:endParaRPr lang="en-US" sz="9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1"/>
                  </a:ext>
                </a:extLst>
              </a:tr>
              <a:tr h="0">
                <a:tc>
                  <a:txBody>
                    <a:bodyPr/>
                    <a:lstStyle/>
                    <a:p>
                      <a:pPr algn="ctr" defTabSz="914400">
                        <a:lnSpc>
                          <a:spcPct val="100000"/>
                        </a:lnSpc>
                        <a:tabLst>
                          <a:tab pos="0" algn="l"/>
                        </a:tabLst>
                      </a:pPr>
                      <a:r>
                        <a:rPr lang="en-US" sz="900" b="0" strike="noStrike" spc="-1">
                          <a:solidFill>
                            <a:srgbClr val="000000"/>
                          </a:solidFill>
                          <a:latin typeface="Calibri"/>
                        </a:rPr>
                        <a:t>1</a:t>
                      </a:r>
                      <a:endParaRPr lang="en-US" sz="9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1" strike="noStrike" spc="-1">
                          <a:solidFill>
                            <a:srgbClr val="E4002B"/>
                          </a:solidFill>
                          <a:latin typeface="Calibri"/>
                        </a:rPr>
                        <a:t>Alert</a:t>
                      </a:r>
                      <a:endParaRPr lang="en-US" sz="9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Immediate action needed</a:t>
                      </a:r>
                      <a:endParaRPr lang="en-US" sz="9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Fix immediately</a:t>
                      </a:r>
                      <a:endParaRPr lang="en-US" sz="9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2"/>
                  </a:ext>
                </a:extLst>
              </a:tr>
              <a:tr h="0">
                <a:tc>
                  <a:txBody>
                    <a:bodyPr/>
                    <a:lstStyle/>
                    <a:p>
                      <a:pPr algn="ctr" defTabSz="914400">
                        <a:lnSpc>
                          <a:spcPct val="100000"/>
                        </a:lnSpc>
                        <a:tabLst>
                          <a:tab pos="0" algn="l"/>
                        </a:tabLst>
                      </a:pPr>
                      <a:r>
                        <a:rPr lang="en-US" sz="900" b="0" strike="noStrike" spc="-1">
                          <a:solidFill>
                            <a:srgbClr val="000000"/>
                          </a:solidFill>
                          <a:latin typeface="Calibri"/>
                        </a:rPr>
                        <a:t>2</a:t>
                      </a:r>
                      <a:endParaRPr lang="en-US" sz="9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1" strike="noStrike" spc="-1">
                          <a:solidFill>
                            <a:srgbClr val="E4002B"/>
                          </a:solidFill>
                          <a:latin typeface="Calibri"/>
                        </a:rPr>
                        <a:t>Critical</a:t>
                      </a:r>
                      <a:endParaRPr lang="en-US" sz="9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Critical conditions</a:t>
                      </a:r>
                      <a:endParaRPr lang="en-US" sz="9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Investigate now</a:t>
                      </a:r>
                      <a:endParaRPr lang="en-US" sz="9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3"/>
                  </a:ext>
                </a:extLst>
              </a:tr>
              <a:tr h="0">
                <a:tc>
                  <a:txBody>
                    <a:bodyPr/>
                    <a:lstStyle/>
                    <a:p>
                      <a:pPr algn="ctr" defTabSz="914400">
                        <a:lnSpc>
                          <a:spcPct val="100000"/>
                        </a:lnSpc>
                        <a:tabLst>
                          <a:tab pos="0" algn="l"/>
                        </a:tabLst>
                      </a:pPr>
                      <a:r>
                        <a:rPr lang="en-US" sz="900" b="0" strike="noStrike" spc="-1">
                          <a:solidFill>
                            <a:srgbClr val="000000"/>
                          </a:solidFill>
                          <a:latin typeface="Calibri"/>
                        </a:rPr>
                        <a:t>3</a:t>
                      </a:r>
                      <a:endParaRPr lang="en-US" sz="9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1" strike="noStrike" spc="-1">
                          <a:solidFill>
                            <a:srgbClr val="F29A36"/>
                          </a:solidFill>
                          <a:latin typeface="Calibri"/>
                        </a:rPr>
                        <a:t>Error</a:t>
                      </a:r>
                      <a:endParaRPr lang="en-US" sz="9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Error conditions</a:t>
                      </a:r>
                      <a:endParaRPr lang="en-US" sz="9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Investigate soon</a:t>
                      </a:r>
                      <a:endParaRPr lang="en-US" sz="9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4"/>
                  </a:ext>
                </a:extLst>
              </a:tr>
              <a:tr h="0">
                <a:tc>
                  <a:txBody>
                    <a:bodyPr/>
                    <a:lstStyle/>
                    <a:p>
                      <a:pPr algn="ctr" defTabSz="914400">
                        <a:lnSpc>
                          <a:spcPct val="100000"/>
                        </a:lnSpc>
                        <a:tabLst>
                          <a:tab pos="0" algn="l"/>
                        </a:tabLst>
                      </a:pPr>
                      <a:r>
                        <a:rPr lang="en-US" sz="900" b="0" strike="noStrike" spc="-1">
                          <a:solidFill>
                            <a:srgbClr val="000000"/>
                          </a:solidFill>
                          <a:latin typeface="Calibri"/>
                        </a:rPr>
                        <a:t>4</a:t>
                      </a:r>
                      <a:endParaRPr lang="en-US" sz="9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1" strike="noStrike" spc="-1">
                          <a:solidFill>
                            <a:srgbClr val="F29A36"/>
                          </a:solidFill>
                          <a:latin typeface="Calibri"/>
                        </a:rPr>
                        <a:t>Warning</a:t>
                      </a:r>
                      <a:endParaRPr lang="en-US" sz="9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Warning conditions</a:t>
                      </a:r>
                      <a:endParaRPr lang="en-US" sz="9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Review and monitor</a:t>
                      </a:r>
                      <a:endParaRPr lang="en-US" sz="9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5"/>
                  </a:ext>
                </a:extLst>
              </a:tr>
              <a:tr h="0">
                <a:tc>
                  <a:txBody>
                    <a:bodyPr/>
                    <a:lstStyle/>
                    <a:p>
                      <a:pPr algn="ctr" defTabSz="914400">
                        <a:lnSpc>
                          <a:spcPct val="100000"/>
                        </a:lnSpc>
                        <a:tabLst>
                          <a:tab pos="0" algn="l"/>
                        </a:tabLst>
                      </a:pPr>
                      <a:r>
                        <a:rPr lang="en-US" sz="900" b="0" strike="noStrike" spc="-1">
                          <a:solidFill>
                            <a:srgbClr val="000000"/>
                          </a:solidFill>
                          <a:latin typeface="Calibri"/>
                        </a:rPr>
                        <a:t>5</a:t>
                      </a:r>
                      <a:endParaRPr lang="en-US" sz="9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1" strike="noStrike" spc="-1">
                          <a:solidFill>
                            <a:srgbClr val="000000"/>
                          </a:solidFill>
                          <a:latin typeface="Calibri"/>
                        </a:rPr>
                        <a:t>Notice</a:t>
                      </a:r>
                      <a:endParaRPr lang="en-US" sz="9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Normal but significant</a:t>
                      </a:r>
                      <a:endParaRPr lang="en-US" sz="9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Normal operations</a:t>
                      </a:r>
                      <a:endParaRPr lang="en-US" sz="9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6"/>
                  </a:ext>
                </a:extLst>
              </a:tr>
              <a:tr h="0">
                <a:tc>
                  <a:txBody>
                    <a:bodyPr/>
                    <a:lstStyle/>
                    <a:p>
                      <a:pPr algn="ctr" defTabSz="914400">
                        <a:lnSpc>
                          <a:spcPct val="100000"/>
                        </a:lnSpc>
                        <a:tabLst>
                          <a:tab pos="0" algn="l"/>
                        </a:tabLst>
                      </a:pPr>
                      <a:r>
                        <a:rPr lang="en-US" sz="900" b="0" strike="noStrike" spc="-1">
                          <a:solidFill>
                            <a:srgbClr val="000000"/>
                          </a:solidFill>
                          <a:latin typeface="Calibri"/>
                        </a:rPr>
                        <a:t>6</a:t>
                      </a:r>
                      <a:endParaRPr lang="en-US" sz="9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1" strike="noStrike" spc="-1">
                          <a:solidFill>
                            <a:srgbClr val="000000"/>
                          </a:solidFill>
                          <a:latin typeface="Calibri"/>
                        </a:rPr>
                        <a:t>Informational</a:t>
                      </a:r>
                      <a:endParaRPr lang="en-US" sz="9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Informational messages</a:t>
                      </a:r>
                      <a:endParaRPr lang="en-US" sz="9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Verbose logging</a:t>
                      </a:r>
                      <a:endParaRPr lang="en-US" sz="9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7"/>
                  </a:ext>
                </a:extLst>
              </a:tr>
              <a:tr h="0">
                <a:tc>
                  <a:txBody>
                    <a:bodyPr/>
                    <a:lstStyle/>
                    <a:p>
                      <a:pPr algn="ctr" defTabSz="914400">
                        <a:lnSpc>
                          <a:spcPct val="100000"/>
                        </a:lnSpc>
                        <a:tabLst>
                          <a:tab pos="0" algn="l"/>
                        </a:tabLst>
                      </a:pPr>
                      <a:r>
                        <a:rPr lang="en-US" sz="900" b="0" strike="noStrike" spc="-1">
                          <a:solidFill>
                            <a:srgbClr val="000000"/>
                          </a:solidFill>
                          <a:latin typeface="Calibri"/>
                        </a:rPr>
                        <a:t>7</a:t>
                      </a:r>
                      <a:endParaRPr lang="en-US" sz="9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1" strike="noStrike" spc="-1">
                          <a:solidFill>
                            <a:srgbClr val="666666"/>
                          </a:solidFill>
                          <a:latin typeface="Calibri"/>
                        </a:rPr>
                        <a:t>Debug</a:t>
                      </a:r>
                      <a:endParaRPr lang="en-US" sz="9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Debug-level messages</a:t>
                      </a:r>
                      <a:endParaRPr lang="en-US" sz="9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E4002B"/>
                          </a:solidFill>
                          <a:latin typeface="Calibri"/>
                        </a:rPr>
                        <a:t>NEVER in production — fills disk, drops messages</a:t>
                      </a:r>
                      <a:endParaRPr lang="en-US" sz="9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46"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147"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148"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149"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150"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151"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99    © 2026 F5</a:t>
            </a:r>
            <a:endParaRPr lang="en-US" sz="800" b="0" strike="noStrike" spc="-1">
              <a:solidFill>
                <a:srgbClr val="000000"/>
              </a:solidFill>
              <a:latin typeface="Arial"/>
            </a:endParaRPr>
          </a:p>
        </p:txBody>
      </p:sp>
      <p:pic>
        <p:nvPicPr>
          <p:cNvPr id="2152" name="Image 0" descr="preencoded.png"/>
          <p:cNvPicPr/>
          <p:nvPr/>
        </p:nvPicPr>
        <p:blipFill>
          <a:blip r:embed="rId3"/>
          <a:stretch/>
        </p:blipFill>
        <p:spPr>
          <a:xfrm>
            <a:off x="8458200" y="4663440"/>
            <a:ext cx="383760" cy="383760"/>
          </a:xfrm>
          <a:prstGeom prst="rect">
            <a:avLst/>
          </a:prstGeom>
          <a:ln w="0">
            <a:noFill/>
          </a:ln>
        </p:spPr>
      </p:pic>
      <p:sp>
        <p:nvSpPr>
          <p:cNvPr id="2153" name="Text 6"/>
          <p:cNvSpPr/>
          <p:nvPr/>
        </p:nvSpPr>
        <p:spPr>
          <a:xfrm>
            <a:off x="457200" y="274320"/>
            <a:ext cx="82292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Audit logging and SSH access control</a:t>
            </a:r>
            <a:endParaRPr lang="en-US" sz="2800" b="0" strike="noStrike" spc="-1">
              <a:solidFill>
                <a:srgbClr val="000000"/>
              </a:solidFill>
              <a:latin typeface="Arial"/>
            </a:endParaRPr>
          </a:p>
        </p:txBody>
      </p:sp>
      <p:sp>
        <p:nvSpPr>
          <p:cNvPr id="2154" name="Text 7"/>
          <p:cNvSpPr/>
          <p:nvPr/>
        </p:nvSpPr>
        <p:spPr>
          <a:xfrm>
            <a:off x="457200" y="658440"/>
            <a:ext cx="82292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strike="noStrike" spc="-1">
                <a:solidFill>
                  <a:srgbClr val="666666"/>
                </a:solidFill>
                <a:latin typeface="Calibri"/>
                <a:ea typeface="Calibri"/>
              </a:rPr>
              <a:t>Track administrative changes and restrict CLI access to trusted networks</a:t>
            </a:r>
            <a:endParaRPr lang="en-US" sz="1300" b="0" strike="noStrike" spc="-1">
              <a:solidFill>
                <a:srgbClr val="000000"/>
              </a:solidFill>
              <a:latin typeface="Arial"/>
            </a:endParaRPr>
          </a:p>
        </p:txBody>
      </p:sp>
      <p:sp>
        <p:nvSpPr>
          <p:cNvPr id="2155" name="Shape 8"/>
          <p:cNvSpPr/>
          <p:nvPr/>
        </p:nvSpPr>
        <p:spPr>
          <a:xfrm>
            <a:off x="365760" y="1005840"/>
            <a:ext cx="3931560" cy="31968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156" name="Text 9"/>
          <p:cNvSpPr/>
          <p:nvPr/>
        </p:nvSpPr>
        <p:spPr>
          <a:xfrm>
            <a:off x="365760" y="1005840"/>
            <a:ext cx="39315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FFFFFF"/>
                </a:solidFill>
                <a:latin typeface="Arial"/>
                <a:ea typeface="Arial"/>
              </a:rPr>
              <a:t>Audit logging</a:t>
            </a:r>
            <a:endParaRPr lang="en-US" sz="1400" b="0" strike="noStrike" spc="-1">
              <a:solidFill>
                <a:srgbClr val="000000"/>
              </a:solidFill>
              <a:latin typeface="Arial"/>
            </a:endParaRPr>
          </a:p>
        </p:txBody>
      </p:sp>
      <p:sp>
        <p:nvSpPr>
          <p:cNvPr id="2157" name="Shape 10"/>
          <p:cNvSpPr/>
          <p:nvPr/>
        </p:nvSpPr>
        <p:spPr>
          <a:xfrm>
            <a:off x="365760" y="1325880"/>
            <a:ext cx="3931560" cy="191988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158" name="Text 11"/>
          <p:cNvSpPr/>
          <p:nvPr/>
        </p:nvSpPr>
        <p:spPr>
          <a:xfrm>
            <a:off x="457200" y="1371600"/>
            <a:ext cx="3748680" cy="1828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r>
              <a:rPr lang="en-US" sz="1000" b="1" strike="noStrike" spc="-1">
                <a:solidFill>
                  <a:srgbClr val="0E41AA"/>
                </a:solidFill>
                <a:latin typeface="Calibri"/>
                <a:ea typeface="Calibri"/>
              </a:rPr>
              <a:t>Purpose: </a:t>
            </a:r>
            <a:r>
              <a:rPr lang="en-US" sz="900" b="0" strike="noStrike" spc="-1">
                <a:solidFill>
                  <a:srgbClr val="333333"/>
                </a:solidFill>
                <a:latin typeface="Calibri"/>
                <a:ea typeface="Calibri"/>
              </a:rPr>
              <a:t>Log all config changes by all users.</a:t>
            </a:r>
            <a:endParaRPr lang="en-US" sz="900" b="0" strike="noStrike" spc="-1">
              <a:solidFill>
                <a:srgbClr val="000000"/>
              </a:solidFill>
              <a:latin typeface="Arial"/>
            </a:endParaRPr>
          </a:p>
          <a:p>
            <a:endParaRPr lang="en-US" sz="900" b="0" strike="noStrike" spc="-1">
              <a:solidFill>
                <a:srgbClr val="000000"/>
              </a:solidFill>
              <a:latin typeface="Arial"/>
            </a:endParaRPr>
          </a:p>
          <a:p>
            <a:r>
              <a:rPr lang="en-US" sz="1000" b="1" strike="noStrike" spc="-1">
                <a:solidFill>
                  <a:srgbClr val="333333"/>
                </a:solidFill>
                <a:latin typeface="Calibri"/>
                <a:ea typeface="Calibri"/>
              </a:rPr>
              <a:t>Enable: </a:t>
            </a:r>
            <a:r>
              <a:rPr lang="en-US" sz="900" b="0" strike="noStrike" spc="-1">
                <a:solidFill>
                  <a:srgbClr val="333333"/>
                </a:solidFill>
                <a:latin typeface="Calibri"/>
                <a:ea typeface="Calibri"/>
              </a:rPr>
              <a:t>System &gt; Logs &gt; Configuration &gt;</a:t>
            </a:r>
            <a:endParaRPr lang="en-US" sz="900" b="0" strike="noStrike" spc="-1">
              <a:solidFill>
                <a:srgbClr val="000000"/>
              </a:solidFill>
              <a:latin typeface="Arial"/>
            </a:endParaRPr>
          </a:p>
          <a:p>
            <a:r>
              <a:rPr lang="en-US" sz="900" b="0" strike="noStrike" spc="-1">
                <a:solidFill>
                  <a:srgbClr val="333333"/>
                </a:solidFill>
                <a:latin typeface="Calibri"/>
                <a:ea typeface="Calibri"/>
              </a:rPr>
              <a:t>Audit Logging: Enable</a:t>
            </a:r>
            <a:endParaRPr lang="en-US" sz="900" b="0" strike="noStrike" spc="-1">
              <a:solidFill>
                <a:srgbClr val="000000"/>
              </a:solidFill>
              <a:latin typeface="Arial"/>
            </a:endParaRPr>
          </a:p>
          <a:p>
            <a:endParaRPr lang="en-US" sz="900" b="0" strike="noStrike" spc="-1">
              <a:solidFill>
                <a:srgbClr val="000000"/>
              </a:solidFill>
              <a:latin typeface="Arial"/>
            </a:endParaRPr>
          </a:p>
          <a:p>
            <a:r>
              <a:rPr lang="en-US" sz="1000" b="1" strike="noStrike" spc="-1">
                <a:solidFill>
                  <a:srgbClr val="333333"/>
                </a:solidFill>
                <a:latin typeface="Calibri"/>
                <a:ea typeface="Calibri"/>
              </a:rPr>
              <a:t>View: </a:t>
            </a:r>
            <a:r>
              <a:rPr lang="en-US" sz="900" b="0" strike="noStrike" spc="-1">
                <a:solidFill>
                  <a:srgbClr val="333333"/>
                </a:solidFill>
                <a:latin typeface="Calibri"/>
                <a:ea typeface="Calibri"/>
              </a:rPr>
              <a:t>System &gt; Logs &gt; Audit</a:t>
            </a:r>
            <a:endParaRPr lang="en-US" sz="900" b="0" strike="noStrike" spc="-1">
              <a:solidFill>
                <a:srgbClr val="000000"/>
              </a:solidFill>
              <a:latin typeface="Arial"/>
            </a:endParaRPr>
          </a:p>
          <a:p>
            <a:r>
              <a:rPr lang="en-US" sz="900" b="0" strike="noStrike" spc="-1">
                <a:solidFill>
                  <a:srgbClr val="333333"/>
                </a:solidFill>
                <a:latin typeface="Calibri"/>
                <a:ea typeface="Calibri"/>
              </a:rPr>
              <a:t>Or: /var/log/audit</a:t>
            </a:r>
            <a:endParaRPr lang="en-US" sz="900" b="0" strike="noStrike" spc="-1">
              <a:solidFill>
                <a:srgbClr val="000000"/>
              </a:solidFill>
              <a:latin typeface="Arial"/>
            </a:endParaRPr>
          </a:p>
          <a:p>
            <a:endParaRPr lang="en-US" sz="900" b="0" strike="noStrike" spc="-1">
              <a:solidFill>
                <a:srgbClr val="000000"/>
              </a:solidFill>
              <a:latin typeface="Arial"/>
            </a:endParaRPr>
          </a:p>
          <a:p>
            <a:r>
              <a:rPr lang="en-US" sz="1000" b="1" strike="noStrike" spc="-1">
                <a:solidFill>
                  <a:srgbClr val="333333"/>
                </a:solidFill>
                <a:latin typeface="Calibri"/>
                <a:ea typeface="Calibri"/>
              </a:rPr>
              <a:t>Logged events:</a:t>
            </a:r>
            <a:endParaRPr lang="en-US" sz="1000" b="0" strike="noStrike" spc="-1">
              <a:solidFill>
                <a:srgbClr val="000000"/>
              </a:solidFill>
              <a:latin typeface="Arial"/>
            </a:endParaRPr>
          </a:p>
          <a:p>
            <a:pPr defTabSz="914400">
              <a:lnSpc>
                <a:spcPct val="100000"/>
              </a:lnSpc>
              <a:tabLst>
                <a:tab pos="0" algn="l"/>
              </a:tabLst>
            </a:pPr>
            <a:r>
              <a:rPr lang="en-US" sz="900" b="0" strike="noStrike" spc="-1">
                <a:solidFill>
                  <a:srgbClr val="333333"/>
                </a:solidFill>
                <a:latin typeface="Calibri"/>
                <a:ea typeface="Calibri"/>
              </a:rPr>
              <a:t>• User logins / logouts</a:t>
            </a:r>
            <a:endParaRPr lang="en-US" sz="900" b="0" strike="noStrike" spc="-1">
              <a:solidFill>
                <a:srgbClr val="000000"/>
              </a:solidFill>
              <a:latin typeface="Arial"/>
            </a:endParaRPr>
          </a:p>
          <a:p>
            <a:pPr defTabSz="914400">
              <a:lnSpc>
                <a:spcPct val="100000"/>
              </a:lnSpc>
              <a:tabLst>
                <a:tab pos="0" algn="l"/>
              </a:tabLst>
            </a:pPr>
            <a:r>
              <a:rPr lang="en-US" sz="900" b="0" strike="noStrike" spc="-1">
                <a:solidFill>
                  <a:srgbClr val="333333"/>
                </a:solidFill>
                <a:latin typeface="Calibri"/>
                <a:ea typeface="Calibri"/>
              </a:rPr>
              <a:t>• Config changes (VS, pool, profile, etc.)</a:t>
            </a:r>
            <a:endParaRPr lang="en-US" sz="900" b="0" strike="noStrike" spc="-1">
              <a:solidFill>
                <a:srgbClr val="000000"/>
              </a:solidFill>
              <a:latin typeface="Arial"/>
            </a:endParaRPr>
          </a:p>
          <a:p>
            <a:pPr defTabSz="914400">
              <a:lnSpc>
                <a:spcPct val="100000"/>
              </a:lnSpc>
              <a:tabLst>
                <a:tab pos="0" algn="l"/>
              </a:tabLst>
            </a:pPr>
            <a:r>
              <a:rPr lang="en-US" sz="900" b="0" strike="noStrike" spc="-1">
                <a:solidFill>
                  <a:srgbClr val="333333"/>
                </a:solidFill>
                <a:latin typeface="Calibri"/>
                <a:ea typeface="Calibri"/>
              </a:rPr>
              <a:t>• TMSH commands executed</a:t>
            </a:r>
            <a:endParaRPr lang="en-US" sz="900" b="0" strike="noStrike" spc="-1">
              <a:solidFill>
                <a:srgbClr val="000000"/>
              </a:solidFill>
              <a:latin typeface="Arial"/>
            </a:endParaRPr>
          </a:p>
          <a:p>
            <a:pPr defTabSz="914400">
              <a:lnSpc>
                <a:spcPct val="100000"/>
              </a:lnSpc>
              <a:tabLst>
                <a:tab pos="0" algn="l"/>
              </a:tabLst>
            </a:pPr>
            <a:r>
              <a:rPr lang="en-US" sz="900" b="0" strike="noStrike" spc="-1">
                <a:solidFill>
                  <a:srgbClr val="333333"/>
                </a:solidFill>
                <a:latin typeface="Calibri"/>
                <a:ea typeface="Calibri"/>
              </a:rPr>
              <a:t>• Who made the change + timestamp</a:t>
            </a:r>
            <a:endParaRPr lang="en-US" sz="900" b="0" strike="noStrike" spc="-1">
              <a:solidFill>
                <a:srgbClr val="000000"/>
              </a:solidFill>
              <a:latin typeface="Arial"/>
            </a:endParaRPr>
          </a:p>
        </p:txBody>
      </p:sp>
      <p:sp>
        <p:nvSpPr>
          <p:cNvPr id="2159" name="Shape 12"/>
          <p:cNvSpPr/>
          <p:nvPr/>
        </p:nvSpPr>
        <p:spPr>
          <a:xfrm>
            <a:off x="4846320" y="1005840"/>
            <a:ext cx="3931560" cy="31968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160" name="Text 13"/>
          <p:cNvSpPr/>
          <p:nvPr/>
        </p:nvSpPr>
        <p:spPr>
          <a:xfrm>
            <a:off x="4846320" y="1005840"/>
            <a:ext cx="39315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FFFFFF"/>
                </a:solidFill>
                <a:latin typeface="Arial"/>
                <a:ea typeface="Arial"/>
              </a:rPr>
              <a:t>SSH IP Allow</a:t>
            </a:r>
            <a:endParaRPr lang="en-US" sz="1400" b="0" strike="noStrike" spc="-1">
              <a:solidFill>
                <a:srgbClr val="000000"/>
              </a:solidFill>
              <a:latin typeface="Arial"/>
            </a:endParaRPr>
          </a:p>
        </p:txBody>
      </p:sp>
      <p:sp>
        <p:nvSpPr>
          <p:cNvPr id="2161" name="Shape 14"/>
          <p:cNvSpPr/>
          <p:nvPr/>
        </p:nvSpPr>
        <p:spPr>
          <a:xfrm>
            <a:off x="4846320" y="1325880"/>
            <a:ext cx="3931560" cy="191988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162" name="Text 15"/>
          <p:cNvSpPr/>
          <p:nvPr/>
        </p:nvSpPr>
        <p:spPr>
          <a:xfrm>
            <a:off x="4937760" y="1371600"/>
            <a:ext cx="3748680" cy="1828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r>
              <a:rPr lang="en-US" sz="1000" b="1" strike="noStrike" spc="-1">
                <a:solidFill>
                  <a:srgbClr val="E4002B"/>
                </a:solidFill>
                <a:latin typeface="Calibri"/>
                <a:ea typeface="Calibri"/>
              </a:rPr>
              <a:t>Purpose: </a:t>
            </a:r>
            <a:r>
              <a:rPr lang="en-US" sz="900" b="0" strike="noStrike" spc="-1">
                <a:solidFill>
                  <a:srgbClr val="333333"/>
                </a:solidFill>
                <a:latin typeface="Calibri"/>
                <a:ea typeface="Calibri"/>
              </a:rPr>
              <a:t>Restrict which IPs can SSH to the BIG-IP management interface.</a:t>
            </a:r>
            <a:endParaRPr lang="en-US" sz="900" b="0" strike="noStrike" spc="-1">
              <a:solidFill>
                <a:srgbClr val="000000"/>
              </a:solidFill>
              <a:latin typeface="Arial"/>
            </a:endParaRPr>
          </a:p>
          <a:p>
            <a:endParaRPr lang="en-US" sz="900" b="0" strike="noStrike" spc="-1">
              <a:solidFill>
                <a:srgbClr val="000000"/>
              </a:solidFill>
              <a:latin typeface="Arial"/>
            </a:endParaRPr>
          </a:p>
          <a:p>
            <a:r>
              <a:rPr lang="en-US" sz="1000" b="1" strike="noStrike" spc="-1">
                <a:solidFill>
                  <a:srgbClr val="333333"/>
                </a:solidFill>
                <a:latin typeface="Calibri"/>
                <a:ea typeface="Calibri"/>
              </a:rPr>
              <a:t>Configure: </a:t>
            </a:r>
            <a:r>
              <a:rPr lang="en-US" sz="900" b="0" strike="noStrike" spc="-1">
                <a:solidFill>
                  <a:srgbClr val="333333"/>
                </a:solidFill>
                <a:latin typeface="Calibri"/>
                <a:ea typeface="Calibri"/>
              </a:rPr>
              <a:t>System &gt; Platform &gt; SSH IP Allow</a:t>
            </a:r>
            <a:endParaRPr lang="en-US" sz="900" b="0" strike="noStrike" spc="-1">
              <a:solidFill>
                <a:srgbClr val="000000"/>
              </a:solidFill>
              <a:latin typeface="Arial"/>
            </a:endParaRPr>
          </a:p>
          <a:p>
            <a:endParaRPr lang="en-US" sz="900" b="0" strike="noStrike" spc="-1">
              <a:solidFill>
                <a:srgbClr val="000000"/>
              </a:solidFill>
              <a:latin typeface="Arial"/>
            </a:endParaRPr>
          </a:p>
          <a:p>
            <a:r>
              <a:rPr lang="en-US" sz="1000" b="1" strike="noStrike" spc="-1">
                <a:solidFill>
                  <a:srgbClr val="333333"/>
                </a:solidFill>
                <a:latin typeface="Calibri"/>
                <a:ea typeface="Calibri"/>
              </a:rPr>
              <a:t>Options:</a:t>
            </a:r>
            <a:endParaRPr lang="en-US" sz="1000" b="0" strike="noStrike" spc="-1">
              <a:solidFill>
                <a:srgbClr val="000000"/>
              </a:solidFill>
              <a:latin typeface="Arial"/>
            </a:endParaRPr>
          </a:p>
          <a:p>
            <a:r>
              <a:rPr lang="en-US" sz="900" b="0" strike="noStrike" spc="-1">
                <a:solidFill>
                  <a:srgbClr val="333333"/>
                </a:solidFill>
                <a:latin typeface="Calibri"/>
                <a:ea typeface="Calibri"/>
              </a:rPr>
              <a:t>• All Addresses (default — insecure)</a:t>
            </a:r>
            <a:endParaRPr lang="en-US" sz="900" b="0" strike="noStrike" spc="-1">
              <a:solidFill>
                <a:srgbClr val="000000"/>
              </a:solidFill>
              <a:latin typeface="Arial"/>
            </a:endParaRPr>
          </a:p>
          <a:p>
            <a:r>
              <a:rPr lang="en-US" sz="900" b="0" strike="noStrike" spc="-1">
                <a:solidFill>
                  <a:srgbClr val="333333"/>
                </a:solidFill>
                <a:latin typeface="Calibri"/>
                <a:ea typeface="Calibri"/>
              </a:rPr>
              <a:t>• Specify Range: 10.1.1.0/24</a:t>
            </a:r>
            <a:endParaRPr lang="en-US" sz="900" b="0" strike="noStrike" spc="-1">
              <a:solidFill>
                <a:srgbClr val="000000"/>
              </a:solidFill>
              <a:latin typeface="Arial"/>
            </a:endParaRPr>
          </a:p>
          <a:p>
            <a:r>
              <a:rPr lang="en-US" sz="900" b="0" strike="noStrike" spc="-1">
                <a:solidFill>
                  <a:srgbClr val="333333"/>
                </a:solidFill>
                <a:latin typeface="Calibri"/>
                <a:ea typeface="Calibri"/>
              </a:rPr>
              <a:t>• None (disables SSH entirely)</a:t>
            </a:r>
            <a:endParaRPr lang="en-US" sz="900" b="0" strike="noStrike" spc="-1">
              <a:solidFill>
                <a:srgbClr val="000000"/>
              </a:solidFill>
              <a:latin typeface="Arial"/>
            </a:endParaRPr>
          </a:p>
          <a:p>
            <a:endParaRPr lang="en-US" sz="900" b="0" strike="noStrike" spc="-1">
              <a:solidFill>
                <a:srgbClr val="000000"/>
              </a:solidFill>
              <a:latin typeface="Arial"/>
            </a:endParaRPr>
          </a:p>
          <a:p>
            <a:r>
              <a:rPr lang="en-US" sz="1000" b="1" strike="noStrike" spc="-1">
                <a:solidFill>
                  <a:srgbClr val="333333"/>
                </a:solidFill>
                <a:latin typeface="Calibri"/>
                <a:ea typeface="Calibri"/>
              </a:rPr>
              <a:t>TMSH:</a:t>
            </a:r>
            <a:endParaRPr lang="en-US" sz="1000" b="0" strike="noStrike" spc="-1">
              <a:solidFill>
                <a:srgbClr val="000000"/>
              </a:solidFill>
              <a:latin typeface="Arial"/>
            </a:endParaRPr>
          </a:p>
          <a:p>
            <a:pPr defTabSz="914400">
              <a:lnSpc>
                <a:spcPct val="100000"/>
              </a:lnSpc>
              <a:tabLst>
                <a:tab pos="0" algn="l"/>
              </a:tabLst>
            </a:pPr>
            <a:r>
              <a:rPr lang="en-US" sz="800" b="0" strike="noStrike" spc="-1">
                <a:solidFill>
                  <a:srgbClr val="333333"/>
                </a:solidFill>
                <a:latin typeface="Courier New"/>
                <a:ea typeface="Courier New"/>
              </a:rPr>
              <a:t>modify sys sshd</a:t>
            </a:r>
            <a:endParaRPr lang="en-US" sz="800" b="0" strike="noStrike" spc="-1">
              <a:solidFill>
                <a:srgbClr val="000000"/>
              </a:solidFill>
              <a:latin typeface="Arial"/>
            </a:endParaRPr>
          </a:p>
          <a:p>
            <a:pPr defTabSz="914400">
              <a:lnSpc>
                <a:spcPct val="100000"/>
              </a:lnSpc>
              <a:tabLst>
                <a:tab pos="0" algn="l"/>
              </a:tabLst>
            </a:pPr>
            <a:r>
              <a:rPr lang="en-US" sz="800" b="0" strike="noStrike" spc="-1">
                <a:solidFill>
                  <a:srgbClr val="333333"/>
                </a:solidFill>
                <a:latin typeface="Courier New"/>
                <a:ea typeface="Courier New"/>
              </a:rPr>
              <a:t>  allow replace-all-with</a:t>
            </a:r>
            <a:endParaRPr lang="en-US" sz="800" b="0" strike="noStrike" spc="-1">
              <a:solidFill>
                <a:srgbClr val="000000"/>
              </a:solidFill>
              <a:latin typeface="Arial"/>
            </a:endParaRPr>
          </a:p>
          <a:p>
            <a:pPr defTabSz="914400">
              <a:lnSpc>
                <a:spcPct val="100000"/>
              </a:lnSpc>
              <a:tabLst>
                <a:tab pos="0" algn="l"/>
              </a:tabLst>
            </a:pPr>
            <a:r>
              <a:rPr lang="en-US" sz="800" b="0" strike="noStrike" spc="-1">
                <a:solidFill>
                  <a:srgbClr val="333333"/>
                </a:solidFill>
                <a:latin typeface="Courier New"/>
                <a:ea typeface="Courier New"/>
              </a:rPr>
              <a:t>  { 10.1.1.0/24 }</a:t>
            </a:r>
            <a:endParaRPr lang="en-US" sz="800" b="0" strike="noStrike" spc="-1">
              <a:solidFill>
                <a:srgbClr val="000000"/>
              </a:solidFill>
              <a:latin typeface="Arial"/>
            </a:endParaRPr>
          </a:p>
        </p:txBody>
      </p:sp>
      <p:sp>
        <p:nvSpPr>
          <p:cNvPr id="2163" name="Shape 16"/>
          <p:cNvSpPr/>
          <p:nvPr/>
        </p:nvSpPr>
        <p:spPr>
          <a:xfrm>
            <a:off x="365760" y="3383280"/>
            <a:ext cx="8412120" cy="411120"/>
          </a:xfrm>
          <a:prstGeom prst="rect">
            <a:avLst/>
          </a:prstGeom>
          <a:solidFill>
            <a:srgbClr val="FFF3E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164" name="Text 17"/>
          <p:cNvSpPr/>
          <p:nvPr/>
        </p:nvSpPr>
        <p:spPr>
          <a:xfrm>
            <a:off x="548640" y="3401640"/>
            <a:ext cx="80463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strike="noStrike" spc="-1">
                <a:solidFill>
                  <a:srgbClr val="F29A36"/>
                </a:solidFill>
                <a:latin typeface="Calibri"/>
                <a:ea typeface="Calibri"/>
              </a:rPr>
              <a:t>Also restrict GUI access: </a:t>
            </a:r>
            <a:r>
              <a:rPr lang="en-US" sz="900" b="0" strike="noStrike" spc="-1">
                <a:solidFill>
                  <a:srgbClr val="7A4500"/>
                </a:solidFill>
                <a:latin typeface="Calibri"/>
                <a:ea typeface="Calibri"/>
              </a:rPr>
              <a:t>System &gt; Platform &gt; HTTPD Access: Specify Range (same concept as SSH IP Allow). TMSH: modify sys httpd allow replace-all-with { 10.1.1.0/24 }</a:t>
            </a:r>
            <a:endParaRPr lang="en-US" sz="900" b="0" strike="noStrike" spc="-1">
              <a:solidFill>
                <a:srgbClr val="000000"/>
              </a:solidFill>
              <a:latin typeface="Arial"/>
            </a:endParaRPr>
          </a:p>
        </p:txBody>
      </p:sp>
      <p:sp>
        <p:nvSpPr>
          <p:cNvPr id="2165" name="Shape 18"/>
          <p:cNvSpPr/>
          <p:nvPr/>
        </p:nvSpPr>
        <p:spPr>
          <a:xfrm>
            <a:off x="365760" y="3886200"/>
            <a:ext cx="8412120" cy="731160"/>
          </a:xfrm>
          <a:prstGeom prst="rect">
            <a:avLst/>
          </a:prstGeom>
          <a:solidFill>
            <a:srgbClr val="E8F0F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166" name="Text 19"/>
          <p:cNvSpPr/>
          <p:nvPr/>
        </p:nvSpPr>
        <p:spPr>
          <a:xfrm>
            <a:off x="548640" y="3904560"/>
            <a:ext cx="8046360" cy="694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r>
              <a:rPr lang="en-US" sz="1100" b="1" strike="noStrike" spc="-1">
                <a:solidFill>
                  <a:srgbClr val="0E41AA"/>
                </a:solidFill>
                <a:latin typeface="Calibri"/>
                <a:ea typeface="Calibri"/>
              </a:rPr>
              <a:t>Security hardening checklist</a:t>
            </a:r>
            <a:endParaRPr lang="en-US" sz="1100" b="0" strike="noStrike" spc="-1">
              <a:solidFill>
                <a:srgbClr val="000000"/>
              </a:solidFill>
              <a:latin typeface="Arial"/>
            </a:endParaRPr>
          </a:p>
          <a:p>
            <a:pPr defTabSz="914400">
              <a:lnSpc>
                <a:spcPct val="100000"/>
              </a:lnSpc>
              <a:tabLst>
                <a:tab pos="0" algn="l"/>
              </a:tabLst>
            </a:pPr>
            <a:r>
              <a:rPr lang="en-US" sz="900" b="0" strike="noStrike" spc="-1">
                <a:solidFill>
                  <a:srgbClr val="1A3A6C"/>
                </a:solidFill>
                <a:latin typeface="Calibri"/>
                <a:ea typeface="Calibri"/>
              </a:rPr>
              <a:t>✔ Enable audit logging  ✔ Restrict SSH to management subnet  ✔ Restrict HTTPD to management subnet  ✔ Port lockdown None on data VLANs  ✔ Disable unused services  ✔ Change default passwords  ✔ Renew device certificates  ✔ Configure NTP</a:t>
            </a:r>
            <a:endParaRPr lang="en-US" sz="900" b="0" strike="noStrike" spc="-1">
              <a:solidFill>
                <a:srgbClr val="000000"/>
              </a:solidFill>
              <a:latin typeface="Arial"/>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67"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168"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169"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170"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171"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172"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100    © 2026 F5</a:t>
            </a:r>
            <a:endParaRPr lang="en-US" sz="800" b="0" strike="noStrike" spc="-1">
              <a:solidFill>
                <a:srgbClr val="000000"/>
              </a:solidFill>
              <a:latin typeface="Arial"/>
            </a:endParaRPr>
          </a:p>
        </p:txBody>
      </p:sp>
      <p:pic>
        <p:nvPicPr>
          <p:cNvPr id="2173" name="Image 0" descr="preencoded.png"/>
          <p:cNvPicPr/>
          <p:nvPr/>
        </p:nvPicPr>
        <p:blipFill>
          <a:blip r:embed="rId3"/>
          <a:stretch/>
        </p:blipFill>
        <p:spPr>
          <a:xfrm>
            <a:off x="8458200" y="4663440"/>
            <a:ext cx="383760" cy="383760"/>
          </a:xfrm>
          <a:prstGeom prst="rect">
            <a:avLst/>
          </a:prstGeom>
          <a:ln w="0">
            <a:noFill/>
          </a:ln>
        </p:spPr>
      </p:pic>
      <p:sp>
        <p:nvSpPr>
          <p:cNvPr id="2174" name="Text 6"/>
          <p:cNvSpPr/>
          <p:nvPr/>
        </p:nvSpPr>
        <p:spPr>
          <a:xfrm>
            <a:off x="457200" y="274320"/>
            <a:ext cx="82292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High Speed Logging (HSL) architecture</a:t>
            </a:r>
            <a:endParaRPr lang="en-US" sz="2800" b="0" strike="noStrike" spc="-1">
              <a:solidFill>
                <a:srgbClr val="000000"/>
              </a:solidFill>
              <a:latin typeface="Arial"/>
            </a:endParaRPr>
          </a:p>
        </p:txBody>
      </p:sp>
      <p:sp>
        <p:nvSpPr>
          <p:cNvPr id="2175" name="Text 7"/>
          <p:cNvSpPr/>
          <p:nvPr/>
        </p:nvSpPr>
        <p:spPr>
          <a:xfrm>
            <a:off x="457200" y="658440"/>
            <a:ext cx="82292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strike="noStrike" spc="-1">
                <a:solidFill>
                  <a:srgbClr val="666666"/>
                </a:solidFill>
                <a:latin typeface="Calibri"/>
                <a:ea typeface="Calibri"/>
              </a:rPr>
              <a:t>Three-step pipeline: Log Destination → Log Publisher → Log Filter/Profile</a:t>
            </a:r>
            <a:endParaRPr lang="en-US" sz="1300" b="0" strike="noStrike" spc="-1">
              <a:solidFill>
                <a:srgbClr val="000000"/>
              </a:solidFill>
              <a:latin typeface="Arial"/>
            </a:endParaRPr>
          </a:p>
        </p:txBody>
      </p:sp>
      <p:sp>
        <p:nvSpPr>
          <p:cNvPr id="2176" name="Shape 8"/>
          <p:cNvSpPr/>
          <p:nvPr/>
        </p:nvSpPr>
        <p:spPr>
          <a:xfrm>
            <a:off x="365760" y="1005840"/>
            <a:ext cx="2651400" cy="31968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177" name="Text 9"/>
          <p:cNvSpPr/>
          <p:nvPr/>
        </p:nvSpPr>
        <p:spPr>
          <a:xfrm>
            <a:off x="365760" y="1005840"/>
            <a:ext cx="265140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strike="noStrike" spc="-1">
                <a:solidFill>
                  <a:srgbClr val="FFFFFF"/>
                </a:solidFill>
                <a:latin typeface="Arial"/>
                <a:ea typeface="Arial"/>
              </a:rPr>
              <a:t>1  Log destination(s)</a:t>
            </a:r>
            <a:endParaRPr lang="en-US" sz="1200" b="0" strike="noStrike" spc="-1">
              <a:solidFill>
                <a:srgbClr val="000000"/>
              </a:solidFill>
              <a:latin typeface="Arial"/>
            </a:endParaRPr>
          </a:p>
        </p:txBody>
      </p:sp>
      <p:sp>
        <p:nvSpPr>
          <p:cNvPr id="2178" name="Shape 10"/>
          <p:cNvSpPr/>
          <p:nvPr/>
        </p:nvSpPr>
        <p:spPr>
          <a:xfrm>
            <a:off x="365760" y="1325880"/>
            <a:ext cx="2651400" cy="274284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179" name="Text 11"/>
          <p:cNvSpPr/>
          <p:nvPr/>
        </p:nvSpPr>
        <p:spPr>
          <a:xfrm>
            <a:off x="438840" y="1371600"/>
            <a:ext cx="2505240" cy="2651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850" b="0" strike="noStrike" spc="-1">
                <a:solidFill>
                  <a:srgbClr val="333333"/>
                </a:solidFill>
                <a:latin typeface="Calibri"/>
                <a:ea typeface="Calibri"/>
              </a:rPr>
              <a:t>WHERE logs go. Create TWO destinations:</a:t>
            </a:r>
            <a:endParaRPr lang="en-US" sz="850" b="0" strike="noStrike" spc="-1">
              <a:solidFill>
                <a:srgbClr val="000000"/>
              </a:solidFill>
              <a:latin typeface="Arial"/>
            </a:endParaRPr>
          </a:p>
          <a:p>
            <a:pPr defTabSz="914400">
              <a:lnSpc>
                <a:spcPct val="100000"/>
              </a:lnSpc>
              <a:tabLst>
                <a:tab pos="0" algn="l"/>
              </a:tabLst>
            </a:pPr>
            <a:endParaRPr lang="en-US" sz="850" b="0" strike="noStrike" spc="-1">
              <a:solidFill>
                <a:srgbClr val="000000"/>
              </a:solidFill>
              <a:latin typeface="Arial"/>
            </a:endParaRPr>
          </a:p>
          <a:p>
            <a:pPr defTabSz="914400">
              <a:lnSpc>
                <a:spcPct val="100000"/>
              </a:lnSpc>
              <a:tabLst>
                <a:tab pos="0" algn="l"/>
              </a:tabLst>
            </a:pPr>
            <a:r>
              <a:rPr lang="en-US" sz="850" b="0" strike="noStrike" spc="-1">
                <a:solidFill>
                  <a:srgbClr val="333333"/>
                </a:solidFill>
                <a:latin typeface="Calibri"/>
                <a:ea typeface="Calibri"/>
              </a:rPr>
              <a:t>HSL destination: Pool of syslog servers + protocol (TCP/UDP).</a:t>
            </a:r>
            <a:endParaRPr lang="en-US" sz="850" b="0" strike="noStrike" spc="-1">
              <a:solidFill>
                <a:srgbClr val="000000"/>
              </a:solidFill>
              <a:latin typeface="Arial"/>
            </a:endParaRPr>
          </a:p>
          <a:p>
            <a:pPr defTabSz="914400">
              <a:lnSpc>
                <a:spcPct val="100000"/>
              </a:lnSpc>
              <a:tabLst>
                <a:tab pos="0" algn="l"/>
              </a:tabLst>
            </a:pPr>
            <a:r>
              <a:rPr lang="en-US" sz="850" b="0" strike="noStrike" spc="-1">
                <a:solidFill>
                  <a:srgbClr val="333333"/>
                </a:solidFill>
                <a:latin typeface="Calibri"/>
                <a:ea typeface="Calibri"/>
              </a:rPr>
              <a:t>  Type: Remote High-Speed Log</a:t>
            </a:r>
            <a:endParaRPr lang="en-US" sz="850" b="0" strike="noStrike" spc="-1">
              <a:solidFill>
                <a:srgbClr val="000000"/>
              </a:solidFill>
              <a:latin typeface="Arial"/>
            </a:endParaRPr>
          </a:p>
          <a:p>
            <a:pPr defTabSz="914400">
              <a:lnSpc>
                <a:spcPct val="100000"/>
              </a:lnSpc>
              <a:tabLst>
                <a:tab pos="0" algn="l"/>
              </a:tabLst>
            </a:pPr>
            <a:r>
              <a:rPr lang="en-US" sz="850" b="0" strike="noStrike" spc="-1">
                <a:solidFill>
                  <a:srgbClr val="333333"/>
                </a:solidFill>
                <a:latin typeface="Calibri"/>
                <a:ea typeface="Calibri"/>
              </a:rPr>
              <a:t>  Pool: logging_pool (10.1.20.252:514)</a:t>
            </a:r>
            <a:endParaRPr lang="en-US" sz="850" b="0" strike="noStrike" spc="-1">
              <a:solidFill>
                <a:srgbClr val="000000"/>
              </a:solidFill>
              <a:latin typeface="Arial"/>
            </a:endParaRPr>
          </a:p>
          <a:p>
            <a:pPr defTabSz="914400">
              <a:lnSpc>
                <a:spcPct val="100000"/>
              </a:lnSpc>
              <a:tabLst>
                <a:tab pos="0" algn="l"/>
              </a:tabLst>
            </a:pPr>
            <a:endParaRPr lang="en-US" sz="850" b="0" strike="noStrike" spc="-1">
              <a:solidFill>
                <a:srgbClr val="000000"/>
              </a:solidFill>
              <a:latin typeface="Arial"/>
            </a:endParaRPr>
          </a:p>
          <a:p>
            <a:pPr defTabSz="914400">
              <a:lnSpc>
                <a:spcPct val="100000"/>
              </a:lnSpc>
              <a:tabLst>
                <a:tab pos="0" algn="l"/>
              </a:tabLst>
            </a:pPr>
            <a:r>
              <a:rPr lang="en-US" sz="850" b="0" strike="noStrike" spc="-1">
                <a:solidFill>
                  <a:srgbClr val="333333"/>
                </a:solidFill>
                <a:latin typeface="Calibri"/>
                <a:ea typeface="Calibri"/>
              </a:rPr>
              <a:t>Formatted destination: Wraps HSL with format.</a:t>
            </a:r>
            <a:endParaRPr lang="en-US" sz="850" b="0" strike="noStrike" spc="-1">
              <a:solidFill>
                <a:srgbClr val="000000"/>
              </a:solidFill>
              <a:latin typeface="Arial"/>
            </a:endParaRPr>
          </a:p>
          <a:p>
            <a:pPr defTabSz="914400">
              <a:lnSpc>
                <a:spcPct val="100000"/>
              </a:lnSpc>
              <a:tabLst>
                <a:tab pos="0" algn="l"/>
              </a:tabLst>
            </a:pPr>
            <a:r>
              <a:rPr lang="en-US" sz="850" b="0" strike="noStrike" spc="-1">
                <a:solidFill>
                  <a:srgbClr val="333333"/>
                </a:solidFill>
                <a:latin typeface="Calibri"/>
                <a:ea typeface="Calibri"/>
              </a:rPr>
              <a:t>  Type: Remote Syslog</a:t>
            </a:r>
            <a:endParaRPr lang="en-US" sz="850" b="0" strike="noStrike" spc="-1">
              <a:solidFill>
                <a:srgbClr val="000000"/>
              </a:solidFill>
              <a:latin typeface="Arial"/>
            </a:endParaRPr>
          </a:p>
          <a:p>
            <a:pPr defTabSz="914400">
              <a:lnSpc>
                <a:spcPct val="100000"/>
              </a:lnSpc>
              <a:tabLst>
                <a:tab pos="0" algn="l"/>
              </a:tabLst>
            </a:pPr>
            <a:r>
              <a:rPr lang="en-US" sz="850" b="0" strike="noStrike" spc="-1">
                <a:solidFill>
                  <a:srgbClr val="333333"/>
                </a:solidFill>
                <a:latin typeface="Calibri"/>
                <a:ea typeface="Calibri"/>
              </a:rPr>
              <a:t>  Format: Syslog</a:t>
            </a:r>
            <a:endParaRPr lang="en-US" sz="850" b="0" strike="noStrike" spc="-1">
              <a:solidFill>
                <a:srgbClr val="000000"/>
              </a:solidFill>
              <a:latin typeface="Arial"/>
            </a:endParaRPr>
          </a:p>
          <a:p>
            <a:pPr defTabSz="914400">
              <a:lnSpc>
                <a:spcPct val="100000"/>
              </a:lnSpc>
              <a:tabLst>
                <a:tab pos="0" algn="l"/>
              </a:tabLst>
            </a:pPr>
            <a:r>
              <a:rPr lang="en-US" sz="850" b="0" strike="noStrike" spc="-1">
                <a:solidFill>
                  <a:srgbClr val="333333"/>
                </a:solidFill>
                <a:latin typeface="Calibri"/>
                <a:ea typeface="Calibri"/>
              </a:rPr>
              <a:t>  Forward to: hsl_logging_dest</a:t>
            </a:r>
            <a:endParaRPr lang="en-US" sz="850" b="0" strike="noStrike" spc="-1">
              <a:solidFill>
                <a:srgbClr val="000000"/>
              </a:solidFill>
              <a:latin typeface="Arial"/>
            </a:endParaRPr>
          </a:p>
        </p:txBody>
      </p:sp>
      <p:sp>
        <p:nvSpPr>
          <p:cNvPr id="2180" name="Shape 12"/>
          <p:cNvSpPr/>
          <p:nvPr/>
        </p:nvSpPr>
        <p:spPr>
          <a:xfrm>
            <a:off x="3200400" y="1005840"/>
            <a:ext cx="2651400" cy="31968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181" name="Text 13"/>
          <p:cNvSpPr/>
          <p:nvPr/>
        </p:nvSpPr>
        <p:spPr>
          <a:xfrm>
            <a:off x="3200400" y="1005840"/>
            <a:ext cx="265140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strike="noStrike" spc="-1">
                <a:solidFill>
                  <a:srgbClr val="FFFFFF"/>
                </a:solidFill>
                <a:latin typeface="Arial"/>
                <a:ea typeface="Arial"/>
              </a:rPr>
              <a:t>2  Log publisher</a:t>
            </a:r>
            <a:endParaRPr lang="en-US" sz="1200" b="0" strike="noStrike" spc="-1">
              <a:solidFill>
                <a:srgbClr val="000000"/>
              </a:solidFill>
              <a:latin typeface="Arial"/>
            </a:endParaRPr>
          </a:p>
        </p:txBody>
      </p:sp>
      <p:sp>
        <p:nvSpPr>
          <p:cNvPr id="2182" name="Shape 14"/>
          <p:cNvSpPr/>
          <p:nvPr/>
        </p:nvSpPr>
        <p:spPr>
          <a:xfrm>
            <a:off x="3200400" y="1325880"/>
            <a:ext cx="2651400" cy="274284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183" name="Text 15"/>
          <p:cNvSpPr/>
          <p:nvPr/>
        </p:nvSpPr>
        <p:spPr>
          <a:xfrm>
            <a:off x="3273480" y="1371600"/>
            <a:ext cx="2505240" cy="2651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850" b="0" strike="noStrike" spc="-1">
                <a:solidFill>
                  <a:srgbClr val="333333"/>
                </a:solidFill>
                <a:latin typeface="Calibri"/>
                <a:ea typeface="Calibri"/>
              </a:rPr>
              <a:t>HOW logs are routed. Associates one or more destinations.</a:t>
            </a:r>
            <a:endParaRPr lang="en-US" sz="850" b="0" strike="noStrike" spc="-1">
              <a:solidFill>
                <a:srgbClr val="000000"/>
              </a:solidFill>
              <a:latin typeface="Arial"/>
            </a:endParaRPr>
          </a:p>
          <a:p>
            <a:pPr defTabSz="914400">
              <a:lnSpc>
                <a:spcPct val="100000"/>
              </a:lnSpc>
              <a:tabLst>
                <a:tab pos="0" algn="l"/>
              </a:tabLst>
            </a:pPr>
            <a:endParaRPr lang="en-US" sz="850" b="0" strike="noStrike" spc="-1">
              <a:solidFill>
                <a:srgbClr val="000000"/>
              </a:solidFill>
              <a:latin typeface="Arial"/>
            </a:endParaRPr>
          </a:p>
          <a:p>
            <a:pPr defTabSz="914400">
              <a:lnSpc>
                <a:spcPct val="100000"/>
              </a:lnSpc>
              <a:tabLst>
                <a:tab pos="0" algn="l"/>
              </a:tabLst>
            </a:pPr>
            <a:r>
              <a:rPr lang="en-US" sz="850" b="0" strike="noStrike" spc="-1">
                <a:solidFill>
                  <a:srgbClr val="333333"/>
                </a:solidFill>
                <a:latin typeface="Calibri"/>
                <a:ea typeface="Calibri"/>
              </a:rPr>
              <a:t>Name: logging_pub</a:t>
            </a:r>
            <a:endParaRPr lang="en-US" sz="850" b="0" strike="noStrike" spc="-1">
              <a:solidFill>
                <a:srgbClr val="000000"/>
              </a:solidFill>
              <a:latin typeface="Arial"/>
            </a:endParaRPr>
          </a:p>
          <a:p>
            <a:pPr defTabSz="914400">
              <a:lnSpc>
                <a:spcPct val="100000"/>
              </a:lnSpc>
              <a:tabLst>
                <a:tab pos="0" algn="l"/>
              </a:tabLst>
            </a:pPr>
            <a:r>
              <a:rPr lang="en-US" sz="850" b="0" strike="noStrike" spc="-1">
                <a:solidFill>
                  <a:srgbClr val="333333"/>
                </a:solidFill>
                <a:latin typeface="Calibri"/>
                <a:ea typeface="Calibri"/>
              </a:rPr>
              <a:t>Destinations:</a:t>
            </a:r>
            <a:endParaRPr lang="en-US" sz="850" b="0" strike="noStrike" spc="-1">
              <a:solidFill>
                <a:srgbClr val="000000"/>
              </a:solidFill>
              <a:latin typeface="Arial"/>
            </a:endParaRPr>
          </a:p>
          <a:p>
            <a:pPr defTabSz="914400">
              <a:lnSpc>
                <a:spcPct val="100000"/>
              </a:lnSpc>
              <a:tabLst>
                <a:tab pos="0" algn="l"/>
              </a:tabLst>
            </a:pPr>
            <a:r>
              <a:rPr lang="en-US" sz="850" b="0" strike="noStrike" spc="-1">
                <a:solidFill>
                  <a:srgbClr val="333333"/>
                </a:solidFill>
                <a:latin typeface="Calibri"/>
                <a:ea typeface="Calibri"/>
              </a:rPr>
              <a:t>  • formatted_dest (remote syslog)</a:t>
            </a:r>
            <a:endParaRPr lang="en-US" sz="850" b="0" strike="noStrike" spc="-1">
              <a:solidFill>
                <a:srgbClr val="000000"/>
              </a:solidFill>
              <a:latin typeface="Arial"/>
            </a:endParaRPr>
          </a:p>
          <a:p>
            <a:pPr defTabSz="914400">
              <a:lnSpc>
                <a:spcPct val="100000"/>
              </a:lnSpc>
              <a:tabLst>
                <a:tab pos="0" algn="l"/>
              </a:tabLst>
            </a:pPr>
            <a:r>
              <a:rPr lang="en-US" sz="850" b="0" strike="noStrike" spc="-1">
                <a:solidFill>
                  <a:srgbClr val="333333"/>
                </a:solidFill>
                <a:latin typeface="Calibri"/>
                <a:ea typeface="Calibri"/>
              </a:rPr>
              <a:t>  • local-syslog (keep local copy)</a:t>
            </a:r>
            <a:endParaRPr lang="en-US" sz="850" b="0" strike="noStrike" spc="-1">
              <a:solidFill>
                <a:srgbClr val="000000"/>
              </a:solidFill>
              <a:latin typeface="Arial"/>
            </a:endParaRPr>
          </a:p>
          <a:p>
            <a:pPr defTabSz="914400">
              <a:lnSpc>
                <a:spcPct val="100000"/>
              </a:lnSpc>
              <a:tabLst>
                <a:tab pos="0" algn="l"/>
              </a:tabLst>
            </a:pPr>
            <a:endParaRPr lang="en-US" sz="850" b="0" strike="noStrike" spc="-1">
              <a:solidFill>
                <a:srgbClr val="000000"/>
              </a:solidFill>
              <a:latin typeface="Arial"/>
            </a:endParaRPr>
          </a:p>
          <a:p>
            <a:pPr defTabSz="914400">
              <a:lnSpc>
                <a:spcPct val="100000"/>
              </a:lnSpc>
              <a:tabLst>
                <a:tab pos="0" algn="l"/>
              </a:tabLst>
            </a:pPr>
            <a:r>
              <a:rPr lang="en-US" sz="850" b="0" strike="noStrike" spc="-1">
                <a:solidFill>
                  <a:srgbClr val="333333"/>
                </a:solidFill>
                <a:latin typeface="Calibri"/>
                <a:ea typeface="Calibri"/>
              </a:rPr>
              <a:t>A publisher can send to multiple destinations simultaneously.</a:t>
            </a:r>
            <a:endParaRPr lang="en-US" sz="850" b="0" strike="noStrike" spc="-1">
              <a:solidFill>
                <a:srgbClr val="000000"/>
              </a:solidFill>
              <a:latin typeface="Arial"/>
            </a:endParaRPr>
          </a:p>
        </p:txBody>
      </p:sp>
      <p:sp>
        <p:nvSpPr>
          <p:cNvPr id="2184" name="Shape 16"/>
          <p:cNvSpPr/>
          <p:nvPr/>
        </p:nvSpPr>
        <p:spPr>
          <a:xfrm>
            <a:off x="6035040" y="1005840"/>
            <a:ext cx="2651400" cy="319680"/>
          </a:xfrm>
          <a:prstGeom prst="rect">
            <a:avLst/>
          </a:prstGeom>
          <a:solidFill>
            <a:srgbClr val="00963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185" name="Text 17"/>
          <p:cNvSpPr/>
          <p:nvPr/>
        </p:nvSpPr>
        <p:spPr>
          <a:xfrm>
            <a:off x="6035040" y="1005840"/>
            <a:ext cx="265140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strike="noStrike" spc="-1">
                <a:solidFill>
                  <a:srgbClr val="FFFFFF"/>
                </a:solidFill>
                <a:latin typeface="Arial"/>
                <a:ea typeface="Arial"/>
              </a:rPr>
              <a:t>3  Log filter / profile</a:t>
            </a:r>
            <a:endParaRPr lang="en-US" sz="1200" b="0" strike="noStrike" spc="-1">
              <a:solidFill>
                <a:srgbClr val="000000"/>
              </a:solidFill>
              <a:latin typeface="Arial"/>
            </a:endParaRPr>
          </a:p>
        </p:txBody>
      </p:sp>
      <p:sp>
        <p:nvSpPr>
          <p:cNvPr id="2186" name="Shape 18"/>
          <p:cNvSpPr/>
          <p:nvPr/>
        </p:nvSpPr>
        <p:spPr>
          <a:xfrm>
            <a:off x="6035040" y="1325880"/>
            <a:ext cx="2651400" cy="274284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187" name="Text 19"/>
          <p:cNvSpPr/>
          <p:nvPr/>
        </p:nvSpPr>
        <p:spPr>
          <a:xfrm>
            <a:off x="6108120" y="1371600"/>
            <a:ext cx="2505240" cy="2651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850" b="0" strike="noStrike" spc="-1">
                <a:solidFill>
                  <a:srgbClr val="333333"/>
                </a:solidFill>
                <a:latin typeface="Calibri"/>
                <a:ea typeface="Calibri"/>
              </a:rPr>
              <a:t>WHAT gets logged and at what level.</a:t>
            </a:r>
            <a:endParaRPr lang="en-US" sz="850" b="0" strike="noStrike" spc="-1">
              <a:solidFill>
                <a:srgbClr val="000000"/>
              </a:solidFill>
              <a:latin typeface="Arial"/>
            </a:endParaRPr>
          </a:p>
          <a:p>
            <a:pPr defTabSz="914400">
              <a:lnSpc>
                <a:spcPct val="100000"/>
              </a:lnSpc>
              <a:tabLst>
                <a:tab pos="0" algn="l"/>
              </a:tabLst>
            </a:pPr>
            <a:endParaRPr lang="en-US" sz="850" b="0" strike="noStrike" spc="-1">
              <a:solidFill>
                <a:srgbClr val="000000"/>
              </a:solidFill>
              <a:latin typeface="Arial"/>
            </a:endParaRPr>
          </a:p>
          <a:p>
            <a:pPr defTabSz="914400">
              <a:lnSpc>
                <a:spcPct val="100000"/>
              </a:lnSpc>
              <a:tabLst>
                <a:tab pos="0" algn="l"/>
              </a:tabLst>
            </a:pPr>
            <a:r>
              <a:rPr lang="en-US" sz="850" b="0" strike="noStrike" spc="-1">
                <a:solidFill>
                  <a:srgbClr val="333333"/>
                </a:solidFill>
                <a:latin typeface="Calibri"/>
                <a:ea typeface="Calibri"/>
              </a:rPr>
              <a:t>System filter (system events):</a:t>
            </a:r>
            <a:endParaRPr lang="en-US" sz="850" b="0" strike="noStrike" spc="-1">
              <a:solidFill>
                <a:srgbClr val="000000"/>
              </a:solidFill>
              <a:latin typeface="Arial"/>
            </a:endParaRPr>
          </a:p>
          <a:p>
            <a:pPr defTabSz="914400">
              <a:lnSpc>
                <a:spcPct val="100000"/>
              </a:lnSpc>
              <a:tabLst>
                <a:tab pos="0" algn="l"/>
              </a:tabLst>
            </a:pPr>
            <a:r>
              <a:rPr lang="en-US" sz="850" b="0" strike="noStrike" spc="-1">
                <a:solidFill>
                  <a:srgbClr val="333333"/>
                </a:solidFill>
                <a:latin typeface="Calibri"/>
                <a:ea typeface="Calibri"/>
              </a:rPr>
              <a:t>  Source: mcpd</a:t>
            </a:r>
            <a:endParaRPr lang="en-US" sz="850" b="0" strike="noStrike" spc="-1">
              <a:solidFill>
                <a:srgbClr val="000000"/>
              </a:solidFill>
              <a:latin typeface="Arial"/>
            </a:endParaRPr>
          </a:p>
          <a:p>
            <a:pPr defTabSz="914400">
              <a:lnSpc>
                <a:spcPct val="100000"/>
              </a:lnSpc>
              <a:tabLst>
                <a:tab pos="0" algn="l"/>
              </a:tabLst>
            </a:pPr>
            <a:r>
              <a:rPr lang="en-US" sz="850" b="0" strike="noStrike" spc="-1">
                <a:solidFill>
                  <a:srgbClr val="333333"/>
                </a:solidFill>
                <a:latin typeface="Calibri"/>
                <a:ea typeface="Calibri"/>
              </a:rPr>
              <a:t>  Severity: Informational</a:t>
            </a:r>
            <a:endParaRPr lang="en-US" sz="850" b="0" strike="noStrike" spc="-1">
              <a:solidFill>
                <a:srgbClr val="000000"/>
              </a:solidFill>
              <a:latin typeface="Arial"/>
            </a:endParaRPr>
          </a:p>
          <a:p>
            <a:pPr defTabSz="914400">
              <a:lnSpc>
                <a:spcPct val="100000"/>
              </a:lnSpc>
              <a:tabLst>
                <a:tab pos="0" algn="l"/>
              </a:tabLst>
            </a:pPr>
            <a:r>
              <a:rPr lang="en-US" sz="850" b="0" strike="noStrike" spc="-1">
                <a:solidFill>
                  <a:srgbClr val="333333"/>
                </a:solidFill>
                <a:latin typeface="Calibri"/>
                <a:ea typeface="Calibri"/>
              </a:rPr>
              <a:t>  Publisher: logging_pub</a:t>
            </a:r>
            <a:endParaRPr lang="en-US" sz="850" b="0" strike="noStrike" spc="-1">
              <a:solidFill>
                <a:srgbClr val="000000"/>
              </a:solidFill>
              <a:latin typeface="Arial"/>
            </a:endParaRPr>
          </a:p>
          <a:p>
            <a:pPr defTabSz="914400">
              <a:lnSpc>
                <a:spcPct val="100000"/>
              </a:lnSpc>
              <a:tabLst>
                <a:tab pos="0" algn="l"/>
              </a:tabLst>
            </a:pPr>
            <a:endParaRPr lang="en-US" sz="850" b="0" strike="noStrike" spc="-1">
              <a:solidFill>
                <a:srgbClr val="000000"/>
              </a:solidFill>
              <a:latin typeface="Arial"/>
            </a:endParaRPr>
          </a:p>
          <a:p>
            <a:pPr defTabSz="914400">
              <a:lnSpc>
                <a:spcPct val="100000"/>
              </a:lnSpc>
              <a:tabLst>
                <a:tab pos="0" algn="l"/>
              </a:tabLst>
            </a:pPr>
            <a:r>
              <a:rPr lang="en-US" sz="850" b="0" strike="noStrike" spc="-1">
                <a:solidFill>
                  <a:srgbClr val="333333"/>
                </a:solidFill>
                <a:latin typeface="Calibri"/>
                <a:ea typeface="Calibri"/>
              </a:rPr>
              <a:t>LTM log profile (traffic events):</a:t>
            </a:r>
            <a:endParaRPr lang="en-US" sz="850" b="0" strike="noStrike" spc="-1">
              <a:solidFill>
                <a:srgbClr val="000000"/>
              </a:solidFill>
              <a:latin typeface="Arial"/>
            </a:endParaRPr>
          </a:p>
          <a:p>
            <a:pPr defTabSz="914400">
              <a:lnSpc>
                <a:spcPct val="100000"/>
              </a:lnSpc>
              <a:tabLst>
                <a:tab pos="0" algn="l"/>
              </a:tabLst>
            </a:pPr>
            <a:r>
              <a:rPr lang="en-US" sz="850" b="0" strike="noStrike" spc="-1">
                <a:solidFill>
                  <a:srgbClr val="333333"/>
                </a:solidFill>
                <a:latin typeface="Calibri"/>
                <a:ea typeface="Calibri"/>
              </a:rPr>
              <a:t>  Attach to VS for request logging.</a:t>
            </a:r>
            <a:endParaRPr lang="en-US" sz="850" b="0" strike="noStrike" spc="-1">
              <a:solidFill>
                <a:srgbClr val="000000"/>
              </a:solidFill>
              <a:latin typeface="Arial"/>
            </a:endParaRPr>
          </a:p>
        </p:txBody>
      </p:sp>
      <p:sp>
        <p:nvSpPr>
          <p:cNvPr id="2188" name="Shape 20"/>
          <p:cNvSpPr/>
          <p:nvPr/>
        </p:nvSpPr>
        <p:spPr>
          <a:xfrm>
            <a:off x="365760" y="4160520"/>
            <a:ext cx="8412120" cy="456840"/>
          </a:xfrm>
          <a:prstGeom prst="rect">
            <a:avLst/>
          </a:prstGeom>
          <a:solidFill>
            <a:srgbClr val="FDE8E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189" name="Text 21"/>
          <p:cNvSpPr/>
          <p:nvPr/>
        </p:nvSpPr>
        <p:spPr>
          <a:xfrm>
            <a:off x="548640" y="4178880"/>
            <a:ext cx="8046360" cy="420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strike="noStrike" spc="-1">
                <a:solidFill>
                  <a:srgbClr val="E4002B"/>
                </a:solidFill>
                <a:latin typeface="Calibri"/>
                <a:ea typeface="Calibri"/>
              </a:rPr>
              <a:t>WARNING: </a:t>
            </a:r>
            <a:r>
              <a:rPr lang="en-US" sz="900" b="0" strike="noStrike" spc="-1">
                <a:solidFill>
                  <a:srgbClr val="7A0000"/>
                </a:solidFill>
                <a:latin typeface="Calibri"/>
                <a:ea typeface="Calibri"/>
              </a:rPr>
              <a:t>Never log at Debug level to remote servers. It generates massive traffic, can overwhelm the syslog server, and causes the BIG-IP to drop log messages. Use Informational or Warning level in production.</a:t>
            </a:r>
            <a:endParaRPr lang="en-US" sz="900" b="0" strike="noStrike" spc="-1">
              <a:solidFill>
                <a:srgbClr val="000000"/>
              </a:solidFill>
              <a:latin typeface="Arial"/>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90"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191"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192"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193"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194"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195"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101    © 2026 F5</a:t>
            </a:r>
            <a:endParaRPr lang="en-US" sz="800" b="0" strike="noStrike" spc="-1">
              <a:solidFill>
                <a:srgbClr val="000000"/>
              </a:solidFill>
              <a:latin typeface="Arial"/>
            </a:endParaRPr>
          </a:p>
        </p:txBody>
      </p:sp>
      <p:pic>
        <p:nvPicPr>
          <p:cNvPr id="2196" name="Image 0" descr="preencoded.png"/>
          <p:cNvPicPr/>
          <p:nvPr/>
        </p:nvPicPr>
        <p:blipFill>
          <a:blip r:embed="rId3"/>
          <a:stretch/>
        </p:blipFill>
        <p:spPr>
          <a:xfrm>
            <a:off x="8458200" y="4663440"/>
            <a:ext cx="383760" cy="383760"/>
          </a:xfrm>
          <a:prstGeom prst="rect">
            <a:avLst/>
          </a:prstGeom>
          <a:ln w="0">
            <a:noFill/>
          </a:ln>
        </p:spPr>
      </p:pic>
      <p:sp>
        <p:nvSpPr>
          <p:cNvPr id="2197" name="Text 6"/>
          <p:cNvSpPr/>
          <p:nvPr/>
        </p:nvSpPr>
        <p:spPr>
          <a:xfrm>
            <a:off x="457200" y="274320"/>
            <a:ext cx="82292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Custom alerting configuration</a:t>
            </a:r>
            <a:endParaRPr lang="en-US" sz="2800" b="0" strike="noStrike" spc="-1">
              <a:solidFill>
                <a:srgbClr val="000000"/>
              </a:solidFill>
              <a:latin typeface="Arial"/>
            </a:endParaRPr>
          </a:p>
        </p:txBody>
      </p:sp>
      <p:sp>
        <p:nvSpPr>
          <p:cNvPr id="2198" name="Text 7"/>
          <p:cNvSpPr/>
          <p:nvPr/>
        </p:nvSpPr>
        <p:spPr>
          <a:xfrm>
            <a:off x="457200" y="658440"/>
            <a:ext cx="82292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strike="noStrike" spc="-1">
                <a:solidFill>
                  <a:srgbClr val="666666"/>
                </a:solidFill>
                <a:latin typeface="Calibri"/>
                <a:ea typeface="Calibri"/>
              </a:rPr>
              <a:t>Three alert types with full configuration examples. Custom alerts go in /config/user_alert.conf (survives upgrades).</a:t>
            </a:r>
            <a:endParaRPr lang="en-US" sz="1300" b="0" strike="noStrike" spc="-1">
              <a:solidFill>
                <a:srgbClr val="000000"/>
              </a:solidFill>
              <a:latin typeface="Arial"/>
            </a:endParaRPr>
          </a:p>
        </p:txBody>
      </p:sp>
      <p:sp>
        <p:nvSpPr>
          <p:cNvPr id="2199" name="Shape 8"/>
          <p:cNvSpPr/>
          <p:nvPr/>
        </p:nvSpPr>
        <p:spPr>
          <a:xfrm>
            <a:off x="365760" y="1005840"/>
            <a:ext cx="2742840" cy="31968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200" name="Text 9"/>
          <p:cNvSpPr/>
          <p:nvPr/>
        </p:nvSpPr>
        <p:spPr>
          <a:xfrm>
            <a:off x="365760" y="1005840"/>
            <a:ext cx="27428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strike="noStrike" spc="-1">
                <a:solidFill>
                  <a:srgbClr val="FFFFFF"/>
                </a:solidFill>
                <a:latin typeface="Arial"/>
                <a:ea typeface="Arial"/>
              </a:rPr>
              <a:t>SNMP trap alert</a:t>
            </a:r>
            <a:endParaRPr lang="en-US" sz="1200" b="0" strike="noStrike" spc="-1">
              <a:solidFill>
                <a:srgbClr val="000000"/>
              </a:solidFill>
              <a:latin typeface="Arial"/>
            </a:endParaRPr>
          </a:p>
        </p:txBody>
      </p:sp>
      <p:sp>
        <p:nvSpPr>
          <p:cNvPr id="2201" name="Shape 10"/>
          <p:cNvSpPr/>
          <p:nvPr/>
        </p:nvSpPr>
        <p:spPr>
          <a:xfrm>
            <a:off x="365760" y="1325880"/>
            <a:ext cx="2742840" cy="50256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202" name="Text 11"/>
          <p:cNvSpPr/>
          <p:nvPr/>
        </p:nvSpPr>
        <p:spPr>
          <a:xfrm>
            <a:off x="438840" y="1353240"/>
            <a:ext cx="259668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r>
              <a:rPr lang="en-US" sz="800" b="1" strike="noStrike" spc="-1">
                <a:solidFill>
                  <a:srgbClr val="0E41AA"/>
                </a:solidFill>
                <a:latin typeface="Calibri"/>
                <a:ea typeface="Calibri"/>
              </a:rPr>
              <a:t>Setup SNMP destination:</a:t>
            </a:r>
            <a:endParaRPr lang="en-US" sz="800" b="0" strike="noStrike" spc="-1">
              <a:solidFill>
                <a:srgbClr val="000000"/>
              </a:solidFill>
              <a:latin typeface="Arial"/>
            </a:endParaRPr>
          </a:p>
          <a:p>
            <a:pPr defTabSz="914400">
              <a:lnSpc>
                <a:spcPct val="100000"/>
              </a:lnSpc>
              <a:tabLst>
                <a:tab pos="0" algn="l"/>
              </a:tabLst>
            </a:pPr>
            <a:r>
              <a:rPr lang="en-US" sz="800" b="0" strike="noStrike" spc="-1">
                <a:solidFill>
                  <a:srgbClr val="333333"/>
                </a:solidFill>
                <a:latin typeface="Calibri"/>
                <a:ea typeface="Calibri"/>
              </a:rPr>
              <a:t>System &gt; SNMP &gt; Traps &gt; Destination</a:t>
            </a:r>
            <a:endParaRPr lang="en-US" sz="800" b="0" strike="noStrike" spc="-1">
              <a:solidFill>
                <a:srgbClr val="000000"/>
              </a:solidFill>
              <a:latin typeface="Arial"/>
            </a:endParaRPr>
          </a:p>
          <a:p>
            <a:pPr defTabSz="914400">
              <a:lnSpc>
                <a:spcPct val="100000"/>
              </a:lnSpc>
              <a:tabLst>
                <a:tab pos="0" algn="l"/>
              </a:tabLst>
            </a:pPr>
            <a:r>
              <a:rPr lang="en-US" sz="800" b="0" strike="noStrike" spc="-1">
                <a:solidFill>
                  <a:srgbClr val="333333"/>
                </a:solidFill>
                <a:latin typeface="Calibri"/>
                <a:ea typeface="Calibri"/>
              </a:rPr>
              <a:t>Add NMS server IP + community string.</a:t>
            </a:r>
            <a:endParaRPr lang="en-US" sz="800" b="0" strike="noStrike" spc="-1">
              <a:solidFill>
                <a:srgbClr val="000000"/>
              </a:solidFill>
              <a:latin typeface="Arial"/>
            </a:endParaRPr>
          </a:p>
        </p:txBody>
      </p:sp>
      <p:sp>
        <p:nvSpPr>
          <p:cNvPr id="2203" name="Shape 12"/>
          <p:cNvSpPr/>
          <p:nvPr/>
        </p:nvSpPr>
        <p:spPr>
          <a:xfrm>
            <a:off x="365760" y="1874520"/>
            <a:ext cx="2742840" cy="1051200"/>
          </a:xfrm>
          <a:prstGeom prst="rect">
            <a:avLst/>
          </a:prstGeom>
          <a:solidFill>
            <a:srgbClr val="1E293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204" name="Text 13"/>
          <p:cNvSpPr/>
          <p:nvPr/>
        </p:nvSpPr>
        <p:spPr>
          <a:xfrm>
            <a:off x="438840" y="1892880"/>
            <a:ext cx="2596680" cy="1005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700" b="0" strike="noStrike" spc="-1">
                <a:solidFill>
                  <a:srgbClr val="A5F3FC"/>
                </a:solidFill>
                <a:latin typeface="Courier New"/>
                <a:ea typeface="Courier New"/>
              </a:rPr>
              <a:t># /config/user_alert.conf</a:t>
            </a:r>
            <a:endParaRPr lang="en-US" sz="700" b="0" strike="noStrike" spc="-1">
              <a:solidFill>
                <a:srgbClr val="000000"/>
              </a:solidFill>
              <a:latin typeface="Arial"/>
            </a:endParaRPr>
          </a:p>
          <a:p>
            <a:pPr defTabSz="914400">
              <a:lnSpc>
                <a:spcPct val="100000"/>
              </a:lnSpc>
              <a:tabLst>
                <a:tab pos="0" algn="l"/>
              </a:tabLst>
            </a:pPr>
            <a:r>
              <a:rPr lang="en-US" sz="700" b="0" strike="noStrike" spc="-1">
                <a:solidFill>
                  <a:srgbClr val="A5F3FC"/>
                </a:solidFill>
                <a:latin typeface="Courier New"/>
                <a:ea typeface="Courier New"/>
              </a:rPr>
              <a:t>alert BIGIP_CUSTOM_POOL_DOWN {</a:t>
            </a:r>
            <a:endParaRPr lang="en-US" sz="700" b="0" strike="noStrike" spc="-1">
              <a:solidFill>
                <a:srgbClr val="000000"/>
              </a:solidFill>
              <a:latin typeface="Arial"/>
            </a:endParaRPr>
          </a:p>
          <a:p>
            <a:pPr defTabSz="914400">
              <a:lnSpc>
                <a:spcPct val="100000"/>
              </a:lnSpc>
              <a:tabLst>
                <a:tab pos="0" algn="l"/>
              </a:tabLst>
            </a:pPr>
            <a:r>
              <a:rPr lang="en-US" sz="700" b="0" strike="noStrike" spc="-1">
                <a:solidFill>
                  <a:srgbClr val="A5F3FC"/>
                </a:solidFill>
                <a:latin typeface="Courier New"/>
                <a:ea typeface="Courier New"/>
              </a:rPr>
              <a:t>  snmptrap OID="\</a:t>
            </a:r>
            <a:endParaRPr lang="en-US" sz="700" b="0" strike="noStrike" spc="-1">
              <a:solidFill>
                <a:srgbClr val="000000"/>
              </a:solidFill>
              <a:latin typeface="Arial"/>
            </a:endParaRPr>
          </a:p>
          <a:p>
            <a:pPr defTabSz="914400">
              <a:lnSpc>
                <a:spcPct val="100000"/>
              </a:lnSpc>
              <a:tabLst>
                <a:tab pos="0" algn="l"/>
              </a:tabLst>
            </a:pPr>
            <a:r>
              <a:rPr lang="en-US" sz="700" b="0" strike="noStrike" spc="-1">
                <a:solidFill>
                  <a:srgbClr val="A5F3FC"/>
                </a:solidFill>
                <a:latin typeface="Courier New"/>
                <a:ea typeface="Courier New"/>
              </a:rPr>
              <a:t>    .1.3.6.1.4.1.3375.2.4.0.99"</a:t>
            </a:r>
            <a:endParaRPr lang="en-US" sz="700" b="0" strike="noStrike" spc="-1">
              <a:solidFill>
                <a:srgbClr val="000000"/>
              </a:solidFill>
              <a:latin typeface="Arial"/>
            </a:endParaRPr>
          </a:p>
          <a:p>
            <a:pPr defTabSz="914400">
              <a:lnSpc>
                <a:spcPct val="100000"/>
              </a:lnSpc>
              <a:tabLst>
                <a:tab pos="0" algn="l"/>
              </a:tabLst>
            </a:pPr>
            <a:r>
              <a:rPr lang="en-US" sz="700" b="0" strike="noStrike" spc="-1">
                <a:solidFill>
                  <a:srgbClr val="A5F3FC"/>
                </a:solidFill>
                <a:latin typeface="Courier New"/>
                <a:ea typeface="Courier New"/>
              </a:rPr>
              <a:t>  match "Pool .* now has\</a:t>
            </a:r>
            <a:endParaRPr lang="en-US" sz="700" b="0" strike="noStrike" spc="-1">
              <a:solidFill>
                <a:srgbClr val="000000"/>
              </a:solidFill>
              <a:latin typeface="Arial"/>
            </a:endParaRPr>
          </a:p>
          <a:p>
            <a:pPr defTabSz="914400">
              <a:lnSpc>
                <a:spcPct val="100000"/>
              </a:lnSpc>
              <a:tabLst>
                <a:tab pos="0" algn="l"/>
              </a:tabLst>
            </a:pPr>
            <a:r>
              <a:rPr lang="en-US" sz="700" b="0" strike="noStrike" spc="-1">
                <a:solidFill>
                  <a:srgbClr val="A5F3FC"/>
                </a:solidFill>
                <a:latin typeface="Courier New"/>
                <a:ea typeface="Courier New"/>
              </a:rPr>
              <a:t>    no available members"</a:t>
            </a:r>
            <a:endParaRPr lang="en-US" sz="700" b="0" strike="noStrike" spc="-1">
              <a:solidFill>
                <a:srgbClr val="000000"/>
              </a:solidFill>
              <a:latin typeface="Arial"/>
            </a:endParaRPr>
          </a:p>
          <a:p>
            <a:pPr defTabSz="914400">
              <a:lnSpc>
                <a:spcPct val="100000"/>
              </a:lnSpc>
              <a:tabLst>
                <a:tab pos="0" algn="l"/>
              </a:tabLst>
            </a:pPr>
            <a:r>
              <a:rPr lang="en-US" sz="700" b="0" strike="noStrike" spc="-1">
                <a:solidFill>
                  <a:srgbClr val="A5F3FC"/>
                </a:solidFill>
                <a:latin typeface="Courier New"/>
                <a:ea typeface="Courier New"/>
              </a:rPr>
              <a:t>}</a:t>
            </a:r>
            <a:endParaRPr lang="en-US" sz="700" b="0" strike="noStrike" spc="-1">
              <a:solidFill>
                <a:srgbClr val="000000"/>
              </a:solidFill>
              <a:latin typeface="Arial"/>
            </a:endParaRPr>
          </a:p>
        </p:txBody>
      </p:sp>
      <p:sp>
        <p:nvSpPr>
          <p:cNvPr id="2205" name="Shape 14"/>
          <p:cNvSpPr/>
          <p:nvPr/>
        </p:nvSpPr>
        <p:spPr>
          <a:xfrm>
            <a:off x="3246120" y="1005840"/>
            <a:ext cx="2742840" cy="31968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206" name="Text 15"/>
          <p:cNvSpPr/>
          <p:nvPr/>
        </p:nvSpPr>
        <p:spPr>
          <a:xfrm>
            <a:off x="3246120" y="1005840"/>
            <a:ext cx="27428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strike="noStrike" spc="-1">
                <a:solidFill>
                  <a:srgbClr val="FFFFFF"/>
                </a:solidFill>
                <a:latin typeface="Arial"/>
                <a:ea typeface="Arial"/>
              </a:rPr>
              <a:t>Email alert</a:t>
            </a:r>
            <a:endParaRPr lang="en-US" sz="1200" b="0" strike="noStrike" spc="-1">
              <a:solidFill>
                <a:srgbClr val="000000"/>
              </a:solidFill>
              <a:latin typeface="Arial"/>
            </a:endParaRPr>
          </a:p>
        </p:txBody>
      </p:sp>
      <p:sp>
        <p:nvSpPr>
          <p:cNvPr id="2207" name="Shape 16"/>
          <p:cNvSpPr/>
          <p:nvPr/>
        </p:nvSpPr>
        <p:spPr>
          <a:xfrm>
            <a:off x="3246120" y="1325880"/>
            <a:ext cx="2742840" cy="50256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208" name="Text 17"/>
          <p:cNvSpPr/>
          <p:nvPr/>
        </p:nvSpPr>
        <p:spPr>
          <a:xfrm>
            <a:off x="3319200" y="1353240"/>
            <a:ext cx="259668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r>
              <a:rPr lang="en-US" sz="800" b="1" strike="noStrike" spc="-1">
                <a:solidFill>
                  <a:srgbClr val="61228B"/>
                </a:solidFill>
                <a:latin typeface="Calibri"/>
                <a:ea typeface="Calibri"/>
              </a:rPr>
              <a:t>Setup SMTP first:</a:t>
            </a:r>
            <a:endParaRPr lang="en-US" sz="800" b="0" strike="noStrike" spc="-1">
              <a:solidFill>
                <a:srgbClr val="000000"/>
              </a:solidFill>
              <a:latin typeface="Arial"/>
            </a:endParaRPr>
          </a:p>
          <a:p>
            <a:pPr defTabSz="914400">
              <a:lnSpc>
                <a:spcPct val="100000"/>
              </a:lnSpc>
              <a:tabLst>
                <a:tab pos="0" algn="l"/>
              </a:tabLst>
            </a:pPr>
            <a:r>
              <a:rPr lang="en-US" sz="800" b="0" strike="noStrike" spc="-1">
                <a:solidFill>
                  <a:srgbClr val="333333"/>
                </a:solidFill>
                <a:latin typeface="Calibri"/>
                <a:ea typeface="Calibri"/>
              </a:rPr>
              <a:t>System &gt; Configuration &gt; Device &gt; SMTP</a:t>
            </a:r>
            <a:endParaRPr lang="en-US" sz="800" b="0" strike="noStrike" spc="-1">
              <a:solidFill>
                <a:srgbClr val="000000"/>
              </a:solidFill>
              <a:latin typeface="Arial"/>
            </a:endParaRPr>
          </a:p>
          <a:p>
            <a:pPr defTabSz="914400">
              <a:lnSpc>
                <a:spcPct val="100000"/>
              </a:lnSpc>
              <a:tabLst>
                <a:tab pos="0" algn="l"/>
              </a:tabLst>
            </a:pPr>
            <a:r>
              <a:rPr lang="en-US" sz="800" b="0" strike="noStrike" spc="-1">
                <a:solidFill>
                  <a:srgbClr val="333333"/>
                </a:solidFill>
                <a:latin typeface="Calibri"/>
                <a:ea typeface="Calibri"/>
              </a:rPr>
              <a:t>SMTP server, from address, auth.</a:t>
            </a:r>
            <a:endParaRPr lang="en-US" sz="800" b="0" strike="noStrike" spc="-1">
              <a:solidFill>
                <a:srgbClr val="000000"/>
              </a:solidFill>
              <a:latin typeface="Arial"/>
            </a:endParaRPr>
          </a:p>
        </p:txBody>
      </p:sp>
      <p:sp>
        <p:nvSpPr>
          <p:cNvPr id="2209" name="Shape 18"/>
          <p:cNvSpPr/>
          <p:nvPr/>
        </p:nvSpPr>
        <p:spPr>
          <a:xfrm>
            <a:off x="3246120" y="1874520"/>
            <a:ext cx="2742840" cy="1051200"/>
          </a:xfrm>
          <a:prstGeom prst="rect">
            <a:avLst/>
          </a:prstGeom>
          <a:solidFill>
            <a:srgbClr val="1E293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210" name="Text 19"/>
          <p:cNvSpPr/>
          <p:nvPr/>
        </p:nvSpPr>
        <p:spPr>
          <a:xfrm>
            <a:off x="3319200" y="1892880"/>
            <a:ext cx="2596680" cy="1005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700" b="0" strike="noStrike" spc="-1">
                <a:solidFill>
                  <a:srgbClr val="A5F3FC"/>
                </a:solidFill>
                <a:latin typeface="Courier New"/>
                <a:ea typeface="Courier New"/>
              </a:rPr>
              <a:t># /config/user_alert.conf</a:t>
            </a:r>
            <a:endParaRPr lang="en-US" sz="700" b="0" strike="noStrike" spc="-1">
              <a:solidFill>
                <a:srgbClr val="000000"/>
              </a:solidFill>
              <a:latin typeface="Arial"/>
            </a:endParaRPr>
          </a:p>
          <a:p>
            <a:pPr defTabSz="914400">
              <a:lnSpc>
                <a:spcPct val="100000"/>
              </a:lnSpc>
              <a:tabLst>
                <a:tab pos="0" algn="l"/>
              </a:tabLst>
            </a:pPr>
            <a:r>
              <a:rPr lang="en-US" sz="700" b="0" strike="noStrike" spc="-1">
                <a:solidFill>
                  <a:srgbClr val="A5F3FC"/>
                </a:solidFill>
                <a:latin typeface="Courier New"/>
                <a:ea typeface="Courier New"/>
              </a:rPr>
              <a:t>alert BIGIP_CUSTOM_SSL_EXPIRE {</a:t>
            </a:r>
            <a:endParaRPr lang="en-US" sz="700" b="0" strike="noStrike" spc="-1">
              <a:solidFill>
                <a:srgbClr val="000000"/>
              </a:solidFill>
              <a:latin typeface="Arial"/>
            </a:endParaRPr>
          </a:p>
          <a:p>
            <a:pPr defTabSz="914400">
              <a:lnSpc>
                <a:spcPct val="100000"/>
              </a:lnSpc>
              <a:tabLst>
                <a:tab pos="0" algn="l"/>
              </a:tabLst>
            </a:pPr>
            <a:r>
              <a:rPr lang="en-US" sz="700" b="0" strike="noStrike" spc="-1">
                <a:solidFill>
                  <a:srgbClr val="A5F3FC"/>
                </a:solidFill>
                <a:latin typeface="Courier New"/>
                <a:ea typeface="Courier New"/>
              </a:rPr>
              <a:t>  email toaddress="ops@co.com"</a:t>
            </a:r>
            <a:endParaRPr lang="en-US" sz="700" b="0" strike="noStrike" spc="-1">
              <a:solidFill>
                <a:srgbClr val="000000"/>
              </a:solidFill>
              <a:latin typeface="Arial"/>
            </a:endParaRPr>
          </a:p>
          <a:p>
            <a:pPr defTabSz="914400">
              <a:lnSpc>
                <a:spcPct val="100000"/>
              </a:lnSpc>
              <a:tabLst>
                <a:tab pos="0" algn="l"/>
              </a:tabLst>
            </a:pPr>
            <a:r>
              <a:rPr lang="en-US" sz="700" b="0" strike="noStrike" spc="-1">
                <a:solidFill>
                  <a:srgbClr val="A5F3FC"/>
                </a:solidFill>
                <a:latin typeface="Courier New"/>
                <a:ea typeface="Courier New"/>
              </a:rPr>
              <a:t>    fromaddress="bigip@co.com"</a:t>
            </a:r>
            <a:endParaRPr lang="en-US" sz="700" b="0" strike="noStrike" spc="-1">
              <a:solidFill>
                <a:srgbClr val="000000"/>
              </a:solidFill>
              <a:latin typeface="Arial"/>
            </a:endParaRPr>
          </a:p>
          <a:p>
            <a:pPr defTabSz="914400">
              <a:lnSpc>
                <a:spcPct val="100000"/>
              </a:lnSpc>
              <a:tabLst>
                <a:tab pos="0" algn="l"/>
              </a:tabLst>
            </a:pPr>
            <a:r>
              <a:rPr lang="en-US" sz="700" b="0" strike="noStrike" spc="-1">
                <a:solidFill>
                  <a:srgbClr val="A5F3FC"/>
                </a:solidFill>
                <a:latin typeface="Courier New"/>
                <a:ea typeface="Courier New"/>
              </a:rPr>
              <a:t>    body="SSL cert expiring"</a:t>
            </a:r>
            <a:endParaRPr lang="en-US" sz="700" b="0" strike="noStrike" spc="-1">
              <a:solidFill>
                <a:srgbClr val="000000"/>
              </a:solidFill>
              <a:latin typeface="Arial"/>
            </a:endParaRPr>
          </a:p>
          <a:p>
            <a:pPr defTabSz="914400">
              <a:lnSpc>
                <a:spcPct val="100000"/>
              </a:lnSpc>
              <a:tabLst>
                <a:tab pos="0" algn="l"/>
              </a:tabLst>
            </a:pPr>
            <a:r>
              <a:rPr lang="en-US" sz="700" b="0" strike="noStrike" spc="-1">
                <a:solidFill>
                  <a:srgbClr val="A5F3FC"/>
                </a:solidFill>
                <a:latin typeface="Courier New"/>
                <a:ea typeface="Courier New"/>
              </a:rPr>
              <a:t>  match "certificate.*expir"</a:t>
            </a:r>
            <a:endParaRPr lang="en-US" sz="700" b="0" strike="noStrike" spc="-1">
              <a:solidFill>
                <a:srgbClr val="000000"/>
              </a:solidFill>
              <a:latin typeface="Arial"/>
            </a:endParaRPr>
          </a:p>
          <a:p>
            <a:pPr defTabSz="914400">
              <a:lnSpc>
                <a:spcPct val="100000"/>
              </a:lnSpc>
              <a:tabLst>
                <a:tab pos="0" algn="l"/>
              </a:tabLst>
            </a:pPr>
            <a:r>
              <a:rPr lang="en-US" sz="700" b="0" strike="noStrike" spc="-1">
                <a:solidFill>
                  <a:srgbClr val="A5F3FC"/>
                </a:solidFill>
                <a:latin typeface="Courier New"/>
                <a:ea typeface="Courier New"/>
              </a:rPr>
              <a:t>}</a:t>
            </a:r>
            <a:endParaRPr lang="en-US" sz="700" b="0" strike="noStrike" spc="-1">
              <a:solidFill>
                <a:srgbClr val="000000"/>
              </a:solidFill>
              <a:latin typeface="Arial"/>
            </a:endParaRPr>
          </a:p>
        </p:txBody>
      </p:sp>
      <p:sp>
        <p:nvSpPr>
          <p:cNvPr id="2211" name="Shape 20"/>
          <p:cNvSpPr/>
          <p:nvPr/>
        </p:nvSpPr>
        <p:spPr>
          <a:xfrm>
            <a:off x="6126480" y="1005840"/>
            <a:ext cx="2651400" cy="31968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212" name="Text 21"/>
          <p:cNvSpPr/>
          <p:nvPr/>
        </p:nvSpPr>
        <p:spPr>
          <a:xfrm>
            <a:off x="6126480" y="1005840"/>
            <a:ext cx="265140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rgbClr val="FFFFFF"/>
                </a:solidFill>
                <a:latin typeface="Arial"/>
                <a:ea typeface="Arial"/>
              </a:rPr>
              <a:t>SNMP + syslog combined</a:t>
            </a:r>
            <a:endParaRPr lang="en-US" sz="1100" b="0" strike="noStrike" spc="-1">
              <a:solidFill>
                <a:srgbClr val="000000"/>
              </a:solidFill>
              <a:latin typeface="Arial"/>
            </a:endParaRPr>
          </a:p>
        </p:txBody>
      </p:sp>
      <p:sp>
        <p:nvSpPr>
          <p:cNvPr id="2213" name="Shape 22"/>
          <p:cNvSpPr/>
          <p:nvPr/>
        </p:nvSpPr>
        <p:spPr>
          <a:xfrm>
            <a:off x="6126480" y="1325880"/>
            <a:ext cx="2651400" cy="50256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214" name="Text 23"/>
          <p:cNvSpPr/>
          <p:nvPr/>
        </p:nvSpPr>
        <p:spPr>
          <a:xfrm>
            <a:off x="6199560" y="1353240"/>
            <a:ext cx="25052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r>
              <a:rPr lang="en-US" sz="800" b="1" strike="noStrike" spc="-1">
                <a:solidFill>
                  <a:srgbClr val="F29A36"/>
                </a:solidFill>
                <a:latin typeface="Calibri"/>
                <a:ea typeface="Calibri"/>
              </a:rPr>
              <a:t>One alert can trigger multiple actions</a:t>
            </a:r>
            <a:endParaRPr lang="en-US" sz="800" b="0" strike="noStrike" spc="-1">
              <a:solidFill>
                <a:srgbClr val="000000"/>
              </a:solidFill>
              <a:latin typeface="Arial"/>
            </a:endParaRPr>
          </a:p>
          <a:p>
            <a:pPr defTabSz="914400">
              <a:lnSpc>
                <a:spcPct val="100000"/>
              </a:lnSpc>
              <a:tabLst>
                <a:tab pos="0" algn="l"/>
              </a:tabLst>
            </a:pPr>
            <a:r>
              <a:rPr lang="en-US" sz="800" b="0" strike="noStrike" spc="-1">
                <a:solidFill>
                  <a:srgbClr val="333333"/>
                </a:solidFill>
                <a:latin typeface="Calibri"/>
                <a:ea typeface="Calibri"/>
              </a:rPr>
              <a:t>Send trap to NMS AND log to syslog simultaneously.</a:t>
            </a:r>
            <a:endParaRPr lang="en-US" sz="800" b="0" strike="noStrike" spc="-1">
              <a:solidFill>
                <a:srgbClr val="000000"/>
              </a:solidFill>
              <a:latin typeface="Arial"/>
            </a:endParaRPr>
          </a:p>
        </p:txBody>
      </p:sp>
      <p:sp>
        <p:nvSpPr>
          <p:cNvPr id="2215" name="Shape 24"/>
          <p:cNvSpPr/>
          <p:nvPr/>
        </p:nvSpPr>
        <p:spPr>
          <a:xfrm>
            <a:off x="6126480" y="1874520"/>
            <a:ext cx="2651400" cy="1051200"/>
          </a:xfrm>
          <a:prstGeom prst="rect">
            <a:avLst/>
          </a:prstGeom>
          <a:solidFill>
            <a:srgbClr val="1E293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216" name="Text 25"/>
          <p:cNvSpPr/>
          <p:nvPr/>
        </p:nvSpPr>
        <p:spPr>
          <a:xfrm>
            <a:off x="6199560" y="1892880"/>
            <a:ext cx="2505240" cy="1005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700" b="0" strike="noStrike" spc="-1">
                <a:solidFill>
                  <a:srgbClr val="A5F3FC"/>
                </a:solidFill>
                <a:latin typeface="Courier New"/>
                <a:ea typeface="Courier New"/>
              </a:rPr>
              <a:t># /config/user_alert.conf</a:t>
            </a:r>
            <a:endParaRPr lang="en-US" sz="700" b="0" strike="noStrike" spc="-1">
              <a:solidFill>
                <a:srgbClr val="000000"/>
              </a:solidFill>
              <a:latin typeface="Arial"/>
            </a:endParaRPr>
          </a:p>
          <a:p>
            <a:pPr defTabSz="914400">
              <a:lnSpc>
                <a:spcPct val="100000"/>
              </a:lnSpc>
              <a:tabLst>
                <a:tab pos="0" algn="l"/>
              </a:tabLst>
            </a:pPr>
            <a:r>
              <a:rPr lang="en-US" sz="700" b="0" strike="noStrike" spc="-1">
                <a:solidFill>
                  <a:srgbClr val="A5F3FC"/>
                </a:solidFill>
                <a:latin typeface="Courier New"/>
                <a:ea typeface="Courier New"/>
              </a:rPr>
              <a:t>alert BIGIP_CUSTOM_FAILOVER {</a:t>
            </a:r>
            <a:endParaRPr lang="en-US" sz="700" b="0" strike="noStrike" spc="-1">
              <a:solidFill>
                <a:srgbClr val="000000"/>
              </a:solidFill>
              <a:latin typeface="Arial"/>
            </a:endParaRPr>
          </a:p>
          <a:p>
            <a:pPr defTabSz="914400">
              <a:lnSpc>
                <a:spcPct val="100000"/>
              </a:lnSpc>
              <a:tabLst>
                <a:tab pos="0" algn="l"/>
              </a:tabLst>
            </a:pPr>
            <a:r>
              <a:rPr lang="en-US" sz="700" b="0" strike="noStrike" spc="-1">
                <a:solidFill>
                  <a:srgbClr val="A5F3FC"/>
                </a:solidFill>
                <a:latin typeface="Courier New"/>
                <a:ea typeface="Courier New"/>
              </a:rPr>
              <a:t>  snmptrap OID="\</a:t>
            </a:r>
            <a:endParaRPr lang="en-US" sz="700" b="0" strike="noStrike" spc="-1">
              <a:solidFill>
                <a:srgbClr val="000000"/>
              </a:solidFill>
              <a:latin typeface="Arial"/>
            </a:endParaRPr>
          </a:p>
          <a:p>
            <a:pPr defTabSz="914400">
              <a:lnSpc>
                <a:spcPct val="100000"/>
              </a:lnSpc>
              <a:tabLst>
                <a:tab pos="0" algn="l"/>
              </a:tabLst>
            </a:pPr>
            <a:r>
              <a:rPr lang="en-US" sz="700" b="0" strike="noStrike" spc="-1">
                <a:solidFill>
                  <a:srgbClr val="A5F3FC"/>
                </a:solidFill>
                <a:latin typeface="Courier New"/>
                <a:ea typeface="Courier New"/>
              </a:rPr>
              <a:t>    .1.3.6.1.4.1.3375.2.4.0.100"</a:t>
            </a:r>
            <a:endParaRPr lang="en-US" sz="700" b="0" strike="noStrike" spc="-1">
              <a:solidFill>
                <a:srgbClr val="000000"/>
              </a:solidFill>
              <a:latin typeface="Arial"/>
            </a:endParaRPr>
          </a:p>
          <a:p>
            <a:pPr defTabSz="914400">
              <a:lnSpc>
                <a:spcPct val="100000"/>
              </a:lnSpc>
              <a:tabLst>
                <a:tab pos="0" algn="l"/>
              </a:tabLst>
            </a:pPr>
            <a:r>
              <a:rPr lang="en-US" sz="700" b="0" strike="noStrike" spc="-1">
                <a:solidFill>
                  <a:srgbClr val="A5F3FC"/>
                </a:solidFill>
                <a:latin typeface="Courier New"/>
                <a:ea typeface="Courier New"/>
              </a:rPr>
              <a:t>  match "ACTIVE for\</a:t>
            </a:r>
            <a:endParaRPr lang="en-US" sz="700" b="0" strike="noStrike" spc="-1">
              <a:solidFill>
                <a:srgbClr val="000000"/>
              </a:solidFill>
              <a:latin typeface="Arial"/>
            </a:endParaRPr>
          </a:p>
          <a:p>
            <a:pPr defTabSz="914400">
              <a:lnSpc>
                <a:spcPct val="100000"/>
              </a:lnSpc>
              <a:tabLst>
                <a:tab pos="0" algn="l"/>
              </a:tabLst>
            </a:pPr>
            <a:r>
              <a:rPr lang="en-US" sz="700" b="0" strike="noStrike" spc="-1">
                <a:solidFill>
                  <a:srgbClr val="A5F3FC"/>
                </a:solidFill>
                <a:latin typeface="Courier New"/>
                <a:ea typeface="Courier New"/>
              </a:rPr>
              <a:t>    traffic group"</a:t>
            </a:r>
            <a:endParaRPr lang="en-US" sz="700" b="0" strike="noStrike" spc="-1">
              <a:solidFill>
                <a:srgbClr val="000000"/>
              </a:solidFill>
              <a:latin typeface="Arial"/>
            </a:endParaRPr>
          </a:p>
          <a:p>
            <a:pPr defTabSz="914400">
              <a:lnSpc>
                <a:spcPct val="100000"/>
              </a:lnSpc>
              <a:tabLst>
                <a:tab pos="0" algn="l"/>
              </a:tabLst>
            </a:pPr>
            <a:r>
              <a:rPr lang="en-US" sz="700" b="0" strike="noStrike" spc="-1">
                <a:solidFill>
                  <a:srgbClr val="A5F3FC"/>
                </a:solidFill>
                <a:latin typeface="Courier New"/>
                <a:ea typeface="Courier New"/>
              </a:rPr>
              <a:t>}</a:t>
            </a:r>
            <a:endParaRPr lang="en-US" sz="700" b="0" strike="noStrike" spc="-1">
              <a:solidFill>
                <a:srgbClr val="000000"/>
              </a:solidFill>
              <a:latin typeface="Arial"/>
            </a:endParaRPr>
          </a:p>
        </p:txBody>
      </p:sp>
      <p:sp>
        <p:nvSpPr>
          <p:cNvPr id="2217" name="Text 26"/>
          <p:cNvSpPr/>
          <p:nvPr/>
        </p:nvSpPr>
        <p:spPr>
          <a:xfrm>
            <a:off x="457200" y="3063240"/>
            <a:ext cx="45716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009639"/>
                </a:solidFill>
                <a:latin typeface="Arial"/>
                <a:ea typeface="Arial"/>
              </a:rPr>
              <a:t>Alert configuration files</a:t>
            </a:r>
            <a:endParaRPr lang="en-US" sz="1400" b="0" strike="noStrike" spc="-1">
              <a:solidFill>
                <a:srgbClr val="000000"/>
              </a:solidFill>
              <a:latin typeface="Arial"/>
            </a:endParaRPr>
          </a:p>
        </p:txBody>
      </p:sp>
      <p:graphicFrame>
        <p:nvGraphicFramePr>
          <p:cNvPr id="2218" name="Table 0"/>
          <p:cNvGraphicFramePr/>
          <p:nvPr/>
        </p:nvGraphicFramePr>
        <p:xfrm>
          <a:off x="365760" y="3291840"/>
          <a:ext cx="8412480" cy="685800"/>
        </p:xfrm>
        <a:graphic>
          <a:graphicData uri="http://schemas.openxmlformats.org/drawingml/2006/table">
            <a:tbl>
              <a:tblPr/>
              <a:tblGrid>
                <a:gridCol w="192024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tblGrid>
              <a:tr h="0">
                <a:tc>
                  <a:txBody>
                    <a:bodyPr/>
                    <a:lstStyle/>
                    <a:p>
                      <a:pPr defTabSz="914400">
                        <a:lnSpc>
                          <a:spcPct val="100000"/>
                        </a:lnSpc>
                        <a:tabLst>
                          <a:tab pos="0" algn="l"/>
                        </a:tabLst>
                      </a:pPr>
                      <a:r>
                        <a:rPr lang="en-US" sz="900" b="1" strike="noStrike" spc="-1">
                          <a:solidFill>
                            <a:srgbClr val="FFFFFF"/>
                          </a:solidFill>
                          <a:latin typeface="Calibri"/>
                        </a:rPr>
                        <a:t>File</a:t>
                      </a:r>
                      <a:endParaRPr lang="en-US" sz="9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09639"/>
                    </a:solidFill>
                  </a:tcPr>
                </a:tc>
                <a:tc>
                  <a:txBody>
                    <a:bodyPr/>
                    <a:lstStyle/>
                    <a:p>
                      <a:pPr defTabSz="914400">
                        <a:lnSpc>
                          <a:spcPct val="100000"/>
                        </a:lnSpc>
                        <a:tabLst>
                          <a:tab pos="0" algn="l"/>
                        </a:tabLst>
                      </a:pPr>
                      <a:r>
                        <a:rPr lang="en-US" sz="900" b="1" strike="noStrike" spc="-1">
                          <a:solidFill>
                            <a:srgbClr val="FFFFFF"/>
                          </a:solidFill>
                          <a:latin typeface="Calibri"/>
                        </a:rPr>
                        <a:t>Purpose</a:t>
                      </a:r>
                      <a:endParaRPr lang="en-US" sz="9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09639"/>
                    </a:solidFill>
                  </a:tcPr>
                </a:tc>
                <a:tc>
                  <a:txBody>
                    <a:bodyPr/>
                    <a:lstStyle/>
                    <a:p>
                      <a:pPr defTabSz="914400">
                        <a:lnSpc>
                          <a:spcPct val="100000"/>
                        </a:lnSpc>
                        <a:tabLst>
                          <a:tab pos="0" algn="l"/>
                        </a:tabLst>
                      </a:pPr>
                      <a:r>
                        <a:rPr lang="en-US" sz="900" b="1" strike="noStrike" spc="-1">
                          <a:solidFill>
                            <a:srgbClr val="FFFFFF"/>
                          </a:solidFill>
                          <a:latin typeface="Calibri"/>
                        </a:rPr>
                        <a:t>Edit?</a:t>
                      </a:r>
                      <a:endParaRPr lang="en-US" sz="9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09639"/>
                    </a:solidFill>
                  </a:tcPr>
                </a:tc>
                <a:tc>
                  <a:txBody>
                    <a:bodyPr/>
                    <a:lstStyle/>
                    <a:p>
                      <a:pPr defTabSz="914400">
                        <a:lnSpc>
                          <a:spcPct val="100000"/>
                        </a:lnSpc>
                        <a:tabLst>
                          <a:tab pos="0" algn="l"/>
                        </a:tabLst>
                      </a:pPr>
                      <a:r>
                        <a:rPr lang="en-US" sz="900" b="1" strike="noStrike" spc="-1">
                          <a:solidFill>
                            <a:srgbClr val="FFFFFF"/>
                          </a:solidFill>
                          <a:latin typeface="Calibri"/>
                        </a:rPr>
                        <a:t>Survives upgrade?</a:t>
                      </a:r>
                      <a:endParaRPr lang="en-US" sz="9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09639"/>
                    </a:solidFill>
                  </a:tcPr>
                </a:tc>
                <a:extLst>
                  <a:ext uri="{0D108BD9-81ED-4DB2-BD59-A6C34878D82A}">
                    <a16:rowId xmlns:a16="http://schemas.microsoft.com/office/drawing/2014/main" val="10000"/>
                  </a:ext>
                </a:extLst>
              </a:tr>
              <a:tr h="0">
                <a:tc>
                  <a:txBody>
                    <a:bodyPr/>
                    <a:lstStyle/>
                    <a:p>
                      <a:pPr defTabSz="914400">
                        <a:lnSpc>
                          <a:spcPct val="100000"/>
                        </a:lnSpc>
                        <a:tabLst>
                          <a:tab pos="0" algn="l"/>
                        </a:tabLst>
                      </a:pPr>
                      <a:r>
                        <a:rPr lang="en-US" sz="800" b="0" strike="noStrike" spc="-1">
                          <a:solidFill>
                            <a:srgbClr val="000000"/>
                          </a:solidFill>
                          <a:latin typeface="Courier New"/>
                          <a:ea typeface="Courier New"/>
                        </a:rPr>
                        <a:t>/config/user_alert.conf</a:t>
                      </a:r>
                      <a:endParaRPr lang="en-US" sz="8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0000"/>
                          </a:solidFill>
                          <a:latin typeface="Calibri"/>
                        </a:rPr>
                        <a:t>YOUR custom alerts. SNMP traps, email, or both.</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1" strike="noStrike" spc="-1">
                          <a:solidFill>
                            <a:srgbClr val="009639"/>
                          </a:solidFill>
                          <a:latin typeface="Calibri"/>
                        </a:rPr>
                        <a:t>✔ Edit this file</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0" strike="noStrike" spc="-1">
                          <a:solidFill>
                            <a:srgbClr val="009639"/>
                          </a:solidFill>
                          <a:latin typeface="Calibri"/>
                        </a:rPr>
                        <a:t>✔ Yes (in UCS)</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1"/>
                  </a:ext>
                </a:extLst>
              </a:tr>
              <a:tr h="0">
                <a:tc>
                  <a:txBody>
                    <a:bodyPr/>
                    <a:lstStyle/>
                    <a:p>
                      <a:pPr defTabSz="914400">
                        <a:lnSpc>
                          <a:spcPct val="100000"/>
                        </a:lnSpc>
                        <a:tabLst>
                          <a:tab pos="0" algn="l"/>
                        </a:tabLst>
                      </a:pPr>
                      <a:r>
                        <a:rPr lang="en-US" sz="800" b="0" strike="noStrike" spc="-1">
                          <a:solidFill>
                            <a:srgbClr val="000000"/>
                          </a:solidFill>
                          <a:latin typeface="Courier New"/>
                          <a:ea typeface="Courier New"/>
                        </a:rPr>
                        <a:t>/etc/alertd/alert.conf</a:t>
                      </a:r>
                      <a:endParaRPr lang="en-US" sz="8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000000"/>
                          </a:solidFill>
                          <a:latin typeface="Calibri"/>
                        </a:rPr>
                        <a:t>Default system alerts. Contains built-in alert definitions.</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1" strike="noStrike" spc="-1">
                          <a:solidFill>
                            <a:srgbClr val="E4002B"/>
                          </a:solidFill>
                          <a:latin typeface="Calibri"/>
                        </a:rPr>
                        <a:t>✘ DO NOT edit</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0" strike="noStrike" spc="-1">
                          <a:solidFill>
                            <a:srgbClr val="E4002B"/>
                          </a:solidFill>
                          <a:latin typeface="Calibri"/>
                        </a:rPr>
                        <a:t>✘ Overwritten</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2"/>
                  </a:ext>
                </a:extLst>
              </a:tr>
            </a:tbl>
          </a:graphicData>
        </a:graphic>
      </p:graphicFrame>
      <p:sp>
        <p:nvSpPr>
          <p:cNvPr id="2219" name="Shape 27"/>
          <p:cNvSpPr/>
          <p:nvPr/>
        </p:nvSpPr>
        <p:spPr>
          <a:xfrm>
            <a:off x="365760" y="4023360"/>
            <a:ext cx="8412120" cy="731160"/>
          </a:xfrm>
          <a:prstGeom prst="rect">
            <a:avLst/>
          </a:prstGeom>
          <a:solidFill>
            <a:srgbClr val="E8F0F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220" name="Text 28"/>
          <p:cNvSpPr/>
          <p:nvPr/>
        </p:nvSpPr>
        <p:spPr>
          <a:xfrm>
            <a:off x="548640" y="4041720"/>
            <a:ext cx="804636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r>
              <a:rPr lang="en-US" sz="1100" b="1" strike="noStrike" spc="-1">
                <a:solidFill>
                  <a:srgbClr val="0E41AA"/>
                </a:solidFill>
                <a:latin typeface="Calibri"/>
              </a:rPr>
              <a:t>Testing custom alerts</a:t>
            </a:r>
            <a:endParaRPr lang="en-US" sz="1100" b="0" strike="noStrike" spc="-1">
              <a:solidFill>
                <a:srgbClr val="000000"/>
              </a:solidFill>
              <a:latin typeface="Arial"/>
            </a:endParaRPr>
          </a:p>
          <a:p>
            <a:pPr defTabSz="914400">
              <a:lnSpc>
                <a:spcPct val="100000"/>
              </a:lnSpc>
              <a:tabLst>
                <a:tab pos="0" algn="l"/>
              </a:tabLst>
            </a:pPr>
            <a:r>
              <a:rPr lang="en-US" sz="850" b="0" strike="noStrike" spc="-1">
                <a:solidFill>
                  <a:srgbClr val="1A3A6C"/>
                </a:solidFill>
                <a:latin typeface="Courier New"/>
                <a:ea typeface="Courier New"/>
              </a:rPr>
              <a:t>1. Add alert definition to /config/user_alert.conf</a:t>
            </a:r>
            <a:endParaRPr lang="en-US" sz="850" b="0" strike="noStrike" spc="-1">
              <a:solidFill>
                <a:srgbClr val="000000"/>
              </a:solidFill>
              <a:latin typeface="Arial"/>
            </a:endParaRPr>
          </a:p>
          <a:p>
            <a:pPr defTabSz="914400">
              <a:lnSpc>
                <a:spcPct val="100000"/>
              </a:lnSpc>
              <a:tabLst>
                <a:tab pos="0" algn="l"/>
              </a:tabLst>
            </a:pPr>
            <a:r>
              <a:rPr lang="en-US" sz="850" b="0" strike="noStrike" spc="-1">
                <a:solidFill>
                  <a:srgbClr val="1A3A6C"/>
                </a:solidFill>
                <a:latin typeface="Courier New"/>
                <a:ea typeface="Courier New"/>
              </a:rPr>
              <a:t>2. Restart alertd: bigstart restart alertd</a:t>
            </a:r>
            <a:endParaRPr lang="en-US" sz="850" b="0" strike="noStrike" spc="-1">
              <a:solidFill>
                <a:srgbClr val="000000"/>
              </a:solidFill>
              <a:latin typeface="Arial"/>
            </a:endParaRPr>
          </a:p>
          <a:p>
            <a:pPr defTabSz="914400">
              <a:lnSpc>
                <a:spcPct val="100000"/>
              </a:lnSpc>
              <a:tabLst>
                <a:tab pos="0" algn="l"/>
              </a:tabLst>
            </a:pPr>
            <a:r>
              <a:rPr lang="en-US" sz="850" b="0" strike="noStrike" spc="-1">
                <a:solidFill>
                  <a:srgbClr val="1A3A6C"/>
                </a:solidFill>
                <a:latin typeface="Courier New"/>
                <a:ea typeface="Courier New"/>
              </a:rPr>
              <a:t>3. Generate a matching log message: logger -p local0.notice "Pool my_pool now has no available members"</a:t>
            </a:r>
            <a:endParaRPr lang="en-US" sz="850" b="0" strike="noStrike" spc="-1">
              <a:solidFill>
                <a:srgbClr val="000000"/>
              </a:solidFill>
              <a:latin typeface="Arial"/>
            </a:endParaRPr>
          </a:p>
          <a:p>
            <a:pPr defTabSz="914400">
              <a:lnSpc>
                <a:spcPct val="100000"/>
              </a:lnSpc>
              <a:tabLst>
                <a:tab pos="0" algn="l"/>
              </a:tabLst>
            </a:pPr>
            <a:r>
              <a:rPr lang="en-US" sz="850" b="0" strike="noStrike" spc="-1">
                <a:solidFill>
                  <a:srgbClr val="1A3A6C"/>
                </a:solidFill>
                <a:latin typeface="Courier New"/>
                <a:ea typeface="Courier New"/>
              </a:rPr>
              <a:t>4. Verify: SNMP trap received at NMS, email sent, or syslog entry created.</a:t>
            </a:r>
            <a:endParaRPr lang="en-US" sz="850" b="0" strike="noStrike" spc="-1">
              <a:solidFill>
                <a:srgbClr val="000000"/>
              </a:solidFill>
              <a:latin typeface="Arial"/>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21"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222"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223"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224"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225"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226"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102    © 2026 F5</a:t>
            </a:r>
            <a:endParaRPr lang="en-US" sz="800" b="0" strike="noStrike" spc="-1">
              <a:solidFill>
                <a:srgbClr val="000000"/>
              </a:solidFill>
              <a:latin typeface="Arial"/>
            </a:endParaRPr>
          </a:p>
        </p:txBody>
      </p:sp>
      <p:pic>
        <p:nvPicPr>
          <p:cNvPr id="2227" name="Image 0" descr="preencoded.png"/>
          <p:cNvPicPr/>
          <p:nvPr/>
        </p:nvPicPr>
        <p:blipFill>
          <a:blip r:embed="rId3"/>
          <a:stretch/>
        </p:blipFill>
        <p:spPr>
          <a:xfrm>
            <a:off x="8458200" y="4663440"/>
            <a:ext cx="383760" cy="383760"/>
          </a:xfrm>
          <a:prstGeom prst="rect">
            <a:avLst/>
          </a:prstGeom>
          <a:ln w="0">
            <a:noFill/>
          </a:ln>
        </p:spPr>
      </p:pic>
      <p:sp>
        <p:nvSpPr>
          <p:cNvPr id="2228" name="Text 6"/>
          <p:cNvSpPr/>
          <p:nvPr/>
        </p:nvSpPr>
        <p:spPr>
          <a:xfrm>
            <a:off x="457200" y="274320"/>
            <a:ext cx="82292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Sample log analysis</a:t>
            </a:r>
            <a:endParaRPr lang="en-US" sz="2800" b="0" strike="noStrike" spc="-1">
              <a:solidFill>
                <a:srgbClr val="000000"/>
              </a:solidFill>
              <a:latin typeface="Arial"/>
            </a:endParaRPr>
          </a:p>
        </p:txBody>
      </p:sp>
      <p:sp>
        <p:nvSpPr>
          <p:cNvPr id="2229" name="Text 7"/>
          <p:cNvSpPr/>
          <p:nvPr/>
        </p:nvSpPr>
        <p:spPr>
          <a:xfrm>
            <a:off x="457200" y="658440"/>
            <a:ext cx="82292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strike="noStrike" spc="-1">
                <a:solidFill>
                  <a:srgbClr val="666666"/>
                </a:solidFill>
                <a:latin typeface="Calibri"/>
                <a:ea typeface="Calibri"/>
              </a:rPr>
              <a:t>Practice identifying LTM device issues from real /var/log/ltm messages</a:t>
            </a:r>
            <a:endParaRPr lang="en-US" sz="1300" b="0" strike="noStrike" spc="-1">
              <a:solidFill>
                <a:srgbClr val="000000"/>
              </a:solidFill>
              <a:latin typeface="Arial"/>
            </a:endParaRPr>
          </a:p>
        </p:txBody>
      </p:sp>
      <p:sp>
        <p:nvSpPr>
          <p:cNvPr id="2230" name="Shape 8"/>
          <p:cNvSpPr/>
          <p:nvPr/>
        </p:nvSpPr>
        <p:spPr>
          <a:xfrm>
            <a:off x="365760" y="1005840"/>
            <a:ext cx="8412120" cy="273960"/>
          </a:xfrm>
          <a:prstGeom prst="rect">
            <a:avLst/>
          </a:prstGeom>
          <a:solidFill>
            <a:srgbClr val="1E293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231" name="Text 9"/>
          <p:cNvSpPr/>
          <p:nvPr/>
        </p:nvSpPr>
        <p:spPr>
          <a:xfrm>
            <a:off x="438840" y="1005840"/>
            <a:ext cx="82659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650" b="0" strike="noStrike" spc="-1">
                <a:solidFill>
                  <a:srgbClr val="A5F3FC"/>
                </a:solidFill>
                <a:latin typeface="Courier New"/>
                <a:ea typeface="Courier New"/>
              </a:rPr>
              <a:t>Jan 15 09:23:41 bigip01 mcpd[6543]: 01070638:5: Pool /Common/www_pool member /Common/10.1.20.11:80 monitor status down.</a:t>
            </a:r>
            <a:endParaRPr lang="en-US" sz="650" b="0" strike="noStrike" spc="-1">
              <a:solidFill>
                <a:srgbClr val="000000"/>
              </a:solidFill>
              <a:latin typeface="Arial"/>
            </a:endParaRPr>
          </a:p>
        </p:txBody>
      </p:sp>
      <p:sp>
        <p:nvSpPr>
          <p:cNvPr id="2232" name="Shape 10"/>
          <p:cNvSpPr/>
          <p:nvPr/>
        </p:nvSpPr>
        <p:spPr>
          <a:xfrm>
            <a:off x="365760" y="1280160"/>
            <a:ext cx="136800" cy="36540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233" name="Text 11"/>
          <p:cNvSpPr/>
          <p:nvPr/>
        </p:nvSpPr>
        <p:spPr>
          <a:xfrm>
            <a:off x="594360" y="1280160"/>
            <a:ext cx="809208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r>
              <a:rPr lang="en-US" sz="800" b="1" strike="noStrike" spc="-1">
                <a:solidFill>
                  <a:srgbClr val="E4002B"/>
                </a:solidFill>
                <a:latin typeface="Calibri"/>
                <a:ea typeface="Calibri"/>
              </a:rPr>
              <a:t>Issue: </a:t>
            </a:r>
            <a:r>
              <a:rPr lang="en-US" sz="800" b="0" strike="noStrike" spc="-1">
                <a:solidFill>
                  <a:srgbClr val="333333"/>
                </a:solidFill>
                <a:latin typeface="Calibri"/>
                <a:ea typeface="Calibri"/>
              </a:rPr>
              <a:t>Pool member marked DOWN by health monitor</a:t>
            </a:r>
            <a:endParaRPr lang="en-US" sz="800" b="0" strike="noStrike" spc="-1">
              <a:solidFill>
                <a:srgbClr val="000000"/>
              </a:solidFill>
              <a:latin typeface="Arial"/>
            </a:endParaRPr>
          </a:p>
          <a:p>
            <a:pPr defTabSz="914400">
              <a:lnSpc>
                <a:spcPct val="100000"/>
              </a:lnSpc>
              <a:tabLst>
                <a:tab pos="0" algn="l"/>
              </a:tabLst>
            </a:pPr>
            <a:r>
              <a:rPr lang="en-US" sz="800" b="1" strike="noStrike" spc="-1">
                <a:solidFill>
                  <a:srgbClr val="009639"/>
                </a:solidFill>
                <a:latin typeface="Calibri"/>
                <a:ea typeface="Calibri"/>
              </a:rPr>
              <a:t>Fix: </a:t>
            </a:r>
            <a:r>
              <a:rPr lang="en-US" sz="750" b="0" strike="noStrike" spc="-1">
                <a:solidFill>
                  <a:srgbClr val="333333"/>
                </a:solidFill>
                <a:latin typeface="Calibri"/>
                <a:ea typeface="Calibri"/>
              </a:rPr>
              <a:t>Check member health. Verify monitor settings (interval, timeout). Test connectivity: curl http://10.1.20.11:80</a:t>
            </a:r>
            <a:endParaRPr lang="en-US" sz="750" b="0" strike="noStrike" spc="-1">
              <a:solidFill>
                <a:srgbClr val="000000"/>
              </a:solidFill>
              <a:latin typeface="Arial"/>
            </a:endParaRPr>
          </a:p>
        </p:txBody>
      </p:sp>
      <p:sp>
        <p:nvSpPr>
          <p:cNvPr id="2234" name="Shape 12"/>
          <p:cNvSpPr/>
          <p:nvPr/>
        </p:nvSpPr>
        <p:spPr>
          <a:xfrm>
            <a:off x="365760" y="1719000"/>
            <a:ext cx="8412120" cy="273960"/>
          </a:xfrm>
          <a:prstGeom prst="rect">
            <a:avLst/>
          </a:prstGeom>
          <a:solidFill>
            <a:srgbClr val="1E293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235" name="Text 13"/>
          <p:cNvSpPr/>
          <p:nvPr/>
        </p:nvSpPr>
        <p:spPr>
          <a:xfrm>
            <a:off x="438840" y="1719000"/>
            <a:ext cx="82659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650" b="0" strike="noStrike" spc="-1">
                <a:solidFill>
                  <a:srgbClr val="A5F3FC"/>
                </a:solidFill>
                <a:latin typeface="Courier New"/>
                <a:ea typeface="Courier New"/>
              </a:rPr>
              <a:t>Jan 15 09:24:02 bigip01 tmm[11235]: 01260009:3: Connection error: ssl_hs_rxhello:6281: unsupported version (0301)</a:t>
            </a:r>
            <a:endParaRPr lang="en-US" sz="650" b="0" strike="noStrike" spc="-1">
              <a:solidFill>
                <a:srgbClr val="000000"/>
              </a:solidFill>
              <a:latin typeface="Arial"/>
            </a:endParaRPr>
          </a:p>
        </p:txBody>
      </p:sp>
      <p:sp>
        <p:nvSpPr>
          <p:cNvPr id="2236" name="Shape 14"/>
          <p:cNvSpPr/>
          <p:nvPr/>
        </p:nvSpPr>
        <p:spPr>
          <a:xfrm>
            <a:off x="365760" y="1993320"/>
            <a:ext cx="136800" cy="36540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237" name="Text 15"/>
          <p:cNvSpPr/>
          <p:nvPr/>
        </p:nvSpPr>
        <p:spPr>
          <a:xfrm>
            <a:off x="594360" y="1993320"/>
            <a:ext cx="809208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r>
              <a:rPr lang="en-US" sz="800" b="1" strike="noStrike" spc="-1">
                <a:solidFill>
                  <a:srgbClr val="F29A36"/>
                </a:solidFill>
                <a:latin typeface="Calibri"/>
                <a:ea typeface="Calibri"/>
              </a:rPr>
              <a:t>Issue: </a:t>
            </a:r>
            <a:r>
              <a:rPr lang="en-US" sz="800" b="0" strike="noStrike" spc="-1">
                <a:solidFill>
                  <a:srgbClr val="333333"/>
                </a:solidFill>
                <a:latin typeface="Calibri"/>
                <a:ea typeface="Calibri"/>
              </a:rPr>
              <a:t>SSL handshake failed: client offered TLS 1.0 (0x0301) which is disabled</a:t>
            </a:r>
            <a:endParaRPr lang="en-US" sz="800" b="0" strike="noStrike" spc="-1">
              <a:solidFill>
                <a:srgbClr val="000000"/>
              </a:solidFill>
              <a:latin typeface="Arial"/>
            </a:endParaRPr>
          </a:p>
          <a:p>
            <a:pPr defTabSz="914400">
              <a:lnSpc>
                <a:spcPct val="100000"/>
              </a:lnSpc>
              <a:tabLst>
                <a:tab pos="0" algn="l"/>
              </a:tabLst>
            </a:pPr>
            <a:r>
              <a:rPr lang="en-US" sz="800" b="1" strike="noStrike" spc="-1">
                <a:solidFill>
                  <a:srgbClr val="009639"/>
                </a:solidFill>
                <a:latin typeface="Calibri"/>
                <a:ea typeface="Calibri"/>
              </a:rPr>
              <a:t>Fix: </a:t>
            </a:r>
            <a:r>
              <a:rPr lang="en-US" sz="750" b="0" strike="noStrike" spc="-1">
                <a:solidFill>
                  <a:srgbClr val="333333"/>
                </a:solidFill>
                <a:latin typeface="Calibri"/>
                <a:ea typeface="Calibri"/>
              </a:rPr>
              <a:t>Client needs TLS 1.2+, or enable TLS 1.0 on Client-SSL (not recommended). Check cipher string.</a:t>
            </a:r>
            <a:endParaRPr lang="en-US" sz="750" b="0" strike="noStrike" spc="-1">
              <a:solidFill>
                <a:srgbClr val="000000"/>
              </a:solidFill>
              <a:latin typeface="Arial"/>
            </a:endParaRPr>
          </a:p>
        </p:txBody>
      </p:sp>
      <p:sp>
        <p:nvSpPr>
          <p:cNvPr id="2238" name="Shape 16"/>
          <p:cNvSpPr/>
          <p:nvPr/>
        </p:nvSpPr>
        <p:spPr>
          <a:xfrm>
            <a:off x="365760" y="2432160"/>
            <a:ext cx="8412120" cy="273960"/>
          </a:xfrm>
          <a:prstGeom prst="rect">
            <a:avLst/>
          </a:prstGeom>
          <a:solidFill>
            <a:srgbClr val="1E293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239" name="Text 17"/>
          <p:cNvSpPr/>
          <p:nvPr/>
        </p:nvSpPr>
        <p:spPr>
          <a:xfrm>
            <a:off x="438840" y="2432160"/>
            <a:ext cx="82659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650" b="0" strike="noStrike" spc="-1">
                <a:solidFill>
                  <a:srgbClr val="A5F3FC"/>
                </a:solidFill>
                <a:latin typeface="Courier New"/>
                <a:ea typeface="Courier New"/>
              </a:rPr>
              <a:t>Jan 15 09:25:17 bigip01 tmm[11235]: 01010251:7: 01010251:7: Virtual /Common/www_vs has no usable listeners</a:t>
            </a:r>
            <a:endParaRPr lang="en-US" sz="650" b="0" strike="noStrike" spc="-1">
              <a:solidFill>
                <a:srgbClr val="000000"/>
              </a:solidFill>
              <a:latin typeface="Arial"/>
            </a:endParaRPr>
          </a:p>
        </p:txBody>
      </p:sp>
      <p:sp>
        <p:nvSpPr>
          <p:cNvPr id="2240" name="Shape 18"/>
          <p:cNvSpPr/>
          <p:nvPr/>
        </p:nvSpPr>
        <p:spPr>
          <a:xfrm>
            <a:off x="365760" y="2706480"/>
            <a:ext cx="136800" cy="36540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241" name="Text 19"/>
          <p:cNvSpPr/>
          <p:nvPr/>
        </p:nvSpPr>
        <p:spPr>
          <a:xfrm>
            <a:off x="594360" y="2706480"/>
            <a:ext cx="809208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r>
              <a:rPr lang="en-US" sz="800" b="1" strike="noStrike" spc="-1">
                <a:solidFill>
                  <a:srgbClr val="61228B"/>
                </a:solidFill>
                <a:latin typeface="Calibri"/>
                <a:ea typeface="Calibri"/>
              </a:rPr>
              <a:t>Issue: </a:t>
            </a:r>
            <a:r>
              <a:rPr lang="en-US" sz="800" b="0" strike="noStrike" spc="-1">
                <a:solidFill>
                  <a:srgbClr val="333333"/>
                </a:solidFill>
                <a:latin typeface="Calibri"/>
                <a:ea typeface="Calibri"/>
              </a:rPr>
              <a:t>Virtual server has no available pool members or the VS itself is misconfigured</a:t>
            </a:r>
            <a:endParaRPr lang="en-US" sz="800" b="0" strike="noStrike" spc="-1">
              <a:solidFill>
                <a:srgbClr val="000000"/>
              </a:solidFill>
              <a:latin typeface="Arial"/>
            </a:endParaRPr>
          </a:p>
          <a:p>
            <a:pPr defTabSz="914400">
              <a:lnSpc>
                <a:spcPct val="100000"/>
              </a:lnSpc>
              <a:tabLst>
                <a:tab pos="0" algn="l"/>
              </a:tabLst>
            </a:pPr>
            <a:r>
              <a:rPr lang="en-US" sz="800" b="1" strike="noStrike" spc="-1">
                <a:solidFill>
                  <a:srgbClr val="009639"/>
                </a:solidFill>
                <a:latin typeface="Calibri"/>
                <a:ea typeface="Calibri"/>
              </a:rPr>
              <a:t>Fix: </a:t>
            </a:r>
            <a:r>
              <a:rPr lang="en-US" sz="750" b="0" strike="noStrike" spc="-1">
                <a:solidFill>
                  <a:srgbClr val="333333"/>
                </a:solidFill>
                <a:latin typeface="Calibri"/>
                <a:ea typeface="Calibri"/>
              </a:rPr>
              <a:t>Check pool member status. Verify VS destination IP and port. Check if pool is assigned to VS.</a:t>
            </a:r>
            <a:endParaRPr lang="en-US" sz="750" b="0" strike="noStrike" spc="-1">
              <a:solidFill>
                <a:srgbClr val="000000"/>
              </a:solidFill>
              <a:latin typeface="Arial"/>
            </a:endParaRPr>
          </a:p>
        </p:txBody>
      </p:sp>
      <p:sp>
        <p:nvSpPr>
          <p:cNvPr id="2242" name="Shape 20"/>
          <p:cNvSpPr/>
          <p:nvPr/>
        </p:nvSpPr>
        <p:spPr>
          <a:xfrm>
            <a:off x="365760" y="3145680"/>
            <a:ext cx="8412120" cy="273960"/>
          </a:xfrm>
          <a:prstGeom prst="rect">
            <a:avLst/>
          </a:prstGeom>
          <a:solidFill>
            <a:srgbClr val="1E293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243" name="Text 21"/>
          <p:cNvSpPr/>
          <p:nvPr/>
        </p:nvSpPr>
        <p:spPr>
          <a:xfrm>
            <a:off x="438840" y="3145680"/>
            <a:ext cx="82659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650" b="0" strike="noStrike" spc="-1">
                <a:solidFill>
                  <a:srgbClr val="A5F3FC"/>
                </a:solidFill>
                <a:latin typeface="Courier New"/>
                <a:ea typeface="Courier New"/>
              </a:rPr>
              <a:t>Jan 15 09:30:44 bigip01 sod[4521]: 01140029:5: HA daemon_heartbeat for device /Common/bigip02 no longer hearing heartbeat.</a:t>
            </a:r>
            <a:endParaRPr lang="en-US" sz="650" b="0" strike="noStrike" spc="-1">
              <a:solidFill>
                <a:srgbClr val="000000"/>
              </a:solidFill>
              <a:latin typeface="Arial"/>
            </a:endParaRPr>
          </a:p>
        </p:txBody>
      </p:sp>
      <p:sp>
        <p:nvSpPr>
          <p:cNvPr id="2244" name="Shape 22"/>
          <p:cNvSpPr/>
          <p:nvPr/>
        </p:nvSpPr>
        <p:spPr>
          <a:xfrm>
            <a:off x="365760" y="3420000"/>
            <a:ext cx="136800" cy="36540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245" name="Text 23"/>
          <p:cNvSpPr/>
          <p:nvPr/>
        </p:nvSpPr>
        <p:spPr>
          <a:xfrm>
            <a:off x="594360" y="3420000"/>
            <a:ext cx="809208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r>
              <a:rPr lang="en-US" sz="800" b="1" strike="noStrike" spc="-1">
                <a:solidFill>
                  <a:srgbClr val="0E41AA"/>
                </a:solidFill>
                <a:latin typeface="Calibri"/>
                <a:ea typeface="Calibri"/>
              </a:rPr>
              <a:t>Issue: </a:t>
            </a:r>
            <a:r>
              <a:rPr lang="en-US" sz="800" b="0" strike="noStrike" spc="-1">
                <a:solidFill>
                  <a:srgbClr val="333333"/>
                </a:solidFill>
                <a:latin typeface="Calibri"/>
                <a:ea typeface="Calibri"/>
              </a:rPr>
              <a:t>Network failover heartbeat lost from peer device</a:t>
            </a:r>
            <a:endParaRPr lang="en-US" sz="800" b="0" strike="noStrike" spc="-1">
              <a:solidFill>
                <a:srgbClr val="000000"/>
              </a:solidFill>
              <a:latin typeface="Arial"/>
            </a:endParaRPr>
          </a:p>
          <a:p>
            <a:pPr defTabSz="914400">
              <a:lnSpc>
                <a:spcPct val="100000"/>
              </a:lnSpc>
              <a:tabLst>
                <a:tab pos="0" algn="l"/>
              </a:tabLst>
            </a:pPr>
            <a:r>
              <a:rPr lang="en-US" sz="800" b="1" strike="noStrike" spc="-1">
                <a:solidFill>
                  <a:srgbClr val="009639"/>
                </a:solidFill>
                <a:latin typeface="Calibri"/>
                <a:ea typeface="Calibri"/>
              </a:rPr>
              <a:t>Fix: </a:t>
            </a:r>
            <a:r>
              <a:rPr lang="en-US" sz="750" b="0" strike="noStrike" spc="-1">
                <a:solidFill>
                  <a:srgbClr val="333333"/>
                </a:solidFill>
                <a:latin typeface="Calibri"/>
                <a:ea typeface="Calibri"/>
              </a:rPr>
              <a:t>Check HA VLAN link status. Verify port lockdown (UDP 1026). Check peer device status. Check cables.</a:t>
            </a:r>
            <a:endParaRPr lang="en-US" sz="750" b="0" strike="noStrike" spc="-1">
              <a:solidFill>
                <a:srgbClr val="000000"/>
              </a:solidFill>
              <a:latin typeface="Arial"/>
            </a:endParaRPr>
          </a:p>
        </p:txBody>
      </p:sp>
      <p:sp>
        <p:nvSpPr>
          <p:cNvPr id="2246" name="Shape 24"/>
          <p:cNvSpPr/>
          <p:nvPr/>
        </p:nvSpPr>
        <p:spPr>
          <a:xfrm>
            <a:off x="365760" y="3858840"/>
            <a:ext cx="8412120" cy="273960"/>
          </a:xfrm>
          <a:prstGeom prst="rect">
            <a:avLst/>
          </a:prstGeom>
          <a:solidFill>
            <a:srgbClr val="1E293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247" name="Text 25"/>
          <p:cNvSpPr/>
          <p:nvPr/>
        </p:nvSpPr>
        <p:spPr>
          <a:xfrm>
            <a:off x="438840" y="3858840"/>
            <a:ext cx="82659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650" b="0" strike="noStrike" spc="-1">
                <a:solidFill>
                  <a:srgbClr val="A5F3FC"/>
                </a:solidFill>
                <a:latin typeface="Courier New"/>
                <a:ea typeface="Courier New"/>
              </a:rPr>
              <a:t>Jan 15 09:31:02 bigip01 mcpd[6543]: 01071431:4: Config sync: device-group /Common/my_device_group: connected device bigip02 is not in sync.</a:t>
            </a:r>
            <a:endParaRPr lang="en-US" sz="650" b="0" strike="noStrike" spc="-1">
              <a:solidFill>
                <a:srgbClr val="000000"/>
              </a:solidFill>
              <a:latin typeface="Arial"/>
            </a:endParaRPr>
          </a:p>
        </p:txBody>
      </p:sp>
      <p:sp>
        <p:nvSpPr>
          <p:cNvPr id="2248" name="Shape 26"/>
          <p:cNvSpPr/>
          <p:nvPr/>
        </p:nvSpPr>
        <p:spPr>
          <a:xfrm>
            <a:off x="365760" y="4133160"/>
            <a:ext cx="136800" cy="365400"/>
          </a:xfrm>
          <a:prstGeom prst="rect">
            <a:avLst/>
          </a:prstGeom>
          <a:solidFill>
            <a:srgbClr val="00963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249" name="Text 27"/>
          <p:cNvSpPr/>
          <p:nvPr/>
        </p:nvSpPr>
        <p:spPr>
          <a:xfrm>
            <a:off x="594360" y="4133160"/>
            <a:ext cx="809208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r>
              <a:rPr lang="en-US" sz="800" b="1" strike="noStrike" spc="-1">
                <a:solidFill>
                  <a:srgbClr val="009639"/>
                </a:solidFill>
                <a:latin typeface="Calibri"/>
                <a:ea typeface="Calibri"/>
              </a:rPr>
              <a:t>Issue: </a:t>
            </a:r>
            <a:r>
              <a:rPr lang="en-US" sz="800" b="0" strike="noStrike" spc="-1">
                <a:solidFill>
                  <a:srgbClr val="333333"/>
                </a:solidFill>
                <a:latin typeface="Calibri"/>
                <a:ea typeface="Calibri"/>
              </a:rPr>
              <a:t>Configuration out of sync between HA peers (Changes Pending)</a:t>
            </a:r>
            <a:endParaRPr lang="en-US" sz="800" b="0" strike="noStrike" spc="-1">
              <a:solidFill>
                <a:srgbClr val="000000"/>
              </a:solidFill>
              <a:latin typeface="Arial"/>
            </a:endParaRPr>
          </a:p>
          <a:p>
            <a:pPr defTabSz="914400">
              <a:lnSpc>
                <a:spcPct val="100000"/>
              </a:lnSpc>
              <a:tabLst>
                <a:tab pos="0" algn="l"/>
              </a:tabLst>
            </a:pPr>
            <a:r>
              <a:rPr lang="en-US" sz="800" b="1" strike="noStrike" spc="-1">
                <a:solidFill>
                  <a:srgbClr val="009639"/>
                </a:solidFill>
                <a:latin typeface="Calibri"/>
                <a:ea typeface="Calibri"/>
              </a:rPr>
              <a:t>Fix: </a:t>
            </a:r>
            <a:r>
              <a:rPr lang="en-US" sz="750" b="0" strike="noStrike" spc="-1">
                <a:solidFill>
                  <a:srgbClr val="333333"/>
                </a:solidFill>
                <a:latin typeface="Calibri"/>
                <a:ea typeface="Calibri"/>
              </a:rPr>
              <a:t>Run config sync: Device Mgmt &gt; Overview &gt; Sync Device to Group. Check for dependency errors.</a:t>
            </a:r>
            <a:endParaRPr lang="en-US" sz="750" b="0" strike="noStrike" spc="-1">
              <a:solidFill>
                <a:srgbClr val="000000"/>
              </a:solidFill>
              <a:latin typeface="Arial"/>
            </a:endParaRPr>
          </a:p>
        </p:txBody>
      </p:sp>
      <p:sp>
        <p:nvSpPr>
          <p:cNvPr id="2250" name="Shape 28"/>
          <p:cNvSpPr/>
          <p:nvPr/>
        </p:nvSpPr>
        <p:spPr>
          <a:xfrm>
            <a:off x="365760" y="4572000"/>
            <a:ext cx="8412120" cy="109440"/>
          </a:xfrm>
          <a:prstGeom prst="rect">
            <a:avLst/>
          </a:prstGeom>
          <a:solidFill>
            <a:srgbClr val="E8F0F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251" name="Text 29"/>
          <p:cNvSpPr/>
          <p:nvPr/>
        </p:nvSpPr>
        <p:spPr>
          <a:xfrm>
            <a:off x="548640" y="4572000"/>
            <a:ext cx="804636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700" b="1" strike="noStrike" spc="-1">
                <a:solidFill>
                  <a:srgbClr val="0E41AA"/>
                </a:solidFill>
                <a:latin typeface="Calibri"/>
                <a:ea typeface="Calibri"/>
              </a:rPr>
              <a:t>Log format: timestamp hostname daemon[pid]: errorcode:severity: message.  Severity 5=notice, 4=warning, 3=error, 7=debug</a:t>
            </a:r>
            <a:endParaRPr lang="en-US" sz="700" b="0" strike="noStrike" spc="-1">
              <a:solidFill>
                <a:srgbClr val="000000"/>
              </a:solidFill>
              <a:latin typeface="Arial"/>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52"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253"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254"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255"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256"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257"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103    © 2026 F5</a:t>
            </a:r>
            <a:endParaRPr lang="en-US" sz="800" b="0" strike="noStrike" spc="-1">
              <a:solidFill>
                <a:srgbClr val="000000"/>
              </a:solidFill>
              <a:latin typeface="Arial"/>
            </a:endParaRPr>
          </a:p>
        </p:txBody>
      </p:sp>
      <p:pic>
        <p:nvPicPr>
          <p:cNvPr id="2258" name="Image 0" descr="preencoded.png"/>
          <p:cNvPicPr/>
          <p:nvPr/>
        </p:nvPicPr>
        <p:blipFill>
          <a:blip r:embed="rId3"/>
          <a:stretch/>
        </p:blipFill>
        <p:spPr>
          <a:xfrm>
            <a:off x="8458200" y="4663440"/>
            <a:ext cx="383760" cy="383760"/>
          </a:xfrm>
          <a:prstGeom prst="rect">
            <a:avLst/>
          </a:prstGeom>
          <a:ln w="0">
            <a:noFill/>
          </a:ln>
        </p:spPr>
      </p:pic>
      <p:sp>
        <p:nvSpPr>
          <p:cNvPr id="2259" name="Text 6"/>
          <p:cNvSpPr/>
          <p:nvPr/>
        </p:nvSpPr>
        <p:spPr>
          <a:xfrm>
            <a:off x="457200" y="274320"/>
            <a:ext cx="73148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Lab 11 — Hands-on exercises</a:t>
            </a:r>
            <a:endParaRPr lang="en-US" sz="2800" b="0" strike="noStrike" spc="-1">
              <a:solidFill>
                <a:srgbClr val="000000"/>
              </a:solidFill>
              <a:latin typeface="Arial"/>
            </a:endParaRPr>
          </a:p>
        </p:txBody>
      </p:sp>
      <p:sp>
        <p:nvSpPr>
          <p:cNvPr id="2260" name="Text 7"/>
          <p:cNvSpPr/>
          <p:nvPr/>
        </p:nvSpPr>
        <p:spPr>
          <a:xfrm>
            <a:off x="457200" y="658440"/>
            <a:ext cx="73148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009639"/>
                </a:solidFill>
                <a:latin typeface="Calibri"/>
                <a:ea typeface="Calibri"/>
              </a:rPr>
              <a:t>30 minutes  |  Lab guide: Module 11</a:t>
            </a:r>
            <a:endParaRPr lang="en-US" sz="1400" b="0" strike="noStrike" spc="-1">
              <a:solidFill>
                <a:srgbClr val="000000"/>
              </a:solidFill>
              <a:latin typeface="Arial"/>
            </a:endParaRPr>
          </a:p>
        </p:txBody>
      </p:sp>
      <p:graphicFrame>
        <p:nvGraphicFramePr>
          <p:cNvPr id="2261" name="Table 0"/>
          <p:cNvGraphicFramePr/>
          <p:nvPr/>
        </p:nvGraphicFramePr>
        <p:xfrm>
          <a:off x="365760" y="960120"/>
          <a:ext cx="7772400" cy="1463040"/>
        </p:xfrm>
        <a:graphic>
          <a:graphicData uri="http://schemas.openxmlformats.org/drawingml/2006/table">
            <a:tbl>
              <a:tblPr/>
              <a:tblGrid>
                <a:gridCol w="32004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5486400">
                  <a:extLst>
                    <a:ext uri="{9D8B030D-6E8A-4147-A177-3AD203B41FA5}">
                      <a16:colId xmlns:a16="http://schemas.microsoft.com/office/drawing/2014/main" val="20002"/>
                    </a:ext>
                  </a:extLst>
                </a:gridCol>
                <a:gridCol w="594360">
                  <a:extLst>
                    <a:ext uri="{9D8B030D-6E8A-4147-A177-3AD203B41FA5}">
                      <a16:colId xmlns:a16="http://schemas.microsoft.com/office/drawing/2014/main" val="20003"/>
                    </a:ext>
                  </a:extLst>
                </a:gridCol>
              </a:tblGrid>
              <a:tr h="274320">
                <a:tc>
                  <a:txBody>
                    <a:bodyPr/>
                    <a:lstStyle/>
                    <a:p>
                      <a:pPr algn="ctr" defTabSz="914400">
                        <a:lnSpc>
                          <a:spcPct val="100000"/>
                        </a:lnSpc>
                        <a:tabLst>
                          <a:tab pos="0" algn="l"/>
                        </a:tabLst>
                      </a:pPr>
                      <a:r>
                        <a:rPr lang="en-US" sz="1000" b="1" strike="noStrike" spc="-1">
                          <a:solidFill>
                            <a:srgbClr val="FFFFFF"/>
                          </a:solidFill>
                          <a:latin typeface="Calibri"/>
                        </a:rPr>
                        <a:t>#</a:t>
                      </a:r>
                      <a:endParaRPr lang="en-US" sz="10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09639"/>
                    </a:solidFill>
                  </a:tcPr>
                </a:tc>
                <a:tc>
                  <a:txBody>
                    <a:bodyPr/>
                    <a:lstStyle/>
                    <a:p>
                      <a:pPr defTabSz="914400">
                        <a:lnSpc>
                          <a:spcPct val="100000"/>
                        </a:lnSpc>
                        <a:tabLst>
                          <a:tab pos="0" algn="l"/>
                        </a:tabLst>
                      </a:pPr>
                      <a:r>
                        <a:rPr lang="en-US" sz="1100" b="1" strike="noStrike" spc="-1">
                          <a:solidFill>
                            <a:srgbClr val="FFFFFF"/>
                          </a:solidFill>
                          <a:latin typeface="Calibri"/>
                        </a:rPr>
                        <a:t>Activity</a:t>
                      </a:r>
                      <a:endParaRPr lang="en-US" sz="11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09639"/>
                    </a:solidFill>
                  </a:tcPr>
                </a:tc>
                <a:tc>
                  <a:txBody>
                    <a:bodyPr/>
                    <a:lstStyle/>
                    <a:p>
                      <a:pPr defTabSz="914400">
                        <a:lnSpc>
                          <a:spcPct val="100000"/>
                        </a:lnSpc>
                        <a:tabLst>
                          <a:tab pos="0" algn="l"/>
                        </a:tabLst>
                      </a:pPr>
                      <a:r>
                        <a:rPr lang="en-US" sz="1100" b="1" strike="noStrike" spc="-1">
                          <a:solidFill>
                            <a:srgbClr val="FFFFFF"/>
                          </a:solidFill>
                          <a:latin typeface="Calibri"/>
                        </a:rPr>
                        <a:t>Key tasks</a:t>
                      </a:r>
                      <a:endParaRPr lang="en-US" sz="11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09639"/>
                    </a:solidFill>
                  </a:tcPr>
                </a:tc>
                <a:tc>
                  <a:txBody>
                    <a:bodyPr/>
                    <a:lstStyle/>
                    <a:p>
                      <a:pPr algn="ctr" defTabSz="914400">
                        <a:lnSpc>
                          <a:spcPct val="100000"/>
                        </a:lnSpc>
                        <a:tabLst>
                          <a:tab pos="0" algn="l"/>
                        </a:tabLst>
                      </a:pPr>
                      <a:r>
                        <a:rPr lang="en-US" sz="1000" b="1" strike="noStrike" spc="-1">
                          <a:solidFill>
                            <a:srgbClr val="FFFFFF"/>
                          </a:solidFill>
                          <a:latin typeface="Calibri"/>
                        </a:rPr>
                        <a:t>Time</a:t>
                      </a:r>
                      <a:endParaRPr lang="en-US" sz="10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09639"/>
                    </a:solidFill>
                  </a:tcPr>
                </a:tc>
                <a:extLst>
                  <a:ext uri="{0D108BD9-81ED-4DB2-BD59-A6C34878D82A}">
                    <a16:rowId xmlns:a16="http://schemas.microsoft.com/office/drawing/2014/main" val="10000"/>
                  </a:ext>
                </a:extLst>
              </a:tr>
              <a:tr h="594360">
                <a:tc>
                  <a:txBody>
                    <a:bodyPr/>
                    <a:lstStyle/>
                    <a:p>
                      <a:pPr algn="ctr" defTabSz="914400">
                        <a:lnSpc>
                          <a:spcPct val="100000"/>
                        </a:lnSpc>
                        <a:tabLst>
                          <a:tab pos="0" algn="l"/>
                        </a:tabLst>
                      </a:pPr>
                      <a:r>
                        <a:rPr lang="en-US" sz="1100" b="0" strike="noStrike" spc="-1">
                          <a:solidFill>
                            <a:srgbClr val="000000"/>
                          </a:solidFill>
                          <a:latin typeface="Calibri"/>
                        </a:rPr>
                        <a:t>1</a:t>
                      </a:r>
                      <a:endParaRPr lang="en-US" sz="11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1100" b="1" strike="noStrike" spc="-1">
                          <a:solidFill>
                            <a:srgbClr val="000000"/>
                          </a:solidFill>
                          <a:latin typeface="Calibri"/>
                        </a:rPr>
                        <a:t>Security Features</a:t>
                      </a:r>
                      <a:endParaRPr lang="en-US" sz="11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800" b="0" strike="noStrike" spc="-1">
                          <a:solidFill>
                            <a:srgbClr val="333333"/>
                          </a:solidFill>
                          <a:latin typeface="Calibri"/>
                        </a:rPr>
                        <a:t>Enable audit logging. Make change as adminuser. Review audit log. Restrict SSH to 10.1.10.0/24, then 10.1.1.0/24. Test SSH access from both networks.</a:t>
                      </a:r>
                      <a:endParaRPr lang="en-US" sz="8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algn="ctr" defTabSz="914400">
                        <a:lnSpc>
                          <a:spcPct val="100000"/>
                        </a:lnSpc>
                        <a:tabLst>
                          <a:tab pos="0" algn="l"/>
                        </a:tabLst>
                      </a:pPr>
                      <a:r>
                        <a:rPr lang="en-US" sz="1000" b="0" strike="noStrike" spc="-1">
                          <a:solidFill>
                            <a:srgbClr val="666666"/>
                          </a:solidFill>
                          <a:latin typeface="Calibri"/>
                        </a:rPr>
                        <a:t>10m</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1"/>
                  </a:ext>
                </a:extLst>
              </a:tr>
              <a:tr h="594360">
                <a:tc>
                  <a:txBody>
                    <a:bodyPr/>
                    <a:lstStyle/>
                    <a:p>
                      <a:pPr algn="ctr" defTabSz="914400">
                        <a:lnSpc>
                          <a:spcPct val="100000"/>
                        </a:lnSpc>
                        <a:tabLst>
                          <a:tab pos="0" algn="l"/>
                        </a:tabLst>
                      </a:pPr>
                      <a:r>
                        <a:rPr lang="en-US" sz="1100" b="0" strike="noStrike" spc="-1">
                          <a:solidFill>
                            <a:srgbClr val="000000"/>
                          </a:solidFill>
                          <a:latin typeface="Calibri"/>
                        </a:rPr>
                        <a:t>2</a:t>
                      </a:r>
                      <a:endParaRPr lang="en-US" sz="11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1100" b="1" strike="noStrike" spc="-1">
                          <a:solidFill>
                            <a:srgbClr val="000000"/>
                          </a:solidFill>
                          <a:latin typeface="Calibri"/>
                        </a:rPr>
                        <a:t>Remote Logging</a:t>
                      </a:r>
                      <a:endParaRPr lang="en-US" sz="11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800" b="0" strike="noStrike" spc="-1">
                          <a:solidFill>
                            <a:srgbClr val="333333"/>
                          </a:solidFill>
                          <a:latin typeface="Calibri"/>
                        </a:rPr>
                        <a:t>Create logging_pool (10.1.20.252:514, inband+active monitors). Create HSL dest → formatted dest → publisher → mcpd filter. Disable pool member → verify on syslog server.</a:t>
                      </a:r>
                      <a:endParaRPr lang="en-US" sz="8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algn="ctr" defTabSz="914400">
                        <a:lnSpc>
                          <a:spcPct val="100000"/>
                        </a:lnSpc>
                        <a:tabLst>
                          <a:tab pos="0" algn="l"/>
                        </a:tabLst>
                      </a:pPr>
                      <a:r>
                        <a:rPr lang="en-US" sz="1000" b="0" strike="noStrike" spc="-1">
                          <a:solidFill>
                            <a:srgbClr val="666666"/>
                          </a:solidFill>
                          <a:latin typeface="Calibri"/>
                        </a:rPr>
                        <a:t>20m</a:t>
                      </a:r>
                      <a:endParaRPr lang="en-US" sz="10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2"/>
                  </a:ext>
                </a:extLst>
              </a:tr>
            </a:tbl>
          </a:graphicData>
        </a:graphic>
      </p:graphicFrame>
      <p:sp>
        <p:nvSpPr>
          <p:cNvPr id="2262" name="Shape 8"/>
          <p:cNvSpPr/>
          <p:nvPr/>
        </p:nvSpPr>
        <p:spPr>
          <a:xfrm>
            <a:off x="365760" y="2468880"/>
            <a:ext cx="8412120" cy="365400"/>
          </a:xfrm>
          <a:prstGeom prst="rect">
            <a:avLst/>
          </a:prstGeom>
          <a:solidFill>
            <a:srgbClr val="FFF3E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263" name="Text 9"/>
          <p:cNvSpPr/>
          <p:nvPr/>
        </p:nvSpPr>
        <p:spPr>
          <a:xfrm>
            <a:off x="548640" y="2487240"/>
            <a:ext cx="80463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strike="noStrike" spc="-1">
                <a:solidFill>
                  <a:srgbClr val="F29A36"/>
                </a:solidFill>
                <a:latin typeface="Calibri"/>
                <a:ea typeface="Calibri"/>
              </a:rPr>
              <a:t>Activity 2 monitor trick: </a:t>
            </a:r>
            <a:r>
              <a:rPr lang="en-US" sz="800" b="0" strike="noStrike" spc="-1">
                <a:solidFill>
                  <a:srgbClr val="7A4500"/>
                </a:solidFill>
                <a:latin typeface="Calibri"/>
                <a:ea typeface="Calibri"/>
              </a:rPr>
              <a:t>Inband monitor uses actual traffic to check syslog health (no extra probe traffic). Active monitor polls every 180s as backup. Together they reduce noise while ensuring fast recovery.</a:t>
            </a:r>
            <a:endParaRPr lang="en-US" sz="800" b="0" strike="noStrike" spc="-1">
              <a:solidFill>
                <a:srgbClr val="000000"/>
              </a:solidFill>
              <a:latin typeface="Arial"/>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64"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265"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266"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267"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268"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269"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104    © 2026 F5</a:t>
            </a:r>
            <a:endParaRPr lang="en-US" sz="800" b="0" strike="noStrike" spc="-1">
              <a:solidFill>
                <a:srgbClr val="000000"/>
              </a:solidFill>
              <a:latin typeface="Arial"/>
            </a:endParaRPr>
          </a:p>
        </p:txBody>
      </p:sp>
      <p:pic>
        <p:nvPicPr>
          <p:cNvPr id="2270" name="Image 0" descr="preencoded.png"/>
          <p:cNvPicPr/>
          <p:nvPr/>
        </p:nvPicPr>
        <p:blipFill>
          <a:blip r:embed="rId3"/>
          <a:stretch/>
        </p:blipFill>
        <p:spPr>
          <a:xfrm>
            <a:off x="8458200" y="4663440"/>
            <a:ext cx="383760" cy="383760"/>
          </a:xfrm>
          <a:prstGeom prst="rect">
            <a:avLst/>
          </a:prstGeom>
          <a:ln w="0">
            <a:noFill/>
          </a:ln>
        </p:spPr>
      </p:pic>
      <p:sp>
        <p:nvSpPr>
          <p:cNvPr id="2271" name="Text 6"/>
          <p:cNvSpPr/>
          <p:nvPr/>
        </p:nvSpPr>
        <p:spPr>
          <a:xfrm>
            <a:off x="457200" y="274320"/>
            <a:ext cx="82292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Exam checkpoints</a:t>
            </a:r>
            <a:endParaRPr lang="en-US" sz="2800" b="0" strike="noStrike" spc="-1">
              <a:solidFill>
                <a:srgbClr val="000000"/>
              </a:solidFill>
              <a:latin typeface="Arial"/>
            </a:endParaRPr>
          </a:p>
        </p:txBody>
      </p:sp>
      <p:sp>
        <p:nvSpPr>
          <p:cNvPr id="2272" name="Shape 7"/>
          <p:cNvSpPr/>
          <p:nvPr/>
        </p:nvSpPr>
        <p:spPr>
          <a:xfrm>
            <a:off x="457200" y="777240"/>
            <a:ext cx="365400" cy="22824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273" name="Text 8"/>
          <p:cNvSpPr/>
          <p:nvPr/>
        </p:nvSpPr>
        <p:spPr>
          <a:xfrm>
            <a:off x="457200" y="777240"/>
            <a:ext cx="3654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strike="noStrike" spc="-1">
                <a:solidFill>
                  <a:srgbClr val="FFFFFF"/>
                </a:solidFill>
                <a:latin typeface="Arial"/>
                <a:ea typeface="Arial"/>
              </a:rPr>
              <a:t>Q1</a:t>
            </a:r>
            <a:endParaRPr lang="en-US" sz="1000" b="0" strike="noStrike" spc="-1">
              <a:solidFill>
                <a:srgbClr val="000000"/>
              </a:solidFill>
              <a:latin typeface="Arial"/>
            </a:endParaRPr>
          </a:p>
        </p:txBody>
      </p:sp>
      <p:sp>
        <p:nvSpPr>
          <p:cNvPr id="2274" name="Text 9"/>
          <p:cNvSpPr/>
          <p:nvPr/>
        </p:nvSpPr>
        <p:spPr>
          <a:xfrm>
            <a:off x="914400" y="777240"/>
            <a:ext cx="786348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333333"/>
                </a:solidFill>
                <a:latin typeface="Calibri"/>
                <a:ea typeface="Calibri"/>
              </a:rPr>
              <a:t>A pool member is marked down. Which log file do you check first, and what grep pattern do you use?</a:t>
            </a:r>
            <a:endParaRPr lang="en-US" sz="1000" b="0" strike="noStrike" spc="-1">
              <a:solidFill>
                <a:srgbClr val="000000"/>
              </a:solidFill>
              <a:latin typeface="Arial"/>
            </a:endParaRPr>
          </a:p>
        </p:txBody>
      </p:sp>
      <p:sp>
        <p:nvSpPr>
          <p:cNvPr id="2275" name="Shape 10"/>
          <p:cNvSpPr/>
          <p:nvPr/>
        </p:nvSpPr>
        <p:spPr>
          <a:xfrm>
            <a:off x="457200" y="1554480"/>
            <a:ext cx="365400" cy="22824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276" name="Text 11"/>
          <p:cNvSpPr/>
          <p:nvPr/>
        </p:nvSpPr>
        <p:spPr>
          <a:xfrm>
            <a:off x="457200" y="1554480"/>
            <a:ext cx="3654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strike="noStrike" spc="-1">
                <a:solidFill>
                  <a:srgbClr val="FFFFFF"/>
                </a:solidFill>
                <a:latin typeface="Arial"/>
                <a:ea typeface="Arial"/>
              </a:rPr>
              <a:t>Q2</a:t>
            </a:r>
            <a:endParaRPr lang="en-US" sz="1000" b="0" strike="noStrike" spc="-1">
              <a:solidFill>
                <a:srgbClr val="000000"/>
              </a:solidFill>
              <a:latin typeface="Arial"/>
            </a:endParaRPr>
          </a:p>
        </p:txBody>
      </p:sp>
      <p:sp>
        <p:nvSpPr>
          <p:cNvPr id="2277" name="Text 12"/>
          <p:cNvSpPr/>
          <p:nvPr/>
        </p:nvSpPr>
        <p:spPr>
          <a:xfrm>
            <a:off x="914400" y="1554480"/>
            <a:ext cx="786348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333333"/>
                </a:solidFill>
                <a:latin typeface="Calibri"/>
                <a:ea typeface="Calibri"/>
              </a:rPr>
              <a:t>You need custom alerts to survive a BIG-IP software upgrade. Which config file do you edit, and which file must you NOT modify?</a:t>
            </a:r>
            <a:endParaRPr lang="en-US" sz="1000" b="0" strike="noStrike" spc="-1">
              <a:solidFill>
                <a:srgbClr val="000000"/>
              </a:solidFill>
              <a:latin typeface="Arial"/>
            </a:endParaRPr>
          </a:p>
        </p:txBody>
      </p:sp>
      <p:sp>
        <p:nvSpPr>
          <p:cNvPr id="2278" name="Shape 13"/>
          <p:cNvSpPr/>
          <p:nvPr/>
        </p:nvSpPr>
        <p:spPr>
          <a:xfrm>
            <a:off x="457200" y="2331720"/>
            <a:ext cx="365400" cy="22824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279" name="Text 14"/>
          <p:cNvSpPr/>
          <p:nvPr/>
        </p:nvSpPr>
        <p:spPr>
          <a:xfrm>
            <a:off x="457200" y="2331720"/>
            <a:ext cx="3654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strike="noStrike" spc="-1">
                <a:solidFill>
                  <a:srgbClr val="FFFFFF"/>
                </a:solidFill>
                <a:latin typeface="Arial"/>
                <a:ea typeface="Arial"/>
              </a:rPr>
              <a:t>Q3</a:t>
            </a:r>
            <a:endParaRPr lang="en-US" sz="1000" b="0" strike="noStrike" spc="-1">
              <a:solidFill>
                <a:srgbClr val="000000"/>
              </a:solidFill>
              <a:latin typeface="Arial"/>
            </a:endParaRPr>
          </a:p>
        </p:txBody>
      </p:sp>
      <p:sp>
        <p:nvSpPr>
          <p:cNvPr id="2280" name="Text 15"/>
          <p:cNvSpPr/>
          <p:nvPr/>
        </p:nvSpPr>
        <p:spPr>
          <a:xfrm>
            <a:off x="914400" y="2331720"/>
            <a:ext cx="786348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333333"/>
                </a:solidFill>
                <a:latin typeface="Calibri"/>
                <a:ea typeface="Calibri"/>
              </a:rPr>
              <a:t>You want to send an SNMP trap when a specific pool has no available members. How do you configure this?</a:t>
            </a:r>
            <a:endParaRPr lang="en-US" sz="1000" b="0" strike="noStrike" spc="-1">
              <a:solidFill>
                <a:srgbClr val="000000"/>
              </a:solidFill>
              <a:latin typeface="Arial"/>
            </a:endParaRPr>
          </a:p>
        </p:txBody>
      </p:sp>
      <p:sp>
        <p:nvSpPr>
          <p:cNvPr id="2281" name="Shape 16"/>
          <p:cNvSpPr/>
          <p:nvPr/>
        </p:nvSpPr>
        <p:spPr>
          <a:xfrm>
            <a:off x="457200" y="3108960"/>
            <a:ext cx="365400" cy="22824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282" name="Text 17"/>
          <p:cNvSpPr/>
          <p:nvPr/>
        </p:nvSpPr>
        <p:spPr>
          <a:xfrm>
            <a:off x="457200" y="3108960"/>
            <a:ext cx="3654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strike="noStrike" spc="-1">
                <a:solidFill>
                  <a:srgbClr val="FFFFFF"/>
                </a:solidFill>
                <a:latin typeface="Arial"/>
                <a:ea typeface="Arial"/>
              </a:rPr>
              <a:t>Q4</a:t>
            </a:r>
            <a:endParaRPr lang="en-US" sz="1000" b="0" strike="noStrike" spc="-1">
              <a:solidFill>
                <a:srgbClr val="000000"/>
              </a:solidFill>
              <a:latin typeface="Arial"/>
            </a:endParaRPr>
          </a:p>
        </p:txBody>
      </p:sp>
      <p:sp>
        <p:nvSpPr>
          <p:cNvPr id="2283" name="Text 18"/>
          <p:cNvSpPr/>
          <p:nvPr/>
        </p:nvSpPr>
        <p:spPr>
          <a:xfrm>
            <a:off x="914400" y="3108960"/>
            <a:ext cx="786348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333333"/>
                </a:solidFill>
                <a:latin typeface="Calibri"/>
                <a:ea typeface="Calibri"/>
              </a:rPr>
              <a:t>How many log destinations are needed for HSL remote syslog? Name them and explain why two are required.</a:t>
            </a:r>
            <a:endParaRPr lang="en-US" sz="1000" b="0" strike="noStrike" spc="-1">
              <a:solidFill>
                <a:srgbClr val="000000"/>
              </a:solidFill>
              <a:latin typeface="Arial"/>
            </a:endParaRPr>
          </a:p>
        </p:txBody>
      </p:sp>
      <p:sp>
        <p:nvSpPr>
          <p:cNvPr id="2284" name="Shape 19"/>
          <p:cNvSpPr/>
          <p:nvPr/>
        </p:nvSpPr>
        <p:spPr>
          <a:xfrm>
            <a:off x="365760" y="3931920"/>
            <a:ext cx="8412120" cy="685440"/>
          </a:xfrm>
          <a:prstGeom prst="rect">
            <a:avLst/>
          </a:prstGeom>
          <a:solidFill>
            <a:srgbClr val="E8F5E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285" name="Text 20"/>
          <p:cNvSpPr/>
          <p:nvPr/>
        </p:nvSpPr>
        <p:spPr>
          <a:xfrm>
            <a:off x="548640" y="3950280"/>
            <a:ext cx="804636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r>
              <a:rPr lang="en-US" sz="1100" b="1" strike="noStrike" spc="-1">
                <a:solidFill>
                  <a:srgbClr val="009639"/>
                </a:solidFill>
                <a:latin typeface="Calibri"/>
                <a:ea typeface="Calibri"/>
              </a:rPr>
              <a:t>Key facts</a:t>
            </a:r>
            <a:endParaRPr lang="en-US" sz="1100" b="0" strike="noStrike" spc="-1">
              <a:solidFill>
                <a:srgbClr val="000000"/>
              </a:solidFill>
              <a:latin typeface="Arial"/>
            </a:endParaRPr>
          </a:p>
          <a:p>
            <a:pPr defTabSz="914400">
              <a:lnSpc>
                <a:spcPct val="100000"/>
              </a:lnSpc>
              <a:tabLst>
                <a:tab pos="0" algn="l"/>
              </a:tabLst>
            </a:pPr>
            <a:r>
              <a:rPr lang="en-US" sz="900" b="0" strike="noStrike" spc="-1">
                <a:solidFill>
                  <a:srgbClr val="1B5E20"/>
                </a:solidFill>
                <a:latin typeface="Calibri"/>
                <a:ea typeface="Calibri"/>
              </a:rPr>
              <a:t>/var/log/ltm = LTM events. /var/log/audit = admin changes. Severity 0–7 (emerg→debug). Never debug in prod.</a:t>
            </a:r>
            <a:endParaRPr lang="en-US" sz="900" b="0" strike="noStrike" spc="-1">
              <a:solidFill>
                <a:srgbClr val="000000"/>
              </a:solidFill>
              <a:latin typeface="Arial"/>
            </a:endParaRPr>
          </a:p>
          <a:p>
            <a:pPr defTabSz="914400">
              <a:lnSpc>
                <a:spcPct val="100000"/>
              </a:lnSpc>
              <a:tabLst>
                <a:tab pos="0" algn="l"/>
              </a:tabLst>
            </a:pPr>
            <a:r>
              <a:rPr lang="en-US" sz="900" b="0" strike="noStrike" spc="-1">
                <a:solidFill>
                  <a:srgbClr val="1B5E20"/>
                </a:solidFill>
                <a:latin typeface="Calibri"/>
                <a:ea typeface="Calibri"/>
              </a:rPr>
              <a:t>/config/user_alert.conf = custom alerts (survives upgrade). /etc/alertd/alert.conf = defaults (DO NOT EDIT).</a:t>
            </a:r>
            <a:endParaRPr lang="en-US" sz="900" b="0" strike="noStrike" spc="-1">
              <a:solidFill>
                <a:srgbClr val="000000"/>
              </a:solidFill>
              <a:latin typeface="Arial"/>
            </a:endParaRPr>
          </a:p>
          <a:p>
            <a:pPr defTabSz="914400">
              <a:lnSpc>
                <a:spcPct val="100000"/>
              </a:lnSpc>
              <a:tabLst>
                <a:tab pos="0" algn="l"/>
              </a:tabLst>
            </a:pPr>
            <a:r>
              <a:rPr lang="en-US" sz="900" b="0" strike="noStrike" spc="-1">
                <a:solidFill>
                  <a:srgbClr val="1B5E20"/>
                </a:solidFill>
                <a:latin typeface="Calibri"/>
                <a:ea typeface="Calibri"/>
              </a:rPr>
              <a:t>HSL = 2 destinations (HSL + Formatted) → 1 publisher → filter/profile.</a:t>
            </a:r>
            <a:endParaRPr lang="en-US" sz="900" b="0" strike="noStrike" spc="-1">
              <a:solidFill>
                <a:srgbClr val="000000"/>
              </a:solidFill>
              <a:latin typeface="Arial"/>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86"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287"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288"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289"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290"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291"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105    © 2026 F5</a:t>
            </a:r>
            <a:endParaRPr lang="en-US" sz="800" b="0" strike="noStrike" spc="-1">
              <a:solidFill>
                <a:srgbClr val="000000"/>
              </a:solidFill>
              <a:latin typeface="Arial"/>
            </a:endParaRPr>
          </a:p>
        </p:txBody>
      </p:sp>
      <p:pic>
        <p:nvPicPr>
          <p:cNvPr id="2292" name="Image 0" descr="preencoded.png"/>
          <p:cNvPicPr/>
          <p:nvPr/>
        </p:nvPicPr>
        <p:blipFill>
          <a:blip r:embed="rId3"/>
          <a:stretch/>
        </p:blipFill>
        <p:spPr>
          <a:xfrm>
            <a:off x="8458200" y="4663440"/>
            <a:ext cx="383760" cy="383760"/>
          </a:xfrm>
          <a:prstGeom prst="rect">
            <a:avLst/>
          </a:prstGeom>
          <a:ln w="0">
            <a:noFill/>
          </a:ln>
        </p:spPr>
      </p:pic>
      <p:sp>
        <p:nvSpPr>
          <p:cNvPr id="2293" name="Text 6"/>
          <p:cNvSpPr/>
          <p:nvPr/>
        </p:nvSpPr>
        <p:spPr>
          <a:xfrm>
            <a:off x="457200" y="274320"/>
            <a:ext cx="82292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Logging and security reference</a:t>
            </a:r>
            <a:endParaRPr lang="en-US" sz="2800" b="0" strike="noStrike" spc="-1">
              <a:solidFill>
                <a:srgbClr val="000000"/>
              </a:solidFill>
              <a:latin typeface="Arial"/>
            </a:endParaRPr>
          </a:p>
        </p:txBody>
      </p:sp>
      <p:graphicFrame>
        <p:nvGraphicFramePr>
          <p:cNvPr id="2294" name="Table 0"/>
          <p:cNvGraphicFramePr/>
          <p:nvPr/>
        </p:nvGraphicFramePr>
        <p:xfrm>
          <a:off x="365760" y="731520"/>
          <a:ext cx="8412480" cy="2727960"/>
        </p:xfrm>
        <a:graphic>
          <a:graphicData uri="http://schemas.openxmlformats.org/drawingml/2006/table">
            <a:tbl>
              <a:tblPr/>
              <a:tblGrid>
                <a:gridCol w="1554480">
                  <a:extLst>
                    <a:ext uri="{9D8B030D-6E8A-4147-A177-3AD203B41FA5}">
                      <a16:colId xmlns:a16="http://schemas.microsoft.com/office/drawing/2014/main" val="20000"/>
                    </a:ext>
                  </a:extLst>
                </a:gridCol>
                <a:gridCol w="6858000">
                  <a:extLst>
                    <a:ext uri="{9D8B030D-6E8A-4147-A177-3AD203B41FA5}">
                      <a16:colId xmlns:a16="http://schemas.microsoft.com/office/drawing/2014/main" val="20001"/>
                    </a:ext>
                  </a:extLst>
                </a:gridCol>
              </a:tblGrid>
              <a:tr h="0">
                <a:tc>
                  <a:txBody>
                    <a:bodyPr/>
                    <a:lstStyle/>
                    <a:p>
                      <a:pPr defTabSz="914400">
                        <a:lnSpc>
                          <a:spcPct val="100000"/>
                        </a:lnSpc>
                        <a:tabLst>
                          <a:tab pos="0" algn="l"/>
                        </a:tabLst>
                      </a:pPr>
                      <a:r>
                        <a:rPr lang="en-US" sz="800" b="1" strike="noStrike" spc="-1">
                          <a:solidFill>
                            <a:srgbClr val="FFFFFF"/>
                          </a:solidFill>
                          <a:latin typeface="Calibri"/>
                        </a:rPr>
                        <a:t>Task</a:t>
                      </a:r>
                      <a:endParaRPr lang="en-US" sz="8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E41AA"/>
                    </a:solidFill>
                  </a:tcPr>
                </a:tc>
                <a:tc>
                  <a:txBody>
                    <a:bodyPr/>
                    <a:lstStyle/>
                    <a:p>
                      <a:pPr defTabSz="914400">
                        <a:lnSpc>
                          <a:spcPct val="100000"/>
                        </a:lnSpc>
                        <a:tabLst>
                          <a:tab pos="0" algn="l"/>
                        </a:tabLst>
                      </a:pPr>
                      <a:r>
                        <a:rPr lang="en-US" sz="800" b="1" strike="noStrike" spc="-1">
                          <a:solidFill>
                            <a:srgbClr val="FFFFFF"/>
                          </a:solidFill>
                          <a:latin typeface="Calibri"/>
                        </a:rPr>
                        <a:t>Command / Path</a:t>
                      </a:r>
                      <a:endParaRPr lang="en-US" sz="8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E41AA"/>
                    </a:solidFill>
                  </a:tcPr>
                </a:tc>
                <a:extLst>
                  <a:ext uri="{0D108BD9-81ED-4DB2-BD59-A6C34878D82A}">
                    <a16:rowId xmlns:a16="http://schemas.microsoft.com/office/drawing/2014/main" val="10000"/>
                  </a:ext>
                </a:extLst>
              </a:tr>
              <a:tr h="0">
                <a:tc>
                  <a:txBody>
                    <a:bodyPr/>
                    <a:lstStyle/>
                    <a:p>
                      <a:pPr defTabSz="914400">
                        <a:lnSpc>
                          <a:spcPct val="100000"/>
                        </a:lnSpc>
                        <a:tabLst>
                          <a:tab pos="0" algn="l"/>
                        </a:tabLst>
                      </a:pPr>
                      <a:r>
                        <a:rPr lang="en-US" sz="900" b="1" strike="noStrike" spc="-1">
                          <a:solidFill>
                            <a:srgbClr val="000000"/>
                          </a:solidFill>
                          <a:latin typeface="Calibri"/>
                        </a:rPr>
                        <a:t>View LTM log</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800" b="0" strike="noStrike" spc="-1">
                          <a:solidFill>
                            <a:srgbClr val="000000"/>
                          </a:solidFill>
                          <a:latin typeface="Courier New"/>
                          <a:ea typeface="Courier New"/>
                        </a:rPr>
                        <a:t>tail -f /var/log/ltm | grep -i 'pattern'</a:t>
                      </a:r>
                      <a:endParaRPr lang="en-US" sz="8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1"/>
                  </a:ext>
                </a:extLst>
              </a:tr>
              <a:tr h="0">
                <a:tc>
                  <a:txBody>
                    <a:bodyPr/>
                    <a:lstStyle/>
                    <a:p>
                      <a:pPr defTabSz="914400">
                        <a:lnSpc>
                          <a:spcPct val="100000"/>
                        </a:lnSpc>
                        <a:tabLst>
                          <a:tab pos="0" algn="l"/>
                        </a:tabLst>
                      </a:pPr>
                      <a:r>
                        <a:rPr lang="en-US" sz="900" b="0" strike="noStrike" spc="-1">
                          <a:solidFill>
                            <a:srgbClr val="000000"/>
                          </a:solidFill>
                          <a:latin typeface="Calibri"/>
                        </a:rPr>
                        <a:t>View audit log</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800" b="0" strike="noStrike" spc="-1">
                          <a:solidFill>
                            <a:srgbClr val="000000"/>
                          </a:solidFill>
                          <a:latin typeface="Courier New"/>
                          <a:ea typeface="Courier New"/>
                        </a:rPr>
                        <a:t>tail -f /var/log/audit | grep 'username'</a:t>
                      </a:r>
                      <a:endParaRPr lang="en-US" sz="8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2"/>
                  </a:ext>
                </a:extLst>
              </a:tr>
              <a:tr h="0">
                <a:tc>
                  <a:txBody>
                    <a:bodyPr/>
                    <a:lstStyle/>
                    <a:p>
                      <a:pPr defTabSz="914400">
                        <a:lnSpc>
                          <a:spcPct val="100000"/>
                        </a:lnSpc>
                        <a:tabLst>
                          <a:tab pos="0" algn="l"/>
                        </a:tabLst>
                      </a:pPr>
                      <a:r>
                        <a:rPr lang="en-US" sz="900" b="0" strike="noStrike" spc="-1">
                          <a:solidFill>
                            <a:srgbClr val="000000"/>
                          </a:solidFill>
                          <a:latin typeface="Calibri"/>
                        </a:rPr>
                        <a:t>Enable audit logging</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800" b="0" strike="noStrike" spc="-1">
                          <a:solidFill>
                            <a:srgbClr val="000000"/>
                          </a:solidFill>
                          <a:latin typeface="Courier New"/>
                          <a:ea typeface="Courier New"/>
                        </a:rPr>
                        <a:t>modify sys db audit.forward.destination value enable</a:t>
                      </a:r>
                      <a:endParaRPr lang="en-US" sz="8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3"/>
                  </a:ext>
                </a:extLst>
              </a:tr>
              <a:tr h="0">
                <a:tc>
                  <a:txBody>
                    <a:bodyPr/>
                    <a:lstStyle/>
                    <a:p>
                      <a:pPr defTabSz="914400">
                        <a:lnSpc>
                          <a:spcPct val="100000"/>
                        </a:lnSpc>
                        <a:tabLst>
                          <a:tab pos="0" algn="l"/>
                        </a:tabLst>
                      </a:pPr>
                      <a:r>
                        <a:rPr lang="en-US" sz="900" b="1" strike="noStrike" spc="-1">
                          <a:solidFill>
                            <a:srgbClr val="000000"/>
                          </a:solidFill>
                          <a:latin typeface="Calibri"/>
                        </a:rPr>
                        <a:t>Restrict SSH access</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800" b="0" strike="noStrike" spc="-1">
                          <a:solidFill>
                            <a:srgbClr val="000000"/>
                          </a:solidFill>
                          <a:latin typeface="Courier New"/>
                          <a:ea typeface="Courier New"/>
                        </a:rPr>
                        <a:t>modify sys sshd allow replace-all-with { 10.1.1.0/24 }</a:t>
                      </a:r>
                      <a:endParaRPr lang="en-US" sz="8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4"/>
                  </a:ext>
                </a:extLst>
              </a:tr>
              <a:tr h="0">
                <a:tc>
                  <a:txBody>
                    <a:bodyPr/>
                    <a:lstStyle/>
                    <a:p>
                      <a:pPr defTabSz="914400">
                        <a:lnSpc>
                          <a:spcPct val="100000"/>
                        </a:lnSpc>
                        <a:tabLst>
                          <a:tab pos="0" algn="l"/>
                        </a:tabLst>
                      </a:pPr>
                      <a:r>
                        <a:rPr lang="en-US" sz="900" b="0" strike="noStrike" spc="-1">
                          <a:solidFill>
                            <a:srgbClr val="000000"/>
                          </a:solidFill>
                          <a:latin typeface="Calibri"/>
                        </a:rPr>
                        <a:t>Restrict GUI access</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800" b="0" strike="noStrike" spc="-1">
                          <a:solidFill>
                            <a:srgbClr val="000000"/>
                          </a:solidFill>
                          <a:latin typeface="Courier New"/>
                          <a:ea typeface="Courier New"/>
                        </a:rPr>
                        <a:t>modify sys httpd allow replace-all-with { 10.1.1.0/24 }; save sys config</a:t>
                      </a:r>
                      <a:endParaRPr lang="en-US" sz="8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5"/>
                  </a:ext>
                </a:extLst>
              </a:tr>
              <a:tr h="0">
                <a:tc>
                  <a:txBody>
                    <a:bodyPr/>
                    <a:lstStyle/>
                    <a:p>
                      <a:pPr defTabSz="914400">
                        <a:lnSpc>
                          <a:spcPct val="100000"/>
                        </a:lnSpc>
                        <a:tabLst>
                          <a:tab pos="0" algn="l"/>
                        </a:tabLst>
                      </a:pPr>
                      <a:r>
                        <a:rPr lang="en-US" sz="900" b="1" strike="noStrike" spc="-1">
                          <a:solidFill>
                            <a:srgbClr val="000000"/>
                          </a:solidFill>
                          <a:latin typeface="Calibri"/>
                        </a:rPr>
                        <a:t>Create HSL destination</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750" b="0" strike="noStrike" spc="-1">
                          <a:solidFill>
                            <a:srgbClr val="000000"/>
                          </a:solidFill>
                          <a:latin typeface="Courier New"/>
                          <a:ea typeface="Courier New"/>
                        </a:rPr>
                        <a:t>create sys log-config destination remote-high-speed-log hsl_dest pool-name logging_pool</a:t>
                      </a:r>
                      <a:endParaRPr lang="en-US" sz="75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6"/>
                  </a:ext>
                </a:extLst>
              </a:tr>
              <a:tr h="0">
                <a:tc>
                  <a:txBody>
                    <a:bodyPr/>
                    <a:lstStyle/>
                    <a:p>
                      <a:pPr defTabSz="914400">
                        <a:lnSpc>
                          <a:spcPct val="100000"/>
                        </a:lnSpc>
                        <a:tabLst>
                          <a:tab pos="0" algn="l"/>
                        </a:tabLst>
                      </a:pPr>
                      <a:r>
                        <a:rPr lang="en-US" sz="900" b="0" strike="noStrike" spc="-1">
                          <a:solidFill>
                            <a:srgbClr val="000000"/>
                          </a:solidFill>
                          <a:latin typeface="Calibri"/>
                        </a:rPr>
                        <a:t>Create formatted dest</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750" b="0" strike="noStrike" spc="-1">
                          <a:solidFill>
                            <a:srgbClr val="000000"/>
                          </a:solidFill>
                          <a:latin typeface="Courier New"/>
                          <a:ea typeface="Courier New"/>
                        </a:rPr>
                        <a:t>create sys log-config destination remote-syslog fmt_dest format rfc5424 remote-high-speed-log hsl_dest</a:t>
                      </a:r>
                      <a:endParaRPr lang="en-US" sz="75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7"/>
                  </a:ext>
                </a:extLst>
              </a:tr>
              <a:tr h="0">
                <a:tc>
                  <a:txBody>
                    <a:bodyPr/>
                    <a:lstStyle/>
                    <a:p>
                      <a:pPr defTabSz="914400">
                        <a:lnSpc>
                          <a:spcPct val="100000"/>
                        </a:lnSpc>
                        <a:tabLst>
                          <a:tab pos="0" algn="l"/>
                        </a:tabLst>
                      </a:pPr>
                      <a:r>
                        <a:rPr lang="en-US" sz="900" b="0" strike="noStrike" spc="-1">
                          <a:solidFill>
                            <a:srgbClr val="000000"/>
                          </a:solidFill>
                          <a:latin typeface="Calibri"/>
                        </a:rPr>
                        <a:t>Create publisher</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750" b="0" strike="noStrike" spc="-1">
                          <a:solidFill>
                            <a:srgbClr val="000000"/>
                          </a:solidFill>
                          <a:latin typeface="Courier New"/>
                          <a:ea typeface="Courier New"/>
                        </a:rPr>
                        <a:t>create sys log-config publisher logging_pub destinations add { fmt_dest local-syslog }</a:t>
                      </a:r>
                      <a:endParaRPr lang="en-US" sz="75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8"/>
                  </a:ext>
                </a:extLst>
              </a:tr>
              <a:tr h="0">
                <a:tc>
                  <a:txBody>
                    <a:bodyPr/>
                    <a:lstStyle/>
                    <a:p>
                      <a:pPr defTabSz="914400">
                        <a:lnSpc>
                          <a:spcPct val="100000"/>
                        </a:lnSpc>
                        <a:tabLst>
                          <a:tab pos="0" algn="l"/>
                        </a:tabLst>
                      </a:pPr>
                      <a:r>
                        <a:rPr lang="en-US" sz="900" b="0" strike="noStrike" spc="-1">
                          <a:solidFill>
                            <a:srgbClr val="000000"/>
                          </a:solidFill>
                          <a:latin typeface="Calibri"/>
                        </a:rPr>
                        <a:t>Create log filter</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750" b="0" strike="noStrike" spc="-1">
                          <a:solidFill>
                            <a:srgbClr val="000000"/>
                          </a:solidFill>
                          <a:latin typeface="Courier New"/>
                          <a:ea typeface="Courier New"/>
                        </a:rPr>
                        <a:t>create sys log-config filter my_filter source mcpd level informational publisher logging_pub</a:t>
                      </a:r>
                      <a:endParaRPr lang="en-US" sz="75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9"/>
                  </a:ext>
                </a:extLst>
              </a:tr>
              <a:tr h="0">
                <a:tc>
                  <a:txBody>
                    <a:bodyPr/>
                    <a:lstStyle/>
                    <a:p>
                      <a:pPr defTabSz="914400">
                        <a:lnSpc>
                          <a:spcPct val="100000"/>
                        </a:lnSpc>
                        <a:tabLst>
                          <a:tab pos="0" algn="l"/>
                        </a:tabLst>
                      </a:pPr>
                      <a:r>
                        <a:rPr lang="en-US" sz="900" b="1" strike="noStrike" spc="-1">
                          <a:solidFill>
                            <a:srgbClr val="000000"/>
                          </a:solidFill>
                          <a:latin typeface="Calibri"/>
                        </a:rPr>
                        <a:t>Test custom alert</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800" b="0" strike="noStrike" spc="-1">
                          <a:solidFill>
                            <a:srgbClr val="000000"/>
                          </a:solidFill>
                          <a:latin typeface="Courier New"/>
                          <a:ea typeface="Courier New"/>
                        </a:rPr>
                        <a:t>logger -p local0.notice 'Pool my_pool now has no available members'</a:t>
                      </a:r>
                      <a:endParaRPr lang="en-US" sz="8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10"/>
                  </a:ext>
                </a:extLst>
              </a:tr>
              <a:tr h="0">
                <a:tc>
                  <a:txBody>
                    <a:bodyPr/>
                    <a:lstStyle/>
                    <a:p>
                      <a:pPr defTabSz="914400">
                        <a:lnSpc>
                          <a:spcPct val="100000"/>
                        </a:lnSpc>
                        <a:tabLst>
                          <a:tab pos="0" algn="l"/>
                        </a:tabLst>
                      </a:pPr>
                      <a:r>
                        <a:rPr lang="en-US" sz="900" b="1" strike="noStrike" spc="-1">
                          <a:solidFill>
                            <a:srgbClr val="000000"/>
                          </a:solidFill>
                          <a:latin typeface="Calibri"/>
                        </a:rPr>
                        <a:t>Generate qkview</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800" b="0" strike="noStrike" spc="-1">
                          <a:solidFill>
                            <a:srgbClr val="000000"/>
                          </a:solidFill>
                          <a:latin typeface="Courier New"/>
                          <a:ea typeface="Courier New"/>
                        </a:rPr>
                        <a:t>qkview    (generates /var/tmp/hostname.qkview for F5 Support)</a:t>
                      </a:r>
                      <a:endParaRPr lang="en-US" sz="8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11"/>
                  </a:ext>
                </a:extLst>
              </a:tr>
            </a:tbl>
          </a:graphicData>
        </a:graphic>
      </p:graphicFrame>
      <p:sp>
        <p:nvSpPr>
          <p:cNvPr id="2295" name="Shape 7"/>
          <p:cNvSpPr/>
          <p:nvPr/>
        </p:nvSpPr>
        <p:spPr>
          <a:xfrm>
            <a:off x="365760" y="4251960"/>
            <a:ext cx="8412120" cy="365400"/>
          </a:xfrm>
          <a:prstGeom prst="rect">
            <a:avLst/>
          </a:prstGeom>
          <a:solidFill>
            <a:srgbClr val="E8F0F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296" name="Text 8"/>
          <p:cNvSpPr/>
          <p:nvPr/>
        </p:nvSpPr>
        <p:spPr>
          <a:xfrm>
            <a:off x="548640" y="4270320"/>
            <a:ext cx="80463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strike="noStrike" spc="-1">
                <a:solidFill>
                  <a:srgbClr val="0E41AA"/>
                </a:solidFill>
                <a:latin typeface="Calibri"/>
                <a:ea typeface="Calibri"/>
              </a:rPr>
              <a:t>Troubleshooting order: </a:t>
            </a:r>
            <a:r>
              <a:rPr lang="en-US" sz="900" b="0" strike="noStrike" spc="-1">
                <a:solidFill>
                  <a:srgbClr val="1A3A6C"/>
                </a:solidFill>
                <a:latin typeface="Calibri"/>
                <a:ea typeface="Calibri"/>
              </a:rPr>
              <a:t>1) Check /var/log/ltm (LTM events)  2) Check /var/log/daemon.log (system daemons)  3) show sys performance  4) show sys tmm-info  5) qkview for F5 Support</a:t>
            </a:r>
            <a:endParaRPr lang="en-US" sz="900" b="0" strike="noStrike" spc="-1">
              <a:solidFill>
                <a:srgbClr val="000000"/>
              </a:solidFill>
              <a:latin typeface="Arial"/>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5070348"/>
            <a:ext cx="1371600" cy="73152"/>
          </a:xfrm>
          <a:prstGeom prst="rect">
            <a:avLst/>
          </a:prstGeom>
          <a:solidFill>
            <a:srgbClr val="F29A3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1371600" y="5070348"/>
            <a:ext cx="2743200" cy="73152"/>
          </a:xfrm>
          <a:prstGeom prst="rect">
            <a:avLst/>
          </a:prstGeom>
          <a:solidFill>
            <a:srgbClr val="E4002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4114800" y="5070348"/>
            <a:ext cx="1371600" cy="73152"/>
          </a:xfrm>
          <a:prstGeom prst="rect">
            <a:avLst/>
          </a:prstGeom>
          <a:solidFill>
            <a:srgbClr val="AB278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5486400" y="5070348"/>
            <a:ext cx="2286000" cy="73152"/>
          </a:xfrm>
          <a:prstGeom prst="rect">
            <a:avLst/>
          </a:prstGeom>
          <a:solidFill>
            <a:srgbClr val="0E41A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7772400" y="5070348"/>
            <a:ext cx="1371600" cy="73152"/>
          </a:xfrm>
          <a:prstGeom prst="rect">
            <a:avLst/>
          </a:prstGeom>
          <a:solidFill>
            <a:srgbClr val="61228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7" name="Image 0" descr="preencoded.png"/>
          <p:cNvPicPr>
            <a:picLocks noChangeAspect="1"/>
          </p:cNvPicPr>
          <p:nvPr/>
        </p:nvPicPr>
        <p:blipFill>
          <a:blip r:embed="rId3"/>
          <a:stretch>
            <a:fillRect/>
          </a:stretch>
        </p:blipFill>
        <p:spPr>
          <a:xfrm>
            <a:off x="365760" y="274320"/>
            <a:ext cx="640080" cy="640080"/>
          </a:xfrm>
          <a:prstGeom prst="rect">
            <a:avLst/>
          </a:prstGeom>
        </p:spPr>
      </p:pic>
      <p:graphicFrame>
        <p:nvGraphicFramePr>
          <p:cNvPr id="8" name="Table 0"/>
          <p:cNvGraphicFramePr>
            <a:graphicFrameLocks noGrp="1"/>
          </p:cNvGraphicFramePr>
          <p:nvPr/>
        </p:nvGraphicFramePr>
        <p:xfrm>
          <a:off x="365760" y="1005840"/>
          <a:ext cx="6720840" cy="1640840"/>
        </p:xfrm>
        <a:graphic>
          <a:graphicData uri="http://schemas.openxmlformats.org/drawingml/2006/table">
            <a:tbl>
              <a:tblPr/>
              <a:tblGrid>
                <a:gridCol w="1463040">
                  <a:extLst>
                    <a:ext uri="{9D8B030D-6E8A-4147-A177-3AD203B41FA5}">
                      <a16:colId xmlns:a16="http://schemas.microsoft.com/office/drawing/2014/main" val="20000"/>
                    </a:ext>
                  </a:extLst>
                </a:gridCol>
                <a:gridCol w="502920">
                  <a:extLst>
                    <a:ext uri="{9D8B030D-6E8A-4147-A177-3AD203B41FA5}">
                      <a16:colId xmlns:a16="http://schemas.microsoft.com/office/drawing/2014/main" val="20001"/>
                    </a:ext>
                  </a:extLst>
                </a:gridCol>
                <a:gridCol w="4754880">
                  <a:extLst>
                    <a:ext uri="{9D8B030D-6E8A-4147-A177-3AD203B41FA5}">
                      <a16:colId xmlns:a16="http://schemas.microsoft.com/office/drawing/2014/main" val="20002"/>
                    </a:ext>
                  </a:extLst>
                </a:gridCol>
              </a:tblGrid>
              <a:tr h="0">
                <a:tc>
                  <a:txBody>
                    <a:bodyPr/>
                    <a:lstStyle/>
                    <a:p>
                      <a:pPr marL="0" indent="0">
                        <a:buNone/>
                      </a:pPr>
                      <a:r>
                        <a:rPr lang="en-US" sz="900">
                          <a:solidFill>
                            <a:srgbClr val="FFFFFF"/>
                          </a:solidFill>
                          <a:latin typeface="Courier New" pitchFamily="34" charset="0"/>
                          <a:ea typeface="Courier New" pitchFamily="34" charset="-122"/>
                          <a:cs typeface="Courier New" pitchFamily="34" charset="-120"/>
                        </a:rPr>
                        <a:t>F5CTSLTM1.02</a:t>
                      </a:r>
                      <a:endParaRPr lang="en-US" sz="900">
                        <a:latin typeface="Courier New" charset="0"/>
                        <a:ea typeface="Courier New" charset="0"/>
                        <a:cs typeface="Courier New" charset="0"/>
                      </a:endParaRPr>
                    </a:p>
                  </a:txBody>
                  <a:tcPr marL="63500" marR="63500" marT="25400" marB="25400">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1A1A1A"/>
                    </a:solidFill>
                  </a:tcPr>
                </a:tc>
                <a:tc>
                  <a:txBody>
                    <a:bodyPr/>
                    <a:lstStyle/>
                    <a:p>
                      <a:pPr marL="0" indent="0" algn="ctr">
                        <a:buNone/>
                      </a:pPr>
                      <a:r>
                        <a:rPr lang="en-US" sz="900" b="1">
                          <a:solidFill>
                            <a:srgbClr val="009639"/>
                          </a:solidFill>
                        </a:rPr>
                        <a:t>U/A</a:t>
                      </a:r>
                      <a:endParaRPr lang="en-US" sz="900"/>
                    </a:p>
                  </a:txBody>
                  <a:tcPr marL="63500" marR="63500" marT="25400" marB="25400">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1A1A1A"/>
                    </a:solidFill>
                  </a:tcPr>
                </a:tc>
                <a:tc>
                  <a:txBody>
                    <a:bodyPr/>
                    <a:lstStyle/>
                    <a:p>
                      <a:pPr marL="0" indent="0">
                        <a:buNone/>
                      </a:pPr>
                      <a:r>
                        <a:rPr lang="en-US" sz="900">
                          <a:solidFill>
                            <a:srgbClr val="666666"/>
                          </a:solidFill>
                        </a:rPr>
                        <a:t>Deployment topologies (one arm, two arm, nPath/DSR, auto last-hop)</a:t>
                      </a:r>
                      <a:endParaRPr lang="en-US" sz="900"/>
                    </a:p>
                  </a:txBody>
                  <a:tcPr marL="63500" marR="63500" marT="25400" marB="25400">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1A1A1A"/>
                    </a:solidFill>
                  </a:tcPr>
                </a:tc>
                <a:extLst>
                  <a:ext uri="{0D108BD9-81ED-4DB2-BD59-A6C34878D82A}">
                    <a16:rowId xmlns:a16="http://schemas.microsoft.com/office/drawing/2014/main" val="10000"/>
                  </a:ext>
                </a:extLst>
              </a:tr>
              <a:tr h="0">
                <a:tc>
                  <a:txBody>
                    <a:bodyPr/>
                    <a:lstStyle/>
                    <a:p>
                      <a:pPr marL="0" indent="0">
                        <a:buNone/>
                      </a:pPr>
                      <a:r>
                        <a:rPr lang="en-US" sz="900">
                          <a:solidFill>
                            <a:srgbClr val="FFFFFF"/>
                          </a:solidFill>
                          <a:latin typeface="Courier New" pitchFamily="34" charset="0"/>
                          <a:ea typeface="Courier New" pitchFamily="34" charset="-122"/>
                          <a:cs typeface="Courier New" pitchFamily="34" charset="-120"/>
                        </a:rPr>
                        <a:t>F5CTSLTM5.01–5.04</a:t>
                      </a:r>
                      <a:endParaRPr lang="en-US" sz="900">
                        <a:latin typeface="Courier New" charset="0"/>
                        <a:ea typeface="Courier New" charset="0"/>
                        <a:cs typeface="Courier New" charset="0"/>
                      </a:endParaRPr>
                    </a:p>
                  </a:txBody>
                  <a:tcPr marL="63500" marR="63500" marT="25400" marB="25400">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111111"/>
                    </a:solidFill>
                  </a:tcPr>
                </a:tc>
                <a:tc>
                  <a:txBody>
                    <a:bodyPr/>
                    <a:lstStyle/>
                    <a:p>
                      <a:pPr marL="0" indent="0" algn="ctr">
                        <a:buNone/>
                      </a:pPr>
                      <a:r>
                        <a:rPr lang="en-US" sz="900" b="1">
                          <a:solidFill>
                            <a:srgbClr val="F29A36"/>
                          </a:solidFill>
                        </a:rPr>
                        <a:t>U/A, A/E</a:t>
                      </a:r>
                      <a:endParaRPr lang="en-US" sz="900"/>
                    </a:p>
                  </a:txBody>
                  <a:tcPr marL="63500" marR="63500" marT="25400" marB="25400">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111111"/>
                    </a:solidFill>
                  </a:tcPr>
                </a:tc>
                <a:tc>
                  <a:txBody>
                    <a:bodyPr/>
                    <a:lstStyle/>
                    <a:p>
                      <a:pPr marL="0" indent="0">
                        <a:buNone/>
                      </a:pPr>
                      <a:r>
                        <a:rPr lang="en-US" sz="900">
                          <a:solidFill>
                            <a:srgbClr val="666666"/>
                          </a:solidFill>
                        </a:rPr>
                        <a:t>HTTP packet capture analysis (response codes, headers, tcpdump)</a:t>
                      </a:r>
                      <a:endParaRPr lang="en-US" sz="900"/>
                    </a:p>
                  </a:txBody>
                  <a:tcPr marL="63500" marR="63500" marT="25400" marB="25400">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111111"/>
                    </a:solidFill>
                  </a:tcPr>
                </a:tc>
                <a:extLst>
                  <a:ext uri="{0D108BD9-81ED-4DB2-BD59-A6C34878D82A}">
                    <a16:rowId xmlns:a16="http://schemas.microsoft.com/office/drawing/2014/main" val="10001"/>
                  </a:ext>
                </a:extLst>
              </a:tr>
              <a:tr h="0">
                <a:tc>
                  <a:txBody>
                    <a:bodyPr/>
                    <a:lstStyle/>
                    <a:p>
                      <a:pPr marL="0" indent="0">
                        <a:buNone/>
                      </a:pPr>
                      <a:r>
                        <a:rPr lang="en-US" sz="900">
                          <a:solidFill>
                            <a:srgbClr val="FFFFFF"/>
                          </a:solidFill>
                          <a:latin typeface="Courier New" pitchFamily="34" charset="0"/>
                          <a:ea typeface="Courier New" pitchFamily="34" charset="-122"/>
                          <a:cs typeface="Courier New" pitchFamily="34" charset="-120"/>
                        </a:rPr>
                        <a:t>F5CTSLTM4.01, 4.06</a:t>
                      </a:r>
                      <a:endParaRPr lang="en-US" sz="900">
                        <a:latin typeface="Courier New" charset="0"/>
                        <a:ea typeface="Courier New" charset="0"/>
                        <a:cs typeface="Courier New" charset="0"/>
                      </a:endParaRPr>
                    </a:p>
                  </a:txBody>
                  <a:tcPr marL="63500" marR="63500" marT="25400" marB="25400">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1A1A1A"/>
                    </a:solidFill>
                  </a:tcPr>
                </a:tc>
                <a:tc>
                  <a:txBody>
                    <a:bodyPr/>
                    <a:lstStyle/>
                    <a:p>
                      <a:pPr marL="0" indent="0" algn="ctr">
                        <a:buNone/>
                      </a:pPr>
                      <a:r>
                        <a:rPr lang="en-US" sz="900" b="1">
                          <a:solidFill>
                            <a:srgbClr val="009639"/>
                          </a:solidFill>
                        </a:rPr>
                        <a:t>U/A</a:t>
                      </a:r>
                      <a:endParaRPr lang="en-US" sz="900"/>
                    </a:p>
                  </a:txBody>
                  <a:tcPr marL="63500" marR="63500" marT="25400" marB="25400">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1A1A1A"/>
                    </a:solidFill>
                  </a:tcPr>
                </a:tc>
                <a:tc>
                  <a:txBody>
                    <a:bodyPr/>
                    <a:lstStyle/>
                    <a:p>
                      <a:pPr marL="0" indent="0">
                        <a:buNone/>
                      </a:pPr>
                      <a:r>
                        <a:rPr lang="en-US" sz="900">
                          <a:solidFill>
                            <a:srgbClr val="666666"/>
                          </a:solidFill>
                        </a:rPr>
                        <a:t>Software upgrades (HA rolling upgrade, boot locations)</a:t>
                      </a:r>
                      <a:endParaRPr lang="en-US" sz="900"/>
                    </a:p>
                  </a:txBody>
                  <a:tcPr marL="63500" marR="63500" marT="25400" marB="25400">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1A1A1A"/>
                    </a:solidFill>
                  </a:tcPr>
                </a:tc>
                <a:extLst>
                  <a:ext uri="{0D108BD9-81ED-4DB2-BD59-A6C34878D82A}">
                    <a16:rowId xmlns:a16="http://schemas.microsoft.com/office/drawing/2014/main" val="10002"/>
                  </a:ext>
                </a:extLst>
              </a:tr>
              <a:tr h="0">
                <a:tc>
                  <a:txBody>
                    <a:bodyPr/>
                    <a:lstStyle/>
                    <a:p>
                      <a:pPr marL="0" indent="0">
                        <a:buNone/>
                      </a:pPr>
                      <a:r>
                        <a:rPr lang="en-US" sz="900">
                          <a:solidFill>
                            <a:srgbClr val="FFFFFF"/>
                          </a:solidFill>
                          <a:latin typeface="Courier New" pitchFamily="34" charset="0"/>
                          <a:ea typeface="Courier New" pitchFamily="34" charset="-122"/>
                          <a:cs typeface="Courier New" pitchFamily="34" charset="-120"/>
                        </a:rPr>
                        <a:t>F5CTSLTM4.04, 4.05</a:t>
                      </a:r>
                      <a:endParaRPr lang="en-US" sz="900">
                        <a:latin typeface="Courier New" charset="0"/>
                        <a:ea typeface="Courier New" charset="0"/>
                        <a:cs typeface="Courier New" charset="0"/>
                      </a:endParaRPr>
                    </a:p>
                  </a:txBody>
                  <a:tcPr marL="63500" marR="63500" marT="25400" marB="25400">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111111"/>
                    </a:solidFill>
                  </a:tcPr>
                </a:tc>
                <a:tc>
                  <a:txBody>
                    <a:bodyPr/>
                    <a:lstStyle/>
                    <a:p>
                      <a:pPr marL="0" indent="0" algn="ctr">
                        <a:buNone/>
                      </a:pPr>
                      <a:r>
                        <a:rPr lang="en-US" sz="900" b="1">
                          <a:solidFill>
                            <a:srgbClr val="009639"/>
                          </a:solidFill>
                        </a:rPr>
                        <a:t>U/A</a:t>
                      </a:r>
                      <a:endParaRPr lang="en-US" sz="900"/>
                    </a:p>
                  </a:txBody>
                  <a:tcPr marL="63500" marR="63500" marT="25400" marB="25400">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111111"/>
                    </a:solidFill>
                  </a:tcPr>
                </a:tc>
                <a:tc>
                  <a:txBody>
                    <a:bodyPr/>
                    <a:lstStyle/>
                    <a:p>
                      <a:pPr marL="0" indent="0">
                        <a:buNone/>
                      </a:pPr>
                      <a:r>
                        <a:rPr lang="en-US" sz="900">
                          <a:solidFill>
                            <a:srgbClr val="666666"/>
                          </a:solidFill>
                        </a:rPr>
                        <a:t>Backup/restore (UCS vs SCF, GUI archives)</a:t>
                      </a:r>
                      <a:endParaRPr lang="en-US" sz="900"/>
                    </a:p>
                  </a:txBody>
                  <a:tcPr marL="63500" marR="63500" marT="25400" marB="25400">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111111"/>
                    </a:solidFill>
                  </a:tcPr>
                </a:tc>
                <a:extLst>
                  <a:ext uri="{0D108BD9-81ED-4DB2-BD59-A6C34878D82A}">
                    <a16:rowId xmlns:a16="http://schemas.microsoft.com/office/drawing/2014/main" val="10003"/>
                  </a:ext>
                </a:extLst>
              </a:tr>
              <a:tr h="0">
                <a:tc>
                  <a:txBody>
                    <a:bodyPr/>
                    <a:lstStyle/>
                    <a:p>
                      <a:pPr marL="0" indent="0">
                        <a:buNone/>
                      </a:pPr>
                      <a:r>
                        <a:rPr lang="en-US" sz="900">
                          <a:solidFill>
                            <a:srgbClr val="FFFFFF"/>
                          </a:solidFill>
                          <a:latin typeface="Courier New" pitchFamily="34" charset="0"/>
                          <a:ea typeface="Courier New" pitchFamily="34" charset="-122"/>
                          <a:cs typeface="Courier New" pitchFamily="34" charset="-120"/>
                        </a:rPr>
                        <a:t>F5CTSLTM4.10</a:t>
                      </a:r>
                      <a:endParaRPr lang="en-US" sz="900">
                        <a:latin typeface="Courier New" charset="0"/>
                        <a:ea typeface="Courier New" charset="0"/>
                        <a:cs typeface="Courier New" charset="0"/>
                      </a:endParaRPr>
                    </a:p>
                  </a:txBody>
                  <a:tcPr marL="63500" marR="63500" marT="25400" marB="25400">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1A1A1A"/>
                    </a:solidFill>
                  </a:tcPr>
                </a:tc>
                <a:tc>
                  <a:txBody>
                    <a:bodyPr/>
                    <a:lstStyle/>
                    <a:p>
                      <a:pPr marL="0" indent="0" algn="ctr">
                        <a:buNone/>
                      </a:pPr>
                      <a:r>
                        <a:rPr lang="en-US" sz="900" b="1">
                          <a:solidFill>
                            <a:srgbClr val="F29A36"/>
                          </a:solidFill>
                        </a:rPr>
                        <a:t>A/E</a:t>
                      </a:r>
                      <a:endParaRPr lang="en-US" sz="900"/>
                    </a:p>
                  </a:txBody>
                  <a:tcPr marL="63500" marR="63500" marT="25400" marB="25400">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1A1A1A"/>
                    </a:solidFill>
                  </a:tcPr>
                </a:tc>
                <a:tc>
                  <a:txBody>
                    <a:bodyPr/>
                    <a:lstStyle/>
                    <a:p>
                      <a:pPr marL="0" indent="0">
                        <a:buNone/>
                      </a:pPr>
                      <a:r>
                        <a:rPr lang="en-US" sz="900">
                          <a:solidFill>
                            <a:srgbClr val="666666"/>
                          </a:solidFill>
                        </a:rPr>
                        <a:t>Performance analysis (CPU/memory, host OS vs TMOS)</a:t>
                      </a:r>
                      <a:endParaRPr lang="en-US" sz="900"/>
                    </a:p>
                  </a:txBody>
                  <a:tcPr marL="63500" marR="63500" marT="25400" marB="25400">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1A1A1A"/>
                    </a:solidFill>
                  </a:tcPr>
                </a:tc>
                <a:extLst>
                  <a:ext uri="{0D108BD9-81ED-4DB2-BD59-A6C34878D82A}">
                    <a16:rowId xmlns:a16="http://schemas.microsoft.com/office/drawing/2014/main" val="10004"/>
                  </a:ext>
                </a:extLst>
              </a:tr>
              <a:tr h="0">
                <a:tc>
                  <a:txBody>
                    <a:bodyPr/>
                    <a:lstStyle/>
                    <a:p>
                      <a:pPr marL="0" indent="0">
                        <a:buNone/>
                      </a:pPr>
                      <a:r>
                        <a:rPr lang="en-US" sz="900">
                          <a:solidFill>
                            <a:srgbClr val="FFFFFF"/>
                          </a:solidFill>
                          <a:latin typeface="Courier New" pitchFamily="34" charset="0"/>
                          <a:ea typeface="Courier New" pitchFamily="34" charset="-122"/>
                          <a:cs typeface="Courier New" pitchFamily="34" charset="-120"/>
                        </a:rPr>
                        <a:t>F5CTSLTM2.11</a:t>
                      </a:r>
                      <a:endParaRPr lang="en-US" sz="900">
                        <a:latin typeface="Courier New" charset="0"/>
                        <a:ea typeface="Courier New" charset="0"/>
                        <a:cs typeface="Courier New" charset="0"/>
                      </a:endParaRPr>
                    </a:p>
                  </a:txBody>
                  <a:tcPr marL="63500" marR="63500" marT="25400" marB="25400">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111111"/>
                    </a:solidFill>
                  </a:tcPr>
                </a:tc>
                <a:tc>
                  <a:txBody>
                    <a:bodyPr/>
                    <a:lstStyle/>
                    <a:p>
                      <a:pPr marL="0" indent="0" algn="ctr">
                        <a:buNone/>
                      </a:pPr>
                      <a:r>
                        <a:rPr lang="en-US" sz="900" b="1">
                          <a:solidFill>
                            <a:srgbClr val="F29A36"/>
                          </a:solidFill>
                        </a:rPr>
                        <a:t>A/E</a:t>
                      </a:r>
                      <a:endParaRPr lang="en-US" sz="900"/>
                    </a:p>
                  </a:txBody>
                  <a:tcPr marL="63500" marR="63500" marT="25400" marB="25400">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111111"/>
                    </a:solidFill>
                  </a:tcPr>
                </a:tc>
                <a:tc>
                  <a:txBody>
                    <a:bodyPr/>
                    <a:lstStyle/>
                    <a:p>
                      <a:pPr marL="0" indent="0">
                        <a:buNone/>
                      </a:pPr>
                      <a:r>
                        <a:rPr lang="en-US" sz="900">
                          <a:solidFill>
                            <a:srgbClr val="666666"/>
                          </a:solidFill>
                        </a:rPr>
                        <a:t>Simplify LTM config (iRules → policies, consolidate VS)</a:t>
                      </a:r>
                      <a:endParaRPr lang="en-US" sz="900"/>
                    </a:p>
                  </a:txBody>
                  <a:tcPr marL="63500" marR="63500" marT="25400" marB="25400">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111111"/>
                    </a:solidFill>
                  </a:tcPr>
                </a:tc>
                <a:extLst>
                  <a:ext uri="{0D108BD9-81ED-4DB2-BD59-A6C34878D82A}">
                    <a16:rowId xmlns:a16="http://schemas.microsoft.com/office/drawing/2014/main" val="10005"/>
                  </a:ext>
                </a:extLst>
              </a:tr>
              <a:tr h="0">
                <a:tc>
                  <a:txBody>
                    <a:bodyPr/>
                    <a:lstStyle/>
                    <a:p>
                      <a:pPr marL="0" indent="0">
                        <a:buNone/>
                      </a:pPr>
                      <a:r>
                        <a:rPr lang="en-US" sz="900">
                          <a:solidFill>
                            <a:srgbClr val="FFFFFF"/>
                          </a:solidFill>
                          <a:latin typeface="Courier New" pitchFamily="34" charset="0"/>
                          <a:ea typeface="Courier New" pitchFamily="34" charset="-122"/>
                          <a:cs typeface="Courier New" pitchFamily="34" charset="-120"/>
                        </a:rPr>
                        <a:t>F5CTSLTM2.12</a:t>
                      </a:r>
                      <a:endParaRPr lang="en-US" sz="900">
                        <a:latin typeface="Courier New" charset="0"/>
                        <a:ea typeface="Courier New" charset="0"/>
                        <a:cs typeface="Courier New" charset="0"/>
                      </a:endParaRPr>
                    </a:p>
                  </a:txBody>
                  <a:tcPr marL="63500" marR="63500" marT="25400" marB="25400">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1A1A1A"/>
                    </a:solidFill>
                  </a:tcPr>
                </a:tc>
                <a:tc>
                  <a:txBody>
                    <a:bodyPr/>
                    <a:lstStyle/>
                    <a:p>
                      <a:pPr marL="0" indent="0" algn="ctr">
                        <a:buNone/>
                      </a:pPr>
                      <a:r>
                        <a:rPr lang="en-US" sz="900" b="1">
                          <a:solidFill>
                            <a:srgbClr val="009639"/>
                          </a:solidFill>
                        </a:rPr>
                        <a:t>U/A</a:t>
                      </a:r>
                      <a:endParaRPr lang="en-US" sz="900"/>
                    </a:p>
                  </a:txBody>
                  <a:tcPr marL="63500" marR="63500" marT="25400" marB="25400">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1A1A1A"/>
                    </a:solidFill>
                  </a:tcPr>
                </a:tc>
                <a:tc>
                  <a:txBody>
                    <a:bodyPr/>
                    <a:lstStyle/>
                    <a:p>
                      <a:pPr marL="0" indent="0">
                        <a:buNone/>
                      </a:pPr>
                      <a:r>
                        <a:rPr lang="en-US" sz="900">
                          <a:solidFill>
                            <a:srgbClr val="666666"/>
                          </a:solidFill>
                        </a:rPr>
                        <a:t>Device statistics, config cleanup, remove unused objects</a:t>
                      </a:r>
                      <a:endParaRPr lang="en-US" sz="900"/>
                    </a:p>
                  </a:txBody>
                  <a:tcPr marL="63500" marR="63500" marT="25400" marB="25400">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1A1A1A"/>
                    </a:solidFill>
                  </a:tcPr>
                </a:tc>
                <a:extLst>
                  <a:ext uri="{0D108BD9-81ED-4DB2-BD59-A6C34878D82A}">
                    <a16:rowId xmlns:a16="http://schemas.microsoft.com/office/drawing/2014/main" val="10006"/>
                  </a:ext>
                </a:extLst>
              </a:tr>
              <a:tr h="0">
                <a:tc>
                  <a:txBody>
                    <a:bodyPr/>
                    <a:lstStyle/>
                    <a:p>
                      <a:pPr marL="0" indent="0">
                        <a:buNone/>
                      </a:pPr>
                      <a:r>
                        <a:rPr lang="en-US" sz="900">
                          <a:solidFill>
                            <a:srgbClr val="FFFFFF"/>
                          </a:solidFill>
                          <a:latin typeface="Courier New" pitchFamily="34" charset="0"/>
                          <a:ea typeface="Courier New" pitchFamily="34" charset="-122"/>
                          <a:cs typeface="Courier New" pitchFamily="34" charset="-120"/>
                        </a:rPr>
                        <a:t>F5CTSLTM3.02</a:t>
                      </a:r>
                      <a:endParaRPr lang="en-US" sz="900">
                        <a:latin typeface="Courier New" charset="0"/>
                        <a:ea typeface="Courier New" charset="0"/>
                        <a:cs typeface="Courier New" charset="0"/>
                      </a:endParaRPr>
                    </a:p>
                  </a:txBody>
                  <a:tcPr marL="63500" marR="63500" marT="25400" marB="25400">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111111"/>
                    </a:solidFill>
                  </a:tcPr>
                </a:tc>
                <a:tc>
                  <a:txBody>
                    <a:bodyPr/>
                    <a:lstStyle/>
                    <a:p>
                      <a:pPr marL="0" indent="0" algn="ctr">
                        <a:buNone/>
                      </a:pPr>
                      <a:r>
                        <a:rPr lang="en-US" sz="900" b="1">
                          <a:solidFill>
                            <a:srgbClr val="0E41AA"/>
                          </a:solidFill>
                        </a:rPr>
                        <a:t>R</a:t>
                      </a:r>
                      <a:endParaRPr lang="en-US" sz="900"/>
                    </a:p>
                  </a:txBody>
                  <a:tcPr marL="63500" marR="63500" marT="25400" marB="25400">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111111"/>
                    </a:solidFill>
                  </a:tcPr>
                </a:tc>
                <a:tc>
                  <a:txBody>
                    <a:bodyPr/>
                    <a:lstStyle/>
                    <a:p>
                      <a:pPr marL="0" indent="0">
                        <a:buNone/>
                      </a:pPr>
                      <a:r>
                        <a:rPr lang="en-US" sz="900">
                          <a:solidFill>
                            <a:srgbClr val="666666"/>
                          </a:solidFill>
                        </a:rPr>
                        <a:t>Application templates (iApp and FAST)</a:t>
                      </a:r>
                      <a:endParaRPr lang="en-US" sz="900"/>
                    </a:p>
                  </a:txBody>
                  <a:tcPr marL="63500" marR="63500" marT="25400" marB="25400">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111111"/>
                    </a:solidFill>
                  </a:tcPr>
                </a:tc>
                <a:extLst>
                  <a:ext uri="{0D108BD9-81ED-4DB2-BD59-A6C34878D82A}">
                    <a16:rowId xmlns:a16="http://schemas.microsoft.com/office/drawing/2014/main" val="10007"/>
                  </a:ext>
                </a:extLst>
              </a:tr>
            </a:tbl>
          </a:graphicData>
        </a:graphic>
      </p:graphicFrame>
      <p:sp>
        <p:nvSpPr>
          <p:cNvPr id="9" name="Text 5"/>
          <p:cNvSpPr/>
          <p:nvPr/>
        </p:nvSpPr>
        <p:spPr>
          <a:xfrm>
            <a:off x="365760" y="3108960"/>
            <a:ext cx="7315200" cy="9144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666666"/>
                </a:solidFill>
                <a:effectLst/>
                <a:uLnTx/>
                <a:uFillTx/>
                <a:latin typeface="Calibri" pitchFamily="34" charset="0"/>
                <a:ea typeface="Calibri" pitchFamily="34" charset="-122"/>
                <a:cs typeface="Calibri" pitchFamily="34" charset="-120"/>
              </a:rPr>
              <a:t>GAP-FILL SLIDE BLOCK</a:t>
            </a:r>
            <a:endParaRPr kumimoji="0" lang="en-US" sz="14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FFFFFF"/>
                </a:solidFill>
                <a:effectLst/>
                <a:uLnTx/>
                <a:uFillTx/>
                <a:latin typeface="Arial" pitchFamily="34" charset="0"/>
                <a:ea typeface="Arial" pitchFamily="34" charset="-122"/>
                <a:cs typeface="Arial" pitchFamily="34" charset="-120"/>
              </a:rPr>
              <a:t>Objectives Not Covered</a:t>
            </a:r>
            <a:endParaRPr kumimoji="0" lang="en-US" sz="14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FFFFFF"/>
                </a:solidFill>
                <a:effectLst/>
                <a:uLnTx/>
                <a:uFillTx/>
                <a:latin typeface="Arial" pitchFamily="34" charset="0"/>
                <a:ea typeface="Arial" pitchFamily="34" charset="-122"/>
                <a:cs typeface="Arial" pitchFamily="34" charset="-120"/>
              </a:rPr>
              <a:t>by Labs 1–11</a:t>
            </a:r>
            <a:endParaRPr kumimoji="0" lang="en-US" sz="1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6"/>
          <p:cNvSpPr/>
          <p:nvPr/>
        </p:nvSpPr>
        <p:spPr>
          <a:xfrm>
            <a:off x="331663" y="4137660"/>
            <a:ext cx="685800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666666"/>
                </a:solidFill>
                <a:effectLst/>
                <a:uLnTx/>
                <a:uFillTx/>
                <a:latin typeface="Calibri" pitchFamily="34" charset="0"/>
                <a:ea typeface="Calibri" pitchFamily="34" charset="-122"/>
                <a:cs typeface="Calibri" pitchFamily="34" charset="-120"/>
              </a:rPr>
              <a:t>These 9 objectives span 4 of the 6 Beta exams. They are covered here</a:t>
            </a: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666666"/>
                </a:solidFill>
                <a:effectLst/>
                <a:uLnTx/>
                <a:uFillTx/>
                <a:latin typeface="Calibri" pitchFamily="34" charset="0"/>
                <a:ea typeface="Calibri" pitchFamily="34" charset="-122"/>
                <a:cs typeface="Calibri" pitchFamily="34" charset="-120"/>
              </a:rPr>
              <a:t>as instructor-led slides with full speaker notes — no lab exercises.</a:t>
            </a: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666666"/>
                </a:solidFill>
                <a:effectLst/>
                <a:uLnTx/>
                <a:uFillTx/>
                <a:latin typeface="Calibri" pitchFamily="34" charset="0"/>
                <a:ea typeface="Calibri" pitchFamily="34" charset="-122"/>
                <a:cs typeface="Calibri" pitchFamily="34" charset="-120"/>
              </a:rPr>
              <a:t>All technical claims sourced from F5 documentation.</a:t>
            </a: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371600" cy="73152"/>
          </a:xfrm>
          <a:prstGeom prst="rect">
            <a:avLst/>
          </a:prstGeom>
          <a:solidFill>
            <a:srgbClr val="F29A3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1371600" y="0"/>
            <a:ext cx="2743200" cy="73152"/>
          </a:xfrm>
          <a:prstGeom prst="rect">
            <a:avLst/>
          </a:prstGeom>
          <a:solidFill>
            <a:srgbClr val="E4002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4114800" y="0"/>
            <a:ext cx="1371600" cy="73152"/>
          </a:xfrm>
          <a:prstGeom prst="rect">
            <a:avLst/>
          </a:prstGeom>
          <a:solidFill>
            <a:srgbClr val="AB278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5486400" y="0"/>
            <a:ext cx="2286000" cy="73152"/>
          </a:xfrm>
          <a:prstGeom prst="rect">
            <a:avLst/>
          </a:prstGeom>
          <a:solidFill>
            <a:srgbClr val="0E41A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7772400" y="0"/>
            <a:ext cx="1371600" cy="73152"/>
          </a:xfrm>
          <a:prstGeom prst="rect">
            <a:avLst/>
          </a:prstGeom>
          <a:solidFill>
            <a:srgbClr val="61228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5"/>
          <p:cNvSpPr/>
          <p:nvPr/>
        </p:nvSpPr>
        <p:spPr>
          <a:xfrm>
            <a:off x="365760" y="4800600"/>
            <a:ext cx="2743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666666"/>
                </a:solidFill>
                <a:effectLst/>
                <a:uLnTx/>
                <a:uFillTx/>
                <a:latin typeface="Calibri" pitchFamily="34" charset="0"/>
                <a:ea typeface="Calibri" pitchFamily="34" charset="-122"/>
                <a:cs typeface="Calibri" pitchFamily="34" charset="-120"/>
              </a:rPr>
              <a:t>107    © 2026 F5</a:t>
            </a:r>
            <a:endParaRPr kumimoji="0" lang="en-US" sz="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8" name="Image 0" descr="preencoded.png"/>
          <p:cNvPicPr>
            <a:picLocks noChangeAspect="1"/>
          </p:cNvPicPr>
          <p:nvPr/>
        </p:nvPicPr>
        <p:blipFill>
          <a:blip r:embed="rId3"/>
          <a:stretch>
            <a:fillRect/>
          </a:stretch>
        </p:blipFill>
        <p:spPr>
          <a:xfrm>
            <a:off x="8458200" y="4663440"/>
            <a:ext cx="384048" cy="384048"/>
          </a:xfrm>
          <a:prstGeom prst="rect">
            <a:avLst/>
          </a:prstGeom>
        </p:spPr>
      </p:pic>
      <p:sp>
        <p:nvSpPr>
          <p:cNvPr id="9" name="Text 6"/>
          <p:cNvSpPr/>
          <p:nvPr/>
        </p:nvSpPr>
        <p:spPr>
          <a:xfrm>
            <a:off x="457200" y="274320"/>
            <a:ext cx="822960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000000"/>
                </a:solidFill>
                <a:effectLst/>
                <a:uLnTx/>
                <a:uFillTx/>
                <a:latin typeface="Arial" pitchFamily="34" charset="0"/>
                <a:ea typeface="Arial" pitchFamily="34" charset="-122"/>
                <a:cs typeface="Arial" pitchFamily="34" charset="-120"/>
              </a:rPr>
              <a:t>Deployment topologies</a:t>
            </a:r>
            <a:endParaRPr kumimoji="0" lang="en-US" sz="2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7"/>
          <p:cNvSpPr/>
          <p:nvPr/>
        </p:nvSpPr>
        <p:spPr>
          <a:xfrm>
            <a:off x="457200" y="658368"/>
            <a:ext cx="82296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666666"/>
                </a:solidFill>
                <a:effectLst/>
                <a:uLnTx/>
                <a:uFillTx/>
                <a:latin typeface="Calibri" pitchFamily="34" charset="0"/>
                <a:ea typeface="Calibri" pitchFamily="34" charset="-122"/>
                <a:cs typeface="Calibri" pitchFamily="34" charset="-120"/>
              </a:rPr>
              <a:t>F5CTSLTM1.02 (U/A) — One arm, two arm, nPath/DSR, and auto last-hop</a:t>
            </a:r>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aphicFrame>
        <p:nvGraphicFramePr>
          <p:cNvPr id="11" name="Table 0"/>
          <p:cNvGraphicFramePr>
            <a:graphicFrameLocks noGrp="1"/>
          </p:cNvGraphicFramePr>
          <p:nvPr/>
        </p:nvGraphicFramePr>
        <p:xfrm>
          <a:off x="365760" y="914400"/>
          <a:ext cx="8412480" cy="1341120"/>
        </p:xfrm>
        <a:graphic>
          <a:graphicData uri="http://schemas.openxmlformats.org/drawingml/2006/table">
            <a:tbl>
              <a:tblPr/>
              <a:tblGrid>
                <a:gridCol w="100584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2468880">
                  <a:extLst>
                    <a:ext uri="{9D8B030D-6E8A-4147-A177-3AD203B41FA5}">
                      <a16:colId xmlns:a16="http://schemas.microsoft.com/office/drawing/2014/main" val="20004"/>
                    </a:ext>
                  </a:extLst>
                </a:gridCol>
              </a:tblGrid>
              <a:tr h="0">
                <a:tc>
                  <a:txBody>
                    <a:bodyPr/>
                    <a:lstStyle/>
                    <a:p>
                      <a:pPr marL="0" indent="0">
                        <a:buNone/>
                      </a:pPr>
                      <a:r>
                        <a:rPr lang="en-US" sz="1000" b="1">
                          <a:solidFill>
                            <a:srgbClr val="FFFFFF"/>
                          </a:solidFill>
                        </a:rPr>
                        <a:t>Topology</a:t>
                      </a:r>
                      <a:endParaRPr lang="en-US" sz="1000"/>
                    </a:p>
                  </a:txBody>
                  <a:tcPr marL="50800" marR="50800" marT="38100" marB="381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E41AA"/>
                    </a:solidFill>
                  </a:tcPr>
                </a:tc>
                <a:tc>
                  <a:txBody>
                    <a:bodyPr/>
                    <a:lstStyle/>
                    <a:p>
                      <a:pPr marL="0" indent="0">
                        <a:buNone/>
                      </a:pPr>
                      <a:r>
                        <a:rPr lang="en-US" sz="1000" b="1">
                          <a:solidFill>
                            <a:srgbClr val="FFFFFF"/>
                          </a:solidFill>
                        </a:rPr>
                        <a:t>How traffic flows</a:t>
                      </a:r>
                      <a:endParaRPr lang="en-US" sz="1000"/>
                    </a:p>
                  </a:txBody>
                  <a:tcPr marL="50800" marR="50800" marT="38100" marB="381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E41AA"/>
                    </a:solidFill>
                  </a:tcPr>
                </a:tc>
                <a:tc>
                  <a:txBody>
                    <a:bodyPr/>
                    <a:lstStyle/>
                    <a:p>
                      <a:pPr marL="0" indent="0">
                        <a:buNone/>
                      </a:pPr>
                      <a:r>
                        <a:rPr lang="en-US" sz="1000" b="1">
                          <a:solidFill>
                            <a:srgbClr val="FFFFFF"/>
                          </a:solidFill>
                        </a:rPr>
                        <a:t>SNAT required?</a:t>
                      </a:r>
                      <a:endParaRPr lang="en-US" sz="1000"/>
                    </a:p>
                  </a:txBody>
                  <a:tcPr marL="50800" marR="50800" marT="38100" marB="381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E41AA"/>
                    </a:solidFill>
                  </a:tcPr>
                </a:tc>
                <a:tc>
                  <a:txBody>
                    <a:bodyPr/>
                    <a:lstStyle/>
                    <a:p>
                      <a:pPr marL="0" indent="0">
                        <a:buNone/>
                      </a:pPr>
                      <a:r>
                        <a:rPr lang="en-US" sz="1000" b="1">
                          <a:solidFill>
                            <a:srgbClr val="FFFFFF"/>
                          </a:solidFill>
                        </a:rPr>
                        <a:t>L7 features?</a:t>
                      </a:r>
                      <a:endParaRPr lang="en-US" sz="1000"/>
                    </a:p>
                  </a:txBody>
                  <a:tcPr marL="50800" marR="50800" marT="38100" marB="381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E41AA"/>
                    </a:solidFill>
                  </a:tcPr>
                </a:tc>
                <a:tc>
                  <a:txBody>
                    <a:bodyPr/>
                    <a:lstStyle/>
                    <a:p>
                      <a:pPr marL="0" indent="0">
                        <a:buNone/>
                      </a:pPr>
                      <a:r>
                        <a:rPr lang="en-US" sz="1000" b="1">
                          <a:solidFill>
                            <a:srgbClr val="FFFFFF"/>
                          </a:solidFill>
                        </a:rPr>
                        <a:t>Use case</a:t>
                      </a:r>
                      <a:endParaRPr lang="en-US" sz="1000"/>
                    </a:p>
                  </a:txBody>
                  <a:tcPr marL="50800" marR="50800" marT="38100" marB="381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E41AA"/>
                    </a:solidFill>
                  </a:tcPr>
                </a:tc>
                <a:extLst>
                  <a:ext uri="{0D108BD9-81ED-4DB2-BD59-A6C34878D82A}">
                    <a16:rowId xmlns:a16="http://schemas.microsoft.com/office/drawing/2014/main" val="10000"/>
                  </a:ext>
                </a:extLst>
              </a:tr>
              <a:tr h="0">
                <a:tc>
                  <a:txBody>
                    <a:bodyPr/>
                    <a:lstStyle/>
                    <a:p>
                      <a:pPr marL="0" indent="0">
                        <a:buNone/>
                      </a:pPr>
                      <a:r>
                        <a:rPr lang="en-US" sz="900" b="1">
                          <a:solidFill>
                            <a:srgbClr val="000000"/>
                          </a:solidFill>
                        </a:rPr>
                        <a:t>Two-arm</a:t>
                      </a:r>
                      <a:endParaRPr lang="en-US" sz="900"/>
                    </a:p>
                    <a:p>
                      <a:pPr marL="0" indent="0">
                        <a:buNone/>
                      </a:pPr>
                      <a:r>
                        <a:rPr lang="en-US" sz="900" b="1">
                          <a:solidFill>
                            <a:srgbClr val="000000"/>
                          </a:solidFill>
                        </a:rPr>
                        <a:t>(routed)</a:t>
                      </a:r>
                      <a:endParaRPr lang="en-US" sz="900"/>
                    </a:p>
                  </a:txBody>
                  <a:tcPr marL="50800" marR="50800" marT="38100" marB="381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800">
                          <a:solidFill>
                            <a:srgbClr val="000000"/>
                          </a:solidFill>
                        </a:rPr>
                        <a:t>Client → BIG-IP (ext VLAN) → server (int VLAN). Server default gw = BIG-IP floating self IP.</a:t>
                      </a:r>
                      <a:endParaRPr lang="en-US" sz="800"/>
                    </a:p>
                  </a:txBody>
                  <a:tcPr marL="50800" marR="50800" marT="38100" marB="381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800">
                          <a:solidFill>
                            <a:srgbClr val="000000"/>
                          </a:solidFill>
                        </a:rPr>
                        <a:t>No — if servers gw through BIG-IP. Yes — if servers use another gw.</a:t>
                      </a:r>
                      <a:endParaRPr lang="en-US" sz="800"/>
                    </a:p>
                  </a:txBody>
                  <a:tcPr marL="50800" marR="50800" marT="38100" marB="381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800">
                          <a:solidFill>
                            <a:srgbClr val="009639"/>
                          </a:solidFill>
                        </a:rPr>
                        <a:t>✔ Full proxy</a:t>
                      </a:r>
                      <a:endParaRPr lang="en-US" sz="800"/>
                    </a:p>
                  </a:txBody>
                  <a:tcPr marL="50800" marR="50800" marT="38100" marB="381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800">
                          <a:solidFill>
                            <a:srgbClr val="000000"/>
                          </a:solidFill>
                        </a:rPr>
                        <a:t>Standard DC. Most common.</a:t>
                      </a:r>
                      <a:endParaRPr lang="en-US" sz="800"/>
                    </a:p>
                  </a:txBody>
                  <a:tcPr marL="50800" marR="50800" marT="38100" marB="381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900" b="1">
                          <a:solidFill>
                            <a:srgbClr val="000000"/>
                          </a:solidFill>
                        </a:rPr>
                        <a:t>One-arm</a:t>
                      </a:r>
                      <a:endParaRPr lang="en-US" sz="900"/>
                    </a:p>
                  </a:txBody>
                  <a:tcPr marL="50800" marR="50800" marT="38100" marB="381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buNone/>
                      </a:pPr>
                      <a:r>
                        <a:rPr lang="en-US" sz="800">
                          <a:solidFill>
                            <a:srgbClr val="000000"/>
                          </a:solidFill>
                        </a:rPr>
                        <a:t>Client and servers on SAME VLAN/subnet. BIG-IP has one interface.</a:t>
                      </a:r>
                      <a:endParaRPr lang="en-US" sz="800"/>
                    </a:p>
                  </a:txBody>
                  <a:tcPr marL="50800" marR="50800" marT="38100" marB="381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buNone/>
                      </a:pPr>
                      <a:r>
                        <a:rPr lang="en-US" sz="800">
                          <a:solidFill>
                            <a:srgbClr val="E4002B"/>
                          </a:solidFill>
                        </a:rPr>
                        <a:t>YES — always. Without SNAT, server responds directly to client bypassing BIG-IP.</a:t>
                      </a:r>
                      <a:endParaRPr lang="en-US" sz="800"/>
                    </a:p>
                  </a:txBody>
                  <a:tcPr marL="50800" marR="50800" marT="38100" marB="381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buNone/>
                      </a:pPr>
                      <a:r>
                        <a:rPr lang="en-US" sz="800">
                          <a:solidFill>
                            <a:srgbClr val="009639"/>
                          </a:solidFill>
                        </a:rPr>
                        <a:t>✔ Full proxy</a:t>
                      </a:r>
                      <a:endParaRPr lang="en-US" sz="800"/>
                    </a:p>
                  </a:txBody>
                  <a:tcPr marL="50800" marR="50800" marT="38100" marB="381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buNone/>
                      </a:pPr>
                      <a:r>
                        <a:rPr lang="en-US" sz="800">
                          <a:solidFill>
                            <a:srgbClr val="000000"/>
                          </a:solidFill>
                        </a:rPr>
                        <a:t>Simple. No network redesign.</a:t>
                      </a:r>
                      <a:endParaRPr lang="en-US" sz="800"/>
                    </a:p>
                  </a:txBody>
                  <a:tcPr marL="50800" marR="50800" marT="38100" marB="381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0">
                <a:tc>
                  <a:txBody>
                    <a:bodyPr/>
                    <a:lstStyle/>
                    <a:p>
                      <a:pPr marL="0" indent="0">
                        <a:buNone/>
                      </a:pPr>
                      <a:r>
                        <a:rPr lang="en-US" sz="900" b="1">
                          <a:solidFill>
                            <a:srgbClr val="000000"/>
                          </a:solidFill>
                        </a:rPr>
                        <a:t>nPath / DSR</a:t>
                      </a:r>
                      <a:endParaRPr lang="en-US" sz="900"/>
                    </a:p>
                  </a:txBody>
                  <a:tcPr marL="50800" marR="50800" marT="38100" marB="381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800">
                          <a:solidFill>
                            <a:srgbClr val="000000"/>
                          </a:solidFill>
                        </a:rPr>
                        <a:t>Client → BIG-IP → server. Server responds DIRECTLY to client (bypasses BIG-IP). Loopback VIP on server.</a:t>
                      </a:r>
                      <a:endParaRPr lang="en-US" sz="800"/>
                    </a:p>
                  </a:txBody>
                  <a:tcPr marL="50800" marR="50800" marT="38100" marB="381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800">
                          <a:solidFill>
                            <a:srgbClr val="000000"/>
                          </a:solidFill>
                        </a:rPr>
                        <a:t>No — server sees real client IP. BIG-IP inbound only.</a:t>
                      </a:r>
                      <a:endParaRPr lang="en-US" sz="800"/>
                    </a:p>
                  </a:txBody>
                  <a:tcPr marL="50800" marR="50800" marT="38100" marB="381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800">
                          <a:solidFill>
                            <a:srgbClr val="E4002B"/>
                          </a:solidFill>
                        </a:rPr>
                        <a:t>✘ No L7</a:t>
                      </a:r>
                      <a:endParaRPr lang="en-US" sz="800"/>
                    </a:p>
                    <a:p>
                      <a:pPr marL="0" indent="0">
                        <a:buNone/>
                      </a:pPr>
                      <a:r>
                        <a:rPr lang="en-US" sz="800">
                          <a:solidFill>
                            <a:srgbClr val="E4002B"/>
                          </a:solidFill>
                        </a:rPr>
                        <a:t>Packet-based</a:t>
                      </a:r>
                      <a:endParaRPr lang="en-US" sz="800"/>
                    </a:p>
                  </a:txBody>
                  <a:tcPr marL="50800" marR="50800" marT="38100" marB="381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800">
                          <a:solidFill>
                            <a:srgbClr val="000000"/>
                          </a:solidFill>
                        </a:rPr>
                        <a:t>Max throughput. Asymmetric. Video.</a:t>
                      </a:r>
                      <a:endParaRPr lang="en-US" sz="800"/>
                    </a:p>
                  </a:txBody>
                  <a:tcPr marL="50800" marR="50800" marT="38100" marB="381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2" name="Text 8"/>
          <p:cNvSpPr/>
          <p:nvPr/>
        </p:nvSpPr>
        <p:spPr>
          <a:xfrm>
            <a:off x="457200" y="3200400"/>
            <a:ext cx="45720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61228B"/>
                </a:solidFill>
                <a:effectLst/>
                <a:uLnTx/>
                <a:uFillTx/>
                <a:latin typeface="Arial" pitchFamily="34" charset="0"/>
                <a:ea typeface="Arial" pitchFamily="34" charset="-122"/>
                <a:cs typeface="Arial" pitchFamily="34" charset="-120"/>
              </a:rPr>
              <a:t>Auto last-hop</a:t>
            </a: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Shape 9"/>
          <p:cNvSpPr/>
          <p:nvPr/>
        </p:nvSpPr>
        <p:spPr>
          <a:xfrm>
            <a:off x="457200" y="3429000"/>
            <a:ext cx="8229600" cy="1143000"/>
          </a:xfrm>
          <a:prstGeom prst="rect">
            <a:avLst/>
          </a:prstGeom>
          <a:solidFill>
            <a:srgbClr val="F2F2F2"/>
          </a:solidFill>
          <a:ln w="12700">
            <a:solidFill>
              <a:srgbClr val="D9D9D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0"/>
          <p:cNvSpPr/>
          <p:nvPr/>
        </p:nvSpPr>
        <p:spPr>
          <a:xfrm>
            <a:off x="548640" y="3474720"/>
            <a:ext cx="8046720" cy="10515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61228B"/>
                </a:solidFill>
                <a:effectLst/>
                <a:uLnTx/>
                <a:uFillTx/>
                <a:latin typeface="Calibri" pitchFamily="34" charset="0"/>
                <a:ea typeface="Calibri" pitchFamily="34" charset="-122"/>
                <a:cs typeface="Calibri" pitchFamily="34" charset="-120"/>
              </a:rPr>
              <a:t>What it does: </a:t>
            </a:r>
            <a:r>
              <a:rPr kumimoji="0" lang="en-US" sz="900" b="0" i="0" u="none" strike="noStrike" kern="1200" cap="none" spc="0" normalizeH="0" baseline="0" noProof="0">
                <a:ln>
                  <a:noFill/>
                </a:ln>
                <a:solidFill>
                  <a:srgbClr val="333333"/>
                </a:solidFill>
                <a:effectLst/>
                <a:uLnTx/>
                <a:uFillTx/>
                <a:latin typeface="Calibri" pitchFamily="34" charset="0"/>
                <a:ea typeface="Calibri" pitchFamily="34" charset="-122"/>
                <a:cs typeface="Calibri" pitchFamily="34" charset="-120"/>
              </a:rPr>
              <a:t>BIG-IP remembers the MAC of the device that sent each inbound connection. Responses return through the SAME device regardless of the routing table.
</a:t>
            </a:r>
            <a:r>
              <a:rPr kumimoji="0" lang="en-US" sz="1000" b="1" i="0" u="none" strike="noStrike" kern="1200" cap="none" spc="0" normalizeH="0" baseline="0" noProof="0">
                <a:ln>
                  <a:noFill/>
                </a:ln>
                <a:solidFill>
                  <a:srgbClr val="61228B"/>
                </a:solidFill>
                <a:effectLst/>
                <a:uLnTx/>
                <a:uFillTx/>
                <a:latin typeface="Calibri" pitchFamily="34" charset="0"/>
                <a:ea typeface="Calibri" pitchFamily="34" charset="-122"/>
                <a:cs typeface="Calibri" pitchFamily="34" charset="-120"/>
              </a:rPr>
              <a:t>Why it matters: </a:t>
            </a:r>
            <a:r>
              <a:rPr kumimoji="0" lang="en-US" sz="900" b="0" i="0" u="none" strike="noStrike" kern="1200" cap="none" spc="0" normalizeH="0" baseline="0" noProof="0">
                <a:ln>
                  <a:noFill/>
                </a:ln>
                <a:solidFill>
                  <a:srgbClr val="333333"/>
                </a:solidFill>
                <a:effectLst/>
                <a:uLnTx/>
                <a:uFillTx/>
                <a:latin typeface="Calibri" pitchFamily="34" charset="0"/>
                <a:ea typeface="Calibri" pitchFamily="34" charset="-122"/>
                <a:cs typeface="Calibri" pitchFamily="34" charset="-120"/>
              </a:rPr>
              <a:t>Asymmetric routing (multiple routers/paths) — without auto last-hop, responses take different routes and stateful firewalls drop them.
</a:t>
            </a:r>
            <a:r>
              <a:rPr kumimoji="0" lang="en-US" sz="900" b="1" i="0" u="none" strike="noStrike" kern="1200" cap="none" spc="0" normalizeH="0" baseline="0" noProof="0">
                <a:ln>
                  <a:noFill/>
                </a:ln>
                <a:solidFill>
                  <a:srgbClr val="009639"/>
                </a:solidFill>
                <a:effectLst/>
                <a:uLnTx/>
                <a:uFillTx/>
                <a:latin typeface="Calibri" pitchFamily="34" charset="0"/>
                <a:ea typeface="Calibri" pitchFamily="34" charset="-122"/>
                <a:cs typeface="Calibri" pitchFamily="34" charset="-120"/>
              </a:rPr>
              <a:t>Default: enabled.  </a:t>
            </a:r>
            <a:r>
              <a:rPr kumimoji="0" lang="en-US" sz="800" b="0" i="0" u="none" strike="noStrike" kern="1200" cap="none" spc="0" normalizeH="0" baseline="0" noProof="0">
                <a:ln>
                  <a:noFill/>
                </a:ln>
                <a:solidFill>
                  <a:srgbClr val="333333"/>
                </a:solidFill>
                <a:effectLst/>
                <a:uLnTx/>
                <a:uFillTx/>
                <a:latin typeface="Courier New" pitchFamily="34" charset="0"/>
                <a:ea typeface="Courier New" pitchFamily="34" charset="-122"/>
                <a:cs typeface="Courier New" pitchFamily="34" charset="-120"/>
              </a:rPr>
              <a:t>TMSH: modify ltm global-settings traffic-control auto-lasthop enabled</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371600" cy="73152"/>
          </a:xfrm>
          <a:prstGeom prst="rect">
            <a:avLst/>
          </a:prstGeom>
          <a:solidFill>
            <a:srgbClr val="F29A3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1371600" y="0"/>
            <a:ext cx="2743200" cy="73152"/>
          </a:xfrm>
          <a:prstGeom prst="rect">
            <a:avLst/>
          </a:prstGeom>
          <a:solidFill>
            <a:srgbClr val="E4002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4114800" y="0"/>
            <a:ext cx="1371600" cy="73152"/>
          </a:xfrm>
          <a:prstGeom prst="rect">
            <a:avLst/>
          </a:prstGeom>
          <a:solidFill>
            <a:srgbClr val="AB278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5486400" y="0"/>
            <a:ext cx="2286000" cy="73152"/>
          </a:xfrm>
          <a:prstGeom prst="rect">
            <a:avLst/>
          </a:prstGeom>
          <a:solidFill>
            <a:srgbClr val="0E41A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7772400" y="0"/>
            <a:ext cx="1371600" cy="73152"/>
          </a:xfrm>
          <a:prstGeom prst="rect">
            <a:avLst/>
          </a:prstGeom>
          <a:solidFill>
            <a:srgbClr val="61228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5"/>
          <p:cNvSpPr/>
          <p:nvPr/>
        </p:nvSpPr>
        <p:spPr>
          <a:xfrm>
            <a:off x="365760" y="4800600"/>
            <a:ext cx="2743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666666"/>
                </a:solidFill>
                <a:effectLst/>
                <a:uLnTx/>
                <a:uFillTx/>
                <a:latin typeface="Calibri" pitchFamily="34" charset="0"/>
                <a:ea typeface="Calibri" pitchFamily="34" charset="-122"/>
                <a:cs typeface="Calibri" pitchFamily="34" charset="-120"/>
              </a:rPr>
              <a:t>108    © 2026 F5</a:t>
            </a:r>
            <a:endParaRPr kumimoji="0" lang="en-US" sz="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8" name="Image 0" descr="preencoded.png"/>
          <p:cNvPicPr>
            <a:picLocks noChangeAspect="1"/>
          </p:cNvPicPr>
          <p:nvPr/>
        </p:nvPicPr>
        <p:blipFill>
          <a:blip r:embed="rId3"/>
          <a:stretch>
            <a:fillRect/>
          </a:stretch>
        </p:blipFill>
        <p:spPr>
          <a:xfrm>
            <a:off x="8458200" y="4663440"/>
            <a:ext cx="384048" cy="384048"/>
          </a:xfrm>
          <a:prstGeom prst="rect">
            <a:avLst/>
          </a:prstGeom>
        </p:spPr>
      </p:pic>
      <p:sp>
        <p:nvSpPr>
          <p:cNvPr id="9" name="Text 6"/>
          <p:cNvSpPr/>
          <p:nvPr/>
        </p:nvSpPr>
        <p:spPr>
          <a:xfrm>
            <a:off x="457200" y="274320"/>
            <a:ext cx="822960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000000"/>
                </a:solidFill>
                <a:effectLst/>
                <a:uLnTx/>
                <a:uFillTx/>
                <a:latin typeface="Arial" pitchFamily="34" charset="0"/>
                <a:ea typeface="Arial" pitchFamily="34" charset="-122"/>
                <a:cs typeface="Arial" pitchFamily="34" charset="-120"/>
              </a:rPr>
              <a:t>HTTP response codes</a:t>
            </a:r>
            <a:endParaRPr kumimoji="0" lang="en-US" sz="2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7"/>
          <p:cNvSpPr/>
          <p:nvPr/>
        </p:nvSpPr>
        <p:spPr>
          <a:xfrm>
            <a:off x="457200" y="658368"/>
            <a:ext cx="82296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666666"/>
                </a:solidFill>
                <a:effectLst/>
                <a:uLnTx/>
                <a:uFillTx/>
                <a:latin typeface="Calibri" pitchFamily="34" charset="0"/>
                <a:ea typeface="Calibri" pitchFamily="34" charset="-122"/>
                <a:cs typeface="Calibri" pitchFamily="34" charset="-120"/>
              </a:rPr>
              <a:t>F5CTSLTM5.01 (U/A) — Interpret response codes to determine the root cause of an application problem</a:t>
            </a:r>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aphicFrame>
        <p:nvGraphicFramePr>
          <p:cNvPr id="11" name="Table 0"/>
          <p:cNvGraphicFramePr>
            <a:graphicFrameLocks noGrp="1"/>
          </p:cNvGraphicFramePr>
          <p:nvPr/>
        </p:nvGraphicFramePr>
        <p:xfrm>
          <a:off x="365760" y="914400"/>
          <a:ext cx="8412480" cy="2032000"/>
        </p:xfrm>
        <a:graphic>
          <a:graphicData uri="http://schemas.openxmlformats.org/drawingml/2006/table">
            <a:tbl>
              <a:tblPr/>
              <a:tblGrid>
                <a:gridCol w="50292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4434840">
                  <a:extLst>
                    <a:ext uri="{9D8B030D-6E8A-4147-A177-3AD203B41FA5}">
                      <a16:colId xmlns:a16="http://schemas.microsoft.com/office/drawing/2014/main" val="20003"/>
                    </a:ext>
                  </a:extLst>
                </a:gridCol>
              </a:tblGrid>
              <a:tr h="0">
                <a:tc>
                  <a:txBody>
                    <a:bodyPr/>
                    <a:lstStyle/>
                    <a:p>
                      <a:pPr marL="0" indent="0" algn="ctr">
                        <a:buNone/>
                      </a:pPr>
                      <a:r>
                        <a:rPr lang="en-US" sz="1000" b="1">
                          <a:solidFill>
                            <a:srgbClr val="FFFFFF"/>
                          </a:solidFill>
                        </a:rPr>
                        <a:t>Code</a:t>
                      </a:r>
                      <a:endParaRPr lang="en-US" sz="1000"/>
                    </a:p>
                  </a:txBody>
                  <a:tcPr marL="63500" marR="635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E41AA"/>
                    </a:solidFill>
                  </a:tcPr>
                </a:tc>
                <a:tc>
                  <a:txBody>
                    <a:bodyPr/>
                    <a:lstStyle/>
                    <a:p>
                      <a:pPr marL="0" indent="0">
                        <a:buNone/>
                      </a:pPr>
                      <a:r>
                        <a:rPr lang="en-US" sz="1000" b="1">
                          <a:solidFill>
                            <a:srgbClr val="FFFFFF"/>
                          </a:solidFill>
                        </a:rPr>
                        <a:t>Name</a:t>
                      </a:r>
                      <a:endParaRPr lang="en-US" sz="1000"/>
                    </a:p>
                  </a:txBody>
                  <a:tcPr marL="63500" marR="635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E41AA"/>
                    </a:solidFill>
                  </a:tcPr>
                </a:tc>
                <a:tc>
                  <a:txBody>
                    <a:bodyPr/>
                    <a:lstStyle/>
                    <a:p>
                      <a:pPr marL="0" indent="0">
                        <a:buNone/>
                      </a:pPr>
                      <a:r>
                        <a:rPr lang="en-US" sz="1000" b="1">
                          <a:solidFill>
                            <a:srgbClr val="FFFFFF"/>
                          </a:solidFill>
                        </a:rPr>
                        <a:t>What it means</a:t>
                      </a:r>
                      <a:endParaRPr lang="en-US" sz="1000"/>
                    </a:p>
                  </a:txBody>
                  <a:tcPr marL="63500" marR="635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E41AA"/>
                    </a:solidFill>
                  </a:tcPr>
                </a:tc>
                <a:tc>
                  <a:txBody>
                    <a:bodyPr/>
                    <a:lstStyle/>
                    <a:p>
                      <a:pPr marL="0" indent="0">
                        <a:buNone/>
                      </a:pPr>
                      <a:r>
                        <a:rPr lang="en-US" sz="1000" b="1">
                          <a:solidFill>
                            <a:srgbClr val="FFFFFF"/>
                          </a:solidFill>
                        </a:rPr>
                        <a:t>BIG-IP investigation</a:t>
                      </a:r>
                      <a:endParaRPr lang="en-US" sz="1000"/>
                    </a:p>
                  </a:txBody>
                  <a:tcPr marL="63500" marR="635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E41AA"/>
                    </a:solidFill>
                  </a:tcPr>
                </a:tc>
                <a:extLst>
                  <a:ext uri="{0D108BD9-81ED-4DB2-BD59-A6C34878D82A}">
                    <a16:rowId xmlns:a16="http://schemas.microsoft.com/office/drawing/2014/main" val="10000"/>
                  </a:ext>
                </a:extLst>
              </a:tr>
              <a:tr h="0">
                <a:tc>
                  <a:txBody>
                    <a:bodyPr/>
                    <a:lstStyle/>
                    <a:p>
                      <a:pPr marL="0" indent="0" algn="ctr">
                        <a:buNone/>
                      </a:pPr>
                      <a:r>
                        <a:rPr lang="en-US" sz="1000">
                          <a:solidFill>
                            <a:srgbClr val="009639"/>
                          </a:solidFill>
                        </a:rPr>
                        <a:t>200</a:t>
                      </a:r>
                      <a:endParaRPr lang="en-US" sz="1000"/>
                    </a:p>
                  </a:txBody>
                  <a:tcPr marL="63500" marR="635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1000" b="1">
                          <a:solidFill>
                            <a:srgbClr val="000000"/>
                          </a:solidFill>
                        </a:rPr>
                        <a:t>OK</a:t>
                      </a:r>
                      <a:endParaRPr lang="en-US" sz="1000"/>
                    </a:p>
                  </a:txBody>
                  <a:tcPr marL="63500" marR="635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900">
                          <a:solidFill>
                            <a:srgbClr val="000000"/>
                          </a:solidFill>
                        </a:rPr>
                        <a:t>Request succeeded. Normal response.</a:t>
                      </a:r>
                      <a:endParaRPr lang="en-US" sz="900"/>
                    </a:p>
                  </a:txBody>
                  <a:tcPr marL="63500" marR="635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900">
                          <a:solidFill>
                            <a:srgbClr val="000000"/>
                          </a:solidFill>
                        </a:rPr>
                        <a:t>No issue. Baseline for comparison.</a:t>
                      </a:r>
                      <a:endParaRPr lang="en-US" sz="900"/>
                    </a:p>
                  </a:txBody>
                  <a:tcPr marL="63500" marR="635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ctr">
                        <a:buNone/>
                      </a:pPr>
                      <a:r>
                        <a:rPr lang="en-US" sz="1000">
                          <a:solidFill>
                            <a:srgbClr val="0E41AA"/>
                          </a:solidFill>
                        </a:rPr>
                        <a:t>301</a:t>
                      </a:r>
                      <a:endParaRPr lang="en-US" sz="1000"/>
                    </a:p>
                  </a:txBody>
                  <a:tcPr marL="63500" marR="635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buNone/>
                      </a:pPr>
                      <a:r>
                        <a:rPr lang="en-US" sz="1000" b="1">
                          <a:solidFill>
                            <a:srgbClr val="000000"/>
                          </a:solidFill>
                        </a:rPr>
                        <a:t>Moved Permanently</a:t>
                      </a:r>
                      <a:endParaRPr lang="en-US" sz="1000"/>
                    </a:p>
                  </a:txBody>
                  <a:tcPr marL="63500" marR="635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buNone/>
                      </a:pPr>
                      <a:r>
                        <a:rPr lang="en-US" sz="900">
                          <a:solidFill>
                            <a:srgbClr val="000000"/>
                          </a:solidFill>
                        </a:rPr>
                        <a:t>Resource permanently at new URL.</a:t>
                      </a:r>
                      <a:endParaRPr lang="en-US" sz="900"/>
                    </a:p>
                  </a:txBody>
                  <a:tcPr marL="63500" marR="635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buNone/>
                      </a:pPr>
                      <a:r>
                        <a:rPr lang="en-US" sz="900">
                          <a:solidFill>
                            <a:srgbClr val="000000"/>
                          </a:solidFill>
                        </a:rPr>
                        <a:t>Check iRules (HTTP::redirect). Server vs BIG-IP redirect?</a:t>
                      </a:r>
                      <a:endParaRPr lang="en-US" sz="900"/>
                    </a:p>
                  </a:txBody>
                  <a:tcPr marL="63500" marR="635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0">
                <a:tc>
                  <a:txBody>
                    <a:bodyPr/>
                    <a:lstStyle/>
                    <a:p>
                      <a:pPr marL="0" indent="0" algn="ctr">
                        <a:buNone/>
                      </a:pPr>
                      <a:r>
                        <a:rPr lang="en-US" sz="1000">
                          <a:solidFill>
                            <a:srgbClr val="0E41AA"/>
                          </a:solidFill>
                        </a:rPr>
                        <a:t>302</a:t>
                      </a:r>
                      <a:endParaRPr lang="en-US" sz="1000"/>
                    </a:p>
                  </a:txBody>
                  <a:tcPr marL="63500" marR="635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1000" b="1">
                          <a:solidFill>
                            <a:srgbClr val="000000"/>
                          </a:solidFill>
                        </a:rPr>
                        <a:t>Found (Temp Redirect)</a:t>
                      </a:r>
                      <a:endParaRPr lang="en-US" sz="1000"/>
                    </a:p>
                  </a:txBody>
                  <a:tcPr marL="63500" marR="635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900">
                          <a:solidFill>
                            <a:srgbClr val="000000"/>
                          </a:solidFill>
                        </a:rPr>
                        <a:t>Temporary redirect to different URL.</a:t>
                      </a:r>
                      <a:endParaRPr lang="en-US" sz="900"/>
                    </a:p>
                  </a:txBody>
                  <a:tcPr marL="63500" marR="635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900">
                          <a:solidFill>
                            <a:srgbClr val="000000"/>
                          </a:solidFill>
                        </a:rPr>
                        <a:t>Common in HTTP → HTTPS redirects. Check redirect iRule/policy.</a:t>
                      </a:r>
                      <a:endParaRPr lang="en-US" sz="900"/>
                    </a:p>
                  </a:txBody>
                  <a:tcPr marL="63500" marR="635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ctr">
                        <a:buNone/>
                      </a:pPr>
                      <a:r>
                        <a:rPr lang="en-US" sz="1000">
                          <a:solidFill>
                            <a:srgbClr val="F29A36"/>
                          </a:solidFill>
                        </a:rPr>
                        <a:t>400</a:t>
                      </a:r>
                      <a:endParaRPr lang="en-US" sz="1000"/>
                    </a:p>
                  </a:txBody>
                  <a:tcPr marL="63500" marR="635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buNone/>
                      </a:pPr>
                      <a:r>
                        <a:rPr lang="en-US" sz="1000" b="1">
                          <a:solidFill>
                            <a:srgbClr val="000000"/>
                          </a:solidFill>
                        </a:rPr>
                        <a:t>Bad Request</a:t>
                      </a:r>
                      <a:endParaRPr lang="en-US" sz="1000"/>
                    </a:p>
                  </a:txBody>
                  <a:tcPr marL="63500" marR="635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buNone/>
                      </a:pPr>
                      <a:r>
                        <a:rPr lang="en-US" sz="900">
                          <a:solidFill>
                            <a:srgbClr val="000000"/>
                          </a:solidFill>
                        </a:rPr>
                        <a:t>Malformed request from client.</a:t>
                      </a:r>
                      <a:endParaRPr lang="en-US" sz="900"/>
                    </a:p>
                  </a:txBody>
                  <a:tcPr marL="63500" marR="635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buNone/>
                      </a:pPr>
                      <a:r>
                        <a:rPr lang="en-US" sz="900">
                          <a:solidFill>
                            <a:srgbClr val="000000"/>
                          </a:solidFill>
                        </a:rPr>
                        <a:t>Check HTTP profile max header size. Oversized cookies?</a:t>
                      </a:r>
                      <a:endParaRPr lang="en-US" sz="900"/>
                    </a:p>
                  </a:txBody>
                  <a:tcPr marL="63500" marR="635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r h="0">
                <a:tc>
                  <a:txBody>
                    <a:bodyPr/>
                    <a:lstStyle/>
                    <a:p>
                      <a:pPr marL="0" indent="0" algn="ctr">
                        <a:buNone/>
                      </a:pPr>
                      <a:r>
                        <a:rPr lang="en-US" sz="1000">
                          <a:solidFill>
                            <a:srgbClr val="F29A36"/>
                          </a:solidFill>
                        </a:rPr>
                        <a:t>403</a:t>
                      </a:r>
                      <a:endParaRPr lang="en-US" sz="1000"/>
                    </a:p>
                  </a:txBody>
                  <a:tcPr marL="63500" marR="635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1000" b="1">
                          <a:solidFill>
                            <a:srgbClr val="000000"/>
                          </a:solidFill>
                        </a:rPr>
                        <a:t>Forbidden</a:t>
                      </a:r>
                      <a:endParaRPr lang="en-US" sz="1000"/>
                    </a:p>
                  </a:txBody>
                  <a:tcPr marL="63500" marR="635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900">
                          <a:solidFill>
                            <a:srgbClr val="000000"/>
                          </a:solidFill>
                        </a:rPr>
                        <a:t>Server understood but refuses.</a:t>
                      </a:r>
                      <a:endParaRPr lang="en-US" sz="900"/>
                    </a:p>
                  </a:txBody>
                  <a:tcPr marL="63500" marR="635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900">
                          <a:solidFill>
                            <a:srgbClr val="000000"/>
                          </a:solidFill>
                        </a:rPr>
                        <a:t>Server ACLs, iRule deny, ASM block? Check both sides.</a:t>
                      </a:r>
                      <a:endParaRPr lang="en-US" sz="900"/>
                    </a:p>
                  </a:txBody>
                  <a:tcPr marL="63500" marR="635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lgn="ctr">
                        <a:buNone/>
                      </a:pPr>
                      <a:r>
                        <a:rPr lang="en-US" sz="1000">
                          <a:solidFill>
                            <a:srgbClr val="F29A36"/>
                          </a:solidFill>
                        </a:rPr>
                        <a:t>404</a:t>
                      </a:r>
                      <a:endParaRPr lang="en-US" sz="1000"/>
                    </a:p>
                  </a:txBody>
                  <a:tcPr marL="63500" marR="635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buNone/>
                      </a:pPr>
                      <a:r>
                        <a:rPr lang="en-US" sz="1000" b="1">
                          <a:solidFill>
                            <a:srgbClr val="000000"/>
                          </a:solidFill>
                        </a:rPr>
                        <a:t>Not Found</a:t>
                      </a:r>
                      <a:endParaRPr lang="en-US" sz="1000"/>
                    </a:p>
                  </a:txBody>
                  <a:tcPr marL="63500" marR="635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buNone/>
                      </a:pPr>
                      <a:r>
                        <a:rPr lang="en-US" sz="900">
                          <a:solidFill>
                            <a:srgbClr val="000000"/>
                          </a:solidFill>
                        </a:rPr>
                        <a:t>Requested URI doesn't exist on server.</a:t>
                      </a:r>
                      <a:endParaRPr lang="en-US" sz="900"/>
                    </a:p>
                  </a:txBody>
                  <a:tcPr marL="63500" marR="635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buNone/>
                      </a:pPr>
                      <a:r>
                        <a:rPr lang="en-US" sz="900">
                          <a:solidFill>
                            <a:srgbClr val="000000"/>
                          </a:solidFill>
                        </a:rPr>
                        <a:t>Wrong pool? Content switching sending to wrong pool/member?</a:t>
                      </a:r>
                      <a:endParaRPr lang="en-US" sz="900"/>
                    </a:p>
                  </a:txBody>
                  <a:tcPr marL="63500" marR="635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10006"/>
                  </a:ext>
                </a:extLst>
              </a:tr>
              <a:tr h="0">
                <a:tc>
                  <a:txBody>
                    <a:bodyPr/>
                    <a:lstStyle/>
                    <a:p>
                      <a:pPr marL="0" indent="0" algn="ctr">
                        <a:buNone/>
                      </a:pPr>
                      <a:r>
                        <a:rPr lang="en-US" sz="1000">
                          <a:solidFill>
                            <a:srgbClr val="E4002B"/>
                          </a:solidFill>
                        </a:rPr>
                        <a:t>500</a:t>
                      </a:r>
                      <a:endParaRPr lang="en-US" sz="1000"/>
                    </a:p>
                  </a:txBody>
                  <a:tcPr marL="63500" marR="635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1000" b="1">
                          <a:solidFill>
                            <a:srgbClr val="000000"/>
                          </a:solidFill>
                        </a:rPr>
                        <a:t>Internal Server Error</a:t>
                      </a:r>
                      <a:endParaRPr lang="en-US" sz="1000"/>
                    </a:p>
                  </a:txBody>
                  <a:tcPr marL="63500" marR="635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900">
                          <a:solidFill>
                            <a:srgbClr val="000000"/>
                          </a:solidFill>
                        </a:rPr>
                        <a:t>Server-side application crash.</a:t>
                      </a:r>
                      <a:endParaRPr lang="en-US" sz="900"/>
                    </a:p>
                  </a:txBody>
                  <a:tcPr marL="63500" marR="635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900">
                          <a:solidFill>
                            <a:srgbClr val="000000"/>
                          </a:solidFill>
                        </a:rPr>
                        <a:t>Not BIG-IP. Check server logs. Capture server-side response.</a:t>
                      </a:r>
                      <a:endParaRPr lang="en-US" sz="900"/>
                    </a:p>
                  </a:txBody>
                  <a:tcPr marL="63500" marR="635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0">
                <a:tc>
                  <a:txBody>
                    <a:bodyPr/>
                    <a:lstStyle/>
                    <a:p>
                      <a:pPr marL="0" indent="0" algn="ctr">
                        <a:buNone/>
                      </a:pPr>
                      <a:r>
                        <a:rPr lang="en-US" sz="1000">
                          <a:solidFill>
                            <a:srgbClr val="E4002B"/>
                          </a:solidFill>
                        </a:rPr>
                        <a:t>502</a:t>
                      </a:r>
                      <a:endParaRPr lang="en-US" sz="1000"/>
                    </a:p>
                  </a:txBody>
                  <a:tcPr marL="63500" marR="635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buNone/>
                      </a:pPr>
                      <a:r>
                        <a:rPr lang="en-US" sz="1000" b="1">
                          <a:solidFill>
                            <a:srgbClr val="000000"/>
                          </a:solidFill>
                        </a:rPr>
                        <a:t>Bad Gateway</a:t>
                      </a:r>
                      <a:endParaRPr lang="en-US" sz="1000"/>
                    </a:p>
                  </a:txBody>
                  <a:tcPr marL="63500" marR="635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buNone/>
                      </a:pPr>
                      <a:r>
                        <a:rPr lang="en-US" sz="900">
                          <a:solidFill>
                            <a:srgbClr val="000000"/>
                          </a:solidFill>
                        </a:rPr>
                        <a:t>BIG-IP got invalid response from server.</a:t>
                      </a:r>
                      <a:endParaRPr lang="en-US" sz="900"/>
                    </a:p>
                  </a:txBody>
                  <a:tcPr marL="63500" marR="635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buNone/>
                      </a:pPr>
                      <a:r>
                        <a:rPr lang="en-US" sz="900">
                          <a:solidFill>
                            <a:srgbClr val="000000"/>
                          </a:solidFill>
                        </a:rPr>
                        <a:t>Server sent malformed HTTP. Capture server-side pcap. Check health.</a:t>
                      </a:r>
                      <a:endParaRPr lang="en-US" sz="900"/>
                    </a:p>
                  </a:txBody>
                  <a:tcPr marL="63500" marR="635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10008"/>
                  </a:ext>
                </a:extLst>
              </a:tr>
              <a:tr h="0">
                <a:tc>
                  <a:txBody>
                    <a:bodyPr/>
                    <a:lstStyle/>
                    <a:p>
                      <a:pPr marL="0" indent="0" algn="ctr">
                        <a:buNone/>
                      </a:pPr>
                      <a:r>
                        <a:rPr lang="en-US" sz="1000">
                          <a:solidFill>
                            <a:srgbClr val="E4002B"/>
                          </a:solidFill>
                        </a:rPr>
                        <a:t>503</a:t>
                      </a:r>
                      <a:endParaRPr lang="en-US" sz="1000"/>
                    </a:p>
                  </a:txBody>
                  <a:tcPr marL="63500" marR="635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1000" b="1">
                          <a:solidFill>
                            <a:srgbClr val="000000"/>
                          </a:solidFill>
                        </a:rPr>
                        <a:t>Service Unavailable</a:t>
                      </a:r>
                      <a:endParaRPr lang="en-US" sz="1000"/>
                    </a:p>
                  </a:txBody>
                  <a:tcPr marL="63500" marR="635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900">
                          <a:solidFill>
                            <a:srgbClr val="000000"/>
                          </a:solidFill>
                        </a:rPr>
                        <a:t>Service temporarily unavailable.</a:t>
                      </a:r>
                      <a:endParaRPr lang="en-US" sz="900"/>
                    </a:p>
                  </a:txBody>
                  <a:tcPr marL="63500" marR="635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900">
                          <a:solidFill>
                            <a:srgbClr val="000000"/>
                          </a:solidFill>
                        </a:rPr>
                        <a:t>All pool members down? Check pool status. Sorry page configured?</a:t>
                      </a:r>
                      <a:endParaRPr lang="en-US" sz="900"/>
                    </a:p>
                  </a:txBody>
                  <a:tcPr marL="63500" marR="635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12" name="Shape 8"/>
          <p:cNvSpPr/>
          <p:nvPr/>
        </p:nvSpPr>
        <p:spPr>
          <a:xfrm>
            <a:off x="365760" y="4160520"/>
            <a:ext cx="8412480" cy="457200"/>
          </a:xfrm>
          <a:prstGeom prst="rect">
            <a:avLst/>
          </a:prstGeom>
          <a:solidFill>
            <a:srgbClr val="E8F0F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9"/>
          <p:cNvSpPr/>
          <p:nvPr/>
        </p:nvSpPr>
        <p:spPr>
          <a:xfrm>
            <a:off x="548640" y="4178808"/>
            <a:ext cx="8046720" cy="4206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E41AA"/>
                </a:solidFill>
                <a:effectLst/>
                <a:uLnTx/>
                <a:uFillTx/>
                <a:latin typeface="Calibri" pitchFamily="34" charset="0"/>
                <a:ea typeface="Calibri" pitchFamily="34" charset="-122"/>
                <a:cs typeface="Calibri" pitchFamily="34" charset="-120"/>
              </a:rPr>
              <a:t>Troubleshooting tip: </a:t>
            </a:r>
            <a:r>
              <a:rPr kumimoji="0" lang="en-US" sz="900" b="0" i="0" u="none" strike="noStrike" kern="1200" cap="none" spc="0" normalizeH="0" baseline="0" noProof="0">
                <a:ln>
                  <a:noFill/>
                </a:ln>
                <a:solidFill>
                  <a:srgbClr val="1A3A6C"/>
                </a:solidFill>
                <a:effectLst/>
                <a:uLnTx/>
                <a:uFillTx/>
                <a:latin typeface="Calibri" pitchFamily="34" charset="0"/>
                <a:ea typeface="Calibri" pitchFamily="34" charset="-122"/>
                <a:cs typeface="Calibri" pitchFamily="34" charset="-120"/>
              </a:rPr>
              <a:t>Capture BOTH client-side and server-side tcpdump simultaneously. Compare response codes — if client sees 502 but server sent 200, BIG-IP may be mangling the response (HTTP profile, compression, iRule). If both show 500, the problem is the server.</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371600" cy="73152"/>
          </a:xfrm>
          <a:prstGeom prst="rect">
            <a:avLst/>
          </a:prstGeom>
          <a:solidFill>
            <a:srgbClr val="F29A3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1371600" y="0"/>
            <a:ext cx="2743200" cy="73152"/>
          </a:xfrm>
          <a:prstGeom prst="rect">
            <a:avLst/>
          </a:prstGeom>
          <a:solidFill>
            <a:srgbClr val="E4002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4114800" y="0"/>
            <a:ext cx="1371600" cy="73152"/>
          </a:xfrm>
          <a:prstGeom prst="rect">
            <a:avLst/>
          </a:prstGeom>
          <a:solidFill>
            <a:srgbClr val="AB278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5486400" y="0"/>
            <a:ext cx="2286000" cy="73152"/>
          </a:xfrm>
          <a:prstGeom prst="rect">
            <a:avLst/>
          </a:prstGeom>
          <a:solidFill>
            <a:srgbClr val="0E41A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7772400" y="0"/>
            <a:ext cx="1371600" cy="73152"/>
          </a:xfrm>
          <a:prstGeom prst="rect">
            <a:avLst/>
          </a:prstGeom>
          <a:solidFill>
            <a:srgbClr val="61228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5"/>
          <p:cNvSpPr/>
          <p:nvPr/>
        </p:nvSpPr>
        <p:spPr>
          <a:xfrm>
            <a:off x="365760" y="4800600"/>
            <a:ext cx="2743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666666"/>
                </a:solidFill>
                <a:effectLst/>
                <a:uLnTx/>
                <a:uFillTx/>
                <a:latin typeface="Calibri" pitchFamily="34" charset="0"/>
                <a:ea typeface="Calibri" pitchFamily="34" charset="-122"/>
                <a:cs typeface="Calibri" pitchFamily="34" charset="-120"/>
              </a:rPr>
              <a:t>109    © 2026 F5</a:t>
            </a:r>
            <a:endParaRPr kumimoji="0" lang="en-US" sz="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8" name="Image 0" descr="preencoded.png"/>
          <p:cNvPicPr>
            <a:picLocks noChangeAspect="1"/>
          </p:cNvPicPr>
          <p:nvPr/>
        </p:nvPicPr>
        <p:blipFill>
          <a:blip r:embed="rId3"/>
          <a:stretch>
            <a:fillRect/>
          </a:stretch>
        </p:blipFill>
        <p:spPr>
          <a:xfrm>
            <a:off x="8458200" y="4663440"/>
            <a:ext cx="384048" cy="384048"/>
          </a:xfrm>
          <a:prstGeom prst="rect">
            <a:avLst/>
          </a:prstGeom>
        </p:spPr>
      </p:pic>
      <p:sp>
        <p:nvSpPr>
          <p:cNvPr id="9" name="Text 6"/>
          <p:cNvSpPr/>
          <p:nvPr/>
        </p:nvSpPr>
        <p:spPr>
          <a:xfrm>
            <a:off x="457200" y="274320"/>
            <a:ext cx="822960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000000"/>
                </a:solidFill>
                <a:effectLst/>
                <a:uLnTx/>
                <a:uFillTx/>
                <a:latin typeface="Arial" pitchFamily="34" charset="0"/>
                <a:ea typeface="Arial" pitchFamily="34" charset="-122"/>
                <a:cs typeface="Arial" pitchFamily="34" charset="-120"/>
              </a:rPr>
              <a:t>Key HTTP headers for BIG-IP</a:t>
            </a:r>
            <a:endParaRPr kumimoji="0" lang="en-US" sz="2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7"/>
          <p:cNvSpPr/>
          <p:nvPr/>
        </p:nvSpPr>
        <p:spPr>
          <a:xfrm>
            <a:off x="457200" y="658368"/>
            <a:ext cx="82296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666666"/>
                </a:solidFill>
                <a:effectLst/>
                <a:uLnTx/>
                <a:uFillTx/>
                <a:latin typeface="Calibri" pitchFamily="34" charset="0"/>
                <a:ea typeface="Calibri" pitchFamily="34" charset="-122"/>
                <a:cs typeface="Calibri" pitchFamily="34" charset="-120"/>
              </a:rPr>
              <a:t>F5CTSLTM5.01 (U/A) — Headers that affect BIG-IP traffic processing and troubleshooting</a:t>
            </a:r>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aphicFrame>
        <p:nvGraphicFramePr>
          <p:cNvPr id="11" name="Table 0"/>
          <p:cNvGraphicFramePr>
            <a:graphicFrameLocks noGrp="1"/>
          </p:cNvGraphicFramePr>
          <p:nvPr/>
        </p:nvGraphicFramePr>
        <p:xfrm>
          <a:off x="365760" y="914400"/>
          <a:ext cx="8412480" cy="2479040"/>
        </p:xfrm>
        <a:graphic>
          <a:graphicData uri="http://schemas.openxmlformats.org/drawingml/2006/table">
            <a:tbl>
              <a:tblPr/>
              <a:tblGrid>
                <a:gridCol w="109728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3383280">
                  <a:extLst>
                    <a:ext uri="{9D8B030D-6E8A-4147-A177-3AD203B41FA5}">
                      <a16:colId xmlns:a16="http://schemas.microsoft.com/office/drawing/2014/main" val="20002"/>
                    </a:ext>
                  </a:extLst>
                </a:gridCol>
                <a:gridCol w="3291840">
                  <a:extLst>
                    <a:ext uri="{9D8B030D-6E8A-4147-A177-3AD203B41FA5}">
                      <a16:colId xmlns:a16="http://schemas.microsoft.com/office/drawing/2014/main" val="20003"/>
                    </a:ext>
                  </a:extLst>
                </a:gridCol>
              </a:tblGrid>
              <a:tr h="0">
                <a:tc>
                  <a:txBody>
                    <a:bodyPr/>
                    <a:lstStyle/>
                    <a:p>
                      <a:pPr marL="0" indent="0">
                        <a:buNone/>
                      </a:pPr>
                      <a:r>
                        <a:rPr lang="en-US" sz="1000" b="1">
                          <a:solidFill>
                            <a:srgbClr val="FFFFFF"/>
                          </a:solidFill>
                        </a:rPr>
                        <a:t>Header</a:t>
                      </a:r>
                      <a:endParaRPr lang="en-US" sz="1000"/>
                    </a:p>
                  </a:txBody>
                  <a:tcPr marL="50800" marR="508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61228B"/>
                    </a:solidFill>
                  </a:tcPr>
                </a:tc>
                <a:tc>
                  <a:txBody>
                    <a:bodyPr/>
                    <a:lstStyle/>
                    <a:p>
                      <a:pPr marL="0" indent="0">
                        <a:buNone/>
                      </a:pPr>
                      <a:r>
                        <a:rPr lang="en-US" sz="1000" b="1">
                          <a:solidFill>
                            <a:srgbClr val="FFFFFF"/>
                          </a:solidFill>
                        </a:rPr>
                        <a:t>Direction</a:t>
                      </a:r>
                      <a:endParaRPr lang="en-US" sz="1000"/>
                    </a:p>
                  </a:txBody>
                  <a:tcPr marL="50800" marR="508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61228B"/>
                    </a:solidFill>
                  </a:tcPr>
                </a:tc>
                <a:tc>
                  <a:txBody>
                    <a:bodyPr/>
                    <a:lstStyle/>
                    <a:p>
                      <a:pPr marL="0" indent="0">
                        <a:buNone/>
                      </a:pPr>
                      <a:r>
                        <a:rPr lang="en-US" sz="1000" b="1">
                          <a:solidFill>
                            <a:srgbClr val="FFFFFF"/>
                          </a:solidFill>
                        </a:rPr>
                        <a:t>What it does on the BIG-IP</a:t>
                      </a:r>
                      <a:endParaRPr lang="en-US" sz="1000"/>
                    </a:p>
                  </a:txBody>
                  <a:tcPr marL="50800" marR="508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61228B"/>
                    </a:solidFill>
                  </a:tcPr>
                </a:tc>
                <a:tc>
                  <a:txBody>
                    <a:bodyPr/>
                    <a:lstStyle/>
                    <a:p>
                      <a:pPr marL="0" indent="0">
                        <a:buNone/>
                      </a:pPr>
                      <a:r>
                        <a:rPr lang="en-US" sz="1000" b="1">
                          <a:solidFill>
                            <a:srgbClr val="FFFFFF"/>
                          </a:solidFill>
                        </a:rPr>
                        <a:t>Exam relevance</a:t>
                      </a:r>
                      <a:endParaRPr lang="en-US" sz="1000"/>
                    </a:p>
                  </a:txBody>
                  <a:tcPr marL="50800" marR="508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61228B"/>
                    </a:solidFill>
                  </a:tcPr>
                </a:tc>
                <a:extLst>
                  <a:ext uri="{0D108BD9-81ED-4DB2-BD59-A6C34878D82A}">
                    <a16:rowId xmlns:a16="http://schemas.microsoft.com/office/drawing/2014/main" val="10000"/>
                  </a:ext>
                </a:extLst>
              </a:tr>
              <a:tr h="0">
                <a:tc>
                  <a:txBody>
                    <a:bodyPr/>
                    <a:lstStyle/>
                    <a:p>
                      <a:pPr marL="0" indent="0">
                        <a:buNone/>
                      </a:pPr>
                      <a:r>
                        <a:rPr lang="en-US" sz="1000" b="1">
                          <a:solidFill>
                            <a:srgbClr val="000000"/>
                          </a:solidFill>
                        </a:rPr>
                        <a:t>Host</a:t>
                      </a:r>
                      <a:endParaRPr lang="en-US" sz="1000"/>
                    </a:p>
                  </a:txBody>
                  <a:tcPr marL="50800" marR="508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900">
                          <a:solidFill>
                            <a:srgbClr val="000000"/>
                          </a:solidFill>
                        </a:rPr>
                        <a:t>Request</a:t>
                      </a:r>
                      <a:endParaRPr lang="en-US" sz="900"/>
                    </a:p>
                  </a:txBody>
                  <a:tcPr marL="50800" marR="508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900">
                          <a:solidFill>
                            <a:srgbClr val="000000"/>
                          </a:solidFill>
                        </a:rPr>
                        <a:t>Content switching via LTM policy or iRule. Route to different pools based on hostname.</a:t>
                      </a:r>
                      <a:endParaRPr lang="en-US" sz="900"/>
                    </a:p>
                  </a:txBody>
                  <a:tcPr marL="50800" marR="508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900">
                          <a:solidFill>
                            <a:srgbClr val="000000"/>
                          </a:solidFill>
                        </a:rPr>
                        <a:t>Policy condition: HTTP Host header matches</a:t>
                      </a:r>
                      <a:endParaRPr lang="en-US" sz="900"/>
                    </a:p>
                  </a:txBody>
                  <a:tcPr marL="50800" marR="508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000" b="1">
                          <a:solidFill>
                            <a:srgbClr val="000000"/>
                          </a:solidFill>
                        </a:rPr>
                        <a:t>Cookie</a:t>
                      </a:r>
                      <a:endParaRPr lang="en-US" sz="1000"/>
                    </a:p>
                  </a:txBody>
                  <a:tcPr marL="50800" marR="508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buNone/>
                      </a:pPr>
                      <a:r>
                        <a:rPr lang="en-US" sz="900">
                          <a:solidFill>
                            <a:srgbClr val="000000"/>
                          </a:solidFill>
                        </a:rPr>
                        <a:t>Both</a:t>
                      </a:r>
                      <a:endParaRPr lang="en-US" sz="900"/>
                    </a:p>
                  </a:txBody>
                  <a:tcPr marL="50800" marR="508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buNone/>
                      </a:pPr>
                      <a:r>
                        <a:rPr lang="en-US" sz="900">
                          <a:solidFill>
                            <a:srgbClr val="000000"/>
                          </a:solidFill>
                        </a:rPr>
                        <a:t>Cookie persistence. BIG-IP inserts persistence cookie (BIGipServer...) on response. Client sends it back on next request.</a:t>
                      </a:r>
                      <a:endParaRPr lang="en-US" sz="900"/>
                    </a:p>
                  </a:txBody>
                  <a:tcPr marL="50800" marR="508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buNone/>
                      </a:pPr>
                      <a:r>
                        <a:rPr lang="en-US" sz="900">
                          <a:solidFill>
                            <a:srgbClr val="000000"/>
                          </a:solidFill>
                        </a:rPr>
                        <a:t>Persistence troubleshooting. Cookie name = BIGipServer&lt;pool&gt;</a:t>
                      </a:r>
                      <a:endParaRPr lang="en-US" sz="900"/>
                    </a:p>
                  </a:txBody>
                  <a:tcPr marL="50800" marR="508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0">
                <a:tc>
                  <a:txBody>
                    <a:bodyPr/>
                    <a:lstStyle/>
                    <a:p>
                      <a:pPr marL="0" indent="0">
                        <a:buNone/>
                      </a:pPr>
                      <a:r>
                        <a:rPr lang="en-US" sz="1000" b="1">
                          <a:solidFill>
                            <a:srgbClr val="000000"/>
                          </a:solidFill>
                        </a:rPr>
                        <a:t>X-Forwarded-For</a:t>
                      </a:r>
                      <a:endParaRPr lang="en-US" sz="1000"/>
                    </a:p>
                  </a:txBody>
                  <a:tcPr marL="50800" marR="508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900">
                          <a:solidFill>
                            <a:srgbClr val="000000"/>
                          </a:solidFill>
                        </a:rPr>
                        <a:t>Request</a:t>
                      </a:r>
                      <a:endParaRPr lang="en-US" sz="900"/>
                    </a:p>
                  </a:txBody>
                  <a:tcPr marL="50800" marR="508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900">
                          <a:solidFill>
                            <a:srgbClr val="000000"/>
                          </a:solidFill>
                        </a:rPr>
                        <a:t>BIG-IP inserts original client IP when SNAT is used. Server sees real client. Enabled in HTTP profile: Insert XFF.</a:t>
                      </a:r>
                      <a:endParaRPr lang="en-US" sz="900"/>
                    </a:p>
                  </a:txBody>
                  <a:tcPr marL="50800" marR="508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900">
                          <a:solidFill>
                            <a:srgbClr val="000000"/>
                          </a:solidFill>
                        </a:rPr>
                        <a:t>Without XFF + SNAT, server only sees BIG-IP self IP</a:t>
                      </a:r>
                      <a:endParaRPr lang="en-US" sz="900"/>
                    </a:p>
                  </a:txBody>
                  <a:tcPr marL="50800" marR="508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000" b="1">
                          <a:solidFill>
                            <a:srgbClr val="000000"/>
                          </a:solidFill>
                        </a:rPr>
                        <a:t>Content-Type</a:t>
                      </a:r>
                      <a:endParaRPr lang="en-US" sz="1000"/>
                    </a:p>
                  </a:txBody>
                  <a:tcPr marL="50800" marR="508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buNone/>
                      </a:pPr>
                      <a:r>
                        <a:rPr lang="en-US" sz="900">
                          <a:solidFill>
                            <a:srgbClr val="000000"/>
                          </a:solidFill>
                        </a:rPr>
                        <a:t>Response</a:t>
                      </a:r>
                      <a:endParaRPr lang="en-US" sz="900"/>
                    </a:p>
                  </a:txBody>
                  <a:tcPr marL="50800" marR="508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buNone/>
                      </a:pPr>
                      <a:r>
                        <a:rPr lang="en-US" sz="900">
                          <a:solidFill>
                            <a:srgbClr val="000000"/>
                          </a:solidFill>
                        </a:rPr>
                        <a:t>Determines HTTP compression eligibility. text/html = compressed. image/jpeg = not compressed. Controlled by content list.</a:t>
                      </a:r>
                      <a:endParaRPr lang="en-US" sz="900"/>
                    </a:p>
                  </a:txBody>
                  <a:tcPr marL="50800" marR="508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buNone/>
                      </a:pPr>
                      <a:r>
                        <a:rPr lang="en-US" sz="900">
                          <a:solidFill>
                            <a:srgbClr val="000000"/>
                          </a:solidFill>
                        </a:rPr>
                        <a:t>Compression profile: Content Type Include/Exclude</a:t>
                      </a:r>
                      <a:endParaRPr lang="en-US" sz="900"/>
                    </a:p>
                  </a:txBody>
                  <a:tcPr marL="50800" marR="508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r h="0">
                <a:tc>
                  <a:txBody>
                    <a:bodyPr/>
                    <a:lstStyle/>
                    <a:p>
                      <a:pPr marL="0" indent="0">
                        <a:buNone/>
                      </a:pPr>
                      <a:r>
                        <a:rPr lang="en-US" sz="1000" b="1">
                          <a:solidFill>
                            <a:srgbClr val="000000"/>
                          </a:solidFill>
                        </a:rPr>
                        <a:t>Cache-Control</a:t>
                      </a:r>
                      <a:endParaRPr lang="en-US" sz="1000"/>
                    </a:p>
                  </a:txBody>
                  <a:tcPr marL="50800" marR="508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900">
                          <a:solidFill>
                            <a:srgbClr val="000000"/>
                          </a:solidFill>
                        </a:rPr>
                        <a:t>Response</a:t>
                      </a:r>
                      <a:endParaRPr lang="en-US" sz="900"/>
                    </a:p>
                  </a:txBody>
                  <a:tcPr marL="50800" marR="508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900">
                          <a:solidFill>
                            <a:srgbClr val="000000"/>
                          </a:solidFill>
                        </a:rPr>
                        <a:t>Controls BIG-IP RAM cache behavior. no-cache / no-store / max-age directives determine what gets cached.</a:t>
                      </a:r>
                      <a:endParaRPr lang="en-US" sz="900"/>
                    </a:p>
                  </a:txBody>
                  <a:tcPr marL="50800" marR="508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900">
                          <a:solidFill>
                            <a:srgbClr val="000000"/>
                          </a:solidFill>
                        </a:rPr>
                        <a:t>Web acceleration profile cache settings</a:t>
                      </a:r>
                      <a:endParaRPr lang="en-US" sz="900"/>
                    </a:p>
                  </a:txBody>
                  <a:tcPr marL="50800" marR="508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1000" b="1">
                          <a:solidFill>
                            <a:srgbClr val="000000"/>
                          </a:solidFill>
                        </a:rPr>
                        <a:t>Vary</a:t>
                      </a:r>
                      <a:endParaRPr lang="en-US" sz="1000"/>
                    </a:p>
                  </a:txBody>
                  <a:tcPr marL="50800" marR="508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buNone/>
                      </a:pPr>
                      <a:r>
                        <a:rPr lang="en-US" sz="900">
                          <a:solidFill>
                            <a:srgbClr val="000000"/>
                          </a:solidFill>
                        </a:rPr>
                        <a:t>Response</a:t>
                      </a:r>
                      <a:endParaRPr lang="en-US" sz="900"/>
                    </a:p>
                  </a:txBody>
                  <a:tcPr marL="50800" marR="508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buNone/>
                      </a:pPr>
                      <a:r>
                        <a:rPr lang="en-US" sz="900">
                          <a:solidFill>
                            <a:srgbClr val="000000"/>
                          </a:solidFill>
                        </a:rPr>
                        <a:t>Cache key variation. Vary: Accept-Encoding = separate cache entries for gzip vs identity. Prevents serving wrong encoding.</a:t>
                      </a:r>
                      <a:endParaRPr lang="en-US" sz="900"/>
                    </a:p>
                  </a:txBody>
                  <a:tcPr marL="50800" marR="508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buNone/>
                      </a:pPr>
                      <a:r>
                        <a:rPr lang="en-US" sz="900">
                          <a:solidFill>
                            <a:srgbClr val="000000"/>
                          </a:solidFill>
                        </a:rPr>
                        <a:t>RAM cache stores per Vary value</a:t>
                      </a:r>
                      <a:endParaRPr lang="en-US" sz="900"/>
                    </a:p>
                  </a:txBody>
                  <a:tcPr marL="50800" marR="508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10006"/>
                  </a:ext>
                </a:extLst>
              </a:tr>
              <a:tr h="0">
                <a:tc>
                  <a:txBody>
                    <a:bodyPr/>
                    <a:lstStyle/>
                    <a:p>
                      <a:pPr marL="0" indent="0">
                        <a:buNone/>
                      </a:pPr>
                      <a:r>
                        <a:rPr lang="en-US" sz="1000" b="1">
                          <a:solidFill>
                            <a:srgbClr val="000000"/>
                          </a:solidFill>
                        </a:rPr>
                        <a:t>Connection</a:t>
                      </a:r>
                      <a:endParaRPr lang="en-US" sz="1000"/>
                    </a:p>
                  </a:txBody>
                  <a:tcPr marL="50800" marR="508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900">
                          <a:solidFill>
                            <a:srgbClr val="000000"/>
                          </a:solidFill>
                        </a:rPr>
                        <a:t>Both</a:t>
                      </a:r>
                      <a:endParaRPr lang="en-US" sz="900"/>
                    </a:p>
                  </a:txBody>
                  <a:tcPr marL="50800" marR="508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900">
                          <a:solidFill>
                            <a:srgbClr val="000000"/>
                          </a:solidFill>
                        </a:rPr>
                        <a:t>Keep-Alive vs Close. Affects OneConnect reuse. OneConnect allows server-side connection pooling across clients.</a:t>
                      </a:r>
                      <a:endParaRPr lang="en-US" sz="900"/>
                    </a:p>
                  </a:txBody>
                  <a:tcPr marL="50800" marR="508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900">
                          <a:solidFill>
                            <a:srgbClr val="000000"/>
                          </a:solidFill>
                        </a:rPr>
                        <a:t>OneConnect + Keep-Alive = connection multiplexing</a:t>
                      </a:r>
                      <a:endParaRPr lang="en-US" sz="900"/>
                    </a:p>
                  </a:txBody>
                  <a:tcPr marL="50800" marR="508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12" name="Text 8"/>
          <p:cNvSpPr/>
          <p:nvPr/>
        </p:nvSpPr>
        <p:spPr>
          <a:xfrm>
            <a:off x="457200" y="3611880"/>
            <a:ext cx="45720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9639"/>
                </a:solidFill>
                <a:effectLst/>
                <a:uLnTx/>
                <a:uFillTx/>
                <a:latin typeface="Arial" pitchFamily="34" charset="0"/>
                <a:ea typeface="Arial" pitchFamily="34" charset="-122"/>
                <a:cs typeface="Arial" pitchFamily="34" charset="-120"/>
              </a:rPr>
              <a:t>tcpdump for HTTP analysis</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Shape 9"/>
          <p:cNvSpPr/>
          <p:nvPr/>
        </p:nvSpPr>
        <p:spPr>
          <a:xfrm>
            <a:off x="457200" y="3794760"/>
            <a:ext cx="8229600" cy="822960"/>
          </a:xfrm>
          <a:prstGeom prst="rect">
            <a:avLst/>
          </a:prstGeom>
          <a:solidFill>
            <a:srgbClr val="1E293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0"/>
          <p:cNvSpPr/>
          <p:nvPr/>
        </p:nvSpPr>
        <p:spPr>
          <a:xfrm>
            <a:off x="594360" y="3813048"/>
            <a:ext cx="7955280" cy="7863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a:ln>
                  <a:noFill/>
                </a:ln>
                <a:solidFill>
                  <a:srgbClr val="A5F3FC"/>
                </a:solidFill>
                <a:effectLst/>
                <a:uLnTx/>
                <a:uFillTx/>
                <a:latin typeface="Courier New" pitchFamily="34" charset="0"/>
                <a:ea typeface="Courier New" pitchFamily="34" charset="-122"/>
                <a:cs typeface="Courier New" pitchFamily="34" charset="-120"/>
              </a:rPr>
              <a:t># Client-side: see original request headers from client</a:t>
            </a:r>
            <a:endParaRPr kumimoji="0" lang="en-US" sz="75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a:ln>
                  <a:noFill/>
                </a:ln>
                <a:solidFill>
                  <a:srgbClr val="A5F3FC"/>
                </a:solidFill>
                <a:effectLst/>
                <a:uLnTx/>
                <a:uFillTx/>
                <a:latin typeface="Courier New" pitchFamily="34" charset="0"/>
                <a:ea typeface="Courier New" pitchFamily="34" charset="-122"/>
                <a:cs typeface="Courier New" pitchFamily="34" charset="-120"/>
              </a:rPr>
              <a:t>tcpdump -nni client_vlan -s0 -A host 10.1.10.100 and port 80</a:t>
            </a:r>
            <a:endParaRPr kumimoji="0" lang="en-US" sz="75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5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a:ln>
                  <a:noFill/>
                </a:ln>
                <a:solidFill>
                  <a:srgbClr val="A5F3FC"/>
                </a:solidFill>
                <a:effectLst/>
                <a:uLnTx/>
                <a:uFillTx/>
                <a:latin typeface="Courier New" pitchFamily="34" charset="0"/>
                <a:ea typeface="Courier New" pitchFamily="34" charset="-122"/>
                <a:cs typeface="Courier New" pitchFamily="34" charset="-120"/>
              </a:rPr>
              <a:t># Server-side: see what BIG-IP sends to pool member (XFF inserted, cookies modified)</a:t>
            </a:r>
            <a:endParaRPr kumimoji="0" lang="en-US" sz="75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a:ln>
                  <a:noFill/>
                </a:ln>
                <a:solidFill>
                  <a:srgbClr val="A5F3FC"/>
                </a:solidFill>
                <a:effectLst/>
                <a:uLnTx/>
                <a:uFillTx/>
                <a:latin typeface="Courier New" pitchFamily="34" charset="0"/>
                <a:ea typeface="Courier New" pitchFamily="34" charset="-122"/>
                <a:cs typeface="Courier New" pitchFamily="34" charset="-120"/>
              </a:rPr>
              <a:t>tcpdump -nni server_vlan -s0 -A host 10.1.20.11 and port 80</a:t>
            </a:r>
            <a:endParaRPr kumimoji="0" lang="en-US" sz="75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5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a:ln>
                  <a:noFill/>
                </a:ln>
                <a:solidFill>
                  <a:srgbClr val="A5F3FC"/>
                </a:solidFill>
                <a:effectLst/>
                <a:uLnTx/>
                <a:uFillTx/>
                <a:latin typeface="Courier New" pitchFamily="34" charset="0"/>
                <a:ea typeface="Courier New" pitchFamily="34" charset="-122"/>
                <a:cs typeface="Courier New" pitchFamily="34" charset="-120"/>
              </a:rPr>
              <a:t># Both sides with SNAT/OneConnect: server-side source IP = BIG-IP self IP, not client</a:t>
            </a:r>
            <a:endParaRPr kumimoji="0" lang="en-US" sz="7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371600" cy="73152"/>
          </a:xfrm>
          <a:prstGeom prst="rect">
            <a:avLst/>
          </a:prstGeom>
          <a:solidFill>
            <a:srgbClr val="F29A3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1371600" y="0"/>
            <a:ext cx="2743200" cy="73152"/>
          </a:xfrm>
          <a:prstGeom prst="rect">
            <a:avLst/>
          </a:prstGeom>
          <a:solidFill>
            <a:srgbClr val="E4002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4114800" y="0"/>
            <a:ext cx="1371600" cy="73152"/>
          </a:xfrm>
          <a:prstGeom prst="rect">
            <a:avLst/>
          </a:prstGeom>
          <a:solidFill>
            <a:srgbClr val="AB278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5486400" y="0"/>
            <a:ext cx="2286000" cy="73152"/>
          </a:xfrm>
          <a:prstGeom prst="rect">
            <a:avLst/>
          </a:prstGeom>
          <a:solidFill>
            <a:srgbClr val="0E41A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7772400" y="0"/>
            <a:ext cx="1371600" cy="73152"/>
          </a:xfrm>
          <a:prstGeom prst="rect">
            <a:avLst/>
          </a:prstGeom>
          <a:solidFill>
            <a:srgbClr val="61228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5"/>
          <p:cNvSpPr/>
          <p:nvPr/>
        </p:nvSpPr>
        <p:spPr>
          <a:xfrm>
            <a:off x="365760" y="4800600"/>
            <a:ext cx="2743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666666"/>
                </a:solidFill>
                <a:effectLst/>
                <a:uLnTx/>
                <a:uFillTx/>
                <a:latin typeface="Calibri" pitchFamily="34" charset="0"/>
                <a:ea typeface="Calibri" pitchFamily="34" charset="-122"/>
                <a:cs typeface="Calibri" pitchFamily="34" charset="-120"/>
              </a:rPr>
              <a:t>110    © 2026 F5</a:t>
            </a:r>
            <a:endParaRPr kumimoji="0" lang="en-US" sz="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8" name="Image 0" descr="preencoded.png"/>
          <p:cNvPicPr>
            <a:picLocks noChangeAspect="1"/>
          </p:cNvPicPr>
          <p:nvPr/>
        </p:nvPicPr>
        <p:blipFill>
          <a:blip r:embed="rId3"/>
          <a:stretch>
            <a:fillRect/>
          </a:stretch>
        </p:blipFill>
        <p:spPr>
          <a:xfrm>
            <a:off x="8458200" y="4663440"/>
            <a:ext cx="384048" cy="384048"/>
          </a:xfrm>
          <a:prstGeom prst="rect">
            <a:avLst/>
          </a:prstGeom>
        </p:spPr>
      </p:pic>
      <p:sp>
        <p:nvSpPr>
          <p:cNvPr id="9" name="Text 6"/>
          <p:cNvSpPr/>
          <p:nvPr/>
        </p:nvSpPr>
        <p:spPr>
          <a:xfrm>
            <a:off x="457200" y="274320"/>
            <a:ext cx="822960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000000"/>
                </a:solidFill>
                <a:effectLst/>
                <a:uLnTx/>
                <a:uFillTx/>
                <a:latin typeface="Arial" pitchFamily="34" charset="0"/>
                <a:ea typeface="Arial" pitchFamily="34" charset="-122"/>
                <a:cs typeface="Arial" pitchFamily="34" charset="-120"/>
              </a:rPr>
              <a:t>Software upgrades</a:t>
            </a:r>
            <a:endParaRPr kumimoji="0" lang="en-US" sz="2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7"/>
          <p:cNvSpPr/>
          <p:nvPr/>
        </p:nvSpPr>
        <p:spPr>
          <a:xfrm>
            <a:off x="457200" y="658368"/>
            <a:ext cx="82296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666666"/>
                </a:solidFill>
                <a:effectLst/>
                <a:uLnTx/>
                <a:uFillTx/>
                <a:latin typeface="Calibri" pitchFamily="34" charset="0"/>
                <a:ea typeface="Calibri" pitchFamily="34" charset="-122"/>
                <a:cs typeface="Calibri" pitchFamily="34" charset="-120"/>
              </a:rPr>
              <a:t>F5CTSLTM4.01, 4.06 (U/A) — Upgrade while maintaining application availability</a:t>
            </a:r>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8"/>
          <p:cNvSpPr/>
          <p:nvPr/>
        </p:nvSpPr>
        <p:spPr>
          <a:xfrm>
            <a:off x="457200" y="960120"/>
            <a:ext cx="45720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E41AA"/>
                </a:solidFill>
                <a:effectLst/>
                <a:uLnTx/>
                <a:uFillTx/>
                <a:latin typeface="Arial" pitchFamily="34" charset="0"/>
                <a:ea typeface="Arial" pitchFamily="34" charset="-122"/>
                <a:cs typeface="Arial" pitchFamily="34" charset="-120"/>
              </a:rPr>
              <a:t>HA rolling upgrade (zero downtime)</a:t>
            </a: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9"/>
          <p:cNvSpPr/>
          <p:nvPr/>
        </p:nvSpPr>
        <p:spPr>
          <a:xfrm>
            <a:off x="457200" y="1234440"/>
            <a:ext cx="274320" cy="256032"/>
          </a:xfrm>
          <a:prstGeom prst="rect">
            <a:avLst/>
          </a:prstGeom>
          <a:solidFill>
            <a:srgbClr val="0E41A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10"/>
          <p:cNvSpPr/>
          <p:nvPr/>
        </p:nvSpPr>
        <p:spPr>
          <a:xfrm>
            <a:off x="457200" y="1234440"/>
            <a:ext cx="2743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rial" pitchFamily="34" charset="0"/>
                <a:ea typeface="Arial" pitchFamily="34" charset="-122"/>
                <a:cs typeface="Arial" pitchFamily="34" charset="-120"/>
              </a:rPr>
              <a:t>1</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1"/>
          <p:cNvSpPr/>
          <p:nvPr/>
        </p:nvSpPr>
        <p:spPr>
          <a:xfrm>
            <a:off x="822960" y="1234440"/>
            <a:ext cx="13716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E41AA"/>
                </a:solidFill>
                <a:effectLst/>
                <a:uLnTx/>
                <a:uFillTx/>
                <a:latin typeface="Arial" pitchFamily="34" charset="0"/>
                <a:ea typeface="Arial" pitchFamily="34" charset="-122"/>
                <a:cs typeface="Arial" pitchFamily="34" charset="-120"/>
              </a:rPr>
              <a:t>Pre-checks</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2"/>
          <p:cNvSpPr/>
          <p:nvPr/>
        </p:nvSpPr>
        <p:spPr>
          <a:xfrm>
            <a:off x="2286000" y="1234440"/>
            <a:ext cx="649224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a:ln>
                  <a:noFill/>
                </a:ln>
                <a:solidFill>
                  <a:srgbClr val="333333"/>
                </a:solidFill>
                <a:effectLst/>
                <a:uLnTx/>
                <a:uFillTx/>
                <a:latin typeface="Calibri" pitchFamily="34" charset="0"/>
                <a:ea typeface="Calibri" pitchFamily="34" charset="-122"/>
                <a:cs typeface="Calibri" pitchFamily="34" charset="-120"/>
              </a:rPr>
              <a:t>Verify HA In Sync. UCS on BOTH devices. Verify disk space. Read release notes.</a:t>
            </a:r>
            <a:endParaRPr kumimoji="0" lang="en-US" sz="8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3"/>
          <p:cNvSpPr/>
          <p:nvPr/>
        </p:nvSpPr>
        <p:spPr>
          <a:xfrm>
            <a:off x="457200" y="1691640"/>
            <a:ext cx="274320" cy="256032"/>
          </a:xfrm>
          <a:prstGeom prst="rect">
            <a:avLst/>
          </a:prstGeom>
          <a:solidFill>
            <a:srgbClr val="61228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4"/>
          <p:cNvSpPr/>
          <p:nvPr/>
        </p:nvSpPr>
        <p:spPr>
          <a:xfrm>
            <a:off x="457200" y="1691640"/>
            <a:ext cx="2743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rial" pitchFamily="34" charset="0"/>
                <a:ea typeface="Arial" pitchFamily="34" charset="-122"/>
                <a:cs typeface="Arial" pitchFamily="34" charset="-120"/>
              </a:rPr>
              <a:t>2</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5"/>
          <p:cNvSpPr/>
          <p:nvPr/>
        </p:nvSpPr>
        <p:spPr>
          <a:xfrm>
            <a:off x="822960" y="1691640"/>
            <a:ext cx="13716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61228B"/>
                </a:solidFill>
                <a:effectLst/>
                <a:uLnTx/>
                <a:uFillTx/>
                <a:latin typeface="Arial" pitchFamily="34" charset="0"/>
                <a:ea typeface="Arial" pitchFamily="34" charset="-122"/>
                <a:cs typeface="Arial" pitchFamily="34" charset="-120"/>
              </a:rPr>
              <a:t>Upgrade standby</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Text 16"/>
          <p:cNvSpPr/>
          <p:nvPr/>
        </p:nvSpPr>
        <p:spPr>
          <a:xfrm>
            <a:off x="2286000" y="1691640"/>
            <a:ext cx="649224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a:ln>
                  <a:noFill/>
                </a:ln>
                <a:solidFill>
                  <a:srgbClr val="333333"/>
                </a:solidFill>
                <a:effectLst/>
                <a:uLnTx/>
                <a:uFillTx/>
                <a:latin typeface="Calibri" pitchFamily="34" charset="0"/>
                <a:ea typeface="Calibri" pitchFamily="34" charset="-122"/>
                <a:cs typeface="Calibri" pitchFamily="34" charset="-120"/>
              </a:rPr>
              <a:t>Upload ISO to standby. Install to unused boot location. Reboot standby into new version. Verify rejoins cluster.</a:t>
            </a:r>
            <a:endParaRPr kumimoji="0" lang="en-US" sz="8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Shape 17"/>
          <p:cNvSpPr/>
          <p:nvPr/>
        </p:nvSpPr>
        <p:spPr>
          <a:xfrm>
            <a:off x="457200" y="2148840"/>
            <a:ext cx="274320" cy="256032"/>
          </a:xfrm>
          <a:prstGeom prst="rect">
            <a:avLst/>
          </a:prstGeom>
          <a:solidFill>
            <a:srgbClr val="00963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Text 18"/>
          <p:cNvSpPr/>
          <p:nvPr/>
        </p:nvSpPr>
        <p:spPr>
          <a:xfrm>
            <a:off x="457200" y="2148840"/>
            <a:ext cx="2743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rial" pitchFamily="34" charset="0"/>
                <a:ea typeface="Arial" pitchFamily="34" charset="-122"/>
                <a:cs typeface="Arial" pitchFamily="34" charset="-120"/>
              </a:rPr>
              <a:t>3</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19"/>
          <p:cNvSpPr/>
          <p:nvPr/>
        </p:nvSpPr>
        <p:spPr>
          <a:xfrm>
            <a:off x="822960" y="2148840"/>
            <a:ext cx="13716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9639"/>
                </a:solidFill>
                <a:effectLst/>
                <a:uLnTx/>
                <a:uFillTx/>
                <a:latin typeface="Arial" pitchFamily="34" charset="0"/>
                <a:ea typeface="Arial" pitchFamily="34" charset="-122"/>
                <a:cs typeface="Arial" pitchFamily="34" charset="-120"/>
              </a:rPr>
              <a:t>Force failover</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Text 20"/>
          <p:cNvSpPr/>
          <p:nvPr/>
        </p:nvSpPr>
        <p:spPr>
          <a:xfrm>
            <a:off x="2286000" y="2148840"/>
            <a:ext cx="649224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a:ln>
                  <a:noFill/>
                </a:ln>
                <a:solidFill>
                  <a:srgbClr val="333333"/>
                </a:solidFill>
                <a:effectLst/>
                <a:uLnTx/>
                <a:uFillTx/>
                <a:latin typeface="Calibri" pitchFamily="34" charset="0"/>
                <a:ea typeface="Calibri" pitchFamily="34" charset="-122"/>
                <a:cs typeface="Calibri" pitchFamily="34" charset="-120"/>
              </a:rPr>
              <a:t>Force active to standby. Traffic moves to upgraded device. Verify apps on new version.</a:t>
            </a:r>
            <a:endParaRPr kumimoji="0" lang="en-US" sz="8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Shape 21"/>
          <p:cNvSpPr/>
          <p:nvPr/>
        </p:nvSpPr>
        <p:spPr>
          <a:xfrm>
            <a:off x="457200" y="2606040"/>
            <a:ext cx="274320" cy="256032"/>
          </a:xfrm>
          <a:prstGeom prst="rect">
            <a:avLst/>
          </a:prstGeom>
          <a:solidFill>
            <a:srgbClr val="F29A3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Text 22"/>
          <p:cNvSpPr/>
          <p:nvPr/>
        </p:nvSpPr>
        <p:spPr>
          <a:xfrm>
            <a:off x="457200" y="2606040"/>
            <a:ext cx="2743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rial" pitchFamily="34" charset="0"/>
                <a:ea typeface="Arial" pitchFamily="34" charset="-122"/>
                <a:cs typeface="Arial" pitchFamily="34" charset="-120"/>
              </a:rPr>
              <a:t>4</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Text 23"/>
          <p:cNvSpPr/>
          <p:nvPr/>
        </p:nvSpPr>
        <p:spPr>
          <a:xfrm>
            <a:off x="822960" y="2606040"/>
            <a:ext cx="13716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29A36"/>
                </a:solidFill>
                <a:effectLst/>
                <a:uLnTx/>
                <a:uFillTx/>
                <a:latin typeface="Arial" pitchFamily="34" charset="0"/>
                <a:ea typeface="Arial" pitchFamily="34" charset="-122"/>
                <a:cs typeface="Arial" pitchFamily="34" charset="-120"/>
              </a:rPr>
              <a:t>Upgrade former active</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Text 24"/>
          <p:cNvSpPr/>
          <p:nvPr/>
        </p:nvSpPr>
        <p:spPr>
          <a:xfrm>
            <a:off x="2286000" y="2606040"/>
            <a:ext cx="649224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a:ln>
                  <a:noFill/>
                </a:ln>
                <a:solidFill>
                  <a:srgbClr val="333333"/>
                </a:solidFill>
                <a:effectLst/>
                <a:uLnTx/>
                <a:uFillTx/>
                <a:latin typeface="Calibri" pitchFamily="34" charset="0"/>
                <a:ea typeface="Calibri" pitchFamily="34" charset="-122"/>
                <a:cs typeface="Calibri" pitchFamily="34" charset="-120"/>
              </a:rPr>
              <a:t>Install ISO on original active (now standby). Reboot into new version. Verify rejoins.</a:t>
            </a:r>
            <a:endParaRPr kumimoji="0" lang="en-US" sz="8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Shape 25"/>
          <p:cNvSpPr/>
          <p:nvPr/>
        </p:nvSpPr>
        <p:spPr>
          <a:xfrm>
            <a:off x="457200" y="3063240"/>
            <a:ext cx="274320" cy="256032"/>
          </a:xfrm>
          <a:prstGeom prst="rect">
            <a:avLst/>
          </a:prstGeom>
          <a:solidFill>
            <a:srgbClr val="E4002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Text 26"/>
          <p:cNvSpPr/>
          <p:nvPr/>
        </p:nvSpPr>
        <p:spPr>
          <a:xfrm>
            <a:off x="457200" y="3063240"/>
            <a:ext cx="2743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rial" pitchFamily="34" charset="0"/>
                <a:ea typeface="Arial" pitchFamily="34" charset="-122"/>
                <a:cs typeface="Arial" pitchFamily="34" charset="-120"/>
              </a:rPr>
              <a:t>5</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Text 27"/>
          <p:cNvSpPr/>
          <p:nvPr/>
        </p:nvSpPr>
        <p:spPr>
          <a:xfrm>
            <a:off x="822960" y="3063240"/>
            <a:ext cx="13716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E4002B"/>
                </a:solidFill>
                <a:effectLst/>
                <a:uLnTx/>
                <a:uFillTx/>
                <a:latin typeface="Arial" pitchFamily="34" charset="0"/>
                <a:ea typeface="Arial" pitchFamily="34" charset="-122"/>
                <a:cs typeface="Arial" pitchFamily="34" charset="-120"/>
              </a:rPr>
              <a:t>Verify and sync</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Text 28"/>
          <p:cNvSpPr/>
          <p:nvPr/>
        </p:nvSpPr>
        <p:spPr>
          <a:xfrm>
            <a:off x="2286000" y="3063240"/>
            <a:ext cx="649224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a:ln>
                  <a:noFill/>
                </a:ln>
                <a:solidFill>
                  <a:srgbClr val="333333"/>
                </a:solidFill>
                <a:effectLst/>
                <a:uLnTx/>
                <a:uFillTx/>
                <a:latin typeface="Calibri" pitchFamily="34" charset="0"/>
                <a:ea typeface="Calibri" pitchFamily="34" charset="-122"/>
                <a:cs typeface="Calibri" pitchFamily="34" charset="-120"/>
              </a:rPr>
              <a:t>Both on new version. Sync config. Test failover both ways. Verify all applications.</a:t>
            </a:r>
            <a:endParaRPr kumimoji="0" lang="en-US" sz="8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Shape 29"/>
          <p:cNvSpPr/>
          <p:nvPr/>
        </p:nvSpPr>
        <p:spPr>
          <a:xfrm>
            <a:off x="365760" y="3493007"/>
            <a:ext cx="8412480" cy="1280791"/>
          </a:xfrm>
          <a:prstGeom prst="rect">
            <a:avLst/>
          </a:prstGeom>
          <a:solidFill>
            <a:srgbClr val="1E293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Text 30"/>
          <p:cNvSpPr/>
          <p:nvPr/>
        </p:nvSpPr>
        <p:spPr>
          <a:xfrm>
            <a:off x="502920" y="3630168"/>
            <a:ext cx="8229600" cy="96926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A5F3FC"/>
                </a:solidFill>
                <a:effectLst/>
                <a:uLnTx/>
                <a:uFillTx/>
                <a:latin typeface="Courier New" pitchFamily="34" charset="0"/>
                <a:ea typeface="Courier New" pitchFamily="34" charset="-122"/>
                <a:cs typeface="Courier New" pitchFamily="34" charset="-120"/>
              </a:rPr>
              <a:t># Show boot locations (HD1.1, HD1.2, HD1.3)</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A5F3FC"/>
                </a:solidFill>
                <a:effectLst/>
                <a:uLnTx/>
                <a:uFillTx/>
                <a:latin typeface="Courier New" pitchFamily="34" charset="0"/>
                <a:ea typeface="Courier New" pitchFamily="34" charset="-122"/>
                <a:cs typeface="Courier New" pitchFamily="34" charset="-120"/>
              </a:rPr>
              <a:t>show sys software status</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A5F3FC"/>
                </a:solidFill>
                <a:effectLst/>
                <a:uLnTx/>
                <a:uFillTx/>
                <a:latin typeface="Courier New" pitchFamily="34" charset="0"/>
                <a:ea typeface="Courier New" pitchFamily="34" charset="-122"/>
                <a:cs typeface="Courier New" pitchFamily="34" charset="-120"/>
              </a:rPr>
              <a:t># Install ISO to inactive boot location</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A5F3FC"/>
                </a:solidFill>
                <a:effectLst/>
                <a:uLnTx/>
                <a:uFillTx/>
                <a:latin typeface="Courier New" pitchFamily="34" charset="0"/>
                <a:ea typeface="Courier New" pitchFamily="34" charset="-122"/>
                <a:cs typeface="Courier New" pitchFamily="34" charset="-120"/>
              </a:rPr>
              <a:t>install sys software image BIGIP-16.1.4-0.0.3.iso volume HD1.2</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A5F3FC"/>
                </a:solidFill>
                <a:effectLst/>
                <a:uLnTx/>
                <a:uFillTx/>
                <a:latin typeface="Courier New" pitchFamily="34" charset="0"/>
                <a:ea typeface="Courier New" pitchFamily="34" charset="-122"/>
                <a:cs typeface="Courier New" pitchFamily="34" charset="-120"/>
              </a:rPr>
              <a:t># Reboot into new boot location (rollback: reboot volume HD1.1)</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A5F3FC"/>
                </a:solidFill>
                <a:effectLst/>
                <a:uLnTx/>
                <a:uFillTx/>
                <a:latin typeface="Courier New" pitchFamily="34" charset="0"/>
                <a:ea typeface="Courier New" pitchFamily="34" charset="-122"/>
                <a:cs typeface="Courier New" pitchFamily="34" charset="-120"/>
              </a:rPr>
              <a:t>reboot volume HD1.2</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A5F3FC"/>
                </a:solidFill>
                <a:effectLst/>
                <a:uLnTx/>
                <a:uFillTx/>
                <a:latin typeface="Courier New" pitchFamily="34" charset="0"/>
                <a:ea typeface="Courier New" pitchFamily="34" charset="-122"/>
                <a:cs typeface="Courier New" pitchFamily="34" charset="-120"/>
              </a:rPr>
              <a:t># GUI: System &gt; Software Management &gt; Image List &gt; Install / Boot Locations &gt; Activate</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371600" cy="73152"/>
          </a:xfrm>
          <a:prstGeom prst="rect">
            <a:avLst/>
          </a:prstGeom>
          <a:solidFill>
            <a:srgbClr val="F29A3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1371600" y="0"/>
            <a:ext cx="2743200" cy="73152"/>
          </a:xfrm>
          <a:prstGeom prst="rect">
            <a:avLst/>
          </a:prstGeom>
          <a:solidFill>
            <a:srgbClr val="E4002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4114800" y="0"/>
            <a:ext cx="1371600" cy="73152"/>
          </a:xfrm>
          <a:prstGeom prst="rect">
            <a:avLst/>
          </a:prstGeom>
          <a:solidFill>
            <a:srgbClr val="AB278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5486400" y="0"/>
            <a:ext cx="2286000" cy="73152"/>
          </a:xfrm>
          <a:prstGeom prst="rect">
            <a:avLst/>
          </a:prstGeom>
          <a:solidFill>
            <a:srgbClr val="0E41A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7772400" y="0"/>
            <a:ext cx="1371600" cy="73152"/>
          </a:xfrm>
          <a:prstGeom prst="rect">
            <a:avLst/>
          </a:prstGeom>
          <a:solidFill>
            <a:srgbClr val="61228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5"/>
          <p:cNvSpPr/>
          <p:nvPr/>
        </p:nvSpPr>
        <p:spPr>
          <a:xfrm>
            <a:off x="365760" y="4800600"/>
            <a:ext cx="2743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666666"/>
                </a:solidFill>
                <a:effectLst/>
                <a:uLnTx/>
                <a:uFillTx/>
                <a:latin typeface="Calibri" pitchFamily="34" charset="0"/>
                <a:ea typeface="Calibri" pitchFamily="34" charset="-122"/>
                <a:cs typeface="Calibri" pitchFamily="34" charset="-120"/>
              </a:rPr>
              <a:t>111    © 2026 F5</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8" name="Image 0" descr="preencoded.png"/>
          <p:cNvPicPr>
            <a:picLocks noChangeAspect="1"/>
          </p:cNvPicPr>
          <p:nvPr/>
        </p:nvPicPr>
        <p:blipFill>
          <a:blip r:embed="rId3"/>
          <a:stretch>
            <a:fillRect/>
          </a:stretch>
        </p:blipFill>
        <p:spPr>
          <a:xfrm>
            <a:off x="8458200" y="4663440"/>
            <a:ext cx="384048" cy="384048"/>
          </a:xfrm>
          <a:prstGeom prst="rect">
            <a:avLst/>
          </a:prstGeom>
        </p:spPr>
      </p:pic>
      <p:sp>
        <p:nvSpPr>
          <p:cNvPr id="9" name="Text 6"/>
          <p:cNvSpPr/>
          <p:nvPr/>
        </p:nvSpPr>
        <p:spPr>
          <a:xfrm>
            <a:off x="457200" y="274320"/>
            <a:ext cx="822960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00000"/>
                </a:solidFill>
                <a:effectLst/>
                <a:uLnTx/>
                <a:uFillTx/>
                <a:latin typeface="Arial" pitchFamily="34" charset="0"/>
                <a:ea typeface="Arial" pitchFamily="34" charset="-122"/>
                <a:cs typeface="Arial" pitchFamily="34" charset="-120"/>
              </a:rPr>
              <a:t>Backup and restore</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7"/>
          <p:cNvSpPr/>
          <p:nvPr/>
        </p:nvSpPr>
        <p:spPr>
          <a:xfrm>
            <a:off x="457200" y="658368"/>
            <a:ext cx="82296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666666"/>
                </a:solidFill>
                <a:effectLst/>
                <a:uLnTx/>
                <a:uFillTx/>
                <a:latin typeface="Calibri" pitchFamily="34" charset="0"/>
                <a:ea typeface="Calibri" pitchFamily="34" charset="-122"/>
                <a:cs typeface="Calibri" pitchFamily="34" charset="-120"/>
              </a:rPr>
              <a:t>F5CTSLTM4.04, 4.05 (U/A) — UCS vs SCF, and the GUI archive interface</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11" name="Table 0"/>
          <p:cNvGraphicFramePr>
            <a:graphicFrameLocks noGrp="1"/>
          </p:cNvGraphicFramePr>
          <p:nvPr/>
        </p:nvGraphicFramePr>
        <p:xfrm>
          <a:off x="365760" y="914400"/>
          <a:ext cx="8412480" cy="939800"/>
        </p:xfrm>
        <a:graphic>
          <a:graphicData uri="http://schemas.openxmlformats.org/drawingml/2006/table">
            <a:tbl>
              <a:tblPr/>
              <a:tblGrid>
                <a:gridCol w="73152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3840480">
                  <a:extLst>
                    <a:ext uri="{9D8B030D-6E8A-4147-A177-3AD203B41FA5}">
                      <a16:colId xmlns:a16="http://schemas.microsoft.com/office/drawing/2014/main" val="20002"/>
                    </a:ext>
                  </a:extLst>
                </a:gridCol>
              </a:tblGrid>
              <a:tr h="0">
                <a:tc>
                  <a:txBody>
                    <a:bodyPr/>
                    <a:lstStyle/>
                    <a:p>
                      <a:pPr marL="0" indent="0">
                        <a:buNone/>
                      </a:pPr>
                      <a:endParaRPr lang="en-US" sz="900" dirty="0"/>
                    </a:p>
                  </a:txBody>
                  <a:tcPr marL="63500" marR="635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E41AA"/>
                    </a:solidFill>
                  </a:tcPr>
                </a:tc>
                <a:tc>
                  <a:txBody>
                    <a:bodyPr/>
                    <a:lstStyle/>
                    <a:p>
                      <a:pPr marL="0" indent="0">
                        <a:buNone/>
                      </a:pPr>
                      <a:r>
                        <a:rPr lang="en-US" sz="900" b="1" dirty="0">
                          <a:solidFill>
                            <a:srgbClr val="FFFFFF"/>
                          </a:solidFill>
                        </a:rPr>
                        <a:t>UCS (User Configuration Set)</a:t>
                      </a:r>
                      <a:endParaRPr lang="en-US" sz="900" dirty="0"/>
                    </a:p>
                  </a:txBody>
                  <a:tcPr marL="63500" marR="635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E41AA"/>
                    </a:solidFill>
                  </a:tcPr>
                </a:tc>
                <a:tc>
                  <a:txBody>
                    <a:bodyPr/>
                    <a:lstStyle/>
                    <a:p>
                      <a:pPr marL="0" indent="0">
                        <a:buNone/>
                      </a:pPr>
                      <a:r>
                        <a:rPr lang="en-US" sz="900" b="1" dirty="0">
                          <a:solidFill>
                            <a:srgbClr val="FFFFFF"/>
                          </a:solidFill>
                        </a:rPr>
                        <a:t>SCF (Single Configuration File)</a:t>
                      </a:r>
                      <a:endParaRPr lang="en-US" sz="900" dirty="0"/>
                    </a:p>
                  </a:txBody>
                  <a:tcPr marL="63500" marR="635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E41AA"/>
                    </a:solidFill>
                  </a:tcPr>
                </a:tc>
                <a:extLst>
                  <a:ext uri="{0D108BD9-81ED-4DB2-BD59-A6C34878D82A}">
                    <a16:rowId xmlns:a16="http://schemas.microsoft.com/office/drawing/2014/main" val="10000"/>
                  </a:ext>
                </a:extLst>
              </a:tr>
              <a:tr h="0">
                <a:tc>
                  <a:txBody>
                    <a:bodyPr/>
                    <a:lstStyle/>
                    <a:p>
                      <a:pPr marL="0" indent="0">
                        <a:buNone/>
                      </a:pPr>
                      <a:r>
                        <a:rPr lang="en-US" sz="900" b="1" dirty="0">
                          <a:solidFill>
                            <a:srgbClr val="000000"/>
                          </a:solidFill>
                        </a:rPr>
                        <a:t>Contains</a:t>
                      </a:r>
                      <a:endParaRPr lang="en-US" sz="900" dirty="0"/>
                    </a:p>
                  </a:txBody>
                  <a:tcPr marL="63500" marR="635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800" dirty="0">
                          <a:solidFill>
                            <a:srgbClr val="000000"/>
                          </a:solidFill>
                        </a:rPr>
                        <a:t>FULL: config, SSL certs/keys, license, users, custom alerts</a:t>
                      </a:r>
                      <a:endParaRPr lang="en-US" sz="800" dirty="0"/>
                    </a:p>
                  </a:txBody>
                  <a:tcPr marL="63500" marR="635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800" dirty="0">
                          <a:solidFill>
                            <a:srgbClr val="000000"/>
                          </a:solidFill>
                        </a:rPr>
                        <a:t>TEXT only: bigip.conf, bigip_base.conf. No certs/license.</a:t>
                      </a:r>
                      <a:endParaRPr lang="en-US" sz="800" dirty="0"/>
                    </a:p>
                  </a:txBody>
                  <a:tcPr marL="63500" marR="635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900" b="1" dirty="0">
                          <a:solidFill>
                            <a:srgbClr val="000000"/>
                          </a:solidFill>
                        </a:rPr>
                        <a:t>Format</a:t>
                      </a:r>
                      <a:endParaRPr lang="en-US" sz="900" dirty="0"/>
                    </a:p>
                  </a:txBody>
                  <a:tcPr marL="63500" marR="635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buNone/>
                      </a:pPr>
                      <a:r>
                        <a:rPr lang="en-US" sz="800" dirty="0">
                          <a:solidFill>
                            <a:srgbClr val="000000"/>
                          </a:solidFill>
                        </a:rPr>
                        <a:t>.ucs (compressed tar). Passphrase encryption optional.</a:t>
                      </a:r>
                      <a:endParaRPr lang="en-US" sz="800" dirty="0"/>
                    </a:p>
                  </a:txBody>
                  <a:tcPr marL="63500" marR="635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buNone/>
                      </a:pPr>
                      <a:r>
                        <a:rPr lang="en-US" sz="800" dirty="0">
                          <a:solidFill>
                            <a:srgbClr val="000000"/>
                          </a:solidFill>
                        </a:rPr>
                        <a:t>.scf (human-readable text). No encryption.</a:t>
                      </a:r>
                      <a:endParaRPr lang="en-US" sz="800" dirty="0"/>
                    </a:p>
                  </a:txBody>
                  <a:tcPr marL="63500" marR="635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0">
                <a:tc>
                  <a:txBody>
                    <a:bodyPr/>
                    <a:lstStyle/>
                    <a:p>
                      <a:pPr marL="0" indent="0">
                        <a:buNone/>
                      </a:pPr>
                      <a:r>
                        <a:rPr lang="en-US" sz="900" b="1" dirty="0">
                          <a:solidFill>
                            <a:srgbClr val="000000"/>
                          </a:solidFill>
                        </a:rPr>
                        <a:t>Restore to</a:t>
                      </a:r>
                      <a:endParaRPr lang="en-US" sz="900" dirty="0"/>
                    </a:p>
                  </a:txBody>
                  <a:tcPr marL="63500" marR="635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800" dirty="0">
                          <a:solidFill>
                            <a:srgbClr val="000000"/>
                          </a:solidFill>
                        </a:rPr>
                        <a:t>Same platform/version only. NOT cross-platform.</a:t>
                      </a:r>
                      <a:endParaRPr lang="en-US" sz="800" dirty="0"/>
                    </a:p>
                  </a:txBody>
                  <a:tcPr marL="63500" marR="635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800" dirty="0">
                          <a:solidFill>
                            <a:srgbClr val="000000"/>
                          </a:solidFill>
                        </a:rPr>
                        <a:t>Any platform. Config migration across hardware.</a:t>
                      </a:r>
                      <a:endParaRPr lang="en-US" sz="800" dirty="0"/>
                    </a:p>
                  </a:txBody>
                  <a:tcPr marL="63500" marR="635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900" b="1" dirty="0">
                          <a:solidFill>
                            <a:srgbClr val="000000"/>
                          </a:solidFill>
                        </a:rPr>
                        <a:t>Use case</a:t>
                      </a:r>
                      <a:endParaRPr lang="en-US" sz="900" dirty="0"/>
                    </a:p>
                  </a:txBody>
                  <a:tcPr marL="63500" marR="635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buNone/>
                      </a:pPr>
                      <a:r>
                        <a:rPr lang="en-US" sz="800" dirty="0">
                          <a:solidFill>
                            <a:srgbClr val="000000"/>
                          </a:solidFill>
                        </a:rPr>
                        <a:t>Pre-upgrade backup, disaster recovery, same-model replacement</a:t>
                      </a:r>
                      <a:endParaRPr lang="en-US" sz="800" dirty="0"/>
                    </a:p>
                  </a:txBody>
                  <a:tcPr marL="63500" marR="635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buNone/>
                      </a:pPr>
                      <a:r>
                        <a:rPr lang="en-US" sz="800" dirty="0">
                          <a:solidFill>
                            <a:srgbClr val="000000"/>
                          </a:solidFill>
                        </a:rPr>
                        <a:t>Config migration, audit/review, partial restore</a:t>
                      </a:r>
                      <a:endParaRPr lang="en-US" sz="800" dirty="0"/>
                    </a:p>
                  </a:txBody>
                  <a:tcPr marL="63500" marR="635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bl>
          </a:graphicData>
        </a:graphic>
      </p:graphicFrame>
      <p:sp>
        <p:nvSpPr>
          <p:cNvPr id="12" name="Text 8"/>
          <p:cNvSpPr/>
          <p:nvPr/>
        </p:nvSpPr>
        <p:spPr>
          <a:xfrm>
            <a:off x="457200" y="2057400"/>
            <a:ext cx="45720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9639"/>
                </a:solidFill>
                <a:effectLst/>
                <a:uLnTx/>
                <a:uFillTx/>
                <a:latin typeface="Arial" pitchFamily="34" charset="0"/>
                <a:ea typeface="Arial" pitchFamily="34" charset="-122"/>
                <a:cs typeface="Arial" pitchFamily="34" charset="-120"/>
              </a:rPr>
              <a:t>GUI: System &gt; Archives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9"/>
          <p:cNvSpPr/>
          <p:nvPr/>
        </p:nvSpPr>
        <p:spPr>
          <a:xfrm>
            <a:off x="457200" y="2286000"/>
            <a:ext cx="3840480" cy="1645920"/>
          </a:xfrm>
          <a:prstGeom prst="rect">
            <a:avLst/>
          </a:prstGeom>
          <a:solidFill>
            <a:srgbClr val="F2F2F2"/>
          </a:solidFill>
          <a:ln w="12700">
            <a:solidFill>
              <a:srgbClr val="D9D9D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0"/>
          <p:cNvSpPr/>
          <p:nvPr/>
        </p:nvSpPr>
        <p:spPr>
          <a:xfrm>
            <a:off x="548640" y="2331720"/>
            <a:ext cx="3657600" cy="15544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009639"/>
                </a:solidFill>
                <a:effectLst/>
                <a:uLnTx/>
                <a:uFillTx/>
                <a:latin typeface="Calibri" pitchFamily="34" charset="0"/>
                <a:ea typeface="Calibri" pitchFamily="34" charset="-122"/>
                <a:cs typeface="Calibri" pitchFamily="34" charset="-120"/>
              </a:rPr>
              <a:t>Create archive:
</a:t>
            </a:r>
            <a:r>
              <a:rPr kumimoji="0" lang="en-US" sz="85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System &gt; Archives &gt; Create &gt; enter name
+ optional passphrase &gt; Finished
</a:t>
            </a:r>
            <a:r>
              <a:rPr kumimoji="0" lang="en-US" sz="850" b="1" i="0" u="none" strike="noStrike" kern="1200" cap="none" spc="0" normalizeH="0" baseline="0" noProof="0" dirty="0">
                <a:ln>
                  <a:noFill/>
                </a:ln>
                <a:solidFill>
                  <a:srgbClr val="F29A36"/>
                </a:solidFill>
                <a:effectLst/>
                <a:uLnTx/>
                <a:uFillTx/>
                <a:latin typeface="Calibri" pitchFamily="34" charset="0"/>
                <a:ea typeface="Calibri" pitchFamily="34" charset="-122"/>
                <a:cs typeface="Calibri" pitchFamily="34" charset="-120"/>
              </a:rPr>
              <a:t>Restore archive:
</a:t>
            </a:r>
            <a:r>
              <a:rPr kumimoji="0" lang="en-US" sz="85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System &gt; Archives &gt; select archive &gt; Restore
WARNING: Overwrites entire configuration
</a:t>
            </a:r>
            <a:r>
              <a:rPr kumimoji="0" lang="en-US" sz="850" b="1" i="0" u="none" strike="noStrike" kern="1200" cap="none" spc="0" normalizeH="0" baseline="0" noProof="0" dirty="0">
                <a:ln>
                  <a:noFill/>
                </a:ln>
                <a:solidFill>
                  <a:srgbClr val="0E41AA"/>
                </a:solidFill>
                <a:effectLst/>
                <a:uLnTx/>
                <a:uFillTx/>
                <a:latin typeface="Calibri" pitchFamily="34" charset="0"/>
                <a:ea typeface="Calibri" pitchFamily="34" charset="-122"/>
                <a:cs typeface="Calibri" pitchFamily="34" charset="-120"/>
              </a:rPr>
              <a:t>Download / Upload:
</a:t>
            </a:r>
            <a:r>
              <a:rPr kumimoji="0" lang="en-US" sz="85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Select archive &gt; Download: .ucs file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Upload: restore from off-box backup</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1"/>
          <p:cNvSpPr/>
          <p:nvPr/>
        </p:nvSpPr>
        <p:spPr>
          <a:xfrm>
            <a:off x="4572000" y="2286000"/>
            <a:ext cx="4206240" cy="1645920"/>
          </a:xfrm>
          <a:prstGeom prst="rect">
            <a:avLst/>
          </a:prstGeom>
          <a:solidFill>
            <a:srgbClr val="1E293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2"/>
          <p:cNvSpPr/>
          <p:nvPr/>
        </p:nvSpPr>
        <p:spPr>
          <a:xfrm>
            <a:off x="4709160" y="2304288"/>
            <a:ext cx="3931920" cy="16093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A5F3FC"/>
                </a:solidFill>
                <a:effectLst/>
                <a:uLnTx/>
                <a:uFillTx/>
                <a:latin typeface="Courier New" pitchFamily="34" charset="0"/>
                <a:ea typeface="Courier New" pitchFamily="34" charset="-122"/>
                <a:cs typeface="Courier New" pitchFamily="34" charset="-120"/>
              </a:rPr>
              <a:t># Create UCS</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A5F3FC"/>
                </a:solidFill>
                <a:effectLst/>
                <a:uLnTx/>
                <a:uFillTx/>
                <a:latin typeface="Courier New" pitchFamily="34" charset="0"/>
                <a:ea typeface="Courier New" pitchFamily="34" charset="-122"/>
                <a:cs typeface="Courier New" pitchFamily="34" charset="-120"/>
              </a:rPr>
              <a:t>save sys ucs /var/local/ucs/backup.ucs</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A5F3FC"/>
                </a:solidFill>
                <a:effectLst/>
                <a:uLnTx/>
                <a:uFillTx/>
                <a:latin typeface="Courier New" pitchFamily="34" charset="0"/>
                <a:ea typeface="Courier New" pitchFamily="34" charset="-122"/>
                <a:cs typeface="Courier New" pitchFamily="34" charset="-120"/>
              </a:rPr>
              <a:t># Create encrypted UCS</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A5F3FC"/>
                </a:solidFill>
                <a:effectLst/>
                <a:uLnTx/>
                <a:uFillTx/>
                <a:latin typeface="Courier New" pitchFamily="34" charset="0"/>
                <a:ea typeface="Courier New" pitchFamily="34" charset="-122"/>
                <a:cs typeface="Courier New" pitchFamily="34" charset="-120"/>
              </a:rPr>
              <a:t>save sys ucs backup.ucs passphrase s3cret</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A5F3FC"/>
                </a:solidFill>
                <a:effectLst/>
                <a:uLnTx/>
                <a:uFillTx/>
                <a:latin typeface="Courier New" pitchFamily="34" charset="0"/>
                <a:ea typeface="Courier New" pitchFamily="34" charset="-122"/>
                <a:cs typeface="Courier New" pitchFamily="34" charset="-120"/>
              </a:rPr>
              <a:t># Restore UCS (OVERWRITES all config)</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A5F3FC"/>
                </a:solidFill>
                <a:effectLst/>
                <a:uLnTx/>
                <a:uFillTx/>
                <a:latin typeface="Courier New" pitchFamily="34" charset="0"/>
                <a:ea typeface="Courier New" pitchFamily="34" charset="-122"/>
                <a:cs typeface="Courier New" pitchFamily="34" charset="-120"/>
              </a:rPr>
              <a:t>load sys ucs /var/local/ucs/backup.ucs</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A5F3FC"/>
                </a:solidFill>
                <a:effectLst/>
                <a:uLnTx/>
                <a:uFillTx/>
                <a:latin typeface="Courier New" pitchFamily="34" charset="0"/>
                <a:ea typeface="Courier New" pitchFamily="34" charset="-122"/>
                <a:cs typeface="Courier New" pitchFamily="34" charset="-120"/>
              </a:rPr>
              <a:t># Create / restore SCF</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A5F3FC"/>
                </a:solidFill>
                <a:effectLst/>
                <a:uLnTx/>
                <a:uFillTx/>
                <a:latin typeface="Courier New" pitchFamily="34" charset="0"/>
                <a:ea typeface="Courier New" pitchFamily="34" charset="-122"/>
                <a:cs typeface="Courier New" pitchFamily="34" charset="-120"/>
              </a:rPr>
              <a:t>save sys config file my-config.scf</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A5F3FC"/>
                </a:solidFill>
                <a:effectLst/>
                <a:uLnTx/>
                <a:uFillTx/>
                <a:latin typeface="Courier New" pitchFamily="34" charset="0"/>
                <a:ea typeface="Courier New" pitchFamily="34" charset="-122"/>
                <a:cs typeface="Courier New" pitchFamily="34" charset="-120"/>
              </a:rPr>
              <a:t>load sys config file my-config.scf</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3"/>
          <p:cNvSpPr/>
          <p:nvPr/>
        </p:nvSpPr>
        <p:spPr>
          <a:xfrm>
            <a:off x="365760" y="4343400"/>
            <a:ext cx="8412480" cy="274320"/>
          </a:xfrm>
          <a:prstGeom prst="rect">
            <a:avLst/>
          </a:prstGeom>
          <a:solidFill>
            <a:srgbClr val="FDE8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4"/>
          <p:cNvSpPr/>
          <p:nvPr/>
        </p:nvSpPr>
        <p:spPr>
          <a:xfrm>
            <a:off x="548640" y="4361688"/>
            <a:ext cx="804672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E4002B"/>
                </a:solidFill>
                <a:effectLst/>
                <a:uLnTx/>
                <a:uFillTx/>
                <a:latin typeface="Calibri" pitchFamily="34" charset="0"/>
                <a:ea typeface="Calibri" pitchFamily="34" charset="-122"/>
                <a:cs typeface="Calibri" pitchFamily="34" charset="-120"/>
              </a:rPr>
              <a:t>Always create a UCS BEFORE any upgrade or major change. </a:t>
            </a:r>
            <a:r>
              <a:rPr kumimoji="0" lang="en-US" sz="900" b="0" i="0" u="none" strike="noStrike" kern="1200" cap="none" spc="0" normalizeH="0" baseline="0" noProof="0" dirty="0">
                <a:ln>
                  <a:noFill/>
                </a:ln>
                <a:solidFill>
                  <a:srgbClr val="7A0000"/>
                </a:solidFill>
                <a:effectLst/>
                <a:uLnTx/>
                <a:uFillTx/>
                <a:latin typeface="Calibri" pitchFamily="34" charset="0"/>
                <a:ea typeface="Calibri" pitchFamily="34" charset="-122"/>
                <a:cs typeface="Calibri" pitchFamily="34" charset="-120"/>
              </a:rPr>
              <a:t>UCS restore OVERWRITES the entire config. Store copies off-box for disaster recovery.</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371600" cy="73152"/>
          </a:xfrm>
          <a:prstGeom prst="rect">
            <a:avLst/>
          </a:prstGeom>
          <a:solidFill>
            <a:srgbClr val="F29A3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1371600" y="0"/>
            <a:ext cx="2743200" cy="73152"/>
          </a:xfrm>
          <a:prstGeom prst="rect">
            <a:avLst/>
          </a:prstGeom>
          <a:solidFill>
            <a:srgbClr val="E4002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4114800" y="0"/>
            <a:ext cx="1371600" cy="73152"/>
          </a:xfrm>
          <a:prstGeom prst="rect">
            <a:avLst/>
          </a:prstGeom>
          <a:solidFill>
            <a:srgbClr val="AB278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5486400" y="0"/>
            <a:ext cx="2286000" cy="73152"/>
          </a:xfrm>
          <a:prstGeom prst="rect">
            <a:avLst/>
          </a:prstGeom>
          <a:solidFill>
            <a:srgbClr val="0E41A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7772400" y="0"/>
            <a:ext cx="1371600" cy="73152"/>
          </a:xfrm>
          <a:prstGeom prst="rect">
            <a:avLst/>
          </a:prstGeom>
          <a:solidFill>
            <a:srgbClr val="61228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5"/>
          <p:cNvSpPr/>
          <p:nvPr/>
        </p:nvSpPr>
        <p:spPr>
          <a:xfrm>
            <a:off x="365760" y="4800600"/>
            <a:ext cx="2743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666666"/>
                </a:solidFill>
                <a:effectLst/>
                <a:uLnTx/>
                <a:uFillTx/>
                <a:latin typeface="Calibri" pitchFamily="34" charset="0"/>
                <a:ea typeface="Calibri" pitchFamily="34" charset="-122"/>
                <a:cs typeface="Calibri" pitchFamily="34" charset="-120"/>
              </a:rPr>
              <a:t>112    © 2026 F5</a:t>
            </a:r>
            <a:endParaRPr kumimoji="0" lang="en-US" sz="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8" name="Image 0" descr="preencoded.png"/>
          <p:cNvPicPr>
            <a:picLocks noChangeAspect="1"/>
          </p:cNvPicPr>
          <p:nvPr/>
        </p:nvPicPr>
        <p:blipFill>
          <a:blip r:embed="rId3"/>
          <a:stretch>
            <a:fillRect/>
          </a:stretch>
        </p:blipFill>
        <p:spPr>
          <a:xfrm>
            <a:off x="8458200" y="4663440"/>
            <a:ext cx="384048" cy="384048"/>
          </a:xfrm>
          <a:prstGeom prst="rect">
            <a:avLst/>
          </a:prstGeom>
        </p:spPr>
      </p:pic>
      <p:sp>
        <p:nvSpPr>
          <p:cNvPr id="9" name="Text 6"/>
          <p:cNvSpPr/>
          <p:nvPr/>
        </p:nvSpPr>
        <p:spPr>
          <a:xfrm>
            <a:off x="457200" y="274320"/>
            <a:ext cx="822960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000000"/>
                </a:solidFill>
                <a:effectLst/>
                <a:uLnTx/>
                <a:uFillTx/>
                <a:latin typeface="Arial" pitchFamily="34" charset="0"/>
                <a:ea typeface="Arial" pitchFamily="34" charset="-122"/>
                <a:cs typeface="Arial" pitchFamily="34" charset="-120"/>
              </a:rPr>
              <a:t>Performance analysis</a:t>
            </a:r>
            <a:endParaRPr kumimoji="0" lang="en-US" sz="2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7"/>
          <p:cNvSpPr/>
          <p:nvPr/>
        </p:nvSpPr>
        <p:spPr>
          <a:xfrm>
            <a:off x="457200" y="658368"/>
            <a:ext cx="82296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666666"/>
                </a:solidFill>
                <a:effectLst/>
                <a:uLnTx/>
                <a:uFillTx/>
                <a:latin typeface="Calibri" pitchFamily="34" charset="0"/>
                <a:ea typeface="Calibri" pitchFamily="34" charset="-122"/>
                <a:cs typeface="Calibri" pitchFamily="34" charset="-120"/>
              </a:rPr>
              <a:t>F5CTSLTM4.10 (A/E) — CPU, memory, throughput from GUI and TMSH</a:t>
            </a:r>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aphicFrame>
        <p:nvGraphicFramePr>
          <p:cNvPr id="11" name="Table 0"/>
          <p:cNvGraphicFramePr>
            <a:graphicFrameLocks noGrp="1"/>
          </p:cNvGraphicFramePr>
          <p:nvPr/>
        </p:nvGraphicFramePr>
        <p:xfrm>
          <a:off x="365760" y="914400"/>
          <a:ext cx="8412480" cy="939800"/>
        </p:xfrm>
        <a:graphic>
          <a:graphicData uri="http://schemas.openxmlformats.org/drawingml/2006/table">
            <a:tbl>
              <a:tblPr/>
              <a:tblGrid>
                <a:gridCol w="73152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3840480">
                  <a:extLst>
                    <a:ext uri="{9D8B030D-6E8A-4147-A177-3AD203B41FA5}">
                      <a16:colId xmlns:a16="http://schemas.microsoft.com/office/drawing/2014/main" val="20002"/>
                    </a:ext>
                  </a:extLst>
                </a:gridCol>
              </a:tblGrid>
              <a:tr h="0">
                <a:tc>
                  <a:txBody>
                    <a:bodyPr/>
                    <a:lstStyle/>
                    <a:p>
                      <a:pPr marL="0" indent="0">
                        <a:buNone/>
                      </a:pPr>
                      <a:endParaRPr lang="en-US" sz="900"/>
                    </a:p>
                  </a:txBody>
                  <a:tcPr marL="63500" marR="635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4002B"/>
                    </a:solidFill>
                  </a:tcPr>
                </a:tc>
                <a:tc>
                  <a:txBody>
                    <a:bodyPr/>
                    <a:lstStyle/>
                    <a:p>
                      <a:pPr marL="0" indent="0">
                        <a:buNone/>
                      </a:pPr>
                      <a:r>
                        <a:rPr lang="en-US" sz="900" b="1">
                          <a:solidFill>
                            <a:srgbClr val="FFFFFF"/>
                          </a:solidFill>
                        </a:rPr>
                        <a:t>Host OS (Linux)</a:t>
                      </a:r>
                      <a:endParaRPr lang="en-US" sz="900"/>
                    </a:p>
                  </a:txBody>
                  <a:tcPr marL="63500" marR="635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4002B"/>
                    </a:solidFill>
                  </a:tcPr>
                </a:tc>
                <a:tc>
                  <a:txBody>
                    <a:bodyPr/>
                    <a:lstStyle/>
                    <a:p>
                      <a:pPr marL="0" indent="0">
                        <a:buNone/>
                      </a:pPr>
                      <a:r>
                        <a:rPr lang="en-US" sz="900" b="1">
                          <a:solidFill>
                            <a:srgbClr val="FFFFFF"/>
                          </a:solidFill>
                        </a:rPr>
                        <a:t>TMM (Traffic Microkernel)</a:t>
                      </a:r>
                      <a:endParaRPr lang="en-US" sz="900"/>
                    </a:p>
                  </a:txBody>
                  <a:tcPr marL="63500" marR="635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4002B"/>
                    </a:solidFill>
                  </a:tcPr>
                </a:tc>
                <a:extLst>
                  <a:ext uri="{0D108BD9-81ED-4DB2-BD59-A6C34878D82A}">
                    <a16:rowId xmlns:a16="http://schemas.microsoft.com/office/drawing/2014/main" val="10000"/>
                  </a:ext>
                </a:extLst>
              </a:tr>
              <a:tr h="0">
                <a:tc>
                  <a:txBody>
                    <a:bodyPr/>
                    <a:lstStyle/>
                    <a:p>
                      <a:pPr marL="0" indent="0">
                        <a:buNone/>
                      </a:pPr>
                      <a:r>
                        <a:rPr lang="en-US" sz="900" b="1">
                          <a:solidFill>
                            <a:srgbClr val="000000"/>
                          </a:solidFill>
                        </a:rPr>
                        <a:t>Handles</a:t>
                      </a:r>
                      <a:endParaRPr lang="en-US" sz="900"/>
                    </a:p>
                  </a:txBody>
                  <a:tcPr marL="63500" marR="635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800">
                          <a:solidFill>
                            <a:srgbClr val="000000"/>
                          </a:solidFill>
                        </a:rPr>
                        <a:t>Management: mcpd, httpd, sshd, named, ntpd, alertd</a:t>
                      </a:r>
                      <a:endParaRPr lang="en-US" sz="800"/>
                    </a:p>
                  </a:txBody>
                  <a:tcPr marL="63500" marR="635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800">
                          <a:solidFill>
                            <a:srgbClr val="000000"/>
                          </a:solidFill>
                        </a:rPr>
                        <a:t>Traffic: SSL, compression, iRules, LB, monitors</a:t>
                      </a:r>
                      <a:endParaRPr lang="en-US" sz="800"/>
                    </a:p>
                  </a:txBody>
                  <a:tcPr marL="63500" marR="635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900" b="1">
                          <a:solidFill>
                            <a:srgbClr val="000000"/>
                          </a:solidFill>
                        </a:rPr>
                        <a:t>Memory</a:t>
                      </a:r>
                      <a:endParaRPr lang="en-US" sz="900"/>
                    </a:p>
                  </a:txBody>
                  <a:tcPr marL="63500" marR="635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buNone/>
                      </a:pPr>
                      <a:r>
                        <a:rPr lang="en-US" sz="800">
                          <a:solidFill>
                            <a:srgbClr val="000000"/>
                          </a:solidFill>
                        </a:rPr>
                        <a:t>Separate pool. Check: free -m or show sys host-info</a:t>
                      </a:r>
                      <a:endParaRPr lang="en-US" sz="800"/>
                    </a:p>
                  </a:txBody>
                  <a:tcPr marL="63500" marR="635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buNone/>
                      </a:pPr>
                      <a:r>
                        <a:rPr lang="en-US" sz="800">
                          <a:solidFill>
                            <a:srgbClr val="000000"/>
                          </a:solidFill>
                        </a:rPr>
                        <a:t>Separate pool. Check: show sys tmm-info</a:t>
                      </a:r>
                      <a:endParaRPr lang="en-US" sz="800"/>
                    </a:p>
                  </a:txBody>
                  <a:tcPr marL="63500" marR="635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0">
                <a:tc>
                  <a:txBody>
                    <a:bodyPr/>
                    <a:lstStyle/>
                    <a:p>
                      <a:pPr marL="0" indent="0">
                        <a:buNone/>
                      </a:pPr>
                      <a:r>
                        <a:rPr lang="en-US" sz="900" b="1">
                          <a:solidFill>
                            <a:srgbClr val="000000"/>
                          </a:solidFill>
                        </a:rPr>
                        <a:t>CPU</a:t>
                      </a:r>
                      <a:endParaRPr lang="en-US" sz="900"/>
                    </a:p>
                  </a:txBody>
                  <a:tcPr marL="63500" marR="635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800">
                          <a:solidFill>
                            <a:srgbClr val="000000"/>
                          </a:solidFill>
                        </a:rPr>
                        <a:t>Shared cores. Check: top, show sys cpu</a:t>
                      </a:r>
                      <a:endParaRPr lang="en-US" sz="800"/>
                    </a:p>
                  </a:txBody>
                  <a:tcPr marL="63500" marR="635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800">
                          <a:solidFill>
                            <a:srgbClr val="000000"/>
                          </a:solidFill>
                        </a:rPr>
                        <a:t>Dedicated cores. Check: show sys tmm-info</a:t>
                      </a:r>
                      <a:endParaRPr lang="en-US" sz="800"/>
                    </a:p>
                  </a:txBody>
                  <a:tcPr marL="63500" marR="635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900" b="1">
                          <a:solidFill>
                            <a:srgbClr val="000000"/>
                          </a:solidFill>
                        </a:rPr>
                        <a:t>High = </a:t>
                      </a:r>
                      <a:endParaRPr lang="en-US" sz="900"/>
                    </a:p>
                  </a:txBody>
                  <a:tcPr marL="63500" marR="635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buNone/>
                      </a:pPr>
                      <a:r>
                        <a:rPr lang="en-US" sz="800">
                          <a:solidFill>
                            <a:srgbClr val="000000"/>
                          </a:solidFill>
                        </a:rPr>
                        <a:t>Config changes slow, GUI unresponsive, mcpd busy</a:t>
                      </a:r>
                      <a:endParaRPr lang="en-US" sz="800"/>
                    </a:p>
                  </a:txBody>
                  <a:tcPr marL="63500" marR="635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buNone/>
                      </a:pPr>
                      <a:r>
                        <a:rPr lang="en-US" sz="800">
                          <a:solidFill>
                            <a:srgbClr val="000000"/>
                          </a:solidFill>
                        </a:rPr>
                        <a:t>Traffic overload, SSL bulk, complex iRules</a:t>
                      </a:r>
                      <a:endParaRPr lang="en-US" sz="800"/>
                    </a:p>
                  </a:txBody>
                  <a:tcPr marL="63500" marR="635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bl>
          </a:graphicData>
        </a:graphic>
      </p:graphicFrame>
      <p:sp>
        <p:nvSpPr>
          <p:cNvPr id="12" name="Text 8"/>
          <p:cNvSpPr/>
          <p:nvPr/>
        </p:nvSpPr>
        <p:spPr>
          <a:xfrm>
            <a:off x="457200" y="2423160"/>
            <a:ext cx="45720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9639"/>
                </a:solidFill>
                <a:effectLst/>
                <a:uLnTx/>
                <a:uFillTx/>
                <a:latin typeface="Arial" pitchFamily="34" charset="0"/>
                <a:ea typeface="Arial" pitchFamily="34" charset="-122"/>
                <a:cs typeface="Arial" pitchFamily="34" charset="-120"/>
              </a:rPr>
              <a:t>GUI: Statistics &gt; Performance Reports</a:t>
            </a:r>
            <a:endParaRPr kumimoji="0" lang="en-US" sz="14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aphicFrame>
        <p:nvGraphicFramePr>
          <p:cNvPr id="15" name="Table 1"/>
          <p:cNvGraphicFramePr>
            <a:graphicFrameLocks noGrp="1"/>
          </p:cNvGraphicFramePr>
          <p:nvPr/>
        </p:nvGraphicFramePr>
        <p:xfrm>
          <a:off x="365760" y="2651760"/>
          <a:ext cx="8412480" cy="878840"/>
        </p:xfrm>
        <a:graphic>
          <a:graphicData uri="http://schemas.openxmlformats.org/drawingml/2006/table">
            <a:tbl>
              <a:tblPr/>
              <a:tblGrid>
                <a:gridCol w="201168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tblGrid>
              <a:tr h="0">
                <a:tc>
                  <a:txBody>
                    <a:bodyPr/>
                    <a:lstStyle/>
                    <a:p>
                      <a:pPr marL="0" indent="0">
                        <a:buNone/>
                      </a:pPr>
                      <a:r>
                        <a:rPr lang="en-US" sz="900" b="1">
                          <a:solidFill>
                            <a:srgbClr val="FFFFFF"/>
                          </a:solidFill>
                        </a:rPr>
                        <a:t>GUI location</a:t>
                      </a:r>
                      <a:endParaRPr lang="en-US" sz="900"/>
                    </a:p>
                  </a:txBody>
                  <a:tcPr marL="50800" marR="508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9639"/>
                    </a:solidFill>
                  </a:tcPr>
                </a:tc>
                <a:tc>
                  <a:txBody>
                    <a:bodyPr/>
                    <a:lstStyle/>
                    <a:p>
                      <a:pPr marL="0" indent="0">
                        <a:buNone/>
                      </a:pPr>
                      <a:r>
                        <a:rPr lang="en-US" sz="900" b="1">
                          <a:solidFill>
                            <a:srgbClr val="FFFFFF"/>
                          </a:solidFill>
                        </a:rPr>
                        <a:t>What it shows</a:t>
                      </a:r>
                      <a:endParaRPr lang="en-US" sz="900"/>
                    </a:p>
                  </a:txBody>
                  <a:tcPr marL="50800" marR="508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9639"/>
                    </a:solidFill>
                  </a:tcPr>
                </a:tc>
                <a:tc>
                  <a:txBody>
                    <a:bodyPr/>
                    <a:lstStyle/>
                    <a:p>
                      <a:pPr marL="0" indent="0">
                        <a:buNone/>
                      </a:pPr>
                      <a:r>
                        <a:rPr lang="en-US" sz="900" b="1">
                          <a:solidFill>
                            <a:srgbClr val="FFFFFF"/>
                          </a:solidFill>
                        </a:rPr>
                        <a:t>Use when</a:t>
                      </a:r>
                      <a:endParaRPr lang="en-US" sz="900"/>
                    </a:p>
                  </a:txBody>
                  <a:tcPr marL="50800" marR="508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9639"/>
                    </a:solidFill>
                  </a:tcPr>
                </a:tc>
                <a:extLst>
                  <a:ext uri="{0D108BD9-81ED-4DB2-BD59-A6C34878D82A}">
                    <a16:rowId xmlns:a16="http://schemas.microsoft.com/office/drawing/2014/main" val="10000"/>
                  </a:ext>
                </a:extLst>
              </a:tr>
              <a:tr h="0">
                <a:tc>
                  <a:txBody>
                    <a:bodyPr/>
                    <a:lstStyle/>
                    <a:p>
                      <a:pPr marL="0" indent="0">
                        <a:buNone/>
                      </a:pPr>
                      <a:r>
                        <a:rPr lang="en-US" sz="800" b="1">
                          <a:solidFill>
                            <a:srgbClr val="000000"/>
                          </a:solidFill>
                        </a:rPr>
                        <a:t>Statistics &gt; Performance Reports</a:t>
                      </a:r>
                      <a:endParaRPr lang="en-US" sz="800"/>
                    </a:p>
                  </a:txBody>
                  <a:tcPr marL="50800" marR="508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800">
                          <a:solidFill>
                            <a:srgbClr val="000000"/>
                          </a:solidFill>
                        </a:rPr>
                        <a:t>Time-series graphs: CPU, memory, throughput, connections, SSL TPS</a:t>
                      </a:r>
                      <a:endParaRPr lang="en-US" sz="800"/>
                    </a:p>
                  </a:txBody>
                  <a:tcPr marL="50800" marR="508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800">
                          <a:solidFill>
                            <a:srgbClr val="000000"/>
                          </a:solidFill>
                        </a:rPr>
                        <a:t>Trending, capacity planning, correlating spikes with events</a:t>
                      </a:r>
                      <a:endParaRPr lang="en-US" sz="800"/>
                    </a:p>
                  </a:txBody>
                  <a:tcPr marL="50800" marR="508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800" b="1">
                          <a:solidFill>
                            <a:srgbClr val="000000"/>
                          </a:solidFill>
                        </a:rPr>
                        <a:t>System &gt; Resource Provisioning</a:t>
                      </a:r>
                      <a:endParaRPr lang="en-US" sz="800"/>
                    </a:p>
                  </a:txBody>
                  <a:tcPr marL="50800" marR="508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buNone/>
                      </a:pPr>
                      <a:r>
                        <a:rPr lang="en-US" sz="800">
                          <a:solidFill>
                            <a:srgbClr val="000000"/>
                          </a:solidFill>
                        </a:rPr>
                        <a:t>Module allocation: LTM, AVR, etc. Shows host-level resource usage.</a:t>
                      </a:r>
                      <a:endParaRPr lang="en-US" sz="800"/>
                    </a:p>
                  </a:txBody>
                  <a:tcPr marL="50800" marR="508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buNone/>
                      </a:pPr>
                      <a:r>
                        <a:rPr lang="en-US" sz="800">
                          <a:solidFill>
                            <a:srgbClr val="000000"/>
                          </a:solidFill>
                        </a:rPr>
                        <a:t>Check if modules are competing for resources</a:t>
                      </a:r>
                      <a:endParaRPr lang="en-US" sz="800"/>
                    </a:p>
                  </a:txBody>
                  <a:tcPr marL="50800" marR="508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0">
                <a:tc>
                  <a:txBody>
                    <a:bodyPr/>
                    <a:lstStyle/>
                    <a:p>
                      <a:pPr marL="0" indent="0">
                        <a:buNone/>
                      </a:pPr>
                      <a:r>
                        <a:rPr lang="en-US" sz="800" b="1">
                          <a:solidFill>
                            <a:srgbClr val="000000"/>
                          </a:solidFill>
                        </a:rPr>
                        <a:t>Statistics &gt; Module Stats &gt; LT</a:t>
                      </a:r>
                      <a:endParaRPr lang="en-US" sz="800"/>
                    </a:p>
                  </a:txBody>
                  <a:tcPr marL="50800" marR="508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800">
                          <a:solidFill>
                            <a:srgbClr val="000000"/>
                          </a:solidFill>
                        </a:rPr>
                        <a:t>VS/pool/member connection counts, bits in/out, current sessions</a:t>
                      </a:r>
                      <a:endParaRPr lang="en-US" sz="800"/>
                    </a:p>
                  </a:txBody>
                  <a:tcPr marL="50800" marR="508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800">
                          <a:solidFill>
                            <a:srgbClr val="000000"/>
                          </a:solidFill>
                        </a:rPr>
                        <a:t>Identify unused VS, overloaded members, traffic distribution</a:t>
                      </a:r>
                      <a:endParaRPr lang="en-US" sz="800"/>
                    </a:p>
                  </a:txBody>
                  <a:tcPr marL="50800" marR="508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800" b="1">
                          <a:solidFill>
                            <a:srgbClr val="000000"/>
                          </a:solidFill>
                        </a:rPr>
                        <a:t>System &gt; Logs &gt; Dashboard</a:t>
                      </a:r>
                      <a:endParaRPr lang="en-US" sz="800"/>
                    </a:p>
                  </a:txBody>
                  <a:tcPr marL="50800" marR="508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buNone/>
                      </a:pPr>
                      <a:r>
                        <a:rPr lang="en-US" sz="800">
                          <a:solidFill>
                            <a:srgbClr val="000000"/>
                          </a:solidFill>
                        </a:rPr>
                        <a:t>Recent log messages, alerts, severity breakdown</a:t>
                      </a:r>
                      <a:endParaRPr lang="en-US" sz="800"/>
                    </a:p>
                  </a:txBody>
                  <a:tcPr marL="50800" marR="508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buNone/>
                      </a:pPr>
                      <a:r>
                        <a:rPr lang="en-US" sz="800">
                          <a:solidFill>
                            <a:srgbClr val="000000"/>
                          </a:solidFill>
                        </a:rPr>
                        <a:t>Quick health check, recent errors at a glance</a:t>
                      </a:r>
                      <a:endParaRPr lang="en-US" sz="800"/>
                    </a:p>
                  </a:txBody>
                  <a:tcPr marL="50800" marR="508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bl>
          </a:graphicData>
        </a:graphic>
      </p:graphicFrame>
      <p:sp>
        <p:nvSpPr>
          <p:cNvPr id="14" name="Shape 9"/>
          <p:cNvSpPr/>
          <p:nvPr/>
        </p:nvSpPr>
        <p:spPr>
          <a:xfrm>
            <a:off x="457200" y="3931920"/>
            <a:ext cx="8229600" cy="685800"/>
          </a:xfrm>
          <a:prstGeom prst="rect">
            <a:avLst/>
          </a:prstGeom>
          <a:solidFill>
            <a:srgbClr val="1E293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10"/>
          <p:cNvSpPr/>
          <p:nvPr/>
        </p:nvSpPr>
        <p:spPr>
          <a:xfrm>
            <a:off x="594360" y="3950208"/>
            <a:ext cx="7955280" cy="6492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a:ln>
                  <a:noFill/>
                </a:ln>
                <a:solidFill>
                  <a:srgbClr val="A5F3FC"/>
                </a:solidFill>
                <a:effectLst/>
                <a:uLnTx/>
                <a:uFillTx/>
                <a:latin typeface="Courier New" pitchFamily="34" charset="0"/>
                <a:ea typeface="Courier New" pitchFamily="34" charset="-122"/>
                <a:cs typeface="Courier New" pitchFamily="34" charset="-120"/>
              </a:rPr>
              <a:t>show sys performance all-stats      # Single best overview: CPU, mem, throughput, connections</a:t>
            </a:r>
            <a:endParaRPr kumimoji="0" lang="en-US" sz="75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a:ln>
                  <a:noFill/>
                </a:ln>
                <a:solidFill>
                  <a:srgbClr val="A5F3FC"/>
                </a:solidFill>
                <a:effectLst/>
                <a:uLnTx/>
                <a:uFillTx/>
                <a:latin typeface="Courier New" pitchFamily="34" charset="0"/>
                <a:ea typeface="Courier New" pitchFamily="34" charset="-122"/>
                <a:cs typeface="Courier New" pitchFamily="34" charset="-120"/>
              </a:rPr>
              <a:t>show sys tmm-info                    # Per-TMM CPU, memory, connection counts</a:t>
            </a:r>
            <a:endParaRPr kumimoji="0" lang="en-US" sz="75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a:ln>
                  <a:noFill/>
                </a:ln>
                <a:solidFill>
                  <a:srgbClr val="A5F3FC"/>
                </a:solidFill>
                <a:effectLst/>
                <a:uLnTx/>
                <a:uFillTx/>
                <a:latin typeface="Courier New" pitchFamily="34" charset="0"/>
                <a:ea typeface="Courier New" pitchFamily="34" charset="-122"/>
                <a:cs typeface="Courier New" pitchFamily="34" charset="-120"/>
              </a:rPr>
              <a:t>show sys host-info                   # Host OS CPU and memory utilization</a:t>
            </a:r>
            <a:endParaRPr kumimoji="0" lang="en-US" sz="75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a:ln>
                  <a:noFill/>
                </a:ln>
                <a:solidFill>
                  <a:srgbClr val="A5F3FC"/>
                </a:solidFill>
                <a:effectLst/>
                <a:uLnTx/>
                <a:uFillTx/>
                <a:latin typeface="Courier New" pitchFamily="34" charset="0"/>
                <a:ea typeface="Courier New" pitchFamily="34" charset="-122"/>
                <a:cs typeface="Courier New" pitchFamily="34" charset="-120"/>
              </a:rPr>
              <a:t>show sys connection count             # Total active connections (spike = DDoS or leak)</a:t>
            </a:r>
            <a:endParaRPr kumimoji="0" lang="en-US" sz="75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a:ln>
                  <a:noFill/>
                </a:ln>
                <a:solidFill>
                  <a:srgbClr val="A5F3FC"/>
                </a:solidFill>
                <a:effectLst/>
                <a:uLnTx/>
                <a:uFillTx/>
                <a:latin typeface="Courier New" pitchFamily="34" charset="0"/>
                <a:ea typeface="Courier New" pitchFamily="34" charset="-122"/>
                <a:cs typeface="Courier New" pitchFamily="34" charset="-120"/>
              </a:rPr>
              <a:t>grep -i 'memory\|exhausted' /var/log/ltm  # Resource exhaustion warnings</a:t>
            </a:r>
            <a:endParaRPr kumimoji="0" lang="en-US" sz="7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371600" cy="73152"/>
          </a:xfrm>
          <a:prstGeom prst="rect">
            <a:avLst/>
          </a:prstGeom>
          <a:solidFill>
            <a:srgbClr val="F29A3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1371600" y="0"/>
            <a:ext cx="2743200" cy="73152"/>
          </a:xfrm>
          <a:prstGeom prst="rect">
            <a:avLst/>
          </a:prstGeom>
          <a:solidFill>
            <a:srgbClr val="E4002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4114800" y="0"/>
            <a:ext cx="1371600" cy="73152"/>
          </a:xfrm>
          <a:prstGeom prst="rect">
            <a:avLst/>
          </a:prstGeom>
          <a:solidFill>
            <a:srgbClr val="AB278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5486400" y="0"/>
            <a:ext cx="2286000" cy="73152"/>
          </a:xfrm>
          <a:prstGeom prst="rect">
            <a:avLst/>
          </a:prstGeom>
          <a:solidFill>
            <a:srgbClr val="0E41A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7772400" y="0"/>
            <a:ext cx="1371600" cy="73152"/>
          </a:xfrm>
          <a:prstGeom prst="rect">
            <a:avLst/>
          </a:prstGeom>
          <a:solidFill>
            <a:srgbClr val="61228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5"/>
          <p:cNvSpPr/>
          <p:nvPr/>
        </p:nvSpPr>
        <p:spPr>
          <a:xfrm>
            <a:off x="365760" y="4800600"/>
            <a:ext cx="2743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666666"/>
                </a:solidFill>
                <a:effectLst/>
                <a:uLnTx/>
                <a:uFillTx/>
                <a:latin typeface="Calibri" pitchFamily="34" charset="0"/>
                <a:ea typeface="Calibri" pitchFamily="34" charset="-122"/>
                <a:cs typeface="Calibri" pitchFamily="34" charset="-120"/>
              </a:rPr>
              <a:t>113    © 2026 F5</a:t>
            </a:r>
            <a:endParaRPr kumimoji="0" lang="en-US" sz="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8" name="Image 0" descr="preencoded.png"/>
          <p:cNvPicPr>
            <a:picLocks noChangeAspect="1"/>
          </p:cNvPicPr>
          <p:nvPr/>
        </p:nvPicPr>
        <p:blipFill>
          <a:blip r:embed="rId3"/>
          <a:stretch>
            <a:fillRect/>
          </a:stretch>
        </p:blipFill>
        <p:spPr>
          <a:xfrm>
            <a:off x="8458200" y="4663440"/>
            <a:ext cx="384048" cy="384048"/>
          </a:xfrm>
          <a:prstGeom prst="rect">
            <a:avLst/>
          </a:prstGeom>
        </p:spPr>
      </p:pic>
      <p:sp>
        <p:nvSpPr>
          <p:cNvPr id="9" name="Text 6"/>
          <p:cNvSpPr/>
          <p:nvPr/>
        </p:nvSpPr>
        <p:spPr>
          <a:xfrm>
            <a:off x="457200" y="274320"/>
            <a:ext cx="822960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000000"/>
                </a:solidFill>
                <a:effectLst/>
                <a:uLnTx/>
                <a:uFillTx/>
                <a:latin typeface="Arial" pitchFamily="34" charset="0"/>
                <a:ea typeface="Arial" pitchFamily="34" charset="-122"/>
                <a:cs typeface="Arial" pitchFamily="34" charset="-120"/>
              </a:rPr>
              <a:t>Simplify LTM configuration</a:t>
            </a:r>
            <a:endParaRPr kumimoji="0" lang="en-US" sz="2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7"/>
          <p:cNvSpPr/>
          <p:nvPr/>
        </p:nvSpPr>
        <p:spPr>
          <a:xfrm>
            <a:off x="457200" y="658368"/>
            <a:ext cx="82296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666666"/>
                </a:solidFill>
                <a:effectLst/>
                <a:uLnTx/>
                <a:uFillTx/>
                <a:latin typeface="Calibri" pitchFamily="34" charset="0"/>
                <a:ea typeface="Calibri" pitchFamily="34" charset="-122"/>
                <a:cs typeface="Calibri" pitchFamily="34" charset="-120"/>
              </a:rPr>
              <a:t>F5CTSLTM2.11 (A/E) — Replace iRules with policies, consolidate virtual servers</a:t>
            </a:r>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8"/>
          <p:cNvSpPr/>
          <p:nvPr/>
        </p:nvSpPr>
        <p:spPr>
          <a:xfrm>
            <a:off x="365760" y="1005840"/>
            <a:ext cx="3931920" cy="320040"/>
          </a:xfrm>
          <a:prstGeom prst="rect">
            <a:avLst/>
          </a:prstGeom>
          <a:solidFill>
            <a:srgbClr val="F29A3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9"/>
          <p:cNvSpPr/>
          <p:nvPr/>
        </p:nvSpPr>
        <p:spPr>
          <a:xfrm>
            <a:off x="365760" y="1005840"/>
            <a:ext cx="393192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rial" pitchFamily="34" charset="0"/>
                <a:ea typeface="Arial" pitchFamily="34" charset="-122"/>
                <a:cs typeface="Arial" pitchFamily="34" charset="-120"/>
              </a:rPr>
              <a:t>Replace iRules with LTM policies</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Shape 10"/>
          <p:cNvSpPr/>
          <p:nvPr/>
        </p:nvSpPr>
        <p:spPr>
          <a:xfrm>
            <a:off x="365760" y="1325880"/>
            <a:ext cx="3931920" cy="1645920"/>
          </a:xfrm>
          <a:prstGeom prst="rect">
            <a:avLst/>
          </a:prstGeom>
          <a:solidFill>
            <a:srgbClr val="F2F2F2"/>
          </a:solidFill>
          <a:ln w="12700">
            <a:solidFill>
              <a:srgbClr val="D9D9D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1"/>
          <p:cNvSpPr/>
          <p:nvPr/>
        </p:nvSpPr>
        <p:spPr>
          <a:xfrm>
            <a:off x="457200" y="1371600"/>
            <a:ext cx="3749040" cy="15544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29A36"/>
                </a:solidFill>
                <a:effectLst/>
                <a:uLnTx/>
                <a:uFillTx/>
                <a:latin typeface="Calibri" pitchFamily="34" charset="0"/>
                <a:ea typeface="Calibri" pitchFamily="34" charset="-122"/>
                <a:cs typeface="Calibri" pitchFamily="34" charset="-120"/>
              </a:rPr>
              <a:t>When to replace:
</a:t>
            </a:r>
            <a:r>
              <a:rPr kumimoji="0" lang="en-US" sz="900" b="0" i="0" u="none" strike="noStrike" kern="1200" cap="none" spc="0" normalizeH="0" baseline="0" noProof="0">
                <a:ln>
                  <a:noFill/>
                </a:ln>
                <a:solidFill>
                  <a:srgbClr val="333333"/>
                </a:solidFill>
                <a:effectLst/>
                <a:uLnTx/>
                <a:uFillTx/>
                <a:latin typeface="Calibri" pitchFamily="34" charset="0"/>
                <a:ea typeface="Calibri" pitchFamily="34" charset="-122"/>
                <a:cs typeface="Calibri" pitchFamily="34" charset="-120"/>
              </a:rPr>
              <a:t>• HTTP → HTTPS redirect
• URI-based pool selection
• Host header routing
• Response code actions
</a:t>
            </a:r>
            <a:r>
              <a:rPr kumimoji="0" lang="en-US" sz="1000" b="1" i="0" u="none" strike="noStrike" kern="1200" cap="none" spc="0" normalizeH="0" baseline="0" noProof="0">
                <a:ln>
                  <a:noFill/>
                </a:ln>
                <a:solidFill>
                  <a:srgbClr val="009639"/>
                </a:solidFill>
                <a:effectLst/>
                <a:uLnTx/>
                <a:uFillTx/>
                <a:latin typeface="Calibri" pitchFamily="34" charset="0"/>
                <a:ea typeface="Calibri" pitchFamily="34" charset="-122"/>
                <a:cs typeface="Calibri" pitchFamily="34" charset="-120"/>
              </a:rPr>
              <a:t>Why policies are better:
</a:t>
            </a:r>
            <a:r>
              <a:rPr kumimoji="0" lang="en-US" sz="900" b="0" i="0" u="none" strike="noStrike" kern="1200" cap="none" spc="0" normalizeH="0" baseline="0" noProof="0">
                <a:ln>
                  <a:noFill/>
                </a:ln>
                <a:solidFill>
                  <a:srgbClr val="333333"/>
                </a:solidFill>
                <a:effectLst/>
                <a:uLnTx/>
                <a:uFillTx/>
                <a:latin typeface="Calibri" pitchFamily="34" charset="0"/>
                <a:ea typeface="Calibri" pitchFamily="34" charset="-122"/>
                <a:cs typeface="Calibri" pitchFamily="34" charset="-120"/>
              </a:rPr>
              <a:t>• No TCL coding — GUI point-and-click</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333333"/>
                </a:solidFill>
                <a:effectLst/>
                <a:uLnTx/>
                <a:uFillTx/>
                <a:latin typeface="Calibri" pitchFamily="34" charset="0"/>
                <a:ea typeface="Calibri" pitchFamily="34" charset="-122"/>
                <a:cs typeface="Calibri" pitchFamily="34" charset="-120"/>
              </a:rPr>
              <a:t>• Easier to audit and troubleshoot</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333333"/>
                </a:solidFill>
                <a:effectLst/>
                <a:uLnTx/>
                <a:uFillTx/>
                <a:latin typeface="Calibri" pitchFamily="34" charset="0"/>
                <a:ea typeface="Calibri" pitchFamily="34" charset="-122"/>
                <a:cs typeface="Calibri" pitchFamily="34" charset="-120"/>
              </a:rPr>
              <a:t>• Lower CPU than complex iRules</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333333"/>
                </a:solidFill>
                <a:effectLst/>
                <a:uLnTx/>
                <a:uFillTx/>
                <a:latin typeface="Calibri" pitchFamily="34" charset="0"/>
                <a:ea typeface="Calibri" pitchFamily="34" charset="-122"/>
                <a:cs typeface="Calibri" pitchFamily="34" charset="-120"/>
              </a:rPr>
              <a:t>• Version-controlled via GUI</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2"/>
          <p:cNvSpPr/>
          <p:nvPr/>
        </p:nvSpPr>
        <p:spPr>
          <a:xfrm>
            <a:off x="4846320" y="1005840"/>
            <a:ext cx="3931920" cy="320040"/>
          </a:xfrm>
          <a:prstGeom prst="rect">
            <a:avLst/>
          </a:prstGeom>
          <a:solidFill>
            <a:srgbClr val="0E41A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3"/>
          <p:cNvSpPr/>
          <p:nvPr/>
        </p:nvSpPr>
        <p:spPr>
          <a:xfrm>
            <a:off x="4846320" y="1005840"/>
            <a:ext cx="393192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rial" pitchFamily="34" charset="0"/>
                <a:ea typeface="Arial" pitchFamily="34" charset="-122"/>
                <a:cs typeface="Arial" pitchFamily="34" charset="-120"/>
              </a:rPr>
              <a:t>Consolidate virtual servers</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4"/>
          <p:cNvSpPr/>
          <p:nvPr/>
        </p:nvSpPr>
        <p:spPr>
          <a:xfrm>
            <a:off x="4846320" y="1325880"/>
            <a:ext cx="3931920" cy="1645920"/>
          </a:xfrm>
          <a:prstGeom prst="rect">
            <a:avLst/>
          </a:prstGeom>
          <a:solidFill>
            <a:srgbClr val="F2F2F2"/>
          </a:solidFill>
          <a:ln w="12700">
            <a:solidFill>
              <a:srgbClr val="D9D9D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5"/>
          <p:cNvSpPr/>
          <p:nvPr/>
        </p:nvSpPr>
        <p:spPr>
          <a:xfrm>
            <a:off x="4937760" y="1371600"/>
            <a:ext cx="3749040" cy="15544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E41AA"/>
                </a:solidFill>
                <a:effectLst/>
                <a:uLnTx/>
                <a:uFillTx/>
                <a:latin typeface="Calibri" pitchFamily="34" charset="0"/>
                <a:ea typeface="Calibri" pitchFamily="34" charset="-122"/>
                <a:cs typeface="Calibri" pitchFamily="34" charset="-120"/>
              </a:rPr>
              <a:t>When to consolidate:
</a:t>
            </a:r>
            <a:r>
              <a:rPr kumimoji="0" lang="en-US" sz="900" b="0" i="0" u="none" strike="noStrike" kern="1200" cap="none" spc="0" normalizeH="0" baseline="0" noProof="0">
                <a:ln>
                  <a:noFill/>
                </a:ln>
                <a:solidFill>
                  <a:srgbClr val="333333"/>
                </a:solidFill>
                <a:effectLst/>
                <a:uLnTx/>
                <a:uFillTx/>
                <a:latin typeface="Calibri" pitchFamily="34" charset="0"/>
                <a:ea typeface="Calibri" pitchFamily="34" charset="-122"/>
                <a:cs typeface="Calibri" pitchFamily="34" charset="-120"/>
              </a:rPr>
              <a:t>• Multiple host-specific VS on same IP →
  one VS + LTM policy for routing
• HTTP + HTTPS VS → one HTTPS VS
  with HTTP redirect policy
• VS with identical profiles/settings
</a:t>
            </a:r>
            <a:r>
              <a:rPr kumimoji="0" lang="en-US" sz="1000" b="1" i="0" u="none" strike="noStrike" kern="1200" cap="none" spc="0" normalizeH="0" baseline="0" noProof="0">
                <a:ln>
                  <a:noFill/>
                </a:ln>
                <a:solidFill>
                  <a:srgbClr val="009639"/>
                </a:solidFill>
                <a:effectLst/>
                <a:uLnTx/>
                <a:uFillTx/>
                <a:latin typeface="Calibri" pitchFamily="34" charset="0"/>
                <a:ea typeface="Calibri" pitchFamily="34" charset="-122"/>
                <a:cs typeface="Calibri" pitchFamily="34" charset="-120"/>
              </a:rPr>
              <a:t>Benefits:
</a:t>
            </a:r>
            <a:r>
              <a:rPr kumimoji="0" lang="en-US" sz="900" b="0" i="0" u="none" strike="noStrike" kern="1200" cap="none" spc="0" normalizeH="0" baseline="0" noProof="0">
                <a:ln>
                  <a:noFill/>
                </a:ln>
                <a:solidFill>
                  <a:srgbClr val="333333"/>
                </a:solidFill>
                <a:effectLst/>
                <a:uLnTx/>
                <a:uFillTx/>
                <a:latin typeface="Calibri" pitchFamily="34" charset="0"/>
                <a:ea typeface="Calibri" pitchFamily="34" charset="-122"/>
                <a:cs typeface="Calibri" pitchFamily="34" charset="-120"/>
              </a:rPr>
              <a:t>• Fewer objects to manage and sync</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333333"/>
                </a:solidFill>
                <a:effectLst/>
                <a:uLnTx/>
                <a:uFillTx/>
                <a:latin typeface="Calibri" pitchFamily="34" charset="0"/>
                <a:ea typeface="Calibri" pitchFamily="34" charset="-122"/>
                <a:cs typeface="Calibri" pitchFamily="34" charset="-120"/>
              </a:rPr>
              <a:t>• Simpler troubleshooting</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333333"/>
                </a:solidFill>
                <a:effectLst/>
                <a:uLnTx/>
                <a:uFillTx/>
                <a:latin typeface="Calibri" pitchFamily="34" charset="0"/>
                <a:ea typeface="Calibri" pitchFamily="34" charset="-122"/>
                <a:cs typeface="Calibri" pitchFamily="34" charset="-120"/>
              </a:rPr>
              <a:t>• Reduced config sync time</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333333"/>
                </a:solidFill>
                <a:effectLst/>
                <a:uLnTx/>
                <a:uFillTx/>
                <a:latin typeface="Calibri" pitchFamily="34" charset="0"/>
                <a:ea typeface="Calibri" pitchFamily="34" charset="-122"/>
                <a:cs typeface="Calibri" pitchFamily="34" charset="-120"/>
              </a:rPr>
              <a:t>• Easier compliance audit</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6"/>
          <p:cNvSpPr/>
          <p:nvPr/>
        </p:nvSpPr>
        <p:spPr>
          <a:xfrm>
            <a:off x="365760" y="3108960"/>
            <a:ext cx="8412480" cy="502920"/>
          </a:xfrm>
          <a:prstGeom prst="rect">
            <a:avLst/>
          </a:prstGeom>
          <a:solidFill>
            <a:srgbClr val="E8F0F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7"/>
          <p:cNvSpPr/>
          <p:nvPr/>
        </p:nvSpPr>
        <p:spPr>
          <a:xfrm>
            <a:off x="548640" y="3127248"/>
            <a:ext cx="804672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E41AA"/>
                </a:solidFill>
                <a:effectLst/>
                <a:uLnTx/>
                <a:uFillTx/>
                <a:latin typeface="Calibri" pitchFamily="34" charset="0"/>
                <a:ea typeface="Calibri" pitchFamily="34" charset="-122"/>
                <a:cs typeface="Calibri" pitchFamily="34" charset="-120"/>
              </a:rPr>
              <a:t>Example: </a:t>
            </a:r>
            <a:r>
              <a:rPr kumimoji="0" lang="en-US" sz="900" b="0" i="0" u="none" strike="noStrike" kern="1200" cap="none" spc="0" normalizeH="0" baseline="0" noProof="0">
                <a:ln>
                  <a:noFill/>
                </a:ln>
                <a:solidFill>
                  <a:srgbClr val="1A3A6C"/>
                </a:solidFill>
                <a:effectLst/>
                <a:uLnTx/>
                <a:uFillTx/>
                <a:latin typeface="Calibri" pitchFamily="34" charset="0"/>
                <a:ea typeface="Calibri" pitchFamily="34" charset="-122"/>
                <a:cs typeface="Calibri" pitchFamily="34" charset="-120"/>
              </a:rPr>
              <a:t>Three iRules (HTTP redirect, Host routing, URI switching) replaced by ONE LTM policy with conditions (Host matches, URI starts with) and actions (forward to pool, redirect). Assign under VS Resources &gt; Policies.</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371600" cy="73152"/>
          </a:xfrm>
          <a:prstGeom prst="rect">
            <a:avLst/>
          </a:prstGeom>
          <a:solidFill>
            <a:srgbClr val="F29A3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1371600" y="0"/>
            <a:ext cx="2743200" cy="73152"/>
          </a:xfrm>
          <a:prstGeom prst="rect">
            <a:avLst/>
          </a:prstGeom>
          <a:solidFill>
            <a:srgbClr val="E4002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4114800" y="0"/>
            <a:ext cx="1371600" cy="73152"/>
          </a:xfrm>
          <a:prstGeom prst="rect">
            <a:avLst/>
          </a:prstGeom>
          <a:solidFill>
            <a:srgbClr val="AB278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5486400" y="0"/>
            <a:ext cx="2286000" cy="73152"/>
          </a:xfrm>
          <a:prstGeom prst="rect">
            <a:avLst/>
          </a:prstGeom>
          <a:solidFill>
            <a:srgbClr val="0E41A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7772400" y="0"/>
            <a:ext cx="1371600" cy="73152"/>
          </a:xfrm>
          <a:prstGeom prst="rect">
            <a:avLst/>
          </a:prstGeom>
          <a:solidFill>
            <a:srgbClr val="61228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5"/>
          <p:cNvSpPr/>
          <p:nvPr/>
        </p:nvSpPr>
        <p:spPr>
          <a:xfrm>
            <a:off x="365760" y="4800600"/>
            <a:ext cx="2743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666666"/>
                </a:solidFill>
                <a:effectLst/>
                <a:uLnTx/>
                <a:uFillTx/>
                <a:latin typeface="Calibri" pitchFamily="34" charset="0"/>
                <a:ea typeface="Calibri" pitchFamily="34" charset="-122"/>
                <a:cs typeface="Calibri" pitchFamily="34" charset="-120"/>
              </a:rPr>
              <a:t>114    © 2026 F5</a:t>
            </a:r>
            <a:endParaRPr kumimoji="0" lang="en-US" sz="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8" name="Image 0" descr="preencoded.png"/>
          <p:cNvPicPr>
            <a:picLocks noChangeAspect="1"/>
          </p:cNvPicPr>
          <p:nvPr/>
        </p:nvPicPr>
        <p:blipFill>
          <a:blip r:embed="rId3"/>
          <a:stretch>
            <a:fillRect/>
          </a:stretch>
        </p:blipFill>
        <p:spPr>
          <a:xfrm>
            <a:off x="8458200" y="4663440"/>
            <a:ext cx="384048" cy="384048"/>
          </a:xfrm>
          <a:prstGeom prst="rect">
            <a:avLst/>
          </a:prstGeom>
        </p:spPr>
      </p:pic>
      <p:sp>
        <p:nvSpPr>
          <p:cNvPr id="9" name="Text 6"/>
          <p:cNvSpPr/>
          <p:nvPr/>
        </p:nvSpPr>
        <p:spPr>
          <a:xfrm>
            <a:off x="457200" y="274320"/>
            <a:ext cx="822960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000000"/>
                </a:solidFill>
                <a:effectLst/>
                <a:uLnTx/>
                <a:uFillTx/>
                <a:latin typeface="Arial" pitchFamily="34" charset="0"/>
                <a:ea typeface="Arial" pitchFamily="34" charset="-122"/>
                <a:cs typeface="Arial" pitchFamily="34" charset="-120"/>
              </a:rPr>
              <a:t>Device statistics and config cleanup</a:t>
            </a:r>
            <a:endParaRPr kumimoji="0" lang="en-US" sz="2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7"/>
          <p:cNvSpPr/>
          <p:nvPr/>
        </p:nvSpPr>
        <p:spPr>
          <a:xfrm>
            <a:off x="457200" y="658368"/>
            <a:ext cx="82296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666666"/>
                </a:solidFill>
                <a:effectLst/>
                <a:uLnTx/>
                <a:uFillTx/>
                <a:latin typeface="Calibri" pitchFamily="34" charset="0"/>
                <a:ea typeface="Calibri" pitchFamily="34" charset="-122"/>
                <a:cs typeface="Calibri" pitchFamily="34" charset="-120"/>
              </a:rPr>
              <a:t>F5CTSLTM2.12 (U/A) — Identify and remove redundant objects using statistics and tools</a:t>
            </a:r>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aphicFrame>
        <p:nvGraphicFramePr>
          <p:cNvPr id="11" name="Table 0"/>
          <p:cNvGraphicFramePr>
            <a:graphicFrameLocks noGrp="1"/>
          </p:cNvGraphicFramePr>
          <p:nvPr/>
        </p:nvGraphicFramePr>
        <p:xfrm>
          <a:off x="365760" y="914400"/>
          <a:ext cx="8412480" cy="1955800"/>
        </p:xfrm>
        <a:graphic>
          <a:graphicData uri="http://schemas.openxmlformats.org/drawingml/2006/table">
            <a:tbl>
              <a:tblPr/>
              <a:tblGrid>
                <a:gridCol w="109728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3017520">
                  <a:extLst>
                    <a:ext uri="{9D8B030D-6E8A-4147-A177-3AD203B41FA5}">
                      <a16:colId xmlns:a16="http://schemas.microsoft.com/office/drawing/2014/main" val="20003"/>
                    </a:ext>
                  </a:extLst>
                </a:gridCol>
              </a:tblGrid>
              <a:tr h="0">
                <a:tc>
                  <a:txBody>
                    <a:bodyPr/>
                    <a:lstStyle/>
                    <a:p>
                      <a:pPr marL="0" indent="0">
                        <a:buNone/>
                      </a:pPr>
                      <a:r>
                        <a:rPr lang="en-US" sz="900" b="1">
                          <a:solidFill>
                            <a:srgbClr val="FFFFFF"/>
                          </a:solidFill>
                        </a:rPr>
                        <a:t>Find this</a:t>
                      </a:r>
                      <a:endParaRPr lang="en-US" sz="900"/>
                    </a:p>
                  </a:txBody>
                  <a:tcPr marL="50800" marR="508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9639"/>
                    </a:solidFill>
                  </a:tcPr>
                </a:tc>
                <a:tc>
                  <a:txBody>
                    <a:bodyPr/>
                    <a:lstStyle/>
                    <a:p>
                      <a:pPr marL="0" indent="0">
                        <a:buNone/>
                      </a:pPr>
                      <a:r>
                        <a:rPr lang="en-US" sz="900" b="1">
                          <a:solidFill>
                            <a:srgbClr val="FFFFFF"/>
                          </a:solidFill>
                        </a:rPr>
                        <a:t>Where to look</a:t>
                      </a:r>
                      <a:endParaRPr lang="en-US" sz="900"/>
                    </a:p>
                  </a:txBody>
                  <a:tcPr marL="50800" marR="508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9639"/>
                    </a:solidFill>
                  </a:tcPr>
                </a:tc>
                <a:tc>
                  <a:txBody>
                    <a:bodyPr/>
                    <a:lstStyle/>
                    <a:p>
                      <a:pPr marL="0" indent="0">
                        <a:buNone/>
                      </a:pPr>
                      <a:r>
                        <a:rPr lang="en-US" sz="900" b="1">
                          <a:solidFill>
                            <a:srgbClr val="FFFFFF"/>
                          </a:solidFill>
                        </a:rPr>
                        <a:t>What to check</a:t>
                      </a:r>
                      <a:endParaRPr lang="en-US" sz="900"/>
                    </a:p>
                  </a:txBody>
                  <a:tcPr marL="50800" marR="508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9639"/>
                    </a:solidFill>
                  </a:tcPr>
                </a:tc>
                <a:tc>
                  <a:txBody>
                    <a:bodyPr/>
                    <a:lstStyle/>
                    <a:p>
                      <a:pPr marL="0" indent="0">
                        <a:buNone/>
                      </a:pPr>
                      <a:r>
                        <a:rPr lang="en-US" sz="900" b="1">
                          <a:solidFill>
                            <a:srgbClr val="FFFFFF"/>
                          </a:solidFill>
                        </a:rPr>
                        <a:t>Action</a:t>
                      </a:r>
                      <a:endParaRPr lang="en-US" sz="900"/>
                    </a:p>
                  </a:txBody>
                  <a:tcPr marL="50800" marR="508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9639"/>
                    </a:solidFill>
                  </a:tcPr>
                </a:tc>
                <a:extLst>
                  <a:ext uri="{0D108BD9-81ED-4DB2-BD59-A6C34878D82A}">
                    <a16:rowId xmlns:a16="http://schemas.microsoft.com/office/drawing/2014/main" val="10000"/>
                  </a:ext>
                </a:extLst>
              </a:tr>
              <a:tr h="0">
                <a:tc>
                  <a:txBody>
                    <a:bodyPr/>
                    <a:lstStyle/>
                    <a:p>
                      <a:pPr marL="0" indent="0">
                        <a:buNone/>
                      </a:pPr>
                      <a:r>
                        <a:rPr lang="en-US" sz="900" b="1">
                          <a:solidFill>
                            <a:srgbClr val="000000"/>
                          </a:solidFill>
                        </a:rPr>
                        <a:t>Unused VS</a:t>
                      </a:r>
                      <a:endParaRPr lang="en-US" sz="900"/>
                    </a:p>
                  </a:txBody>
                  <a:tcPr marL="50800" marR="508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800">
                          <a:solidFill>
                            <a:srgbClr val="000000"/>
                          </a:solidFill>
                        </a:rPr>
                        <a:t>Statistics &gt; Module Stats &gt; LT</a:t>
                      </a:r>
                      <a:endParaRPr lang="en-US" sz="800"/>
                    </a:p>
                    <a:p>
                      <a:pPr marL="0" indent="0">
                        <a:buNone/>
                      </a:pPr>
                      <a:r>
                        <a:rPr lang="en-US" sz="800">
                          <a:solidFill>
                            <a:srgbClr val="000000"/>
                          </a:solidFill>
                        </a:rPr>
                        <a:t>show ltm virtual detail</a:t>
                      </a:r>
                      <a:endParaRPr lang="en-US" sz="800"/>
                    </a:p>
                  </a:txBody>
                  <a:tcPr marL="50800" marR="508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800">
                          <a:solidFill>
                            <a:srgbClr val="000000"/>
                          </a:solidFill>
                        </a:rPr>
                        <a:t>0 current connections over weeks.</a:t>
                      </a:r>
                      <a:endParaRPr lang="en-US" sz="800"/>
                    </a:p>
                    <a:p>
                      <a:pPr marL="0" indent="0">
                        <a:buNone/>
                      </a:pPr>
                      <a:r>
                        <a:rPr lang="en-US" sz="800">
                          <a:solidFill>
                            <a:srgbClr val="000000"/>
                          </a:solidFill>
                        </a:rPr>
                        <a:t>Bits In/Out flat at 0.</a:t>
                      </a:r>
                      <a:endParaRPr lang="en-US" sz="800"/>
                    </a:p>
                  </a:txBody>
                  <a:tcPr marL="50800" marR="508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800">
                          <a:solidFill>
                            <a:srgbClr val="000000"/>
                          </a:solidFill>
                        </a:rPr>
                        <a:t>Confirm with app team.</a:t>
                      </a:r>
                      <a:endParaRPr lang="en-US" sz="800"/>
                    </a:p>
                    <a:p>
                      <a:pPr marL="0" indent="0">
                        <a:buNone/>
                      </a:pPr>
                      <a:r>
                        <a:rPr lang="en-US" sz="800">
                          <a:solidFill>
                            <a:srgbClr val="000000"/>
                          </a:solidFill>
                        </a:rPr>
                        <a:t>Disable → monitor → delete.</a:t>
                      </a:r>
                      <a:endParaRPr lang="en-US" sz="800"/>
                    </a:p>
                  </a:txBody>
                  <a:tcPr marL="50800" marR="508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900" b="1">
                          <a:solidFill>
                            <a:srgbClr val="000000"/>
                          </a:solidFill>
                        </a:rPr>
                        <a:t>Orphaned pools</a:t>
                      </a:r>
                      <a:endParaRPr lang="en-US" sz="900"/>
                    </a:p>
                  </a:txBody>
                  <a:tcPr marL="50800" marR="508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buNone/>
                      </a:pPr>
                      <a:r>
                        <a:rPr lang="en-US" sz="800">
                          <a:solidFill>
                            <a:srgbClr val="000000"/>
                          </a:solidFill>
                        </a:rPr>
                        <a:t>Local Traffic &gt; Network Map</a:t>
                      </a:r>
                      <a:endParaRPr lang="en-US" sz="800"/>
                    </a:p>
                    <a:p>
                      <a:pPr marL="0" indent="0">
                        <a:buNone/>
                      </a:pPr>
                      <a:r>
                        <a:rPr lang="en-US" sz="800">
                          <a:solidFill>
                            <a:srgbClr val="000000"/>
                          </a:solidFill>
                        </a:rPr>
                        <a:t>shows pool-VS relationships</a:t>
                      </a:r>
                      <a:endParaRPr lang="en-US" sz="800"/>
                    </a:p>
                  </a:txBody>
                  <a:tcPr marL="50800" marR="508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buNone/>
                      </a:pPr>
                      <a:r>
                        <a:rPr lang="en-US" sz="800">
                          <a:solidFill>
                            <a:srgbClr val="000000"/>
                          </a:solidFill>
                        </a:rPr>
                        <a:t>Pool not linked to any VS.</a:t>
                      </a:r>
                      <a:endParaRPr lang="en-US" sz="800"/>
                    </a:p>
                    <a:p>
                      <a:pPr marL="0" indent="0">
                        <a:buNone/>
                      </a:pPr>
                      <a:r>
                        <a:rPr lang="en-US" sz="800">
                          <a:solidFill>
                            <a:srgbClr val="000000"/>
                          </a:solidFill>
                        </a:rPr>
                        <a:t>No iRule references to it.</a:t>
                      </a:r>
                      <a:endParaRPr lang="en-US" sz="800"/>
                    </a:p>
                  </a:txBody>
                  <a:tcPr marL="50800" marR="508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buNone/>
                      </a:pPr>
                      <a:r>
                        <a:rPr lang="en-US" sz="800">
                          <a:solidFill>
                            <a:srgbClr val="000000"/>
                          </a:solidFill>
                        </a:rPr>
                        <a:t>Verify no iRule uses pool.</a:t>
                      </a:r>
                      <a:endParaRPr lang="en-US" sz="800"/>
                    </a:p>
                    <a:p>
                      <a:pPr marL="0" indent="0">
                        <a:buNone/>
                      </a:pPr>
                      <a:r>
                        <a:rPr lang="en-US" sz="800">
                          <a:solidFill>
                            <a:srgbClr val="000000"/>
                          </a:solidFill>
                        </a:rPr>
                        <a:t>Delete if truly orphaned.</a:t>
                      </a:r>
                      <a:endParaRPr lang="en-US" sz="800"/>
                    </a:p>
                  </a:txBody>
                  <a:tcPr marL="50800" marR="508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0">
                <a:tc>
                  <a:txBody>
                    <a:bodyPr/>
                    <a:lstStyle/>
                    <a:p>
                      <a:pPr marL="0" indent="0">
                        <a:buNone/>
                      </a:pPr>
                      <a:r>
                        <a:rPr lang="en-US" sz="900" b="1">
                          <a:solidFill>
                            <a:srgbClr val="000000"/>
                          </a:solidFill>
                        </a:rPr>
                        <a:t>Excessive monitors</a:t>
                      </a:r>
                      <a:endParaRPr lang="en-US" sz="900"/>
                    </a:p>
                  </a:txBody>
                  <a:tcPr marL="50800" marR="508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800">
                          <a:solidFill>
                            <a:srgbClr val="000000"/>
                          </a:solidFill>
                        </a:rPr>
                        <a:t>list ltm pool [name] monitor</a:t>
                      </a:r>
                      <a:endParaRPr lang="en-US" sz="800"/>
                    </a:p>
                    <a:p>
                      <a:pPr marL="0" indent="0">
                        <a:buNone/>
                      </a:pPr>
                      <a:r>
                        <a:rPr lang="en-US" sz="800">
                          <a:solidFill>
                            <a:srgbClr val="000000"/>
                          </a:solidFill>
                        </a:rPr>
                        <a:t>show ltm pool [name] members</a:t>
                      </a:r>
                      <a:endParaRPr lang="en-US" sz="800"/>
                    </a:p>
                  </a:txBody>
                  <a:tcPr marL="50800" marR="508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800">
                          <a:solidFill>
                            <a:srgbClr val="000000"/>
                          </a:solidFill>
                        </a:rPr>
                        <a:t>Multiple monitors per pool.</a:t>
                      </a:r>
                      <a:endParaRPr lang="en-US" sz="800"/>
                    </a:p>
                    <a:p>
                      <a:pPr marL="0" indent="0">
                        <a:buNone/>
                      </a:pPr>
                      <a:r>
                        <a:rPr lang="en-US" sz="800">
                          <a:solidFill>
                            <a:srgbClr val="000000"/>
                          </a:solidFill>
                        </a:rPr>
                        <a:t>5-second intervals on stable servers.</a:t>
                      </a:r>
                      <a:endParaRPr lang="en-US" sz="800"/>
                    </a:p>
                  </a:txBody>
                  <a:tcPr marL="50800" marR="508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800">
                          <a:solidFill>
                            <a:srgbClr val="000000"/>
                          </a:solidFill>
                        </a:rPr>
                        <a:t>Reduce to one monitor.</a:t>
                      </a:r>
                      <a:endParaRPr lang="en-US" sz="800"/>
                    </a:p>
                    <a:p>
                      <a:pPr marL="0" indent="0">
                        <a:buNone/>
                      </a:pPr>
                      <a:r>
                        <a:rPr lang="en-US" sz="800">
                          <a:solidFill>
                            <a:srgbClr val="000000"/>
                          </a:solidFill>
                        </a:rPr>
                        <a:t>Increase interval (30-60s).</a:t>
                      </a:r>
                      <a:endParaRPr lang="en-US" sz="800"/>
                    </a:p>
                  </a:txBody>
                  <a:tcPr marL="50800" marR="508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900" b="1">
                          <a:solidFill>
                            <a:srgbClr val="000000"/>
                          </a:solidFill>
                        </a:rPr>
                        <a:t>Unused profiles</a:t>
                      </a:r>
                      <a:endParaRPr lang="en-US" sz="900"/>
                    </a:p>
                  </a:txBody>
                  <a:tcPr marL="50800" marR="508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buNone/>
                      </a:pPr>
                      <a:r>
                        <a:rPr lang="en-US" sz="800">
                          <a:solidFill>
                            <a:srgbClr val="000000"/>
                          </a:solidFill>
                        </a:rPr>
                        <a:t>list ltm virtual | grep profile</a:t>
                      </a:r>
                      <a:endParaRPr lang="en-US" sz="800"/>
                    </a:p>
                    <a:p>
                      <a:pPr marL="0" indent="0">
                        <a:buNone/>
                      </a:pPr>
                      <a:r>
                        <a:rPr lang="en-US" sz="800">
                          <a:solidFill>
                            <a:srgbClr val="000000"/>
                          </a:solidFill>
                        </a:rPr>
                        <a:t>Compare against profile list.</a:t>
                      </a:r>
                      <a:endParaRPr lang="en-US" sz="800"/>
                    </a:p>
                  </a:txBody>
                  <a:tcPr marL="50800" marR="508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buNone/>
                      </a:pPr>
                      <a:r>
                        <a:rPr lang="en-US" sz="800">
                          <a:solidFill>
                            <a:srgbClr val="000000"/>
                          </a:solidFill>
                        </a:rPr>
                        <a:t>Custom profiles not assigned to</a:t>
                      </a:r>
                      <a:endParaRPr lang="en-US" sz="800"/>
                    </a:p>
                    <a:p>
                      <a:pPr marL="0" indent="0">
                        <a:buNone/>
                      </a:pPr>
                      <a:r>
                        <a:rPr lang="en-US" sz="800">
                          <a:solidFill>
                            <a:srgbClr val="000000"/>
                          </a:solidFill>
                        </a:rPr>
                        <a:t>any virtual server.</a:t>
                      </a:r>
                      <a:endParaRPr lang="en-US" sz="800"/>
                    </a:p>
                  </a:txBody>
                  <a:tcPr marL="50800" marR="508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buNone/>
                      </a:pPr>
                      <a:r>
                        <a:rPr lang="en-US" sz="800">
                          <a:solidFill>
                            <a:srgbClr val="000000"/>
                          </a:solidFill>
                        </a:rPr>
                        <a:t>Delete unused custom profiles.</a:t>
                      </a:r>
                      <a:endParaRPr lang="en-US" sz="800"/>
                    </a:p>
                    <a:p>
                      <a:pPr marL="0" indent="0">
                        <a:buNone/>
                      </a:pPr>
                      <a:r>
                        <a:rPr lang="en-US" sz="800">
                          <a:solidFill>
                            <a:srgbClr val="000000"/>
                          </a:solidFill>
                        </a:rPr>
                        <a:t>Keep defaults.</a:t>
                      </a:r>
                      <a:endParaRPr lang="en-US" sz="800"/>
                    </a:p>
                  </a:txBody>
                  <a:tcPr marL="50800" marR="508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r h="0">
                <a:tc>
                  <a:txBody>
                    <a:bodyPr/>
                    <a:lstStyle/>
                    <a:p>
                      <a:pPr marL="0" indent="0">
                        <a:buNone/>
                      </a:pPr>
                      <a:r>
                        <a:rPr lang="en-US" sz="900" b="1">
                          <a:solidFill>
                            <a:srgbClr val="000000"/>
                          </a:solidFill>
                        </a:rPr>
                        <a:t>Duplicate iRules</a:t>
                      </a:r>
                      <a:endParaRPr lang="en-US" sz="900"/>
                    </a:p>
                  </a:txBody>
                  <a:tcPr marL="50800" marR="508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800">
                          <a:solidFill>
                            <a:srgbClr val="000000"/>
                          </a:solidFill>
                        </a:rPr>
                        <a:t>list ltm rule | diff</a:t>
                      </a:r>
                      <a:endParaRPr lang="en-US" sz="800"/>
                    </a:p>
                    <a:p>
                      <a:pPr marL="0" indent="0">
                        <a:buNone/>
                      </a:pPr>
                      <a:r>
                        <a:rPr lang="en-US" sz="800">
                          <a:solidFill>
                            <a:srgbClr val="000000"/>
                          </a:solidFill>
                        </a:rPr>
                        <a:t>Review iRule logic manually.</a:t>
                      </a:r>
                      <a:endParaRPr lang="en-US" sz="800"/>
                    </a:p>
                  </a:txBody>
                  <a:tcPr marL="50800" marR="508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800">
                          <a:solidFill>
                            <a:srgbClr val="000000"/>
                          </a:solidFill>
                        </a:rPr>
                        <a:t>Two iRules doing same thing.</a:t>
                      </a:r>
                      <a:endParaRPr lang="en-US" sz="800"/>
                    </a:p>
                    <a:p>
                      <a:pPr marL="0" indent="0">
                        <a:buNone/>
                      </a:pPr>
                      <a:r>
                        <a:rPr lang="en-US" sz="800">
                          <a:solidFill>
                            <a:srgbClr val="000000"/>
                          </a:solidFill>
                        </a:rPr>
                        <a:t>Overlapping match conditions.</a:t>
                      </a:r>
                      <a:endParaRPr lang="en-US" sz="800"/>
                    </a:p>
                  </a:txBody>
                  <a:tcPr marL="50800" marR="508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800">
                          <a:solidFill>
                            <a:srgbClr val="000000"/>
                          </a:solidFill>
                        </a:rPr>
                        <a:t>Consolidate into one.</a:t>
                      </a:r>
                      <a:endParaRPr lang="en-US" sz="800"/>
                    </a:p>
                    <a:p>
                      <a:pPr marL="0" indent="0">
                        <a:buNone/>
                      </a:pPr>
                      <a:r>
                        <a:rPr lang="en-US" sz="800">
                          <a:solidFill>
                            <a:srgbClr val="000000"/>
                          </a:solidFill>
                        </a:rPr>
                        <a:t>Or replace with LTM policy.</a:t>
                      </a:r>
                      <a:endParaRPr lang="en-US" sz="800"/>
                    </a:p>
                  </a:txBody>
                  <a:tcPr marL="50800" marR="508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900" b="1">
                          <a:solidFill>
                            <a:srgbClr val="000000"/>
                          </a:solidFill>
                        </a:rPr>
                        <a:t>Stale nodes</a:t>
                      </a:r>
                      <a:endParaRPr lang="en-US" sz="900"/>
                    </a:p>
                  </a:txBody>
                  <a:tcPr marL="50800" marR="508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buNone/>
                      </a:pPr>
                      <a:r>
                        <a:rPr lang="en-US" sz="800">
                          <a:solidFill>
                            <a:srgbClr val="000000"/>
                          </a:solidFill>
                        </a:rPr>
                        <a:t>show ltm node</a:t>
                      </a:r>
                      <a:endParaRPr lang="en-US" sz="800"/>
                    </a:p>
                    <a:p>
                      <a:pPr marL="0" indent="0">
                        <a:buNone/>
                      </a:pPr>
                      <a:r>
                        <a:rPr lang="en-US" sz="800">
                          <a:solidFill>
                            <a:srgbClr val="000000"/>
                          </a:solidFill>
                        </a:rPr>
                        <a:t>Compare against server inventory.</a:t>
                      </a:r>
                      <a:endParaRPr lang="en-US" sz="800"/>
                    </a:p>
                  </a:txBody>
                  <a:tcPr marL="50800" marR="508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buNone/>
                      </a:pPr>
                      <a:r>
                        <a:rPr lang="en-US" sz="800">
                          <a:solidFill>
                            <a:srgbClr val="000000"/>
                          </a:solidFill>
                        </a:rPr>
                        <a:t>Nodes with no pool membership.</a:t>
                      </a:r>
                      <a:endParaRPr lang="en-US" sz="800"/>
                    </a:p>
                    <a:p>
                      <a:pPr marL="0" indent="0">
                        <a:buNone/>
                      </a:pPr>
                      <a:r>
                        <a:rPr lang="en-US" sz="800">
                          <a:solidFill>
                            <a:srgbClr val="000000"/>
                          </a:solidFill>
                        </a:rPr>
                        <a:t>Servers decommissioned months ago.</a:t>
                      </a:r>
                      <a:endParaRPr lang="en-US" sz="800"/>
                    </a:p>
                  </a:txBody>
                  <a:tcPr marL="50800" marR="508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buNone/>
                      </a:pPr>
                      <a:r>
                        <a:rPr lang="en-US" sz="800">
                          <a:solidFill>
                            <a:srgbClr val="000000"/>
                          </a:solidFill>
                        </a:rPr>
                        <a:t>Remove from pools first.</a:t>
                      </a:r>
                      <a:endParaRPr lang="en-US" sz="800"/>
                    </a:p>
                    <a:p>
                      <a:pPr marL="0" indent="0">
                        <a:buNone/>
                      </a:pPr>
                      <a:r>
                        <a:rPr lang="en-US" sz="800">
                          <a:solidFill>
                            <a:srgbClr val="000000"/>
                          </a:solidFill>
                        </a:rPr>
                        <a:t>Then delete orphaned nodes.</a:t>
                      </a:r>
                      <a:endParaRPr lang="en-US" sz="800"/>
                    </a:p>
                  </a:txBody>
                  <a:tcPr marL="50800" marR="508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10006"/>
                  </a:ext>
                </a:extLst>
              </a:tr>
            </a:tbl>
          </a:graphicData>
        </a:graphic>
      </p:graphicFrame>
      <p:sp>
        <p:nvSpPr>
          <p:cNvPr id="12" name="Shape 8"/>
          <p:cNvSpPr/>
          <p:nvPr/>
        </p:nvSpPr>
        <p:spPr>
          <a:xfrm>
            <a:off x="365760" y="3566160"/>
            <a:ext cx="8412480" cy="1051560"/>
          </a:xfrm>
          <a:prstGeom prst="rect">
            <a:avLst/>
          </a:prstGeom>
          <a:solidFill>
            <a:srgbClr val="1E293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9"/>
          <p:cNvSpPr/>
          <p:nvPr/>
        </p:nvSpPr>
        <p:spPr>
          <a:xfrm>
            <a:off x="502920" y="3584448"/>
            <a:ext cx="8138160" cy="10058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a:ln>
                  <a:noFill/>
                </a:ln>
                <a:solidFill>
                  <a:srgbClr val="A5F3FC"/>
                </a:solidFill>
                <a:effectLst/>
                <a:uLnTx/>
                <a:uFillTx/>
                <a:latin typeface="Courier New" pitchFamily="34" charset="0"/>
                <a:ea typeface="Courier New" pitchFamily="34" charset="-122"/>
                <a:cs typeface="Courier New" pitchFamily="34" charset="-120"/>
              </a:rPr>
              <a:t># VS with zero traffic (show connection counts)</a:t>
            </a:r>
            <a:endParaRPr kumimoji="0" lang="en-US" sz="75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a:ln>
                  <a:noFill/>
                </a:ln>
                <a:solidFill>
                  <a:srgbClr val="A5F3FC"/>
                </a:solidFill>
                <a:effectLst/>
                <a:uLnTx/>
                <a:uFillTx/>
                <a:latin typeface="Courier New" pitchFamily="34" charset="0"/>
                <a:ea typeface="Courier New" pitchFamily="34" charset="-122"/>
                <a:cs typeface="Courier New" pitchFamily="34" charset="-120"/>
              </a:rPr>
              <a:t>show ltm virtual | grep -A3 'Availability\|Cur Sessions\|Bits'</a:t>
            </a:r>
            <a:endParaRPr kumimoji="0" lang="en-US" sz="75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5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a:ln>
                  <a:noFill/>
                </a:ln>
                <a:solidFill>
                  <a:srgbClr val="A5F3FC"/>
                </a:solidFill>
                <a:effectLst/>
                <a:uLnTx/>
                <a:uFillTx/>
                <a:latin typeface="Courier New" pitchFamily="34" charset="0"/>
                <a:ea typeface="Courier New" pitchFamily="34" charset="-122"/>
                <a:cs typeface="Courier New" pitchFamily="34" charset="-120"/>
              </a:rPr>
              <a:t># Find orphaned pools not used by any VS</a:t>
            </a:r>
            <a:endParaRPr kumimoji="0" lang="en-US" sz="75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a:ln>
                  <a:noFill/>
                </a:ln>
                <a:solidFill>
                  <a:srgbClr val="A5F3FC"/>
                </a:solidFill>
                <a:effectLst/>
                <a:uLnTx/>
                <a:uFillTx/>
                <a:latin typeface="Courier New" pitchFamily="34" charset="0"/>
                <a:ea typeface="Courier New" pitchFamily="34" charset="-122"/>
                <a:cs typeface="Courier New" pitchFamily="34" charset="-120"/>
              </a:rPr>
              <a:t>tmsh -q -c 'list ltm pool one-line' | while read p; do</a:t>
            </a:r>
            <a:endParaRPr kumimoji="0" lang="en-US" sz="75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a:ln>
                  <a:noFill/>
                </a:ln>
                <a:solidFill>
                  <a:srgbClr val="A5F3FC"/>
                </a:solidFill>
                <a:effectLst/>
                <a:uLnTx/>
                <a:uFillTx/>
                <a:latin typeface="Courier New" pitchFamily="34" charset="0"/>
                <a:ea typeface="Courier New" pitchFamily="34" charset="-122"/>
                <a:cs typeface="Courier New" pitchFamily="34" charset="-120"/>
              </a:rPr>
              <a:t>  name=$(echo $p | awk '{print $3}'); grep -q $name &lt;&lt;&lt; "$(list ltm virtual)"; done</a:t>
            </a:r>
            <a:endParaRPr kumimoji="0" lang="en-US" sz="75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5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a:ln>
                  <a:noFill/>
                </a:ln>
                <a:solidFill>
                  <a:srgbClr val="A5F3FC"/>
                </a:solidFill>
                <a:effectLst/>
                <a:uLnTx/>
                <a:uFillTx/>
                <a:latin typeface="Courier New" pitchFamily="34" charset="0"/>
                <a:ea typeface="Courier New" pitchFamily="34" charset="-122"/>
                <a:cs typeface="Courier New" pitchFamily="34" charset="-120"/>
              </a:rPr>
              <a:t># Network Map (GUI): Local Traffic &gt; Network Map &gt; shows all VS-pool-member links</a:t>
            </a:r>
            <a:endParaRPr kumimoji="0" lang="en-US" sz="75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a:ln>
                  <a:noFill/>
                </a:ln>
                <a:solidFill>
                  <a:srgbClr val="A5F3FC"/>
                </a:solidFill>
                <a:effectLst/>
                <a:uLnTx/>
                <a:uFillTx/>
                <a:latin typeface="Courier New" pitchFamily="34" charset="0"/>
                <a:ea typeface="Courier New" pitchFamily="34" charset="-122"/>
                <a:cs typeface="Courier New" pitchFamily="34" charset="-120"/>
              </a:rPr>
              <a:t># Objects not linked are candidates for cleanup</a:t>
            </a:r>
            <a:endParaRPr kumimoji="0" lang="en-US" sz="7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371600" cy="73152"/>
          </a:xfrm>
          <a:prstGeom prst="rect">
            <a:avLst/>
          </a:prstGeom>
          <a:solidFill>
            <a:srgbClr val="F29A3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1371600" y="0"/>
            <a:ext cx="2743200" cy="73152"/>
          </a:xfrm>
          <a:prstGeom prst="rect">
            <a:avLst/>
          </a:prstGeom>
          <a:solidFill>
            <a:srgbClr val="E4002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4114800" y="0"/>
            <a:ext cx="1371600" cy="73152"/>
          </a:xfrm>
          <a:prstGeom prst="rect">
            <a:avLst/>
          </a:prstGeom>
          <a:solidFill>
            <a:srgbClr val="AB278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5486400" y="0"/>
            <a:ext cx="2286000" cy="73152"/>
          </a:xfrm>
          <a:prstGeom prst="rect">
            <a:avLst/>
          </a:prstGeom>
          <a:solidFill>
            <a:srgbClr val="0E41A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7772400" y="0"/>
            <a:ext cx="1371600" cy="73152"/>
          </a:xfrm>
          <a:prstGeom prst="rect">
            <a:avLst/>
          </a:prstGeom>
          <a:solidFill>
            <a:srgbClr val="61228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5"/>
          <p:cNvSpPr/>
          <p:nvPr/>
        </p:nvSpPr>
        <p:spPr>
          <a:xfrm>
            <a:off x="365760" y="4800600"/>
            <a:ext cx="2743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666666"/>
                </a:solidFill>
                <a:effectLst/>
                <a:uLnTx/>
                <a:uFillTx/>
                <a:latin typeface="Calibri" pitchFamily="34" charset="0"/>
                <a:ea typeface="Calibri" pitchFamily="34" charset="-122"/>
                <a:cs typeface="Calibri" pitchFamily="34" charset="-120"/>
              </a:rPr>
              <a:t>115    © 2026 F5</a:t>
            </a:r>
            <a:endParaRPr kumimoji="0" lang="en-US" sz="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8" name="Image 0" descr="preencoded.png"/>
          <p:cNvPicPr>
            <a:picLocks noChangeAspect="1"/>
          </p:cNvPicPr>
          <p:nvPr/>
        </p:nvPicPr>
        <p:blipFill>
          <a:blip r:embed="rId3"/>
          <a:stretch>
            <a:fillRect/>
          </a:stretch>
        </p:blipFill>
        <p:spPr>
          <a:xfrm>
            <a:off x="8458200" y="4663440"/>
            <a:ext cx="384048" cy="384048"/>
          </a:xfrm>
          <a:prstGeom prst="rect">
            <a:avLst/>
          </a:prstGeom>
        </p:spPr>
      </p:pic>
      <p:sp>
        <p:nvSpPr>
          <p:cNvPr id="9" name="Text 6"/>
          <p:cNvSpPr/>
          <p:nvPr/>
        </p:nvSpPr>
        <p:spPr>
          <a:xfrm>
            <a:off x="457200" y="274320"/>
            <a:ext cx="822960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000000"/>
                </a:solidFill>
                <a:effectLst/>
                <a:uLnTx/>
                <a:uFillTx/>
                <a:latin typeface="Arial" pitchFamily="34" charset="0"/>
                <a:ea typeface="Arial" pitchFamily="34" charset="-122"/>
                <a:cs typeface="Arial" pitchFamily="34" charset="-120"/>
              </a:rPr>
              <a:t>iApp templates (legacy)</a:t>
            </a:r>
            <a:endParaRPr kumimoji="0" lang="en-US" sz="2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7"/>
          <p:cNvSpPr/>
          <p:nvPr/>
        </p:nvSpPr>
        <p:spPr>
          <a:xfrm>
            <a:off x="457200" y="658368"/>
            <a:ext cx="82296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666666"/>
                </a:solidFill>
                <a:effectLst/>
                <a:uLnTx/>
                <a:uFillTx/>
                <a:latin typeface="Calibri" pitchFamily="34" charset="0"/>
                <a:ea typeface="Calibri" pitchFamily="34" charset="-122"/>
                <a:cs typeface="Calibri" pitchFamily="34" charset="-120"/>
              </a:rPr>
              <a:t>F5CTSLTM3.02 (R) — Deploy, modify, and identify objects created by iApp</a:t>
            </a:r>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8"/>
          <p:cNvSpPr/>
          <p:nvPr/>
        </p:nvSpPr>
        <p:spPr>
          <a:xfrm>
            <a:off x="365760" y="1005840"/>
            <a:ext cx="4389120" cy="2377440"/>
          </a:xfrm>
          <a:prstGeom prst="rect">
            <a:avLst/>
          </a:prstGeom>
          <a:solidFill>
            <a:srgbClr val="F2F2F2"/>
          </a:solidFill>
          <a:ln w="12700">
            <a:solidFill>
              <a:srgbClr val="D9D9D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9"/>
          <p:cNvSpPr/>
          <p:nvPr/>
        </p:nvSpPr>
        <p:spPr>
          <a:xfrm>
            <a:off x="457200" y="1051560"/>
            <a:ext cx="4206240" cy="22860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E41AA"/>
                </a:solidFill>
                <a:effectLst/>
                <a:uLnTx/>
                <a:uFillTx/>
                <a:latin typeface="Calibri" pitchFamily="34" charset="0"/>
                <a:ea typeface="Calibri" pitchFamily="34" charset="-122"/>
                <a:cs typeface="Calibri" pitchFamily="34" charset="-120"/>
              </a:rPr>
              <a:t>What is an iApp?
</a:t>
            </a:r>
            <a:r>
              <a:rPr kumimoji="0" lang="en-US" sz="900" b="0" i="0" u="none" strike="noStrike" kern="1200" cap="none" spc="0" normalizeH="0" baseline="0" noProof="0">
                <a:ln>
                  <a:noFill/>
                </a:ln>
                <a:solidFill>
                  <a:srgbClr val="333333"/>
                </a:solidFill>
                <a:effectLst/>
                <a:uLnTx/>
                <a:uFillTx/>
                <a:latin typeface="Calibri" pitchFamily="34" charset="0"/>
                <a:ea typeface="Calibri" pitchFamily="34" charset="-122"/>
                <a:cs typeface="Calibri" pitchFamily="34" charset="-120"/>
              </a:rPr>
              <a:t>A wizard-driven template that deploys a complete application service: virtual server, pool, profiles, monitors, iRules — all created and grouped together.
</a:t>
            </a:r>
            <a:r>
              <a:rPr kumimoji="0" lang="en-US" sz="1000" b="1" i="0" u="none" strike="noStrike" kern="1200" cap="none" spc="0" normalizeH="0" baseline="0" noProof="0">
                <a:ln>
                  <a:noFill/>
                </a:ln>
                <a:solidFill>
                  <a:srgbClr val="333333"/>
                </a:solidFill>
                <a:effectLst/>
                <a:uLnTx/>
                <a:uFillTx/>
                <a:latin typeface="Calibri" pitchFamily="34" charset="0"/>
                <a:ea typeface="Calibri" pitchFamily="34" charset="-122"/>
                <a:cs typeface="Calibri" pitchFamily="34" charset="-120"/>
              </a:rPr>
              <a:t>How it works:
</a:t>
            </a:r>
            <a:r>
              <a:rPr kumimoji="0" lang="en-US" sz="900" b="0" i="0" u="none" strike="noStrike" kern="1200" cap="none" spc="0" normalizeH="0" baseline="0" noProof="0">
                <a:ln>
                  <a:noFill/>
                </a:ln>
                <a:solidFill>
                  <a:srgbClr val="333333"/>
                </a:solidFill>
                <a:effectLst/>
                <a:uLnTx/>
                <a:uFillTx/>
                <a:latin typeface="Calibri" pitchFamily="34" charset="0"/>
                <a:ea typeface="Calibri" pitchFamily="34" charset="-122"/>
                <a:cs typeface="Calibri" pitchFamily="34" charset="-120"/>
              </a:rPr>
              <a:t>1. Select a template (HTTP, HTTPS, Exchange, SharePoint, etc.)
2. Answer questions (IP, port, pool members, SSL cert, etc.)
3. iApp creates all LTM objects automatically
4. Objects grouped under: /Common/app_name.app/
</a:t>
            </a:r>
            <a:r>
              <a:rPr kumimoji="0" lang="en-US" sz="1000" b="1" i="0" u="none" strike="noStrike" kern="1200" cap="none" spc="0" normalizeH="0" baseline="0" noProof="0">
                <a:ln>
                  <a:noFill/>
                </a:ln>
                <a:solidFill>
                  <a:srgbClr val="E4002B"/>
                </a:solidFill>
                <a:effectLst/>
                <a:uLnTx/>
                <a:uFillTx/>
                <a:latin typeface="Calibri" pitchFamily="34" charset="0"/>
                <a:ea typeface="Calibri" pitchFamily="34" charset="-122"/>
                <a:cs typeface="Calibri" pitchFamily="34" charset="-120"/>
              </a:rPr>
              <a:t>Modifying iApp-deployed objects:
</a:t>
            </a:r>
            <a:r>
              <a:rPr kumimoji="0" lang="en-US" sz="900" b="0" i="0" u="none" strike="noStrike" kern="1200" cap="none" spc="0" normalizeH="0" baseline="0" noProof="0">
                <a:ln>
                  <a:noFill/>
                </a:ln>
                <a:solidFill>
                  <a:srgbClr val="333333"/>
                </a:solidFill>
                <a:effectLst/>
                <a:uLnTx/>
                <a:uFillTx/>
                <a:latin typeface="Calibri" pitchFamily="34" charset="0"/>
                <a:ea typeface="Calibri" pitchFamily="34" charset="-122"/>
                <a:cs typeface="Calibri" pitchFamily="34" charset="-120"/>
              </a:rPr>
              <a:t>• Default: Strict Updates = enabled. Objects are LOCKED.</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333333"/>
                </a:solidFill>
                <a:effectLst/>
                <a:uLnTx/>
                <a:uFillTx/>
                <a:latin typeface="Calibri" pitchFamily="34" charset="0"/>
                <a:ea typeface="Calibri" pitchFamily="34" charset="-122"/>
                <a:cs typeface="Calibri" pitchFamily="34" charset="-120"/>
              </a:rPr>
              <a:t>• Must reconfigure through iApp wizard to make changes.</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333333"/>
                </a:solidFill>
                <a:effectLst/>
                <a:uLnTx/>
                <a:uFillTx/>
                <a:latin typeface="Calibri" pitchFamily="34" charset="0"/>
                <a:ea typeface="Calibri" pitchFamily="34" charset="-122"/>
                <a:cs typeface="Calibri" pitchFamily="34" charset="-120"/>
              </a:rPr>
              <a:t>• Direct edits to objects are OVERWRITTEN on reconfigure.</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333333"/>
                </a:solidFill>
                <a:effectLst/>
                <a:uLnTx/>
                <a:uFillTx/>
                <a:latin typeface="Calibri" pitchFamily="34" charset="0"/>
                <a:ea typeface="Calibri" pitchFamily="34" charset="-122"/>
                <a:cs typeface="Calibri" pitchFamily="34" charset="-120"/>
              </a:rPr>
              <a:t>• To allow direct edits: Properties &gt; uncheck Strict Updates.</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333333"/>
                </a:solidFill>
                <a:effectLst/>
                <a:uLnTx/>
                <a:uFillTx/>
                <a:latin typeface="Calibri" pitchFamily="34" charset="0"/>
                <a:ea typeface="Calibri" pitchFamily="34" charset="-122"/>
                <a:cs typeface="Calibri" pitchFamily="34" charset="-120"/>
              </a:rPr>
              <a:t>• WARNING: reconfigure reverts manual changes.</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Shape 10"/>
          <p:cNvSpPr/>
          <p:nvPr/>
        </p:nvSpPr>
        <p:spPr>
          <a:xfrm>
            <a:off x="5029200" y="1005840"/>
            <a:ext cx="3749040" cy="320040"/>
          </a:xfrm>
          <a:prstGeom prst="rect">
            <a:avLst/>
          </a:prstGeom>
          <a:solidFill>
            <a:srgbClr val="61228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1"/>
          <p:cNvSpPr/>
          <p:nvPr/>
        </p:nvSpPr>
        <p:spPr>
          <a:xfrm>
            <a:off x="5029200" y="1005840"/>
            <a:ext cx="374904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rial" pitchFamily="34" charset="0"/>
                <a:ea typeface="Arial" pitchFamily="34" charset="-122"/>
                <a:cs typeface="Arial" pitchFamily="34" charset="-120"/>
              </a:rPr>
              <a:t>GUI and TMSH reference</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2"/>
          <p:cNvSpPr/>
          <p:nvPr/>
        </p:nvSpPr>
        <p:spPr>
          <a:xfrm>
            <a:off x="5029200" y="1325880"/>
            <a:ext cx="3749040" cy="914400"/>
          </a:xfrm>
          <a:prstGeom prst="rect">
            <a:avLst/>
          </a:prstGeom>
          <a:solidFill>
            <a:srgbClr val="F2F2F2"/>
          </a:solidFill>
          <a:ln w="12700">
            <a:solidFill>
              <a:srgbClr val="D9D9D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3"/>
          <p:cNvSpPr/>
          <p:nvPr/>
        </p:nvSpPr>
        <p:spPr>
          <a:xfrm>
            <a:off x="5120640" y="1371600"/>
            <a:ext cx="3566160" cy="8229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9639"/>
                </a:solidFill>
                <a:effectLst/>
                <a:uLnTx/>
                <a:uFillTx/>
                <a:latin typeface="Calibri" pitchFamily="34" charset="0"/>
                <a:ea typeface="Calibri" pitchFamily="34" charset="-122"/>
                <a:cs typeface="Calibri" pitchFamily="34" charset="-120"/>
              </a:rPr>
              <a:t>Deploy:
</a:t>
            </a:r>
            <a:r>
              <a:rPr kumimoji="0" lang="en-US" sz="800" b="0" i="0" u="none" strike="noStrike" kern="1200" cap="none" spc="0" normalizeH="0" baseline="0" noProof="0">
                <a:ln>
                  <a:noFill/>
                </a:ln>
                <a:solidFill>
                  <a:srgbClr val="333333"/>
                </a:solidFill>
                <a:effectLst/>
                <a:uLnTx/>
                <a:uFillTx/>
                <a:latin typeface="Calibri" pitchFamily="34" charset="0"/>
                <a:ea typeface="Calibri" pitchFamily="34" charset="-122"/>
                <a:cs typeface="Calibri" pitchFamily="34" charset="-120"/>
              </a:rPr>
              <a:t>iApps &gt; Application Services &gt; Create
</a:t>
            </a:r>
            <a:r>
              <a:rPr kumimoji="0" lang="en-US" sz="900" b="1" i="0" u="none" strike="noStrike" kern="1200" cap="none" spc="0" normalizeH="0" baseline="0" noProof="0">
                <a:ln>
                  <a:noFill/>
                </a:ln>
                <a:solidFill>
                  <a:srgbClr val="0E41AA"/>
                </a:solidFill>
                <a:effectLst/>
                <a:uLnTx/>
                <a:uFillTx/>
                <a:latin typeface="Calibri" pitchFamily="34" charset="0"/>
                <a:ea typeface="Calibri" pitchFamily="34" charset="-122"/>
                <a:cs typeface="Calibri" pitchFamily="34" charset="-120"/>
              </a:rPr>
              <a:t>View deployed:
</a:t>
            </a:r>
            <a:r>
              <a:rPr kumimoji="0" lang="en-US" sz="800" b="0" i="0" u="none" strike="noStrike" kern="1200" cap="none" spc="0" normalizeH="0" baseline="0" noProof="0">
                <a:ln>
                  <a:noFill/>
                </a:ln>
                <a:solidFill>
                  <a:srgbClr val="333333"/>
                </a:solidFill>
                <a:effectLst/>
                <a:uLnTx/>
                <a:uFillTx/>
                <a:latin typeface="Calibri" pitchFamily="34" charset="0"/>
                <a:ea typeface="Calibri" pitchFamily="34" charset="-122"/>
                <a:cs typeface="Calibri" pitchFamily="34" charset="-120"/>
              </a:rPr>
              <a:t>iApps &gt; Application Services &gt; Applications
</a:t>
            </a:r>
            <a:r>
              <a:rPr kumimoji="0" lang="en-US" sz="900" b="1" i="0" u="none" strike="noStrike" kern="1200" cap="none" spc="0" normalizeH="0" baseline="0" noProof="0">
                <a:ln>
                  <a:noFill/>
                </a:ln>
                <a:solidFill>
                  <a:srgbClr val="61228B"/>
                </a:solidFill>
                <a:effectLst/>
                <a:uLnTx/>
                <a:uFillTx/>
                <a:latin typeface="Calibri" pitchFamily="34" charset="0"/>
                <a:ea typeface="Calibri" pitchFamily="34" charset="-122"/>
                <a:cs typeface="Calibri" pitchFamily="34" charset="-120"/>
              </a:rPr>
              <a:t>Templates:
</a:t>
            </a:r>
            <a:r>
              <a:rPr kumimoji="0" lang="en-US" sz="800" b="0" i="0" u="none" strike="noStrike" kern="1200" cap="none" spc="0" normalizeH="0" baseline="0" noProof="0">
                <a:ln>
                  <a:noFill/>
                </a:ln>
                <a:solidFill>
                  <a:srgbClr val="333333"/>
                </a:solidFill>
                <a:effectLst/>
                <a:uLnTx/>
                <a:uFillTx/>
                <a:latin typeface="Calibri" pitchFamily="34" charset="0"/>
                <a:ea typeface="Calibri" pitchFamily="34" charset="-122"/>
                <a:cs typeface="Calibri" pitchFamily="34" charset="-120"/>
              </a:rPr>
              <a:t>iApps &gt; Templates (built-in + imported)</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4"/>
          <p:cNvSpPr/>
          <p:nvPr/>
        </p:nvSpPr>
        <p:spPr>
          <a:xfrm>
            <a:off x="5029200" y="2286000"/>
            <a:ext cx="3749040" cy="1097280"/>
          </a:xfrm>
          <a:prstGeom prst="rect">
            <a:avLst/>
          </a:prstGeom>
          <a:solidFill>
            <a:srgbClr val="1E293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5"/>
          <p:cNvSpPr/>
          <p:nvPr/>
        </p:nvSpPr>
        <p:spPr>
          <a:xfrm>
            <a:off x="5120640" y="2304288"/>
            <a:ext cx="3566160" cy="10607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a:ln>
                  <a:noFill/>
                </a:ln>
                <a:solidFill>
                  <a:srgbClr val="A5F3FC"/>
                </a:solidFill>
                <a:effectLst/>
                <a:uLnTx/>
                <a:uFillTx/>
                <a:latin typeface="Courier New" pitchFamily="34" charset="0"/>
                <a:ea typeface="Courier New" pitchFamily="34" charset="-122"/>
                <a:cs typeface="Courier New" pitchFamily="34" charset="-120"/>
              </a:rPr>
              <a:t># List deployed iApps</a:t>
            </a:r>
            <a:endParaRPr kumimoji="0" lang="en-US" sz="75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a:ln>
                  <a:noFill/>
                </a:ln>
                <a:solidFill>
                  <a:srgbClr val="A5F3FC"/>
                </a:solidFill>
                <a:effectLst/>
                <a:uLnTx/>
                <a:uFillTx/>
                <a:latin typeface="Courier New" pitchFamily="34" charset="0"/>
                <a:ea typeface="Courier New" pitchFamily="34" charset="-122"/>
                <a:cs typeface="Courier New" pitchFamily="34" charset="-120"/>
              </a:rPr>
              <a:t>list sys application service</a:t>
            </a:r>
            <a:endParaRPr kumimoji="0" lang="en-US" sz="75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5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a:ln>
                  <a:noFill/>
                </a:ln>
                <a:solidFill>
                  <a:srgbClr val="A5F3FC"/>
                </a:solidFill>
                <a:effectLst/>
                <a:uLnTx/>
                <a:uFillTx/>
                <a:latin typeface="Courier New" pitchFamily="34" charset="0"/>
                <a:ea typeface="Courier New" pitchFamily="34" charset="-122"/>
                <a:cs typeface="Courier New" pitchFamily="34" charset="-120"/>
              </a:rPr>
              <a:t># List objects in an iApp</a:t>
            </a:r>
            <a:endParaRPr kumimoji="0" lang="en-US" sz="75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a:ln>
                  <a:noFill/>
                </a:ln>
                <a:solidFill>
                  <a:srgbClr val="A5F3FC"/>
                </a:solidFill>
                <a:effectLst/>
                <a:uLnTx/>
                <a:uFillTx/>
                <a:latin typeface="Courier New" pitchFamily="34" charset="0"/>
                <a:ea typeface="Courier New" pitchFamily="34" charset="-122"/>
                <a:cs typeface="Courier New" pitchFamily="34" charset="-120"/>
              </a:rPr>
              <a:t>list ltm virtual /Common/myapp.app/*</a:t>
            </a:r>
            <a:endParaRPr kumimoji="0" lang="en-US" sz="75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5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a:ln>
                  <a:noFill/>
                </a:ln>
                <a:solidFill>
                  <a:srgbClr val="A5F3FC"/>
                </a:solidFill>
                <a:effectLst/>
                <a:uLnTx/>
                <a:uFillTx/>
                <a:latin typeface="Courier New" pitchFamily="34" charset="0"/>
                <a:ea typeface="Courier New" pitchFamily="34" charset="-122"/>
                <a:cs typeface="Courier New" pitchFamily="34" charset="-120"/>
              </a:rPr>
              <a:t># Disable Strict Updates</a:t>
            </a:r>
            <a:endParaRPr kumimoji="0" lang="en-US" sz="75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a:ln>
                  <a:noFill/>
                </a:ln>
                <a:solidFill>
                  <a:srgbClr val="A5F3FC"/>
                </a:solidFill>
                <a:effectLst/>
                <a:uLnTx/>
                <a:uFillTx/>
                <a:latin typeface="Courier New" pitchFamily="34" charset="0"/>
                <a:ea typeface="Courier New" pitchFamily="34" charset="-122"/>
                <a:cs typeface="Courier New" pitchFamily="34" charset="-120"/>
              </a:rPr>
              <a:t>modify sys application service</a:t>
            </a:r>
            <a:endParaRPr kumimoji="0" lang="en-US" sz="75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a:ln>
                  <a:noFill/>
                </a:ln>
                <a:solidFill>
                  <a:srgbClr val="A5F3FC"/>
                </a:solidFill>
                <a:effectLst/>
                <a:uLnTx/>
                <a:uFillTx/>
                <a:latin typeface="Courier New" pitchFamily="34" charset="0"/>
                <a:ea typeface="Courier New" pitchFamily="34" charset="-122"/>
                <a:cs typeface="Courier New" pitchFamily="34" charset="-120"/>
              </a:rPr>
              <a:t>  /Common/myapp.app/myapp</a:t>
            </a:r>
            <a:endParaRPr kumimoji="0" lang="en-US" sz="75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a:ln>
                  <a:noFill/>
                </a:ln>
                <a:solidFill>
                  <a:srgbClr val="A5F3FC"/>
                </a:solidFill>
                <a:effectLst/>
                <a:uLnTx/>
                <a:uFillTx/>
                <a:latin typeface="Courier New" pitchFamily="34" charset="0"/>
                <a:ea typeface="Courier New" pitchFamily="34" charset="-122"/>
                <a:cs typeface="Courier New" pitchFamily="34" charset="-120"/>
              </a:rPr>
              <a:t>  strict-updates disabled</a:t>
            </a:r>
            <a:endParaRPr kumimoji="0" lang="en-US" sz="7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6"/>
          <p:cNvSpPr/>
          <p:nvPr/>
        </p:nvSpPr>
        <p:spPr>
          <a:xfrm>
            <a:off x="365760" y="3520440"/>
            <a:ext cx="8412480" cy="502920"/>
          </a:xfrm>
          <a:prstGeom prst="rect">
            <a:avLst/>
          </a:prstGeom>
          <a:solidFill>
            <a:srgbClr val="E8F0F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7"/>
          <p:cNvSpPr/>
          <p:nvPr/>
        </p:nvSpPr>
        <p:spPr>
          <a:xfrm>
            <a:off x="548640" y="3538728"/>
            <a:ext cx="804672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E41AA"/>
                </a:solidFill>
                <a:effectLst/>
                <a:uLnTx/>
                <a:uFillTx/>
                <a:latin typeface="Calibri" pitchFamily="34" charset="0"/>
                <a:ea typeface="Calibri" pitchFamily="34" charset="-122"/>
                <a:cs typeface="Calibri" pitchFamily="34" charset="-120"/>
              </a:rPr>
              <a:t>Identifying iApp objects: </a:t>
            </a:r>
            <a:r>
              <a:rPr kumimoji="0" lang="en-US" sz="900" b="0" i="0" u="none" strike="noStrike" kern="1200" cap="none" spc="0" normalizeH="0" baseline="0" noProof="0">
                <a:ln>
                  <a:noFill/>
                </a:ln>
                <a:solidFill>
                  <a:srgbClr val="1A3A6C"/>
                </a:solidFill>
                <a:effectLst/>
                <a:uLnTx/>
                <a:uFillTx/>
                <a:latin typeface="Calibri" pitchFamily="34" charset="0"/>
                <a:ea typeface="Calibri" pitchFamily="34" charset="-122"/>
                <a:cs typeface="Calibri" pitchFamily="34" charset="-120"/>
              </a:rPr>
              <a:t>All objects use the naming pattern /Common/app_name.app/object_name. In the GUI, they appear grouped under iApps &gt; Application Services. In TMSH: list ltm virtual /Common/myapp.app/* shows all objects belonging to the iApp.</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Shape 18"/>
          <p:cNvSpPr/>
          <p:nvPr/>
        </p:nvSpPr>
        <p:spPr>
          <a:xfrm>
            <a:off x="365760" y="4114800"/>
            <a:ext cx="8412480" cy="502920"/>
          </a:xfrm>
          <a:prstGeom prst="rect">
            <a:avLst/>
          </a:prstGeom>
          <a:solidFill>
            <a:srgbClr val="FDE8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19"/>
          <p:cNvSpPr/>
          <p:nvPr/>
        </p:nvSpPr>
        <p:spPr>
          <a:xfrm>
            <a:off x="548640" y="4133088"/>
            <a:ext cx="804672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E4002B"/>
                </a:solidFill>
                <a:effectLst/>
                <a:uLnTx/>
                <a:uFillTx/>
                <a:latin typeface="Calibri" pitchFamily="34" charset="0"/>
                <a:ea typeface="Calibri" pitchFamily="34" charset="-122"/>
                <a:cs typeface="Calibri" pitchFamily="34" charset="-120"/>
              </a:rPr>
              <a:t>Strict Updates exam question: </a:t>
            </a:r>
            <a:r>
              <a:rPr kumimoji="0" lang="en-US" sz="900" b="0" i="0" u="none" strike="noStrike" kern="1200" cap="none" spc="0" normalizeH="0" baseline="0" noProof="0">
                <a:ln>
                  <a:noFill/>
                </a:ln>
                <a:solidFill>
                  <a:srgbClr val="7A0000"/>
                </a:solidFill>
                <a:effectLst/>
                <a:uLnTx/>
                <a:uFillTx/>
                <a:latin typeface="Calibri" pitchFamily="34" charset="0"/>
                <a:ea typeface="Calibri" pitchFamily="34" charset="-122"/>
                <a:cs typeface="Calibri" pitchFamily="34" charset="-120"/>
              </a:rPr>
              <a:t>"You try to modify a pool created by an iApp but the settings are greyed out. Why?" Answer: Strict Updates is enabled (default). The iApp locks its objects. Reconfigure through the iApp wizard, or disable Strict Updates under Properties.</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371600" cy="73152"/>
          </a:xfrm>
          <a:prstGeom prst="rect">
            <a:avLst/>
          </a:prstGeom>
          <a:solidFill>
            <a:srgbClr val="F29A3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1371600" y="0"/>
            <a:ext cx="2743200" cy="73152"/>
          </a:xfrm>
          <a:prstGeom prst="rect">
            <a:avLst/>
          </a:prstGeom>
          <a:solidFill>
            <a:srgbClr val="E4002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4114800" y="0"/>
            <a:ext cx="1371600" cy="73152"/>
          </a:xfrm>
          <a:prstGeom prst="rect">
            <a:avLst/>
          </a:prstGeom>
          <a:solidFill>
            <a:srgbClr val="AB278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5486400" y="0"/>
            <a:ext cx="2286000" cy="73152"/>
          </a:xfrm>
          <a:prstGeom prst="rect">
            <a:avLst/>
          </a:prstGeom>
          <a:solidFill>
            <a:srgbClr val="0E41A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7772400" y="0"/>
            <a:ext cx="1371600" cy="73152"/>
          </a:xfrm>
          <a:prstGeom prst="rect">
            <a:avLst/>
          </a:prstGeom>
          <a:solidFill>
            <a:srgbClr val="61228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5"/>
          <p:cNvSpPr/>
          <p:nvPr/>
        </p:nvSpPr>
        <p:spPr>
          <a:xfrm>
            <a:off x="365760" y="4800600"/>
            <a:ext cx="2743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666666"/>
                </a:solidFill>
                <a:effectLst/>
                <a:uLnTx/>
                <a:uFillTx/>
                <a:latin typeface="Calibri" pitchFamily="34" charset="0"/>
                <a:ea typeface="Calibri" pitchFamily="34" charset="-122"/>
                <a:cs typeface="Calibri" pitchFamily="34" charset="-120"/>
              </a:rPr>
              <a:t>116    © 2026 F5</a:t>
            </a:r>
            <a:endParaRPr kumimoji="0" lang="en-US" sz="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8" name="Image 0" descr="preencoded.png"/>
          <p:cNvPicPr>
            <a:picLocks noChangeAspect="1"/>
          </p:cNvPicPr>
          <p:nvPr/>
        </p:nvPicPr>
        <p:blipFill>
          <a:blip r:embed="rId3"/>
          <a:stretch>
            <a:fillRect/>
          </a:stretch>
        </p:blipFill>
        <p:spPr>
          <a:xfrm>
            <a:off x="8458200" y="4663440"/>
            <a:ext cx="384048" cy="384048"/>
          </a:xfrm>
          <a:prstGeom prst="rect">
            <a:avLst/>
          </a:prstGeom>
        </p:spPr>
      </p:pic>
      <p:sp>
        <p:nvSpPr>
          <p:cNvPr id="9" name="Text 6"/>
          <p:cNvSpPr/>
          <p:nvPr/>
        </p:nvSpPr>
        <p:spPr>
          <a:xfrm>
            <a:off x="457200" y="274320"/>
            <a:ext cx="822960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000000"/>
                </a:solidFill>
                <a:effectLst/>
                <a:uLnTx/>
                <a:uFillTx/>
                <a:latin typeface="Arial" pitchFamily="34" charset="0"/>
                <a:ea typeface="Arial" pitchFamily="34" charset="-122"/>
                <a:cs typeface="Arial" pitchFamily="34" charset="-120"/>
              </a:rPr>
              <a:t>FAST templates (modern)</a:t>
            </a:r>
            <a:endParaRPr kumimoji="0" lang="en-US" sz="2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7"/>
          <p:cNvSpPr/>
          <p:nvPr/>
        </p:nvSpPr>
        <p:spPr>
          <a:xfrm>
            <a:off x="457200" y="658368"/>
            <a:ext cx="82296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666666"/>
                </a:solidFill>
                <a:effectLst/>
                <a:uLnTx/>
                <a:uFillTx/>
                <a:latin typeface="Calibri" pitchFamily="34" charset="0"/>
                <a:ea typeface="Calibri" pitchFamily="34" charset="-122"/>
                <a:cs typeface="Calibri" pitchFamily="34" charset="-120"/>
              </a:rPr>
              <a:t>F5CTSLTM3.02 (R) — The modern replacement for iApp using AS3 declarations</a:t>
            </a:r>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8"/>
          <p:cNvSpPr/>
          <p:nvPr/>
        </p:nvSpPr>
        <p:spPr>
          <a:xfrm>
            <a:off x="365760" y="1005840"/>
            <a:ext cx="4389120" cy="2514600"/>
          </a:xfrm>
          <a:prstGeom prst="rect">
            <a:avLst/>
          </a:prstGeom>
          <a:solidFill>
            <a:srgbClr val="F2F2F2"/>
          </a:solidFill>
          <a:ln w="12700">
            <a:solidFill>
              <a:srgbClr val="D9D9D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9"/>
          <p:cNvSpPr/>
          <p:nvPr/>
        </p:nvSpPr>
        <p:spPr>
          <a:xfrm>
            <a:off x="457200" y="1051560"/>
            <a:ext cx="4206240" cy="22860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61228B"/>
                </a:solidFill>
                <a:effectLst/>
                <a:uLnTx/>
                <a:uFillTx/>
                <a:latin typeface="Calibri" pitchFamily="34" charset="0"/>
                <a:ea typeface="Calibri" pitchFamily="34" charset="-122"/>
                <a:cs typeface="Calibri" pitchFamily="34" charset="-120"/>
              </a:rPr>
              <a:t>What is FAST?
</a:t>
            </a:r>
            <a:r>
              <a:rPr kumimoji="0" lang="en-US" sz="9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F5 Application Services Templates. A modern template engine that uses AS3 (Application Services 3) declarations to deploy LTM objects. Available on BIG-IP 14.1+.
</a:t>
            </a:r>
            <a:r>
              <a:rPr kumimoji="0" lang="en-US" sz="1000" b="1"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How it differs from </a:t>
            </a:r>
            <a:r>
              <a:rPr kumimoji="0" lang="en-US" sz="1000" b="1" i="0" u="none" strike="noStrike" kern="1200" cap="none" spc="0" normalizeH="0" baseline="0" noProof="0" dirty="0" err="1">
                <a:ln>
                  <a:noFill/>
                </a:ln>
                <a:solidFill>
                  <a:srgbClr val="333333"/>
                </a:solidFill>
                <a:effectLst/>
                <a:uLnTx/>
                <a:uFillTx/>
                <a:latin typeface="Calibri" pitchFamily="34" charset="0"/>
                <a:ea typeface="Calibri" pitchFamily="34" charset="-122"/>
                <a:cs typeface="Calibri" pitchFamily="34" charset="-120"/>
              </a:rPr>
              <a:t>iApp</a:t>
            </a:r>
            <a:r>
              <a:rPr kumimoji="0" lang="en-US" sz="1000" b="1"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a:t>
            </a:r>
            <a:r>
              <a:rPr kumimoji="0" lang="en-US" sz="9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JSON schema templates (not TCL)
• API-driven (REST API + GUI)
• Uses AS3 declarations under the hood
• Templates are versioned and shareable
• No Strict Updates lock issue
</a:t>
            </a:r>
            <a:r>
              <a:rPr kumimoji="0" lang="en-US" sz="1000" b="1" i="0" u="none" strike="noStrike" kern="1200" cap="none" spc="0" normalizeH="0" baseline="0" noProof="0" dirty="0">
                <a:ln>
                  <a:noFill/>
                </a:ln>
                <a:solidFill>
                  <a:srgbClr val="F29A36"/>
                </a:solidFill>
                <a:effectLst/>
                <a:uLnTx/>
                <a:uFillTx/>
                <a:latin typeface="Calibri" pitchFamily="34" charset="0"/>
                <a:ea typeface="Calibri" pitchFamily="34" charset="-122"/>
                <a:cs typeface="Calibri" pitchFamily="34" charset="-120"/>
              </a:rPr>
              <a:t>Modifying FAST-deployed objects:
</a:t>
            </a:r>
            <a:r>
              <a:rPr kumimoji="0" lang="en-US" sz="9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Edit FAST template parameters in the GUI</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Or modify the AS3 declaration directly (API)</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Changes outside FAST/AS3 may be reverted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on next deployment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Best practice: always modify through FAST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0"/>
          <p:cNvSpPr/>
          <p:nvPr/>
        </p:nvSpPr>
        <p:spPr>
          <a:xfrm>
            <a:off x="5029200" y="1005840"/>
            <a:ext cx="3749040" cy="320040"/>
          </a:xfrm>
          <a:prstGeom prst="rect">
            <a:avLst/>
          </a:prstGeom>
          <a:solidFill>
            <a:srgbClr val="F29A3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1"/>
          <p:cNvSpPr/>
          <p:nvPr/>
        </p:nvSpPr>
        <p:spPr>
          <a:xfrm>
            <a:off x="5029200" y="1005840"/>
            <a:ext cx="374904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rial" pitchFamily="34" charset="0"/>
                <a:ea typeface="Arial" pitchFamily="34" charset="-122"/>
                <a:cs typeface="Arial" pitchFamily="34" charset="-120"/>
              </a:rPr>
              <a:t>GUI and API reference</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2"/>
          <p:cNvSpPr/>
          <p:nvPr/>
        </p:nvSpPr>
        <p:spPr>
          <a:xfrm>
            <a:off x="5029200" y="1325880"/>
            <a:ext cx="3749040" cy="914400"/>
          </a:xfrm>
          <a:prstGeom prst="rect">
            <a:avLst/>
          </a:prstGeom>
          <a:solidFill>
            <a:srgbClr val="F2F2F2"/>
          </a:solidFill>
          <a:ln w="12700">
            <a:solidFill>
              <a:srgbClr val="D9D9D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3"/>
          <p:cNvSpPr/>
          <p:nvPr/>
        </p:nvSpPr>
        <p:spPr>
          <a:xfrm>
            <a:off x="5120640" y="1371600"/>
            <a:ext cx="3566160" cy="8229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9639"/>
                </a:solidFill>
                <a:effectLst/>
                <a:uLnTx/>
                <a:uFillTx/>
                <a:latin typeface="Calibri" pitchFamily="34" charset="0"/>
                <a:ea typeface="Calibri" pitchFamily="34" charset="-122"/>
                <a:cs typeface="Calibri" pitchFamily="34" charset="-120"/>
              </a:rPr>
              <a:t>Deploy:
</a:t>
            </a:r>
            <a:r>
              <a:rPr kumimoji="0" lang="en-US" sz="800" b="0" i="0" u="none" strike="noStrike" kern="1200" cap="none" spc="0" normalizeH="0" baseline="0" noProof="0">
                <a:ln>
                  <a:noFill/>
                </a:ln>
                <a:solidFill>
                  <a:srgbClr val="333333"/>
                </a:solidFill>
                <a:effectLst/>
                <a:uLnTx/>
                <a:uFillTx/>
                <a:latin typeface="Calibri" pitchFamily="34" charset="0"/>
                <a:ea typeface="Calibri" pitchFamily="34" charset="-122"/>
                <a:cs typeface="Calibri" pitchFamily="34" charset="-120"/>
              </a:rPr>
              <a:t>iApps &gt; Application Services &gt; FAST &gt; Deploy
Select template &gt; fill parameters &gt; Deploy
</a:t>
            </a:r>
            <a:r>
              <a:rPr kumimoji="0" lang="en-US" sz="900" b="1" i="0" u="none" strike="noStrike" kern="1200" cap="none" spc="0" normalizeH="0" baseline="0" noProof="0">
                <a:ln>
                  <a:noFill/>
                </a:ln>
                <a:solidFill>
                  <a:srgbClr val="0E41AA"/>
                </a:solidFill>
                <a:effectLst/>
                <a:uLnTx/>
                <a:uFillTx/>
                <a:latin typeface="Calibri" pitchFamily="34" charset="0"/>
                <a:ea typeface="Calibri" pitchFamily="34" charset="-122"/>
                <a:cs typeface="Calibri" pitchFamily="34" charset="-120"/>
              </a:rPr>
              <a:t>View deployed:
</a:t>
            </a:r>
            <a:r>
              <a:rPr kumimoji="0" lang="en-US" sz="800" b="0" i="0" u="none" strike="noStrike" kern="1200" cap="none" spc="0" normalizeH="0" baseline="0" noProof="0">
                <a:ln>
                  <a:noFill/>
                </a:ln>
                <a:solidFill>
                  <a:srgbClr val="333333"/>
                </a:solidFill>
                <a:effectLst/>
                <a:uLnTx/>
                <a:uFillTx/>
                <a:latin typeface="Calibri" pitchFamily="34" charset="0"/>
                <a:ea typeface="Calibri" pitchFamily="34" charset="-122"/>
                <a:cs typeface="Calibri" pitchFamily="34" charset="-120"/>
              </a:rPr>
              <a:t>iApps &gt; Application Services &gt; FAST &gt; Applications
</a:t>
            </a:r>
            <a:r>
              <a:rPr kumimoji="0" lang="en-US" sz="900" b="1" i="0" u="none" strike="noStrike" kern="1200" cap="none" spc="0" normalizeH="0" baseline="0" noProof="0">
                <a:ln>
                  <a:noFill/>
                </a:ln>
                <a:solidFill>
                  <a:srgbClr val="61228B"/>
                </a:solidFill>
                <a:effectLst/>
                <a:uLnTx/>
                <a:uFillTx/>
                <a:latin typeface="Calibri" pitchFamily="34" charset="0"/>
                <a:ea typeface="Calibri" pitchFamily="34" charset="-122"/>
                <a:cs typeface="Calibri" pitchFamily="34" charset="-120"/>
              </a:rPr>
              <a:t>API (REST):
</a:t>
            </a:r>
            <a:r>
              <a:rPr kumimoji="0" lang="en-US" sz="800" b="0" i="0" u="none" strike="noStrike" kern="1200" cap="none" spc="0" normalizeH="0" baseline="0" noProof="0">
                <a:ln>
                  <a:noFill/>
                </a:ln>
                <a:solidFill>
                  <a:srgbClr val="333333"/>
                </a:solidFill>
                <a:effectLst/>
                <a:uLnTx/>
                <a:uFillTx/>
                <a:latin typeface="Courier New" pitchFamily="34" charset="0"/>
                <a:ea typeface="Courier New" pitchFamily="34" charset="-122"/>
                <a:cs typeface="Courier New" pitchFamily="34" charset="-120"/>
              </a:rPr>
              <a:t>POST /mgmt/shared/fast/applications</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4"/>
          <p:cNvSpPr/>
          <p:nvPr/>
        </p:nvSpPr>
        <p:spPr>
          <a:xfrm>
            <a:off x="5029200" y="2286000"/>
            <a:ext cx="3749040" cy="1300480"/>
          </a:xfrm>
          <a:prstGeom prst="rect">
            <a:avLst/>
          </a:prstGeom>
          <a:solidFill>
            <a:srgbClr val="1E293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5"/>
          <p:cNvSpPr/>
          <p:nvPr/>
        </p:nvSpPr>
        <p:spPr>
          <a:xfrm>
            <a:off x="5120640" y="2404241"/>
            <a:ext cx="3566160" cy="10607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A5F3FC"/>
                </a:solidFill>
                <a:effectLst/>
                <a:uLnTx/>
                <a:uFillTx/>
                <a:latin typeface="Courier New" pitchFamily="34" charset="0"/>
                <a:ea typeface="Courier New" pitchFamily="34" charset="-122"/>
                <a:cs typeface="Courier New" pitchFamily="34" charset="-120"/>
              </a:rPr>
              <a:t># FAST uses AS3 declarations</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A5F3FC"/>
                </a:solidFill>
                <a:effectLst/>
                <a:uLnTx/>
                <a:uFillTx/>
                <a:latin typeface="Courier New" pitchFamily="34" charset="0"/>
                <a:ea typeface="Courier New" pitchFamily="34" charset="-122"/>
                <a:cs typeface="Courier New" pitchFamily="34" charset="-120"/>
              </a:rPr>
              <a:t># Example AS3 declaration (JSON):</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A5F3FC"/>
                </a:solidFill>
                <a:effectLst/>
                <a:uLnTx/>
                <a:uFillTx/>
                <a:latin typeface="Courier New" pitchFamily="34" charset="0"/>
                <a:ea typeface="Courier New" pitchFamily="34" charset="-122"/>
                <a:cs typeface="Courier New" pitchFamily="34" charset="-120"/>
              </a:rPr>
              <a:t>{</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A5F3FC"/>
                </a:solidFill>
                <a:effectLst/>
                <a:uLnTx/>
                <a:uFillTx/>
                <a:latin typeface="Courier New" pitchFamily="34" charset="0"/>
                <a:ea typeface="Courier New" pitchFamily="34" charset="-122"/>
                <a:cs typeface="Courier New" pitchFamily="34" charset="-120"/>
              </a:rPr>
              <a:t>  "class": "AS3",</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A5F3FC"/>
                </a:solidFill>
                <a:effectLst/>
                <a:uLnTx/>
                <a:uFillTx/>
                <a:latin typeface="Courier New" pitchFamily="34" charset="0"/>
                <a:ea typeface="Courier New" pitchFamily="34" charset="-122"/>
                <a:cs typeface="Courier New" pitchFamily="34" charset="-120"/>
              </a:rPr>
              <a:t>  "declaration": {</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A5F3FC"/>
                </a:solidFill>
                <a:effectLst/>
                <a:uLnTx/>
                <a:uFillTx/>
                <a:latin typeface="Courier New" pitchFamily="34" charset="0"/>
                <a:ea typeface="Courier New" pitchFamily="34" charset="-122"/>
                <a:cs typeface="Courier New" pitchFamily="34" charset="-120"/>
              </a:rPr>
              <a:t>    "class": "ADC",</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A5F3FC"/>
                </a:solidFill>
                <a:effectLst/>
                <a:uLnTx/>
                <a:uFillTx/>
                <a:latin typeface="Courier New" pitchFamily="34" charset="0"/>
                <a:ea typeface="Courier New" pitchFamily="34" charset="-122"/>
                <a:cs typeface="Courier New" pitchFamily="34" charset="-120"/>
              </a:rPr>
              <a:t>    "</a:t>
            </a:r>
            <a:r>
              <a:rPr kumimoji="0" lang="en-US" sz="700" b="0" i="0" u="none" strike="noStrike" kern="1200" cap="none" spc="0" normalizeH="0" baseline="0" noProof="0" dirty="0" err="1">
                <a:ln>
                  <a:noFill/>
                </a:ln>
                <a:solidFill>
                  <a:srgbClr val="A5F3FC"/>
                </a:solidFill>
                <a:effectLst/>
                <a:uLnTx/>
                <a:uFillTx/>
                <a:latin typeface="Courier New" pitchFamily="34" charset="0"/>
                <a:ea typeface="Courier New" pitchFamily="34" charset="-122"/>
                <a:cs typeface="Courier New" pitchFamily="34" charset="-120"/>
              </a:rPr>
              <a:t>myApp</a:t>
            </a:r>
            <a:r>
              <a:rPr kumimoji="0" lang="en-US" sz="700" b="0" i="0" u="none" strike="noStrike" kern="1200" cap="none" spc="0" normalizeH="0" baseline="0" noProof="0" dirty="0">
                <a:ln>
                  <a:noFill/>
                </a:ln>
                <a:solidFill>
                  <a:srgbClr val="A5F3FC"/>
                </a:solidFill>
                <a:effectLst/>
                <a:uLnTx/>
                <a:uFillTx/>
                <a:latin typeface="Courier New" pitchFamily="34" charset="0"/>
                <a:ea typeface="Courier New" pitchFamily="34" charset="-122"/>
                <a:cs typeface="Courier New" pitchFamily="34" charset="-120"/>
              </a:rPr>
              <a:t>": {</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A5F3FC"/>
                </a:solidFill>
                <a:effectLst/>
                <a:uLnTx/>
                <a:uFillTx/>
                <a:latin typeface="Courier New" pitchFamily="34" charset="0"/>
                <a:ea typeface="Courier New" pitchFamily="34" charset="-122"/>
                <a:cs typeface="Courier New" pitchFamily="34" charset="-120"/>
              </a:rPr>
              <a:t>      "class": "Application",</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A5F3FC"/>
                </a:solidFill>
                <a:effectLst/>
                <a:uLnTx/>
                <a:uFillTx/>
                <a:latin typeface="Courier New" pitchFamily="34" charset="0"/>
                <a:ea typeface="Courier New" pitchFamily="34" charset="-122"/>
                <a:cs typeface="Courier New" pitchFamily="34" charset="-120"/>
              </a:rPr>
              <a:t>      "template": "http"</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A5F3FC"/>
                </a:solidFill>
                <a:effectLst/>
                <a:uLnTx/>
                <a:uFillTx/>
                <a:latin typeface="Courier New" pitchFamily="34" charset="0"/>
                <a:ea typeface="Courier New" pitchFamily="34" charset="-122"/>
                <a:cs typeface="Courier New" pitchFamily="34" charset="-120"/>
              </a:rPr>
              <a:t>    }</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A5F3FC"/>
                </a:solidFill>
                <a:effectLst/>
                <a:uLnTx/>
                <a:uFillTx/>
                <a:latin typeface="Courier New" pitchFamily="34" charset="0"/>
                <a:ea typeface="Courier New" pitchFamily="34" charset="-122"/>
                <a:cs typeface="Courier New" pitchFamily="34" charset="-120"/>
              </a:rPr>
              <a:t>  }</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A5F3FC"/>
                </a:solidFill>
                <a:effectLst/>
                <a:uLnTx/>
                <a:uFillTx/>
                <a:latin typeface="Courier New" pitchFamily="34" charset="0"/>
                <a:ea typeface="Courier New" pitchFamily="34" charset="-122"/>
                <a:cs typeface="Courier New" pitchFamily="34" charset="-120"/>
              </a:rPr>
              <a:t>}</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6"/>
          <p:cNvSpPr/>
          <p:nvPr/>
        </p:nvSpPr>
        <p:spPr>
          <a:xfrm>
            <a:off x="457200" y="3520440"/>
            <a:ext cx="45720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9639"/>
                </a:solidFill>
                <a:effectLst/>
                <a:uLnTx/>
                <a:uFillTx/>
                <a:latin typeface="Arial" pitchFamily="34" charset="0"/>
                <a:ea typeface="Arial" pitchFamily="34" charset="-122"/>
                <a:cs typeface="Arial" pitchFamily="34" charset="-120"/>
              </a:rPr>
              <a:t>iApp vs FAST quick comparison</a:t>
            </a:r>
            <a:endParaRPr kumimoji="0" lang="en-US" sz="14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aphicFrame>
        <p:nvGraphicFramePr>
          <p:cNvPr id="20" name="Table 0"/>
          <p:cNvGraphicFramePr>
            <a:graphicFrameLocks noGrp="1"/>
          </p:cNvGraphicFramePr>
          <p:nvPr/>
        </p:nvGraphicFramePr>
        <p:xfrm>
          <a:off x="365760" y="3749040"/>
          <a:ext cx="8412480" cy="751840"/>
        </p:xfrm>
        <a:graphic>
          <a:graphicData uri="http://schemas.openxmlformats.org/drawingml/2006/table">
            <a:tbl>
              <a:tblPr/>
              <a:tblGrid>
                <a:gridCol w="118872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gridCol w="3840480">
                  <a:extLst>
                    <a:ext uri="{9D8B030D-6E8A-4147-A177-3AD203B41FA5}">
                      <a16:colId xmlns:a16="http://schemas.microsoft.com/office/drawing/2014/main" val="20002"/>
                    </a:ext>
                  </a:extLst>
                </a:gridCol>
              </a:tblGrid>
              <a:tr h="0">
                <a:tc>
                  <a:txBody>
                    <a:bodyPr/>
                    <a:lstStyle/>
                    <a:p>
                      <a:pPr marL="0" indent="0">
                        <a:buNone/>
                      </a:pPr>
                      <a:endParaRPr lang="en-US" sz="900"/>
                    </a:p>
                  </a:txBody>
                  <a:tcPr marL="63500" marR="635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9639"/>
                    </a:solidFill>
                  </a:tcPr>
                </a:tc>
                <a:tc>
                  <a:txBody>
                    <a:bodyPr/>
                    <a:lstStyle/>
                    <a:p>
                      <a:pPr marL="0" indent="0">
                        <a:buNone/>
                      </a:pPr>
                      <a:r>
                        <a:rPr lang="en-US" sz="900" b="1">
                          <a:solidFill>
                            <a:srgbClr val="FFFFFF"/>
                          </a:solidFill>
                        </a:rPr>
                        <a:t>iApp (legacy)</a:t>
                      </a:r>
                      <a:endParaRPr lang="en-US" sz="900"/>
                    </a:p>
                  </a:txBody>
                  <a:tcPr marL="63500" marR="635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9639"/>
                    </a:solidFill>
                  </a:tcPr>
                </a:tc>
                <a:tc>
                  <a:txBody>
                    <a:bodyPr/>
                    <a:lstStyle/>
                    <a:p>
                      <a:pPr marL="0" indent="0">
                        <a:buNone/>
                      </a:pPr>
                      <a:r>
                        <a:rPr lang="en-US" sz="900" b="1">
                          <a:solidFill>
                            <a:srgbClr val="FFFFFF"/>
                          </a:solidFill>
                        </a:rPr>
                        <a:t>FAST (modern)</a:t>
                      </a:r>
                      <a:endParaRPr lang="en-US" sz="900"/>
                    </a:p>
                  </a:txBody>
                  <a:tcPr marL="63500" marR="635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9639"/>
                    </a:solidFill>
                  </a:tcPr>
                </a:tc>
                <a:extLst>
                  <a:ext uri="{0D108BD9-81ED-4DB2-BD59-A6C34878D82A}">
                    <a16:rowId xmlns:a16="http://schemas.microsoft.com/office/drawing/2014/main" val="10000"/>
                  </a:ext>
                </a:extLst>
              </a:tr>
              <a:tr h="0">
                <a:tc>
                  <a:txBody>
                    <a:bodyPr/>
                    <a:lstStyle/>
                    <a:p>
                      <a:pPr marL="0" indent="0">
                        <a:buNone/>
                      </a:pPr>
                      <a:r>
                        <a:rPr lang="en-US" sz="900" b="1">
                          <a:solidFill>
                            <a:srgbClr val="000000"/>
                          </a:solidFill>
                        </a:rPr>
                        <a:t>Template language</a:t>
                      </a:r>
                      <a:endParaRPr lang="en-US" sz="900"/>
                    </a:p>
                  </a:txBody>
                  <a:tcPr marL="63500" marR="635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900">
                          <a:solidFill>
                            <a:srgbClr val="000000"/>
                          </a:solidFill>
                        </a:rPr>
                        <a:t>TCL-based templates</a:t>
                      </a:r>
                      <a:endParaRPr lang="en-US" sz="900"/>
                    </a:p>
                  </a:txBody>
                  <a:tcPr marL="63500" marR="635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900">
                          <a:solidFill>
                            <a:srgbClr val="000000"/>
                          </a:solidFill>
                        </a:rPr>
                        <a:t>JSON schema + AS3 declarations</a:t>
                      </a:r>
                      <a:endParaRPr lang="en-US" sz="900"/>
                    </a:p>
                  </a:txBody>
                  <a:tcPr marL="63500" marR="635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900" b="1">
                          <a:solidFill>
                            <a:srgbClr val="000000"/>
                          </a:solidFill>
                        </a:rPr>
                        <a:t>Object locking</a:t>
                      </a:r>
                      <a:endParaRPr lang="en-US" sz="900"/>
                    </a:p>
                  </a:txBody>
                  <a:tcPr marL="63500" marR="635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buNone/>
                      </a:pPr>
                      <a:r>
                        <a:rPr lang="en-US" sz="900">
                          <a:solidFill>
                            <a:srgbClr val="000000"/>
                          </a:solidFill>
                        </a:rPr>
                        <a:t>Strict Updates (locked by default)</a:t>
                      </a:r>
                      <a:endParaRPr lang="en-US" sz="900"/>
                    </a:p>
                  </a:txBody>
                  <a:tcPr marL="63500" marR="635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buNone/>
                      </a:pPr>
                      <a:r>
                        <a:rPr lang="en-US" sz="900">
                          <a:solidFill>
                            <a:srgbClr val="000000"/>
                          </a:solidFill>
                        </a:rPr>
                        <a:t>Declaration-managed (no lock)</a:t>
                      </a:r>
                      <a:endParaRPr lang="en-US" sz="900"/>
                    </a:p>
                  </a:txBody>
                  <a:tcPr marL="63500" marR="635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0">
                <a:tc>
                  <a:txBody>
                    <a:bodyPr/>
                    <a:lstStyle/>
                    <a:p>
                      <a:pPr marL="0" indent="0">
                        <a:buNone/>
                      </a:pPr>
                      <a:r>
                        <a:rPr lang="en-US" sz="900" b="1">
                          <a:solidFill>
                            <a:srgbClr val="000000"/>
                          </a:solidFill>
                        </a:rPr>
                        <a:t>Status</a:t>
                      </a:r>
                      <a:endParaRPr lang="en-US" sz="900"/>
                    </a:p>
                  </a:txBody>
                  <a:tcPr marL="63500" marR="635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900">
                          <a:solidFill>
                            <a:srgbClr val="000000"/>
                          </a:solidFill>
                        </a:rPr>
                        <a:t>Legacy — still supported, widely deployed</a:t>
                      </a:r>
                      <a:endParaRPr lang="en-US" sz="900"/>
                    </a:p>
                  </a:txBody>
                  <a:tcPr marL="63500" marR="635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900">
                          <a:solidFill>
                            <a:srgbClr val="000000"/>
                          </a:solidFill>
                        </a:rPr>
                        <a:t>Current recommended approach</a:t>
                      </a:r>
                      <a:endParaRPr lang="en-US" sz="900"/>
                    </a:p>
                  </a:txBody>
                  <a:tcPr marL="63500" marR="63500" marT="25400" marB="2540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297" name="Shape 0"/>
          <p:cNvSpPr/>
          <p:nvPr/>
        </p:nvSpPr>
        <p:spPr>
          <a:xfrm>
            <a:off x="0" y="507024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298" name="Shape 1"/>
          <p:cNvSpPr/>
          <p:nvPr/>
        </p:nvSpPr>
        <p:spPr>
          <a:xfrm>
            <a:off x="1371600" y="507024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299" name="Shape 2"/>
          <p:cNvSpPr/>
          <p:nvPr/>
        </p:nvSpPr>
        <p:spPr>
          <a:xfrm>
            <a:off x="4114800" y="507024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300" name="Shape 3"/>
          <p:cNvSpPr/>
          <p:nvPr/>
        </p:nvSpPr>
        <p:spPr>
          <a:xfrm>
            <a:off x="5486400" y="507024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301" name="Shape 4"/>
          <p:cNvSpPr/>
          <p:nvPr/>
        </p:nvSpPr>
        <p:spPr>
          <a:xfrm>
            <a:off x="7772400" y="507024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pic>
        <p:nvPicPr>
          <p:cNvPr id="2302" name="Image 0" descr="preencoded.png"/>
          <p:cNvPicPr/>
          <p:nvPr/>
        </p:nvPicPr>
        <p:blipFill>
          <a:blip r:embed="rId3"/>
          <a:stretch/>
        </p:blipFill>
        <p:spPr>
          <a:xfrm>
            <a:off x="365760" y="274320"/>
            <a:ext cx="639720" cy="639720"/>
          </a:xfrm>
          <a:prstGeom prst="rect">
            <a:avLst/>
          </a:prstGeom>
          <a:ln w="0">
            <a:noFill/>
          </a:ln>
        </p:spPr>
      </p:pic>
      <p:sp>
        <p:nvSpPr>
          <p:cNvPr id="2303" name="Text 5"/>
          <p:cNvSpPr/>
          <p:nvPr/>
        </p:nvSpPr>
        <p:spPr>
          <a:xfrm>
            <a:off x="365760" y="1645920"/>
            <a:ext cx="7314840" cy="1188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strike="noStrike" spc="-1">
                <a:solidFill>
                  <a:srgbClr val="666666"/>
                </a:solidFill>
                <a:latin typeface="Calibri"/>
                <a:ea typeface="Calibri"/>
              </a:rPr>
              <a:t>FINAL REVIEW</a:t>
            </a:r>
            <a:endParaRPr lang="en-US" sz="1400" b="0" strike="noStrike" spc="-1">
              <a:solidFill>
                <a:srgbClr val="FFFFFF"/>
              </a:solidFill>
              <a:latin typeface="Arial"/>
            </a:endParaRPr>
          </a:p>
          <a:p>
            <a:pPr defTabSz="914400">
              <a:lnSpc>
                <a:spcPct val="100000"/>
              </a:lnSpc>
              <a:tabLst>
                <a:tab pos="0" algn="l"/>
              </a:tabLst>
            </a:pPr>
            <a:r>
              <a:rPr lang="en-US" sz="3600" b="1" strike="noStrike" spc="-1">
                <a:solidFill>
                  <a:srgbClr val="FFFFFF"/>
                </a:solidFill>
                <a:latin typeface="Arial"/>
                <a:ea typeface="Arial"/>
              </a:rPr>
              <a:t>Exam Prep and</a:t>
            </a:r>
            <a:endParaRPr lang="en-US" sz="3600" b="0" strike="noStrike" spc="-1">
              <a:solidFill>
                <a:srgbClr val="FFFFFF"/>
              </a:solidFill>
              <a:latin typeface="Arial"/>
            </a:endParaRPr>
          </a:p>
          <a:p>
            <a:pPr defTabSz="914400">
              <a:lnSpc>
                <a:spcPct val="100000"/>
              </a:lnSpc>
              <a:tabLst>
                <a:tab pos="0" algn="l"/>
              </a:tabLst>
            </a:pPr>
            <a:r>
              <a:rPr lang="en-US" sz="3600" b="1" strike="noStrike" spc="-1">
                <a:solidFill>
                  <a:srgbClr val="FFFFFF"/>
                </a:solidFill>
                <a:latin typeface="Arial"/>
                <a:ea typeface="Arial"/>
              </a:rPr>
              <a:t>Course Summary</a:t>
            </a:r>
            <a:endParaRPr lang="en-US" sz="3600" b="0" strike="noStrike" spc="-1">
              <a:solidFill>
                <a:srgbClr val="FFFFFF"/>
              </a:solidFill>
              <a:latin typeface="Arial"/>
            </a:endParaRPr>
          </a:p>
        </p:txBody>
      </p:sp>
      <p:sp>
        <p:nvSpPr>
          <p:cNvPr id="2304" name="Text 6"/>
          <p:cNvSpPr/>
          <p:nvPr/>
        </p:nvSpPr>
        <p:spPr>
          <a:xfrm>
            <a:off x="365760" y="3017520"/>
            <a:ext cx="685764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strike="noStrike" spc="-1">
                <a:solidFill>
                  <a:srgbClr val="666666"/>
                </a:solidFill>
                <a:latin typeface="Calibri"/>
                <a:ea typeface="Calibri"/>
              </a:rPr>
              <a:t>Six exams. 44 objectives. One certification.</a:t>
            </a:r>
            <a:endParaRPr lang="en-US" sz="1400" b="0" strike="noStrike" spc="-1">
              <a:solidFill>
                <a:srgbClr val="FFFFFF"/>
              </a:solidFill>
              <a:latin typeface="Arial"/>
            </a:endParaRPr>
          </a:p>
          <a:p>
            <a:pPr defTabSz="914400">
              <a:lnSpc>
                <a:spcPct val="100000"/>
              </a:lnSpc>
              <a:tabLst>
                <a:tab pos="0" algn="l"/>
              </a:tabLst>
            </a:pPr>
            <a:r>
              <a:rPr lang="en-US" sz="1400" b="0" strike="noStrike" spc="-1">
                <a:solidFill>
                  <a:srgbClr val="666666"/>
                </a:solidFill>
                <a:latin typeface="Calibri"/>
                <a:ea typeface="Calibri"/>
              </a:rPr>
              <a:t>This section maps every exam to the course content, reviews</a:t>
            </a:r>
            <a:endParaRPr lang="en-US" sz="1400" b="0" strike="noStrike" spc="-1">
              <a:solidFill>
                <a:srgbClr val="FFFFFF"/>
              </a:solidFill>
              <a:latin typeface="Arial"/>
            </a:endParaRPr>
          </a:p>
          <a:p>
            <a:pPr defTabSz="914400">
              <a:lnSpc>
                <a:spcPct val="100000"/>
              </a:lnSpc>
              <a:tabLst>
                <a:tab pos="0" algn="l"/>
              </a:tabLst>
            </a:pPr>
            <a:r>
              <a:rPr lang="en-US" sz="1400" b="0" strike="noStrike" spc="-1">
                <a:solidFill>
                  <a:srgbClr val="666666"/>
                </a:solidFill>
                <a:latin typeface="Calibri"/>
                <a:ea typeface="Calibri"/>
              </a:rPr>
              <a:t>the hardest topics, and gives you a strategy for exam day.</a:t>
            </a:r>
            <a:endParaRPr lang="en-US" sz="1400" b="0" strike="noStrike" spc="-1">
              <a:solidFill>
                <a:srgbClr val="FFFFFF"/>
              </a:solidFill>
              <a:latin typeface="Arial"/>
            </a:endParaRPr>
          </a:p>
        </p:txBody>
      </p:sp>
      <p:sp>
        <p:nvSpPr>
          <p:cNvPr id="2305" name="Text 7"/>
          <p:cNvSpPr/>
          <p:nvPr/>
        </p:nvSpPr>
        <p:spPr>
          <a:xfrm>
            <a:off x="365760" y="4297680"/>
            <a:ext cx="7314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strike="noStrike" spc="-1">
                <a:solidFill>
                  <a:srgbClr val="F29A36"/>
                </a:solidFill>
                <a:latin typeface="Calibri"/>
                <a:ea typeface="Calibri"/>
              </a:rPr>
              <a:t>F5 Certified Technology Specialist, BIG-IP LTM (F5-CTS, LTM)</a:t>
            </a:r>
            <a:endParaRPr lang="en-US" sz="1100" b="0" strike="noStrike" spc="-1">
              <a:solidFill>
                <a:srgbClr val="FFFFFF"/>
              </a:solidFill>
              <a:latin typeface="Arial"/>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06"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307"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308"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309"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310"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311"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118    © 2026 F5</a:t>
            </a:r>
            <a:endParaRPr lang="en-US" sz="800" b="0" strike="noStrike" spc="-1">
              <a:solidFill>
                <a:srgbClr val="000000"/>
              </a:solidFill>
              <a:latin typeface="Arial"/>
            </a:endParaRPr>
          </a:p>
        </p:txBody>
      </p:sp>
      <p:pic>
        <p:nvPicPr>
          <p:cNvPr id="2312" name="Image 0" descr="preencoded.png"/>
          <p:cNvPicPr/>
          <p:nvPr/>
        </p:nvPicPr>
        <p:blipFill>
          <a:blip r:embed="rId3"/>
          <a:stretch/>
        </p:blipFill>
        <p:spPr>
          <a:xfrm>
            <a:off x="8458200" y="4663440"/>
            <a:ext cx="383760" cy="383760"/>
          </a:xfrm>
          <a:prstGeom prst="rect">
            <a:avLst/>
          </a:prstGeom>
          <a:ln w="0">
            <a:noFill/>
          </a:ln>
        </p:spPr>
      </p:pic>
      <p:sp>
        <p:nvSpPr>
          <p:cNvPr id="2313" name="Text 6"/>
          <p:cNvSpPr/>
          <p:nvPr/>
        </p:nvSpPr>
        <p:spPr>
          <a:xfrm>
            <a:off x="457200" y="274320"/>
            <a:ext cx="82292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Exam coverage map</a:t>
            </a:r>
            <a:endParaRPr lang="en-US" sz="2800" b="0" strike="noStrike" spc="-1">
              <a:solidFill>
                <a:srgbClr val="000000"/>
              </a:solidFill>
              <a:latin typeface="Arial"/>
            </a:endParaRPr>
          </a:p>
        </p:txBody>
      </p:sp>
      <p:sp>
        <p:nvSpPr>
          <p:cNvPr id="2314" name="Text 7"/>
          <p:cNvSpPr/>
          <p:nvPr/>
        </p:nvSpPr>
        <p:spPr>
          <a:xfrm>
            <a:off x="457200" y="658440"/>
            <a:ext cx="82292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strike="noStrike" spc="-1">
                <a:solidFill>
                  <a:srgbClr val="666666"/>
                </a:solidFill>
                <a:latin typeface="Calibri"/>
                <a:ea typeface="Calibri"/>
              </a:rPr>
              <a:t>Every Beta exam mapped to course labs and gap-fill slides</a:t>
            </a:r>
            <a:endParaRPr lang="en-US" sz="1300" b="0" strike="noStrike" spc="-1">
              <a:solidFill>
                <a:srgbClr val="000000"/>
              </a:solidFill>
              <a:latin typeface="Arial"/>
            </a:endParaRPr>
          </a:p>
        </p:txBody>
      </p:sp>
      <p:graphicFrame>
        <p:nvGraphicFramePr>
          <p:cNvPr id="2315" name="Table 0"/>
          <p:cNvGraphicFramePr/>
          <p:nvPr/>
        </p:nvGraphicFramePr>
        <p:xfrm>
          <a:off x="365760" y="914400"/>
          <a:ext cx="8412480" cy="1874520"/>
        </p:xfrm>
        <a:graphic>
          <a:graphicData uri="http://schemas.openxmlformats.org/drawingml/2006/table">
            <a:tbl>
              <a:tblPr/>
              <a:tblGrid>
                <a:gridCol w="118872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45720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gridCol w="3108960">
                  <a:extLst>
                    <a:ext uri="{9D8B030D-6E8A-4147-A177-3AD203B41FA5}">
                      <a16:colId xmlns:a16="http://schemas.microsoft.com/office/drawing/2014/main" val="20004"/>
                    </a:ext>
                  </a:extLst>
                </a:gridCol>
              </a:tblGrid>
              <a:tr h="0">
                <a:tc>
                  <a:txBody>
                    <a:bodyPr/>
                    <a:lstStyle/>
                    <a:p>
                      <a:pPr defTabSz="914400">
                        <a:lnSpc>
                          <a:spcPct val="100000"/>
                        </a:lnSpc>
                        <a:tabLst>
                          <a:tab pos="0" algn="l"/>
                        </a:tabLst>
                      </a:pPr>
                      <a:r>
                        <a:rPr lang="en-US" sz="900" b="1" strike="noStrike" spc="-1">
                          <a:solidFill>
                            <a:srgbClr val="FFFFFF"/>
                          </a:solidFill>
                          <a:latin typeface="Calibri"/>
                        </a:rPr>
                        <a:t>Exam</a:t>
                      </a:r>
                      <a:endParaRPr lang="en-US" sz="9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E41AA"/>
                    </a:solidFill>
                  </a:tcPr>
                </a:tc>
                <a:tc>
                  <a:txBody>
                    <a:bodyPr/>
                    <a:lstStyle/>
                    <a:p>
                      <a:pPr defTabSz="914400">
                        <a:lnSpc>
                          <a:spcPct val="100000"/>
                        </a:lnSpc>
                        <a:tabLst>
                          <a:tab pos="0" algn="l"/>
                        </a:tabLst>
                      </a:pPr>
                      <a:r>
                        <a:rPr lang="en-US" sz="900" b="1" strike="noStrike" spc="-1">
                          <a:solidFill>
                            <a:srgbClr val="FFFFFF"/>
                          </a:solidFill>
                          <a:latin typeface="Calibri"/>
                        </a:rPr>
                        <a:t>Topic</a:t>
                      </a:r>
                      <a:endParaRPr lang="en-US" sz="9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E41AA"/>
                    </a:solidFill>
                  </a:tcPr>
                </a:tc>
                <a:tc>
                  <a:txBody>
                    <a:bodyPr/>
                    <a:lstStyle/>
                    <a:p>
                      <a:pPr algn="ctr" defTabSz="914400">
                        <a:lnSpc>
                          <a:spcPct val="100000"/>
                        </a:lnSpc>
                        <a:tabLst>
                          <a:tab pos="0" algn="l"/>
                        </a:tabLst>
                      </a:pPr>
                      <a:r>
                        <a:rPr lang="en-US" sz="900" b="1" strike="noStrike" spc="-1">
                          <a:solidFill>
                            <a:srgbClr val="FFFFFF"/>
                          </a:solidFill>
                          <a:latin typeface="Calibri"/>
                        </a:rPr>
                        <a:t># Obj</a:t>
                      </a:r>
                      <a:endParaRPr lang="en-US" sz="9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E41AA"/>
                    </a:solidFill>
                  </a:tcPr>
                </a:tc>
                <a:tc>
                  <a:txBody>
                    <a:bodyPr/>
                    <a:lstStyle/>
                    <a:p>
                      <a:pPr defTabSz="914400">
                        <a:lnSpc>
                          <a:spcPct val="100000"/>
                        </a:lnSpc>
                        <a:tabLst>
                          <a:tab pos="0" algn="l"/>
                        </a:tabLst>
                      </a:pPr>
                      <a:r>
                        <a:rPr lang="en-US" sz="900" b="1" strike="noStrike" spc="-1">
                          <a:solidFill>
                            <a:srgbClr val="FFFFFF"/>
                          </a:solidFill>
                          <a:latin typeface="Calibri"/>
                        </a:rPr>
                        <a:t>Covered by</a:t>
                      </a:r>
                      <a:endParaRPr lang="en-US" sz="9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E41AA"/>
                    </a:solidFill>
                  </a:tcPr>
                </a:tc>
                <a:tc>
                  <a:txBody>
                    <a:bodyPr/>
                    <a:lstStyle/>
                    <a:p>
                      <a:pPr defTabSz="914400">
                        <a:lnSpc>
                          <a:spcPct val="100000"/>
                        </a:lnSpc>
                        <a:tabLst>
                          <a:tab pos="0" algn="l"/>
                        </a:tabLst>
                      </a:pPr>
                      <a:r>
                        <a:rPr lang="en-US" sz="900" b="1" strike="noStrike" spc="-1">
                          <a:solidFill>
                            <a:srgbClr val="FFFFFF"/>
                          </a:solidFill>
                          <a:latin typeface="Calibri"/>
                        </a:rPr>
                        <a:t>Hardest objectives</a:t>
                      </a:r>
                      <a:endParaRPr lang="en-US" sz="9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E41AA"/>
                    </a:solidFill>
                  </a:tcPr>
                </a:tc>
                <a:extLst>
                  <a:ext uri="{0D108BD9-81ED-4DB2-BD59-A6C34878D82A}">
                    <a16:rowId xmlns:a16="http://schemas.microsoft.com/office/drawing/2014/main" val="10000"/>
                  </a:ext>
                </a:extLst>
              </a:tr>
              <a:tr h="0">
                <a:tc>
                  <a:txBody>
                    <a:bodyPr/>
                    <a:lstStyle/>
                    <a:p>
                      <a:pPr defTabSz="914400">
                        <a:lnSpc>
                          <a:spcPct val="100000"/>
                        </a:lnSpc>
                        <a:tabLst>
                          <a:tab pos="0" algn="l"/>
                        </a:tabLst>
                      </a:pPr>
                      <a:r>
                        <a:rPr lang="en-US" sz="800" b="1" strike="noStrike" spc="-1">
                          <a:solidFill>
                            <a:srgbClr val="000000"/>
                          </a:solidFill>
                          <a:latin typeface="Courier New"/>
                          <a:ea typeface="Courier New"/>
                        </a:rPr>
                        <a:t>F5CTSLTM1-B</a:t>
                      </a:r>
                      <a:endParaRPr lang="en-US" sz="8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1" strike="noStrike" spc="-1">
                          <a:solidFill>
                            <a:srgbClr val="000000"/>
                          </a:solidFill>
                          <a:latin typeface="Calibri"/>
                        </a:rPr>
                        <a:t>Base Config + Networking</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algn="ctr" defTabSz="914400">
                        <a:lnSpc>
                          <a:spcPct val="100000"/>
                        </a:lnSpc>
                        <a:tabLst>
                          <a:tab pos="0" algn="l"/>
                        </a:tabLst>
                      </a:pPr>
                      <a:r>
                        <a:rPr lang="en-US" sz="900" b="0" strike="noStrike" spc="-1">
                          <a:solidFill>
                            <a:srgbClr val="000000"/>
                          </a:solidFill>
                          <a:latin typeface="Calibri"/>
                        </a:rPr>
                        <a:t>6</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800" b="0" strike="noStrike" spc="-1">
                          <a:solidFill>
                            <a:srgbClr val="000000"/>
                          </a:solidFill>
                          <a:latin typeface="Calibri"/>
                        </a:rPr>
                        <a:t>Labs 1, 8, 9, 11 + GF1</a:t>
                      </a:r>
                      <a:endParaRPr lang="en-US" sz="8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800" b="0" strike="noStrike" spc="-1">
                          <a:solidFill>
                            <a:srgbClr val="000000"/>
                          </a:solidFill>
                          <a:latin typeface="Calibri"/>
                        </a:rPr>
                        <a:t>1.02 nPath/DSR, 1.06 log interpretation</a:t>
                      </a:r>
                      <a:endParaRPr lang="en-US" sz="8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1"/>
                  </a:ext>
                </a:extLst>
              </a:tr>
              <a:tr h="0">
                <a:tc>
                  <a:txBody>
                    <a:bodyPr/>
                    <a:lstStyle/>
                    <a:p>
                      <a:pPr defTabSz="914400">
                        <a:lnSpc>
                          <a:spcPct val="100000"/>
                        </a:lnSpc>
                        <a:tabLst>
                          <a:tab pos="0" algn="l"/>
                        </a:tabLst>
                      </a:pPr>
                      <a:r>
                        <a:rPr lang="en-US" sz="800" b="1" strike="noStrike" spc="-1">
                          <a:solidFill>
                            <a:srgbClr val="000000"/>
                          </a:solidFill>
                          <a:latin typeface="Courier New"/>
                          <a:ea typeface="Courier New"/>
                        </a:rPr>
                        <a:t>F5CTSLTM2-B</a:t>
                      </a:r>
                      <a:endParaRPr lang="en-US" sz="8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1" strike="noStrike" spc="-1">
                          <a:solidFill>
                            <a:srgbClr val="000000"/>
                          </a:solidFill>
                          <a:latin typeface="Calibri"/>
                        </a:rPr>
                        <a:t>VS + Local Traffic Objects</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algn="ctr" defTabSz="914400">
                        <a:lnSpc>
                          <a:spcPct val="100000"/>
                        </a:lnSpc>
                        <a:tabLst>
                          <a:tab pos="0" algn="l"/>
                        </a:tabLst>
                      </a:pPr>
                      <a:r>
                        <a:rPr lang="en-US" sz="900" b="0" strike="noStrike" spc="-1">
                          <a:solidFill>
                            <a:srgbClr val="000000"/>
                          </a:solidFill>
                          <a:latin typeface="Calibri"/>
                        </a:rPr>
                        <a:t>14</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800" b="0" strike="noStrike" spc="-1">
                          <a:solidFill>
                            <a:srgbClr val="000000"/>
                          </a:solidFill>
                          <a:latin typeface="Calibri"/>
                        </a:rPr>
                        <a:t>Labs 1, 2, 4, 6, 7 + GF2-3, 7-8</a:t>
                      </a:r>
                      <a:endParaRPr lang="en-US" sz="8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800" b="0" strike="noStrike" spc="-1">
                          <a:solidFill>
                            <a:srgbClr val="000000"/>
                          </a:solidFill>
                          <a:latin typeface="Calibri"/>
                        </a:rPr>
                        <a:t>2.07 VS matching, 2.11 simplify config (A/E)</a:t>
                      </a:r>
                      <a:endParaRPr lang="en-US" sz="8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2"/>
                  </a:ext>
                </a:extLst>
              </a:tr>
              <a:tr h="0">
                <a:tc>
                  <a:txBody>
                    <a:bodyPr/>
                    <a:lstStyle/>
                    <a:p>
                      <a:pPr defTabSz="914400">
                        <a:lnSpc>
                          <a:spcPct val="100000"/>
                        </a:lnSpc>
                        <a:tabLst>
                          <a:tab pos="0" algn="l"/>
                        </a:tabLst>
                      </a:pPr>
                      <a:r>
                        <a:rPr lang="en-US" sz="800" b="1" strike="noStrike" spc="-1">
                          <a:solidFill>
                            <a:srgbClr val="000000"/>
                          </a:solidFill>
                          <a:latin typeface="Courier New"/>
                          <a:ea typeface="Courier New"/>
                        </a:rPr>
                        <a:t>F5CTSLTM3-B</a:t>
                      </a:r>
                      <a:endParaRPr lang="en-US" sz="8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1" strike="noStrike" spc="-1">
                          <a:solidFill>
                            <a:srgbClr val="000000"/>
                          </a:solidFill>
                          <a:latin typeface="Calibri"/>
                        </a:rPr>
                        <a:t>iRules, Analytics, Templates</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algn="ctr" defTabSz="914400">
                        <a:lnSpc>
                          <a:spcPct val="100000"/>
                        </a:lnSpc>
                        <a:tabLst>
                          <a:tab pos="0" algn="l"/>
                        </a:tabLst>
                      </a:pPr>
                      <a:r>
                        <a:rPr lang="en-US" sz="900" b="0" strike="noStrike" spc="-1">
                          <a:solidFill>
                            <a:srgbClr val="000000"/>
                          </a:solidFill>
                          <a:latin typeface="Calibri"/>
                        </a:rPr>
                        <a:t>7</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800" b="0" strike="noStrike" spc="-1">
                          <a:solidFill>
                            <a:srgbClr val="000000"/>
                          </a:solidFill>
                          <a:latin typeface="Calibri"/>
                        </a:rPr>
                        <a:t>Labs 2, 3 + GF9-10</a:t>
                      </a:r>
                      <a:endParaRPr lang="en-US" sz="8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800" b="0" strike="noStrike" spc="-1">
                          <a:solidFill>
                            <a:srgbClr val="000000"/>
                          </a:solidFill>
                          <a:latin typeface="Calibri"/>
                        </a:rPr>
                        <a:t>3.05 iRule traffic result (A/E), 3.06 AVR</a:t>
                      </a:r>
                      <a:endParaRPr lang="en-US" sz="8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3"/>
                  </a:ext>
                </a:extLst>
              </a:tr>
              <a:tr h="0">
                <a:tc>
                  <a:txBody>
                    <a:bodyPr/>
                    <a:lstStyle/>
                    <a:p>
                      <a:pPr defTabSz="914400">
                        <a:lnSpc>
                          <a:spcPct val="100000"/>
                        </a:lnSpc>
                        <a:tabLst>
                          <a:tab pos="0" algn="l"/>
                        </a:tabLst>
                      </a:pPr>
                      <a:r>
                        <a:rPr lang="en-US" sz="800" b="1" strike="noStrike" spc="-1">
                          <a:solidFill>
                            <a:srgbClr val="000000"/>
                          </a:solidFill>
                          <a:latin typeface="Courier New"/>
                          <a:ea typeface="Courier New"/>
                        </a:rPr>
                        <a:t>F5CTSLTM4-B</a:t>
                      </a:r>
                      <a:endParaRPr lang="en-US" sz="8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1" strike="noStrike" spc="-1">
                          <a:solidFill>
                            <a:srgbClr val="000000"/>
                          </a:solidFill>
                          <a:latin typeface="Calibri"/>
                        </a:rPr>
                        <a:t>Upgrades, HA, Monitoring</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algn="ctr" defTabSz="914400">
                        <a:lnSpc>
                          <a:spcPct val="100000"/>
                        </a:lnSpc>
                        <a:tabLst>
                          <a:tab pos="0" algn="l"/>
                        </a:tabLst>
                      </a:pPr>
                      <a:r>
                        <a:rPr lang="en-US" sz="900" b="0" strike="noStrike" spc="-1">
                          <a:solidFill>
                            <a:srgbClr val="000000"/>
                          </a:solidFill>
                          <a:latin typeface="Calibri"/>
                        </a:rPr>
                        <a:t>12</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800" b="0" strike="noStrike" spc="-1">
                          <a:solidFill>
                            <a:srgbClr val="000000"/>
                          </a:solidFill>
                          <a:latin typeface="Calibri"/>
                        </a:rPr>
                        <a:t>Labs 9, 10, 11 + GF4-6</a:t>
                      </a:r>
                      <a:endParaRPr lang="en-US" sz="8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800" b="0" strike="noStrike" spc="-1">
                          <a:solidFill>
                            <a:srgbClr val="000000"/>
                          </a:solidFill>
                          <a:latin typeface="Calibri"/>
                        </a:rPr>
                        <a:t>4.02 TG vs HA groups, 4.10 perf analysis (A/E)</a:t>
                      </a:r>
                      <a:endParaRPr lang="en-US" sz="8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4"/>
                  </a:ext>
                </a:extLst>
              </a:tr>
              <a:tr h="0">
                <a:tc>
                  <a:txBody>
                    <a:bodyPr/>
                    <a:lstStyle/>
                    <a:p>
                      <a:pPr defTabSz="914400">
                        <a:lnSpc>
                          <a:spcPct val="100000"/>
                        </a:lnSpc>
                        <a:tabLst>
                          <a:tab pos="0" algn="l"/>
                        </a:tabLst>
                      </a:pPr>
                      <a:r>
                        <a:rPr lang="en-US" sz="800" b="1" strike="noStrike" spc="-1">
                          <a:solidFill>
                            <a:srgbClr val="000000"/>
                          </a:solidFill>
                          <a:latin typeface="Courier New"/>
                          <a:ea typeface="Courier New"/>
                        </a:rPr>
                        <a:t>F5CTSLTM5-B</a:t>
                      </a:r>
                      <a:endParaRPr lang="en-US" sz="8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900" b="1" strike="noStrike" spc="-1">
                          <a:solidFill>
                            <a:srgbClr val="000000"/>
                          </a:solidFill>
                          <a:latin typeface="Calibri"/>
                        </a:rPr>
                        <a:t>Packet Capture — TCP/HTTP</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algn="ctr" defTabSz="914400">
                        <a:lnSpc>
                          <a:spcPct val="100000"/>
                        </a:lnSpc>
                        <a:tabLst>
                          <a:tab pos="0" algn="l"/>
                        </a:tabLst>
                      </a:pPr>
                      <a:r>
                        <a:rPr lang="en-US" sz="900" b="0" strike="noStrike" spc="-1">
                          <a:solidFill>
                            <a:srgbClr val="000000"/>
                          </a:solidFill>
                          <a:latin typeface="Calibri"/>
                        </a:rPr>
                        <a:t>4</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800" b="0" strike="noStrike" spc="-1">
                          <a:solidFill>
                            <a:srgbClr val="000000"/>
                          </a:solidFill>
                          <a:latin typeface="Calibri"/>
                        </a:rPr>
                        <a:t>GF2-3 + Labs throughout</a:t>
                      </a:r>
                      <a:endParaRPr lang="en-US" sz="8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800" b="0" strike="noStrike" spc="-1">
                          <a:solidFill>
                            <a:srgbClr val="000000"/>
                          </a:solidFill>
                          <a:latin typeface="Calibri"/>
                        </a:rPr>
                        <a:t>5.03/5.04 pcap root cause + solution (A/E)</a:t>
                      </a:r>
                      <a:endParaRPr lang="en-US" sz="8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5"/>
                  </a:ext>
                </a:extLst>
              </a:tr>
              <a:tr h="0">
                <a:tc>
                  <a:txBody>
                    <a:bodyPr/>
                    <a:lstStyle/>
                    <a:p>
                      <a:pPr defTabSz="914400">
                        <a:lnSpc>
                          <a:spcPct val="100000"/>
                        </a:lnSpc>
                        <a:tabLst>
                          <a:tab pos="0" algn="l"/>
                        </a:tabLst>
                      </a:pPr>
                      <a:r>
                        <a:rPr lang="en-US" sz="800" b="1" strike="noStrike" spc="-1">
                          <a:solidFill>
                            <a:srgbClr val="000000"/>
                          </a:solidFill>
                          <a:latin typeface="Courier New"/>
                          <a:ea typeface="Courier New"/>
                        </a:rPr>
                        <a:t>F5CTSLTM6-B</a:t>
                      </a:r>
                      <a:endParaRPr lang="en-US" sz="8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900" b="1" strike="noStrike" spc="-1">
                          <a:solidFill>
                            <a:srgbClr val="000000"/>
                          </a:solidFill>
                          <a:latin typeface="Calibri"/>
                        </a:rPr>
                        <a:t>Packet Capture — TLS/SSL</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algn="ctr" defTabSz="914400">
                        <a:lnSpc>
                          <a:spcPct val="100000"/>
                        </a:lnSpc>
                        <a:tabLst>
                          <a:tab pos="0" algn="l"/>
                        </a:tabLst>
                      </a:pPr>
                      <a:r>
                        <a:rPr lang="en-US" sz="900" b="0" strike="noStrike" spc="-1">
                          <a:solidFill>
                            <a:srgbClr val="000000"/>
                          </a:solidFill>
                          <a:latin typeface="Calibri"/>
                        </a:rPr>
                        <a:t>4</a:t>
                      </a:r>
                      <a:endParaRPr lang="en-US" sz="9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800" b="0" strike="noStrike" spc="-1">
                          <a:solidFill>
                            <a:srgbClr val="000000"/>
                          </a:solidFill>
                          <a:latin typeface="Calibri"/>
                        </a:rPr>
                        <a:t>Lab 5</a:t>
                      </a:r>
                      <a:endParaRPr lang="en-US" sz="8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800" b="0" strike="noStrike" spc="-1">
                          <a:solidFill>
                            <a:srgbClr val="000000"/>
                          </a:solidFill>
                          <a:latin typeface="Calibri"/>
                        </a:rPr>
                        <a:t>6.02/6.03 SSL pcap + config data (A/E)</a:t>
                      </a:r>
                      <a:endParaRPr lang="en-US" sz="8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6"/>
                  </a:ext>
                </a:extLst>
              </a:tr>
              <a:tr h="0">
                <a:tc>
                  <a:txBody>
                    <a:bodyPr/>
                    <a:lstStyle/>
                    <a:p>
                      <a:pPr defTabSz="914400">
                        <a:lnSpc>
                          <a:spcPct val="100000"/>
                        </a:lnSpc>
                        <a:tabLst>
                          <a:tab pos="0" algn="l"/>
                        </a:tabLst>
                      </a:pPr>
                      <a:r>
                        <a:rPr lang="en-US" sz="900" b="1" strike="noStrike" spc="-1">
                          <a:solidFill>
                            <a:srgbClr val="FFFFFF"/>
                          </a:solidFill>
                          <a:latin typeface="Calibri"/>
                        </a:rPr>
                        <a:t>TOTAL</a:t>
                      </a:r>
                      <a:endParaRPr lang="en-US" sz="9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09639"/>
                    </a:solidFill>
                  </a:tcPr>
                </a:tc>
                <a:tc>
                  <a:txBody>
                    <a:bodyPr/>
                    <a:lstStyle/>
                    <a:p>
                      <a:pPr defTabSz="914400">
                        <a:lnSpc>
                          <a:spcPct val="100000"/>
                        </a:lnSpc>
                        <a:tabLst>
                          <a:tab pos="0" algn="l"/>
                        </a:tabLst>
                      </a:pPr>
                      <a:endParaRPr lang="en-US" sz="1200" b="0" strike="noStrike" spc="-1">
                        <a:solidFill>
                          <a:schemeClr val="dk1"/>
                        </a:solidFill>
                        <a:latin typeface="Calibri"/>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09639"/>
                    </a:solidFill>
                  </a:tcPr>
                </a:tc>
                <a:tc>
                  <a:txBody>
                    <a:bodyPr/>
                    <a:lstStyle/>
                    <a:p>
                      <a:pPr algn="ctr" defTabSz="914400">
                        <a:lnSpc>
                          <a:spcPct val="100000"/>
                        </a:lnSpc>
                        <a:tabLst>
                          <a:tab pos="0" algn="l"/>
                        </a:tabLst>
                      </a:pPr>
                      <a:r>
                        <a:rPr lang="en-US" sz="1000" b="1" strike="noStrike" spc="-1">
                          <a:solidFill>
                            <a:srgbClr val="FFFFFF"/>
                          </a:solidFill>
                          <a:latin typeface="Calibri"/>
                        </a:rPr>
                        <a:t>44</a:t>
                      </a:r>
                      <a:endParaRPr lang="en-US" sz="10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09639"/>
                    </a:solidFill>
                  </a:tcPr>
                </a:tc>
                <a:tc>
                  <a:txBody>
                    <a:bodyPr/>
                    <a:lstStyle/>
                    <a:p>
                      <a:pPr defTabSz="914400">
                        <a:lnSpc>
                          <a:spcPct val="100000"/>
                        </a:lnSpc>
                        <a:tabLst>
                          <a:tab pos="0" algn="l"/>
                        </a:tabLst>
                      </a:pPr>
                      <a:r>
                        <a:rPr lang="en-US" sz="900" b="1" strike="noStrike" spc="-1">
                          <a:solidFill>
                            <a:srgbClr val="FFFFFF"/>
                          </a:solidFill>
                          <a:latin typeface="Calibri"/>
                        </a:rPr>
                        <a:t>All covered</a:t>
                      </a:r>
                      <a:endParaRPr lang="en-US" sz="9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09639"/>
                    </a:solidFill>
                  </a:tcPr>
                </a:tc>
                <a:tc>
                  <a:txBody>
                    <a:bodyPr/>
                    <a:lstStyle/>
                    <a:p>
                      <a:pPr defTabSz="914400">
                        <a:lnSpc>
                          <a:spcPct val="100000"/>
                        </a:lnSpc>
                        <a:tabLst>
                          <a:tab pos="0" algn="l"/>
                        </a:tabLst>
                      </a:pPr>
                      <a:endParaRPr lang="en-US" sz="1200" b="0" strike="noStrike" spc="-1">
                        <a:solidFill>
                          <a:schemeClr val="dk1"/>
                        </a:solidFill>
                        <a:latin typeface="Calibri"/>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09639"/>
                    </a:solidFill>
                  </a:tcPr>
                </a:tc>
                <a:extLst>
                  <a:ext uri="{0D108BD9-81ED-4DB2-BD59-A6C34878D82A}">
                    <a16:rowId xmlns:a16="http://schemas.microsoft.com/office/drawing/2014/main" val="10007"/>
                  </a:ext>
                </a:extLst>
              </a:tr>
            </a:tbl>
          </a:graphicData>
        </a:graphic>
      </p:graphicFrame>
      <p:sp>
        <p:nvSpPr>
          <p:cNvPr id="2316" name="Text 8"/>
          <p:cNvSpPr/>
          <p:nvPr/>
        </p:nvSpPr>
        <p:spPr>
          <a:xfrm>
            <a:off x="457200" y="3703320"/>
            <a:ext cx="45716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61228B"/>
                </a:solidFill>
                <a:latin typeface="Arial"/>
                <a:ea typeface="Arial"/>
              </a:rPr>
              <a:t>Cognitive complexity breakdown</a:t>
            </a:r>
            <a:endParaRPr lang="en-US" sz="1400" b="0" strike="noStrike" spc="-1">
              <a:solidFill>
                <a:srgbClr val="000000"/>
              </a:solidFill>
              <a:latin typeface="Arial"/>
            </a:endParaRPr>
          </a:p>
        </p:txBody>
      </p:sp>
      <p:graphicFrame>
        <p:nvGraphicFramePr>
          <p:cNvPr id="2317" name="Table 1"/>
          <p:cNvGraphicFramePr/>
          <p:nvPr/>
        </p:nvGraphicFramePr>
        <p:xfrm>
          <a:off x="365760" y="3931920"/>
          <a:ext cx="8412480" cy="822960"/>
        </p:xfrm>
        <a:graphic>
          <a:graphicData uri="http://schemas.openxmlformats.org/drawingml/2006/table">
            <a:tbl>
              <a:tblPr/>
              <a:tblGrid>
                <a:gridCol w="256032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tblGrid>
              <a:tr h="0">
                <a:tc>
                  <a:txBody>
                    <a:bodyPr/>
                    <a:lstStyle/>
                    <a:p>
                      <a:pPr defTabSz="914400">
                        <a:lnSpc>
                          <a:spcPct val="100000"/>
                        </a:lnSpc>
                        <a:tabLst>
                          <a:tab pos="0" algn="l"/>
                        </a:tabLst>
                      </a:pPr>
                      <a:r>
                        <a:rPr lang="en-US" sz="1000" b="1" strike="noStrike" spc="-1">
                          <a:solidFill>
                            <a:srgbClr val="FFFFFF"/>
                          </a:solidFill>
                          <a:latin typeface="Calibri"/>
                        </a:rPr>
                        <a:t>R (Remember)</a:t>
                      </a:r>
                      <a:endParaRPr lang="en-US" sz="10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09639"/>
                    </a:solidFill>
                  </a:tcPr>
                </a:tc>
                <a:tc>
                  <a:txBody>
                    <a:bodyPr/>
                    <a:lstStyle/>
                    <a:p>
                      <a:pPr defTabSz="914400">
                        <a:lnSpc>
                          <a:spcPct val="100000"/>
                        </a:lnSpc>
                        <a:tabLst>
                          <a:tab pos="0" algn="l"/>
                        </a:tabLst>
                      </a:pPr>
                      <a:r>
                        <a:rPr lang="en-US" sz="1000" b="1" strike="noStrike" spc="-1">
                          <a:solidFill>
                            <a:srgbClr val="FFFFFF"/>
                          </a:solidFill>
                          <a:latin typeface="Calibri"/>
                        </a:rPr>
                        <a:t>U/A (Understand/Apply)</a:t>
                      </a:r>
                      <a:endParaRPr lang="en-US" sz="10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E41AA"/>
                    </a:solidFill>
                  </a:tcPr>
                </a:tc>
                <a:tc>
                  <a:txBody>
                    <a:bodyPr/>
                    <a:lstStyle/>
                    <a:p>
                      <a:pPr defTabSz="914400">
                        <a:lnSpc>
                          <a:spcPct val="100000"/>
                        </a:lnSpc>
                        <a:tabLst>
                          <a:tab pos="0" algn="l"/>
                        </a:tabLst>
                      </a:pPr>
                      <a:r>
                        <a:rPr lang="en-US" sz="1000" b="1" strike="noStrike" spc="-1">
                          <a:solidFill>
                            <a:srgbClr val="FFFFFF"/>
                          </a:solidFill>
                          <a:latin typeface="Calibri"/>
                        </a:rPr>
                        <a:t>A/E (Analyze/Evaluate)</a:t>
                      </a:r>
                      <a:endParaRPr lang="en-US" sz="1000" b="0" strike="noStrike" spc="-1">
                        <a:solidFill>
                          <a:srgbClr val="FFFFFF"/>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E4002B"/>
                    </a:solidFill>
                  </a:tcPr>
                </a:tc>
                <a:extLst>
                  <a:ext uri="{0D108BD9-81ED-4DB2-BD59-A6C34878D82A}">
                    <a16:rowId xmlns:a16="http://schemas.microsoft.com/office/drawing/2014/main" val="10000"/>
                  </a:ext>
                </a:extLst>
              </a:tr>
              <a:tr h="0">
                <a:tc>
                  <a:txBody>
                    <a:bodyPr/>
                    <a:lstStyle/>
                    <a:p>
                      <a:pPr defTabSz="914400">
                        <a:lnSpc>
                          <a:spcPct val="100000"/>
                        </a:lnSpc>
                        <a:tabLst>
                          <a:tab pos="0" algn="l"/>
                        </a:tabLst>
                      </a:pPr>
                      <a:r>
                        <a:rPr lang="en-US" sz="800" b="0" strike="noStrike" spc="-1">
                          <a:solidFill>
                            <a:srgbClr val="000000"/>
                          </a:solidFill>
                          <a:latin typeface="Calibri"/>
                        </a:rPr>
                        <a:t>Recall facts, definitions, locations.</a:t>
                      </a:r>
                      <a:endParaRPr lang="en-US" sz="800" b="0" strike="noStrike" spc="-1">
                        <a:solidFill>
                          <a:srgbClr val="000000"/>
                        </a:solidFill>
                        <a:latin typeface="Arial"/>
                      </a:endParaRPr>
                    </a:p>
                    <a:p>
                      <a:pPr defTabSz="914400">
                        <a:lnSpc>
                          <a:spcPct val="100000"/>
                        </a:lnSpc>
                        <a:tabLst>
                          <a:tab pos="0" algn="l"/>
                        </a:tabLst>
                      </a:pPr>
                      <a:r>
                        <a:rPr lang="en-US" sz="800" b="0" strike="noStrike" spc="-1">
                          <a:solidFill>
                            <a:srgbClr val="000000"/>
                          </a:solidFill>
                          <a:latin typeface="Calibri"/>
                        </a:rPr>
                        <a:t>• 3.02 iApp/FAST templates</a:t>
                      </a:r>
                      <a:endParaRPr lang="en-US" sz="800" b="0" strike="noStrike" spc="-1">
                        <a:solidFill>
                          <a:srgbClr val="000000"/>
                        </a:solidFill>
                        <a:latin typeface="Arial"/>
                      </a:endParaRPr>
                    </a:p>
                    <a:p>
                      <a:pPr defTabSz="914400">
                        <a:lnSpc>
                          <a:spcPct val="100000"/>
                        </a:lnSpc>
                        <a:tabLst>
                          <a:tab pos="0" algn="l"/>
                        </a:tabLst>
                      </a:pPr>
                      <a:r>
                        <a:rPr lang="en-US" sz="800" b="0" strike="noStrike" spc="-1">
                          <a:solidFill>
                            <a:srgbClr val="000000"/>
                          </a:solidFill>
                          <a:latin typeface="Calibri"/>
                        </a:rPr>
                        <a:t>• 2.06 SNAT types</a:t>
                      </a:r>
                      <a:endParaRPr lang="en-US" sz="800" b="0" strike="noStrike" spc="-1">
                        <a:solidFill>
                          <a:srgbClr val="000000"/>
                        </a:solidFill>
                        <a:latin typeface="Arial"/>
                      </a:endParaRPr>
                    </a:p>
                    <a:p>
                      <a:pPr defTabSz="914400">
                        <a:lnSpc>
                          <a:spcPct val="100000"/>
                        </a:lnSpc>
                        <a:tabLst>
                          <a:tab pos="0" algn="l"/>
                        </a:tabLst>
                      </a:pPr>
                      <a:r>
                        <a:rPr lang="en-US" sz="800" b="0" strike="noStrike" spc="-1">
                          <a:solidFill>
                            <a:srgbClr val="000000"/>
                          </a:solidFill>
                          <a:latin typeface="Calibri"/>
                        </a:rPr>
                        <a:t>• 4.08 Alert config files</a:t>
                      </a:r>
                      <a:endParaRPr lang="en-US" sz="8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800" b="0" strike="noStrike" spc="-1">
                          <a:solidFill>
                            <a:srgbClr val="000000"/>
                          </a:solidFill>
                          <a:latin typeface="Calibri"/>
                        </a:rPr>
                        <a:t>Apply knowledge to scenarios.</a:t>
                      </a:r>
                      <a:endParaRPr lang="en-US" sz="800" b="0" strike="noStrike" spc="-1">
                        <a:solidFill>
                          <a:srgbClr val="000000"/>
                        </a:solidFill>
                        <a:latin typeface="Arial"/>
                      </a:endParaRPr>
                    </a:p>
                    <a:p>
                      <a:pPr defTabSz="914400">
                        <a:lnSpc>
                          <a:spcPct val="100000"/>
                        </a:lnSpc>
                        <a:tabLst>
                          <a:tab pos="0" algn="l"/>
                        </a:tabLst>
                      </a:pPr>
                      <a:r>
                        <a:rPr lang="en-US" sz="800" b="0" strike="noStrike" spc="-1">
                          <a:solidFill>
                            <a:srgbClr val="000000"/>
                          </a:solidFill>
                          <a:latin typeface="Calibri"/>
                        </a:rPr>
                        <a:t>• Most objectives (30+)</a:t>
                      </a:r>
                      <a:endParaRPr lang="en-US" sz="800" b="0" strike="noStrike" spc="-1">
                        <a:solidFill>
                          <a:srgbClr val="000000"/>
                        </a:solidFill>
                        <a:latin typeface="Arial"/>
                      </a:endParaRPr>
                    </a:p>
                    <a:p>
                      <a:pPr defTabSz="914400">
                        <a:lnSpc>
                          <a:spcPct val="100000"/>
                        </a:lnSpc>
                        <a:tabLst>
                          <a:tab pos="0" algn="l"/>
                        </a:tabLst>
                      </a:pPr>
                      <a:r>
                        <a:rPr lang="en-US" sz="800" b="0" strike="noStrike" spc="-1">
                          <a:solidFill>
                            <a:srgbClr val="000000"/>
                          </a:solidFill>
                          <a:latin typeface="Calibri"/>
                        </a:rPr>
                        <a:t>• "Given a scenario, determine..."</a:t>
                      </a:r>
                      <a:endParaRPr lang="en-US" sz="800" b="0" strike="noStrike" spc="-1">
                        <a:solidFill>
                          <a:srgbClr val="000000"/>
                        </a:solidFill>
                        <a:latin typeface="Arial"/>
                      </a:endParaRPr>
                    </a:p>
                    <a:p>
                      <a:pPr defTabSz="914400">
                        <a:lnSpc>
                          <a:spcPct val="100000"/>
                        </a:lnSpc>
                        <a:tabLst>
                          <a:tab pos="0" algn="l"/>
                        </a:tabLst>
                      </a:pPr>
                      <a:r>
                        <a:rPr lang="en-US" sz="800" b="0" strike="noStrike" spc="-1">
                          <a:solidFill>
                            <a:srgbClr val="000000"/>
                          </a:solidFill>
                          <a:latin typeface="Calibri"/>
                        </a:rPr>
                        <a:t>• "Explain how to configure..."</a:t>
                      </a:r>
                      <a:endParaRPr lang="en-US" sz="8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800" b="0" strike="noStrike" spc="-1">
                          <a:solidFill>
                            <a:srgbClr val="000000"/>
                          </a:solidFill>
                          <a:latin typeface="Calibri"/>
                        </a:rPr>
                        <a:t>Hardest — analyze data, evaluate options.</a:t>
                      </a:r>
                      <a:endParaRPr lang="en-US" sz="800" b="0" strike="noStrike" spc="-1">
                        <a:solidFill>
                          <a:srgbClr val="000000"/>
                        </a:solidFill>
                        <a:latin typeface="Arial"/>
                      </a:endParaRPr>
                    </a:p>
                    <a:p>
                      <a:pPr defTabSz="914400">
                        <a:lnSpc>
                          <a:spcPct val="100000"/>
                        </a:lnSpc>
                        <a:tabLst>
                          <a:tab pos="0" algn="l"/>
                        </a:tabLst>
                      </a:pPr>
                      <a:r>
                        <a:rPr lang="en-US" sz="800" b="0" strike="noStrike" spc="-1">
                          <a:solidFill>
                            <a:srgbClr val="000000"/>
                          </a:solidFill>
                          <a:latin typeface="Calibri"/>
                        </a:rPr>
                        <a:t>• 2.10/2.11 Profile + config optimization</a:t>
                      </a:r>
                      <a:endParaRPr lang="en-US" sz="800" b="0" strike="noStrike" spc="-1">
                        <a:solidFill>
                          <a:srgbClr val="000000"/>
                        </a:solidFill>
                        <a:latin typeface="Arial"/>
                      </a:endParaRPr>
                    </a:p>
                    <a:p>
                      <a:pPr defTabSz="914400">
                        <a:lnSpc>
                          <a:spcPct val="100000"/>
                        </a:lnSpc>
                        <a:tabLst>
                          <a:tab pos="0" algn="l"/>
                        </a:tabLst>
                      </a:pPr>
                      <a:r>
                        <a:rPr lang="en-US" sz="800" b="0" strike="noStrike" spc="-1">
                          <a:solidFill>
                            <a:srgbClr val="000000"/>
                          </a:solidFill>
                          <a:latin typeface="Calibri"/>
                        </a:rPr>
                        <a:t>• 4.10 Performance analysis</a:t>
                      </a:r>
                      <a:endParaRPr lang="en-US" sz="800" b="0" strike="noStrike" spc="-1">
                        <a:solidFill>
                          <a:srgbClr val="000000"/>
                        </a:solidFill>
                        <a:latin typeface="Arial"/>
                      </a:endParaRPr>
                    </a:p>
                    <a:p>
                      <a:pPr defTabSz="914400">
                        <a:lnSpc>
                          <a:spcPct val="100000"/>
                        </a:lnSpc>
                        <a:tabLst>
                          <a:tab pos="0" algn="l"/>
                        </a:tabLst>
                      </a:pPr>
                      <a:r>
                        <a:rPr lang="en-US" sz="800" b="0" strike="noStrike" spc="-1">
                          <a:solidFill>
                            <a:srgbClr val="000000"/>
                          </a:solidFill>
                          <a:latin typeface="Calibri"/>
                        </a:rPr>
                        <a:t>• 5.03/5.04/6.02/6.03 Packet capture</a:t>
                      </a:r>
                      <a:endParaRPr lang="en-US" sz="800" b="0" strike="noStrike" spc="-1">
                        <a:solidFill>
                          <a:srgbClr val="000000"/>
                        </a:solidFill>
                        <a:latin typeface="Arial"/>
                      </a:endParaRPr>
                    </a:p>
                  </a:txBody>
                  <a:tcPr marL="63360" marR="633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18"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319"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320"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321"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322"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323"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119    © 2026 F5</a:t>
            </a:r>
            <a:endParaRPr lang="en-US" sz="800" b="0" strike="noStrike" spc="-1">
              <a:solidFill>
                <a:srgbClr val="000000"/>
              </a:solidFill>
              <a:latin typeface="Arial"/>
            </a:endParaRPr>
          </a:p>
        </p:txBody>
      </p:sp>
      <p:pic>
        <p:nvPicPr>
          <p:cNvPr id="2324" name="Image 0" descr="preencoded.png"/>
          <p:cNvPicPr/>
          <p:nvPr/>
        </p:nvPicPr>
        <p:blipFill>
          <a:blip r:embed="rId3"/>
          <a:stretch/>
        </p:blipFill>
        <p:spPr>
          <a:xfrm>
            <a:off x="8458200" y="4663440"/>
            <a:ext cx="383760" cy="383760"/>
          </a:xfrm>
          <a:prstGeom prst="rect">
            <a:avLst/>
          </a:prstGeom>
          <a:ln w="0">
            <a:noFill/>
          </a:ln>
        </p:spPr>
      </p:pic>
      <p:sp>
        <p:nvSpPr>
          <p:cNvPr id="2325" name="Text 6"/>
          <p:cNvSpPr/>
          <p:nvPr/>
        </p:nvSpPr>
        <p:spPr>
          <a:xfrm>
            <a:off x="457200" y="274320"/>
            <a:ext cx="82292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Exam strategy</a:t>
            </a:r>
            <a:endParaRPr lang="en-US" sz="2800" b="0" strike="noStrike" spc="-1">
              <a:solidFill>
                <a:srgbClr val="000000"/>
              </a:solidFill>
              <a:latin typeface="Arial"/>
            </a:endParaRPr>
          </a:p>
        </p:txBody>
      </p:sp>
      <p:sp>
        <p:nvSpPr>
          <p:cNvPr id="2326" name="Text 7"/>
          <p:cNvSpPr/>
          <p:nvPr/>
        </p:nvSpPr>
        <p:spPr>
          <a:xfrm>
            <a:off x="457200" y="658440"/>
            <a:ext cx="82292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strike="noStrike" spc="-1">
                <a:solidFill>
                  <a:srgbClr val="666666"/>
                </a:solidFill>
                <a:latin typeface="Calibri"/>
                <a:ea typeface="Calibri"/>
              </a:rPr>
              <a:t>Tips from F5 instructors for the Beta certification series</a:t>
            </a:r>
            <a:endParaRPr lang="en-US" sz="1300" b="0" strike="noStrike" spc="-1">
              <a:solidFill>
                <a:srgbClr val="000000"/>
              </a:solidFill>
              <a:latin typeface="Arial"/>
            </a:endParaRPr>
          </a:p>
        </p:txBody>
      </p:sp>
      <p:sp>
        <p:nvSpPr>
          <p:cNvPr id="2327" name="Shape 8"/>
          <p:cNvSpPr/>
          <p:nvPr/>
        </p:nvSpPr>
        <p:spPr>
          <a:xfrm>
            <a:off x="365760" y="960120"/>
            <a:ext cx="319680" cy="31968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328" name="Text 9"/>
          <p:cNvSpPr/>
          <p:nvPr/>
        </p:nvSpPr>
        <p:spPr>
          <a:xfrm>
            <a:off x="365760" y="960120"/>
            <a:ext cx="31968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FFFFFF"/>
                </a:solidFill>
                <a:latin typeface="Arial"/>
                <a:ea typeface="Arial"/>
              </a:rPr>
              <a:t>1</a:t>
            </a:r>
            <a:endParaRPr lang="en-US" sz="1400" b="0" strike="noStrike" spc="-1">
              <a:solidFill>
                <a:srgbClr val="000000"/>
              </a:solidFill>
              <a:latin typeface="Arial"/>
            </a:endParaRPr>
          </a:p>
        </p:txBody>
      </p:sp>
      <p:sp>
        <p:nvSpPr>
          <p:cNvPr id="2329" name="Text 10"/>
          <p:cNvSpPr/>
          <p:nvPr/>
        </p:nvSpPr>
        <p:spPr>
          <a:xfrm>
            <a:off x="731520" y="960120"/>
            <a:ext cx="36572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strike="noStrike" spc="-1">
                <a:solidFill>
                  <a:srgbClr val="0E41AA"/>
                </a:solidFill>
                <a:latin typeface="Arial"/>
                <a:ea typeface="Arial"/>
              </a:rPr>
              <a:t>Read the scenario completely</a:t>
            </a:r>
            <a:endParaRPr lang="en-US" sz="1100" b="0" strike="noStrike" spc="-1">
              <a:solidFill>
                <a:srgbClr val="000000"/>
              </a:solidFill>
              <a:latin typeface="Arial"/>
            </a:endParaRPr>
          </a:p>
        </p:txBody>
      </p:sp>
      <p:sp>
        <p:nvSpPr>
          <p:cNvPr id="2330" name="Text 11"/>
          <p:cNvSpPr/>
          <p:nvPr/>
        </p:nvSpPr>
        <p:spPr>
          <a:xfrm>
            <a:off x="731520" y="1280160"/>
            <a:ext cx="384012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strike="noStrike" spc="-1">
                <a:solidFill>
                  <a:srgbClr val="333333"/>
                </a:solidFill>
                <a:latin typeface="Calibri"/>
                <a:ea typeface="Calibri"/>
              </a:rPr>
              <a:t>Beta exam questions are scenario-based. The scenario contains clues. Read every word before looking at answers. The scenario setup is often more important than the question itself.</a:t>
            </a:r>
            <a:endParaRPr lang="en-US" sz="850" b="0" strike="noStrike" spc="-1">
              <a:solidFill>
                <a:srgbClr val="000000"/>
              </a:solidFill>
              <a:latin typeface="Arial"/>
            </a:endParaRPr>
          </a:p>
        </p:txBody>
      </p:sp>
      <p:sp>
        <p:nvSpPr>
          <p:cNvPr id="2331" name="Shape 12"/>
          <p:cNvSpPr/>
          <p:nvPr/>
        </p:nvSpPr>
        <p:spPr>
          <a:xfrm>
            <a:off x="4663440" y="960120"/>
            <a:ext cx="319680" cy="31968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332" name="Text 13"/>
          <p:cNvSpPr/>
          <p:nvPr/>
        </p:nvSpPr>
        <p:spPr>
          <a:xfrm>
            <a:off x="4663440" y="960120"/>
            <a:ext cx="31968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FFFFFF"/>
                </a:solidFill>
                <a:latin typeface="Arial"/>
                <a:ea typeface="Arial"/>
              </a:rPr>
              <a:t>2</a:t>
            </a:r>
            <a:endParaRPr lang="en-US" sz="1400" b="0" strike="noStrike" spc="-1">
              <a:solidFill>
                <a:srgbClr val="000000"/>
              </a:solidFill>
              <a:latin typeface="Arial"/>
            </a:endParaRPr>
          </a:p>
        </p:txBody>
      </p:sp>
      <p:sp>
        <p:nvSpPr>
          <p:cNvPr id="2333" name="Text 14"/>
          <p:cNvSpPr/>
          <p:nvPr/>
        </p:nvSpPr>
        <p:spPr>
          <a:xfrm>
            <a:off x="5029200" y="960120"/>
            <a:ext cx="36572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strike="noStrike" spc="-1">
                <a:solidFill>
                  <a:srgbClr val="61228B"/>
                </a:solidFill>
                <a:latin typeface="Arial"/>
                <a:ea typeface="Arial"/>
              </a:rPr>
              <a:t>Eliminate wrong answers first</a:t>
            </a:r>
            <a:endParaRPr lang="en-US" sz="1100" b="0" strike="noStrike" spc="-1">
              <a:solidFill>
                <a:srgbClr val="000000"/>
              </a:solidFill>
              <a:latin typeface="Arial"/>
            </a:endParaRPr>
          </a:p>
        </p:txBody>
      </p:sp>
      <p:sp>
        <p:nvSpPr>
          <p:cNvPr id="2334" name="Text 15"/>
          <p:cNvSpPr/>
          <p:nvPr/>
        </p:nvSpPr>
        <p:spPr>
          <a:xfrm>
            <a:off x="5029200" y="1280160"/>
            <a:ext cx="384012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strike="noStrike" spc="-1">
                <a:solidFill>
                  <a:srgbClr val="333333"/>
                </a:solidFill>
                <a:latin typeface="Calibri"/>
                <a:ea typeface="Calibri"/>
              </a:rPr>
              <a:t>Most questions have one obviously wrong answer. Remove it. Then evaluate remaining options. If two answers seem correct, re-read the scenario for the distinguishing detail.</a:t>
            </a:r>
            <a:endParaRPr lang="en-US" sz="850" b="0" strike="noStrike" spc="-1">
              <a:solidFill>
                <a:srgbClr val="000000"/>
              </a:solidFill>
              <a:latin typeface="Arial"/>
            </a:endParaRPr>
          </a:p>
        </p:txBody>
      </p:sp>
      <p:sp>
        <p:nvSpPr>
          <p:cNvPr id="2335" name="Shape 16"/>
          <p:cNvSpPr/>
          <p:nvPr/>
        </p:nvSpPr>
        <p:spPr>
          <a:xfrm>
            <a:off x="365760" y="2103120"/>
            <a:ext cx="319680" cy="319680"/>
          </a:xfrm>
          <a:prstGeom prst="rect">
            <a:avLst/>
          </a:prstGeom>
          <a:solidFill>
            <a:srgbClr val="00963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336" name="Text 17"/>
          <p:cNvSpPr/>
          <p:nvPr/>
        </p:nvSpPr>
        <p:spPr>
          <a:xfrm>
            <a:off x="365760" y="2103120"/>
            <a:ext cx="31968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FFFFFF"/>
                </a:solidFill>
                <a:latin typeface="Arial"/>
                <a:ea typeface="Arial"/>
              </a:rPr>
              <a:t>3</a:t>
            </a:r>
            <a:endParaRPr lang="en-US" sz="1400" b="0" strike="noStrike" spc="-1">
              <a:solidFill>
                <a:srgbClr val="000000"/>
              </a:solidFill>
              <a:latin typeface="Arial"/>
            </a:endParaRPr>
          </a:p>
        </p:txBody>
      </p:sp>
      <p:sp>
        <p:nvSpPr>
          <p:cNvPr id="2337" name="Text 18"/>
          <p:cNvSpPr/>
          <p:nvPr/>
        </p:nvSpPr>
        <p:spPr>
          <a:xfrm>
            <a:off x="731520" y="2103120"/>
            <a:ext cx="36572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strike="noStrike" spc="-1">
                <a:solidFill>
                  <a:srgbClr val="009639"/>
                </a:solidFill>
                <a:latin typeface="Arial"/>
                <a:ea typeface="Arial"/>
              </a:rPr>
              <a:t>Know your TMSH</a:t>
            </a:r>
            <a:endParaRPr lang="en-US" sz="1100" b="0" strike="noStrike" spc="-1">
              <a:solidFill>
                <a:srgbClr val="000000"/>
              </a:solidFill>
              <a:latin typeface="Arial"/>
            </a:endParaRPr>
          </a:p>
        </p:txBody>
      </p:sp>
      <p:sp>
        <p:nvSpPr>
          <p:cNvPr id="2338" name="Text 19"/>
          <p:cNvSpPr/>
          <p:nvPr/>
        </p:nvSpPr>
        <p:spPr>
          <a:xfrm>
            <a:off x="731520" y="2423160"/>
            <a:ext cx="384012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strike="noStrike" spc="-1">
                <a:solidFill>
                  <a:srgbClr val="333333"/>
                </a:solidFill>
                <a:latin typeface="Calibri"/>
                <a:ea typeface="Calibri"/>
              </a:rPr>
              <a:t>Many questions test TMSH command syntax. Know: show vs list (show = runtime stats, list = config). Know the key commands: show cm sync-status, show ltm virtual, show sys performance.</a:t>
            </a:r>
            <a:endParaRPr lang="en-US" sz="850" b="0" strike="noStrike" spc="-1">
              <a:solidFill>
                <a:srgbClr val="000000"/>
              </a:solidFill>
              <a:latin typeface="Arial"/>
            </a:endParaRPr>
          </a:p>
        </p:txBody>
      </p:sp>
      <p:sp>
        <p:nvSpPr>
          <p:cNvPr id="2339" name="Shape 20"/>
          <p:cNvSpPr/>
          <p:nvPr/>
        </p:nvSpPr>
        <p:spPr>
          <a:xfrm>
            <a:off x="4663440" y="2103120"/>
            <a:ext cx="319680" cy="31968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340" name="Text 21"/>
          <p:cNvSpPr/>
          <p:nvPr/>
        </p:nvSpPr>
        <p:spPr>
          <a:xfrm>
            <a:off x="4663440" y="2103120"/>
            <a:ext cx="31968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FFFFFF"/>
                </a:solidFill>
                <a:latin typeface="Arial"/>
                <a:ea typeface="Arial"/>
              </a:rPr>
              <a:t>4</a:t>
            </a:r>
            <a:endParaRPr lang="en-US" sz="1400" b="0" strike="noStrike" spc="-1">
              <a:solidFill>
                <a:srgbClr val="000000"/>
              </a:solidFill>
              <a:latin typeface="Arial"/>
            </a:endParaRPr>
          </a:p>
        </p:txBody>
      </p:sp>
      <p:sp>
        <p:nvSpPr>
          <p:cNvPr id="2341" name="Text 22"/>
          <p:cNvSpPr/>
          <p:nvPr/>
        </p:nvSpPr>
        <p:spPr>
          <a:xfrm>
            <a:off x="5029200" y="2103120"/>
            <a:ext cx="36572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strike="noStrike" spc="-1">
                <a:solidFill>
                  <a:srgbClr val="F29A36"/>
                </a:solidFill>
                <a:latin typeface="Arial"/>
                <a:ea typeface="Arial"/>
              </a:rPr>
              <a:t>Packet captures: follow the flow</a:t>
            </a:r>
            <a:endParaRPr lang="en-US" sz="1100" b="0" strike="noStrike" spc="-1">
              <a:solidFill>
                <a:srgbClr val="000000"/>
              </a:solidFill>
              <a:latin typeface="Arial"/>
            </a:endParaRPr>
          </a:p>
        </p:txBody>
      </p:sp>
      <p:sp>
        <p:nvSpPr>
          <p:cNvPr id="2342" name="Text 23"/>
          <p:cNvSpPr/>
          <p:nvPr/>
        </p:nvSpPr>
        <p:spPr>
          <a:xfrm>
            <a:off x="5029200" y="2423160"/>
            <a:ext cx="384012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strike="noStrike" spc="-1">
                <a:solidFill>
                  <a:srgbClr val="333333"/>
                </a:solidFill>
                <a:latin typeface="Calibri"/>
                <a:ea typeface="Calibri"/>
              </a:rPr>
              <a:t>For tcpdump questions, trace the packet path: client → client VLAN → BIG-IP → server VLAN → server. Know what changes at each hop (source IP with SNAT, headers with profiles, encryption with SSL).</a:t>
            </a:r>
            <a:endParaRPr lang="en-US" sz="850" b="0" strike="noStrike" spc="-1">
              <a:solidFill>
                <a:srgbClr val="000000"/>
              </a:solidFill>
              <a:latin typeface="Arial"/>
            </a:endParaRPr>
          </a:p>
        </p:txBody>
      </p:sp>
      <p:sp>
        <p:nvSpPr>
          <p:cNvPr id="2343" name="Shape 24"/>
          <p:cNvSpPr/>
          <p:nvPr/>
        </p:nvSpPr>
        <p:spPr>
          <a:xfrm>
            <a:off x="365760" y="3246120"/>
            <a:ext cx="319680" cy="31968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344" name="Text 25"/>
          <p:cNvSpPr/>
          <p:nvPr/>
        </p:nvSpPr>
        <p:spPr>
          <a:xfrm>
            <a:off x="365760" y="3246120"/>
            <a:ext cx="31968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FFFFFF"/>
                </a:solidFill>
                <a:latin typeface="Arial"/>
                <a:ea typeface="Arial"/>
              </a:rPr>
              <a:t>5</a:t>
            </a:r>
            <a:endParaRPr lang="en-US" sz="1400" b="0" strike="noStrike" spc="-1">
              <a:solidFill>
                <a:srgbClr val="000000"/>
              </a:solidFill>
              <a:latin typeface="Arial"/>
            </a:endParaRPr>
          </a:p>
        </p:txBody>
      </p:sp>
      <p:sp>
        <p:nvSpPr>
          <p:cNvPr id="2345" name="Text 26"/>
          <p:cNvSpPr/>
          <p:nvPr/>
        </p:nvSpPr>
        <p:spPr>
          <a:xfrm>
            <a:off x="731520" y="3246120"/>
            <a:ext cx="36572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strike="noStrike" spc="-1">
                <a:solidFill>
                  <a:srgbClr val="E4002B"/>
                </a:solidFill>
                <a:latin typeface="Arial"/>
                <a:ea typeface="Arial"/>
              </a:rPr>
              <a:t>Log messages: read the error code</a:t>
            </a:r>
            <a:endParaRPr lang="en-US" sz="1100" b="0" strike="noStrike" spc="-1">
              <a:solidFill>
                <a:srgbClr val="000000"/>
              </a:solidFill>
              <a:latin typeface="Arial"/>
            </a:endParaRPr>
          </a:p>
        </p:txBody>
      </p:sp>
      <p:sp>
        <p:nvSpPr>
          <p:cNvPr id="2346" name="Text 27"/>
          <p:cNvSpPr/>
          <p:nvPr/>
        </p:nvSpPr>
        <p:spPr>
          <a:xfrm>
            <a:off x="731520" y="3566160"/>
            <a:ext cx="384012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strike="noStrike" spc="-1">
                <a:solidFill>
                  <a:srgbClr val="333333"/>
                </a:solidFill>
                <a:latin typeface="Calibri"/>
                <a:ea typeface="Calibri"/>
              </a:rPr>
              <a:t>Error codes tell you the source: 01=TMM, 07=MCP, 0c=SOD, 26=SSL. The severity after the second colon: :3:=Error, :4:=Warning, :5:=Notice. This narrows the problem immediately.</a:t>
            </a:r>
            <a:endParaRPr lang="en-US" sz="850" b="0" strike="noStrike" spc="-1">
              <a:solidFill>
                <a:srgbClr val="000000"/>
              </a:solidFill>
              <a:latin typeface="Arial"/>
            </a:endParaRPr>
          </a:p>
        </p:txBody>
      </p:sp>
      <p:sp>
        <p:nvSpPr>
          <p:cNvPr id="2347" name="Shape 28"/>
          <p:cNvSpPr/>
          <p:nvPr/>
        </p:nvSpPr>
        <p:spPr>
          <a:xfrm>
            <a:off x="4663440" y="3246120"/>
            <a:ext cx="319680" cy="31968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348" name="Text 29"/>
          <p:cNvSpPr/>
          <p:nvPr/>
        </p:nvSpPr>
        <p:spPr>
          <a:xfrm>
            <a:off x="4663440" y="3246120"/>
            <a:ext cx="31968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FFFFFF"/>
                </a:solidFill>
                <a:latin typeface="Arial"/>
                <a:ea typeface="Arial"/>
              </a:rPr>
              <a:t>6</a:t>
            </a:r>
            <a:endParaRPr lang="en-US" sz="1400" b="0" strike="noStrike" spc="-1">
              <a:solidFill>
                <a:srgbClr val="000000"/>
              </a:solidFill>
              <a:latin typeface="Arial"/>
            </a:endParaRPr>
          </a:p>
        </p:txBody>
      </p:sp>
      <p:sp>
        <p:nvSpPr>
          <p:cNvPr id="2349" name="Text 30"/>
          <p:cNvSpPr/>
          <p:nvPr/>
        </p:nvSpPr>
        <p:spPr>
          <a:xfrm>
            <a:off x="5029200" y="3246120"/>
            <a:ext cx="36572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strike="noStrike" spc="-1">
                <a:solidFill>
                  <a:srgbClr val="AB2782"/>
                </a:solidFill>
                <a:latin typeface="Arial"/>
                <a:ea typeface="Arial"/>
              </a:rPr>
              <a:t>HA questions: know the order</a:t>
            </a:r>
            <a:endParaRPr lang="en-US" sz="1100" b="0" strike="noStrike" spc="-1">
              <a:solidFill>
                <a:srgbClr val="000000"/>
              </a:solidFill>
              <a:latin typeface="Arial"/>
            </a:endParaRPr>
          </a:p>
        </p:txBody>
      </p:sp>
      <p:sp>
        <p:nvSpPr>
          <p:cNvPr id="2350" name="Text 31"/>
          <p:cNvSpPr/>
          <p:nvPr/>
        </p:nvSpPr>
        <p:spPr>
          <a:xfrm>
            <a:off x="5029200" y="3566160"/>
            <a:ext cx="384012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strike="noStrike" spc="-1">
                <a:solidFill>
                  <a:srgbClr val="333333"/>
                </a:solidFill>
                <a:latin typeface="Calibri"/>
                <a:ea typeface="Calibri"/>
              </a:rPr>
              <a:t>DSC build order: Prepare → Device settings → Trust → Group → Sync. Traffic groups hold floating objects. HA groups score health. Failsafe monitors VLANs/gateways. These are distinct mechanisms.</a:t>
            </a:r>
            <a:endParaRPr lang="en-US" sz="850" b="0" strike="noStrike" spc="-1">
              <a:solidFill>
                <a:srgbClr val="000000"/>
              </a:solidFill>
              <a:latin typeface="Arial"/>
            </a:endParaRPr>
          </a:p>
        </p:txBody>
      </p:sp>
      <p:sp>
        <p:nvSpPr>
          <p:cNvPr id="2351" name="Shape 32"/>
          <p:cNvSpPr/>
          <p:nvPr/>
        </p:nvSpPr>
        <p:spPr>
          <a:xfrm>
            <a:off x="365760" y="4434840"/>
            <a:ext cx="8412120" cy="182520"/>
          </a:xfrm>
          <a:prstGeom prst="rect">
            <a:avLst/>
          </a:prstGeom>
          <a:solidFill>
            <a:srgbClr val="E8F0F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352" name="Text 33"/>
          <p:cNvSpPr/>
          <p:nvPr/>
        </p:nvSpPr>
        <p:spPr>
          <a:xfrm>
            <a:off x="548640" y="4434840"/>
            <a:ext cx="804636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1" strike="noStrike" spc="-1">
                <a:solidFill>
                  <a:srgbClr val="0E41AA"/>
                </a:solidFill>
                <a:latin typeface="Calibri"/>
                <a:ea typeface="Calibri"/>
              </a:rPr>
              <a:t>Time management: 6 exams, each ~60 min. Flag hard questions and come back. Don't spend 5 minutes on one question.</a:t>
            </a:r>
            <a:endParaRPr lang="en-US" sz="800" b="0" strike="noStrike" spc="-1">
              <a:solidFill>
                <a:srgbClr val="000000"/>
              </a:solidFill>
              <a:latin typeface="Arial"/>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53"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354"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355"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356"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357"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358"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120    © 2026 F5</a:t>
            </a:r>
            <a:endParaRPr lang="en-US" sz="800" b="0" strike="noStrike" spc="-1">
              <a:solidFill>
                <a:srgbClr val="000000"/>
              </a:solidFill>
              <a:latin typeface="Arial"/>
            </a:endParaRPr>
          </a:p>
        </p:txBody>
      </p:sp>
      <p:pic>
        <p:nvPicPr>
          <p:cNvPr id="2359" name="Image 0" descr="preencoded.png"/>
          <p:cNvPicPr/>
          <p:nvPr/>
        </p:nvPicPr>
        <p:blipFill>
          <a:blip r:embed="rId3"/>
          <a:stretch/>
        </p:blipFill>
        <p:spPr>
          <a:xfrm>
            <a:off x="8458200" y="4663440"/>
            <a:ext cx="383760" cy="383760"/>
          </a:xfrm>
          <a:prstGeom prst="rect">
            <a:avLst/>
          </a:prstGeom>
          <a:ln w="0">
            <a:noFill/>
          </a:ln>
        </p:spPr>
      </p:pic>
      <p:sp>
        <p:nvSpPr>
          <p:cNvPr id="2360" name="Text 6"/>
          <p:cNvSpPr/>
          <p:nvPr/>
        </p:nvSpPr>
        <p:spPr>
          <a:xfrm>
            <a:off x="457200" y="274320"/>
            <a:ext cx="82292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Comprehensive review — Exams 1–3</a:t>
            </a:r>
            <a:endParaRPr lang="en-US" sz="2800" b="0" strike="noStrike" spc="-1">
              <a:solidFill>
                <a:srgbClr val="000000"/>
              </a:solidFill>
              <a:latin typeface="Arial"/>
            </a:endParaRPr>
          </a:p>
        </p:txBody>
      </p:sp>
      <p:sp>
        <p:nvSpPr>
          <p:cNvPr id="2361" name="Shape 7"/>
          <p:cNvSpPr/>
          <p:nvPr/>
        </p:nvSpPr>
        <p:spPr>
          <a:xfrm>
            <a:off x="365760" y="868680"/>
            <a:ext cx="319680" cy="22824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362" name="Text 8"/>
          <p:cNvSpPr/>
          <p:nvPr/>
        </p:nvSpPr>
        <p:spPr>
          <a:xfrm>
            <a:off x="365760" y="868680"/>
            <a:ext cx="3196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strike="noStrike" spc="-1">
                <a:solidFill>
                  <a:srgbClr val="FFFFFF"/>
                </a:solidFill>
                <a:latin typeface="Arial"/>
                <a:ea typeface="Arial"/>
              </a:rPr>
              <a:t>1</a:t>
            </a:r>
            <a:endParaRPr lang="en-US" sz="1000" b="0" strike="noStrike" spc="-1">
              <a:solidFill>
                <a:srgbClr val="000000"/>
              </a:solidFill>
              <a:latin typeface="Arial"/>
            </a:endParaRPr>
          </a:p>
        </p:txBody>
      </p:sp>
      <p:sp>
        <p:nvSpPr>
          <p:cNvPr id="2363" name="Shape 9"/>
          <p:cNvSpPr/>
          <p:nvPr/>
        </p:nvSpPr>
        <p:spPr>
          <a:xfrm>
            <a:off x="731520" y="868680"/>
            <a:ext cx="365400" cy="22824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364" name="Text 10"/>
          <p:cNvSpPr/>
          <p:nvPr/>
        </p:nvSpPr>
        <p:spPr>
          <a:xfrm>
            <a:off x="731520" y="868680"/>
            <a:ext cx="3654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700" b="1" strike="noStrike" spc="-1">
                <a:solidFill>
                  <a:srgbClr val="0E41AA"/>
                </a:solidFill>
                <a:latin typeface="Calibri"/>
              </a:rPr>
              <a:t>1-B</a:t>
            </a:r>
            <a:endParaRPr lang="en-US" sz="700" b="0" strike="noStrike" spc="-1">
              <a:solidFill>
                <a:srgbClr val="000000"/>
              </a:solidFill>
              <a:latin typeface="Arial"/>
            </a:endParaRPr>
          </a:p>
        </p:txBody>
      </p:sp>
      <p:sp>
        <p:nvSpPr>
          <p:cNvPr id="2365" name="Text 11"/>
          <p:cNvSpPr/>
          <p:nvPr/>
        </p:nvSpPr>
        <p:spPr>
          <a:xfrm>
            <a:off x="1188720" y="868680"/>
            <a:ext cx="75891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strike="noStrike" spc="-1">
                <a:solidFill>
                  <a:srgbClr val="333333"/>
                </a:solidFill>
                <a:latin typeface="Calibri"/>
                <a:ea typeface="Calibri"/>
              </a:rPr>
              <a:t>One-arm deployment. SNAT is not configured. Client connects to VIP. Server responds. What happens and why?</a:t>
            </a:r>
            <a:endParaRPr lang="en-US" sz="900" b="0" strike="noStrike" spc="-1">
              <a:solidFill>
                <a:srgbClr val="000000"/>
              </a:solidFill>
              <a:latin typeface="Arial"/>
            </a:endParaRPr>
          </a:p>
        </p:txBody>
      </p:sp>
      <p:sp>
        <p:nvSpPr>
          <p:cNvPr id="2366" name="Text 12"/>
          <p:cNvSpPr/>
          <p:nvPr/>
        </p:nvSpPr>
        <p:spPr>
          <a:xfrm>
            <a:off x="1188720" y="1188720"/>
            <a:ext cx="75891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1228B"/>
                </a:solidFill>
                <a:latin typeface="Calibri"/>
                <a:ea typeface="Calibri"/>
              </a:rPr>
              <a:t>Server responds directly to client via L2 (same subnet), bypassing BIG-IP. Client rejects response — different source MAC. Fix: enable SNAT.</a:t>
            </a:r>
            <a:endParaRPr lang="en-US" sz="800" b="0" strike="noStrike" spc="-1">
              <a:solidFill>
                <a:srgbClr val="000000"/>
              </a:solidFill>
              <a:latin typeface="Arial"/>
            </a:endParaRPr>
          </a:p>
        </p:txBody>
      </p:sp>
      <p:sp>
        <p:nvSpPr>
          <p:cNvPr id="2367" name="Shape 13"/>
          <p:cNvSpPr/>
          <p:nvPr/>
        </p:nvSpPr>
        <p:spPr>
          <a:xfrm>
            <a:off x="365760" y="1645920"/>
            <a:ext cx="319680" cy="22824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368" name="Text 14"/>
          <p:cNvSpPr/>
          <p:nvPr/>
        </p:nvSpPr>
        <p:spPr>
          <a:xfrm>
            <a:off x="365760" y="1645920"/>
            <a:ext cx="3196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strike="noStrike" spc="-1">
                <a:solidFill>
                  <a:srgbClr val="FFFFFF"/>
                </a:solidFill>
                <a:latin typeface="Arial"/>
                <a:ea typeface="Arial"/>
              </a:rPr>
              <a:t>2</a:t>
            </a:r>
            <a:endParaRPr lang="en-US" sz="1000" b="0" strike="noStrike" spc="-1">
              <a:solidFill>
                <a:srgbClr val="000000"/>
              </a:solidFill>
              <a:latin typeface="Arial"/>
            </a:endParaRPr>
          </a:p>
        </p:txBody>
      </p:sp>
      <p:sp>
        <p:nvSpPr>
          <p:cNvPr id="2369" name="Shape 15"/>
          <p:cNvSpPr/>
          <p:nvPr/>
        </p:nvSpPr>
        <p:spPr>
          <a:xfrm>
            <a:off x="731520" y="1645920"/>
            <a:ext cx="365400" cy="22824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370" name="Text 16"/>
          <p:cNvSpPr/>
          <p:nvPr/>
        </p:nvSpPr>
        <p:spPr>
          <a:xfrm>
            <a:off x="731520" y="1645920"/>
            <a:ext cx="3654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700" b="1" strike="noStrike" spc="-1">
                <a:solidFill>
                  <a:srgbClr val="0E41AA"/>
                </a:solidFill>
                <a:latin typeface="Calibri"/>
              </a:rPr>
              <a:t>2-B</a:t>
            </a:r>
            <a:endParaRPr lang="en-US" sz="700" b="0" strike="noStrike" spc="-1">
              <a:solidFill>
                <a:srgbClr val="000000"/>
              </a:solidFill>
              <a:latin typeface="Arial"/>
            </a:endParaRPr>
          </a:p>
        </p:txBody>
      </p:sp>
      <p:sp>
        <p:nvSpPr>
          <p:cNvPr id="2371" name="Text 17"/>
          <p:cNvSpPr/>
          <p:nvPr/>
        </p:nvSpPr>
        <p:spPr>
          <a:xfrm>
            <a:off x="1188720" y="1645920"/>
            <a:ext cx="75891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strike="noStrike" spc="-1">
                <a:solidFill>
                  <a:srgbClr val="333333"/>
                </a:solidFill>
                <a:latin typeface="Calibri"/>
                <a:ea typeface="Calibri"/>
              </a:rPr>
              <a:t>Two VS: 10.1.10.100:80 (Standard) and 10.1.10.100:* (Performance L4). Client sends to 10.1.10.100:80. Which VS processes?</a:t>
            </a:r>
            <a:endParaRPr lang="en-US" sz="900" b="0" strike="noStrike" spc="-1">
              <a:solidFill>
                <a:srgbClr val="000000"/>
              </a:solidFill>
              <a:latin typeface="Arial"/>
            </a:endParaRPr>
          </a:p>
        </p:txBody>
      </p:sp>
      <p:sp>
        <p:nvSpPr>
          <p:cNvPr id="2372" name="Text 18"/>
          <p:cNvSpPr/>
          <p:nvPr/>
        </p:nvSpPr>
        <p:spPr>
          <a:xfrm>
            <a:off x="1188720" y="1965960"/>
            <a:ext cx="75891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1228B"/>
                </a:solidFill>
                <a:latin typeface="Calibri"/>
                <a:ea typeface="Calibri"/>
              </a:rPr>
              <a:t>10.1.10.100:80 (more specific destination port wins over wildcard). Specificity: addr:port &gt; addr:* &gt; net:port &gt; net:*</a:t>
            </a:r>
            <a:endParaRPr lang="en-US" sz="800" b="0" strike="noStrike" spc="-1">
              <a:solidFill>
                <a:srgbClr val="000000"/>
              </a:solidFill>
              <a:latin typeface="Arial"/>
            </a:endParaRPr>
          </a:p>
        </p:txBody>
      </p:sp>
      <p:sp>
        <p:nvSpPr>
          <p:cNvPr id="2373" name="Shape 19"/>
          <p:cNvSpPr/>
          <p:nvPr/>
        </p:nvSpPr>
        <p:spPr>
          <a:xfrm>
            <a:off x="365760" y="2423160"/>
            <a:ext cx="319680" cy="22824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374" name="Text 20"/>
          <p:cNvSpPr/>
          <p:nvPr/>
        </p:nvSpPr>
        <p:spPr>
          <a:xfrm>
            <a:off x="365760" y="2423160"/>
            <a:ext cx="3196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strike="noStrike" spc="-1">
                <a:solidFill>
                  <a:srgbClr val="FFFFFF"/>
                </a:solidFill>
                <a:latin typeface="Arial"/>
                <a:ea typeface="Arial"/>
              </a:rPr>
              <a:t>3</a:t>
            </a:r>
            <a:endParaRPr lang="en-US" sz="1000" b="0" strike="noStrike" spc="-1">
              <a:solidFill>
                <a:srgbClr val="000000"/>
              </a:solidFill>
              <a:latin typeface="Arial"/>
            </a:endParaRPr>
          </a:p>
        </p:txBody>
      </p:sp>
      <p:sp>
        <p:nvSpPr>
          <p:cNvPr id="2375" name="Shape 21"/>
          <p:cNvSpPr/>
          <p:nvPr/>
        </p:nvSpPr>
        <p:spPr>
          <a:xfrm>
            <a:off x="731520" y="2423160"/>
            <a:ext cx="365400" cy="22824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376" name="Text 22"/>
          <p:cNvSpPr/>
          <p:nvPr/>
        </p:nvSpPr>
        <p:spPr>
          <a:xfrm>
            <a:off x="731520" y="2423160"/>
            <a:ext cx="3654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700" b="1" strike="noStrike" spc="-1">
                <a:solidFill>
                  <a:srgbClr val="0E41AA"/>
                </a:solidFill>
                <a:latin typeface="Calibri"/>
              </a:rPr>
              <a:t>2-B</a:t>
            </a:r>
            <a:endParaRPr lang="en-US" sz="700" b="0" strike="noStrike" spc="-1">
              <a:solidFill>
                <a:srgbClr val="000000"/>
              </a:solidFill>
              <a:latin typeface="Arial"/>
            </a:endParaRPr>
          </a:p>
        </p:txBody>
      </p:sp>
      <p:sp>
        <p:nvSpPr>
          <p:cNvPr id="2377" name="Text 23"/>
          <p:cNvSpPr/>
          <p:nvPr/>
        </p:nvSpPr>
        <p:spPr>
          <a:xfrm>
            <a:off x="1188720" y="2423160"/>
            <a:ext cx="75891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strike="noStrike" spc="-1">
                <a:solidFill>
                  <a:srgbClr val="333333"/>
                </a:solidFill>
                <a:latin typeface="Calibri"/>
                <a:ea typeface="Calibri"/>
              </a:rPr>
              <a:t>Pool has Round Robin, cookie persistence, and a member is Force Offline. New client with no cookie arrives. What happens?</a:t>
            </a:r>
            <a:endParaRPr lang="en-US" sz="900" b="0" strike="noStrike" spc="-1">
              <a:solidFill>
                <a:srgbClr val="000000"/>
              </a:solidFill>
              <a:latin typeface="Arial"/>
            </a:endParaRPr>
          </a:p>
        </p:txBody>
      </p:sp>
      <p:sp>
        <p:nvSpPr>
          <p:cNvPr id="2378" name="Text 24"/>
          <p:cNvSpPr/>
          <p:nvPr/>
        </p:nvSpPr>
        <p:spPr>
          <a:xfrm>
            <a:off x="1188720" y="2743200"/>
            <a:ext cx="75891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1228B"/>
                </a:solidFill>
                <a:latin typeface="Calibri"/>
                <a:ea typeface="Calibri"/>
              </a:rPr>
              <a:t>Force Offline: no new connections. Member skipped by LB. Existing persisted clients CAN still reach it. New client gets next available member via RR.</a:t>
            </a:r>
            <a:endParaRPr lang="en-US" sz="800" b="0" strike="noStrike" spc="-1">
              <a:solidFill>
                <a:srgbClr val="000000"/>
              </a:solidFill>
              <a:latin typeface="Arial"/>
            </a:endParaRPr>
          </a:p>
        </p:txBody>
      </p:sp>
      <p:sp>
        <p:nvSpPr>
          <p:cNvPr id="2379" name="Shape 25"/>
          <p:cNvSpPr/>
          <p:nvPr/>
        </p:nvSpPr>
        <p:spPr>
          <a:xfrm>
            <a:off x="365760" y="3200400"/>
            <a:ext cx="319680" cy="22824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380" name="Text 26"/>
          <p:cNvSpPr/>
          <p:nvPr/>
        </p:nvSpPr>
        <p:spPr>
          <a:xfrm>
            <a:off x="365760" y="3200400"/>
            <a:ext cx="3196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strike="noStrike" spc="-1">
                <a:solidFill>
                  <a:srgbClr val="FFFFFF"/>
                </a:solidFill>
                <a:latin typeface="Arial"/>
                <a:ea typeface="Arial"/>
              </a:rPr>
              <a:t>4</a:t>
            </a:r>
            <a:endParaRPr lang="en-US" sz="1000" b="0" strike="noStrike" spc="-1">
              <a:solidFill>
                <a:srgbClr val="000000"/>
              </a:solidFill>
              <a:latin typeface="Arial"/>
            </a:endParaRPr>
          </a:p>
        </p:txBody>
      </p:sp>
      <p:sp>
        <p:nvSpPr>
          <p:cNvPr id="2381" name="Shape 27"/>
          <p:cNvSpPr/>
          <p:nvPr/>
        </p:nvSpPr>
        <p:spPr>
          <a:xfrm>
            <a:off x="731520" y="3200400"/>
            <a:ext cx="365400" cy="22824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382" name="Text 28"/>
          <p:cNvSpPr/>
          <p:nvPr/>
        </p:nvSpPr>
        <p:spPr>
          <a:xfrm>
            <a:off x="731520" y="3200400"/>
            <a:ext cx="3654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700" b="1" strike="noStrike" spc="-1">
                <a:solidFill>
                  <a:srgbClr val="0E41AA"/>
                </a:solidFill>
                <a:latin typeface="Calibri"/>
              </a:rPr>
              <a:t>3-B</a:t>
            </a:r>
            <a:endParaRPr lang="en-US" sz="700" b="0" strike="noStrike" spc="-1">
              <a:solidFill>
                <a:srgbClr val="000000"/>
              </a:solidFill>
              <a:latin typeface="Arial"/>
            </a:endParaRPr>
          </a:p>
        </p:txBody>
      </p:sp>
      <p:sp>
        <p:nvSpPr>
          <p:cNvPr id="2383" name="Text 29"/>
          <p:cNvSpPr/>
          <p:nvPr/>
        </p:nvSpPr>
        <p:spPr>
          <a:xfrm>
            <a:off x="1188720" y="3200400"/>
            <a:ext cx="75891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strike="noStrike" spc="-1">
                <a:solidFill>
                  <a:srgbClr val="333333"/>
                </a:solidFill>
                <a:latin typeface="Calibri"/>
                <a:ea typeface="Calibri"/>
              </a:rPr>
              <a:t>iRule has 'when HTTP_REQUEST' event but VS has no HTTP profile. What happens?</a:t>
            </a:r>
            <a:endParaRPr lang="en-US" sz="900" b="0" strike="noStrike" spc="-1">
              <a:solidFill>
                <a:srgbClr val="000000"/>
              </a:solidFill>
              <a:latin typeface="Arial"/>
            </a:endParaRPr>
          </a:p>
        </p:txBody>
      </p:sp>
      <p:sp>
        <p:nvSpPr>
          <p:cNvPr id="2384" name="Text 30"/>
          <p:cNvSpPr/>
          <p:nvPr/>
        </p:nvSpPr>
        <p:spPr>
          <a:xfrm>
            <a:off x="1188720" y="3520440"/>
            <a:ext cx="75891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1228B"/>
                </a:solidFill>
                <a:latin typeface="Calibri"/>
                <a:ea typeface="Calibri"/>
              </a:rPr>
              <a:t>iRule never fires. HTTP_REQUEST requires the HTTP profile to parse Layer 7. Without it, BIG-IP treats traffic as L4 only. The event is ignored.</a:t>
            </a:r>
            <a:endParaRPr lang="en-US" sz="800" b="0" strike="noStrike" spc="-1">
              <a:solidFill>
                <a:srgbClr val="000000"/>
              </a:solidFill>
              <a:latin typeface="Arial"/>
            </a:endParaRPr>
          </a:p>
        </p:txBody>
      </p:sp>
      <p:sp>
        <p:nvSpPr>
          <p:cNvPr id="2385" name="Shape 31"/>
          <p:cNvSpPr/>
          <p:nvPr/>
        </p:nvSpPr>
        <p:spPr>
          <a:xfrm>
            <a:off x="365760" y="3977640"/>
            <a:ext cx="319680" cy="22824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386" name="Text 32"/>
          <p:cNvSpPr/>
          <p:nvPr/>
        </p:nvSpPr>
        <p:spPr>
          <a:xfrm>
            <a:off x="365760" y="3977640"/>
            <a:ext cx="3196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strike="noStrike" spc="-1">
                <a:solidFill>
                  <a:srgbClr val="FFFFFF"/>
                </a:solidFill>
                <a:latin typeface="Arial"/>
                <a:ea typeface="Arial"/>
              </a:rPr>
              <a:t>5</a:t>
            </a:r>
            <a:endParaRPr lang="en-US" sz="1000" b="0" strike="noStrike" spc="-1">
              <a:solidFill>
                <a:srgbClr val="000000"/>
              </a:solidFill>
              <a:latin typeface="Arial"/>
            </a:endParaRPr>
          </a:p>
        </p:txBody>
      </p:sp>
      <p:sp>
        <p:nvSpPr>
          <p:cNvPr id="2387" name="Shape 33"/>
          <p:cNvSpPr/>
          <p:nvPr/>
        </p:nvSpPr>
        <p:spPr>
          <a:xfrm>
            <a:off x="731520" y="3977640"/>
            <a:ext cx="365400" cy="22824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388" name="Text 34"/>
          <p:cNvSpPr/>
          <p:nvPr/>
        </p:nvSpPr>
        <p:spPr>
          <a:xfrm>
            <a:off x="731520" y="3977640"/>
            <a:ext cx="3654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700" b="1" strike="noStrike" spc="-1">
                <a:solidFill>
                  <a:srgbClr val="0E41AA"/>
                </a:solidFill>
                <a:latin typeface="Calibri"/>
              </a:rPr>
              <a:t>3-B</a:t>
            </a:r>
            <a:endParaRPr lang="en-US" sz="700" b="0" strike="noStrike" spc="-1">
              <a:solidFill>
                <a:srgbClr val="000000"/>
              </a:solidFill>
              <a:latin typeface="Arial"/>
            </a:endParaRPr>
          </a:p>
        </p:txBody>
      </p:sp>
      <p:sp>
        <p:nvSpPr>
          <p:cNvPr id="2389" name="Text 35"/>
          <p:cNvSpPr/>
          <p:nvPr/>
        </p:nvSpPr>
        <p:spPr>
          <a:xfrm>
            <a:off x="1188720" y="3977640"/>
            <a:ext cx="75891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strike="noStrike" spc="-1">
                <a:solidFill>
                  <a:srgbClr val="333333"/>
                </a:solidFill>
                <a:latin typeface="Calibri"/>
                <a:ea typeface="Calibri"/>
              </a:rPr>
              <a:t>AVR shows server latency at 800ms but client latency at 200ms. Where is the bottleneck?</a:t>
            </a:r>
            <a:endParaRPr lang="en-US" sz="900" b="0" strike="noStrike" spc="-1">
              <a:solidFill>
                <a:srgbClr val="000000"/>
              </a:solidFill>
              <a:latin typeface="Arial"/>
            </a:endParaRPr>
          </a:p>
        </p:txBody>
      </p:sp>
      <p:sp>
        <p:nvSpPr>
          <p:cNvPr id="2390" name="Text 36"/>
          <p:cNvSpPr/>
          <p:nvPr/>
        </p:nvSpPr>
        <p:spPr>
          <a:xfrm>
            <a:off x="1188720" y="4297680"/>
            <a:ext cx="75891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1228B"/>
                </a:solidFill>
                <a:latin typeface="Calibri"/>
                <a:ea typeface="Calibri"/>
              </a:rPr>
              <a:t>Server tier. Server latency (server response time) is 4x client latency. The server is slow to respond. Investigate server-side: database, application code, disk I/O.</a:t>
            </a:r>
            <a:endParaRPr lang="en-US" sz="800" b="0" strike="noStrike" spc="-1">
              <a:solidFill>
                <a:srgbClr val="000000"/>
              </a:solidFill>
              <a:latin typeface="Arial"/>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91"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392"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393"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394"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395"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396"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121    © 2026 F5</a:t>
            </a:r>
            <a:endParaRPr lang="en-US" sz="800" b="0" strike="noStrike" spc="-1">
              <a:solidFill>
                <a:srgbClr val="000000"/>
              </a:solidFill>
              <a:latin typeface="Arial"/>
            </a:endParaRPr>
          </a:p>
        </p:txBody>
      </p:sp>
      <p:pic>
        <p:nvPicPr>
          <p:cNvPr id="2397" name="Image 0" descr="preencoded.png"/>
          <p:cNvPicPr/>
          <p:nvPr/>
        </p:nvPicPr>
        <p:blipFill>
          <a:blip r:embed="rId3"/>
          <a:stretch/>
        </p:blipFill>
        <p:spPr>
          <a:xfrm>
            <a:off x="8458200" y="4663440"/>
            <a:ext cx="383760" cy="383760"/>
          </a:xfrm>
          <a:prstGeom prst="rect">
            <a:avLst/>
          </a:prstGeom>
          <a:ln w="0">
            <a:noFill/>
          </a:ln>
        </p:spPr>
      </p:pic>
      <p:sp>
        <p:nvSpPr>
          <p:cNvPr id="2398" name="Text 6"/>
          <p:cNvSpPr/>
          <p:nvPr/>
        </p:nvSpPr>
        <p:spPr>
          <a:xfrm>
            <a:off x="457200" y="274320"/>
            <a:ext cx="82292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Comprehensive review — Exams 4–6</a:t>
            </a:r>
            <a:endParaRPr lang="en-US" sz="2800" b="0" strike="noStrike" spc="-1">
              <a:solidFill>
                <a:srgbClr val="000000"/>
              </a:solidFill>
              <a:latin typeface="Arial"/>
            </a:endParaRPr>
          </a:p>
        </p:txBody>
      </p:sp>
      <p:sp>
        <p:nvSpPr>
          <p:cNvPr id="2399" name="Shape 7"/>
          <p:cNvSpPr/>
          <p:nvPr/>
        </p:nvSpPr>
        <p:spPr>
          <a:xfrm>
            <a:off x="365760" y="868680"/>
            <a:ext cx="319680" cy="22824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400" name="Text 8"/>
          <p:cNvSpPr/>
          <p:nvPr/>
        </p:nvSpPr>
        <p:spPr>
          <a:xfrm>
            <a:off x="365760" y="868680"/>
            <a:ext cx="3196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strike="noStrike" spc="-1">
                <a:solidFill>
                  <a:srgbClr val="FFFFFF"/>
                </a:solidFill>
                <a:latin typeface="Arial"/>
                <a:ea typeface="Arial"/>
              </a:rPr>
              <a:t>6</a:t>
            </a:r>
            <a:endParaRPr lang="en-US" sz="1000" b="0" strike="noStrike" spc="-1">
              <a:solidFill>
                <a:srgbClr val="000000"/>
              </a:solidFill>
              <a:latin typeface="Arial"/>
            </a:endParaRPr>
          </a:p>
        </p:txBody>
      </p:sp>
      <p:sp>
        <p:nvSpPr>
          <p:cNvPr id="2401" name="Shape 9"/>
          <p:cNvSpPr/>
          <p:nvPr/>
        </p:nvSpPr>
        <p:spPr>
          <a:xfrm>
            <a:off x="731520" y="868680"/>
            <a:ext cx="365400" cy="22824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402" name="Text 10"/>
          <p:cNvSpPr/>
          <p:nvPr/>
        </p:nvSpPr>
        <p:spPr>
          <a:xfrm>
            <a:off x="731520" y="868680"/>
            <a:ext cx="3654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700" b="1" strike="noStrike" spc="-1">
                <a:solidFill>
                  <a:srgbClr val="0E41AA"/>
                </a:solidFill>
                <a:latin typeface="Calibri"/>
              </a:rPr>
              <a:t>4-B</a:t>
            </a:r>
            <a:endParaRPr lang="en-US" sz="700" b="0" strike="noStrike" spc="-1">
              <a:solidFill>
                <a:srgbClr val="000000"/>
              </a:solidFill>
              <a:latin typeface="Arial"/>
            </a:endParaRPr>
          </a:p>
        </p:txBody>
      </p:sp>
      <p:sp>
        <p:nvSpPr>
          <p:cNvPr id="2403" name="Text 11"/>
          <p:cNvSpPr/>
          <p:nvPr/>
        </p:nvSpPr>
        <p:spPr>
          <a:xfrm>
            <a:off x="1188720" y="868680"/>
            <a:ext cx="75891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strike="noStrike" spc="-1">
                <a:solidFill>
                  <a:srgbClr val="333333"/>
                </a:solidFill>
                <a:latin typeface="Calibri"/>
                <a:ea typeface="Calibri"/>
              </a:rPr>
              <a:t>You upgrade the standby device and reboot it. It comes up but does not rejoin the cluster. show cm sync-status shows 'Disconnected'. What do you check?</a:t>
            </a:r>
            <a:endParaRPr lang="en-US" sz="900" b="0" strike="noStrike" spc="-1">
              <a:solidFill>
                <a:srgbClr val="000000"/>
              </a:solidFill>
              <a:latin typeface="Arial"/>
            </a:endParaRPr>
          </a:p>
        </p:txBody>
      </p:sp>
      <p:sp>
        <p:nvSpPr>
          <p:cNvPr id="2404" name="Text 12"/>
          <p:cNvSpPr/>
          <p:nvPr/>
        </p:nvSpPr>
        <p:spPr>
          <a:xfrm>
            <a:off x="1188720" y="1188720"/>
            <a:ext cx="75891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1228B"/>
                </a:solidFill>
                <a:latin typeface="Calibri"/>
                <a:ea typeface="Calibri"/>
              </a:rPr>
              <a:t>Device trust certificate may have been invalidated by the upgrade. Check: device trust (Peer Authorities), TCP 4353 open, NTP synced, matching provisioning. May need to reset trust.</a:t>
            </a:r>
            <a:endParaRPr lang="en-US" sz="800" b="0" strike="noStrike" spc="-1">
              <a:solidFill>
                <a:srgbClr val="000000"/>
              </a:solidFill>
              <a:latin typeface="Arial"/>
            </a:endParaRPr>
          </a:p>
        </p:txBody>
      </p:sp>
      <p:sp>
        <p:nvSpPr>
          <p:cNvPr id="2405" name="Shape 13"/>
          <p:cNvSpPr/>
          <p:nvPr/>
        </p:nvSpPr>
        <p:spPr>
          <a:xfrm>
            <a:off x="365760" y="1645920"/>
            <a:ext cx="319680" cy="22824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406" name="Text 14"/>
          <p:cNvSpPr/>
          <p:nvPr/>
        </p:nvSpPr>
        <p:spPr>
          <a:xfrm>
            <a:off x="365760" y="1645920"/>
            <a:ext cx="3196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strike="noStrike" spc="-1">
                <a:solidFill>
                  <a:srgbClr val="FFFFFF"/>
                </a:solidFill>
                <a:latin typeface="Arial"/>
                <a:ea typeface="Arial"/>
              </a:rPr>
              <a:t>7</a:t>
            </a:r>
            <a:endParaRPr lang="en-US" sz="1000" b="0" strike="noStrike" spc="-1">
              <a:solidFill>
                <a:srgbClr val="000000"/>
              </a:solidFill>
              <a:latin typeface="Arial"/>
            </a:endParaRPr>
          </a:p>
        </p:txBody>
      </p:sp>
      <p:sp>
        <p:nvSpPr>
          <p:cNvPr id="2407" name="Shape 15"/>
          <p:cNvSpPr/>
          <p:nvPr/>
        </p:nvSpPr>
        <p:spPr>
          <a:xfrm>
            <a:off x="731520" y="1645920"/>
            <a:ext cx="365400" cy="22824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408" name="Text 16"/>
          <p:cNvSpPr/>
          <p:nvPr/>
        </p:nvSpPr>
        <p:spPr>
          <a:xfrm>
            <a:off x="731520" y="1645920"/>
            <a:ext cx="3654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700" b="1" strike="noStrike" spc="-1">
                <a:solidFill>
                  <a:srgbClr val="0E41AA"/>
                </a:solidFill>
                <a:latin typeface="Calibri"/>
              </a:rPr>
              <a:t>4-B</a:t>
            </a:r>
            <a:endParaRPr lang="en-US" sz="700" b="0" strike="noStrike" spc="-1">
              <a:solidFill>
                <a:srgbClr val="000000"/>
              </a:solidFill>
              <a:latin typeface="Arial"/>
            </a:endParaRPr>
          </a:p>
        </p:txBody>
      </p:sp>
      <p:sp>
        <p:nvSpPr>
          <p:cNvPr id="2409" name="Text 17"/>
          <p:cNvSpPr/>
          <p:nvPr/>
        </p:nvSpPr>
        <p:spPr>
          <a:xfrm>
            <a:off x="1188720" y="1645920"/>
            <a:ext cx="75891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strike="noStrike" spc="-1">
                <a:solidFill>
                  <a:srgbClr val="333333"/>
                </a:solidFill>
                <a:latin typeface="Calibri"/>
                <a:ea typeface="Calibri"/>
              </a:rPr>
              <a:t>HA group is configured. www_pool has 4 members (weight 100). Two members fail. Peer has all 4 up. Does failover occur?</a:t>
            </a:r>
            <a:endParaRPr lang="en-US" sz="900" b="0" strike="noStrike" spc="-1">
              <a:solidFill>
                <a:srgbClr val="000000"/>
              </a:solidFill>
              <a:latin typeface="Arial"/>
            </a:endParaRPr>
          </a:p>
        </p:txBody>
      </p:sp>
      <p:sp>
        <p:nvSpPr>
          <p:cNvPr id="2410" name="Text 18"/>
          <p:cNvSpPr/>
          <p:nvPr/>
        </p:nvSpPr>
        <p:spPr>
          <a:xfrm>
            <a:off x="1188720" y="1965960"/>
            <a:ext cx="75891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1228B"/>
                </a:solidFill>
                <a:latin typeface="Calibri"/>
                <a:ea typeface="Calibri"/>
              </a:rPr>
              <a:t>Active score: (2/4)×100 = 50. Peer score: (4/4)×100 = 100. Peer higher → YES, failover. HA group triggers failover when active score drops below peer.</a:t>
            </a:r>
            <a:endParaRPr lang="en-US" sz="800" b="0" strike="noStrike" spc="-1">
              <a:solidFill>
                <a:srgbClr val="000000"/>
              </a:solidFill>
              <a:latin typeface="Arial"/>
            </a:endParaRPr>
          </a:p>
        </p:txBody>
      </p:sp>
      <p:sp>
        <p:nvSpPr>
          <p:cNvPr id="2411" name="Shape 19"/>
          <p:cNvSpPr/>
          <p:nvPr/>
        </p:nvSpPr>
        <p:spPr>
          <a:xfrm>
            <a:off x="365760" y="2423160"/>
            <a:ext cx="319680" cy="22824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412" name="Text 20"/>
          <p:cNvSpPr/>
          <p:nvPr/>
        </p:nvSpPr>
        <p:spPr>
          <a:xfrm>
            <a:off x="365760" y="2423160"/>
            <a:ext cx="3196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strike="noStrike" spc="-1">
                <a:solidFill>
                  <a:srgbClr val="FFFFFF"/>
                </a:solidFill>
                <a:latin typeface="Arial"/>
                <a:ea typeface="Arial"/>
              </a:rPr>
              <a:t>8</a:t>
            </a:r>
            <a:endParaRPr lang="en-US" sz="1000" b="0" strike="noStrike" spc="-1">
              <a:solidFill>
                <a:srgbClr val="000000"/>
              </a:solidFill>
              <a:latin typeface="Arial"/>
            </a:endParaRPr>
          </a:p>
        </p:txBody>
      </p:sp>
      <p:sp>
        <p:nvSpPr>
          <p:cNvPr id="2413" name="Shape 21"/>
          <p:cNvSpPr/>
          <p:nvPr/>
        </p:nvSpPr>
        <p:spPr>
          <a:xfrm>
            <a:off x="731520" y="2423160"/>
            <a:ext cx="365400" cy="22824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414" name="Text 22"/>
          <p:cNvSpPr/>
          <p:nvPr/>
        </p:nvSpPr>
        <p:spPr>
          <a:xfrm>
            <a:off x="731520" y="2423160"/>
            <a:ext cx="3654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700" b="1" strike="noStrike" spc="-1">
                <a:solidFill>
                  <a:srgbClr val="0E41AA"/>
                </a:solidFill>
                <a:latin typeface="Calibri"/>
              </a:rPr>
              <a:t>4-B</a:t>
            </a:r>
            <a:endParaRPr lang="en-US" sz="700" b="0" strike="noStrike" spc="-1">
              <a:solidFill>
                <a:srgbClr val="000000"/>
              </a:solidFill>
              <a:latin typeface="Arial"/>
            </a:endParaRPr>
          </a:p>
        </p:txBody>
      </p:sp>
      <p:sp>
        <p:nvSpPr>
          <p:cNvPr id="2415" name="Text 23"/>
          <p:cNvSpPr/>
          <p:nvPr/>
        </p:nvSpPr>
        <p:spPr>
          <a:xfrm>
            <a:off x="1188720" y="2423160"/>
            <a:ext cx="75891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strike="noStrike" spc="-1">
                <a:solidFill>
                  <a:srgbClr val="333333"/>
                </a:solidFill>
                <a:latin typeface="Calibri"/>
                <a:ea typeface="Calibri"/>
              </a:rPr>
              <a:t>/config/user_alert.conf vs /etc/alertd/alert.conf — which survives upgrade? Which do you edit?</a:t>
            </a:r>
            <a:endParaRPr lang="en-US" sz="900" b="0" strike="noStrike" spc="-1">
              <a:solidFill>
                <a:srgbClr val="000000"/>
              </a:solidFill>
              <a:latin typeface="Arial"/>
            </a:endParaRPr>
          </a:p>
        </p:txBody>
      </p:sp>
      <p:sp>
        <p:nvSpPr>
          <p:cNvPr id="2416" name="Text 24"/>
          <p:cNvSpPr/>
          <p:nvPr/>
        </p:nvSpPr>
        <p:spPr>
          <a:xfrm>
            <a:off x="1188720" y="2743200"/>
            <a:ext cx="75891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1228B"/>
                </a:solidFill>
                <a:latin typeface="Calibri"/>
                <a:ea typeface="Calibri"/>
              </a:rPr>
              <a:t>Edit /config/user_alert.conf (survives upgrade, in UCS). NEVER edit /etc/alertd/alert.conf (overwritten on upgrade). Restart alertd after editing.</a:t>
            </a:r>
            <a:endParaRPr lang="en-US" sz="800" b="0" strike="noStrike" spc="-1">
              <a:solidFill>
                <a:srgbClr val="000000"/>
              </a:solidFill>
              <a:latin typeface="Arial"/>
            </a:endParaRPr>
          </a:p>
        </p:txBody>
      </p:sp>
      <p:sp>
        <p:nvSpPr>
          <p:cNvPr id="2417" name="Shape 25"/>
          <p:cNvSpPr/>
          <p:nvPr/>
        </p:nvSpPr>
        <p:spPr>
          <a:xfrm>
            <a:off x="365760" y="3200400"/>
            <a:ext cx="319680" cy="22824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418" name="Text 26"/>
          <p:cNvSpPr/>
          <p:nvPr/>
        </p:nvSpPr>
        <p:spPr>
          <a:xfrm>
            <a:off x="365760" y="3200400"/>
            <a:ext cx="3196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strike="noStrike" spc="-1">
                <a:solidFill>
                  <a:srgbClr val="FFFFFF"/>
                </a:solidFill>
                <a:latin typeface="Arial"/>
                <a:ea typeface="Arial"/>
              </a:rPr>
              <a:t>9</a:t>
            </a:r>
            <a:endParaRPr lang="en-US" sz="1000" b="0" strike="noStrike" spc="-1">
              <a:solidFill>
                <a:srgbClr val="000000"/>
              </a:solidFill>
              <a:latin typeface="Arial"/>
            </a:endParaRPr>
          </a:p>
        </p:txBody>
      </p:sp>
      <p:sp>
        <p:nvSpPr>
          <p:cNvPr id="2419" name="Shape 27"/>
          <p:cNvSpPr/>
          <p:nvPr/>
        </p:nvSpPr>
        <p:spPr>
          <a:xfrm>
            <a:off x="731520" y="3200400"/>
            <a:ext cx="365400" cy="22824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420" name="Text 28"/>
          <p:cNvSpPr/>
          <p:nvPr/>
        </p:nvSpPr>
        <p:spPr>
          <a:xfrm>
            <a:off x="731520" y="3200400"/>
            <a:ext cx="3654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700" b="1" strike="noStrike" spc="-1">
                <a:solidFill>
                  <a:srgbClr val="0E41AA"/>
                </a:solidFill>
                <a:latin typeface="Calibri"/>
              </a:rPr>
              <a:t>5-B</a:t>
            </a:r>
            <a:endParaRPr lang="en-US" sz="700" b="0" strike="noStrike" spc="-1">
              <a:solidFill>
                <a:srgbClr val="000000"/>
              </a:solidFill>
              <a:latin typeface="Arial"/>
            </a:endParaRPr>
          </a:p>
        </p:txBody>
      </p:sp>
      <p:sp>
        <p:nvSpPr>
          <p:cNvPr id="2421" name="Text 29"/>
          <p:cNvSpPr/>
          <p:nvPr/>
        </p:nvSpPr>
        <p:spPr>
          <a:xfrm>
            <a:off x="1188720" y="3200400"/>
            <a:ext cx="75891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strike="noStrike" spc="-1">
                <a:solidFill>
                  <a:srgbClr val="333333"/>
                </a:solidFill>
                <a:latin typeface="Calibri"/>
                <a:ea typeface="Calibri"/>
              </a:rPr>
              <a:t>Client-side tcpdump shows HTTP 200 OK. Server-side shows HTTP 503. Where is the disconnect?</a:t>
            </a:r>
            <a:endParaRPr lang="en-US" sz="900" b="0" strike="noStrike" spc="-1">
              <a:solidFill>
                <a:srgbClr val="000000"/>
              </a:solidFill>
              <a:latin typeface="Arial"/>
            </a:endParaRPr>
          </a:p>
        </p:txBody>
      </p:sp>
      <p:sp>
        <p:nvSpPr>
          <p:cNvPr id="2422" name="Text 30"/>
          <p:cNvSpPr/>
          <p:nvPr/>
        </p:nvSpPr>
        <p:spPr>
          <a:xfrm>
            <a:off x="1188720" y="3520440"/>
            <a:ext cx="75891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1228B"/>
                </a:solidFill>
                <a:latin typeface="Calibri"/>
                <a:ea typeface="Calibri"/>
              </a:rPr>
              <a:t>BIG-IP is serving a cached response or sorry page to the client (200) while the actual server is returning 503 (unavailable). Check: RAM cache, sorry page iRule, fallback host.</a:t>
            </a:r>
            <a:endParaRPr lang="en-US" sz="800" b="0" strike="noStrike" spc="-1">
              <a:solidFill>
                <a:srgbClr val="000000"/>
              </a:solidFill>
              <a:latin typeface="Arial"/>
            </a:endParaRPr>
          </a:p>
        </p:txBody>
      </p:sp>
      <p:sp>
        <p:nvSpPr>
          <p:cNvPr id="2423" name="Shape 31"/>
          <p:cNvSpPr/>
          <p:nvPr/>
        </p:nvSpPr>
        <p:spPr>
          <a:xfrm>
            <a:off x="365760" y="3977640"/>
            <a:ext cx="319680" cy="22824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424" name="Text 32"/>
          <p:cNvSpPr/>
          <p:nvPr/>
        </p:nvSpPr>
        <p:spPr>
          <a:xfrm>
            <a:off x="365760" y="3977640"/>
            <a:ext cx="3196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strike="noStrike" spc="-1">
                <a:solidFill>
                  <a:srgbClr val="FFFFFF"/>
                </a:solidFill>
                <a:latin typeface="Arial"/>
                <a:ea typeface="Arial"/>
              </a:rPr>
              <a:t>10</a:t>
            </a:r>
            <a:endParaRPr lang="en-US" sz="1000" b="0" strike="noStrike" spc="-1">
              <a:solidFill>
                <a:srgbClr val="000000"/>
              </a:solidFill>
              <a:latin typeface="Arial"/>
            </a:endParaRPr>
          </a:p>
        </p:txBody>
      </p:sp>
      <p:sp>
        <p:nvSpPr>
          <p:cNvPr id="2425" name="Shape 33"/>
          <p:cNvSpPr/>
          <p:nvPr/>
        </p:nvSpPr>
        <p:spPr>
          <a:xfrm>
            <a:off x="731520" y="3977640"/>
            <a:ext cx="365400" cy="22824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426" name="Text 34"/>
          <p:cNvSpPr/>
          <p:nvPr/>
        </p:nvSpPr>
        <p:spPr>
          <a:xfrm>
            <a:off x="731520" y="3977640"/>
            <a:ext cx="3654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700" b="1" strike="noStrike" spc="-1">
                <a:solidFill>
                  <a:srgbClr val="0E41AA"/>
                </a:solidFill>
                <a:latin typeface="Calibri"/>
              </a:rPr>
              <a:t>6-B</a:t>
            </a:r>
            <a:endParaRPr lang="en-US" sz="700" b="0" strike="noStrike" spc="-1">
              <a:solidFill>
                <a:srgbClr val="000000"/>
              </a:solidFill>
              <a:latin typeface="Arial"/>
            </a:endParaRPr>
          </a:p>
        </p:txBody>
      </p:sp>
      <p:sp>
        <p:nvSpPr>
          <p:cNvPr id="2427" name="Text 35"/>
          <p:cNvSpPr/>
          <p:nvPr/>
        </p:nvSpPr>
        <p:spPr>
          <a:xfrm>
            <a:off x="1188720" y="3977640"/>
            <a:ext cx="75891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strike="noStrike" spc="-1">
                <a:solidFill>
                  <a:srgbClr val="333333"/>
                </a:solidFill>
                <a:latin typeface="Calibri"/>
                <a:ea typeface="Calibri"/>
              </a:rPr>
              <a:t>SSL handshake fails. Client sends ClientHello with TLS 1.0. BIG-IP Client-SSL profile has Options: No TLSv1. What happens?</a:t>
            </a:r>
            <a:endParaRPr lang="en-US" sz="900" b="0" strike="noStrike" spc="-1">
              <a:solidFill>
                <a:srgbClr val="000000"/>
              </a:solidFill>
              <a:latin typeface="Arial"/>
            </a:endParaRPr>
          </a:p>
        </p:txBody>
      </p:sp>
      <p:sp>
        <p:nvSpPr>
          <p:cNvPr id="2428" name="Text 36"/>
          <p:cNvSpPr/>
          <p:nvPr/>
        </p:nvSpPr>
        <p:spPr>
          <a:xfrm>
            <a:off x="1188720" y="4297680"/>
            <a:ext cx="75891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1228B"/>
                </a:solidFill>
                <a:latin typeface="Calibri"/>
                <a:ea typeface="Calibri"/>
              </a:rPr>
              <a:t>BIG-IP rejects the handshake — TLS 1.0 is disabled in the profile. Log shows 01260009:4 'unsupported version'. Fix: client must use TLS 1.2+, or enable TLSv1 in profile (not recommended).</a:t>
            </a:r>
            <a:endParaRPr lang="en-US" sz="800" b="0" strike="noStrike" spc="-1">
              <a:solidFill>
                <a:srgbClr val="000000"/>
              </a:solidFill>
              <a:latin typeface="Arial"/>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29"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430"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431"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432"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433"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434"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122    © 2026 F5</a:t>
            </a:r>
            <a:endParaRPr lang="en-US" sz="800" b="0" strike="noStrike" spc="-1">
              <a:solidFill>
                <a:srgbClr val="000000"/>
              </a:solidFill>
              <a:latin typeface="Arial"/>
            </a:endParaRPr>
          </a:p>
        </p:txBody>
      </p:sp>
      <p:pic>
        <p:nvPicPr>
          <p:cNvPr id="2435" name="Image 0" descr="preencoded.png"/>
          <p:cNvPicPr/>
          <p:nvPr/>
        </p:nvPicPr>
        <p:blipFill>
          <a:blip r:embed="rId3"/>
          <a:stretch/>
        </p:blipFill>
        <p:spPr>
          <a:xfrm>
            <a:off x="8458200" y="4663440"/>
            <a:ext cx="383760" cy="383760"/>
          </a:xfrm>
          <a:prstGeom prst="rect">
            <a:avLst/>
          </a:prstGeom>
          <a:ln w="0">
            <a:noFill/>
          </a:ln>
        </p:spPr>
      </p:pic>
      <p:sp>
        <p:nvSpPr>
          <p:cNvPr id="2436" name="Text 6"/>
          <p:cNvSpPr/>
          <p:nvPr/>
        </p:nvSpPr>
        <p:spPr>
          <a:xfrm>
            <a:off x="457200" y="274320"/>
            <a:ext cx="82292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TMSH command cheat sheet</a:t>
            </a:r>
            <a:endParaRPr lang="en-US" sz="2800" b="0" strike="noStrike" spc="-1">
              <a:solidFill>
                <a:srgbClr val="000000"/>
              </a:solidFill>
              <a:latin typeface="Arial"/>
            </a:endParaRPr>
          </a:p>
        </p:txBody>
      </p:sp>
      <p:sp>
        <p:nvSpPr>
          <p:cNvPr id="2437" name="Text 7"/>
          <p:cNvSpPr/>
          <p:nvPr/>
        </p:nvSpPr>
        <p:spPr>
          <a:xfrm>
            <a:off x="457200" y="658440"/>
            <a:ext cx="82292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
                <a:solidFill>
                  <a:srgbClr val="E4002B"/>
                </a:solidFill>
                <a:latin typeface="Calibri"/>
                <a:ea typeface="Calibri"/>
              </a:rPr>
              <a:t>show = runtime state/stats.  list = saved configuration.  Know the difference.</a:t>
            </a:r>
            <a:endParaRPr lang="en-US" sz="1300" b="0" strike="noStrike" spc="-1">
              <a:solidFill>
                <a:srgbClr val="000000"/>
              </a:solidFill>
              <a:latin typeface="Arial"/>
            </a:endParaRPr>
          </a:p>
        </p:txBody>
      </p:sp>
      <p:graphicFrame>
        <p:nvGraphicFramePr>
          <p:cNvPr id="2438" name="Table 0"/>
          <p:cNvGraphicFramePr/>
          <p:nvPr/>
        </p:nvGraphicFramePr>
        <p:xfrm>
          <a:off x="365760" y="914400"/>
          <a:ext cx="8412480" cy="2560320"/>
        </p:xfrm>
        <a:graphic>
          <a:graphicData uri="http://schemas.openxmlformats.org/drawingml/2006/table">
            <a:tbl>
              <a:tblPr/>
              <a:tblGrid>
                <a:gridCol w="91440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3291840">
                  <a:extLst>
                    <a:ext uri="{9D8B030D-6E8A-4147-A177-3AD203B41FA5}">
                      <a16:colId xmlns:a16="http://schemas.microsoft.com/office/drawing/2014/main" val="20003"/>
                    </a:ext>
                  </a:extLst>
                </a:gridCol>
              </a:tblGrid>
              <a:tr h="0">
                <a:tc>
                  <a:txBody>
                    <a:bodyPr/>
                    <a:lstStyle/>
                    <a:p>
                      <a:pPr defTabSz="914400">
                        <a:lnSpc>
                          <a:spcPct val="100000"/>
                        </a:lnSpc>
                        <a:tabLst>
                          <a:tab pos="0" algn="l"/>
                        </a:tabLst>
                      </a:pPr>
                      <a:r>
                        <a:rPr lang="en-US" sz="800" b="1" strike="noStrike" spc="-1">
                          <a:solidFill>
                            <a:srgbClr val="FFFFFF"/>
                          </a:solidFill>
                          <a:latin typeface="Calibri"/>
                        </a:rPr>
                        <a:t>Category</a:t>
                      </a:r>
                      <a:endParaRPr lang="en-US" sz="800" b="0" strike="noStrike" spc="-1">
                        <a:solidFill>
                          <a:srgbClr val="FFFFFF"/>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E41AA"/>
                    </a:solidFill>
                  </a:tcPr>
                </a:tc>
                <a:tc>
                  <a:txBody>
                    <a:bodyPr/>
                    <a:lstStyle/>
                    <a:p>
                      <a:pPr defTabSz="914400">
                        <a:lnSpc>
                          <a:spcPct val="100000"/>
                        </a:lnSpc>
                        <a:tabLst>
                          <a:tab pos="0" algn="l"/>
                        </a:tabLst>
                      </a:pPr>
                      <a:r>
                        <a:rPr lang="en-US" sz="800" b="1" strike="noStrike" spc="-1">
                          <a:solidFill>
                            <a:srgbClr val="FFFFFF"/>
                          </a:solidFill>
                          <a:latin typeface="Calibri"/>
                        </a:rPr>
                        <a:t>show (runtime)</a:t>
                      </a:r>
                      <a:endParaRPr lang="en-US" sz="800" b="0" strike="noStrike" spc="-1">
                        <a:solidFill>
                          <a:srgbClr val="FFFFFF"/>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E41AA"/>
                    </a:solidFill>
                  </a:tcPr>
                </a:tc>
                <a:tc>
                  <a:txBody>
                    <a:bodyPr/>
                    <a:lstStyle/>
                    <a:p>
                      <a:pPr defTabSz="914400">
                        <a:lnSpc>
                          <a:spcPct val="100000"/>
                        </a:lnSpc>
                        <a:tabLst>
                          <a:tab pos="0" algn="l"/>
                        </a:tabLst>
                      </a:pPr>
                      <a:r>
                        <a:rPr lang="en-US" sz="800" b="1" strike="noStrike" spc="-1">
                          <a:solidFill>
                            <a:srgbClr val="FFFFFF"/>
                          </a:solidFill>
                          <a:latin typeface="Calibri"/>
                        </a:rPr>
                        <a:t>list (config)</a:t>
                      </a:r>
                      <a:endParaRPr lang="en-US" sz="800" b="0" strike="noStrike" spc="-1">
                        <a:solidFill>
                          <a:srgbClr val="FFFFFF"/>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E41AA"/>
                    </a:solidFill>
                  </a:tcPr>
                </a:tc>
                <a:tc>
                  <a:txBody>
                    <a:bodyPr/>
                    <a:lstStyle/>
                    <a:p>
                      <a:pPr defTabSz="914400">
                        <a:lnSpc>
                          <a:spcPct val="100000"/>
                        </a:lnSpc>
                        <a:tabLst>
                          <a:tab pos="0" algn="l"/>
                        </a:tabLst>
                      </a:pPr>
                      <a:r>
                        <a:rPr lang="en-US" sz="800" b="1" strike="noStrike" spc="-1">
                          <a:solidFill>
                            <a:srgbClr val="FFFFFF"/>
                          </a:solidFill>
                          <a:latin typeface="Calibri"/>
                        </a:rPr>
                        <a:t>action</a:t>
                      </a:r>
                      <a:endParaRPr lang="en-US" sz="800" b="0" strike="noStrike" spc="-1">
                        <a:solidFill>
                          <a:srgbClr val="FFFFFF"/>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0E41AA"/>
                    </a:solidFill>
                  </a:tcPr>
                </a:tc>
                <a:extLst>
                  <a:ext uri="{0D108BD9-81ED-4DB2-BD59-A6C34878D82A}">
                    <a16:rowId xmlns:a16="http://schemas.microsoft.com/office/drawing/2014/main" val="10000"/>
                  </a:ext>
                </a:extLst>
              </a:tr>
              <a:tr h="0">
                <a:tc>
                  <a:txBody>
                    <a:bodyPr/>
                    <a:lstStyle/>
                    <a:p>
                      <a:pPr defTabSz="914400">
                        <a:lnSpc>
                          <a:spcPct val="100000"/>
                        </a:lnSpc>
                        <a:tabLst>
                          <a:tab pos="0" algn="l"/>
                        </a:tabLst>
                      </a:pPr>
                      <a:r>
                        <a:rPr lang="en-US" sz="800" b="1" strike="noStrike" spc="-1">
                          <a:solidFill>
                            <a:srgbClr val="000000"/>
                          </a:solidFill>
                          <a:latin typeface="Calibri"/>
                        </a:rPr>
                        <a:t>Virtual servers</a:t>
                      </a:r>
                      <a:endParaRPr lang="en-US" sz="8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750" b="0" strike="noStrike" spc="-1">
                          <a:solidFill>
                            <a:srgbClr val="000000"/>
                          </a:solidFill>
                          <a:latin typeface="Courier New"/>
                          <a:ea typeface="Courier New"/>
                        </a:rPr>
                        <a:t>show ltm virtual</a:t>
                      </a:r>
                      <a:endParaRPr lang="en-US" sz="75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750" b="0" strike="noStrike" spc="-1">
                          <a:solidFill>
                            <a:srgbClr val="000000"/>
                          </a:solidFill>
                          <a:latin typeface="Courier New"/>
                          <a:ea typeface="Courier New"/>
                        </a:rPr>
                        <a:t>list ltm virtual</a:t>
                      </a:r>
                      <a:endParaRPr lang="en-US" sz="75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750" b="0" strike="noStrike" spc="-1">
                          <a:solidFill>
                            <a:srgbClr val="000000"/>
                          </a:solidFill>
                          <a:latin typeface="Courier New"/>
                          <a:ea typeface="Courier New"/>
                        </a:rPr>
                        <a:t>create/modify/delete ltm virtual</a:t>
                      </a:r>
                      <a:endParaRPr lang="en-US" sz="75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1"/>
                  </a:ext>
                </a:extLst>
              </a:tr>
              <a:tr h="0">
                <a:tc>
                  <a:txBody>
                    <a:bodyPr/>
                    <a:lstStyle/>
                    <a:p>
                      <a:pPr defTabSz="914400">
                        <a:lnSpc>
                          <a:spcPct val="100000"/>
                        </a:lnSpc>
                        <a:tabLst>
                          <a:tab pos="0" algn="l"/>
                        </a:tabLst>
                      </a:pPr>
                      <a:r>
                        <a:rPr lang="en-US" sz="800" b="1" strike="noStrike" spc="-1">
                          <a:solidFill>
                            <a:srgbClr val="000000"/>
                          </a:solidFill>
                          <a:latin typeface="Calibri"/>
                        </a:rPr>
                        <a:t>Pools</a:t>
                      </a:r>
                      <a:endParaRPr lang="en-US" sz="8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750" b="0" strike="noStrike" spc="-1">
                          <a:solidFill>
                            <a:srgbClr val="000000"/>
                          </a:solidFill>
                          <a:latin typeface="Courier New"/>
                          <a:ea typeface="Courier New"/>
                        </a:rPr>
                        <a:t>show ltm pool [name] members</a:t>
                      </a:r>
                      <a:endParaRPr lang="en-US" sz="75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750" b="0" strike="noStrike" spc="-1">
                          <a:solidFill>
                            <a:srgbClr val="000000"/>
                          </a:solidFill>
                          <a:latin typeface="Courier New"/>
                          <a:ea typeface="Courier New"/>
                        </a:rPr>
                        <a:t>list ltm pool</a:t>
                      </a:r>
                      <a:endParaRPr lang="en-US" sz="75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750" b="0" strike="noStrike" spc="-1">
                          <a:solidFill>
                            <a:srgbClr val="000000"/>
                          </a:solidFill>
                          <a:latin typeface="Courier New"/>
                          <a:ea typeface="Courier New"/>
                        </a:rPr>
                        <a:t>modify ltm pool [name] members add/delete</a:t>
                      </a:r>
                      <a:endParaRPr lang="en-US" sz="75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2"/>
                  </a:ext>
                </a:extLst>
              </a:tr>
              <a:tr h="0">
                <a:tc>
                  <a:txBody>
                    <a:bodyPr/>
                    <a:lstStyle/>
                    <a:p>
                      <a:pPr defTabSz="914400">
                        <a:lnSpc>
                          <a:spcPct val="100000"/>
                        </a:lnSpc>
                        <a:tabLst>
                          <a:tab pos="0" algn="l"/>
                        </a:tabLst>
                      </a:pPr>
                      <a:r>
                        <a:rPr lang="en-US" sz="800" b="1" strike="noStrike" spc="-1">
                          <a:solidFill>
                            <a:srgbClr val="000000"/>
                          </a:solidFill>
                          <a:latin typeface="Calibri"/>
                        </a:rPr>
                        <a:t>Nodes</a:t>
                      </a:r>
                      <a:endParaRPr lang="en-US" sz="8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750" b="0" strike="noStrike" spc="-1">
                          <a:solidFill>
                            <a:srgbClr val="000000"/>
                          </a:solidFill>
                          <a:latin typeface="Courier New"/>
                          <a:ea typeface="Courier New"/>
                        </a:rPr>
                        <a:t>show ltm node</a:t>
                      </a:r>
                      <a:endParaRPr lang="en-US" sz="75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750" b="0" strike="noStrike" spc="-1">
                          <a:solidFill>
                            <a:srgbClr val="000000"/>
                          </a:solidFill>
                          <a:latin typeface="Courier New"/>
                          <a:ea typeface="Courier New"/>
                        </a:rPr>
                        <a:t>list ltm node</a:t>
                      </a:r>
                      <a:endParaRPr lang="en-US" sz="75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750" b="0" strike="noStrike" spc="-1">
                          <a:solidFill>
                            <a:srgbClr val="000000"/>
                          </a:solidFill>
                          <a:latin typeface="Courier New"/>
                          <a:ea typeface="Courier New"/>
                        </a:rPr>
                        <a:t>modify ltm node [ip] state user-down</a:t>
                      </a:r>
                      <a:endParaRPr lang="en-US" sz="75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3"/>
                  </a:ext>
                </a:extLst>
              </a:tr>
              <a:tr h="0">
                <a:tc>
                  <a:txBody>
                    <a:bodyPr/>
                    <a:lstStyle/>
                    <a:p>
                      <a:pPr defTabSz="914400">
                        <a:lnSpc>
                          <a:spcPct val="100000"/>
                        </a:lnSpc>
                        <a:tabLst>
                          <a:tab pos="0" algn="l"/>
                        </a:tabLst>
                      </a:pPr>
                      <a:r>
                        <a:rPr lang="en-US" sz="800" b="1" strike="noStrike" spc="-1">
                          <a:solidFill>
                            <a:srgbClr val="000000"/>
                          </a:solidFill>
                          <a:latin typeface="Calibri"/>
                        </a:rPr>
                        <a:t>Connections</a:t>
                      </a:r>
                      <a:endParaRPr lang="en-US" sz="8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750" b="0" strike="noStrike" spc="-1">
                          <a:solidFill>
                            <a:srgbClr val="000000"/>
                          </a:solidFill>
                          <a:latin typeface="Courier New"/>
                          <a:ea typeface="Courier New"/>
                        </a:rPr>
                        <a:t>show sys connection</a:t>
                      </a:r>
                      <a:endParaRPr lang="en-US" sz="75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750" b="0" strike="noStrike" spc="-1">
                          <a:solidFill>
                            <a:srgbClr val="000000"/>
                          </a:solidFill>
                          <a:latin typeface="Calibri"/>
                        </a:rPr>
                        <a:t>—</a:t>
                      </a:r>
                      <a:endParaRPr lang="en-US" sz="75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750" b="0" strike="noStrike" spc="-1">
                          <a:solidFill>
                            <a:srgbClr val="000000"/>
                          </a:solidFill>
                          <a:latin typeface="Courier New"/>
                          <a:ea typeface="Courier New"/>
                        </a:rPr>
                        <a:t>delete sys connection all</a:t>
                      </a:r>
                      <a:endParaRPr lang="en-US" sz="75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4"/>
                  </a:ext>
                </a:extLst>
              </a:tr>
              <a:tr h="0">
                <a:tc>
                  <a:txBody>
                    <a:bodyPr/>
                    <a:lstStyle/>
                    <a:p>
                      <a:pPr defTabSz="914400">
                        <a:lnSpc>
                          <a:spcPct val="100000"/>
                        </a:lnSpc>
                        <a:tabLst>
                          <a:tab pos="0" algn="l"/>
                        </a:tabLst>
                      </a:pPr>
                      <a:r>
                        <a:rPr lang="en-US" sz="800" b="1" strike="noStrike" spc="-1">
                          <a:solidFill>
                            <a:srgbClr val="000000"/>
                          </a:solidFill>
                          <a:latin typeface="Calibri"/>
                        </a:rPr>
                        <a:t>Persistence</a:t>
                      </a:r>
                      <a:endParaRPr lang="en-US" sz="8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750" b="0" strike="noStrike" spc="-1">
                          <a:solidFill>
                            <a:srgbClr val="000000"/>
                          </a:solidFill>
                          <a:latin typeface="Courier New"/>
                          <a:ea typeface="Courier New"/>
                        </a:rPr>
                        <a:t>show ltm persistence persist-records</a:t>
                      </a:r>
                      <a:endParaRPr lang="en-US" sz="75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750" b="0" strike="noStrike" spc="-1">
                          <a:solidFill>
                            <a:srgbClr val="000000"/>
                          </a:solidFill>
                          <a:latin typeface="Courier New"/>
                          <a:ea typeface="Courier New"/>
                        </a:rPr>
                        <a:t>list ltm persistence</a:t>
                      </a:r>
                      <a:endParaRPr lang="en-US" sz="75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750" b="0" strike="noStrike" spc="-1">
                          <a:solidFill>
                            <a:srgbClr val="000000"/>
                          </a:solidFill>
                          <a:latin typeface="Courier New"/>
                          <a:ea typeface="Courier New"/>
                        </a:rPr>
                        <a:t>delete ltm persistence persist-records</a:t>
                      </a:r>
                      <a:endParaRPr lang="en-US" sz="75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5"/>
                  </a:ext>
                </a:extLst>
              </a:tr>
              <a:tr h="0">
                <a:tc>
                  <a:txBody>
                    <a:bodyPr/>
                    <a:lstStyle/>
                    <a:p>
                      <a:pPr defTabSz="914400">
                        <a:lnSpc>
                          <a:spcPct val="100000"/>
                        </a:lnSpc>
                        <a:tabLst>
                          <a:tab pos="0" algn="l"/>
                        </a:tabLst>
                      </a:pPr>
                      <a:r>
                        <a:rPr lang="en-US" sz="800" b="1" strike="noStrike" spc="-1">
                          <a:solidFill>
                            <a:srgbClr val="000000"/>
                          </a:solidFill>
                          <a:latin typeface="Calibri"/>
                        </a:rPr>
                        <a:t>HA sync</a:t>
                      </a:r>
                      <a:endParaRPr lang="en-US" sz="8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750" b="0" strike="noStrike" spc="-1">
                          <a:solidFill>
                            <a:srgbClr val="000000"/>
                          </a:solidFill>
                          <a:latin typeface="Courier New"/>
                          <a:ea typeface="Courier New"/>
                        </a:rPr>
                        <a:t>show cm sync-status</a:t>
                      </a:r>
                      <a:endParaRPr lang="en-US" sz="75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750" b="0" strike="noStrike" spc="-1">
                          <a:solidFill>
                            <a:srgbClr val="000000"/>
                          </a:solidFill>
                          <a:latin typeface="Courier New"/>
                          <a:ea typeface="Courier New"/>
                        </a:rPr>
                        <a:t>list cm device-group</a:t>
                      </a:r>
                      <a:endParaRPr lang="en-US" sz="75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750" b="0" strike="noStrike" spc="-1">
                          <a:solidFill>
                            <a:srgbClr val="000000"/>
                          </a:solidFill>
                          <a:latin typeface="Courier New"/>
                          <a:ea typeface="Courier New"/>
                        </a:rPr>
                        <a:t>run cm config-sync to-group [name]</a:t>
                      </a:r>
                      <a:endParaRPr lang="en-US" sz="75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6"/>
                  </a:ext>
                </a:extLst>
              </a:tr>
              <a:tr h="0">
                <a:tc>
                  <a:txBody>
                    <a:bodyPr/>
                    <a:lstStyle/>
                    <a:p>
                      <a:pPr defTabSz="914400">
                        <a:lnSpc>
                          <a:spcPct val="100000"/>
                        </a:lnSpc>
                        <a:tabLst>
                          <a:tab pos="0" algn="l"/>
                        </a:tabLst>
                      </a:pPr>
                      <a:r>
                        <a:rPr lang="en-US" sz="800" b="1" strike="noStrike" spc="-1">
                          <a:solidFill>
                            <a:srgbClr val="000000"/>
                          </a:solidFill>
                          <a:latin typeface="Calibri"/>
                        </a:rPr>
                        <a:t>Failover</a:t>
                      </a:r>
                      <a:endParaRPr lang="en-US" sz="8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750" b="0" strike="noStrike" spc="-1">
                          <a:solidFill>
                            <a:srgbClr val="000000"/>
                          </a:solidFill>
                          <a:latin typeface="Courier New"/>
                          <a:ea typeface="Courier New"/>
                        </a:rPr>
                        <a:t>show sys failover</a:t>
                      </a:r>
                      <a:endParaRPr lang="en-US" sz="75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750" b="0" strike="noStrike" spc="-1">
                          <a:solidFill>
                            <a:srgbClr val="000000"/>
                          </a:solidFill>
                          <a:latin typeface="Courier New"/>
                          <a:ea typeface="Courier New"/>
                        </a:rPr>
                        <a:t>list cm traffic-group</a:t>
                      </a:r>
                      <a:endParaRPr lang="en-US" sz="75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750" b="0" strike="noStrike" spc="-1">
                          <a:solidFill>
                            <a:srgbClr val="000000"/>
                          </a:solidFill>
                          <a:latin typeface="Courier New"/>
                          <a:ea typeface="Courier New"/>
                        </a:rPr>
                        <a:t>run sys failover standby</a:t>
                      </a:r>
                      <a:endParaRPr lang="en-US" sz="75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7"/>
                  </a:ext>
                </a:extLst>
              </a:tr>
              <a:tr h="0">
                <a:tc>
                  <a:txBody>
                    <a:bodyPr/>
                    <a:lstStyle/>
                    <a:p>
                      <a:pPr defTabSz="914400">
                        <a:lnSpc>
                          <a:spcPct val="100000"/>
                        </a:lnSpc>
                        <a:tabLst>
                          <a:tab pos="0" algn="l"/>
                        </a:tabLst>
                      </a:pPr>
                      <a:r>
                        <a:rPr lang="en-US" sz="800" b="1" strike="noStrike" spc="-1">
                          <a:solidFill>
                            <a:srgbClr val="000000"/>
                          </a:solidFill>
                          <a:latin typeface="Calibri"/>
                        </a:rPr>
                        <a:t>Performance</a:t>
                      </a:r>
                      <a:endParaRPr lang="en-US" sz="8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750" b="0" strike="noStrike" spc="-1">
                          <a:solidFill>
                            <a:srgbClr val="000000"/>
                          </a:solidFill>
                          <a:latin typeface="Courier New"/>
                          <a:ea typeface="Courier New"/>
                        </a:rPr>
                        <a:t>show sys performance all-stats</a:t>
                      </a:r>
                      <a:endParaRPr lang="en-US" sz="75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750" b="0" strike="noStrike" spc="-1">
                          <a:solidFill>
                            <a:srgbClr val="000000"/>
                          </a:solidFill>
                          <a:latin typeface="Calibri"/>
                        </a:rPr>
                        <a:t>—</a:t>
                      </a:r>
                      <a:endParaRPr lang="en-US" sz="75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750" b="0" strike="noStrike" spc="-1">
                          <a:solidFill>
                            <a:srgbClr val="000000"/>
                          </a:solidFill>
                          <a:latin typeface="Courier New"/>
                          <a:ea typeface="Courier New"/>
                        </a:rPr>
                        <a:t>show sys tmm-info / show sys host-info</a:t>
                      </a:r>
                      <a:endParaRPr lang="en-US" sz="75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08"/>
                  </a:ext>
                </a:extLst>
              </a:tr>
              <a:tr h="0">
                <a:tc>
                  <a:txBody>
                    <a:bodyPr/>
                    <a:lstStyle/>
                    <a:p>
                      <a:pPr defTabSz="914400">
                        <a:lnSpc>
                          <a:spcPct val="100000"/>
                        </a:lnSpc>
                        <a:tabLst>
                          <a:tab pos="0" algn="l"/>
                        </a:tabLst>
                      </a:pPr>
                      <a:r>
                        <a:rPr lang="en-US" sz="800" b="1" strike="noStrike" spc="-1">
                          <a:solidFill>
                            <a:srgbClr val="000000"/>
                          </a:solidFill>
                          <a:latin typeface="Calibri"/>
                        </a:rPr>
                        <a:t>Software</a:t>
                      </a:r>
                      <a:endParaRPr lang="en-US" sz="8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750" b="0" strike="noStrike" spc="-1">
                          <a:solidFill>
                            <a:srgbClr val="000000"/>
                          </a:solidFill>
                          <a:latin typeface="Courier New"/>
                          <a:ea typeface="Courier New"/>
                        </a:rPr>
                        <a:t>show sys software status</a:t>
                      </a:r>
                      <a:endParaRPr lang="en-US" sz="75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750" b="0" strike="noStrike" spc="-1">
                          <a:solidFill>
                            <a:srgbClr val="000000"/>
                          </a:solidFill>
                          <a:latin typeface="Calibri"/>
                        </a:rPr>
                        <a:t>—</a:t>
                      </a:r>
                      <a:endParaRPr lang="en-US" sz="75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750" b="0" strike="noStrike" spc="-1">
                          <a:solidFill>
                            <a:srgbClr val="000000"/>
                          </a:solidFill>
                          <a:latin typeface="Courier New"/>
                          <a:ea typeface="Courier New"/>
                        </a:rPr>
                        <a:t>install sys software image [iso] volume HD1.2</a:t>
                      </a:r>
                      <a:endParaRPr lang="en-US" sz="75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09"/>
                  </a:ext>
                </a:extLst>
              </a:tr>
              <a:tr h="0">
                <a:tc>
                  <a:txBody>
                    <a:bodyPr/>
                    <a:lstStyle/>
                    <a:p>
                      <a:pPr defTabSz="914400">
                        <a:lnSpc>
                          <a:spcPct val="100000"/>
                        </a:lnSpc>
                        <a:tabLst>
                          <a:tab pos="0" algn="l"/>
                        </a:tabLst>
                      </a:pPr>
                      <a:r>
                        <a:rPr lang="en-US" sz="800" b="1" strike="noStrike" spc="-1">
                          <a:solidFill>
                            <a:srgbClr val="000000"/>
                          </a:solidFill>
                          <a:latin typeface="Calibri"/>
                        </a:rPr>
                        <a:t>Archives</a:t>
                      </a:r>
                      <a:endParaRPr lang="en-US" sz="8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750" b="0" strike="noStrike" spc="-1">
                          <a:solidFill>
                            <a:srgbClr val="000000"/>
                          </a:solidFill>
                          <a:latin typeface="Calibri"/>
                        </a:rPr>
                        <a:t>—</a:t>
                      </a:r>
                      <a:endParaRPr lang="en-US" sz="75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750" b="0" strike="noStrike" spc="-1">
                          <a:solidFill>
                            <a:srgbClr val="000000"/>
                          </a:solidFill>
                          <a:latin typeface="Calibri"/>
                        </a:rPr>
                        <a:t>—</a:t>
                      </a:r>
                      <a:endParaRPr lang="en-US" sz="75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tc>
                  <a:txBody>
                    <a:bodyPr/>
                    <a:lstStyle/>
                    <a:p>
                      <a:pPr defTabSz="914400">
                        <a:lnSpc>
                          <a:spcPct val="100000"/>
                        </a:lnSpc>
                        <a:tabLst>
                          <a:tab pos="0" algn="l"/>
                        </a:tabLst>
                      </a:pPr>
                      <a:r>
                        <a:rPr lang="en-US" sz="750" b="0" strike="noStrike" spc="-1">
                          <a:solidFill>
                            <a:srgbClr val="000000"/>
                          </a:solidFill>
                          <a:latin typeface="Courier New"/>
                          <a:ea typeface="Courier New"/>
                        </a:rPr>
                        <a:t>save sys ucs [name] / load sys ucs [name]</a:t>
                      </a:r>
                      <a:endParaRPr lang="en-US" sz="75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2F2F2"/>
                    </a:solidFill>
                  </a:tcPr>
                </a:tc>
                <a:extLst>
                  <a:ext uri="{0D108BD9-81ED-4DB2-BD59-A6C34878D82A}">
                    <a16:rowId xmlns:a16="http://schemas.microsoft.com/office/drawing/2014/main" val="10010"/>
                  </a:ext>
                </a:extLst>
              </a:tr>
              <a:tr h="0">
                <a:tc>
                  <a:txBody>
                    <a:bodyPr/>
                    <a:lstStyle/>
                    <a:p>
                      <a:pPr defTabSz="914400">
                        <a:lnSpc>
                          <a:spcPct val="100000"/>
                        </a:lnSpc>
                        <a:tabLst>
                          <a:tab pos="0" algn="l"/>
                        </a:tabLst>
                      </a:pPr>
                      <a:r>
                        <a:rPr lang="en-US" sz="800" b="1" strike="noStrike" spc="-1">
                          <a:solidFill>
                            <a:srgbClr val="000000"/>
                          </a:solidFill>
                          <a:latin typeface="Calibri"/>
                        </a:rPr>
                        <a:t>Users</a:t>
                      </a:r>
                      <a:endParaRPr lang="en-US" sz="80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750" b="0" strike="noStrike" spc="-1">
                          <a:solidFill>
                            <a:srgbClr val="000000"/>
                          </a:solidFill>
                          <a:latin typeface="Calibri"/>
                        </a:rPr>
                        <a:t>—</a:t>
                      </a:r>
                      <a:endParaRPr lang="en-US" sz="75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750" b="0" strike="noStrike" spc="-1">
                          <a:solidFill>
                            <a:srgbClr val="000000"/>
                          </a:solidFill>
                          <a:latin typeface="Courier New"/>
                          <a:ea typeface="Courier New"/>
                        </a:rPr>
                        <a:t>list auth user</a:t>
                      </a:r>
                      <a:endParaRPr lang="en-US" sz="75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tc>
                  <a:txBody>
                    <a:bodyPr/>
                    <a:lstStyle/>
                    <a:p>
                      <a:pPr defTabSz="914400">
                        <a:lnSpc>
                          <a:spcPct val="100000"/>
                        </a:lnSpc>
                        <a:tabLst>
                          <a:tab pos="0" algn="l"/>
                        </a:tabLst>
                      </a:pPr>
                      <a:r>
                        <a:rPr lang="en-US" sz="750" b="0" strike="noStrike" spc="-1">
                          <a:solidFill>
                            <a:srgbClr val="000000"/>
                          </a:solidFill>
                          <a:latin typeface="Courier New"/>
                          <a:ea typeface="Courier New"/>
                        </a:rPr>
                        <a:t>create/modify auth user [name]</a:t>
                      </a:r>
                      <a:endParaRPr lang="en-US" sz="750" b="0" strike="noStrike" spc="-1">
                        <a:solidFill>
                          <a:srgbClr val="000000"/>
                        </a:solidFill>
                        <a:latin typeface="Arial"/>
                      </a:endParaRPr>
                    </a:p>
                  </a:txBody>
                  <a:tcPr marL="50760" marR="50760">
                    <a:lnL w="6480">
                      <a:solidFill>
                        <a:srgbClr val="D9D9D9"/>
                      </a:solidFill>
                      <a:prstDash val="solid"/>
                    </a:lnL>
                    <a:lnR w="6480">
                      <a:solidFill>
                        <a:srgbClr val="D9D9D9"/>
                      </a:solidFill>
                      <a:prstDash val="solid"/>
                    </a:lnR>
                    <a:lnT w="6480">
                      <a:solidFill>
                        <a:srgbClr val="D9D9D9"/>
                      </a:solidFill>
                      <a:prstDash val="solid"/>
                    </a:lnT>
                    <a:lnB w="6480">
                      <a:solidFill>
                        <a:srgbClr val="D9D9D9"/>
                      </a:solidFill>
                      <a:prstDash val="solid"/>
                    </a:lnB>
                    <a:solidFill>
                      <a:srgbClr val="FFFFFF"/>
                    </a:solidFill>
                  </a:tcPr>
                </a:tc>
                <a:extLst>
                  <a:ext uri="{0D108BD9-81ED-4DB2-BD59-A6C34878D82A}">
                    <a16:rowId xmlns:a16="http://schemas.microsoft.com/office/drawing/2014/main" val="10011"/>
                  </a:ext>
                </a:extLst>
              </a:tr>
            </a:tbl>
          </a:graphicData>
        </a:graphic>
      </p:graphicFrame>
      <p:sp>
        <p:nvSpPr>
          <p:cNvPr id="2439" name="Shape 8"/>
          <p:cNvSpPr/>
          <p:nvPr/>
        </p:nvSpPr>
        <p:spPr>
          <a:xfrm>
            <a:off x="365760" y="4160520"/>
            <a:ext cx="8412120" cy="456840"/>
          </a:xfrm>
          <a:prstGeom prst="rect">
            <a:avLst/>
          </a:prstGeom>
          <a:solidFill>
            <a:srgbClr val="E8F5E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440" name="Text 9"/>
          <p:cNvSpPr/>
          <p:nvPr/>
        </p:nvSpPr>
        <p:spPr>
          <a:xfrm>
            <a:off x="548640" y="4178880"/>
            <a:ext cx="8046360" cy="420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strike="noStrike" spc="-1">
                <a:solidFill>
                  <a:srgbClr val="009639"/>
                </a:solidFill>
                <a:latin typeface="Calibri"/>
                <a:ea typeface="Calibri"/>
              </a:rPr>
              <a:t>Key patterns: </a:t>
            </a:r>
            <a:r>
              <a:rPr lang="en-US" sz="800" b="0" strike="noStrike" spc="-1">
                <a:solidFill>
                  <a:srgbClr val="1B5E20"/>
                </a:solidFill>
                <a:latin typeface="Calibri"/>
                <a:ea typeface="Calibri"/>
              </a:rPr>
              <a:t>save sys config (write to disk) | save sys ucs (full backup) | show sys (runtime) | list (config) | modify (change) | create/delete (add/remove). TMSH: cd /partition to switch context. 'exit' from tmsh = logoff for non-admin users.</a:t>
            </a:r>
            <a:endParaRPr lang="en-US" sz="800" b="0" strike="noStrike" spc="-1">
              <a:solidFill>
                <a:srgbClr val="000000"/>
              </a:solidFill>
              <a:latin typeface="Arial"/>
            </a:endParaRP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41" name="Shape 0"/>
          <p:cNvSpPr/>
          <p:nvPr/>
        </p:nvSpPr>
        <p:spPr>
          <a:xfrm>
            <a:off x="0" y="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442" name="Shape 1"/>
          <p:cNvSpPr/>
          <p:nvPr/>
        </p:nvSpPr>
        <p:spPr>
          <a:xfrm>
            <a:off x="1371600" y="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443" name="Shape 2"/>
          <p:cNvSpPr/>
          <p:nvPr/>
        </p:nvSpPr>
        <p:spPr>
          <a:xfrm>
            <a:off x="4114800" y="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444" name="Shape 3"/>
          <p:cNvSpPr/>
          <p:nvPr/>
        </p:nvSpPr>
        <p:spPr>
          <a:xfrm>
            <a:off x="5486400" y="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445" name="Shape 4"/>
          <p:cNvSpPr/>
          <p:nvPr/>
        </p:nvSpPr>
        <p:spPr>
          <a:xfrm>
            <a:off x="7772400" y="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446" name="Text 5"/>
          <p:cNvSpPr/>
          <p:nvPr/>
        </p:nvSpPr>
        <p:spPr>
          <a:xfrm>
            <a:off x="365760" y="4800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66666"/>
                </a:solidFill>
                <a:latin typeface="Calibri"/>
                <a:ea typeface="Calibri"/>
              </a:rPr>
              <a:t>123    © 2026 F5</a:t>
            </a:r>
            <a:endParaRPr lang="en-US" sz="800" b="0" strike="noStrike" spc="-1">
              <a:solidFill>
                <a:srgbClr val="000000"/>
              </a:solidFill>
              <a:latin typeface="Arial"/>
            </a:endParaRPr>
          </a:p>
        </p:txBody>
      </p:sp>
      <p:pic>
        <p:nvPicPr>
          <p:cNvPr id="2447" name="Image 0" descr="preencoded.png"/>
          <p:cNvPicPr/>
          <p:nvPr/>
        </p:nvPicPr>
        <p:blipFill>
          <a:blip r:embed="rId3"/>
          <a:stretch/>
        </p:blipFill>
        <p:spPr>
          <a:xfrm>
            <a:off x="8458200" y="4663440"/>
            <a:ext cx="383760" cy="383760"/>
          </a:xfrm>
          <a:prstGeom prst="rect">
            <a:avLst/>
          </a:prstGeom>
          <a:ln w="0">
            <a:noFill/>
          </a:ln>
        </p:spPr>
      </p:pic>
      <p:sp>
        <p:nvSpPr>
          <p:cNvPr id="2448" name="Text 6"/>
          <p:cNvSpPr/>
          <p:nvPr/>
        </p:nvSpPr>
        <p:spPr>
          <a:xfrm>
            <a:off x="457200" y="274320"/>
            <a:ext cx="82292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00000"/>
                </a:solidFill>
                <a:latin typeface="Arial"/>
                <a:ea typeface="Arial"/>
              </a:rPr>
              <a:t>Key facts to memorize</a:t>
            </a:r>
            <a:endParaRPr lang="en-US" sz="2800" b="0" strike="noStrike" spc="-1">
              <a:solidFill>
                <a:srgbClr val="000000"/>
              </a:solidFill>
              <a:latin typeface="Arial"/>
            </a:endParaRPr>
          </a:p>
        </p:txBody>
      </p:sp>
      <p:sp>
        <p:nvSpPr>
          <p:cNvPr id="2449" name="Shape 7"/>
          <p:cNvSpPr/>
          <p:nvPr/>
        </p:nvSpPr>
        <p:spPr>
          <a:xfrm>
            <a:off x="365760" y="777240"/>
            <a:ext cx="3931560" cy="27396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450" name="Text 8"/>
          <p:cNvSpPr/>
          <p:nvPr/>
        </p:nvSpPr>
        <p:spPr>
          <a:xfrm>
            <a:off x="365760" y="777240"/>
            <a:ext cx="3931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rgbClr val="FFFFFF"/>
                </a:solidFill>
                <a:latin typeface="Arial"/>
                <a:ea typeface="Arial"/>
              </a:rPr>
              <a:t>Networking and Virtual Servers</a:t>
            </a:r>
            <a:endParaRPr lang="en-US" sz="1100" b="0" strike="noStrike" spc="-1">
              <a:solidFill>
                <a:srgbClr val="000000"/>
              </a:solidFill>
              <a:latin typeface="Arial"/>
            </a:endParaRPr>
          </a:p>
        </p:txBody>
      </p:sp>
      <p:sp>
        <p:nvSpPr>
          <p:cNvPr id="2451" name="Shape 9"/>
          <p:cNvSpPr/>
          <p:nvPr/>
        </p:nvSpPr>
        <p:spPr>
          <a:xfrm>
            <a:off x="365760" y="1051560"/>
            <a:ext cx="3931560" cy="191988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452" name="Text 10"/>
          <p:cNvSpPr/>
          <p:nvPr/>
        </p:nvSpPr>
        <p:spPr>
          <a:xfrm>
            <a:off x="457200" y="1078920"/>
            <a:ext cx="3748680" cy="1828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r>
              <a:rPr lang="en-US" sz="800" b="0" strike="noStrike" spc="-1">
                <a:solidFill>
                  <a:srgbClr val="333333"/>
                </a:solidFill>
                <a:latin typeface="Calibri"/>
                <a:ea typeface="Calibri"/>
              </a:rPr>
              <a:t>• Port lockdown None = block all. Allow Defaults opens HA ports.</a:t>
            </a:r>
            <a:endParaRPr lang="en-US" sz="800" b="0" strike="noStrike" spc="-1">
              <a:solidFill>
                <a:srgbClr val="000000"/>
              </a:solidFill>
              <a:latin typeface="Arial"/>
            </a:endParaRPr>
          </a:p>
          <a:p>
            <a:r>
              <a:rPr lang="en-US" sz="800" b="0" strike="noStrike" spc="-1">
                <a:solidFill>
                  <a:srgbClr val="333333"/>
                </a:solidFill>
                <a:latin typeface="Calibri"/>
                <a:ea typeface="Calibri"/>
              </a:rPr>
              <a:t>• HA ports: TCP 4353 (sync), UDP 1026 (failover), TCP 1028 (mirror), TCP 6699 (MCP)</a:t>
            </a:r>
            <a:endParaRPr lang="en-US" sz="800" b="0" strike="noStrike" spc="-1">
              <a:solidFill>
                <a:srgbClr val="000000"/>
              </a:solidFill>
              <a:latin typeface="Arial"/>
            </a:endParaRPr>
          </a:p>
          <a:p>
            <a:r>
              <a:rPr lang="en-US" sz="800" b="0" strike="noStrike" spc="-1">
                <a:solidFill>
                  <a:srgbClr val="333333"/>
                </a:solidFill>
                <a:latin typeface="Calibri"/>
                <a:ea typeface="Calibri"/>
              </a:rPr>
              <a:t>• VS matching: addr:port &gt; addr:* &gt; net:port &gt; net:* &gt; *:port &gt; *:*. Source tiebreaker.</a:t>
            </a:r>
            <a:endParaRPr lang="en-US" sz="800" b="0" strike="noStrike" spc="-1">
              <a:solidFill>
                <a:srgbClr val="000000"/>
              </a:solidFill>
              <a:latin typeface="Arial"/>
            </a:endParaRPr>
          </a:p>
          <a:p>
            <a:r>
              <a:rPr lang="en-US" sz="800" b="0" strike="noStrike" spc="-1">
                <a:solidFill>
                  <a:srgbClr val="333333"/>
                </a:solidFill>
                <a:latin typeface="Calibri"/>
                <a:ea typeface="Calibri"/>
              </a:rPr>
              <a:t>• VS types: Standard (full proxy), Perf L4 (fast, limited), Forwarding IP (route), L2 (bridge)</a:t>
            </a:r>
            <a:endParaRPr lang="en-US" sz="800" b="0" strike="noStrike" spc="-1">
              <a:solidFill>
                <a:srgbClr val="000000"/>
              </a:solidFill>
              <a:latin typeface="Arial"/>
            </a:endParaRPr>
          </a:p>
          <a:p>
            <a:r>
              <a:rPr lang="en-US" sz="800" b="0" strike="noStrike" spc="-1">
                <a:solidFill>
                  <a:srgbClr val="333333"/>
                </a:solidFill>
                <a:latin typeface="Calibri"/>
                <a:ea typeface="Calibri"/>
              </a:rPr>
              <a:t>• One-arm = SNAT always. nPath/DSR = no SNAT, no L7, server loopback VIP.</a:t>
            </a:r>
            <a:endParaRPr lang="en-US" sz="800" b="0" strike="noStrike" spc="-1">
              <a:solidFill>
                <a:srgbClr val="000000"/>
              </a:solidFill>
              <a:latin typeface="Arial"/>
            </a:endParaRPr>
          </a:p>
          <a:p>
            <a:r>
              <a:rPr lang="en-US" sz="800" b="0" strike="noStrike" spc="-1">
                <a:solidFill>
                  <a:srgbClr val="333333"/>
                </a:solidFill>
                <a:latin typeface="Calibri"/>
                <a:ea typeface="Calibri"/>
              </a:rPr>
              <a:t>• Auto last-hop: returns via same device that sent the request. Default: enabled.</a:t>
            </a:r>
            <a:endParaRPr lang="en-US" sz="800" b="0" strike="noStrike" spc="-1">
              <a:solidFill>
                <a:srgbClr val="000000"/>
              </a:solidFill>
              <a:latin typeface="Arial"/>
            </a:endParaRPr>
          </a:p>
          <a:p>
            <a:pPr defTabSz="914400">
              <a:lnSpc>
                <a:spcPct val="100000"/>
              </a:lnSpc>
              <a:tabLst>
                <a:tab pos="0" algn="l"/>
              </a:tabLst>
            </a:pPr>
            <a:r>
              <a:rPr lang="en-US" sz="800" b="0" strike="noStrike" spc="-1">
                <a:solidFill>
                  <a:srgbClr val="333333"/>
                </a:solidFill>
                <a:latin typeface="Calibri"/>
                <a:ea typeface="Calibri"/>
              </a:rPr>
              <a:t>• SNAT automap: uses self IP. SNAT pool: dedicated IPs. 65535 ports per IP.</a:t>
            </a:r>
            <a:endParaRPr lang="en-US" sz="800" b="0" strike="noStrike" spc="-1">
              <a:solidFill>
                <a:srgbClr val="000000"/>
              </a:solidFill>
              <a:latin typeface="Arial"/>
            </a:endParaRPr>
          </a:p>
        </p:txBody>
      </p:sp>
      <p:sp>
        <p:nvSpPr>
          <p:cNvPr id="2453" name="Shape 11"/>
          <p:cNvSpPr/>
          <p:nvPr/>
        </p:nvSpPr>
        <p:spPr>
          <a:xfrm>
            <a:off x="4846320" y="777240"/>
            <a:ext cx="3931560" cy="27396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454" name="Text 12"/>
          <p:cNvSpPr/>
          <p:nvPr/>
        </p:nvSpPr>
        <p:spPr>
          <a:xfrm>
            <a:off x="4846320" y="777240"/>
            <a:ext cx="3931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rgbClr val="FFFFFF"/>
                </a:solidFill>
                <a:latin typeface="Arial"/>
                <a:ea typeface="Arial"/>
              </a:rPr>
              <a:t>HA and Administration</a:t>
            </a:r>
            <a:endParaRPr lang="en-US" sz="1100" b="0" strike="noStrike" spc="-1">
              <a:solidFill>
                <a:srgbClr val="000000"/>
              </a:solidFill>
              <a:latin typeface="Arial"/>
            </a:endParaRPr>
          </a:p>
        </p:txBody>
      </p:sp>
      <p:sp>
        <p:nvSpPr>
          <p:cNvPr id="2455" name="Shape 13"/>
          <p:cNvSpPr/>
          <p:nvPr/>
        </p:nvSpPr>
        <p:spPr>
          <a:xfrm>
            <a:off x="4846320" y="1051560"/>
            <a:ext cx="3931560" cy="191988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456" name="Text 14"/>
          <p:cNvSpPr/>
          <p:nvPr/>
        </p:nvSpPr>
        <p:spPr>
          <a:xfrm>
            <a:off x="4937760" y="1078920"/>
            <a:ext cx="3748680" cy="1828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r>
              <a:rPr lang="en-US" sz="800" b="0" strike="noStrike" spc="-1">
                <a:solidFill>
                  <a:srgbClr val="333333"/>
                </a:solidFill>
                <a:latin typeface="Calibri"/>
                <a:ea typeface="Calibri"/>
              </a:rPr>
              <a:t>• 8 roles: Admin &gt; Res Admin &gt; Manager &gt; Cert Mgr &gt; iRule Mgr &gt; Operator &gt; Guest &gt; No Access</a:t>
            </a:r>
            <a:endParaRPr lang="en-US" sz="800" b="0" strike="noStrike" spc="-1">
              <a:solidFill>
                <a:srgbClr val="000000"/>
              </a:solidFill>
              <a:latin typeface="Arial"/>
            </a:endParaRPr>
          </a:p>
          <a:p>
            <a:r>
              <a:rPr lang="en-US" sz="800" b="0" strike="noStrike" spc="-1">
                <a:solidFill>
                  <a:srgbClr val="333333"/>
                </a:solidFill>
                <a:latin typeface="Calibri"/>
                <a:ea typeface="Calibri"/>
              </a:rPr>
              <a:t>• Auth fallback: Rejected = denied. Unreachable = local fallback.</a:t>
            </a:r>
            <a:endParaRPr lang="en-US" sz="800" b="0" strike="noStrike" spc="-1">
              <a:solidFill>
                <a:srgbClr val="000000"/>
              </a:solidFill>
              <a:latin typeface="Arial"/>
            </a:endParaRPr>
          </a:p>
          <a:p>
            <a:r>
              <a:rPr lang="en-US" sz="800" b="0" strike="noStrike" spc="-1">
                <a:solidFill>
                  <a:srgbClr val="333333"/>
                </a:solidFill>
                <a:latin typeface="Calibri"/>
                <a:ea typeface="Calibri"/>
              </a:rPr>
              <a:t>• Traffic groups: hold floating objects. HA groups: health scoring.</a:t>
            </a:r>
            <a:endParaRPr lang="en-US" sz="800" b="0" strike="noStrike" spc="-1">
              <a:solidFill>
                <a:srgbClr val="000000"/>
              </a:solidFill>
              <a:latin typeface="Arial"/>
            </a:endParaRPr>
          </a:p>
          <a:p>
            <a:r>
              <a:rPr lang="en-US" sz="800" b="0" strike="noStrike" spc="-1">
                <a:solidFill>
                  <a:srgbClr val="333333"/>
                </a:solidFill>
                <a:latin typeface="Calibri"/>
                <a:ea typeface="Calibri"/>
              </a:rPr>
              <a:t>• Multiple unicast failover: ANY failure triggers failover.</a:t>
            </a:r>
            <a:endParaRPr lang="en-US" sz="800" b="0" strike="noStrike" spc="-1">
              <a:solidFill>
                <a:srgbClr val="000000"/>
              </a:solidFill>
              <a:latin typeface="Arial"/>
            </a:endParaRPr>
          </a:p>
          <a:p>
            <a:r>
              <a:rPr lang="en-US" sz="800" b="0" strike="noStrike" spc="-1">
                <a:solidFill>
                  <a:srgbClr val="333333"/>
                </a:solidFill>
                <a:latin typeface="Calibri"/>
                <a:ea typeface="Calibri"/>
              </a:rPr>
              <a:t>• Mirroring only mirrors records created AFTER enablement.</a:t>
            </a:r>
            <a:endParaRPr lang="en-US" sz="800" b="0" strike="noStrike" spc="-1">
              <a:solidFill>
                <a:srgbClr val="000000"/>
              </a:solidFill>
              <a:latin typeface="Arial"/>
            </a:endParaRPr>
          </a:p>
          <a:p>
            <a:r>
              <a:rPr lang="en-US" sz="800" b="0" strike="noStrike" spc="-1">
                <a:solidFill>
                  <a:srgbClr val="333333"/>
                </a:solidFill>
                <a:latin typeface="Calibri"/>
                <a:ea typeface="Calibri"/>
              </a:rPr>
              <a:t>• UCS = full backup (certs, license). SCF = text config only.</a:t>
            </a:r>
            <a:endParaRPr lang="en-US" sz="800" b="0" strike="noStrike" spc="-1">
              <a:solidFill>
                <a:srgbClr val="000000"/>
              </a:solidFill>
              <a:latin typeface="Arial"/>
            </a:endParaRPr>
          </a:p>
          <a:p>
            <a:r>
              <a:rPr lang="en-US" sz="800" b="0" strike="noStrike" spc="-1">
                <a:solidFill>
                  <a:srgbClr val="333333"/>
                </a:solidFill>
                <a:latin typeface="Calibri"/>
                <a:ea typeface="Calibri"/>
              </a:rPr>
              <a:t>• Custom alerts: /config/user_alert.conf (survives upgrade).</a:t>
            </a:r>
            <a:endParaRPr lang="en-US" sz="800" b="0" strike="noStrike" spc="-1">
              <a:solidFill>
                <a:srgbClr val="000000"/>
              </a:solidFill>
              <a:latin typeface="Arial"/>
            </a:endParaRPr>
          </a:p>
          <a:p>
            <a:pPr defTabSz="914400">
              <a:lnSpc>
                <a:spcPct val="100000"/>
              </a:lnSpc>
              <a:tabLst>
                <a:tab pos="0" algn="l"/>
              </a:tabLst>
            </a:pPr>
            <a:r>
              <a:rPr lang="en-US" sz="800" b="0" strike="noStrike" spc="-1">
                <a:solidFill>
                  <a:srgbClr val="333333"/>
                </a:solidFill>
                <a:latin typeface="Calibri"/>
                <a:ea typeface="Calibri"/>
              </a:rPr>
              <a:t>• Device cert expires → ALL HA fails. Renew 3650 days.</a:t>
            </a:r>
            <a:endParaRPr lang="en-US" sz="800" b="0" strike="noStrike" spc="-1">
              <a:solidFill>
                <a:srgbClr val="000000"/>
              </a:solidFill>
              <a:latin typeface="Arial"/>
            </a:endParaRPr>
          </a:p>
        </p:txBody>
      </p:sp>
      <p:sp>
        <p:nvSpPr>
          <p:cNvPr id="2457" name="Shape 15"/>
          <p:cNvSpPr/>
          <p:nvPr/>
        </p:nvSpPr>
        <p:spPr>
          <a:xfrm>
            <a:off x="365760" y="3108960"/>
            <a:ext cx="3931560" cy="27396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458" name="Text 16"/>
          <p:cNvSpPr/>
          <p:nvPr/>
        </p:nvSpPr>
        <p:spPr>
          <a:xfrm>
            <a:off x="365760" y="3108960"/>
            <a:ext cx="3931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rgbClr val="FFFFFF"/>
                </a:solidFill>
                <a:latin typeface="Arial"/>
                <a:ea typeface="Arial"/>
              </a:rPr>
              <a:t>Profiles and iRules</a:t>
            </a:r>
            <a:endParaRPr lang="en-US" sz="1100" b="0" strike="noStrike" spc="-1">
              <a:solidFill>
                <a:srgbClr val="000000"/>
              </a:solidFill>
              <a:latin typeface="Arial"/>
            </a:endParaRPr>
          </a:p>
        </p:txBody>
      </p:sp>
      <p:sp>
        <p:nvSpPr>
          <p:cNvPr id="2459" name="Shape 17"/>
          <p:cNvSpPr/>
          <p:nvPr/>
        </p:nvSpPr>
        <p:spPr>
          <a:xfrm>
            <a:off x="365760" y="3383280"/>
            <a:ext cx="3931560" cy="123408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460" name="Text 18"/>
          <p:cNvSpPr/>
          <p:nvPr/>
        </p:nvSpPr>
        <p:spPr>
          <a:xfrm>
            <a:off x="457200" y="3410640"/>
            <a:ext cx="3748680" cy="1170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r>
              <a:rPr lang="en-US" sz="800" b="0" strike="noStrike" spc="-1">
                <a:solidFill>
                  <a:srgbClr val="333333"/>
                </a:solidFill>
                <a:latin typeface="Calibri"/>
                <a:ea typeface="Calibri"/>
              </a:rPr>
              <a:t>• HTTP profile required for: cookies, XFF, compression, caching, iRule HTTP events.</a:t>
            </a:r>
            <a:endParaRPr lang="en-US" sz="800" b="0" strike="noStrike" spc="-1">
              <a:solidFill>
                <a:srgbClr val="000000"/>
              </a:solidFill>
              <a:latin typeface="Arial"/>
            </a:endParaRPr>
          </a:p>
          <a:p>
            <a:r>
              <a:rPr lang="en-US" sz="800" b="0" strike="noStrike" spc="-1">
                <a:solidFill>
                  <a:srgbClr val="333333"/>
                </a:solidFill>
                <a:latin typeface="Calibri"/>
                <a:ea typeface="Calibri"/>
              </a:rPr>
              <a:t>• Client-SSL = decrypt from client. Server-SSL = re-encrypt to server.</a:t>
            </a:r>
            <a:endParaRPr lang="en-US" sz="800" b="0" strike="noStrike" spc="-1">
              <a:solidFill>
                <a:srgbClr val="000000"/>
              </a:solidFill>
              <a:latin typeface="Arial"/>
            </a:endParaRPr>
          </a:p>
          <a:p>
            <a:r>
              <a:rPr lang="en-US" sz="800" b="0" strike="noStrike" spc="-1">
                <a:solidFill>
                  <a:srgbClr val="333333"/>
                </a:solidFill>
                <a:latin typeface="Calibri"/>
                <a:ea typeface="Calibri"/>
              </a:rPr>
              <a:t>• OneConnect: server-side connection reuse. Requires HTTP profile.</a:t>
            </a:r>
            <a:endParaRPr lang="en-US" sz="800" b="0" strike="noStrike" spc="-1">
              <a:solidFill>
                <a:srgbClr val="000000"/>
              </a:solidFill>
              <a:latin typeface="Arial"/>
            </a:endParaRPr>
          </a:p>
          <a:p>
            <a:r>
              <a:rPr lang="en-US" sz="800" b="0" strike="noStrike" spc="-1">
                <a:solidFill>
                  <a:srgbClr val="333333"/>
                </a:solidFill>
                <a:latin typeface="Calibri"/>
                <a:ea typeface="Calibri"/>
              </a:rPr>
              <a:t>• Force Offline: no new connections, existing persist clients allowed.</a:t>
            </a:r>
            <a:endParaRPr lang="en-US" sz="800" b="0" strike="noStrike" spc="-1">
              <a:solidFill>
                <a:srgbClr val="000000"/>
              </a:solidFill>
              <a:latin typeface="Arial"/>
            </a:endParaRPr>
          </a:p>
          <a:p>
            <a:r>
              <a:rPr lang="en-US" sz="800" b="0" strike="noStrike" spc="-1">
                <a:solidFill>
                  <a:srgbClr val="333333"/>
                </a:solidFill>
                <a:latin typeface="Calibri"/>
                <a:ea typeface="Calibri"/>
              </a:rPr>
              <a:t>• Disable: no new connections at all. Active connections gracefully drain.</a:t>
            </a:r>
            <a:endParaRPr lang="en-US" sz="800" b="0" strike="noStrike" spc="-1">
              <a:solidFill>
                <a:srgbClr val="000000"/>
              </a:solidFill>
              <a:latin typeface="Arial"/>
            </a:endParaRPr>
          </a:p>
          <a:p>
            <a:pPr defTabSz="914400">
              <a:lnSpc>
                <a:spcPct val="100000"/>
              </a:lnSpc>
              <a:tabLst>
                <a:tab pos="0" algn="l"/>
              </a:tabLst>
            </a:pPr>
            <a:r>
              <a:rPr lang="en-US" sz="800" b="0" strike="noStrike" spc="-1">
                <a:solidFill>
                  <a:srgbClr val="333333"/>
                </a:solidFill>
                <a:latin typeface="Calibri"/>
                <a:ea typeface="Calibri"/>
              </a:rPr>
              <a:t>• LTM policy replaces simple iRules (redirects, routing). Lower CPU.</a:t>
            </a:r>
            <a:endParaRPr lang="en-US" sz="800" b="0" strike="noStrike" spc="-1">
              <a:solidFill>
                <a:srgbClr val="000000"/>
              </a:solidFill>
              <a:latin typeface="Arial"/>
            </a:endParaRPr>
          </a:p>
        </p:txBody>
      </p:sp>
      <p:sp>
        <p:nvSpPr>
          <p:cNvPr id="2461" name="Shape 19"/>
          <p:cNvSpPr/>
          <p:nvPr/>
        </p:nvSpPr>
        <p:spPr>
          <a:xfrm>
            <a:off x="4846320" y="3108960"/>
            <a:ext cx="3931560" cy="27396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462" name="Text 20"/>
          <p:cNvSpPr/>
          <p:nvPr/>
        </p:nvSpPr>
        <p:spPr>
          <a:xfrm>
            <a:off x="4846320" y="3108960"/>
            <a:ext cx="3931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rgbClr val="FFFFFF"/>
                </a:solidFill>
                <a:latin typeface="Arial"/>
                <a:ea typeface="Arial"/>
              </a:rPr>
              <a:t>Logging and Troubleshooting</a:t>
            </a:r>
            <a:endParaRPr lang="en-US" sz="1100" b="0" strike="noStrike" spc="-1">
              <a:solidFill>
                <a:srgbClr val="000000"/>
              </a:solidFill>
              <a:latin typeface="Arial"/>
            </a:endParaRPr>
          </a:p>
        </p:txBody>
      </p:sp>
      <p:sp>
        <p:nvSpPr>
          <p:cNvPr id="2463" name="Shape 21"/>
          <p:cNvSpPr/>
          <p:nvPr/>
        </p:nvSpPr>
        <p:spPr>
          <a:xfrm>
            <a:off x="4846320" y="3383280"/>
            <a:ext cx="3931560" cy="1234080"/>
          </a:xfrm>
          <a:prstGeom prst="rect">
            <a:avLst/>
          </a:prstGeom>
          <a:solidFill>
            <a:srgbClr val="F2F2F2"/>
          </a:solidFill>
          <a:ln w="127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464" name="Text 22"/>
          <p:cNvSpPr/>
          <p:nvPr/>
        </p:nvSpPr>
        <p:spPr>
          <a:xfrm>
            <a:off x="4937760" y="3410640"/>
            <a:ext cx="3748680" cy="1170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r>
              <a:rPr lang="en-US" sz="800" b="0" strike="noStrike" spc="-1">
                <a:solidFill>
                  <a:srgbClr val="333333"/>
                </a:solidFill>
                <a:latin typeface="Calibri"/>
                <a:ea typeface="Calibri"/>
              </a:rPr>
              <a:t>• /var/log/ltm = primary LTM log. /var/log/audit = admin changes.</a:t>
            </a:r>
            <a:endParaRPr lang="en-US" sz="800" b="0" strike="noStrike" spc="-1">
              <a:solidFill>
                <a:srgbClr val="000000"/>
              </a:solidFill>
              <a:latin typeface="Arial"/>
            </a:endParaRPr>
          </a:p>
          <a:p>
            <a:r>
              <a:rPr lang="en-US" sz="800" b="0" strike="noStrike" spc="-1">
                <a:solidFill>
                  <a:srgbClr val="333333"/>
                </a:solidFill>
                <a:latin typeface="Calibri"/>
                <a:ea typeface="Calibri"/>
              </a:rPr>
              <a:t>• Severity :3:=Error :4:=Warning :5:=Notice :7:=Debug (never in prod).</a:t>
            </a:r>
            <a:endParaRPr lang="en-US" sz="800" b="0" strike="noStrike" spc="-1">
              <a:solidFill>
                <a:srgbClr val="000000"/>
              </a:solidFill>
              <a:latin typeface="Arial"/>
            </a:endParaRPr>
          </a:p>
          <a:p>
            <a:r>
              <a:rPr lang="en-US" sz="800" b="0" strike="noStrike" spc="-1">
                <a:solidFill>
                  <a:srgbClr val="333333"/>
                </a:solidFill>
                <a:latin typeface="Calibri"/>
                <a:ea typeface="Calibri"/>
              </a:rPr>
              <a:t>• Error prefix: 01=TMM, 07=MCP, 0c=SOD, 26=SSL.</a:t>
            </a:r>
            <a:endParaRPr lang="en-US" sz="800" b="0" strike="noStrike" spc="-1">
              <a:solidFill>
                <a:srgbClr val="000000"/>
              </a:solidFill>
              <a:latin typeface="Arial"/>
            </a:endParaRPr>
          </a:p>
          <a:p>
            <a:r>
              <a:rPr lang="en-US" sz="800" b="0" strike="noStrike" spc="-1">
                <a:solidFill>
                  <a:srgbClr val="333333"/>
                </a:solidFill>
                <a:latin typeface="Calibri"/>
                <a:ea typeface="Calibri"/>
              </a:rPr>
              <a:t>• HSL pipeline: destination → publisher → filter/profile.</a:t>
            </a:r>
            <a:endParaRPr lang="en-US" sz="800" b="0" strike="noStrike" spc="-1">
              <a:solidFill>
                <a:srgbClr val="000000"/>
              </a:solidFill>
              <a:latin typeface="Arial"/>
            </a:endParaRPr>
          </a:p>
          <a:p>
            <a:r>
              <a:rPr lang="en-US" sz="800" b="0" strike="noStrike" spc="-1">
                <a:solidFill>
                  <a:srgbClr val="333333"/>
                </a:solidFill>
                <a:latin typeface="Calibri"/>
                <a:ea typeface="Calibri"/>
              </a:rPr>
              <a:t>• tcpdump --f5 ssl provider for modern TLS decryption (not ssldump).</a:t>
            </a:r>
            <a:endParaRPr lang="en-US" sz="800" b="0" strike="noStrike" spc="-1">
              <a:solidFill>
                <a:srgbClr val="000000"/>
              </a:solidFill>
              <a:latin typeface="Arial"/>
            </a:endParaRPr>
          </a:p>
          <a:p>
            <a:pPr defTabSz="914400">
              <a:lnSpc>
                <a:spcPct val="100000"/>
              </a:lnSpc>
              <a:tabLst>
                <a:tab pos="0" algn="l"/>
              </a:tabLst>
            </a:pPr>
            <a:r>
              <a:rPr lang="en-US" sz="800" b="0" strike="noStrike" spc="-1">
                <a:solidFill>
                  <a:srgbClr val="333333"/>
                </a:solidFill>
                <a:latin typeface="Calibri"/>
                <a:ea typeface="Calibri"/>
              </a:rPr>
              <a:t>• show sys performance all-stats = best single troubleshooting command.</a:t>
            </a:r>
            <a:endParaRPr lang="en-US" sz="800" b="0" strike="noStrike" spc="-1">
              <a:solidFill>
                <a:srgbClr val="000000"/>
              </a:solidFill>
              <a:latin typeface="Arial"/>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465" name="Shape 0"/>
          <p:cNvSpPr/>
          <p:nvPr/>
        </p:nvSpPr>
        <p:spPr>
          <a:xfrm>
            <a:off x="0" y="5070240"/>
            <a:ext cx="1371240" cy="72720"/>
          </a:xfrm>
          <a:prstGeom prst="rect">
            <a:avLst/>
          </a:prstGeom>
          <a:solidFill>
            <a:srgbClr val="F29A36"/>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466" name="Shape 1"/>
          <p:cNvSpPr/>
          <p:nvPr/>
        </p:nvSpPr>
        <p:spPr>
          <a:xfrm>
            <a:off x="1371600" y="5070240"/>
            <a:ext cx="2742840" cy="72720"/>
          </a:xfrm>
          <a:prstGeom prst="rect">
            <a:avLst/>
          </a:prstGeom>
          <a:solidFill>
            <a:srgbClr val="E4002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467" name="Shape 2"/>
          <p:cNvSpPr/>
          <p:nvPr/>
        </p:nvSpPr>
        <p:spPr>
          <a:xfrm>
            <a:off x="4114800" y="5070240"/>
            <a:ext cx="1371240" cy="72720"/>
          </a:xfrm>
          <a:prstGeom prst="rect">
            <a:avLst/>
          </a:prstGeom>
          <a:solidFill>
            <a:srgbClr val="AB2782"/>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468" name="Shape 3"/>
          <p:cNvSpPr/>
          <p:nvPr/>
        </p:nvSpPr>
        <p:spPr>
          <a:xfrm>
            <a:off x="5486400" y="5070240"/>
            <a:ext cx="2285640" cy="72720"/>
          </a:xfrm>
          <a:prstGeom prst="rect">
            <a:avLst/>
          </a:prstGeom>
          <a:solidFill>
            <a:srgbClr val="0E41AA"/>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469" name="Shape 4"/>
          <p:cNvSpPr/>
          <p:nvPr/>
        </p:nvSpPr>
        <p:spPr>
          <a:xfrm>
            <a:off x="7772400" y="5070240"/>
            <a:ext cx="1371240" cy="72720"/>
          </a:xfrm>
          <a:prstGeom prst="rect">
            <a:avLst/>
          </a:prstGeom>
          <a:solidFill>
            <a:srgbClr val="61228B"/>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pic>
        <p:nvPicPr>
          <p:cNvPr id="2470" name="Image 0" descr="preencoded.png"/>
          <p:cNvPicPr/>
          <p:nvPr/>
        </p:nvPicPr>
        <p:blipFill>
          <a:blip r:embed="rId3"/>
          <a:stretch/>
        </p:blipFill>
        <p:spPr>
          <a:xfrm>
            <a:off x="365760" y="274320"/>
            <a:ext cx="639720" cy="639720"/>
          </a:xfrm>
          <a:prstGeom prst="rect">
            <a:avLst/>
          </a:prstGeom>
          <a:ln w="0">
            <a:noFill/>
          </a:ln>
        </p:spPr>
      </p:pic>
      <p:sp>
        <p:nvSpPr>
          <p:cNvPr id="2471" name="Text 5"/>
          <p:cNvSpPr/>
          <p:nvPr/>
        </p:nvSpPr>
        <p:spPr>
          <a:xfrm>
            <a:off x="365760" y="1645920"/>
            <a:ext cx="731484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600" b="1" strike="noStrike" spc="-1">
                <a:solidFill>
                  <a:srgbClr val="FFFFFF"/>
                </a:solidFill>
                <a:latin typeface="Arial"/>
                <a:ea typeface="Arial"/>
              </a:rPr>
              <a:t>Good luck on your exams.</a:t>
            </a:r>
            <a:endParaRPr lang="en-US" sz="3600" b="0" strike="noStrike" spc="-1">
              <a:solidFill>
                <a:srgbClr val="FFFFFF"/>
              </a:solidFill>
              <a:latin typeface="Arial"/>
            </a:endParaRPr>
          </a:p>
        </p:txBody>
      </p:sp>
      <p:sp>
        <p:nvSpPr>
          <p:cNvPr id="2472" name="Text 6"/>
          <p:cNvSpPr/>
          <p:nvPr/>
        </p:nvSpPr>
        <p:spPr>
          <a:xfrm>
            <a:off x="365760" y="2286000"/>
            <a:ext cx="7314840" cy="228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r>
              <a:rPr lang="en-US" sz="1600" b="0" strike="noStrike" spc="-1">
                <a:solidFill>
                  <a:srgbClr val="F29A36"/>
                </a:solidFill>
                <a:latin typeface="Arial"/>
                <a:ea typeface="Arial"/>
              </a:rPr>
              <a:t>F5-CTS BIG-IP LTM Beta Certification Series</a:t>
            </a:r>
            <a:endParaRPr lang="en-US" sz="1600" b="0" strike="noStrike" spc="-1">
              <a:solidFill>
                <a:srgbClr val="FFFFFF"/>
              </a:solidFill>
              <a:latin typeface="Arial"/>
            </a:endParaRPr>
          </a:p>
          <a:p>
            <a:pPr defTabSz="914400">
              <a:lnSpc>
                <a:spcPct val="100000"/>
              </a:lnSpc>
              <a:tabLst>
                <a:tab pos="0" algn="l"/>
              </a:tabLst>
            </a:pPr>
            <a:endParaRPr lang="en-US" sz="1600" b="0" strike="noStrike" spc="-1">
              <a:solidFill>
                <a:srgbClr val="FFFFFF"/>
              </a:solidFill>
              <a:latin typeface="Arial"/>
            </a:endParaRPr>
          </a:p>
          <a:p>
            <a:pPr defTabSz="914400">
              <a:lnSpc>
                <a:spcPct val="100000"/>
              </a:lnSpc>
              <a:tabLst>
                <a:tab pos="0" algn="l"/>
              </a:tabLst>
            </a:pPr>
            <a:r>
              <a:rPr lang="en-US" sz="1300" b="0" strike="noStrike" spc="-1">
                <a:solidFill>
                  <a:srgbClr val="666666"/>
                </a:solidFill>
                <a:latin typeface="Courier New"/>
                <a:ea typeface="Courier New"/>
              </a:rPr>
              <a:t>F5CTSLTM1-B through F5CTSLTM6-B</a:t>
            </a:r>
            <a:endParaRPr lang="en-US" sz="1300" b="0" strike="noStrike" spc="-1">
              <a:solidFill>
                <a:srgbClr val="FFFFFF"/>
              </a:solidFill>
              <a:latin typeface="Arial"/>
            </a:endParaRPr>
          </a:p>
          <a:p>
            <a:pPr defTabSz="914400">
              <a:lnSpc>
                <a:spcPct val="100000"/>
              </a:lnSpc>
              <a:tabLst>
                <a:tab pos="0" algn="l"/>
              </a:tabLst>
            </a:pPr>
            <a:endParaRPr lang="en-US" sz="1300" b="0" strike="noStrike" spc="-1">
              <a:solidFill>
                <a:srgbClr val="FFFFFF"/>
              </a:solidFill>
              <a:latin typeface="Arial"/>
            </a:endParaRPr>
          </a:p>
          <a:p>
            <a:pPr defTabSz="914400">
              <a:lnSpc>
                <a:spcPct val="100000"/>
              </a:lnSpc>
              <a:tabLst>
                <a:tab pos="0" algn="l"/>
              </a:tabLst>
            </a:pPr>
            <a:r>
              <a:rPr lang="en-US" sz="1400" b="1" strike="noStrike" spc="-1">
                <a:solidFill>
                  <a:srgbClr val="FFFFFF"/>
                </a:solidFill>
                <a:latin typeface="Arial"/>
                <a:ea typeface="Arial"/>
              </a:rPr>
              <a:t>Resources:</a:t>
            </a:r>
            <a:endParaRPr lang="en-US" sz="1400" b="0" strike="noStrike" spc="-1">
              <a:solidFill>
                <a:srgbClr val="FFFFFF"/>
              </a:solidFill>
              <a:latin typeface="Arial"/>
            </a:endParaRPr>
          </a:p>
          <a:p>
            <a:pPr defTabSz="914400">
              <a:lnSpc>
                <a:spcPct val="100000"/>
              </a:lnSpc>
              <a:tabLst>
                <a:tab pos="0" algn="l"/>
              </a:tabLst>
            </a:pPr>
            <a:r>
              <a:rPr lang="en-US" sz="1200" b="0" strike="noStrike" spc="-1">
                <a:solidFill>
                  <a:srgbClr val="666666"/>
                </a:solidFill>
                <a:latin typeface="Calibri"/>
                <a:ea typeface="Arial"/>
              </a:rPr>
              <a:t>• my.f5.com — F5 Knowledge Base (K articles)</a:t>
            </a:r>
            <a:endParaRPr lang="en-US" sz="1200" b="0" strike="noStrike" spc="-1">
              <a:solidFill>
                <a:srgbClr val="FFFFFF"/>
              </a:solidFill>
              <a:latin typeface="Arial"/>
            </a:endParaRPr>
          </a:p>
          <a:p>
            <a:pPr defTabSz="914400">
              <a:lnSpc>
                <a:spcPct val="100000"/>
              </a:lnSpc>
              <a:tabLst>
                <a:tab pos="0" algn="l"/>
              </a:tabLst>
            </a:pPr>
            <a:r>
              <a:rPr lang="en-US" sz="1200" b="0" strike="noStrike" spc="-1">
                <a:solidFill>
                  <a:srgbClr val="666666"/>
                </a:solidFill>
                <a:latin typeface="Calibri"/>
                <a:ea typeface="Arial"/>
              </a:rPr>
              <a:t>• techdocs.f5.com — Official documentation</a:t>
            </a:r>
            <a:endParaRPr lang="en-US" sz="1200" b="0" strike="noStrike" spc="-1">
              <a:solidFill>
                <a:srgbClr val="FFFFFF"/>
              </a:solidFill>
              <a:latin typeface="Arial"/>
            </a:endParaRPr>
          </a:p>
          <a:p>
            <a:pPr defTabSz="914400">
              <a:lnSpc>
                <a:spcPct val="100000"/>
              </a:lnSpc>
              <a:tabLst>
                <a:tab pos="0" algn="l"/>
              </a:tabLst>
            </a:pPr>
            <a:r>
              <a:rPr lang="en-US" sz="1200" b="0" strike="noStrike" spc="-1">
                <a:solidFill>
                  <a:srgbClr val="666666"/>
                </a:solidFill>
                <a:latin typeface="Calibri"/>
                <a:ea typeface="Arial"/>
              </a:rPr>
              <a:t>• devcentral.f5.com — Community, iRules, code samples</a:t>
            </a:r>
            <a:endParaRPr lang="en-US" sz="1200" b="0" strike="noStrike" spc="-1">
              <a:solidFill>
                <a:srgbClr val="FFFFFF"/>
              </a:solidFill>
              <a:latin typeface="Arial"/>
            </a:endParaRPr>
          </a:p>
          <a:p>
            <a:pPr defTabSz="914400">
              <a:lnSpc>
                <a:spcPct val="100000"/>
              </a:lnSpc>
              <a:tabLst>
                <a:tab pos="0" algn="l"/>
              </a:tabLst>
            </a:pPr>
            <a:r>
              <a:rPr lang="en-US" sz="1200" b="0" strike="noStrike" spc="-1">
                <a:solidFill>
                  <a:srgbClr val="666666"/>
                </a:solidFill>
                <a:latin typeface="Calibri"/>
                <a:ea typeface="Arial"/>
              </a:rPr>
              <a:t>• clouddocs.f5.com — AS3, FAST, automation</a:t>
            </a:r>
            <a:endParaRPr lang="en-US" sz="1200" b="0" strike="noStrike" spc="-1">
              <a:solidFill>
                <a:srgbClr val="FFFFFF"/>
              </a:solidFill>
              <a:latin typeface="Arial"/>
            </a:endParaRPr>
          </a:p>
          <a:p>
            <a:pPr defTabSz="914400">
              <a:lnSpc>
                <a:spcPct val="100000"/>
              </a:lnSpc>
              <a:tabLst>
                <a:tab pos="0" algn="l"/>
              </a:tabLst>
            </a:pPr>
            <a:r>
              <a:rPr lang="en-US" sz="1200" b="0" strike="noStrike" spc="-1">
                <a:solidFill>
                  <a:srgbClr val="666666"/>
                </a:solidFill>
                <a:latin typeface="Calibri"/>
                <a:ea typeface="Arial"/>
              </a:rPr>
              <a:t>• AskF5 (my.f5.com) — Search for K article numbers cited throughout this course</a:t>
            </a:r>
            <a:endParaRPr lang="en-US" sz="1200" b="0" strike="noStrike" spc="-1">
              <a:solidFill>
                <a:srgbClr val="FFFFFF"/>
              </a:solidFill>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Metadata/LabelInfo.xml><?xml version="1.0" encoding="utf-8"?>
<clbl:labelList xmlns:clbl="http://schemas.microsoft.com/office/2020/mipLabelMetadata">
  <clbl:label id="{dd3dfd2f-6a3b-40d1-9be0-bf8327d81c50}" enabled="0" method="" siteId="{dd3dfd2f-6a3b-40d1-9be0-bf8327d81c50}" removed="1"/>
</clbl:labelList>
</file>

<file path=docProps/app.xml><?xml version="1.0" encoding="utf-8"?>
<Properties xmlns="http://schemas.openxmlformats.org/officeDocument/2006/extended-properties" xmlns:vt="http://schemas.openxmlformats.org/officeDocument/2006/docPropsVTypes">
  <Template/>
  <TotalTime>0</TotalTime>
  <Words>72415</Words>
  <Application>Microsoft Office PowerPoint</Application>
  <PresentationFormat>On-screen Show (16:9)</PresentationFormat>
  <Paragraphs>6957</Paragraphs>
  <Slides>124</Slides>
  <Notes>124</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124</vt:i4>
      </vt:variant>
    </vt:vector>
  </HeadingPairs>
  <TitlesOfParts>
    <vt:vector size="133" baseType="lpstr">
      <vt:lpstr>Aptos</vt:lpstr>
      <vt:lpstr>Arial</vt:lpstr>
      <vt:lpstr>Calibri</vt:lpstr>
      <vt:lpstr>Courier New</vt:lpstr>
      <vt:lpstr>Symbol</vt:lpstr>
      <vt:lpstr>Times New Roman</vt:lpstr>
      <vt:lpstr>Wingdings</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Jermaine Mack</cp:lastModifiedBy>
  <cp:revision>1</cp:revision>
  <dcterms:modified xsi:type="dcterms:W3CDTF">2026-04-08T04:09:55Z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2026-04-03T03:55:22Z</dcterms:created>
  <dc:creator>Jermaine</dc:creator>
  <dc:description/>
  <dc:language>en-US</dc:language>
  <cp:lastModifiedBy>Jermaine Mack</cp:lastModifiedBy>
  <dcterms:modified xsi:type="dcterms:W3CDTF">2026-04-03T06:05:40Z</dcterms:modified>
  <cp:revision>3</cp:revision>
  <dc:subject>PptxGenJS Presentation</dc:subject>
  <dc:title>F5-CTS BIG-IP LTM - Course Introduction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113</vt:r8>
  </property>
  <property fmtid="{D5CDD505-2E9C-101B-9397-08002B2CF9AE}" pid="3" name="PresentationFormat">
    <vt:lpwstr>On-screen Show (16:9)</vt:lpwstr>
  </property>
  <property fmtid="{D5CDD505-2E9C-101B-9397-08002B2CF9AE}" pid="4" name="Slides">
    <vt:r8>113</vt:r8>
  </property>
</Properties>
</file>